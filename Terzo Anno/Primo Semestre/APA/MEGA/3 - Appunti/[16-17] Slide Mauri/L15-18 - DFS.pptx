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48"/>
  </p:notesMasterIdLst>
  <p:handoutMasterIdLst>
    <p:handoutMasterId r:id="rId49"/>
  </p:handoutMasterIdLst>
  <p:sldIdLst>
    <p:sldId id="500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56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B69D29-27A6-5A4A-9FFD-8E8F2BF8F69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32D2D1-B5AF-2448-9375-C10846C35821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58CAD-DDA0-544D-A7AA-981F03AC196E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4B5F22-7526-9A41-85BB-8176B82C7AFB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DAFEC6-E631-5040-AF5D-E5CD2653D10B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7BF614-BDA1-4445-951E-2A30C1AD2587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58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EC2993-1714-A24E-AAD0-96BC0F490B1E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3FEBC4-6FBE-B44E-98EF-F6E2F7F633C2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 dirty="0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8B2433-9057-AB44-B25D-57FEB84065AF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B759E0-E78E-E74A-AF33-F3CFA4E2D98B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C9E7C8-ECD9-6044-A7FE-8657FCAD9561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1E25DF-7C82-704A-B31C-253814DE2DB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A90407-892B-834C-ABD9-005C002DC1B9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9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5B12CB-AE7C-A543-8A3A-EAE24A29D48E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E4AF4C-CF1B-6B4A-A2A6-A8D23CDF18D5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EF3670-3AF3-D549-992C-7A3298670D80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0B1045-BB4D-A04D-88E3-579A03D29BDC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6CF881-A284-AA41-923A-EEF192E77EA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E5B457-9C09-8449-9E63-8C53EF3E16CA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0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5FB57-169B-CB4F-98CA-C9F9C118B726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A34044-4293-D143-9B7C-11F0A566C4C7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FB7924-B0D6-CB44-81F3-B60DF952CDAE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00A81A-5F38-B944-88F4-2A7BFAD7CB10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44C6D3-FC0B-0446-88A7-D9231316AE7A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F91D8-6A13-C641-8E88-2EB6C38BD7D5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2873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4309F5-E3C8-7046-BB28-D7E176A967FA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88C52A-2B55-0F45-9A03-DD74AB99001B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0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A85AD2-92BD-B744-A5FD-D71683A37360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0178D-0BC9-B54D-A53B-C18AE1C1409A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F205F8-621F-FB44-8E01-10DF1568BC5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008209-748C-9942-9176-C4056E774251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61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1CD6FA-29AA-6E43-80A7-EB61F12F3384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61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C8544E-727F-014E-B4B8-12B5F253D69B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61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E4EE9B-177E-9543-9EEF-853B5359ECD8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61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6081A-D595-8743-AD58-F4898F9C06BC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616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D36379-B294-0447-ADB9-C187E18716C4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61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0FE2F9-84A1-5442-A493-F7E73C902B74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618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EFED9B-661B-A94B-AA58-302A8D938895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975C19-DF0D-514B-8340-578FB31BB67F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62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4CD736-1FBB-4E4B-A48D-2E1AE8A9B873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CB8EF2-360D-2440-BFFD-3899DF36791B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62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811AC9-51CE-EB4D-A6D6-38CE65C9E4F5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623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2F4B29-5291-E74C-A6EF-EE163021F7DF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62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76F6D2-40DE-C642-BC91-05999420F87F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625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F8D2AC-3AE2-7F48-9FAE-66149EDD3771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 dirty="0"/>
              <a:t>Introduzione agli algoritmi e strutture dati 2/ed</a:t>
            </a:r>
            <a:br>
              <a:rPr lang="it-IT" sz="1000" dirty="0"/>
            </a:br>
            <a:r>
              <a:rPr lang="it-IT" sz="1000" dirty="0"/>
              <a:t>T. H. </a:t>
            </a:r>
            <a:r>
              <a:rPr lang="it-IT" sz="1000" dirty="0" err="1"/>
              <a:t>Cormen</a:t>
            </a:r>
            <a:r>
              <a:rPr lang="it-IT" sz="1000" dirty="0"/>
              <a:t>, C. E. </a:t>
            </a:r>
            <a:r>
              <a:rPr lang="it-IT" sz="1000" dirty="0" err="1"/>
              <a:t>Leiserson</a:t>
            </a:r>
            <a:r>
              <a:rPr lang="it-IT" sz="1000" dirty="0"/>
              <a:t>, </a:t>
            </a:r>
            <a:r>
              <a:rPr lang="it-IT" sz="1000" dirty="0" err="1"/>
              <a:t>R</a:t>
            </a:r>
            <a:r>
              <a:rPr lang="it-IT" sz="1000" dirty="0"/>
              <a:t>. L. </a:t>
            </a:r>
            <a:r>
              <a:rPr lang="it-IT" sz="1000" dirty="0" err="1"/>
              <a:t>Rivest</a:t>
            </a:r>
            <a:r>
              <a:rPr lang="it-IT" sz="1000" dirty="0"/>
              <a:t>, C. Stein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9" descr="McGraw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6251-7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88640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ALGORITMI</a:t>
            </a:r>
            <a:endParaRPr lang="it-IT" sz="2800" dirty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15-18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>
                <a:solidFill>
                  <a:srgbClr val="008000"/>
                </a:solidFill>
              </a:rPr>
              <a:t>Visita di grafi – Algoritmo DFS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12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Ricerca in profondità (DFS)</a:t>
            </a:r>
          </a:p>
        </p:txBody>
      </p:sp>
      <p:sp>
        <p:nvSpPr>
          <p:cNvPr id="48743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cs typeface="+mn-cs"/>
              </a:rPr>
              <a:t>La strategia della </a:t>
            </a:r>
            <a:r>
              <a:rPr lang="it-IT" dirty="0">
                <a:solidFill>
                  <a:schemeClr val="hlink"/>
                </a:solidFill>
                <a:cs typeface="+mn-cs"/>
              </a:rPr>
              <a:t>ricerca in profondità</a:t>
            </a:r>
            <a:r>
              <a:rPr lang="it-IT" dirty="0">
                <a:cs typeface="+mn-cs"/>
              </a:rPr>
              <a:t> consiste nell’avanzare in profondità nell’albero finché è possibile </a:t>
            </a:r>
          </a:p>
          <a:p>
            <a:pPr eaLnBrk="1" hangingPunct="1">
              <a:defRPr/>
            </a:pPr>
            <a:r>
              <a:rPr lang="it-IT" dirty="0">
                <a:cs typeface="+mn-cs"/>
              </a:rPr>
              <a:t>Si esplorano quindi sempre gli archi uscenti dal vertice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raggiunto per ultimo</a:t>
            </a:r>
          </a:p>
          <a:p>
            <a:pPr eaLnBrk="1" hangingPunct="1">
              <a:defRPr/>
            </a:pPr>
            <a:r>
              <a:rPr lang="it-IT" dirty="0">
                <a:cs typeface="+mn-cs"/>
              </a:rPr>
              <a:t>Se viene scoperto un nuovo vertice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 ci si sposta su tale vertice</a:t>
            </a:r>
          </a:p>
          <a:p>
            <a:pPr eaLnBrk="1" hangingPunct="1">
              <a:defRPr/>
            </a:pPr>
            <a:r>
              <a:rPr lang="it-IT" dirty="0">
                <a:cs typeface="+mn-cs"/>
              </a:rPr>
              <a:t>Se tutti gli archi uscenti da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portano a vertici già scoperti si torna indietro e si riprende esplorando archi uscenti dal vertice da cui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è stato scoperto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Ricerca in profondità (DFS)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Il procedimento continua finché si sono scoperti tutti i vertici raggiungibili dal vertice iniziale scelto. Se non sono stati raggiunti tutti i vertici del grafo si ripete il procedimento partendo da un vertice non ancora raggiunto</a:t>
            </a:r>
          </a:p>
          <a:p>
            <a:pPr>
              <a:defRPr/>
            </a:pPr>
            <a:r>
              <a:rPr lang="it-IT" dirty="0"/>
              <a:t>Anche nella ricerca in profondità quando viene scoperto un nuovo vertice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visitando la lista delle adiacenze di un vertice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 si memorizza un puntatore da </a:t>
            </a:r>
            <a:r>
              <a:rPr lang="it-IT" dirty="0">
                <a:solidFill>
                  <a:srgbClr val="FF0000"/>
                </a:solidFill>
              </a:rPr>
              <a:t>v</a:t>
            </a:r>
            <a:r>
              <a:rPr lang="it-IT" dirty="0"/>
              <a:t> ad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Ricerca in profondità (DFS)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 differenza della ricerca in larghezza in cui i puntatori al predecessore definiscono un albero, nella ricerca in profondità essi definiscono un insieme di alberi, la </a:t>
            </a:r>
            <a:r>
              <a:rPr lang="it-IT" dirty="0">
                <a:solidFill>
                  <a:srgbClr val="FF0000"/>
                </a:solidFill>
              </a:rPr>
              <a:t>foresta di ricerca in profondità</a:t>
            </a:r>
          </a:p>
          <a:p>
            <a:pPr>
              <a:defRPr/>
            </a:pPr>
            <a:r>
              <a:rPr lang="it-IT" dirty="0"/>
              <a:t>Anche nella ricerca in profondità i vertici sono colorati di </a:t>
            </a:r>
            <a:r>
              <a:rPr lang="it-IT" b="1" dirty="0"/>
              <a:t>bianco</a:t>
            </a:r>
            <a:r>
              <a:rPr lang="it-IT" dirty="0"/>
              <a:t> (vertici non ancora raggiunti), </a:t>
            </a:r>
            <a:r>
              <a:rPr lang="it-IT" b="1" dirty="0"/>
              <a:t>grigio</a:t>
            </a:r>
            <a:r>
              <a:rPr lang="it-IT" dirty="0"/>
              <a:t> (vertici scoperti) e </a:t>
            </a:r>
            <a:r>
              <a:rPr lang="it-IT" b="1" dirty="0"/>
              <a:t>nero</a:t>
            </a:r>
            <a:r>
              <a:rPr lang="it-IT" dirty="0"/>
              <a:t> (vertici la cui lista delle adiacenze è stata completamente esplorata)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Ricerca in profondità (DFS)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ricerca in profondità pone due marcatempi su ogni vertice </a:t>
            </a:r>
            <a:r>
              <a:rPr lang="it-IT" dirty="0">
                <a:solidFill>
                  <a:srgbClr val="FF0000"/>
                </a:solidFill>
              </a:rPr>
              <a:t>u</a:t>
            </a:r>
            <a:r>
              <a:rPr lang="it-IT" dirty="0"/>
              <a:t>. Un primo marcatempo </a:t>
            </a:r>
            <a:r>
              <a:rPr lang="it-IT" dirty="0">
                <a:solidFill>
                  <a:srgbClr val="FF0000"/>
                </a:solidFill>
              </a:rPr>
              <a:t>d[u]</a:t>
            </a:r>
            <a:r>
              <a:rPr lang="it-IT" dirty="0"/>
              <a:t> viene posto quando il vertice viene scoperto e colorato di grigio ed un secondo marcatempo </a:t>
            </a:r>
            <a:r>
              <a:rPr lang="it-IT" dirty="0" err="1">
                <a:solidFill>
                  <a:srgbClr val="FF0000"/>
                </a:solidFill>
              </a:rPr>
              <a:t>f</a:t>
            </a:r>
            <a:r>
              <a:rPr lang="it-IT" dirty="0">
                <a:solidFill>
                  <a:srgbClr val="FF0000"/>
                </a:solidFill>
              </a:rPr>
              <a:t>[u]</a:t>
            </a:r>
            <a:r>
              <a:rPr lang="it-IT" dirty="0"/>
              <a:t> quando il vertice è finito e viene colorato di nero</a:t>
            </a:r>
          </a:p>
          <a:p>
            <a:r>
              <a:rPr lang="it-IT" dirty="0"/>
              <a:t>Tali marcatempi sono utili in molti algoritmi derivati dalla ricerca in profondità e sono utili per ragionare sul funzionamento della ricerca stessa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Text Box 2"/>
          <p:cNvSpPr txBox="1">
            <a:spLocks noChangeArrowheads="1"/>
          </p:cNvSpPr>
          <p:nvPr/>
        </p:nvSpPr>
        <p:spPr bwMode="auto">
          <a:xfrm>
            <a:off x="533400" y="1447800"/>
            <a:ext cx="815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L’algoritmo base di ricerca in profondità è: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611560" y="2276872"/>
            <a:ext cx="6611938" cy="2677656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DFS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nil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1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 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304800" y="5334000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richiama la procedura ricorsiva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DFSric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v</a:t>
            </a:r>
            <a:r>
              <a:rPr lang="it-IT" sz="2400" b="1" dirty="0" err="1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,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t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)</a:t>
            </a:r>
            <a:r>
              <a:rPr lang="it-IT" sz="2400" dirty="0"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che esplora in profondità tutti i vertici raggiungibili dal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</p:txBody>
      </p:sp>
      <p:sp>
        <p:nvSpPr>
          <p:cNvPr id="491525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Ricerca in profondità (DFS)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Text Box 2"/>
          <p:cNvSpPr txBox="1">
            <a:spLocks noChangeArrowheads="1"/>
          </p:cNvSpPr>
          <p:nvPr/>
        </p:nvSpPr>
        <p:spPr bwMode="auto">
          <a:xfrm>
            <a:off x="609600" y="1752600"/>
            <a:ext cx="8077200" cy="2677656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grigio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d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+ 1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nero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f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+ 1</a:t>
            </a:r>
          </a:p>
        </p:txBody>
      </p:sp>
      <p:sp>
        <p:nvSpPr>
          <p:cNvPr id="492547" name="Text Box 3"/>
          <p:cNvSpPr txBox="1">
            <a:spLocks noChangeArrowheads="1"/>
          </p:cNvSpPr>
          <p:nvPr/>
        </p:nvSpPr>
        <p:spPr bwMode="auto">
          <a:xfrm>
            <a:off x="533400" y="5181600"/>
            <a:ext cx="815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800" dirty="0">
                <a:solidFill>
                  <a:srgbClr val="201FF0"/>
                </a:solidFill>
                <a:latin typeface="+mn-lt"/>
                <a:cs typeface="+mn-cs"/>
              </a:rPr>
              <a:t>Vediamo su di un esempio come viene eseguito l’algoritmo</a:t>
            </a:r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Ricerca in profondità (DFS)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708" name="Rectangle 14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cs typeface="+mj-cs"/>
              </a:rPr>
              <a:t>DFS: Esempio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38200" y="1066974"/>
            <a:ext cx="2564790" cy="1858079"/>
            <a:chOff x="838200" y="1066974"/>
            <a:chExt cx="2564790" cy="1858079"/>
          </a:xfrm>
        </p:grpSpPr>
        <p:sp>
          <p:nvSpPr>
            <p:cNvPr id="493579" name="Line 11"/>
            <p:cNvSpPr>
              <a:spLocks noChangeAspect="1" noChangeShapeType="1"/>
            </p:cNvSpPr>
            <p:nvPr/>
          </p:nvSpPr>
          <p:spPr bwMode="auto">
            <a:xfrm flipH="1">
              <a:off x="1447876" y="246380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575" name="Oval 7"/>
            <p:cNvSpPr>
              <a:spLocks noChangeAspect="1" noChangeArrowheads="1"/>
            </p:cNvSpPr>
            <p:nvPr/>
          </p:nvSpPr>
          <p:spPr bwMode="auto">
            <a:xfrm>
              <a:off x="838200" y="2280920"/>
              <a:ext cx="609676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76" name="Oval 8"/>
            <p:cNvSpPr>
              <a:spLocks noChangeAspect="1" noChangeArrowheads="1"/>
            </p:cNvSpPr>
            <p:nvPr/>
          </p:nvSpPr>
          <p:spPr bwMode="auto">
            <a:xfrm>
              <a:off x="1812509" y="2280920"/>
              <a:ext cx="610848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77" name="Oval 9"/>
            <p:cNvSpPr>
              <a:spLocks noChangeAspect="1" noChangeArrowheads="1"/>
            </p:cNvSpPr>
            <p:nvPr/>
          </p:nvSpPr>
          <p:spPr bwMode="auto">
            <a:xfrm>
              <a:off x="2789162" y="2280920"/>
              <a:ext cx="609676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cxnSp>
          <p:nvCxnSpPr>
            <p:cNvPr id="178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3136058" y="2416670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93572" name="Oval 4"/>
            <p:cNvSpPr>
              <a:spLocks noChangeAspect="1" noChangeArrowheads="1"/>
            </p:cNvSpPr>
            <p:nvPr/>
          </p:nvSpPr>
          <p:spPr bwMode="auto">
            <a:xfrm>
              <a:off x="838200" y="148844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573" name="Oval 5"/>
            <p:cNvSpPr>
              <a:spLocks noChangeAspect="1" noChangeArrowheads="1"/>
            </p:cNvSpPr>
            <p:nvPr/>
          </p:nvSpPr>
          <p:spPr bwMode="auto">
            <a:xfrm>
              <a:off x="1812509" y="1488440"/>
              <a:ext cx="610848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74" name="Oval 6"/>
            <p:cNvSpPr>
              <a:spLocks noChangeAspect="1" noChangeArrowheads="1"/>
            </p:cNvSpPr>
            <p:nvPr/>
          </p:nvSpPr>
          <p:spPr bwMode="auto">
            <a:xfrm>
              <a:off x="2789162" y="1488440"/>
              <a:ext cx="609676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80" name="Line 12"/>
            <p:cNvSpPr>
              <a:spLocks noChangeAspect="1" noChangeShapeType="1"/>
            </p:cNvSpPr>
            <p:nvPr/>
          </p:nvSpPr>
          <p:spPr bwMode="auto">
            <a:xfrm flipH="1">
              <a:off x="1143038" y="18542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581" name="Line 13"/>
            <p:cNvSpPr>
              <a:spLocks noChangeAspect="1" noChangeShapeType="1"/>
            </p:cNvSpPr>
            <p:nvPr/>
          </p:nvSpPr>
          <p:spPr bwMode="auto">
            <a:xfrm flipH="1">
              <a:off x="2119691" y="18542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582" name="Line 14"/>
            <p:cNvSpPr>
              <a:spLocks noChangeAspect="1" noChangeShapeType="1"/>
            </p:cNvSpPr>
            <p:nvPr/>
          </p:nvSpPr>
          <p:spPr bwMode="auto">
            <a:xfrm flipH="1">
              <a:off x="3094000" y="18542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583" name="Line 15"/>
            <p:cNvSpPr>
              <a:spLocks noChangeAspect="1" noChangeShapeType="1"/>
            </p:cNvSpPr>
            <p:nvPr/>
          </p:nvSpPr>
          <p:spPr bwMode="auto">
            <a:xfrm flipV="1">
              <a:off x="1386908" y="17945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584" name="Line 16"/>
            <p:cNvSpPr>
              <a:spLocks noChangeAspect="1" noChangeShapeType="1"/>
            </p:cNvSpPr>
            <p:nvPr/>
          </p:nvSpPr>
          <p:spPr bwMode="auto">
            <a:xfrm flipH="1">
              <a:off x="2362389" y="17945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141" name="Text Box 18"/>
            <p:cNvSpPr txBox="1">
              <a:spLocks noChangeAspect="1" noChangeArrowheads="1"/>
            </p:cNvSpPr>
            <p:nvPr/>
          </p:nvSpPr>
          <p:spPr bwMode="auto">
            <a:xfrm>
              <a:off x="966063" y="2494166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42" name="Text Box 19"/>
            <p:cNvSpPr txBox="1">
              <a:spLocks noChangeAspect="1" noChangeArrowheads="1"/>
            </p:cNvSpPr>
            <p:nvPr/>
          </p:nvSpPr>
          <p:spPr bwMode="auto">
            <a:xfrm>
              <a:off x="1940939" y="2494166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43" name="Text Box 20"/>
            <p:cNvSpPr txBox="1">
              <a:spLocks noChangeAspect="1" noChangeArrowheads="1"/>
            </p:cNvSpPr>
            <p:nvPr/>
          </p:nvSpPr>
          <p:spPr bwMode="auto">
            <a:xfrm>
              <a:off x="2915816" y="2492896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44" name="Text Box 23"/>
            <p:cNvSpPr txBox="1">
              <a:spLocks noChangeAspect="1" noChangeArrowheads="1"/>
            </p:cNvSpPr>
            <p:nvPr/>
          </p:nvSpPr>
          <p:spPr bwMode="auto">
            <a:xfrm>
              <a:off x="983145" y="1066974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45" name="Text Box 24"/>
            <p:cNvSpPr txBox="1">
              <a:spLocks noChangeAspect="1" noChangeArrowheads="1"/>
            </p:cNvSpPr>
            <p:nvPr/>
          </p:nvSpPr>
          <p:spPr bwMode="auto">
            <a:xfrm>
              <a:off x="1958021" y="1066974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46" name="Text Box 25"/>
            <p:cNvSpPr txBox="1">
              <a:spLocks noChangeAspect="1" noChangeArrowheads="1"/>
            </p:cNvSpPr>
            <p:nvPr/>
          </p:nvSpPr>
          <p:spPr bwMode="auto">
            <a:xfrm>
              <a:off x="2932898" y="1066974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sp>
          <p:nvSpPr>
            <p:cNvPr id="191" name="Line 53"/>
            <p:cNvSpPr>
              <a:spLocks noChangeAspect="1" noChangeShapeType="1"/>
            </p:cNvSpPr>
            <p:nvPr/>
          </p:nvSpPr>
          <p:spPr bwMode="auto">
            <a:xfrm>
              <a:off x="1475656" y="162880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81600" y="994966"/>
            <a:ext cx="2560638" cy="1858079"/>
            <a:chOff x="5181600" y="994966"/>
            <a:chExt cx="2560638" cy="1858079"/>
          </a:xfrm>
        </p:grpSpPr>
        <p:sp>
          <p:nvSpPr>
            <p:cNvPr id="493600" name="Line 32"/>
            <p:cNvSpPr>
              <a:spLocks noChangeAspect="1" noChangeShapeType="1"/>
            </p:cNvSpPr>
            <p:nvPr/>
          </p:nvSpPr>
          <p:spPr bwMode="auto">
            <a:xfrm flipH="1">
              <a:off x="5791276" y="238760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93594" name="Oval 26"/>
            <p:cNvSpPr>
              <a:spLocks noChangeAspect="1" noChangeArrowheads="1"/>
            </p:cNvSpPr>
            <p:nvPr/>
          </p:nvSpPr>
          <p:spPr bwMode="auto">
            <a:xfrm>
              <a:off x="5181600" y="141224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595" name="Oval 27"/>
            <p:cNvSpPr>
              <a:spLocks noChangeAspect="1" noChangeArrowheads="1"/>
            </p:cNvSpPr>
            <p:nvPr/>
          </p:nvSpPr>
          <p:spPr bwMode="auto">
            <a:xfrm>
              <a:off x="7132562" y="1413510"/>
              <a:ext cx="609676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96" name="Oval 28"/>
            <p:cNvSpPr>
              <a:spLocks noChangeAspect="1" noChangeArrowheads="1"/>
            </p:cNvSpPr>
            <p:nvPr/>
          </p:nvSpPr>
          <p:spPr bwMode="auto">
            <a:xfrm>
              <a:off x="5181600" y="2204720"/>
              <a:ext cx="609676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97" name="Oval 29"/>
            <p:cNvSpPr>
              <a:spLocks noChangeAspect="1" noChangeArrowheads="1"/>
            </p:cNvSpPr>
            <p:nvPr/>
          </p:nvSpPr>
          <p:spPr bwMode="auto">
            <a:xfrm>
              <a:off x="6155909" y="2204720"/>
              <a:ext cx="610848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598" name="Oval 30"/>
            <p:cNvSpPr>
              <a:spLocks noChangeAspect="1" noChangeArrowheads="1"/>
            </p:cNvSpPr>
            <p:nvPr/>
          </p:nvSpPr>
          <p:spPr bwMode="auto">
            <a:xfrm>
              <a:off x="7132562" y="2204720"/>
              <a:ext cx="609676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01" name="Line 33"/>
            <p:cNvSpPr>
              <a:spLocks noChangeAspect="1" noChangeShapeType="1"/>
            </p:cNvSpPr>
            <p:nvPr/>
          </p:nvSpPr>
          <p:spPr bwMode="auto">
            <a:xfrm flipH="1">
              <a:off x="5486438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02" name="Line 34"/>
            <p:cNvSpPr>
              <a:spLocks noChangeAspect="1" noChangeShapeType="1"/>
            </p:cNvSpPr>
            <p:nvPr/>
          </p:nvSpPr>
          <p:spPr bwMode="auto">
            <a:xfrm flipH="1">
              <a:off x="6463091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03" name="Line 35"/>
            <p:cNvSpPr>
              <a:spLocks noChangeAspect="1" noChangeShapeType="1"/>
            </p:cNvSpPr>
            <p:nvPr/>
          </p:nvSpPr>
          <p:spPr bwMode="auto">
            <a:xfrm flipH="1">
              <a:off x="7437400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04" name="Line 36"/>
            <p:cNvSpPr>
              <a:spLocks noChangeAspect="1" noChangeShapeType="1"/>
            </p:cNvSpPr>
            <p:nvPr/>
          </p:nvSpPr>
          <p:spPr bwMode="auto">
            <a:xfrm flipV="1">
              <a:off x="5730308" y="17183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05" name="Line 37"/>
            <p:cNvSpPr>
              <a:spLocks noChangeAspect="1" noChangeShapeType="1"/>
            </p:cNvSpPr>
            <p:nvPr/>
          </p:nvSpPr>
          <p:spPr bwMode="auto">
            <a:xfrm flipH="1">
              <a:off x="6705789" y="17183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12" name="Oval 44"/>
            <p:cNvSpPr>
              <a:spLocks noChangeAspect="1" noChangeArrowheads="1"/>
            </p:cNvSpPr>
            <p:nvPr/>
          </p:nvSpPr>
          <p:spPr bwMode="auto">
            <a:xfrm>
              <a:off x="6157081" y="141224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2/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47" name="Text Box 18"/>
            <p:cNvSpPr txBox="1">
              <a:spLocks noChangeAspect="1" noChangeArrowheads="1"/>
            </p:cNvSpPr>
            <p:nvPr/>
          </p:nvSpPr>
          <p:spPr bwMode="auto">
            <a:xfrm>
              <a:off x="5286543" y="2422158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48" name="Text Box 19"/>
            <p:cNvSpPr txBox="1">
              <a:spLocks noChangeAspect="1" noChangeArrowheads="1"/>
            </p:cNvSpPr>
            <p:nvPr/>
          </p:nvSpPr>
          <p:spPr bwMode="auto">
            <a:xfrm>
              <a:off x="6261419" y="2422158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49" name="Text Box 20"/>
            <p:cNvSpPr txBox="1">
              <a:spLocks noChangeAspect="1" noChangeArrowheads="1"/>
            </p:cNvSpPr>
            <p:nvPr/>
          </p:nvSpPr>
          <p:spPr bwMode="auto">
            <a:xfrm>
              <a:off x="7236296" y="2420888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50" name="Text Box 23"/>
            <p:cNvSpPr txBox="1">
              <a:spLocks noChangeAspect="1" noChangeArrowheads="1"/>
            </p:cNvSpPr>
            <p:nvPr/>
          </p:nvSpPr>
          <p:spPr bwMode="auto">
            <a:xfrm>
              <a:off x="5303625" y="994966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51" name="Text Box 24"/>
            <p:cNvSpPr txBox="1">
              <a:spLocks noChangeAspect="1" noChangeArrowheads="1"/>
            </p:cNvSpPr>
            <p:nvPr/>
          </p:nvSpPr>
          <p:spPr bwMode="auto">
            <a:xfrm>
              <a:off x="6278501" y="994966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52" name="Text Box 25"/>
            <p:cNvSpPr txBox="1">
              <a:spLocks noChangeAspect="1" noChangeArrowheads="1"/>
            </p:cNvSpPr>
            <p:nvPr/>
          </p:nvSpPr>
          <p:spPr bwMode="auto">
            <a:xfrm>
              <a:off x="7253378" y="994966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77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7528546" y="23446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92" name="Line 47"/>
            <p:cNvSpPr>
              <a:spLocks noChangeAspect="1" noChangeShapeType="1"/>
            </p:cNvSpPr>
            <p:nvPr/>
          </p:nvSpPr>
          <p:spPr bwMode="auto">
            <a:xfrm flipH="1" flipV="1">
              <a:off x="5796136" y="1628800"/>
              <a:ext cx="364633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193" name="Line 53"/>
            <p:cNvSpPr>
              <a:spLocks noChangeAspect="1" noChangeShapeType="1"/>
            </p:cNvSpPr>
            <p:nvPr/>
          </p:nvSpPr>
          <p:spPr bwMode="auto">
            <a:xfrm>
              <a:off x="5796136" y="162880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257800" y="4523358"/>
            <a:ext cx="2560858" cy="1858079"/>
            <a:chOff x="5257800" y="4523358"/>
            <a:chExt cx="2560858" cy="1858079"/>
          </a:xfrm>
        </p:grpSpPr>
        <p:sp>
          <p:nvSpPr>
            <p:cNvPr id="493685" name="Oval 117"/>
            <p:cNvSpPr>
              <a:spLocks noChangeAspect="1" noChangeArrowheads="1"/>
            </p:cNvSpPr>
            <p:nvPr/>
          </p:nvSpPr>
          <p:spPr bwMode="auto">
            <a:xfrm>
              <a:off x="5257800" y="5785732"/>
              <a:ext cx="609728" cy="365635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4/5 </a:t>
              </a: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86" name="Line 118"/>
            <p:cNvSpPr>
              <a:spLocks noChangeAspect="1" noChangeShapeType="1"/>
            </p:cNvSpPr>
            <p:nvPr/>
          </p:nvSpPr>
          <p:spPr bwMode="auto">
            <a:xfrm>
              <a:off x="5867528" y="5968550"/>
              <a:ext cx="36700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87" name="Line 119"/>
            <p:cNvSpPr>
              <a:spLocks noChangeAspect="1" noChangeShapeType="1"/>
            </p:cNvSpPr>
            <p:nvPr/>
          </p:nvSpPr>
          <p:spPr bwMode="auto">
            <a:xfrm flipV="1">
              <a:off x="6539401" y="5359158"/>
              <a:ext cx="0" cy="426575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89" name="Oval 121"/>
            <p:cNvSpPr>
              <a:spLocks noChangeAspect="1" noChangeArrowheads="1"/>
            </p:cNvSpPr>
            <p:nvPr/>
          </p:nvSpPr>
          <p:spPr bwMode="auto">
            <a:xfrm>
              <a:off x="5257800" y="4993522"/>
              <a:ext cx="609728" cy="365635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90" name="Oval 122"/>
            <p:cNvSpPr>
              <a:spLocks noChangeAspect="1" noChangeArrowheads="1"/>
            </p:cNvSpPr>
            <p:nvPr/>
          </p:nvSpPr>
          <p:spPr bwMode="auto">
            <a:xfrm>
              <a:off x="7208930" y="4994792"/>
              <a:ext cx="609728" cy="3669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91" name="Oval 123"/>
            <p:cNvSpPr>
              <a:spLocks noChangeAspect="1" noChangeArrowheads="1"/>
            </p:cNvSpPr>
            <p:nvPr/>
          </p:nvSpPr>
          <p:spPr bwMode="auto">
            <a:xfrm>
              <a:off x="7208930" y="5787002"/>
              <a:ext cx="609728" cy="3669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93" name="Line 125"/>
            <p:cNvSpPr>
              <a:spLocks noChangeAspect="1" noChangeShapeType="1"/>
            </p:cNvSpPr>
            <p:nvPr/>
          </p:nvSpPr>
          <p:spPr bwMode="auto">
            <a:xfrm flipH="1">
              <a:off x="5867528" y="5968550"/>
              <a:ext cx="3670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94" name="Line 126"/>
            <p:cNvSpPr>
              <a:spLocks noChangeAspect="1" noChangeShapeType="1"/>
            </p:cNvSpPr>
            <p:nvPr/>
          </p:nvSpPr>
          <p:spPr bwMode="auto">
            <a:xfrm flipH="1">
              <a:off x="5562664" y="5359158"/>
              <a:ext cx="0" cy="426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95" name="Line 127"/>
            <p:cNvSpPr>
              <a:spLocks noChangeAspect="1" noChangeShapeType="1"/>
            </p:cNvSpPr>
            <p:nvPr/>
          </p:nvSpPr>
          <p:spPr bwMode="auto">
            <a:xfrm flipH="1">
              <a:off x="6539401" y="5359158"/>
              <a:ext cx="0" cy="426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96" name="Line 128"/>
            <p:cNvSpPr>
              <a:spLocks noChangeAspect="1" noChangeShapeType="1"/>
            </p:cNvSpPr>
            <p:nvPr/>
          </p:nvSpPr>
          <p:spPr bwMode="auto">
            <a:xfrm flipH="1">
              <a:off x="7513794" y="5359158"/>
              <a:ext cx="0" cy="426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97" name="Line 129"/>
            <p:cNvSpPr>
              <a:spLocks noChangeAspect="1" noChangeShapeType="1"/>
            </p:cNvSpPr>
            <p:nvPr/>
          </p:nvSpPr>
          <p:spPr bwMode="auto">
            <a:xfrm flipV="1">
              <a:off x="5806555" y="5296949"/>
              <a:ext cx="487782" cy="549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493698" name="Line 130"/>
            <p:cNvSpPr>
              <a:spLocks noChangeAspect="1" noChangeShapeType="1"/>
            </p:cNvSpPr>
            <p:nvPr/>
          </p:nvSpPr>
          <p:spPr bwMode="auto">
            <a:xfrm flipH="1">
              <a:off x="6782120" y="5296949"/>
              <a:ext cx="487782" cy="549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cxnSp>
          <p:nvCxnSpPr>
            <p:cNvPr id="493699" name="AutoShape 131"/>
            <p:cNvCxnSpPr>
              <a:cxnSpLocks noChangeAspect="1" noChangeShapeType="1"/>
              <a:stCxn id="493691" idx="7"/>
              <a:endCxn id="493691" idx="5"/>
            </p:cNvCxnSpPr>
            <p:nvPr/>
          </p:nvCxnSpPr>
          <p:spPr bwMode="auto">
            <a:xfrm rot="5400000" flipV="1">
              <a:off x="7589843" y="5967329"/>
              <a:ext cx="280574" cy="1173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93703" name="Oval 135"/>
            <p:cNvSpPr>
              <a:spLocks noChangeAspect="1" noChangeArrowheads="1"/>
            </p:cNvSpPr>
            <p:nvPr/>
          </p:nvSpPr>
          <p:spPr bwMode="auto">
            <a:xfrm>
              <a:off x="6233365" y="4993522"/>
              <a:ext cx="609728" cy="365635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2/  </a:t>
              </a: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704" name="Oval 136"/>
            <p:cNvSpPr>
              <a:spLocks noChangeAspect="1" noChangeArrowheads="1"/>
            </p:cNvSpPr>
            <p:nvPr/>
          </p:nvSpPr>
          <p:spPr bwMode="auto">
            <a:xfrm>
              <a:off x="6233365" y="5785732"/>
              <a:ext cx="609728" cy="365635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3/6 </a:t>
              </a:r>
              <a:endParaRPr lang="en-GB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71" name="Text Box 18"/>
            <p:cNvSpPr txBox="1">
              <a:spLocks noChangeAspect="1" noChangeArrowheads="1"/>
            </p:cNvSpPr>
            <p:nvPr/>
          </p:nvSpPr>
          <p:spPr bwMode="auto">
            <a:xfrm>
              <a:off x="5358551" y="5950550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72" name="Text Box 19"/>
            <p:cNvSpPr txBox="1">
              <a:spLocks noChangeAspect="1" noChangeArrowheads="1"/>
            </p:cNvSpPr>
            <p:nvPr/>
          </p:nvSpPr>
          <p:spPr bwMode="auto">
            <a:xfrm>
              <a:off x="6333427" y="5950550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73" name="Text Box 20"/>
            <p:cNvSpPr txBox="1">
              <a:spLocks noChangeAspect="1" noChangeArrowheads="1"/>
            </p:cNvSpPr>
            <p:nvPr/>
          </p:nvSpPr>
          <p:spPr bwMode="auto">
            <a:xfrm>
              <a:off x="7308304" y="5949280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74" name="Text Box 23"/>
            <p:cNvSpPr txBox="1">
              <a:spLocks noChangeAspect="1" noChangeArrowheads="1"/>
            </p:cNvSpPr>
            <p:nvPr/>
          </p:nvSpPr>
          <p:spPr bwMode="auto">
            <a:xfrm>
              <a:off x="5375633" y="4523358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75" name="Text Box 24"/>
            <p:cNvSpPr txBox="1">
              <a:spLocks noChangeAspect="1" noChangeArrowheads="1"/>
            </p:cNvSpPr>
            <p:nvPr/>
          </p:nvSpPr>
          <p:spPr bwMode="auto">
            <a:xfrm>
              <a:off x="6350509" y="4523358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76" name="Text Box 25"/>
            <p:cNvSpPr txBox="1">
              <a:spLocks noChangeAspect="1" noChangeArrowheads="1"/>
            </p:cNvSpPr>
            <p:nvPr/>
          </p:nvSpPr>
          <p:spPr bwMode="auto">
            <a:xfrm>
              <a:off x="7325386" y="4523358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sp>
          <p:nvSpPr>
            <p:cNvPr id="198" name="Line 47"/>
            <p:cNvSpPr>
              <a:spLocks noChangeAspect="1" noChangeShapeType="1"/>
            </p:cNvSpPr>
            <p:nvPr/>
          </p:nvSpPr>
          <p:spPr bwMode="auto">
            <a:xfrm flipH="1" flipV="1">
              <a:off x="5868144" y="5157192"/>
              <a:ext cx="364633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199" name="Line 53"/>
            <p:cNvSpPr>
              <a:spLocks noChangeAspect="1" noChangeShapeType="1"/>
            </p:cNvSpPr>
            <p:nvPr/>
          </p:nvSpPr>
          <p:spPr bwMode="auto">
            <a:xfrm>
              <a:off x="5868144" y="5157192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8200" y="2867174"/>
            <a:ext cx="2564790" cy="1858079"/>
            <a:chOff x="838200" y="2867174"/>
            <a:chExt cx="2564790" cy="1858079"/>
          </a:xfrm>
        </p:grpSpPr>
        <p:sp>
          <p:nvSpPr>
            <p:cNvPr id="493614" name="Line 46"/>
            <p:cNvSpPr>
              <a:spLocks noChangeAspect="1" noChangeShapeType="1"/>
            </p:cNvSpPr>
            <p:nvPr/>
          </p:nvSpPr>
          <p:spPr bwMode="auto">
            <a:xfrm flipV="1">
              <a:off x="2119691" y="3643865"/>
              <a:ext cx="0" cy="425599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15" name="Line 47"/>
            <p:cNvSpPr>
              <a:spLocks noChangeAspect="1" noChangeShapeType="1"/>
            </p:cNvSpPr>
            <p:nvPr/>
          </p:nvSpPr>
          <p:spPr bwMode="auto">
            <a:xfrm flipH="1" flipV="1">
              <a:off x="1447876" y="3459650"/>
              <a:ext cx="364633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17" name="Oval 49"/>
            <p:cNvSpPr>
              <a:spLocks noChangeAspect="1" noChangeArrowheads="1"/>
            </p:cNvSpPr>
            <p:nvPr/>
          </p:nvSpPr>
          <p:spPr bwMode="auto">
            <a:xfrm>
              <a:off x="838200" y="3276706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18" name="Oval 50"/>
            <p:cNvSpPr>
              <a:spLocks noChangeAspect="1" noChangeArrowheads="1"/>
            </p:cNvSpPr>
            <p:nvPr/>
          </p:nvSpPr>
          <p:spPr bwMode="auto">
            <a:xfrm>
              <a:off x="2789162" y="3276706"/>
              <a:ext cx="609676" cy="3671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19" name="Oval 51"/>
            <p:cNvSpPr>
              <a:spLocks noChangeAspect="1" noChangeArrowheads="1"/>
            </p:cNvSpPr>
            <p:nvPr/>
          </p:nvSpPr>
          <p:spPr bwMode="auto">
            <a:xfrm>
              <a:off x="838200" y="4068193"/>
              <a:ext cx="609676" cy="3671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20" name="Oval 52"/>
            <p:cNvSpPr>
              <a:spLocks noChangeAspect="1" noChangeArrowheads="1"/>
            </p:cNvSpPr>
            <p:nvPr/>
          </p:nvSpPr>
          <p:spPr bwMode="auto">
            <a:xfrm>
              <a:off x="2789162" y="4068193"/>
              <a:ext cx="609676" cy="3671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21" name="Line 53"/>
            <p:cNvSpPr>
              <a:spLocks noChangeAspect="1" noChangeShapeType="1"/>
            </p:cNvSpPr>
            <p:nvPr/>
          </p:nvSpPr>
          <p:spPr bwMode="auto">
            <a:xfrm>
              <a:off x="1447876" y="345965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23" name="Line 55"/>
            <p:cNvSpPr>
              <a:spLocks noChangeAspect="1" noChangeShapeType="1"/>
            </p:cNvSpPr>
            <p:nvPr/>
          </p:nvSpPr>
          <p:spPr bwMode="auto">
            <a:xfrm flipH="1">
              <a:off x="1143038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24" name="Line 56"/>
            <p:cNvSpPr>
              <a:spLocks noChangeAspect="1" noChangeShapeType="1"/>
            </p:cNvSpPr>
            <p:nvPr/>
          </p:nvSpPr>
          <p:spPr bwMode="auto">
            <a:xfrm flipH="1">
              <a:off x="2119691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25" name="Line 57"/>
            <p:cNvSpPr>
              <a:spLocks noChangeAspect="1" noChangeShapeType="1"/>
            </p:cNvSpPr>
            <p:nvPr/>
          </p:nvSpPr>
          <p:spPr bwMode="auto">
            <a:xfrm flipH="1">
              <a:off x="3094000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26" name="Line 58"/>
            <p:cNvSpPr>
              <a:spLocks noChangeAspect="1" noChangeShapeType="1"/>
            </p:cNvSpPr>
            <p:nvPr/>
          </p:nvSpPr>
          <p:spPr bwMode="auto">
            <a:xfrm flipV="1">
              <a:off x="1386908" y="3581613"/>
              <a:ext cx="487741" cy="5488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27" name="Line 59"/>
            <p:cNvSpPr>
              <a:spLocks noChangeAspect="1" noChangeShapeType="1"/>
            </p:cNvSpPr>
            <p:nvPr/>
          </p:nvSpPr>
          <p:spPr bwMode="auto">
            <a:xfrm flipH="1">
              <a:off x="2362389" y="3581613"/>
              <a:ext cx="487741" cy="5488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cxnSp>
          <p:nvCxnSpPr>
            <p:cNvPr id="493628" name="AutoShape 60"/>
            <p:cNvCxnSpPr>
              <a:cxnSpLocks noChangeAspect="1" noChangeShapeType="1"/>
              <a:stCxn id="493620" idx="7"/>
              <a:endCxn id="493620" idx="5"/>
            </p:cNvCxnSpPr>
            <p:nvPr/>
          </p:nvCxnSpPr>
          <p:spPr bwMode="auto">
            <a:xfrm rot="5400000" flipV="1">
              <a:off x="3169934" y="4252456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93634" name="Oval 66"/>
            <p:cNvSpPr>
              <a:spLocks noChangeAspect="1" noChangeArrowheads="1"/>
            </p:cNvSpPr>
            <p:nvPr/>
          </p:nvSpPr>
          <p:spPr bwMode="auto">
            <a:xfrm>
              <a:off x="1813681" y="3276706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2/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35" name="Oval 67"/>
            <p:cNvSpPr>
              <a:spLocks noChangeAspect="1" noChangeArrowheads="1"/>
            </p:cNvSpPr>
            <p:nvPr/>
          </p:nvSpPr>
          <p:spPr bwMode="auto">
            <a:xfrm>
              <a:off x="1813681" y="4069463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3/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53" name="Text Box 18"/>
            <p:cNvSpPr txBox="1">
              <a:spLocks noChangeAspect="1" noChangeArrowheads="1"/>
            </p:cNvSpPr>
            <p:nvPr/>
          </p:nvSpPr>
          <p:spPr bwMode="auto">
            <a:xfrm>
              <a:off x="966063" y="4294366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54" name="Text Box 19"/>
            <p:cNvSpPr txBox="1">
              <a:spLocks noChangeAspect="1" noChangeArrowheads="1"/>
            </p:cNvSpPr>
            <p:nvPr/>
          </p:nvSpPr>
          <p:spPr bwMode="auto">
            <a:xfrm>
              <a:off x="1940939" y="4294366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55" name="Text Box 20"/>
            <p:cNvSpPr txBox="1">
              <a:spLocks noChangeAspect="1" noChangeArrowheads="1"/>
            </p:cNvSpPr>
            <p:nvPr/>
          </p:nvSpPr>
          <p:spPr bwMode="auto">
            <a:xfrm>
              <a:off x="2915816" y="4293096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56" name="Text Box 23"/>
            <p:cNvSpPr txBox="1">
              <a:spLocks noChangeAspect="1" noChangeArrowheads="1"/>
            </p:cNvSpPr>
            <p:nvPr/>
          </p:nvSpPr>
          <p:spPr bwMode="auto">
            <a:xfrm>
              <a:off x="983145" y="2867174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57" name="Text Box 24"/>
            <p:cNvSpPr txBox="1">
              <a:spLocks noChangeAspect="1" noChangeArrowheads="1"/>
            </p:cNvSpPr>
            <p:nvPr/>
          </p:nvSpPr>
          <p:spPr bwMode="auto">
            <a:xfrm>
              <a:off x="1958021" y="2867174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58" name="Text Box 25"/>
            <p:cNvSpPr txBox="1">
              <a:spLocks noChangeAspect="1" noChangeArrowheads="1"/>
            </p:cNvSpPr>
            <p:nvPr/>
          </p:nvSpPr>
          <p:spPr bwMode="auto">
            <a:xfrm>
              <a:off x="2932898" y="2867174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sp>
          <p:nvSpPr>
            <p:cNvPr id="200" name="Line 11"/>
            <p:cNvSpPr>
              <a:spLocks noChangeAspect="1" noChangeShapeType="1"/>
            </p:cNvSpPr>
            <p:nvPr/>
          </p:nvSpPr>
          <p:spPr bwMode="auto">
            <a:xfrm flipH="1">
              <a:off x="1475656" y="4293096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257800" y="2867174"/>
            <a:ext cx="2560638" cy="1858079"/>
            <a:chOff x="5257800" y="2867174"/>
            <a:chExt cx="2560638" cy="1858079"/>
          </a:xfrm>
        </p:grpSpPr>
        <p:sp>
          <p:nvSpPr>
            <p:cNvPr id="493638" name="Line 70"/>
            <p:cNvSpPr>
              <a:spLocks noChangeAspect="1" noChangeShapeType="1"/>
            </p:cNvSpPr>
            <p:nvPr/>
          </p:nvSpPr>
          <p:spPr bwMode="auto">
            <a:xfrm flipV="1">
              <a:off x="6539291" y="3643865"/>
              <a:ext cx="0" cy="425599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41" name="Oval 73"/>
            <p:cNvSpPr>
              <a:spLocks noChangeAspect="1" noChangeArrowheads="1"/>
            </p:cNvSpPr>
            <p:nvPr/>
          </p:nvSpPr>
          <p:spPr bwMode="auto">
            <a:xfrm>
              <a:off x="5257800" y="3276706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42" name="Oval 74"/>
            <p:cNvSpPr>
              <a:spLocks noChangeAspect="1" noChangeArrowheads="1"/>
            </p:cNvSpPr>
            <p:nvPr/>
          </p:nvSpPr>
          <p:spPr bwMode="auto">
            <a:xfrm>
              <a:off x="7208762" y="3276706"/>
              <a:ext cx="609676" cy="3671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43" name="Oval 75"/>
            <p:cNvSpPr>
              <a:spLocks noChangeAspect="1" noChangeArrowheads="1"/>
            </p:cNvSpPr>
            <p:nvPr/>
          </p:nvSpPr>
          <p:spPr bwMode="auto">
            <a:xfrm>
              <a:off x="7208762" y="4068193"/>
              <a:ext cx="609676" cy="3671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46" name="Line 78"/>
            <p:cNvSpPr>
              <a:spLocks noChangeAspect="1" noChangeShapeType="1"/>
            </p:cNvSpPr>
            <p:nvPr/>
          </p:nvSpPr>
          <p:spPr bwMode="auto">
            <a:xfrm flipH="1">
              <a:off x="5562638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47" name="Line 79"/>
            <p:cNvSpPr>
              <a:spLocks noChangeAspect="1" noChangeShapeType="1"/>
            </p:cNvSpPr>
            <p:nvPr/>
          </p:nvSpPr>
          <p:spPr bwMode="auto">
            <a:xfrm flipH="1">
              <a:off x="6539291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48" name="Line 80"/>
            <p:cNvSpPr>
              <a:spLocks noChangeAspect="1" noChangeShapeType="1"/>
            </p:cNvSpPr>
            <p:nvPr/>
          </p:nvSpPr>
          <p:spPr bwMode="auto">
            <a:xfrm flipH="1">
              <a:off x="7513600" y="3643865"/>
              <a:ext cx="0" cy="425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49" name="Line 81"/>
            <p:cNvSpPr>
              <a:spLocks noChangeAspect="1" noChangeShapeType="1"/>
            </p:cNvSpPr>
            <p:nvPr/>
          </p:nvSpPr>
          <p:spPr bwMode="auto">
            <a:xfrm flipV="1">
              <a:off x="5806508" y="3581613"/>
              <a:ext cx="487741" cy="5488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50" name="Line 82"/>
            <p:cNvSpPr>
              <a:spLocks noChangeAspect="1" noChangeShapeType="1"/>
            </p:cNvSpPr>
            <p:nvPr/>
          </p:nvSpPr>
          <p:spPr bwMode="auto">
            <a:xfrm flipH="1">
              <a:off x="6781989" y="3581613"/>
              <a:ext cx="487741" cy="5488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cxnSp>
          <p:nvCxnSpPr>
            <p:cNvPr id="493651" name="AutoShape 83"/>
            <p:cNvCxnSpPr>
              <a:cxnSpLocks noChangeAspect="1" noChangeShapeType="1"/>
              <a:stCxn id="493643" idx="7"/>
              <a:endCxn id="493643" idx="5"/>
            </p:cNvCxnSpPr>
            <p:nvPr/>
          </p:nvCxnSpPr>
          <p:spPr bwMode="auto">
            <a:xfrm rot="5400000" flipV="1">
              <a:off x="7589534" y="4252456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93657" name="Oval 89"/>
            <p:cNvSpPr>
              <a:spLocks noChangeAspect="1" noChangeArrowheads="1"/>
            </p:cNvSpPr>
            <p:nvPr/>
          </p:nvSpPr>
          <p:spPr bwMode="auto">
            <a:xfrm>
              <a:off x="6233281" y="3276706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2/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58" name="Oval 90"/>
            <p:cNvSpPr>
              <a:spLocks noChangeAspect="1" noChangeArrowheads="1"/>
            </p:cNvSpPr>
            <p:nvPr/>
          </p:nvSpPr>
          <p:spPr bwMode="auto">
            <a:xfrm>
              <a:off x="6233281" y="4069463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3/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59" name="Oval 91"/>
            <p:cNvSpPr>
              <a:spLocks noChangeAspect="1" noChangeArrowheads="1"/>
            </p:cNvSpPr>
            <p:nvPr/>
          </p:nvSpPr>
          <p:spPr bwMode="auto">
            <a:xfrm>
              <a:off x="5257800" y="4069463"/>
              <a:ext cx="609676" cy="3658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4/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59" name="Text Box 18"/>
            <p:cNvSpPr txBox="1">
              <a:spLocks noChangeAspect="1" noChangeArrowheads="1"/>
            </p:cNvSpPr>
            <p:nvPr/>
          </p:nvSpPr>
          <p:spPr bwMode="auto">
            <a:xfrm>
              <a:off x="5286543" y="4294366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60" name="Text Box 19"/>
            <p:cNvSpPr txBox="1">
              <a:spLocks noChangeAspect="1" noChangeArrowheads="1"/>
            </p:cNvSpPr>
            <p:nvPr/>
          </p:nvSpPr>
          <p:spPr bwMode="auto">
            <a:xfrm>
              <a:off x="6261419" y="4294366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61" name="Text Box 20"/>
            <p:cNvSpPr txBox="1">
              <a:spLocks noChangeAspect="1" noChangeArrowheads="1"/>
            </p:cNvSpPr>
            <p:nvPr/>
          </p:nvSpPr>
          <p:spPr bwMode="auto">
            <a:xfrm>
              <a:off x="7236296" y="4293096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62" name="Text Box 23"/>
            <p:cNvSpPr txBox="1">
              <a:spLocks noChangeAspect="1" noChangeArrowheads="1"/>
            </p:cNvSpPr>
            <p:nvPr/>
          </p:nvSpPr>
          <p:spPr bwMode="auto">
            <a:xfrm>
              <a:off x="5303625" y="2867174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63" name="Text Box 24"/>
            <p:cNvSpPr txBox="1">
              <a:spLocks noChangeAspect="1" noChangeArrowheads="1"/>
            </p:cNvSpPr>
            <p:nvPr/>
          </p:nvSpPr>
          <p:spPr bwMode="auto">
            <a:xfrm>
              <a:off x="6278501" y="2867174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64" name="Text Box 25"/>
            <p:cNvSpPr txBox="1">
              <a:spLocks noChangeAspect="1" noChangeArrowheads="1"/>
            </p:cNvSpPr>
            <p:nvPr/>
          </p:nvSpPr>
          <p:spPr bwMode="auto">
            <a:xfrm>
              <a:off x="7253378" y="2867174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sp>
          <p:nvSpPr>
            <p:cNvPr id="194" name="Line 47"/>
            <p:cNvSpPr>
              <a:spLocks noChangeAspect="1" noChangeShapeType="1"/>
            </p:cNvSpPr>
            <p:nvPr/>
          </p:nvSpPr>
          <p:spPr bwMode="auto">
            <a:xfrm flipH="1" flipV="1">
              <a:off x="5868144" y="3429000"/>
              <a:ext cx="364633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195" name="Line 53"/>
            <p:cNvSpPr>
              <a:spLocks noChangeAspect="1" noChangeShapeType="1"/>
            </p:cNvSpPr>
            <p:nvPr/>
          </p:nvSpPr>
          <p:spPr bwMode="auto">
            <a:xfrm>
              <a:off x="5868144" y="3429000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03" name="Line 118"/>
            <p:cNvSpPr>
              <a:spLocks noChangeAspect="1" noChangeShapeType="1"/>
            </p:cNvSpPr>
            <p:nvPr/>
          </p:nvSpPr>
          <p:spPr bwMode="auto">
            <a:xfrm>
              <a:off x="5868144" y="4293096"/>
              <a:ext cx="36700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204" name="Line 125"/>
            <p:cNvSpPr>
              <a:spLocks noChangeAspect="1" noChangeShapeType="1"/>
            </p:cNvSpPr>
            <p:nvPr/>
          </p:nvSpPr>
          <p:spPr bwMode="auto">
            <a:xfrm flipH="1">
              <a:off x="5868144" y="4293096"/>
              <a:ext cx="3670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38200" y="4523358"/>
            <a:ext cx="2560638" cy="1858079"/>
            <a:chOff x="838200" y="4523358"/>
            <a:chExt cx="2560638" cy="1858079"/>
          </a:xfrm>
        </p:grpSpPr>
        <p:sp>
          <p:nvSpPr>
            <p:cNvPr id="493664" name="Oval 96"/>
            <p:cNvSpPr>
              <a:spLocks noChangeAspect="1" noChangeArrowheads="1"/>
            </p:cNvSpPr>
            <p:nvPr/>
          </p:nvSpPr>
          <p:spPr bwMode="auto">
            <a:xfrm>
              <a:off x="838200" y="5786120"/>
              <a:ext cx="609676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3666" name="Line 98"/>
            <p:cNvSpPr>
              <a:spLocks noChangeAspect="1" noChangeShapeType="1"/>
            </p:cNvSpPr>
            <p:nvPr/>
          </p:nvSpPr>
          <p:spPr bwMode="auto">
            <a:xfrm flipV="1">
              <a:off x="2119691" y="53594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68" name="Oval 100"/>
            <p:cNvSpPr>
              <a:spLocks noChangeAspect="1" noChangeArrowheads="1"/>
            </p:cNvSpPr>
            <p:nvPr/>
          </p:nvSpPr>
          <p:spPr bwMode="auto">
            <a:xfrm>
              <a:off x="838200" y="499364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69" name="Oval 101"/>
            <p:cNvSpPr>
              <a:spLocks noChangeAspect="1" noChangeArrowheads="1"/>
            </p:cNvSpPr>
            <p:nvPr/>
          </p:nvSpPr>
          <p:spPr bwMode="auto">
            <a:xfrm>
              <a:off x="2789162" y="4993640"/>
              <a:ext cx="609676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70" name="Oval 102"/>
            <p:cNvSpPr>
              <a:spLocks noChangeAspect="1" noChangeArrowheads="1"/>
            </p:cNvSpPr>
            <p:nvPr/>
          </p:nvSpPr>
          <p:spPr bwMode="auto">
            <a:xfrm>
              <a:off x="2789162" y="5786120"/>
              <a:ext cx="609676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 b="1">
                <a:latin typeface="Times New Roman" charset="0"/>
                <a:cs typeface="+mn-cs"/>
              </a:endParaRPr>
            </a:p>
          </p:txBody>
        </p:sp>
        <p:sp>
          <p:nvSpPr>
            <p:cNvPr id="493673" name="Line 105"/>
            <p:cNvSpPr>
              <a:spLocks noChangeAspect="1" noChangeShapeType="1"/>
            </p:cNvSpPr>
            <p:nvPr/>
          </p:nvSpPr>
          <p:spPr bwMode="auto">
            <a:xfrm flipH="1">
              <a:off x="1143038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74" name="Line 106"/>
            <p:cNvSpPr>
              <a:spLocks noChangeAspect="1" noChangeShapeType="1"/>
            </p:cNvSpPr>
            <p:nvPr/>
          </p:nvSpPr>
          <p:spPr bwMode="auto">
            <a:xfrm flipH="1">
              <a:off x="2119691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75" name="Line 107"/>
            <p:cNvSpPr>
              <a:spLocks noChangeAspect="1" noChangeShapeType="1"/>
            </p:cNvSpPr>
            <p:nvPr/>
          </p:nvSpPr>
          <p:spPr bwMode="auto">
            <a:xfrm flipH="1">
              <a:off x="3094000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76" name="Line 108"/>
            <p:cNvSpPr>
              <a:spLocks noChangeAspect="1" noChangeShapeType="1"/>
            </p:cNvSpPr>
            <p:nvPr/>
          </p:nvSpPr>
          <p:spPr bwMode="auto">
            <a:xfrm flipV="1">
              <a:off x="1386908" y="52997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77" name="Line 109"/>
            <p:cNvSpPr>
              <a:spLocks noChangeAspect="1" noChangeShapeType="1"/>
            </p:cNvSpPr>
            <p:nvPr/>
          </p:nvSpPr>
          <p:spPr bwMode="auto">
            <a:xfrm flipH="1">
              <a:off x="2362389" y="5299710"/>
              <a:ext cx="487741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3682" name="Oval 114"/>
            <p:cNvSpPr>
              <a:spLocks noChangeAspect="1" noChangeArrowheads="1"/>
            </p:cNvSpPr>
            <p:nvPr/>
          </p:nvSpPr>
          <p:spPr bwMode="auto">
            <a:xfrm>
              <a:off x="1813681" y="499364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2/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3683" name="Oval 115"/>
            <p:cNvSpPr>
              <a:spLocks noChangeAspect="1" noChangeArrowheads="1"/>
            </p:cNvSpPr>
            <p:nvPr/>
          </p:nvSpPr>
          <p:spPr bwMode="auto">
            <a:xfrm>
              <a:off x="1813681" y="5786120"/>
              <a:ext cx="609676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3/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65" name="Text Box 18"/>
            <p:cNvSpPr txBox="1">
              <a:spLocks noChangeAspect="1" noChangeArrowheads="1"/>
            </p:cNvSpPr>
            <p:nvPr/>
          </p:nvSpPr>
          <p:spPr bwMode="auto">
            <a:xfrm>
              <a:off x="894055" y="5950550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66" name="Text Box 19"/>
            <p:cNvSpPr txBox="1">
              <a:spLocks noChangeAspect="1" noChangeArrowheads="1"/>
            </p:cNvSpPr>
            <p:nvPr/>
          </p:nvSpPr>
          <p:spPr bwMode="auto">
            <a:xfrm>
              <a:off x="1868931" y="5950550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67" name="Text Box 20"/>
            <p:cNvSpPr txBox="1">
              <a:spLocks noChangeAspect="1" noChangeArrowheads="1"/>
            </p:cNvSpPr>
            <p:nvPr/>
          </p:nvSpPr>
          <p:spPr bwMode="auto">
            <a:xfrm>
              <a:off x="2843808" y="5949280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68" name="Text Box 23"/>
            <p:cNvSpPr txBox="1">
              <a:spLocks noChangeAspect="1" noChangeArrowheads="1"/>
            </p:cNvSpPr>
            <p:nvPr/>
          </p:nvSpPr>
          <p:spPr bwMode="auto">
            <a:xfrm>
              <a:off x="911137" y="4523358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69" name="Text Box 24"/>
            <p:cNvSpPr txBox="1">
              <a:spLocks noChangeAspect="1" noChangeArrowheads="1"/>
            </p:cNvSpPr>
            <p:nvPr/>
          </p:nvSpPr>
          <p:spPr bwMode="auto">
            <a:xfrm>
              <a:off x="1886013" y="4523358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70" name="Text Box 25"/>
            <p:cNvSpPr txBox="1">
              <a:spLocks noChangeAspect="1" noChangeArrowheads="1"/>
            </p:cNvSpPr>
            <p:nvPr/>
          </p:nvSpPr>
          <p:spPr bwMode="auto">
            <a:xfrm>
              <a:off x="2860890" y="4523358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79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3136058" y="59450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96" name="Line 47"/>
            <p:cNvSpPr>
              <a:spLocks noChangeAspect="1" noChangeShapeType="1"/>
            </p:cNvSpPr>
            <p:nvPr/>
          </p:nvSpPr>
          <p:spPr bwMode="auto">
            <a:xfrm flipH="1" flipV="1">
              <a:off x="1475656" y="5157192"/>
              <a:ext cx="364633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197" name="Line 53"/>
            <p:cNvSpPr>
              <a:spLocks noChangeAspect="1" noChangeShapeType="1"/>
            </p:cNvSpPr>
            <p:nvPr/>
          </p:nvSpPr>
          <p:spPr bwMode="auto">
            <a:xfrm>
              <a:off x="1475656" y="5157192"/>
              <a:ext cx="364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05" name="Line 118"/>
            <p:cNvSpPr>
              <a:spLocks noChangeAspect="1" noChangeShapeType="1"/>
            </p:cNvSpPr>
            <p:nvPr/>
          </p:nvSpPr>
          <p:spPr bwMode="auto">
            <a:xfrm>
              <a:off x="1475656" y="5949280"/>
              <a:ext cx="36700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  <p:sp>
          <p:nvSpPr>
            <p:cNvPr id="206" name="Line 125"/>
            <p:cNvSpPr>
              <a:spLocks noChangeAspect="1" noChangeShapeType="1"/>
            </p:cNvSpPr>
            <p:nvPr/>
          </p:nvSpPr>
          <p:spPr bwMode="auto">
            <a:xfrm flipH="1">
              <a:off x="1475656" y="5949280"/>
              <a:ext cx="3670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741" name="Rectangle 14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Esempio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38200" y="980728"/>
            <a:ext cx="2619716" cy="1858079"/>
            <a:chOff x="838200" y="980728"/>
            <a:chExt cx="2619716" cy="1858079"/>
          </a:xfrm>
        </p:grpSpPr>
        <p:sp>
          <p:nvSpPr>
            <p:cNvPr id="494595" name="Oval 3"/>
            <p:cNvSpPr>
              <a:spLocks noChangeAspect="1" noChangeArrowheads="1"/>
            </p:cNvSpPr>
            <p:nvPr/>
          </p:nvSpPr>
          <p:spPr bwMode="auto">
            <a:xfrm>
              <a:off x="838200" y="22047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596" name="Line 4"/>
            <p:cNvSpPr>
              <a:spLocks noChangeAspect="1" noChangeShapeType="1"/>
            </p:cNvSpPr>
            <p:nvPr/>
          </p:nvSpPr>
          <p:spPr bwMode="auto">
            <a:xfrm>
              <a:off x="1447498" y="238760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01" name="Oval 9"/>
            <p:cNvSpPr>
              <a:spLocks noChangeAspect="1" noChangeArrowheads="1"/>
            </p:cNvSpPr>
            <p:nvPr/>
          </p:nvSpPr>
          <p:spPr bwMode="auto">
            <a:xfrm>
              <a:off x="2787952" y="2204720"/>
              <a:ext cx="609298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atin typeface="Times New Roman" charset="0"/>
                <a:cs typeface="+mn-cs"/>
              </a:endParaRPr>
            </a:p>
          </p:txBody>
        </p:sp>
        <p:sp>
          <p:nvSpPr>
            <p:cNvPr id="494603" name="Line 11"/>
            <p:cNvSpPr>
              <a:spLocks noChangeAspect="1" noChangeShapeType="1"/>
            </p:cNvSpPr>
            <p:nvPr/>
          </p:nvSpPr>
          <p:spPr bwMode="auto">
            <a:xfrm flipH="1">
              <a:off x="1447498" y="238760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13" name="Oval 21"/>
            <p:cNvSpPr>
              <a:spLocks noChangeAspect="1" noChangeArrowheads="1"/>
            </p:cNvSpPr>
            <p:nvPr/>
          </p:nvSpPr>
          <p:spPr bwMode="auto">
            <a:xfrm>
              <a:off x="1813076" y="22047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2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597" name="Line 5"/>
            <p:cNvSpPr>
              <a:spLocks noChangeAspect="1" noChangeShapeType="1"/>
            </p:cNvSpPr>
            <p:nvPr/>
          </p:nvSpPr>
          <p:spPr bwMode="auto">
            <a:xfrm flipV="1">
              <a:off x="2117725" y="17780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598" name="Line 6"/>
            <p:cNvSpPr>
              <a:spLocks noChangeAspect="1" noChangeShapeType="1"/>
            </p:cNvSpPr>
            <p:nvPr/>
          </p:nvSpPr>
          <p:spPr bwMode="auto">
            <a:xfrm flipH="1" flipV="1">
              <a:off x="1447498" y="159512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494599" name="Oval 7"/>
            <p:cNvSpPr>
              <a:spLocks noChangeAspect="1" noChangeArrowheads="1"/>
            </p:cNvSpPr>
            <p:nvPr/>
          </p:nvSpPr>
          <p:spPr bwMode="auto">
            <a:xfrm>
              <a:off x="838200" y="1412240"/>
              <a:ext cx="609298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1/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4600" name="Oval 8"/>
            <p:cNvSpPr>
              <a:spLocks noChangeAspect="1" noChangeArrowheads="1"/>
            </p:cNvSpPr>
            <p:nvPr/>
          </p:nvSpPr>
          <p:spPr bwMode="auto">
            <a:xfrm>
              <a:off x="2787952" y="1413510"/>
              <a:ext cx="609298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atin typeface="Times New Roman" charset="0"/>
                <a:cs typeface="+mn-cs"/>
              </a:endParaRPr>
            </a:p>
          </p:txBody>
        </p:sp>
        <p:sp>
          <p:nvSpPr>
            <p:cNvPr id="494602" name="Line 10"/>
            <p:cNvSpPr>
              <a:spLocks noChangeAspect="1" noChangeShapeType="1"/>
            </p:cNvSpPr>
            <p:nvPr/>
          </p:nvSpPr>
          <p:spPr bwMode="auto">
            <a:xfrm>
              <a:off x="1447498" y="159512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494604" name="Line 12"/>
            <p:cNvSpPr>
              <a:spLocks noChangeAspect="1" noChangeShapeType="1"/>
            </p:cNvSpPr>
            <p:nvPr/>
          </p:nvSpPr>
          <p:spPr bwMode="auto">
            <a:xfrm flipH="1">
              <a:off x="1142849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05" name="Line 13"/>
            <p:cNvSpPr>
              <a:spLocks noChangeAspect="1" noChangeShapeType="1"/>
            </p:cNvSpPr>
            <p:nvPr/>
          </p:nvSpPr>
          <p:spPr bwMode="auto">
            <a:xfrm flipH="1">
              <a:off x="2117725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06" name="Line 14"/>
            <p:cNvSpPr>
              <a:spLocks noChangeAspect="1" noChangeShapeType="1"/>
            </p:cNvSpPr>
            <p:nvPr/>
          </p:nvSpPr>
          <p:spPr bwMode="auto">
            <a:xfrm flipH="1">
              <a:off x="3092601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07" name="Line 15"/>
            <p:cNvSpPr>
              <a:spLocks noChangeAspect="1" noChangeShapeType="1"/>
            </p:cNvSpPr>
            <p:nvPr/>
          </p:nvSpPr>
          <p:spPr bwMode="auto">
            <a:xfrm flipV="1">
              <a:off x="1385396" y="17183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08" name="Line 16"/>
            <p:cNvSpPr>
              <a:spLocks noChangeAspect="1" noChangeShapeType="1"/>
            </p:cNvSpPr>
            <p:nvPr/>
          </p:nvSpPr>
          <p:spPr bwMode="auto">
            <a:xfrm flipH="1">
              <a:off x="2362616" y="17183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10" name="Text Box 18"/>
            <p:cNvSpPr txBox="1">
              <a:spLocks noChangeAspect="1" noChangeArrowheads="1"/>
            </p:cNvSpPr>
            <p:nvPr/>
          </p:nvSpPr>
          <p:spPr bwMode="auto">
            <a:xfrm>
              <a:off x="1020989" y="2407920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494611" name="Text Box 19"/>
            <p:cNvSpPr txBox="1">
              <a:spLocks noChangeAspect="1" noChangeArrowheads="1"/>
            </p:cNvSpPr>
            <p:nvPr/>
          </p:nvSpPr>
          <p:spPr bwMode="auto">
            <a:xfrm>
              <a:off x="1995865" y="2407920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494612" name="Text Box 20"/>
            <p:cNvSpPr txBox="1">
              <a:spLocks noChangeAspect="1" noChangeArrowheads="1"/>
            </p:cNvSpPr>
            <p:nvPr/>
          </p:nvSpPr>
          <p:spPr bwMode="auto">
            <a:xfrm>
              <a:off x="2970742" y="2406650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494614" name="Oval 22"/>
            <p:cNvSpPr>
              <a:spLocks noChangeAspect="1" noChangeArrowheads="1"/>
            </p:cNvSpPr>
            <p:nvPr/>
          </p:nvSpPr>
          <p:spPr bwMode="auto">
            <a:xfrm>
              <a:off x="1813076" y="14135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15" name="Text Box 23"/>
            <p:cNvSpPr txBox="1">
              <a:spLocks noChangeAspect="1" noChangeArrowheads="1"/>
            </p:cNvSpPr>
            <p:nvPr/>
          </p:nvSpPr>
          <p:spPr bwMode="auto">
            <a:xfrm>
              <a:off x="1038071" y="980728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494616" name="Text Box 24"/>
            <p:cNvSpPr txBox="1">
              <a:spLocks noChangeAspect="1" noChangeArrowheads="1"/>
            </p:cNvSpPr>
            <p:nvPr/>
          </p:nvSpPr>
          <p:spPr bwMode="auto">
            <a:xfrm>
              <a:off x="2012947" y="980728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494617" name="Text Box 25"/>
            <p:cNvSpPr txBox="1">
              <a:spLocks noChangeAspect="1" noChangeArrowheads="1"/>
            </p:cNvSpPr>
            <p:nvPr/>
          </p:nvSpPr>
          <p:spPr bwMode="auto">
            <a:xfrm>
              <a:off x="2987824" y="980728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88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3136058" y="23446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21" name="Group 20"/>
          <p:cNvGrpSpPr/>
          <p:nvPr/>
        </p:nvGrpSpPr>
        <p:grpSpPr>
          <a:xfrm>
            <a:off x="5334000" y="994966"/>
            <a:ext cx="2605494" cy="1858079"/>
            <a:chOff x="5334000" y="994966"/>
            <a:chExt cx="2605494" cy="1858079"/>
          </a:xfrm>
        </p:grpSpPr>
        <p:sp>
          <p:nvSpPr>
            <p:cNvPr id="494619" name="Oval 27"/>
            <p:cNvSpPr>
              <a:spLocks noChangeAspect="1" noChangeArrowheads="1"/>
            </p:cNvSpPr>
            <p:nvPr/>
          </p:nvSpPr>
          <p:spPr bwMode="auto">
            <a:xfrm>
              <a:off x="5334000" y="22047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4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20" name="Line 28"/>
            <p:cNvSpPr>
              <a:spLocks noChangeAspect="1" noChangeShapeType="1"/>
            </p:cNvSpPr>
            <p:nvPr/>
          </p:nvSpPr>
          <p:spPr bwMode="auto">
            <a:xfrm>
              <a:off x="5943298" y="238760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94624" name="Oval 32"/>
            <p:cNvSpPr>
              <a:spLocks noChangeAspect="1" noChangeArrowheads="1"/>
            </p:cNvSpPr>
            <p:nvPr/>
          </p:nvSpPr>
          <p:spPr bwMode="auto">
            <a:xfrm>
              <a:off x="7283752" y="2204720"/>
              <a:ext cx="609298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494626" name="Line 34"/>
            <p:cNvSpPr>
              <a:spLocks noChangeAspect="1" noChangeShapeType="1"/>
            </p:cNvSpPr>
            <p:nvPr/>
          </p:nvSpPr>
          <p:spPr bwMode="auto">
            <a:xfrm flipH="1">
              <a:off x="5943298" y="238760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94636" name="Oval 44"/>
            <p:cNvSpPr>
              <a:spLocks noChangeAspect="1" noChangeArrowheads="1"/>
            </p:cNvSpPr>
            <p:nvPr/>
          </p:nvSpPr>
          <p:spPr bwMode="auto">
            <a:xfrm>
              <a:off x="6308876" y="22047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4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21" name="Line 29"/>
            <p:cNvSpPr>
              <a:spLocks noChangeAspect="1" noChangeShapeType="1"/>
            </p:cNvSpPr>
            <p:nvPr/>
          </p:nvSpPr>
          <p:spPr bwMode="auto">
            <a:xfrm flipV="1">
              <a:off x="6613525" y="17780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22" name="Line 30"/>
            <p:cNvSpPr>
              <a:spLocks noChangeAspect="1" noChangeShapeType="1"/>
            </p:cNvSpPr>
            <p:nvPr/>
          </p:nvSpPr>
          <p:spPr bwMode="auto">
            <a:xfrm flipH="1" flipV="1">
              <a:off x="5943298" y="159512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23" name="Oval 31"/>
            <p:cNvSpPr>
              <a:spLocks noChangeAspect="1" noChangeArrowheads="1"/>
            </p:cNvSpPr>
            <p:nvPr/>
          </p:nvSpPr>
          <p:spPr bwMode="auto">
            <a:xfrm>
              <a:off x="7283752" y="1413510"/>
              <a:ext cx="609298" cy="36703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atin typeface="Times New Roman" charset="0"/>
                <a:cs typeface="+mn-cs"/>
              </a:endParaRPr>
            </a:p>
          </p:txBody>
        </p:sp>
        <p:sp>
          <p:nvSpPr>
            <p:cNvPr id="494625" name="Line 33"/>
            <p:cNvSpPr>
              <a:spLocks noChangeAspect="1" noChangeShapeType="1"/>
            </p:cNvSpPr>
            <p:nvPr/>
          </p:nvSpPr>
          <p:spPr bwMode="auto">
            <a:xfrm>
              <a:off x="5943298" y="159512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27" name="Line 35"/>
            <p:cNvSpPr>
              <a:spLocks noChangeAspect="1" noChangeShapeType="1"/>
            </p:cNvSpPr>
            <p:nvPr/>
          </p:nvSpPr>
          <p:spPr bwMode="auto">
            <a:xfrm flipH="1">
              <a:off x="5638649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28" name="Line 36"/>
            <p:cNvSpPr>
              <a:spLocks noChangeAspect="1" noChangeShapeType="1"/>
            </p:cNvSpPr>
            <p:nvPr/>
          </p:nvSpPr>
          <p:spPr bwMode="auto">
            <a:xfrm flipH="1">
              <a:off x="6613525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29" name="Line 37"/>
            <p:cNvSpPr>
              <a:spLocks noChangeAspect="1" noChangeShapeType="1"/>
            </p:cNvSpPr>
            <p:nvPr/>
          </p:nvSpPr>
          <p:spPr bwMode="auto">
            <a:xfrm flipH="1">
              <a:off x="7588401" y="17780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30" name="Line 38"/>
            <p:cNvSpPr>
              <a:spLocks noChangeAspect="1" noChangeShapeType="1"/>
            </p:cNvSpPr>
            <p:nvPr/>
          </p:nvSpPr>
          <p:spPr bwMode="auto">
            <a:xfrm flipV="1">
              <a:off x="5881196" y="17183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31" name="Line 39"/>
            <p:cNvSpPr>
              <a:spLocks noChangeAspect="1" noChangeShapeType="1"/>
            </p:cNvSpPr>
            <p:nvPr/>
          </p:nvSpPr>
          <p:spPr bwMode="auto">
            <a:xfrm flipH="1">
              <a:off x="6858416" y="17183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37" name="Oval 45"/>
            <p:cNvSpPr>
              <a:spLocks noChangeAspect="1" noChangeArrowheads="1"/>
            </p:cNvSpPr>
            <p:nvPr/>
          </p:nvSpPr>
          <p:spPr bwMode="auto">
            <a:xfrm>
              <a:off x="6308876" y="14135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38" name="Oval 46"/>
            <p:cNvSpPr>
              <a:spLocks noChangeAspect="1" noChangeArrowheads="1"/>
            </p:cNvSpPr>
            <p:nvPr/>
          </p:nvSpPr>
          <p:spPr bwMode="auto">
            <a:xfrm>
              <a:off x="5334000" y="14135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1/8 </a:t>
              </a:r>
              <a:endParaRPr lang="en-GB" sz="22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151" name="Text Box 18"/>
            <p:cNvSpPr txBox="1">
              <a:spLocks noChangeAspect="1" noChangeArrowheads="1"/>
            </p:cNvSpPr>
            <p:nvPr/>
          </p:nvSpPr>
          <p:spPr bwMode="auto">
            <a:xfrm>
              <a:off x="5502567" y="2422158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52" name="Text Box 19"/>
            <p:cNvSpPr txBox="1">
              <a:spLocks noChangeAspect="1" noChangeArrowheads="1"/>
            </p:cNvSpPr>
            <p:nvPr/>
          </p:nvSpPr>
          <p:spPr bwMode="auto">
            <a:xfrm>
              <a:off x="6477443" y="2422158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53" name="Text Box 20"/>
            <p:cNvSpPr txBox="1">
              <a:spLocks noChangeAspect="1" noChangeArrowheads="1"/>
            </p:cNvSpPr>
            <p:nvPr/>
          </p:nvSpPr>
          <p:spPr bwMode="auto">
            <a:xfrm>
              <a:off x="7452320" y="2420888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54" name="Text Box 23"/>
            <p:cNvSpPr txBox="1">
              <a:spLocks noChangeAspect="1" noChangeArrowheads="1"/>
            </p:cNvSpPr>
            <p:nvPr/>
          </p:nvSpPr>
          <p:spPr bwMode="auto">
            <a:xfrm>
              <a:off x="5519649" y="994966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55" name="Text Box 24"/>
            <p:cNvSpPr txBox="1">
              <a:spLocks noChangeAspect="1" noChangeArrowheads="1"/>
            </p:cNvSpPr>
            <p:nvPr/>
          </p:nvSpPr>
          <p:spPr bwMode="auto">
            <a:xfrm>
              <a:off x="6494525" y="994966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56" name="Text Box 25"/>
            <p:cNvSpPr txBox="1">
              <a:spLocks noChangeAspect="1" noChangeArrowheads="1"/>
            </p:cNvSpPr>
            <p:nvPr/>
          </p:nvSpPr>
          <p:spPr bwMode="auto">
            <a:xfrm>
              <a:off x="7469402" y="994966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91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7672562" y="23446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22" name="Group 21"/>
          <p:cNvGrpSpPr/>
          <p:nvPr/>
        </p:nvGrpSpPr>
        <p:grpSpPr>
          <a:xfrm>
            <a:off x="838200" y="2795166"/>
            <a:ext cx="2564790" cy="1858079"/>
            <a:chOff x="838200" y="2795166"/>
            <a:chExt cx="2564790" cy="1858079"/>
          </a:xfrm>
        </p:grpSpPr>
        <p:sp>
          <p:nvSpPr>
            <p:cNvPr id="494643" name="Oval 51"/>
            <p:cNvSpPr>
              <a:spLocks noChangeAspect="1" noChangeArrowheads="1"/>
            </p:cNvSpPr>
            <p:nvPr/>
          </p:nvSpPr>
          <p:spPr bwMode="auto">
            <a:xfrm>
              <a:off x="2787952" y="3241040"/>
              <a:ext cx="609298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9/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4644" name="Oval 52"/>
            <p:cNvSpPr>
              <a:spLocks noChangeAspect="1" noChangeArrowheads="1"/>
            </p:cNvSpPr>
            <p:nvPr/>
          </p:nvSpPr>
          <p:spPr bwMode="auto">
            <a:xfrm>
              <a:off x="838200" y="40335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48" name="Oval 56"/>
            <p:cNvSpPr>
              <a:spLocks noChangeAspect="1" noChangeArrowheads="1"/>
            </p:cNvSpPr>
            <p:nvPr/>
          </p:nvSpPr>
          <p:spPr bwMode="auto">
            <a:xfrm>
              <a:off x="2787952" y="4033520"/>
              <a:ext cx="609298" cy="365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GB" sz="2200">
                <a:latin typeface="Times New Roman" charset="0"/>
                <a:cs typeface="+mn-cs"/>
              </a:endParaRPr>
            </a:p>
          </p:txBody>
        </p:sp>
        <p:sp>
          <p:nvSpPr>
            <p:cNvPr id="494653" name="Line 61"/>
            <p:cNvSpPr>
              <a:spLocks noChangeAspect="1" noChangeShapeType="1"/>
            </p:cNvSpPr>
            <p:nvPr/>
          </p:nvSpPr>
          <p:spPr bwMode="auto">
            <a:xfrm flipH="1">
              <a:off x="3092601" y="36068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55" name="Line 63"/>
            <p:cNvSpPr>
              <a:spLocks noChangeAspect="1" noChangeShapeType="1"/>
            </p:cNvSpPr>
            <p:nvPr/>
          </p:nvSpPr>
          <p:spPr bwMode="auto">
            <a:xfrm flipH="1">
              <a:off x="2362616" y="35471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60" name="Oval 68"/>
            <p:cNvSpPr>
              <a:spLocks noChangeAspect="1" noChangeArrowheads="1"/>
            </p:cNvSpPr>
            <p:nvPr/>
          </p:nvSpPr>
          <p:spPr bwMode="auto">
            <a:xfrm>
              <a:off x="1813076" y="40335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61" name="Oval 69"/>
            <p:cNvSpPr>
              <a:spLocks noChangeAspect="1" noChangeArrowheads="1"/>
            </p:cNvSpPr>
            <p:nvPr/>
          </p:nvSpPr>
          <p:spPr bwMode="auto">
            <a:xfrm>
              <a:off x="1813076" y="32423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62" name="Oval 70"/>
            <p:cNvSpPr>
              <a:spLocks noChangeAspect="1" noChangeArrowheads="1"/>
            </p:cNvSpPr>
            <p:nvPr/>
          </p:nvSpPr>
          <p:spPr bwMode="auto">
            <a:xfrm>
              <a:off x="838200" y="32423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1/8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157" name="Text Box 18"/>
            <p:cNvSpPr txBox="1">
              <a:spLocks noChangeAspect="1" noChangeArrowheads="1"/>
            </p:cNvSpPr>
            <p:nvPr/>
          </p:nvSpPr>
          <p:spPr bwMode="auto">
            <a:xfrm>
              <a:off x="966063" y="4222358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58" name="Text Box 19"/>
            <p:cNvSpPr txBox="1">
              <a:spLocks noChangeAspect="1" noChangeArrowheads="1"/>
            </p:cNvSpPr>
            <p:nvPr/>
          </p:nvSpPr>
          <p:spPr bwMode="auto">
            <a:xfrm>
              <a:off x="1940939" y="4222358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59" name="Text Box 20"/>
            <p:cNvSpPr txBox="1">
              <a:spLocks noChangeAspect="1" noChangeArrowheads="1"/>
            </p:cNvSpPr>
            <p:nvPr/>
          </p:nvSpPr>
          <p:spPr bwMode="auto">
            <a:xfrm>
              <a:off x="2915816" y="4221088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60" name="Text Box 23"/>
            <p:cNvSpPr txBox="1">
              <a:spLocks noChangeAspect="1" noChangeArrowheads="1"/>
            </p:cNvSpPr>
            <p:nvPr/>
          </p:nvSpPr>
          <p:spPr bwMode="auto">
            <a:xfrm>
              <a:off x="983145" y="2795166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61" name="Text Box 24"/>
            <p:cNvSpPr txBox="1">
              <a:spLocks noChangeAspect="1" noChangeArrowheads="1"/>
            </p:cNvSpPr>
            <p:nvPr/>
          </p:nvSpPr>
          <p:spPr bwMode="auto">
            <a:xfrm>
              <a:off x="1958021" y="2795166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62" name="Text Box 25"/>
            <p:cNvSpPr txBox="1">
              <a:spLocks noChangeAspect="1" noChangeArrowheads="1"/>
            </p:cNvSpPr>
            <p:nvPr/>
          </p:nvSpPr>
          <p:spPr bwMode="auto">
            <a:xfrm>
              <a:off x="2932898" y="2795166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90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3136058" y="4216870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05" name="Line 4"/>
            <p:cNvSpPr>
              <a:spLocks noChangeAspect="1" noChangeShapeType="1"/>
            </p:cNvSpPr>
            <p:nvPr/>
          </p:nvSpPr>
          <p:spPr bwMode="auto">
            <a:xfrm>
              <a:off x="1453501" y="4254624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06" name="Line 5"/>
            <p:cNvSpPr>
              <a:spLocks noChangeAspect="1" noChangeShapeType="1"/>
            </p:cNvSpPr>
            <p:nvPr/>
          </p:nvSpPr>
          <p:spPr bwMode="auto">
            <a:xfrm flipV="1">
              <a:off x="2123728" y="3645024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07" name="Line 6"/>
            <p:cNvSpPr>
              <a:spLocks noChangeAspect="1" noChangeShapeType="1"/>
            </p:cNvSpPr>
            <p:nvPr/>
          </p:nvSpPr>
          <p:spPr bwMode="auto">
            <a:xfrm flipH="1" flipV="1">
              <a:off x="1453501" y="3462144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208" name="Line 10"/>
            <p:cNvSpPr>
              <a:spLocks noChangeAspect="1" noChangeShapeType="1"/>
            </p:cNvSpPr>
            <p:nvPr/>
          </p:nvSpPr>
          <p:spPr bwMode="auto">
            <a:xfrm>
              <a:off x="1453501" y="3462144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209" name="Line 11"/>
            <p:cNvSpPr>
              <a:spLocks noChangeAspect="1" noChangeShapeType="1"/>
            </p:cNvSpPr>
            <p:nvPr/>
          </p:nvSpPr>
          <p:spPr bwMode="auto">
            <a:xfrm flipH="1">
              <a:off x="1453501" y="4254624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10" name="Line 12"/>
            <p:cNvSpPr>
              <a:spLocks noChangeAspect="1" noChangeShapeType="1"/>
            </p:cNvSpPr>
            <p:nvPr/>
          </p:nvSpPr>
          <p:spPr bwMode="auto">
            <a:xfrm flipH="1">
              <a:off x="1148852" y="3645024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11" name="Line 13"/>
            <p:cNvSpPr>
              <a:spLocks noChangeAspect="1" noChangeShapeType="1"/>
            </p:cNvSpPr>
            <p:nvPr/>
          </p:nvSpPr>
          <p:spPr bwMode="auto">
            <a:xfrm flipH="1">
              <a:off x="2123728" y="3645024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12" name="Line 15"/>
            <p:cNvSpPr>
              <a:spLocks noChangeAspect="1" noChangeShapeType="1"/>
            </p:cNvSpPr>
            <p:nvPr/>
          </p:nvSpPr>
          <p:spPr bwMode="auto">
            <a:xfrm flipV="1">
              <a:off x="1391399" y="3585334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38200" y="4523358"/>
            <a:ext cx="2559050" cy="1858079"/>
            <a:chOff x="838200" y="4523358"/>
            <a:chExt cx="2559050" cy="1858079"/>
          </a:xfrm>
        </p:grpSpPr>
        <p:sp>
          <p:nvSpPr>
            <p:cNvPr id="494692" name="Line 100"/>
            <p:cNvSpPr>
              <a:spLocks noChangeAspect="1" noChangeShapeType="1"/>
            </p:cNvSpPr>
            <p:nvPr/>
          </p:nvSpPr>
          <p:spPr bwMode="auto">
            <a:xfrm flipV="1">
              <a:off x="3092601" y="53594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93" name="Oval 101"/>
            <p:cNvSpPr>
              <a:spLocks noChangeAspect="1" noChangeArrowheads="1"/>
            </p:cNvSpPr>
            <p:nvPr/>
          </p:nvSpPr>
          <p:spPr bwMode="auto">
            <a:xfrm>
              <a:off x="2787952" y="4993640"/>
              <a:ext cx="609298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9/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4694" name="Oval 102"/>
            <p:cNvSpPr>
              <a:spLocks noChangeAspect="1" noChangeArrowheads="1"/>
            </p:cNvSpPr>
            <p:nvPr/>
          </p:nvSpPr>
          <p:spPr bwMode="auto">
            <a:xfrm>
              <a:off x="838200" y="57861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96" name="Line 104"/>
            <p:cNvSpPr>
              <a:spLocks noChangeAspect="1" noChangeShapeType="1"/>
            </p:cNvSpPr>
            <p:nvPr/>
          </p:nvSpPr>
          <p:spPr bwMode="auto">
            <a:xfrm flipV="1">
              <a:off x="2117725" y="53594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0" name="Line 108"/>
            <p:cNvSpPr>
              <a:spLocks noChangeAspect="1" noChangeShapeType="1"/>
            </p:cNvSpPr>
            <p:nvPr/>
          </p:nvSpPr>
          <p:spPr bwMode="auto">
            <a:xfrm flipH="1">
              <a:off x="1142849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1" name="Line 109"/>
            <p:cNvSpPr>
              <a:spLocks noChangeAspect="1" noChangeShapeType="1"/>
            </p:cNvSpPr>
            <p:nvPr/>
          </p:nvSpPr>
          <p:spPr bwMode="auto">
            <a:xfrm flipH="1">
              <a:off x="2117725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2" name="Line 110"/>
            <p:cNvSpPr>
              <a:spLocks noChangeAspect="1" noChangeShapeType="1"/>
            </p:cNvSpPr>
            <p:nvPr/>
          </p:nvSpPr>
          <p:spPr bwMode="auto">
            <a:xfrm flipH="1">
              <a:off x="3092601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3" name="Line 111"/>
            <p:cNvSpPr>
              <a:spLocks noChangeAspect="1" noChangeShapeType="1"/>
            </p:cNvSpPr>
            <p:nvPr/>
          </p:nvSpPr>
          <p:spPr bwMode="auto">
            <a:xfrm flipV="1">
              <a:off x="1385396" y="52997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4" name="Line 112"/>
            <p:cNvSpPr>
              <a:spLocks noChangeAspect="1" noChangeShapeType="1"/>
            </p:cNvSpPr>
            <p:nvPr/>
          </p:nvSpPr>
          <p:spPr bwMode="auto">
            <a:xfrm flipH="1">
              <a:off x="2362616" y="52997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08" name="Oval 116"/>
            <p:cNvSpPr>
              <a:spLocks noChangeAspect="1" noChangeArrowheads="1"/>
            </p:cNvSpPr>
            <p:nvPr/>
          </p:nvSpPr>
          <p:spPr bwMode="auto">
            <a:xfrm>
              <a:off x="1813076" y="57861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09" name="Oval 117"/>
            <p:cNvSpPr>
              <a:spLocks noChangeAspect="1" noChangeArrowheads="1"/>
            </p:cNvSpPr>
            <p:nvPr/>
          </p:nvSpPr>
          <p:spPr bwMode="auto">
            <a:xfrm>
              <a:off x="1813076" y="49949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10" name="Oval 118"/>
            <p:cNvSpPr>
              <a:spLocks noChangeAspect="1" noChangeArrowheads="1"/>
            </p:cNvSpPr>
            <p:nvPr/>
          </p:nvSpPr>
          <p:spPr bwMode="auto">
            <a:xfrm>
              <a:off x="838200" y="49949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1/8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14" name="Oval 122"/>
            <p:cNvSpPr>
              <a:spLocks noChangeAspect="1" noChangeArrowheads="1"/>
            </p:cNvSpPr>
            <p:nvPr/>
          </p:nvSpPr>
          <p:spPr bwMode="auto">
            <a:xfrm>
              <a:off x="2787952" y="5786120"/>
              <a:ext cx="609298" cy="365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10/11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163" name="Text Box 18"/>
            <p:cNvSpPr txBox="1">
              <a:spLocks noChangeAspect="1" noChangeArrowheads="1"/>
            </p:cNvSpPr>
            <p:nvPr/>
          </p:nvSpPr>
          <p:spPr bwMode="auto">
            <a:xfrm>
              <a:off x="894055" y="5950550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64" name="Text Box 19"/>
            <p:cNvSpPr txBox="1">
              <a:spLocks noChangeAspect="1" noChangeArrowheads="1"/>
            </p:cNvSpPr>
            <p:nvPr/>
          </p:nvSpPr>
          <p:spPr bwMode="auto">
            <a:xfrm>
              <a:off x="1868931" y="5950550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65" name="Text Box 20"/>
            <p:cNvSpPr txBox="1">
              <a:spLocks noChangeAspect="1" noChangeArrowheads="1"/>
            </p:cNvSpPr>
            <p:nvPr/>
          </p:nvSpPr>
          <p:spPr bwMode="auto">
            <a:xfrm>
              <a:off x="2843808" y="5949280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66" name="Text Box 23"/>
            <p:cNvSpPr txBox="1">
              <a:spLocks noChangeAspect="1" noChangeArrowheads="1"/>
            </p:cNvSpPr>
            <p:nvPr/>
          </p:nvSpPr>
          <p:spPr bwMode="auto">
            <a:xfrm>
              <a:off x="911137" y="4523358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67" name="Text Box 24"/>
            <p:cNvSpPr txBox="1">
              <a:spLocks noChangeAspect="1" noChangeArrowheads="1"/>
            </p:cNvSpPr>
            <p:nvPr/>
          </p:nvSpPr>
          <p:spPr bwMode="auto">
            <a:xfrm>
              <a:off x="1886013" y="4523358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68" name="Text Box 25"/>
            <p:cNvSpPr txBox="1">
              <a:spLocks noChangeAspect="1" noChangeArrowheads="1"/>
            </p:cNvSpPr>
            <p:nvPr/>
          </p:nvSpPr>
          <p:spPr bwMode="auto">
            <a:xfrm>
              <a:off x="2860890" y="4523358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89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3136058" y="59450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14" name="Line 4"/>
            <p:cNvSpPr>
              <a:spLocks noChangeAspect="1" noChangeShapeType="1"/>
            </p:cNvSpPr>
            <p:nvPr/>
          </p:nvSpPr>
          <p:spPr bwMode="auto">
            <a:xfrm>
              <a:off x="1475656" y="594928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15" name="Line 6"/>
            <p:cNvSpPr>
              <a:spLocks noChangeAspect="1" noChangeShapeType="1"/>
            </p:cNvSpPr>
            <p:nvPr/>
          </p:nvSpPr>
          <p:spPr bwMode="auto">
            <a:xfrm flipH="1" flipV="1">
              <a:off x="1475656" y="515680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216" name="Line 10"/>
            <p:cNvSpPr>
              <a:spLocks noChangeAspect="1" noChangeShapeType="1"/>
            </p:cNvSpPr>
            <p:nvPr/>
          </p:nvSpPr>
          <p:spPr bwMode="auto">
            <a:xfrm>
              <a:off x="1475656" y="515680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217" name="Line 11"/>
            <p:cNvSpPr>
              <a:spLocks noChangeAspect="1" noChangeShapeType="1"/>
            </p:cNvSpPr>
            <p:nvPr/>
          </p:nvSpPr>
          <p:spPr bwMode="auto">
            <a:xfrm flipH="1">
              <a:off x="1475656" y="594928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334000" y="4523358"/>
            <a:ext cx="2559050" cy="1858079"/>
            <a:chOff x="5334000" y="4523358"/>
            <a:chExt cx="2559050" cy="1858079"/>
          </a:xfrm>
        </p:grpSpPr>
        <p:sp>
          <p:nvSpPr>
            <p:cNvPr id="494717" name="Line 125"/>
            <p:cNvSpPr>
              <a:spLocks noChangeAspect="1" noChangeShapeType="1"/>
            </p:cNvSpPr>
            <p:nvPr/>
          </p:nvSpPr>
          <p:spPr bwMode="auto">
            <a:xfrm flipV="1">
              <a:off x="7588401" y="53594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18" name="Oval 126"/>
            <p:cNvSpPr>
              <a:spLocks noChangeAspect="1" noChangeArrowheads="1"/>
            </p:cNvSpPr>
            <p:nvPr/>
          </p:nvSpPr>
          <p:spPr bwMode="auto">
            <a:xfrm>
              <a:off x="5334000" y="57861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19" name="Line 127"/>
            <p:cNvSpPr>
              <a:spLocks noChangeAspect="1" noChangeShapeType="1"/>
            </p:cNvSpPr>
            <p:nvPr/>
          </p:nvSpPr>
          <p:spPr bwMode="auto">
            <a:xfrm>
              <a:off x="5943298" y="596900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0" name="Line 128"/>
            <p:cNvSpPr>
              <a:spLocks noChangeAspect="1" noChangeShapeType="1"/>
            </p:cNvSpPr>
            <p:nvPr/>
          </p:nvSpPr>
          <p:spPr bwMode="auto">
            <a:xfrm flipV="1">
              <a:off x="6613525" y="53594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3" name="Line 131"/>
            <p:cNvSpPr>
              <a:spLocks noChangeAspect="1" noChangeShapeType="1"/>
            </p:cNvSpPr>
            <p:nvPr/>
          </p:nvSpPr>
          <p:spPr bwMode="auto">
            <a:xfrm flipH="1">
              <a:off x="5943298" y="596900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4" name="Line 132"/>
            <p:cNvSpPr>
              <a:spLocks noChangeAspect="1" noChangeShapeType="1"/>
            </p:cNvSpPr>
            <p:nvPr/>
          </p:nvSpPr>
          <p:spPr bwMode="auto">
            <a:xfrm flipH="1">
              <a:off x="5638649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5" name="Line 133"/>
            <p:cNvSpPr>
              <a:spLocks noChangeAspect="1" noChangeShapeType="1"/>
            </p:cNvSpPr>
            <p:nvPr/>
          </p:nvSpPr>
          <p:spPr bwMode="auto">
            <a:xfrm flipH="1">
              <a:off x="6613525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6" name="Line 134"/>
            <p:cNvSpPr>
              <a:spLocks noChangeAspect="1" noChangeShapeType="1"/>
            </p:cNvSpPr>
            <p:nvPr/>
          </p:nvSpPr>
          <p:spPr bwMode="auto">
            <a:xfrm flipH="1">
              <a:off x="7588401" y="53594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7" name="Line 135"/>
            <p:cNvSpPr>
              <a:spLocks noChangeAspect="1" noChangeShapeType="1"/>
            </p:cNvSpPr>
            <p:nvPr/>
          </p:nvSpPr>
          <p:spPr bwMode="auto">
            <a:xfrm flipV="1">
              <a:off x="5881196" y="52997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28" name="Line 136"/>
            <p:cNvSpPr>
              <a:spLocks noChangeAspect="1" noChangeShapeType="1"/>
            </p:cNvSpPr>
            <p:nvPr/>
          </p:nvSpPr>
          <p:spPr bwMode="auto">
            <a:xfrm flipH="1">
              <a:off x="6858416" y="52997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732" name="Oval 140"/>
            <p:cNvSpPr>
              <a:spLocks noChangeAspect="1" noChangeArrowheads="1"/>
            </p:cNvSpPr>
            <p:nvPr/>
          </p:nvSpPr>
          <p:spPr bwMode="auto">
            <a:xfrm>
              <a:off x="6308876" y="57861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33" name="Oval 141"/>
            <p:cNvSpPr>
              <a:spLocks noChangeAspect="1" noChangeArrowheads="1"/>
            </p:cNvSpPr>
            <p:nvPr/>
          </p:nvSpPr>
          <p:spPr bwMode="auto">
            <a:xfrm>
              <a:off x="6308876" y="49949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34" name="Oval 142"/>
            <p:cNvSpPr>
              <a:spLocks noChangeAspect="1" noChangeArrowheads="1"/>
            </p:cNvSpPr>
            <p:nvPr/>
          </p:nvSpPr>
          <p:spPr bwMode="auto">
            <a:xfrm>
              <a:off x="5334000" y="49949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1/8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38" name="Oval 146"/>
            <p:cNvSpPr>
              <a:spLocks noChangeAspect="1" noChangeArrowheads="1"/>
            </p:cNvSpPr>
            <p:nvPr/>
          </p:nvSpPr>
          <p:spPr bwMode="auto">
            <a:xfrm>
              <a:off x="7283752" y="5786120"/>
              <a:ext cx="609298" cy="365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solidFill>
                    <a:schemeClr val="bg1"/>
                  </a:solidFill>
                  <a:latin typeface="Times New Roman" charset="0"/>
                  <a:cs typeface="+mn-cs"/>
                </a:rPr>
                <a:t>10/11</a:t>
              </a:r>
              <a:endParaRPr lang="en-GB" sz="2200" dirty="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740" name="Oval 148"/>
            <p:cNvSpPr>
              <a:spLocks noChangeAspect="1" noChangeArrowheads="1"/>
            </p:cNvSpPr>
            <p:nvPr/>
          </p:nvSpPr>
          <p:spPr bwMode="auto">
            <a:xfrm>
              <a:off x="7283752" y="49949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9/12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175" name="Text Box 18"/>
            <p:cNvSpPr txBox="1">
              <a:spLocks noChangeAspect="1" noChangeArrowheads="1"/>
            </p:cNvSpPr>
            <p:nvPr/>
          </p:nvSpPr>
          <p:spPr bwMode="auto">
            <a:xfrm>
              <a:off x="5430559" y="5950550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76" name="Text Box 19"/>
            <p:cNvSpPr txBox="1">
              <a:spLocks noChangeAspect="1" noChangeArrowheads="1"/>
            </p:cNvSpPr>
            <p:nvPr/>
          </p:nvSpPr>
          <p:spPr bwMode="auto">
            <a:xfrm>
              <a:off x="6405435" y="5950550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77" name="Text Box 20"/>
            <p:cNvSpPr txBox="1">
              <a:spLocks noChangeAspect="1" noChangeArrowheads="1"/>
            </p:cNvSpPr>
            <p:nvPr/>
          </p:nvSpPr>
          <p:spPr bwMode="auto">
            <a:xfrm>
              <a:off x="7380312" y="5949280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78" name="Text Box 23"/>
            <p:cNvSpPr txBox="1">
              <a:spLocks noChangeAspect="1" noChangeArrowheads="1"/>
            </p:cNvSpPr>
            <p:nvPr/>
          </p:nvSpPr>
          <p:spPr bwMode="auto">
            <a:xfrm>
              <a:off x="5447641" y="4523358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79" name="Text Box 24"/>
            <p:cNvSpPr txBox="1">
              <a:spLocks noChangeAspect="1" noChangeArrowheads="1"/>
            </p:cNvSpPr>
            <p:nvPr/>
          </p:nvSpPr>
          <p:spPr bwMode="auto">
            <a:xfrm>
              <a:off x="6422517" y="4523358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80" name="Text Box 25"/>
            <p:cNvSpPr txBox="1">
              <a:spLocks noChangeAspect="1" noChangeArrowheads="1"/>
            </p:cNvSpPr>
            <p:nvPr/>
          </p:nvSpPr>
          <p:spPr bwMode="auto">
            <a:xfrm>
              <a:off x="7397394" y="4523358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92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7672562" y="5945062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19" name="Line 6"/>
            <p:cNvSpPr>
              <a:spLocks noChangeAspect="1" noChangeShapeType="1"/>
            </p:cNvSpPr>
            <p:nvPr/>
          </p:nvSpPr>
          <p:spPr bwMode="auto">
            <a:xfrm flipH="1" flipV="1">
              <a:off x="5940152" y="5157192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  <p:sp>
          <p:nvSpPr>
            <p:cNvPr id="220" name="Line 10"/>
            <p:cNvSpPr>
              <a:spLocks noChangeAspect="1" noChangeShapeType="1"/>
            </p:cNvSpPr>
            <p:nvPr/>
          </p:nvSpPr>
          <p:spPr bwMode="auto">
            <a:xfrm>
              <a:off x="5940152" y="5157192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latin typeface="+mj-lt"/>
                <a:cs typeface="+mn-c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34000" y="2795166"/>
            <a:ext cx="2605494" cy="1858079"/>
            <a:chOff x="5334000" y="2795166"/>
            <a:chExt cx="2605494" cy="1858079"/>
          </a:xfrm>
        </p:grpSpPr>
        <p:sp>
          <p:nvSpPr>
            <p:cNvPr id="494667" name="Line 75"/>
            <p:cNvSpPr>
              <a:spLocks noChangeAspect="1" noChangeShapeType="1"/>
            </p:cNvSpPr>
            <p:nvPr/>
          </p:nvSpPr>
          <p:spPr bwMode="auto">
            <a:xfrm flipV="1">
              <a:off x="7588401" y="36068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68" name="Oval 76"/>
            <p:cNvSpPr>
              <a:spLocks noChangeAspect="1" noChangeArrowheads="1"/>
            </p:cNvSpPr>
            <p:nvPr/>
          </p:nvSpPr>
          <p:spPr bwMode="auto">
            <a:xfrm>
              <a:off x="7283752" y="3241040"/>
              <a:ext cx="609298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 9/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494669" name="Oval 77"/>
            <p:cNvSpPr>
              <a:spLocks noChangeAspect="1" noChangeArrowheads="1"/>
            </p:cNvSpPr>
            <p:nvPr/>
          </p:nvSpPr>
          <p:spPr bwMode="auto">
            <a:xfrm>
              <a:off x="5334000" y="40335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4/5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71" name="Line 79"/>
            <p:cNvSpPr>
              <a:spLocks noChangeAspect="1" noChangeShapeType="1"/>
            </p:cNvSpPr>
            <p:nvPr/>
          </p:nvSpPr>
          <p:spPr bwMode="auto">
            <a:xfrm flipV="1">
              <a:off x="6613525" y="3606800"/>
              <a:ext cx="0" cy="42672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2" name="Line 80"/>
            <p:cNvSpPr>
              <a:spLocks noChangeAspect="1" noChangeShapeType="1"/>
            </p:cNvSpPr>
            <p:nvPr/>
          </p:nvSpPr>
          <p:spPr bwMode="auto">
            <a:xfrm flipH="1" flipV="1">
              <a:off x="5943298" y="3423920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3" name="Line 81"/>
            <p:cNvSpPr>
              <a:spLocks noChangeAspect="1" noChangeShapeType="1"/>
            </p:cNvSpPr>
            <p:nvPr/>
          </p:nvSpPr>
          <p:spPr bwMode="auto">
            <a:xfrm>
              <a:off x="5943298" y="3423920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5" name="Line 83"/>
            <p:cNvSpPr>
              <a:spLocks noChangeAspect="1" noChangeShapeType="1"/>
            </p:cNvSpPr>
            <p:nvPr/>
          </p:nvSpPr>
          <p:spPr bwMode="auto">
            <a:xfrm flipH="1">
              <a:off x="5638649" y="36068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6" name="Line 84"/>
            <p:cNvSpPr>
              <a:spLocks noChangeAspect="1" noChangeShapeType="1"/>
            </p:cNvSpPr>
            <p:nvPr/>
          </p:nvSpPr>
          <p:spPr bwMode="auto">
            <a:xfrm flipH="1">
              <a:off x="6613525" y="36068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7" name="Line 85"/>
            <p:cNvSpPr>
              <a:spLocks noChangeAspect="1" noChangeShapeType="1"/>
            </p:cNvSpPr>
            <p:nvPr/>
          </p:nvSpPr>
          <p:spPr bwMode="auto">
            <a:xfrm flipH="1">
              <a:off x="7588401" y="3606800"/>
              <a:ext cx="0" cy="426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8" name="Line 86"/>
            <p:cNvSpPr>
              <a:spLocks noChangeAspect="1" noChangeShapeType="1"/>
            </p:cNvSpPr>
            <p:nvPr/>
          </p:nvSpPr>
          <p:spPr bwMode="auto">
            <a:xfrm flipV="1">
              <a:off x="5881196" y="35471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79" name="Line 87"/>
            <p:cNvSpPr>
              <a:spLocks noChangeAspect="1" noChangeShapeType="1"/>
            </p:cNvSpPr>
            <p:nvPr/>
          </p:nvSpPr>
          <p:spPr bwMode="auto">
            <a:xfrm flipH="1">
              <a:off x="6858416" y="3547110"/>
              <a:ext cx="487438" cy="5473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494683" name="Oval 91"/>
            <p:cNvSpPr>
              <a:spLocks noChangeAspect="1" noChangeArrowheads="1"/>
            </p:cNvSpPr>
            <p:nvPr/>
          </p:nvSpPr>
          <p:spPr bwMode="auto">
            <a:xfrm>
              <a:off x="6308876" y="4033520"/>
              <a:ext cx="609298" cy="36576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3/6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84" name="Oval 92"/>
            <p:cNvSpPr>
              <a:spLocks noChangeAspect="1" noChangeArrowheads="1"/>
            </p:cNvSpPr>
            <p:nvPr/>
          </p:nvSpPr>
          <p:spPr bwMode="auto">
            <a:xfrm>
              <a:off x="6308876" y="32423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2/7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85" name="Oval 93"/>
            <p:cNvSpPr>
              <a:spLocks noChangeAspect="1" noChangeArrowheads="1"/>
            </p:cNvSpPr>
            <p:nvPr/>
          </p:nvSpPr>
          <p:spPr bwMode="auto">
            <a:xfrm>
              <a:off x="5334000" y="3242310"/>
              <a:ext cx="609298" cy="367030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>
                  <a:solidFill>
                    <a:schemeClr val="bg1"/>
                  </a:solidFill>
                  <a:latin typeface="Times New Roman" charset="0"/>
                  <a:cs typeface="+mn-cs"/>
                </a:rPr>
                <a:t> 1/8 </a:t>
              </a:r>
              <a:endParaRPr lang="en-GB" sz="2200">
                <a:solidFill>
                  <a:schemeClr val="bg1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494689" name="Oval 97"/>
            <p:cNvSpPr>
              <a:spLocks noChangeAspect="1" noChangeArrowheads="1"/>
            </p:cNvSpPr>
            <p:nvPr/>
          </p:nvSpPr>
          <p:spPr bwMode="auto">
            <a:xfrm>
              <a:off x="7283752" y="4033520"/>
              <a:ext cx="609298" cy="365760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Times New Roman" charset="0"/>
                  <a:cs typeface="+mn-cs"/>
                </a:rPr>
                <a:t>10/  </a:t>
              </a:r>
              <a:endParaRPr lang="en-GB" sz="2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charset="0"/>
                <a:cs typeface="+mn-cs"/>
              </a:endParaRPr>
            </a:p>
          </p:txBody>
        </p:sp>
        <p:sp>
          <p:nvSpPr>
            <p:cNvPr id="169" name="Text Box 18"/>
            <p:cNvSpPr txBox="1">
              <a:spLocks noChangeAspect="1" noChangeArrowheads="1"/>
            </p:cNvSpPr>
            <p:nvPr/>
          </p:nvSpPr>
          <p:spPr bwMode="auto">
            <a:xfrm>
              <a:off x="5502567" y="4222358"/>
              <a:ext cx="422979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x</a:t>
              </a:r>
            </a:p>
          </p:txBody>
        </p:sp>
        <p:sp>
          <p:nvSpPr>
            <p:cNvPr id="170" name="Text Box 19"/>
            <p:cNvSpPr txBox="1">
              <a:spLocks noChangeAspect="1" noChangeArrowheads="1"/>
            </p:cNvSpPr>
            <p:nvPr/>
          </p:nvSpPr>
          <p:spPr bwMode="auto">
            <a:xfrm>
              <a:off x="6477443" y="4222358"/>
              <a:ext cx="41034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Times New Roman" charset="0"/>
                  <a:cs typeface="+mn-cs"/>
                </a:rPr>
                <a:t>y</a:t>
              </a:r>
            </a:p>
          </p:txBody>
        </p:sp>
        <p:sp>
          <p:nvSpPr>
            <p:cNvPr id="171" name="Text Box 20"/>
            <p:cNvSpPr txBox="1">
              <a:spLocks noChangeAspect="1" noChangeArrowheads="1"/>
            </p:cNvSpPr>
            <p:nvPr/>
          </p:nvSpPr>
          <p:spPr bwMode="auto">
            <a:xfrm>
              <a:off x="7452320" y="4221088"/>
              <a:ext cx="39170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Times New Roman" charset="0"/>
                  <a:cs typeface="+mn-cs"/>
                </a:rPr>
                <a:t>z</a:t>
              </a:r>
              <a:endParaRPr lang="it-IT" sz="2200" b="1" i="1" dirty="0">
                <a:latin typeface="Times New Roman" charset="0"/>
                <a:cs typeface="+mn-cs"/>
              </a:endParaRPr>
            </a:p>
          </p:txBody>
        </p:sp>
        <p:sp>
          <p:nvSpPr>
            <p:cNvPr id="172" name="Text Box 23"/>
            <p:cNvSpPr txBox="1">
              <a:spLocks noChangeAspect="1" noChangeArrowheads="1"/>
            </p:cNvSpPr>
            <p:nvPr/>
          </p:nvSpPr>
          <p:spPr bwMode="auto">
            <a:xfrm>
              <a:off x="5519649" y="2795166"/>
              <a:ext cx="43882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>
                  <a:latin typeface="+mj-lt"/>
                  <a:cs typeface="Calibri"/>
                </a:rPr>
                <a:t>u</a:t>
              </a:r>
            </a:p>
          </p:txBody>
        </p:sp>
        <p:sp>
          <p:nvSpPr>
            <p:cNvPr id="173" name="Text Box 24"/>
            <p:cNvSpPr txBox="1">
              <a:spLocks noChangeAspect="1" noChangeArrowheads="1"/>
            </p:cNvSpPr>
            <p:nvPr/>
          </p:nvSpPr>
          <p:spPr bwMode="auto">
            <a:xfrm>
              <a:off x="6494525" y="2795166"/>
              <a:ext cx="4071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>
                  <a:latin typeface="+mj-lt"/>
                  <a:cs typeface="Calibri"/>
                </a:rPr>
                <a:t>v</a:t>
              </a:r>
            </a:p>
          </p:txBody>
        </p:sp>
        <p:sp>
          <p:nvSpPr>
            <p:cNvPr id="174" name="Text Box 25"/>
            <p:cNvSpPr txBox="1">
              <a:spLocks noChangeAspect="1" noChangeArrowheads="1"/>
            </p:cNvSpPr>
            <p:nvPr/>
          </p:nvSpPr>
          <p:spPr bwMode="auto">
            <a:xfrm>
              <a:off x="7469402" y="2795166"/>
              <a:ext cx="4700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200" b="1" i="1" dirty="0" err="1">
                  <a:latin typeface="+mj-lt"/>
                  <a:cs typeface="Calibri"/>
                </a:rPr>
                <a:t>w</a:t>
              </a:r>
              <a:endParaRPr lang="it-IT" sz="2200" b="1" i="1" dirty="0">
                <a:latin typeface="+mj-lt"/>
                <a:cs typeface="Calibri"/>
              </a:endParaRPr>
            </a:p>
          </p:txBody>
        </p:sp>
        <p:cxnSp>
          <p:nvCxnSpPr>
            <p:cNvPr id="187" name="AutoShape 83"/>
            <p:cNvCxnSpPr>
              <a:cxnSpLocks noChangeAspect="1" noChangeShapeType="1"/>
            </p:cNvCxnSpPr>
            <p:nvPr/>
          </p:nvCxnSpPr>
          <p:spPr bwMode="auto">
            <a:xfrm rot="5400000" flipV="1">
              <a:off x="7589534" y="4252456"/>
              <a:ext cx="280768" cy="1172"/>
            </a:xfrm>
            <a:prstGeom prst="curvedConnector5">
              <a:avLst>
                <a:gd name="adj1" fmla="val -18019"/>
                <a:gd name="adj2" fmla="val 26699995"/>
                <a:gd name="adj3" fmla="val 11081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18" name="Line 4"/>
            <p:cNvSpPr>
              <a:spLocks noChangeAspect="1" noChangeShapeType="1"/>
            </p:cNvSpPr>
            <p:nvPr/>
          </p:nvSpPr>
          <p:spPr bwMode="auto">
            <a:xfrm>
              <a:off x="5940152" y="4221088"/>
              <a:ext cx="365579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  <p:sp>
          <p:nvSpPr>
            <p:cNvPr id="221" name="Line 11"/>
            <p:cNvSpPr>
              <a:spLocks noChangeAspect="1" noChangeShapeType="1"/>
            </p:cNvSpPr>
            <p:nvPr/>
          </p:nvSpPr>
          <p:spPr bwMode="auto">
            <a:xfrm flipH="1">
              <a:off x="5940152" y="4221088"/>
              <a:ext cx="365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200"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8089900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DFS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nil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1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 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457200" y="3657600"/>
            <a:ext cx="8077200" cy="26733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grigio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d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+ 1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for “ogni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      if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         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u</a:t>
            </a:r>
            <a:endParaRPr lang="it-IT" sz="2400" b="1">
              <a:solidFill>
                <a:srgbClr val="FF3300"/>
              </a:solidFill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         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DFSric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rgbClr val="FF3300"/>
                </a:solidFill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nero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f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,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t</a:t>
            </a:r>
            <a:r>
              <a:rPr lang="it-IT" sz="2400" b="1">
                <a:solidFill>
                  <a:schemeClr val="folHlink"/>
                </a:solidFill>
                <a:latin typeface="Calibri"/>
                <a:cs typeface="Calibri"/>
                <a:sym typeface="Symbol" charset="0"/>
              </a:rPr>
              <a:t> + 1</a:t>
            </a:r>
          </a:p>
        </p:txBody>
      </p:sp>
      <p:sp>
        <p:nvSpPr>
          <p:cNvPr id="49562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Analisi di complessità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DFS: Analisi di complessità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Senza le chiamate a </a:t>
            </a:r>
            <a:r>
              <a:rPr lang="it-IT" dirty="0" err="1">
                <a:solidFill>
                  <a:srgbClr val="FF0000"/>
                </a:solidFill>
                <a:sym typeface="Symbol" charset="0"/>
              </a:rPr>
              <a:t>DFSric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i due cicli for di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DFS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richiedono tempo O(|V|)</a:t>
            </a:r>
          </a:p>
          <a:p>
            <a:r>
              <a:rPr lang="it-IT" dirty="0"/>
              <a:t>La funzione </a:t>
            </a:r>
            <a:r>
              <a:rPr lang="it-IT" dirty="0" err="1">
                <a:solidFill>
                  <a:srgbClr val="FF0000"/>
                </a:solidFill>
                <a:sym typeface="Symbol" charset="0"/>
              </a:rPr>
              <a:t>DFSric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viene richiamata solo su vertici bianchi che vengono subito colorati di grigio. Essa viene quindi richiamata al più una sola volta per ogni vertice</a:t>
            </a:r>
          </a:p>
          <a:p>
            <a:r>
              <a:rPr lang="it-IT" dirty="0"/>
              <a:t>Il ciclo interno percorre la lista delle adiacenze del vertice di invocazione. Siccome la somma delle lunghezze di tutte le liste delle adiacenze è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</a:t>
            </a:r>
            <a:r>
              <a:rPr lang="it-IT" dirty="0">
                <a:solidFill>
                  <a:srgbClr val="FF0000"/>
                </a:solidFill>
              </a:rPr>
              <a:t>(|E|) </a:t>
            </a:r>
            <a:r>
              <a:rPr lang="it-IT" dirty="0"/>
              <a:t>l’intero algoritmo ha complessità  </a:t>
            </a:r>
            <a:r>
              <a:rPr lang="it-IT" dirty="0">
                <a:solidFill>
                  <a:srgbClr val="FF0000"/>
                </a:solidFill>
              </a:rPr>
              <a:t>O(|V| + |E|)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539552" y="3861048"/>
            <a:ext cx="7385050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 .... 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 .... 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</a:p>
        </p:txBody>
      </p:sp>
      <p:sp>
        <p:nvSpPr>
          <p:cNvPr id="497667" name="Text Box 3"/>
          <p:cNvSpPr txBox="1">
            <a:spLocks noChangeArrowheads="1"/>
          </p:cNvSpPr>
          <p:nvPr/>
        </p:nvSpPr>
        <p:spPr bwMode="auto">
          <a:xfrm>
            <a:off x="467544" y="1412776"/>
            <a:ext cx="8153400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000000"/>
                </a:solidFill>
                <a:latin typeface="+mn-lt"/>
                <a:cs typeface="+mn-cs"/>
              </a:rPr>
              <a:t>Teorema 1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si rappresenta la scoperta di ogni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con una parentesi aperta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la fine della visita con una parentesi chiusa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 ottiene una sequenza bilanciata di parentesi. Ossia, per ogni coppia di vertici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ci sono quattro possibilità:</a:t>
            </a:r>
          </a:p>
        </p:txBody>
      </p:sp>
      <p:sp>
        <p:nvSpPr>
          <p:cNvPr id="497668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delle parentesi</a:t>
            </a:r>
            <a:endParaRPr lang="it-IT" sz="2800" b="0" i="1" u="sng">
              <a:solidFill>
                <a:schemeClr val="tx1"/>
              </a:solidFill>
              <a:latin typeface="Times New Roman" charset="0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1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153400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latin typeface="+mn-lt"/>
                <a:cs typeface="+mn-cs"/>
              </a:rPr>
              <a:t>Dimostrazione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Assumiamo che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d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[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]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&lt;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d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[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]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(l’altro caso è simmetrico).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f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[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]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&lt;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d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[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]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allora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FF0000"/>
                </a:solidFill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) .... (</a:t>
            </a:r>
            <a:r>
              <a:rPr lang="it-IT" sz="2400" b="1" i="1" baseline="-25000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)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</a:rPr>
              <a:t>Se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dirty="0">
                <a:solidFill>
                  <a:srgbClr val="FF0000"/>
                </a:solidFill>
              </a:rPr>
              <a:t>[</a:t>
            </a:r>
            <a:r>
              <a:rPr lang="it-IT" sz="2400" b="1" i="1" dirty="0">
                <a:solidFill>
                  <a:srgbClr val="FF0000"/>
                </a:solidFill>
              </a:rPr>
              <a:t>u</a:t>
            </a:r>
            <a:r>
              <a:rPr lang="it-IT" sz="2400" b="1" dirty="0">
                <a:solidFill>
                  <a:srgbClr val="FF0000"/>
                </a:solidFill>
              </a:rPr>
              <a:t>]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b="1" dirty="0">
                <a:solidFill>
                  <a:srgbClr val="FF0000"/>
                </a:solidFill>
              </a:rPr>
              <a:t>&gt;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b="1" i="1" dirty="0">
                <a:solidFill>
                  <a:srgbClr val="FF0000"/>
                </a:solidFill>
              </a:rPr>
              <a:t>d</a:t>
            </a:r>
            <a:r>
              <a:rPr lang="it-IT" sz="2400" b="1" dirty="0">
                <a:solidFill>
                  <a:srgbClr val="FF0000"/>
                </a:solidFill>
              </a:rPr>
              <a:t>[</a:t>
            </a:r>
            <a:r>
              <a:rPr lang="it-IT" sz="2400" b="1" i="1" dirty="0">
                <a:solidFill>
                  <a:srgbClr val="FF0000"/>
                </a:solidFill>
              </a:rPr>
              <a:t>v</a:t>
            </a:r>
            <a:r>
              <a:rPr lang="it-IT" sz="2400" b="1" dirty="0">
                <a:solidFill>
                  <a:srgbClr val="FF0000"/>
                </a:solidFill>
              </a:rPr>
              <a:t>]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allora quando </a:t>
            </a:r>
            <a:r>
              <a:rPr lang="it-IT" sz="2400" b="1" i="1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viene scoperto </a:t>
            </a:r>
            <a:r>
              <a:rPr lang="it-IT" sz="2400" b="1" i="1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è grigio e siccome </a:t>
            </a:r>
            <a:r>
              <a:rPr lang="it-IT" sz="2400" b="1" i="1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è stato scoperto dopo di </a:t>
            </a:r>
            <a:r>
              <a:rPr lang="it-IT" sz="2400" b="1" i="1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la sua lista delle adiacenze verrà completamente esplorata prima di riprendere l’esplorazione di quella di </a:t>
            </a:r>
            <a:r>
              <a:rPr lang="it-IT" sz="2400" b="1" i="1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201FF0"/>
                </a:solidFill>
              </a:rPr>
              <a:t>.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</a:rPr>
              <a:t>Quindi </a:t>
            </a:r>
            <a:r>
              <a:rPr lang="it-IT" sz="2400" b="1" i="1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viene finito prima di </a:t>
            </a:r>
            <a:r>
              <a:rPr lang="it-IT" sz="2400" b="1" i="1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201FF0"/>
                </a:solidFill>
              </a:rPr>
              <a:t>e pertanto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FF0000"/>
                </a:solidFill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 .... (</a:t>
            </a:r>
            <a:r>
              <a:rPr lang="it-IT" sz="2400" b="1" i="1" baseline="-25000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</a:rPr>
              <a:t>v</a:t>
            </a:r>
            <a:r>
              <a:rPr lang="it-IT" sz="2400" dirty="0">
                <a:solidFill>
                  <a:srgbClr val="FF0000"/>
                </a:solidFill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</a:rPr>
              <a:t>u</a:t>
            </a:r>
            <a:r>
              <a:rPr lang="it-IT" sz="2400" dirty="0">
                <a:solidFill>
                  <a:srgbClr val="FF0000"/>
                </a:solidFill>
              </a:rPr>
              <a:t>)</a:t>
            </a:r>
            <a:endParaRPr lang="it-IT" sz="2400" dirty="0">
              <a:solidFill>
                <a:srgbClr val="201FF0"/>
              </a:solidFill>
            </a:endParaRPr>
          </a:p>
        </p:txBody>
      </p:sp>
      <p:sp>
        <p:nvSpPr>
          <p:cNvPr id="49869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419225" y="228600"/>
            <a:ext cx="7459663" cy="762000"/>
          </a:xfrm>
        </p:spPr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delle parentesi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15340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latin typeface="+mn-lt"/>
                <a:cs typeface="+mn-cs"/>
              </a:rPr>
              <a:t>Teorema 2</a:t>
            </a:r>
            <a:endParaRPr lang="it-IT" sz="2400" i="1" u="sng" dirty="0">
              <a:solidFill>
                <a:srgbClr val="201FF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discendente del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in un albero della foresta di ricerca in profondità se e solo se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  			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539552" y="3789040"/>
            <a:ext cx="81534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solidFill>
                  <a:srgbClr val="000000"/>
                </a:solidFill>
                <a:latin typeface="+mn-lt"/>
                <a:cs typeface="+mn-cs"/>
              </a:rPr>
              <a:t>Dimostrazione</a:t>
            </a:r>
            <a:endParaRPr lang="it-IT" sz="2400" dirty="0">
              <a:solidFill>
                <a:srgbClr val="00000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discendente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e solo se è scoperto dopo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prima che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sia finito e quindi, per la proprietà delle parentesi, se e solo se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</a:t>
            </a:r>
          </a:p>
        </p:txBody>
      </p:sp>
      <p:sp>
        <p:nvSpPr>
          <p:cNvPr id="49971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dei discendenti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Text Box 2"/>
          <p:cNvSpPr txBox="1">
            <a:spLocks noChangeArrowheads="1"/>
          </p:cNvSpPr>
          <p:nvPr/>
        </p:nvSpPr>
        <p:spPr bwMode="auto">
          <a:xfrm>
            <a:off x="509588" y="1524000"/>
            <a:ext cx="8153400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/>
              <a:t>Teorema 3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discendente del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in un albero della foresta di ricerca in profondità se e solo se nell’istante in cui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esiste un cammino da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 cui  vertici sono tutti bianchi (cammino bianco)</a:t>
            </a:r>
          </a:p>
        </p:txBody>
      </p:sp>
      <p:sp>
        <p:nvSpPr>
          <p:cNvPr id="500739" name="Text Box 3"/>
          <p:cNvSpPr txBox="1">
            <a:spLocks noChangeArrowheads="1"/>
          </p:cNvSpPr>
          <p:nvPr/>
        </p:nvSpPr>
        <p:spPr bwMode="auto">
          <a:xfrm>
            <a:off x="539552" y="4005064"/>
            <a:ext cx="81534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latin typeface="+mn-lt"/>
                <a:cs typeface="+mn-cs"/>
              </a:rPr>
              <a:t>Dimostrazione</a:t>
            </a:r>
            <a:r>
              <a:rPr lang="it-IT" sz="2400" dirty="0">
                <a:latin typeface="+mn-lt"/>
                <a:cs typeface="+mn-cs"/>
              </a:rPr>
              <a:t>   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discendente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sia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0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, ... ,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k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la sequenza dei vertici da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nel ramo dell’albero della foresta di ricerca che connette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</p:txBody>
      </p:sp>
      <p:sp>
        <p:nvSpPr>
          <p:cNvPr id="50074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 cammino bianco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609600" y="1676400"/>
            <a:ext cx="8153400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Siccome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i+1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visitando la lista delle adiacenze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esiste l’arco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i+1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ed inoltre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prima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i+1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Quindi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0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, ... ,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k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un cammino tale che quando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=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0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i vertici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1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, ... ,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k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non sono ancora stati scoperti e dunque sono bianchi.  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 cammino bianco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Supponiamo ora che quando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esista un cammino bianco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0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, ... ,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k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da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</a:t>
            </a:r>
          </a:p>
        </p:txBody>
      </p:sp>
      <p:sp>
        <p:nvSpPr>
          <p:cNvPr id="502787" name="Text Box 3"/>
          <p:cNvSpPr txBox="1">
            <a:spLocks noChangeArrowheads="1"/>
          </p:cNvSpPr>
          <p:nvPr/>
        </p:nvSpPr>
        <p:spPr bwMode="auto">
          <a:xfrm>
            <a:off x="457200" y="2819400"/>
            <a:ext cx="8153400" cy="297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Siccome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viene scoperto dopo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, per la proprietà delle parentesi vale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           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oppure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           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allora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discendente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per la proprietà dei discendenti.</a:t>
            </a:r>
          </a:p>
        </p:txBody>
      </p:sp>
      <p:sp>
        <p:nvSpPr>
          <p:cNvPr id="502788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 cammino bianco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609600" y="1371600"/>
            <a:ext cx="8153400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Supponiamo per assurdo che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quindi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non sia discendente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Possiamo anche assumere che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sia il primo vertice del cammino bianco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0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, ... ,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k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che non è discendente di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 </a:t>
            </a:r>
          </a:p>
        </p:txBody>
      </p:sp>
      <p:sp>
        <p:nvSpPr>
          <p:cNvPr id="503811" name="Text Box 3"/>
          <p:cNvSpPr txBox="1">
            <a:spLocks noChangeArrowheads="1"/>
          </p:cNvSpPr>
          <p:nvPr/>
        </p:nvSpPr>
        <p:spPr bwMode="auto">
          <a:xfrm>
            <a:off x="609600" y="3581400"/>
            <a:ext cx="8153400" cy="282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Sia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x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k-1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il vertice che precede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nel cammino bianco.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Siccome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discendente di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, per la proprietà dei discendenti 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(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 .... (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.... </a:t>
            </a:r>
            <a:r>
              <a:rPr lang="it-IT" sz="2400" b="1" i="1" baseline="-25000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).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Assurdo perché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nella lista delle adiacenze di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e deve quindi essere stato scoperto prima che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sia finito.</a:t>
            </a:r>
          </a:p>
        </p:txBody>
      </p:sp>
      <p:sp>
        <p:nvSpPr>
          <p:cNvPr id="503812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Proprietà del cammino bianco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Text Box 2"/>
          <p:cNvSpPr txBox="1">
            <a:spLocks noChangeArrowheads="1"/>
          </p:cNvSpPr>
          <p:nvPr/>
        </p:nvSpPr>
        <p:spPr bwMode="auto">
          <a:xfrm>
            <a:off x="457200" y="2209800"/>
            <a:ext cx="8305800" cy="363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i="1" u="sng" dirty="0">
                <a:latin typeface="+mn-lt"/>
                <a:cs typeface="+mn-cs"/>
              </a:rPr>
              <a:t>archi d’albero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: archi </a:t>
            </a:r>
            <a:r>
              <a:rPr lang="it-IT" b="1" i="1" dirty="0" err="1">
                <a:solidFill>
                  <a:srgbClr val="FF0000"/>
                </a:solidFill>
                <a:latin typeface="+mn-lt"/>
                <a:cs typeface="+mn-cs"/>
              </a:rPr>
              <a:t>uv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con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scoperto visitando le adiacenze di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.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i="1" u="sng" dirty="0">
                <a:solidFill>
                  <a:srgbClr val="000000"/>
                </a:solidFill>
                <a:latin typeface="+mn-lt"/>
                <a:cs typeface="+mn-cs"/>
              </a:rPr>
              <a:t>archi all’indietro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: archi </a:t>
            </a:r>
            <a:r>
              <a:rPr lang="it-IT" b="1" i="1" dirty="0" err="1">
                <a:solidFill>
                  <a:srgbClr val="FF0000"/>
                </a:solidFill>
                <a:latin typeface="+mn-lt"/>
                <a:cs typeface="+mn-cs"/>
              </a:rPr>
              <a:t>uv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con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b="1" dirty="0">
                <a:solidFill>
                  <a:srgbClr val="FF0000"/>
                </a:solidFill>
                <a:latin typeface="+mn-lt"/>
                <a:cs typeface="+mn-cs"/>
              </a:rPr>
              <a:t> =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 oppure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ascendente di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in un albero della foresta di ricerca in profondità.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i="1" u="sng" dirty="0">
                <a:solidFill>
                  <a:srgbClr val="000000"/>
                </a:solidFill>
                <a:latin typeface="+mn-lt"/>
                <a:cs typeface="+mn-cs"/>
              </a:rPr>
              <a:t>archi in avanti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: archi </a:t>
            </a:r>
            <a:r>
              <a:rPr lang="it-IT" b="1" i="1" dirty="0" err="1">
                <a:solidFill>
                  <a:srgbClr val="FF0000"/>
                </a:solidFill>
                <a:latin typeface="+mn-lt"/>
                <a:cs typeface="+mn-cs"/>
              </a:rPr>
              <a:t>uv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con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discendente di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b="1" i="1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in un albero della foresta.</a:t>
            </a:r>
          </a:p>
          <a:p>
            <a:pPr eaLnBrk="0" hangingPunct="0">
              <a:spcBef>
                <a:spcPct val="20000"/>
              </a:spcBef>
              <a:buFontTx/>
              <a:buAutoNum type="alphaLcParenR"/>
              <a:defRPr/>
            </a:pPr>
            <a:r>
              <a:rPr lang="it-IT" i="1" u="sng" dirty="0">
                <a:solidFill>
                  <a:srgbClr val="000000"/>
                </a:solidFill>
                <a:latin typeface="+mn-lt"/>
                <a:cs typeface="+mn-cs"/>
              </a:rPr>
              <a:t>archi trasversali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: archi </a:t>
            </a:r>
            <a:r>
              <a:rPr lang="it-IT" b="1" i="1" dirty="0" err="1">
                <a:solidFill>
                  <a:srgbClr val="FF0000"/>
                </a:solidFill>
                <a:latin typeface="+mn-lt"/>
                <a:cs typeface="+mn-cs"/>
              </a:rPr>
              <a:t>uv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in cui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ed </a:t>
            </a:r>
            <a:r>
              <a:rPr lang="it-IT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dirty="0">
                <a:solidFill>
                  <a:srgbClr val="201FF0"/>
                </a:solidFill>
                <a:latin typeface="+mn-lt"/>
                <a:cs typeface="+mn-cs"/>
              </a:rPr>
              <a:t>appartengono a rami o alberi distinti della foresta.</a:t>
            </a:r>
          </a:p>
        </p:txBody>
      </p:sp>
      <p:sp>
        <p:nvSpPr>
          <p:cNvPr id="504835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30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Con la ricerca in profondità gli archi si possono classificare in:</a:t>
            </a:r>
          </a:p>
        </p:txBody>
      </p:sp>
      <p:sp>
        <p:nvSpPr>
          <p:cNvPr id="50483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Classificazione degli archi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Text Box 2"/>
          <p:cNvSpPr txBox="1">
            <a:spLocks noChangeArrowheads="1"/>
          </p:cNvSpPr>
          <p:nvPr/>
        </p:nvSpPr>
        <p:spPr bwMode="auto">
          <a:xfrm>
            <a:off x="457200" y="1828800"/>
            <a:ext cx="83058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un arco soddisfa le condizioni per appartenere a più di una categoria esso viene classificato in quella che compare per prima nell’ordine in cui le abbiamo elencate.</a:t>
            </a:r>
          </a:p>
        </p:txBody>
      </p:sp>
      <p:sp>
        <p:nvSpPr>
          <p:cNvPr id="505859" name="Text Box 3"/>
          <p:cNvSpPr txBox="1">
            <a:spLocks noChangeArrowheads="1"/>
          </p:cNvSpPr>
          <p:nvPr/>
        </p:nvSpPr>
        <p:spPr bwMode="auto">
          <a:xfrm>
            <a:off x="467544" y="3573016"/>
            <a:ext cx="8305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Ad esempio ogni arco d’albero soddisfa anche le condizioni per essere un arco in avanti e se il grafo non è orientato ogni arco all’indietro soddisfa anche le condizioni per essere un arco in avanti.</a:t>
            </a:r>
          </a:p>
        </p:txBody>
      </p:sp>
      <p:sp>
        <p:nvSpPr>
          <p:cNvPr id="50586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Classificazione degli archi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Oval 2"/>
          <p:cNvSpPr>
            <a:spLocks noChangeAspect="1" noChangeArrowheads="1"/>
          </p:cNvSpPr>
          <p:nvPr/>
        </p:nvSpPr>
        <p:spPr bwMode="auto">
          <a:xfrm>
            <a:off x="762000" y="24384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 4/5 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883" name="Line 3"/>
          <p:cNvSpPr>
            <a:spLocks noChangeAspect="1" noChangeShapeType="1"/>
          </p:cNvSpPr>
          <p:nvPr/>
        </p:nvSpPr>
        <p:spPr bwMode="auto">
          <a:xfrm flipH="1">
            <a:off x="1524000" y="2667000"/>
            <a:ext cx="365125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4" name="Line 4"/>
          <p:cNvSpPr>
            <a:spLocks noChangeAspect="1" noChangeShapeType="1"/>
          </p:cNvSpPr>
          <p:nvPr/>
        </p:nvSpPr>
        <p:spPr bwMode="auto">
          <a:xfrm flipH="1">
            <a:off x="1143000" y="1905000"/>
            <a:ext cx="1588" cy="427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5" name="Line 5"/>
          <p:cNvSpPr>
            <a:spLocks noChangeAspect="1" noChangeShapeType="1"/>
          </p:cNvSpPr>
          <p:nvPr/>
        </p:nvSpPr>
        <p:spPr bwMode="auto">
          <a:xfrm flipH="1">
            <a:off x="2362200" y="1905000"/>
            <a:ext cx="1588" cy="427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6" name="Line 6"/>
          <p:cNvSpPr>
            <a:spLocks noChangeAspect="1" noChangeShapeType="1"/>
          </p:cNvSpPr>
          <p:nvPr/>
        </p:nvSpPr>
        <p:spPr bwMode="auto">
          <a:xfrm flipV="1">
            <a:off x="3581400" y="1905000"/>
            <a:ext cx="1588" cy="4270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7" name="Line 7"/>
          <p:cNvSpPr>
            <a:spLocks noChangeAspect="1" noChangeShapeType="1"/>
          </p:cNvSpPr>
          <p:nvPr/>
        </p:nvSpPr>
        <p:spPr bwMode="auto">
          <a:xfrm flipV="1">
            <a:off x="1447800" y="1828800"/>
            <a:ext cx="487363" cy="5492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8" name="Line 8"/>
          <p:cNvSpPr>
            <a:spLocks noChangeAspect="1" noChangeShapeType="1"/>
          </p:cNvSpPr>
          <p:nvPr/>
        </p:nvSpPr>
        <p:spPr bwMode="auto">
          <a:xfrm flipH="1">
            <a:off x="2667000" y="1828800"/>
            <a:ext cx="487363" cy="5492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889" name="Text Box 9"/>
          <p:cNvSpPr txBox="1">
            <a:spLocks noChangeAspect="1" noChangeArrowheads="1"/>
          </p:cNvSpPr>
          <p:nvPr/>
        </p:nvSpPr>
        <p:spPr bwMode="auto">
          <a:xfrm>
            <a:off x="990600" y="2787650"/>
            <a:ext cx="2381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y</a:t>
            </a:r>
          </a:p>
        </p:txBody>
      </p:sp>
      <p:sp>
        <p:nvSpPr>
          <p:cNvPr id="506890" name="Text Box 10"/>
          <p:cNvSpPr txBox="1">
            <a:spLocks noChangeAspect="1" noChangeArrowheads="1"/>
          </p:cNvSpPr>
          <p:nvPr/>
        </p:nvSpPr>
        <p:spPr bwMode="auto">
          <a:xfrm>
            <a:off x="2209800" y="2787650"/>
            <a:ext cx="2254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z</a:t>
            </a:r>
          </a:p>
        </p:txBody>
      </p:sp>
      <p:sp>
        <p:nvSpPr>
          <p:cNvPr id="506891" name="Text Box 11"/>
          <p:cNvSpPr txBox="1">
            <a:spLocks noChangeAspect="1" noChangeArrowheads="1"/>
          </p:cNvSpPr>
          <p:nvPr/>
        </p:nvSpPr>
        <p:spPr bwMode="auto">
          <a:xfrm>
            <a:off x="3429000" y="2787650"/>
            <a:ext cx="2381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v</a:t>
            </a:r>
          </a:p>
        </p:txBody>
      </p:sp>
      <p:sp>
        <p:nvSpPr>
          <p:cNvPr id="506892" name="Oval 12"/>
          <p:cNvSpPr>
            <a:spLocks noChangeAspect="1" noChangeArrowheads="1"/>
          </p:cNvSpPr>
          <p:nvPr/>
        </p:nvSpPr>
        <p:spPr bwMode="auto">
          <a:xfrm>
            <a:off x="1981200" y="24384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 7/8 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893" name="Text Box 13"/>
          <p:cNvSpPr txBox="1">
            <a:spLocks noChangeAspect="1" noChangeArrowheads="1"/>
          </p:cNvSpPr>
          <p:nvPr/>
        </p:nvSpPr>
        <p:spPr bwMode="auto">
          <a:xfrm>
            <a:off x="990600" y="1111250"/>
            <a:ext cx="249238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x</a:t>
            </a:r>
          </a:p>
        </p:txBody>
      </p:sp>
      <p:sp>
        <p:nvSpPr>
          <p:cNvPr id="506894" name="Text Box 14"/>
          <p:cNvSpPr txBox="1">
            <a:spLocks noChangeAspect="1" noChangeArrowheads="1"/>
          </p:cNvSpPr>
          <p:nvPr/>
        </p:nvSpPr>
        <p:spPr bwMode="auto">
          <a:xfrm>
            <a:off x="2209800" y="1111250"/>
            <a:ext cx="28257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w</a:t>
            </a:r>
          </a:p>
        </p:txBody>
      </p:sp>
      <p:sp>
        <p:nvSpPr>
          <p:cNvPr id="506895" name="Text Box 15"/>
          <p:cNvSpPr txBox="1">
            <a:spLocks noChangeAspect="1" noChangeArrowheads="1"/>
          </p:cNvSpPr>
          <p:nvPr/>
        </p:nvSpPr>
        <p:spPr bwMode="auto">
          <a:xfrm>
            <a:off x="3429000" y="1111250"/>
            <a:ext cx="225425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s</a:t>
            </a:r>
          </a:p>
        </p:txBody>
      </p:sp>
      <p:sp>
        <p:nvSpPr>
          <p:cNvPr id="506896" name="Oval 16"/>
          <p:cNvSpPr>
            <a:spLocks noChangeAspect="1" noChangeArrowheads="1"/>
          </p:cNvSpPr>
          <p:nvPr/>
        </p:nvSpPr>
        <p:spPr bwMode="auto">
          <a:xfrm>
            <a:off x="4419600" y="24384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12/13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897" name="Oval 17"/>
          <p:cNvSpPr>
            <a:spLocks noChangeAspect="1" noChangeArrowheads="1"/>
          </p:cNvSpPr>
          <p:nvPr/>
        </p:nvSpPr>
        <p:spPr bwMode="auto">
          <a:xfrm>
            <a:off x="4419600" y="14478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11/16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898" name="Oval 18"/>
          <p:cNvSpPr>
            <a:spLocks noChangeAspect="1" noChangeArrowheads="1"/>
          </p:cNvSpPr>
          <p:nvPr/>
        </p:nvSpPr>
        <p:spPr bwMode="auto">
          <a:xfrm>
            <a:off x="3200400" y="24384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14/15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899" name="Oval 19"/>
          <p:cNvSpPr>
            <a:spLocks noChangeAspect="1" noChangeArrowheads="1"/>
          </p:cNvSpPr>
          <p:nvPr/>
        </p:nvSpPr>
        <p:spPr bwMode="auto">
          <a:xfrm>
            <a:off x="3200400" y="14478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 1/10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900" name="Oval 20"/>
          <p:cNvSpPr>
            <a:spLocks noChangeAspect="1" noChangeArrowheads="1"/>
          </p:cNvSpPr>
          <p:nvPr/>
        </p:nvSpPr>
        <p:spPr bwMode="auto">
          <a:xfrm>
            <a:off x="1981200" y="14478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 2/9 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901" name="Oval 21"/>
          <p:cNvSpPr>
            <a:spLocks noChangeAspect="1" noChangeArrowheads="1"/>
          </p:cNvSpPr>
          <p:nvPr/>
        </p:nvSpPr>
        <p:spPr bwMode="auto">
          <a:xfrm>
            <a:off x="762000" y="1447800"/>
            <a:ext cx="609600" cy="3651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000" b="1">
                <a:solidFill>
                  <a:schemeClr val="bg1"/>
                </a:solidFill>
                <a:latin typeface="Times New Roman" charset="0"/>
                <a:cs typeface="+mn-cs"/>
              </a:rPr>
              <a:t> 3/6 </a:t>
            </a:r>
            <a:endParaRPr lang="en-GB" sz="2000" b="1">
              <a:solidFill>
                <a:schemeClr val="bg1"/>
              </a:solidFill>
              <a:latin typeface="Times New Roman" charset="0"/>
              <a:cs typeface="+mn-cs"/>
            </a:endParaRPr>
          </a:p>
        </p:txBody>
      </p:sp>
      <p:sp>
        <p:nvSpPr>
          <p:cNvPr id="506902" name="Text Box 22"/>
          <p:cNvSpPr txBox="1">
            <a:spLocks noChangeAspect="1" noChangeArrowheads="1"/>
          </p:cNvSpPr>
          <p:nvPr/>
        </p:nvSpPr>
        <p:spPr bwMode="auto">
          <a:xfrm>
            <a:off x="4648200" y="1111250"/>
            <a:ext cx="2032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t</a:t>
            </a:r>
          </a:p>
        </p:txBody>
      </p:sp>
      <p:sp>
        <p:nvSpPr>
          <p:cNvPr id="506903" name="Text Box 23"/>
          <p:cNvSpPr txBox="1">
            <a:spLocks noChangeAspect="1" noChangeArrowheads="1"/>
          </p:cNvSpPr>
          <p:nvPr/>
        </p:nvSpPr>
        <p:spPr bwMode="auto">
          <a:xfrm>
            <a:off x="4648200" y="2787650"/>
            <a:ext cx="26035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i="1">
                <a:latin typeface="Times New Roman" charset="0"/>
                <a:cs typeface="+mn-cs"/>
              </a:rPr>
              <a:t>u</a:t>
            </a:r>
          </a:p>
        </p:txBody>
      </p:sp>
      <p:sp>
        <p:nvSpPr>
          <p:cNvPr id="506904" name="Line 24"/>
          <p:cNvSpPr>
            <a:spLocks noChangeAspect="1" noChangeShapeType="1"/>
          </p:cNvSpPr>
          <p:nvPr/>
        </p:nvSpPr>
        <p:spPr bwMode="auto">
          <a:xfrm flipH="1">
            <a:off x="1524000" y="1676400"/>
            <a:ext cx="36512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05" name="Line 25"/>
          <p:cNvSpPr>
            <a:spLocks noChangeAspect="1" noChangeShapeType="1"/>
          </p:cNvSpPr>
          <p:nvPr/>
        </p:nvSpPr>
        <p:spPr bwMode="auto">
          <a:xfrm flipH="1">
            <a:off x="2743200" y="1676400"/>
            <a:ext cx="36512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06" name="Line 26"/>
          <p:cNvSpPr>
            <a:spLocks noChangeAspect="1" noChangeShapeType="1"/>
          </p:cNvSpPr>
          <p:nvPr/>
        </p:nvSpPr>
        <p:spPr bwMode="auto">
          <a:xfrm flipH="1">
            <a:off x="2743200" y="2667000"/>
            <a:ext cx="365125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07" name="Line 27"/>
          <p:cNvSpPr>
            <a:spLocks noChangeAspect="1" noChangeShapeType="1"/>
          </p:cNvSpPr>
          <p:nvPr/>
        </p:nvSpPr>
        <p:spPr bwMode="auto">
          <a:xfrm flipV="1">
            <a:off x="3944938" y="2667000"/>
            <a:ext cx="338137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08" name="Line 28"/>
          <p:cNvSpPr>
            <a:spLocks noChangeAspect="1" noChangeShapeType="1"/>
          </p:cNvSpPr>
          <p:nvPr/>
        </p:nvSpPr>
        <p:spPr bwMode="auto">
          <a:xfrm flipV="1">
            <a:off x="4876800" y="1905000"/>
            <a:ext cx="1588" cy="4270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09" name="Line 29"/>
          <p:cNvSpPr>
            <a:spLocks noChangeAspect="1" noChangeShapeType="1"/>
          </p:cNvSpPr>
          <p:nvPr/>
        </p:nvSpPr>
        <p:spPr bwMode="auto">
          <a:xfrm flipH="1">
            <a:off x="4724400" y="1905000"/>
            <a:ext cx="1588" cy="427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0" name="Line 30"/>
          <p:cNvSpPr>
            <a:spLocks noChangeAspect="1" noChangeShapeType="1"/>
          </p:cNvSpPr>
          <p:nvPr/>
        </p:nvSpPr>
        <p:spPr bwMode="auto">
          <a:xfrm flipH="1">
            <a:off x="3886200" y="1828800"/>
            <a:ext cx="487363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1" name="Line 31"/>
          <p:cNvSpPr>
            <a:spLocks noChangeAspect="1" noChangeShapeType="1"/>
          </p:cNvSpPr>
          <p:nvPr/>
        </p:nvSpPr>
        <p:spPr bwMode="auto">
          <a:xfrm>
            <a:off x="5943600" y="1770063"/>
            <a:ext cx="3651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2" name="Line 32"/>
          <p:cNvSpPr>
            <a:spLocks noChangeAspect="1" noChangeShapeType="1"/>
          </p:cNvSpPr>
          <p:nvPr/>
        </p:nvSpPr>
        <p:spPr bwMode="auto">
          <a:xfrm flipV="1">
            <a:off x="5943600" y="2074863"/>
            <a:ext cx="365125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3" name="Line 33"/>
          <p:cNvSpPr>
            <a:spLocks noChangeAspect="1" noChangeShapeType="1"/>
          </p:cNvSpPr>
          <p:nvPr/>
        </p:nvSpPr>
        <p:spPr bwMode="auto">
          <a:xfrm>
            <a:off x="5943600" y="2684463"/>
            <a:ext cx="365125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4" name="Line 34"/>
          <p:cNvSpPr>
            <a:spLocks noChangeAspect="1" noChangeShapeType="1"/>
          </p:cNvSpPr>
          <p:nvPr/>
        </p:nvSpPr>
        <p:spPr bwMode="auto">
          <a:xfrm>
            <a:off x="5943600" y="2379663"/>
            <a:ext cx="365125" cy="1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5" name="Text Box 35"/>
          <p:cNvSpPr txBox="1">
            <a:spLocks noChangeAspect="1" noChangeArrowheads="1"/>
          </p:cNvSpPr>
          <p:nvPr/>
        </p:nvSpPr>
        <p:spPr bwMode="auto">
          <a:xfrm>
            <a:off x="6477000" y="1600200"/>
            <a:ext cx="1447800" cy="137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lnSpc>
                <a:spcPct val="95000"/>
              </a:lnSpc>
              <a:defRPr/>
            </a:pPr>
            <a:r>
              <a:rPr lang="it-IT" sz="2000">
                <a:latin typeface="Times New Roman" charset="0"/>
                <a:cs typeface="+mn-cs"/>
              </a:rPr>
              <a:t>d’albero</a:t>
            </a:r>
          </a:p>
          <a:p>
            <a:pPr eaLnBrk="0" hangingPunct="0">
              <a:lnSpc>
                <a:spcPct val="95000"/>
              </a:lnSpc>
              <a:defRPr/>
            </a:pPr>
            <a:r>
              <a:rPr lang="it-IT" sz="2000">
                <a:latin typeface="Times New Roman" charset="0"/>
                <a:cs typeface="+mn-cs"/>
              </a:rPr>
              <a:t>all’indietro</a:t>
            </a:r>
          </a:p>
          <a:p>
            <a:pPr eaLnBrk="0" hangingPunct="0">
              <a:lnSpc>
                <a:spcPct val="95000"/>
              </a:lnSpc>
              <a:defRPr/>
            </a:pPr>
            <a:r>
              <a:rPr lang="it-IT" sz="2000">
                <a:latin typeface="Times New Roman" charset="0"/>
                <a:cs typeface="+mn-cs"/>
              </a:rPr>
              <a:t>in avanti</a:t>
            </a:r>
          </a:p>
          <a:p>
            <a:pPr eaLnBrk="0" hangingPunct="0">
              <a:lnSpc>
                <a:spcPct val="95000"/>
              </a:lnSpc>
              <a:defRPr/>
            </a:pPr>
            <a:r>
              <a:rPr lang="it-IT" sz="2000">
                <a:latin typeface="Times New Roman" charset="0"/>
                <a:cs typeface="+mn-cs"/>
              </a:rPr>
              <a:t>trasversali</a:t>
            </a:r>
            <a:endParaRPr lang="en-GB" sz="2000">
              <a:latin typeface="Times New Roman" charset="0"/>
              <a:cs typeface="+mn-cs"/>
            </a:endParaRPr>
          </a:p>
        </p:txBody>
      </p:sp>
      <p:sp>
        <p:nvSpPr>
          <p:cNvPr id="506916" name="Line 36"/>
          <p:cNvSpPr>
            <a:spLocks noChangeAspect="1" noChangeShapeType="1"/>
          </p:cNvSpPr>
          <p:nvPr/>
        </p:nvSpPr>
        <p:spPr bwMode="auto">
          <a:xfrm flipV="1">
            <a:off x="5334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7" name="Line 37"/>
          <p:cNvSpPr>
            <a:spLocks noChangeAspect="1" noChangeShapeType="1"/>
          </p:cNvSpPr>
          <p:nvPr/>
        </p:nvSpPr>
        <p:spPr bwMode="auto">
          <a:xfrm flipV="1">
            <a:off x="10668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8" name="Line 38"/>
          <p:cNvSpPr>
            <a:spLocks noChangeAspect="1" noChangeShapeType="1"/>
          </p:cNvSpPr>
          <p:nvPr/>
        </p:nvSpPr>
        <p:spPr bwMode="auto">
          <a:xfrm flipV="1">
            <a:off x="16002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19" name="Line 39"/>
          <p:cNvSpPr>
            <a:spLocks noChangeAspect="1" noChangeShapeType="1"/>
          </p:cNvSpPr>
          <p:nvPr/>
        </p:nvSpPr>
        <p:spPr bwMode="auto">
          <a:xfrm flipV="1">
            <a:off x="21336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0" name="Line 40"/>
          <p:cNvSpPr>
            <a:spLocks noChangeAspect="1" noChangeShapeType="1"/>
          </p:cNvSpPr>
          <p:nvPr/>
        </p:nvSpPr>
        <p:spPr bwMode="auto">
          <a:xfrm flipV="1">
            <a:off x="26670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1" name="Line 41"/>
          <p:cNvSpPr>
            <a:spLocks noChangeAspect="1" noChangeShapeType="1"/>
          </p:cNvSpPr>
          <p:nvPr/>
        </p:nvSpPr>
        <p:spPr bwMode="auto">
          <a:xfrm flipV="1">
            <a:off x="32004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2" name="Line 42"/>
          <p:cNvSpPr>
            <a:spLocks noChangeAspect="1" noChangeShapeType="1"/>
          </p:cNvSpPr>
          <p:nvPr/>
        </p:nvSpPr>
        <p:spPr bwMode="auto">
          <a:xfrm flipV="1">
            <a:off x="37338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3" name="Line 43"/>
          <p:cNvSpPr>
            <a:spLocks noChangeAspect="1" noChangeShapeType="1"/>
          </p:cNvSpPr>
          <p:nvPr/>
        </p:nvSpPr>
        <p:spPr bwMode="auto">
          <a:xfrm flipV="1">
            <a:off x="42672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4" name="Line 44"/>
          <p:cNvSpPr>
            <a:spLocks noChangeAspect="1" noChangeShapeType="1"/>
          </p:cNvSpPr>
          <p:nvPr/>
        </p:nvSpPr>
        <p:spPr bwMode="auto">
          <a:xfrm flipV="1">
            <a:off x="48006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5" name="Line 45"/>
          <p:cNvSpPr>
            <a:spLocks noChangeAspect="1" noChangeShapeType="1"/>
          </p:cNvSpPr>
          <p:nvPr/>
        </p:nvSpPr>
        <p:spPr bwMode="auto">
          <a:xfrm flipV="1">
            <a:off x="53340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6" name="Line 46"/>
          <p:cNvSpPr>
            <a:spLocks noChangeAspect="1" noChangeShapeType="1"/>
          </p:cNvSpPr>
          <p:nvPr/>
        </p:nvSpPr>
        <p:spPr bwMode="auto">
          <a:xfrm flipV="1">
            <a:off x="58674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7" name="Line 47"/>
          <p:cNvSpPr>
            <a:spLocks noChangeAspect="1" noChangeShapeType="1"/>
          </p:cNvSpPr>
          <p:nvPr/>
        </p:nvSpPr>
        <p:spPr bwMode="auto">
          <a:xfrm flipV="1">
            <a:off x="64008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8" name="Line 48"/>
          <p:cNvSpPr>
            <a:spLocks noChangeAspect="1" noChangeShapeType="1"/>
          </p:cNvSpPr>
          <p:nvPr/>
        </p:nvSpPr>
        <p:spPr bwMode="auto">
          <a:xfrm flipV="1">
            <a:off x="69342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29" name="Line 49"/>
          <p:cNvSpPr>
            <a:spLocks noChangeAspect="1" noChangeShapeType="1"/>
          </p:cNvSpPr>
          <p:nvPr/>
        </p:nvSpPr>
        <p:spPr bwMode="auto">
          <a:xfrm flipV="1">
            <a:off x="74676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30" name="Line 50"/>
          <p:cNvSpPr>
            <a:spLocks noChangeAspect="1" noChangeShapeType="1"/>
          </p:cNvSpPr>
          <p:nvPr/>
        </p:nvSpPr>
        <p:spPr bwMode="auto">
          <a:xfrm flipV="1">
            <a:off x="80010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31" name="Line 51"/>
          <p:cNvSpPr>
            <a:spLocks noChangeAspect="1" noChangeShapeType="1"/>
          </p:cNvSpPr>
          <p:nvPr/>
        </p:nvSpPr>
        <p:spPr bwMode="auto">
          <a:xfrm flipV="1">
            <a:off x="8534400" y="3048000"/>
            <a:ext cx="1588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32" name="Text Box 52"/>
          <p:cNvSpPr txBox="1">
            <a:spLocks noChangeAspect="1" noChangeArrowheads="1"/>
          </p:cNvSpPr>
          <p:nvPr/>
        </p:nvSpPr>
        <p:spPr bwMode="auto">
          <a:xfrm>
            <a:off x="315913" y="6005513"/>
            <a:ext cx="4891087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>
                <a:latin typeface="Times New Roman" charset="0"/>
                <a:cs typeface="+mn-cs"/>
              </a:rPr>
              <a:t> (</a:t>
            </a:r>
            <a:r>
              <a:rPr lang="it-IT" sz="2000" b="1" i="1" baseline="-25000">
                <a:latin typeface="Times New Roman" charset="0"/>
                <a:cs typeface="+mn-cs"/>
              </a:rPr>
              <a:t>s</a:t>
            </a:r>
            <a:r>
              <a:rPr lang="it-IT" sz="2000" b="1">
                <a:latin typeface="Times New Roman" charset="0"/>
                <a:cs typeface="+mn-cs"/>
              </a:rPr>
              <a:t>    (</a:t>
            </a:r>
            <a:r>
              <a:rPr lang="it-IT" sz="2000" b="1" i="1" baseline="-25000">
                <a:latin typeface="Times New Roman" charset="0"/>
                <a:cs typeface="+mn-cs"/>
              </a:rPr>
              <a:t>w</a:t>
            </a:r>
            <a:r>
              <a:rPr lang="it-IT" sz="2000" b="1">
                <a:latin typeface="Times New Roman" charset="0"/>
                <a:cs typeface="+mn-cs"/>
              </a:rPr>
              <a:t>   (</a:t>
            </a:r>
            <a:r>
              <a:rPr lang="it-IT" sz="2000" b="1" i="1" baseline="-25000">
                <a:latin typeface="Times New Roman" charset="0"/>
                <a:cs typeface="+mn-cs"/>
              </a:rPr>
              <a:t>x</a:t>
            </a:r>
            <a:r>
              <a:rPr lang="it-IT" sz="2000" b="1">
                <a:latin typeface="Times New Roman" charset="0"/>
                <a:cs typeface="+mn-cs"/>
              </a:rPr>
              <a:t>   (</a:t>
            </a:r>
            <a:r>
              <a:rPr lang="it-IT" sz="2000" b="1" i="1" baseline="-25000">
                <a:latin typeface="Times New Roman" charset="0"/>
                <a:cs typeface="+mn-cs"/>
              </a:rPr>
              <a:t>y</a:t>
            </a:r>
            <a:r>
              <a:rPr lang="it-IT" sz="2000" b="1">
                <a:latin typeface="Times New Roman" charset="0"/>
                <a:cs typeface="+mn-cs"/>
              </a:rPr>
              <a:t>   </a:t>
            </a:r>
            <a:r>
              <a:rPr lang="it-IT" sz="2000" b="1" i="1" baseline="-25000">
                <a:latin typeface="Times New Roman" charset="0"/>
                <a:cs typeface="+mn-cs"/>
              </a:rPr>
              <a:t>y</a:t>
            </a:r>
            <a:r>
              <a:rPr lang="it-IT" sz="2000" b="1">
                <a:latin typeface="Times New Roman" charset="0"/>
                <a:cs typeface="+mn-cs"/>
              </a:rPr>
              <a:t>)   </a:t>
            </a:r>
            <a:r>
              <a:rPr lang="it-IT" sz="2000" b="1" i="1" baseline="-25000">
                <a:latin typeface="Times New Roman" charset="0"/>
                <a:cs typeface="+mn-cs"/>
              </a:rPr>
              <a:t>x</a:t>
            </a:r>
            <a:r>
              <a:rPr lang="it-IT" sz="2000" b="1">
                <a:latin typeface="Times New Roman" charset="0"/>
                <a:cs typeface="+mn-cs"/>
              </a:rPr>
              <a:t>)   (</a:t>
            </a:r>
            <a:r>
              <a:rPr lang="it-IT" sz="2000" b="1" i="1" baseline="-25000">
                <a:latin typeface="Times New Roman" charset="0"/>
                <a:cs typeface="+mn-cs"/>
              </a:rPr>
              <a:t>z</a:t>
            </a:r>
            <a:r>
              <a:rPr lang="it-IT" sz="2000" b="1">
                <a:latin typeface="Times New Roman" charset="0"/>
                <a:cs typeface="+mn-cs"/>
              </a:rPr>
              <a:t>   </a:t>
            </a:r>
            <a:r>
              <a:rPr lang="it-IT" sz="2000" b="1" i="1" baseline="-25000">
                <a:latin typeface="Times New Roman" charset="0"/>
                <a:cs typeface="+mn-cs"/>
              </a:rPr>
              <a:t>z</a:t>
            </a:r>
            <a:r>
              <a:rPr lang="it-IT" sz="2000" b="1">
                <a:latin typeface="Times New Roman" charset="0"/>
                <a:cs typeface="+mn-cs"/>
              </a:rPr>
              <a:t>)   </a:t>
            </a:r>
            <a:r>
              <a:rPr lang="it-IT" sz="2000" b="1" i="1" baseline="-25000">
                <a:latin typeface="Times New Roman" charset="0"/>
                <a:cs typeface="+mn-cs"/>
              </a:rPr>
              <a:t>w</a:t>
            </a:r>
            <a:r>
              <a:rPr lang="it-IT" sz="2000" b="1">
                <a:latin typeface="Times New Roman" charset="0"/>
                <a:cs typeface="+mn-cs"/>
              </a:rPr>
              <a:t>)   </a:t>
            </a:r>
            <a:r>
              <a:rPr lang="it-IT" sz="2000" b="1" i="1" baseline="-25000">
                <a:latin typeface="Times New Roman" charset="0"/>
                <a:cs typeface="+mn-cs"/>
              </a:rPr>
              <a:t>s</a:t>
            </a:r>
            <a:r>
              <a:rPr lang="it-IT" sz="2000" b="1">
                <a:latin typeface="Times New Roman" charset="0"/>
                <a:cs typeface="+mn-cs"/>
              </a:rPr>
              <a:t>)    (</a:t>
            </a:r>
            <a:r>
              <a:rPr lang="it-IT" sz="2000" b="1" i="1" baseline="-25000">
                <a:latin typeface="Times New Roman" charset="0"/>
                <a:cs typeface="+mn-cs"/>
              </a:rPr>
              <a:t>t</a:t>
            </a:r>
            <a:r>
              <a:rPr lang="it-IT" sz="2000" b="1">
                <a:latin typeface="Times New Roman" charset="0"/>
                <a:cs typeface="+mn-cs"/>
              </a:rPr>
              <a:t>    (</a:t>
            </a:r>
            <a:r>
              <a:rPr lang="it-IT" sz="2000" b="1" i="1" baseline="-25000">
                <a:latin typeface="Times New Roman" charset="0"/>
                <a:cs typeface="+mn-cs"/>
              </a:rPr>
              <a:t>u</a:t>
            </a:r>
            <a:r>
              <a:rPr lang="it-IT" sz="2000" b="1">
                <a:latin typeface="Times New Roman" charset="0"/>
                <a:cs typeface="+mn-cs"/>
              </a:rPr>
              <a:t>    </a:t>
            </a:r>
            <a:r>
              <a:rPr lang="it-IT" sz="2000" b="1" i="1" baseline="-25000">
                <a:latin typeface="Times New Roman" charset="0"/>
                <a:cs typeface="+mn-cs"/>
              </a:rPr>
              <a:t>u</a:t>
            </a:r>
            <a:r>
              <a:rPr lang="it-IT" sz="2000" b="1">
                <a:latin typeface="Times New Roman" charset="0"/>
                <a:cs typeface="+mn-cs"/>
              </a:rPr>
              <a:t>)   (</a:t>
            </a:r>
            <a:r>
              <a:rPr lang="it-IT" sz="2000" b="1" i="1" baseline="-25000">
                <a:latin typeface="Times New Roman" charset="0"/>
                <a:cs typeface="+mn-cs"/>
              </a:rPr>
              <a:t>v</a:t>
            </a:r>
            <a:r>
              <a:rPr lang="it-IT" sz="2000" b="1">
                <a:latin typeface="Times New Roman" charset="0"/>
                <a:cs typeface="+mn-cs"/>
              </a:rPr>
              <a:t>    </a:t>
            </a:r>
            <a:r>
              <a:rPr lang="it-IT" sz="2000" b="1" i="1" baseline="-25000">
                <a:latin typeface="Times New Roman" charset="0"/>
                <a:cs typeface="+mn-cs"/>
              </a:rPr>
              <a:t>v</a:t>
            </a:r>
            <a:r>
              <a:rPr lang="it-IT" sz="2000" b="1">
                <a:latin typeface="Times New Roman" charset="0"/>
                <a:cs typeface="+mn-cs"/>
              </a:rPr>
              <a:t>)    </a:t>
            </a:r>
            <a:r>
              <a:rPr lang="it-IT" sz="2000" b="1" i="1" baseline="-25000">
                <a:latin typeface="Times New Roman" charset="0"/>
                <a:cs typeface="+mn-cs"/>
              </a:rPr>
              <a:t>t</a:t>
            </a:r>
            <a:r>
              <a:rPr lang="it-IT" sz="2000" b="1">
                <a:latin typeface="Times New Roman" charset="0"/>
                <a:cs typeface="+mn-cs"/>
              </a:rPr>
              <a:t>) </a:t>
            </a:r>
            <a:endParaRPr lang="en-GB" sz="2000" b="1">
              <a:latin typeface="Times New Roman" charset="0"/>
              <a:cs typeface="+mn-cs"/>
            </a:endParaRPr>
          </a:p>
        </p:txBody>
      </p:sp>
      <p:sp>
        <p:nvSpPr>
          <p:cNvPr id="506933" name="Text Box 53"/>
          <p:cNvSpPr txBox="1">
            <a:spLocks noChangeAspect="1" noChangeArrowheads="1"/>
          </p:cNvSpPr>
          <p:nvPr/>
        </p:nvSpPr>
        <p:spPr bwMode="auto">
          <a:xfrm>
            <a:off x="457200" y="5638800"/>
            <a:ext cx="6751638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hangingPunct="0">
              <a:defRPr/>
            </a:pPr>
            <a:r>
              <a:rPr lang="it-IT" sz="2000" b="1" dirty="0">
                <a:latin typeface="Times New Roman" charset="0"/>
                <a:cs typeface="+mn-cs"/>
              </a:rPr>
              <a:t>1      2      3      4      5      6      7      8      9     10     11     12     13     14     15     16 </a:t>
            </a:r>
            <a:endParaRPr lang="en-GB" sz="2000" b="1" dirty="0">
              <a:latin typeface="Times New Roman" charset="0"/>
              <a:cs typeface="+mn-cs"/>
            </a:endParaRPr>
          </a:p>
        </p:txBody>
      </p:sp>
      <p:sp>
        <p:nvSpPr>
          <p:cNvPr id="506934" name="Rectangle 54"/>
          <p:cNvSpPr>
            <a:spLocks noChangeAspect="1" noChangeArrowheads="1"/>
          </p:cNvSpPr>
          <p:nvPr/>
        </p:nvSpPr>
        <p:spPr bwMode="auto">
          <a:xfrm>
            <a:off x="533400" y="3124200"/>
            <a:ext cx="4787900" cy="304800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>
                <a:latin typeface="Times New Roman" charset="0"/>
                <a:cs typeface="+mn-cs"/>
              </a:rPr>
              <a:t>s</a:t>
            </a:r>
            <a:endParaRPr lang="en-GB" sz="2000" b="1" i="1">
              <a:latin typeface="Times New Roman" charset="0"/>
              <a:cs typeface="+mn-cs"/>
            </a:endParaRPr>
          </a:p>
        </p:txBody>
      </p:sp>
      <p:sp>
        <p:nvSpPr>
          <p:cNvPr id="506935" name="Rectangle 55"/>
          <p:cNvSpPr>
            <a:spLocks noChangeAspect="1" noChangeArrowheads="1"/>
          </p:cNvSpPr>
          <p:nvPr/>
        </p:nvSpPr>
        <p:spPr bwMode="auto">
          <a:xfrm>
            <a:off x="1066800" y="3886200"/>
            <a:ext cx="3792538" cy="311150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>
                <a:latin typeface="Times New Roman" charset="0"/>
                <a:cs typeface="+mn-cs"/>
              </a:rPr>
              <a:t>w</a:t>
            </a:r>
            <a:endParaRPr lang="en-GB" sz="2000" b="1" i="1">
              <a:latin typeface="Times New Roman" charset="0"/>
              <a:cs typeface="+mn-cs"/>
            </a:endParaRPr>
          </a:p>
        </p:txBody>
      </p:sp>
      <p:sp>
        <p:nvSpPr>
          <p:cNvPr id="506936" name="Rectangle 56"/>
          <p:cNvSpPr>
            <a:spLocks noChangeAspect="1" noChangeArrowheads="1"/>
          </p:cNvSpPr>
          <p:nvPr/>
        </p:nvSpPr>
        <p:spPr bwMode="auto">
          <a:xfrm>
            <a:off x="1600200" y="4648200"/>
            <a:ext cx="1533525" cy="293688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>
                <a:latin typeface="Times New Roman" charset="0"/>
                <a:cs typeface="+mn-cs"/>
              </a:rPr>
              <a:t>x</a:t>
            </a:r>
            <a:endParaRPr lang="en-GB" sz="2000" b="1" i="1">
              <a:latin typeface="Times New Roman" charset="0"/>
              <a:cs typeface="+mn-cs"/>
            </a:endParaRPr>
          </a:p>
        </p:txBody>
      </p:sp>
      <p:sp>
        <p:nvSpPr>
          <p:cNvPr id="506937" name="Rectangle 57"/>
          <p:cNvSpPr>
            <a:spLocks noChangeAspect="1" noChangeArrowheads="1"/>
          </p:cNvSpPr>
          <p:nvPr/>
        </p:nvSpPr>
        <p:spPr bwMode="auto">
          <a:xfrm>
            <a:off x="3733800" y="4648200"/>
            <a:ext cx="550863" cy="314325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 dirty="0" err="1">
                <a:latin typeface="Times New Roman" charset="0"/>
                <a:cs typeface="+mn-cs"/>
              </a:rPr>
              <a:t>z</a:t>
            </a:r>
            <a:endParaRPr lang="en-GB" sz="2000" b="1" i="1" dirty="0">
              <a:latin typeface="Times New Roman" charset="0"/>
              <a:cs typeface="+mn-cs"/>
            </a:endParaRPr>
          </a:p>
        </p:txBody>
      </p:sp>
      <p:sp>
        <p:nvSpPr>
          <p:cNvPr id="506938" name="Rectangle 58"/>
          <p:cNvSpPr>
            <a:spLocks noChangeAspect="1" noChangeArrowheads="1"/>
          </p:cNvSpPr>
          <p:nvPr/>
        </p:nvSpPr>
        <p:spPr bwMode="auto">
          <a:xfrm>
            <a:off x="2133600" y="5410200"/>
            <a:ext cx="566738" cy="323850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60000"/>
              </a:lnSpc>
              <a:defRPr/>
            </a:pPr>
            <a:r>
              <a:rPr lang="it-IT" sz="2000" b="1" i="1" dirty="0">
                <a:latin typeface="Times New Roman" charset="0"/>
                <a:cs typeface="+mn-cs"/>
              </a:rPr>
              <a:t>y</a:t>
            </a:r>
            <a:endParaRPr lang="en-GB" sz="2000" b="1" i="1" dirty="0">
              <a:latin typeface="Times New Roman" charset="0"/>
              <a:cs typeface="+mn-cs"/>
            </a:endParaRPr>
          </a:p>
        </p:txBody>
      </p:sp>
      <p:sp>
        <p:nvSpPr>
          <p:cNvPr id="506939" name="Rectangle 59"/>
          <p:cNvSpPr>
            <a:spLocks noChangeAspect="1" noChangeArrowheads="1"/>
          </p:cNvSpPr>
          <p:nvPr/>
        </p:nvSpPr>
        <p:spPr bwMode="auto">
          <a:xfrm>
            <a:off x="5867400" y="3124200"/>
            <a:ext cx="2660650" cy="304800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>
                <a:latin typeface="Times New Roman" charset="0"/>
                <a:cs typeface="+mn-cs"/>
              </a:rPr>
              <a:t>t</a:t>
            </a:r>
            <a:endParaRPr lang="en-GB" sz="2000" b="1" i="1">
              <a:latin typeface="Times New Roman" charset="0"/>
              <a:cs typeface="+mn-cs"/>
            </a:endParaRPr>
          </a:p>
        </p:txBody>
      </p:sp>
      <p:sp>
        <p:nvSpPr>
          <p:cNvPr id="506940" name="Rectangle 60"/>
          <p:cNvSpPr>
            <a:spLocks noChangeAspect="1" noChangeArrowheads="1"/>
          </p:cNvSpPr>
          <p:nvPr/>
        </p:nvSpPr>
        <p:spPr bwMode="auto">
          <a:xfrm>
            <a:off x="6400800" y="3886200"/>
            <a:ext cx="584200" cy="334963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>
                <a:latin typeface="Times New Roman" charset="0"/>
                <a:cs typeface="+mn-cs"/>
              </a:rPr>
              <a:t>u</a:t>
            </a:r>
            <a:endParaRPr lang="en-GB" sz="2000" b="1" i="1">
              <a:latin typeface="Times New Roman" charset="0"/>
              <a:cs typeface="+mn-cs"/>
            </a:endParaRPr>
          </a:p>
        </p:txBody>
      </p:sp>
      <p:sp>
        <p:nvSpPr>
          <p:cNvPr id="506941" name="Rectangle 61"/>
          <p:cNvSpPr>
            <a:spLocks noChangeAspect="1" noChangeArrowheads="1"/>
          </p:cNvSpPr>
          <p:nvPr/>
        </p:nvSpPr>
        <p:spPr bwMode="auto">
          <a:xfrm>
            <a:off x="7467600" y="3886200"/>
            <a:ext cx="584200" cy="334963"/>
          </a:xfrm>
          <a:prstGeom prst="rect">
            <a:avLst/>
          </a:prstGeom>
          <a:solidFill>
            <a:schemeClr val="accent1"/>
          </a:solidFill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defRPr/>
            </a:pPr>
            <a:r>
              <a:rPr lang="it-IT" sz="2000" b="1" i="1" dirty="0">
                <a:latin typeface="Times New Roman" charset="0"/>
                <a:cs typeface="+mn-cs"/>
              </a:rPr>
              <a:t>v</a:t>
            </a:r>
            <a:endParaRPr lang="en-GB" sz="2000" b="1" i="1" dirty="0">
              <a:latin typeface="Times New Roman" charset="0"/>
              <a:cs typeface="+mn-cs"/>
            </a:endParaRPr>
          </a:p>
        </p:txBody>
      </p:sp>
      <p:sp>
        <p:nvSpPr>
          <p:cNvPr id="506942" name="Line 62"/>
          <p:cNvSpPr>
            <a:spLocks noChangeAspect="1" noChangeShapeType="1"/>
          </p:cNvSpPr>
          <p:nvPr/>
        </p:nvSpPr>
        <p:spPr bwMode="auto">
          <a:xfrm>
            <a:off x="2971800" y="3429000"/>
            <a:ext cx="1588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3" name="Line 63"/>
          <p:cNvSpPr>
            <a:spLocks noChangeAspect="1" noChangeShapeType="1"/>
          </p:cNvSpPr>
          <p:nvPr/>
        </p:nvSpPr>
        <p:spPr bwMode="auto">
          <a:xfrm>
            <a:off x="2438400" y="4953000"/>
            <a:ext cx="1588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4" name="Line 64"/>
          <p:cNvSpPr>
            <a:spLocks noChangeAspect="1" noChangeShapeType="1"/>
          </p:cNvSpPr>
          <p:nvPr/>
        </p:nvSpPr>
        <p:spPr bwMode="auto">
          <a:xfrm flipH="1">
            <a:off x="2438400" y="4191000"/>
            <a:ext cx="427038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5" name="Line 65"/>
          <p:cNvSpPr>
            <a:spLocks noChangeAspect="1" noChangeShapeType="1"/>
          </p:cNvSpPr>
          <p:nvPr/>
        </p:nvSpPr>
        <p:spPr bwMode="auto">
          <a:xfrm>
            <a:off x="2971800" y="4191000"/>
            <a:ext cx="854075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6" name="Line 66"/>
          <p:cNvSpPr>
            <a:spLocks noChangeAspect="1" noChangeShapeType="1"/>
          </p:cNvSpPr>
          <p:nvPr/>
        </p:nvSpPr>
        <p:spPr bwMode="auto">
          <a:xfrm flipH="1">
            <a:off x="6629400" y="3429000"/>
            <a:ext cx="427038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7" name="Line 67"/>
          <p:cNvSpPr>
            <a:spLocks noChangeAspect="1" noChangeShapeType="1"/>
          </p:cNvSpPr>
          <p:nvPr/>
        </p:nvSpPr>
        <p:spPr bwMode="auto">
          <a:xfrm>
            <a:off x="7162800" y="3429000"/>
            <a:ext cx="487363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8" name="Line 68"/>
          <p:cNvSpPr>
            <a:spLocks noChangeAspect="1" noChangeShapeType="1"/>
          </p:cNvSpPr>
          <p:nvPr/>
        </p:nvSpPr>
        <p:spPr bwMode="auto">
          <a:xfrm flipH="1" flipV="1">
            <a:off x="1828800" y="4191000"/>
            <a:ext cx="365125" cy="974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49" name="Line 69"/>
          <p:cNvSpPr>
            <a:spLocks noChangeAspect="1" noChangeShapeType="1"/>
          </p:cNvSpPr>
          <p:nvPr/>
        </p:nvSpPr>
        <p:spPr bwMode="auto">
          <a:xfrm>
            <a:off x="3581400" y="3429000"/>
            <a:ext cx="427038" cy="9747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0" name="Line 70"/>
          <p:cNvSpPr>
            <a:spLocks noChangeAspect="1" noChangeShapeType="1"/>
          </p:cNvSpPr>
          <p:nvPr/>
        </p:nvSpPr>
        <p:spPr bwMode="auto">
          <a:xfrm flipH="1">
            <a:off x="2644775" y="4800600"/>
            <a:ext cx="871538" cy="6445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1" name="Line 71"/>
          <p:cNvSpPr>
            <a:spLocks noChangeAspect="1" noChangeShapeType="1"/>
          </p:cNvSpPr>
          <p:nvPr/>
        </p:nvSpPr>
        <p:spPr bwMode="auto">
          <a:xfrm flipH="1">
            <a:off x="4267200" y="4191000"/>
            <a:ext cx="2743200" cy="487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2" name="Line 72"/>
          <p:cNvSpPr>
            <a:spLocks noChangeAspect="1" noChangeShapeType="1"/>
          </p:cNvSpPr>
          <p:nvPr/>
        </p:nvSpPr>
        <p:spPr bwMode="auto">
          <a:xfrm flipH="1" flipV="1">
            <a:off x="4572000" y="3429000"/>
            <a:ext cx="2378075" cy="3651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3" name="Line 73"/>
          <p:cNvSpPr>
            <a:spLocks noChangeAspect="1" noChangeShapeType="1"/>
          </p:cNvSpPr>
          <p:nvPr/>
        </p:nvSpPr>
        <p:spPr bwMode="auto">
          <a:xfrm flipH="1" flipV="1">
            <a:off x="6962775" y="4038600"/>
            <a:ext cx="395288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4" name="Line 74"/>
          <p:cNvSpPr>
            <a:spLocks noChangeAspect="1" noChangeShapeType="1"/>
          </p:cNvSpPr>
          <p:nvPr/>
        </p:nvSpPr>
        <p:spPr bwMode="auto">
          <a:xfrm flipV="1">
            <a:off x="6542088" y="3429000"/>
            <a:ext cx="225425" cy="3651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06956" name="Rectangle 7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DFS: Classificazione degli archi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7" name="Text Box 3"/>
          <p:cNvSpPr txBox="1">
            <a:spLocks noChangeArrowheads="1"/>
          </p:cNvSpPr>
          <p:nvPr/>
        </p:nvSpPr>
        <p:spPr bwMode="auto">
          <a:xfrm>
            <a:off x="457200" y="1600200"/>
            <a:ext cx="82296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La ricerca in profondità si può usare per ordinare topologicamente un </a:t>
            </a:r>
            <a:r>
              <a:rPr lang="it-IT" sz="2400" i="1" u="sng" dirty="0">
                <a:solidFill>
                  <a:srgbClr val="201FF0"/>
                </a:solidFill>
                <a:latin typeface="+mn-lt"/>
                <a:cs typeface="+mn-cs"/>
              </a:rPr>
              <a:t>grafo orientato aciclico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(detto anche </a:t>
            </a:r>
            <a:r>
              <a:rPr lang="it-IT" sz="2400" i="1" u="sng" dirty="0">
                <a:solidFill>
                  <a:srgbClr val="201FF0"/>
                </a:solidFill>
                <a:latin typeface="+mn-lt"/>
                <a:cs typeface="+mn-cs"/>
              </a:rPr>
              <a:t>DAG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: </a:t>
            </a:r>
            <a:r>
              <a:rPr lang="it-IT" sz="2400" i="1" u="sng" dirty="0" err="1">
                <a:solidFill>
                  <a:srgbClr val="201FF0"/>
                </a:solidFill>
                <a:latin typeface="+mn-lt"/>
                <a:cs typeface="+mn-cs"/>
              </a:rPr>
              <a:t>D</a:t>
            </a:r>
            <a:r>
              <a:rPr lang="it-IT" sz="2400" dirty="0" err="1">
                <a:solidFill>
                  <a:srgbClr val="201FF0"/>
                </a:solidFill>
                <a:latin typeface="+mn-lt"/>
                <a:cs typeface="+mn-cs"/>
              </a:rPr>
              <a:t>irected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  <a:r>
              <a:rPr lang="it-IT" sz="2400" i="1" u="sng" dirty="0" err="1">
                <a:solidFill>
                  <a:srgbClr val="201FF0"/>
                </a:solidFill>
                <a:latin typeface="+mn-lt"/>
                <a:cs typeface="+mn-cs"/>
              </a:rPr>
              <a:t>A</a:t>
            </a:r>
            <a:r>
              <a:rPr lang="it-IT" sz="2400" dirty="0" err="1">
                <a:solidFill>
                  <a:srgbClr val="201FF0"/>
                </a:solidFill>
                <a:latin typeface="+mn-lt"/>
                <a:cs typeface="+mn-cs"/>
              </a:rPr>
              <a:t>cyclic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</a:t>
            </a:r>
            <a:r>
              <a:rPr lang="it-IT" sz="2400" i="1" u="sng" dirty="0" err="1">
                <a:solidFill>
                  <a:srgbClr val="201FF0"/>
                </a:solidFill>
                <a:latin typeface="+mn-lt"/>
                <a:cs typeface="+mn-cs"/>
              </a:rPr>
              <a:t>G</a:t>
            </a:r>
            <a:r>
              <a:rPr lang="it-IT" sz="2400" dirty="0" err="1">
                <a:solidFill>
                  <a:srgbClr val="201FF0"/>
                </a:solidFill>
                <a:latin typeface="+mn-lt"/>
                <a:cs typeface="+mn-cs"/>
              </a:rPr>
              <a:t>raph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)</a:t>
            </a: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</a:t>
            </a:r>
          </a:p>
        </p:txBody>
      </p:sp>
      <p:sp>
        <p:nvSpPr>
          <p:cNvPr id="507909" name="Text Box 5"/>
          <p:cNvSpPr txBox="1">
            <a:spLocks noChangeArrowheads="1"/>
          </p:cNvSpPr>
          <p:nvPr/>
        </p:nvSpPr>
        <p:spPr bwMode="auto">
          <a:xfrm>
            <a:off x="457200" y="3276600"/>
            <a:ext cx="82296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Un </a:t>
            </a:r>
            <a:r>
              <a:rPr lang="it-IT" sz="2400" i="1" u="sng" dirty="0">
                <a:solidFill>
                  <a:srgbClr val="201FF0"/>
                </a:solidFill>
                <a:latin typeface="+mn-lt"/>
                <a:cs typeface="+mn-cs"/>
              </a:rPr>
              <a:t>ordinamento topologico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di un grafo orientato aciclico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G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= (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V,E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)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è un ordinamento dei suoi vertici tale che per ogni arco </a:t>
            </a:r>
            <a:r>
              <a:rPr lang="it-IT" sz="2400" b="1" i="1" dirty="0" err="1">
                <a:solidFill>
                  <a:srgbClr val="FF0000"/>
                </a:solidFill>
                <a:latin typeface="+mn-lt"/>
                <a:cs typeface="+mn-cs"/>
              </a:rPr>
              <a:t>uv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  <a:sym typeface="Symbol" charset="0"/>
              </a:rPr>
              <a:t>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E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il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precede il vertice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Text Box 2"/>
          <p:cNvSpPr txBox="1">
            <a:spLocks noChangeArrowheads="1"/>
          </p:cNvSpPr>
          <p:nvPr/>
        </p:nvSpPr>
        <p:spPr bwMode="auto">
          <a:xfrm>
            <a:off x="609600" y="1447800"/>
            <a:ext cx="8054975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L’ordinamento topologico si usa per determinare un ordine in cui eseguire un insieme di attività in presenza di vincoli di propedeuticità.</a:t>
            </a:r>
          </a:p>
        </p:txBody>
      </p:sp>
      <p:sp>
        <p:nvSpPr>
          <p:cNvPr id="508931" name="Text Box 3"/>
          <p:cNvSpPr txBox="1">
            <a:spLocks noChangeArrowheads="1"/>
          </p:cNvSpPr>
          <p:nvPr/>
        </p:nvSpPr>
        <p:spPr bwMode="auto">
          <a:xfrm>
            <a:off x="561975" y="3505200"/>
            <a:ext cx="80549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Alcuni esempi semplici sono l’ordine con cui indossare gli indumenti quando ci si veste, l’ordine con cui sostenere gli esami, l’ordine con cui assemblare le parti di una automobile, ecc.</a:t>
            </a:r>
          </a:p>
        </p:txBody>
      </p:sp>
      <p:sp>
        <p:nvSpPr>
          <p:cNvPr id="508932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5" name="Group 58"/>
          <p:cNvGrpSpPr>
            <a:grpSpLocks/>
          </p:cNvGrpSpPr>
          <p:nvPr/>
        </p:nvGrpSpPr>
        <p:grpSpPr bwMode="auto">
          <a:xfrm>
            <a:off x="1066800" y="1447800"/>
            <a:ext cx="7134225" cy="3048000"/>
            <a:chOff x="672" y="912"/>
            <a:chExt cx="4494" cy="1920"/>
          </a:xfrm>
        </p:grpSpPr>
        <p:sp>
          <p:nvSpPr>
            <p:cNvPr id="509954" name="Text Box 2"/>
            <p:cNvSpPr txBox="1">
              <a:spLocks noChangeAspect="1" noChangeArrowheads="1"/>
            </p:cNvSpPr>
            <p:nvPr/>
          </p:nvSpPr>
          <p:spPr bwMode="auto">
            <a:xfrm>
              <a:off x="3168" y="1680"/>
              <a:ext cx="28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55" name="Text Box 3"/>
            <p:cNvSpPr txBox="1">
              <a:spLocks noChangeAspect="1" noChangeArrowheads="1"/>
            </p:cNvSpPr>
            <p:nvPr/>
          </p:nvSpPr>
          <p:spPr bwMode="auto">
            <a:xfrm>
              <a:off x="4032" y="2112"/>
              <a:ext cx="28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2/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5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56" name="Text Box 4"/>
            <p:cNvSpPr txBox="1">
              <a:spLocks noChangeAspect="1" noChangeArrowheads="1"/>
            </p:cNvSpPr>
            <p:nvPr/>
          </p:nvSpPr>
          <p:spPr bwMode="auto">
            <a:xfrm>
              <a:off x="3360" y="2592"/>
              <a:ext cx="28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3/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57" name="Text Box 5"/>
            <p:cNvSpPr txBox="1">
              <a:spLocks noChangeAspect="1" noChangeArrowheads="1"/>
            </p:cNvSpPr>
            <p:nvPr/>
          </p:nvSpPr>
          <p:spPr bwMode="auto">
            <a:xfrm>
              <a:off x="1200" y="2352"/>
              <a:ext cx="28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6/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58" name="Text Box 6"/>
            <p:cNvSpPr txBox="1">
              <a:spLocks noChangeAspect="1" noChangeArrowheads="1"/>
            </p:cNvSpPr>
            <p:nvPr/>
          </p:nvSpPr>
          <p:spPr bwMode="auto">
            <a:xfrm>
              <a:off x="4032" y="1392"/>
              <a:ext cx="44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13/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14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59" name="Text Box 7"/>
            <p:cNvSpPr txBox="1">
              <a:spLocks noChangeAspect="1" noChangeArrowheads="1"/>
            </p:cNvSpPr>
            <p:nvPr/>
          </p:nvSpPr>
          <p:spPr bwMode="auto">
            <a:xfrm>
              <a:off x="912" y="912"/>
              <a:ext cx="44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11/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16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60" name="Text Box 8"/>
            <p:cNvSpPr txBox="1">
              <a:spLocks noChangeAspect="1" noChangeArrowheads="1"/>
            </p:cNvSpPr>
            <p:nvPr/>
          </p:nvSpPr>
          <p:spPr bwMode="auto">
            <a:xfrm>
              <a:off x="4800" y="1776"/>
              <a:ext cx="36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9/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10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61" name="Text Box 9"/>
            <p:cNvSpPr txBox="1">
              <a:spLocks noChangeAspect="1" noChangeArrowheads="1"/>
            </p:cNvSpPr>
            <p:nvPr/>
          </p:nvSpPr>
          <p:spPr bwMode="auto">
            <a:xfrm>
              <a:off x="672" y="1392"/>
              <a:ext cx="44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12/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62" name="Text Box 10"/>
            <p:cNvSpPr txBox="1">
              <a:spLocks noChangeAspect="1" noChangeArrowheads="1"/>
            </p:cNvSpPr>
            <p:nvPr/>
          </p:nvSpPr>
          <p:spPr bwMode="auto">
            <a:xfrm>
              <a:off x="3504" y="912"/>
              <a:ext cx="44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17/</a:t>
              </a:r>
              <a:r>
                <a:rPr lang="it-IT" sz="2400" b="1">
                  <a:solidFill>
                    <a:srgbClr val="FF0000"/>
                  </a:solidFill>
                  <a:latin typeface="Times New Roman" charset="0"/>
                  <a:cs typeface="+mn-cs"/>
                </a:rPr>
                <a:t>18</a:t>
              </a:r>
              <a:endParaRPr lang="en-GB" sz="2400" b="1">
                <a:solidFill>
                  <a:srgbClr val="FF0000"/>
                </a:solidFill>
                <a:latin typeface="Times New Roman" charset="0"/>
                <a:cs typeface="+mn-cs"/>
              </a:endParaRPr>
            </a:p>
          </p:txBody>
        </p:sp>
        <p:sp>
          <p:nvSpPr>
            <p:cNvPr id="509964" name="Rectangle 12"/>
            <p:cNvSpPr>
              <a:spLocks noChangeAspect="1" noChangeArrowheads="1"/>
            </p:cNvSpPr>
            <p:nvPr/>
          </p:nvSpPr>
          <p:spPr bwMode="auto">
            <a:xfrm>
              <a:off x="1200" y="1411"/>
              <a:ext cx="845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pantaloni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65" name="Rectangle 13"/>
            <p:cNvSpPr>
              <a:spLocks noChangeAspect="1" noChangeArrowheads="1"/>
            </p:cNvSpPr>
            <p:nvPr/>
          </p:nvSpPr>
          <p:spPr bwMode="auto">
            <a:xfrm>
              <a:off x="3159" y="2102"/>
              <a:ext cx="806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cravatta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66" name="Rectangle 14"/>
            <p:cNvSpPr>
              <a:spLocks noChangeAspect="1" noChangeArrowheads="1"/>
            </p:cNvSpPr>
            <p:nvPr/>
          </p:nvSpPr>
          <p:spPr bwMode="auto">
            <a:xfrm>
              <a:off x="2314" y="1680"/>
              <a:ext cx="691" cy="23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camicia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67" name="Rectangle 15"/>
            <p:cNvSpPr>
              <a:spLocks noChangeAspect="1" noChangeArrowheads="1"/>
            </p:cNvSpPr>
            <p:nvPr/>
          </p:nvSpPr>
          <p:spPr bwMode="auto">
            <a:xfrm>
              <a:off x="1469" y="912"/>
              <a:ext cx="806" cy="23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mutande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68" name="Rectangle 16"/>
            <p:cNvSpPr>
              <a:spLocks noChangeAspect="1" noChangeArrowheads="1"/>
            </p:cNvSpPr>
            <p:nvPr/>
          </p:nvSpPr>
          <p:spPr bwMode="auto">
            <a:xfrm>
              <a:off x="1622" y="2294"/>
              <a:ext cx="69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cintura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69" name="Rectangle 17"/>
            <p:cNvSpPr>
              <a:spLocks noChangeAspect="1" noChangeArrowheads="1"/>
            </p:cNvSpPr>
            <p:nvPr/>
          </p:nvSpPr>
          <p:spPr bwMode="auto">
            <a:xfrm>
              <a:off x="2659" y="2602"/>
              <a:ext cx="576" cy="23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giacca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70" name="Rectangle 18"/>
            <p:cNvSpPr>
              <a:spLocks noChangeAspect="1" noChangeArrowheads="1"/>
            </p:cNvSpPr>
            <p:nvPr/>
          </p:nvSpPr>
          <p:spPr bwMode="auto">
            <a:xfrm>
              <a:off x="2890" y="912"/>
              <a:ext cx="537" cy="23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calze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71" name="Rectangle 19"/>
            <p:cNvSpPr>
              <a:spLocks noChangeAspect="1" noChangeArrowheads="1"/>
            </p:cNvSpPr>
            <p:nvPr/>
          </p:nvSpPr>
          <p:spPr bwMode="auto">
            <a:xfrm>
              <a:off x="3312" y="1411"/>
              <a:ext cx="615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scarpe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72" name="Rectangle 20"/>
            <p:cNvSpPr>
              <a:spLocks noChangeAspect="1" noChangeArrowheads="1"/>
            </p:cNvSpPr>
            <p:nvPr/>
          </p:nvSpPr>
          <p:spPr bwMode="auto">
            <a:xfrm>
              <a:off x="4003" y="1795"/>
              <a:ext cx="730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orologio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73" name="Line 21"/>
            <p:cNvSpPr>
              <a:spLocks noChangeAspect="1" noChangeShapeType="1"/>
            </p:cNvSpPr>
            <p:nvPr/>
          </p:nvSpPr>
          <p:spPr bwMode="auto">
            <a:xfrm flipH="1">
              <a:off x="1622" y="1142"/>
              <a:ext cx="269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4" name="Line 22"/>
            <p:cNvSpPr>
              <a:spLocks noChangeAspect="1" noChangeShapeType="1"/>
            </p:cNvSpPr>
            <p:nvPr/>
          </p:nvSpPr>
          <p:spPr bwMode="auto">
            <a:xfrm>
              <a:off x="1622" y="1642"/>
              <a:ext cx="308" cy="6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5" name="Line 23"/>
            <p:cNvSpPr>
              <a:spLocks noChangeAspect="1" noChangeShapeType="1"/>
            </p:cNvSpPr>
            <p:nvPr/>
          </p:nvSpPr>
          <p:spPr bwMode="auto">
            <a:xfrm>
              <a:off x="1891" y="2525"/>
              <a:ext cx="768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6" name="Line 24"/>
            <p:cNvSpPr>
              <a:spLocks noChangeAspect="1" noChangeShapeType="1"/>
            </p:cNvSpPr>
            <p:nvPr/>
          </p:nvSpPr>
          <p:spPr bwMode="auto">
            <a:xfrm flipH="1">
              <a:off x="2006" y="1795"/>
              <a:ext cx="308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7" name="Line 25"/>
            <p:cNvSpPr>
              <a:spLocks noChangeAspect="1" noChangeShapeType="1"/>
            </p:cNvSpPr>
            <p:nvPr/>
          </p:nvSpPr>
          <p:spPr bwMode="auto">
            <a:xfrm>
              <a:off x="2659" y="1910"/>
              <a:ext cx="96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8" name="Line 26"/>
            <p:cNvSpPr>
              <a:spLocks noChangeAspect="1" noChangeShapeType="1"/>
            </p:cNvSpPr>
            <p:nvPr/>
          </p:nvSpPr>
          <p:spPr bwMode="auto">
            <a:xfrm flipH="1">
              <a:off x="2967" y="2333"/>
              <a:ext cx="537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79" name="Line 27"/>
            <p:cNvSpPr>
              <a:spLocks noChangeAspect="1" noChangeShapeType="1"/>
            </p:cNvSpPr>
            <p:nvPr/>
          </p:nvSpPr>
          <p:spPr bwMode="auto">
            <a:xfrm>
              <a:off x="3159" y="1142"/>
              <a:ext cx="460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0" name="Line 28"/>
            <p:cNvSpPr>
              <a:spLocks noChangeAspect="1" noChangeShapeType="1"/>
            </p:cNvSpPr>
            <p:nvPr/>
          </p:nvSpPr>
          <p:spPr bwMode="auto">
            <a:xfrm flipV="1">
              <a:off x="2045" y="1526"/>
              <a:ext cx="12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1" name="Line 29"/>
            <p:cNvSpPr>
              <a:spLocks noChangeAspect="1" noChangeShapeType="1"/>
            </p:cNvSpPr>
            <p:nvPr/>
          </p:nvSpPr>
          <p:spPr bwMode="auto">
            <a:xfrm>
              <a:off x="1930" y="1142"/>
              <a:ext cx="1382" cy="3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509982" name="Group 30"/>
          <p:cNvGrpSpPr>
            <a:grpSpLocks noChangeAspect="1"/>
          </p:cNvGrpSpPr>
          <p:nvPr/>
        </p:nvGrpSpPr>
        <p:grpSpPr bwMode="auto">
          <a:xfrm>
            <a:off x="990600" y="5105400"/>
            <a:ext cx="6950075" cy="1219200"/>
            <a:chOff x="156" y="3024"/>
            <a:chExt cx="5928" cy="960"/>
          </a:xfrm>
        </p:grpSpPr>
        <p:sp>
          <p:nvSpPr>
            <p:cNvPr id="509983" name="Line 31"/>
            <p:cNvSpPr>
              <a:spLocks noChangeAspect="1" noChangeShapeType="1"/>
            </p:cNvSpPr>
            <p:nvPr/>
          </p:nvSpPr>
          <p:spPr bwMode="auto">
            <a:xfrm>
              <a:off x="864" y="3168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4" name="Line 32"/>
            <p:cNvSpPr>
              <a:spLocks noChangeAspect="1" noChangeShapeType="1"/>
            </p:cNvSpPr>
            <p:nvPr/>
          </p:nvSpPr>
          <p:spPr bwMode="auto">
            <a:xfrm>
              <a:off x="2207" y="3168"/>
              <a:ext cx="28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5" name="Line 33"/>
            <p:cNvSpPr>
              <a:spLocks noChangeAspect="1" noChangeShapeType="1"/>
            </p:cNvSpPr>
            <p:nvPr/>
          </p:nvSpPr>
          <p:spPr bwMode="auto">
            <a:xfrm>
              <a:off x="3599" y="3168"/>
              <a:ext cx="28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6" name="Line 34"/>
            <p:cNvSpPr>
              <a:spLocks noChangeAspect="1" noChangeShapeType="1"/>
            </p:cNvSpPr>
            <p:nvPr/>
          </p:nvSpPr>
          <p:spPr bwMode="auto">
            <a:xfrm>
              <a:off x="5040" y="3840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7" name="Line 35"/>
            <p:cNvSpPr>
              <a:spLocks noChangeAspect="1" noChangeShapeType="1"/>
            </p:cNvSpPr>
            <p:nvPr/>
          </p:nvSpPr>
          <p:spPr bwMode="auto">
            <a:xfrm>
              <a:off x="3695" y="3840"/>
              <a:ext cx="28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8" name="Line 36"/>
            <p:cNvSpPr>
              <a:spLocks noChangeAspect="1" noChangeShapeType="1"/>
            </p:cNvSpPr>
            <p:nvPr/>
          </p:nvSpPr>
          <p:spPr bwMode="auto">
            <a:xfrm>
              <a:off x="2496" y="3840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09989" name="Line 37"/>
            <p:cNvSpPr>
              <a:spLocks noChangeAspect="1" noChangeShapeType="1"/>
            </p:cNvSpPr>
            <p:nvPr/>
          </p:nvSpPr>
          <p:spPr bwMode="auto">
            <a:xfrm>
              <a:off x="1296" y="3840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cxnSp>
          <p:nvCxnSpPr>
            <p:cNvPr id="509990" name="AutoShape 38"/>
            <p:cNvCxnSpPr>
              <a:cxnSpLocks noChangeAspect="1" noChangeShapeType="1"/>
              <a:stCxn id="509998" idx="3"/>
              <a:endCxn id="509999" idx="1"/>
            </p:cNvCxnSpPr>
            <p:nvPr/>
          </p:nvCxnSpPr>
          <p:spPr bwMode="auto">
            <a:xfrm flipH="1">
              <a:off x="312" y="3168"/>
              <a:ext cx="4421" cy="674"/>
            </a:xfrm>
            <a:prstGeom prst="curvedConnector5">
              <a:avLst>
                <a:gd name="adj1" fmla="val -3259"/>
                <a:gd name="adj2" fmla="val 50000"/>
                <a:gd name="adj3" fmla="val 103259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509991" name="Rectangle 39"/>
            <p:cNvSpPr>
              <a:spLocks noChangeAspect="1" noChangeArrowheads="1"/>
            </p:cNvSpPr>
            <p:nvPr/>
          </p:nvSpPr>
          <p:spPr bwMode="auto">
            <a:xfrm>
              <a:off x="2496" y="3024"/>
              <a:ext cx="1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pantaloni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2" name="Rectangle 40"/>
            <p:cNvSpPr>
              <a:spLocks noChangeAspect="1" noChangeArrowheads="1"/>
            </p:cNvSpPr>
            <p:nvPr/>
          </p:nvSpPr>
          <p:spPr bwMode="auto">
            <a:xfrm>
              <a:off x="3951" y="3697"/>
              <a:ext cx="1093" cy="2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cravatta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3" name="Rectangle 41"/>
            <p:cNvSpPr>
              <a:spLocks noChangeAspect="1" noChangeArrowheads="1"/>
            </p:cNvSpPr>
            <p:nvPr/>
          </p:nvSpPr>
          <p:spPr bwMode="auto">
            <a:xfrm>
              <a:off x="1560" y="3697"/>
              <a:ext cx="936" cy="2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camicia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4" name="Rectangle 42"/>
            <p:cNvSpPr>
              <a:spLocks noChangeAspect="1" noChangeArrowheads="1"/>
            </p:cNvSpPr>
            <p:nvPr/>
          </p:nvSpPr>
          <p:spPr bwMode="auto">
            <a:xfrm>
              <a:off x="1144" y="3024"/>
              <a:ext cx="109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mutande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5" name="Rectangle 43"/>
            <p:cNvSpPr>
              <a:spLocks noChangeAspect="1" noChangeArrowheads="1"/>
            </p:cNvSpPr>
            <p:nvPr/>
          </p:nvSpPr>
          <p:spPr bwMode="auto">
            <a:xfrm>
              <a:off x="2756" y="3697"/>
              <a:ext cx="936" cy="2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cintura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6" name="Rectangle 44"/>
            <p:cNvSpPr>
              <a:spLocks noChangeAspect="1" noChangeArrowheads="1"/>
            </p:cNvSpPr>
            <p:nvPr/>
          </p:nvSpPr>
          <p:spPr bwMode="auto">
            <a:xfrm>
              <a:off x="5304" y="3697"/>
              <a:ext cx="780" cy="2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giacca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7" name="Rectangle 45"/>
            <p:cNvSpPr>
              <a:spLocks noChangeAspect="1" noChangeArrowheads="1"/>
            </p:cNvSpPr>
            <p:nvPr/>
          </p:nvSpPr>
          <p:spPr bwMode="auto">
            <a:xfrm>
              <a:off x="156" y="3024"/>
              <a:ext cx="7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calze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8" name="Rectangle 46"/>
            <p:cNvSpPr>
              <a:spLocks noChangeAspect="1" noChangeArrowheads="1"/>
            </p:cNvSpPr>
            <p:nvPr/>
          </p:nvSpPr>
          <p:spPr bwMode="auto">
            <a:xfrm>
              <a:off x="3900" y="3024"/>
              <a:ext cx="833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scarpe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sp>
          <p:nvSpPr>
            <p:cNvPr id="509999" name="Rectangle 47"/>
            <p:cNvSpPr>
              <a:spLocks noChangeAspect="1" noChangeArrowheads="1"/>
            </p:cNvSpPr>
            <p:nvPr/>
          </p:nvSpPr>
          <p:spPr bwMode="auto">
            <a:xfrm>
              <a:off x="312" y="3697"/>
              <a:ext cx="988" cy="2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 i="1">
                  <a:latin typeface="Times New Roman" charset="0"/>
                  <a:cs typeface="+mn-cs"/>
                </a:rPr>
                <a:t>orologio</a:t>
              </a:r>
              <a:endParaRPr lang="en-GB" sz="2400" b="1" i="1">
                <a:latin typeface="Times New Roman" charset="0"/>
                <a:cs typeface="+mn-cs"/>
              </a:endParaRPr>
            </a:p>
          </p:txBody>
        </p:sp>
        <p:cxnSp>
          <p:nvCxnSpPr>
            <p:cNvPr id="510000" name="AutoShape 48"/>
            <p:cNvCxnSpPr>
              <a:cxnSpLocks noChangeAspect="1" noChangeShapeType="1"/>
              <a:stCxn id="509997" idx="0"/>
              <a:endCxn id="509998" idx="0"/>
            </p:cNvCxnSpPr>
            <p:nvPr/>
          </p:nvCxnSpPr>
          <p:spPr bwMode="auto">
            <a:xfrm rot="5400000" flipV="1">
              <a:off x="2417" y="1127"/>
              <a:ext cx="1" cy="3795"/>
            </a:xfrm>
            <a:prstGeom prst="curvedConnector3">
              <a:avLst>
                <a:gd name="adj1" fmla="val -2660000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1" name="AutoShape 49"/>
            <p:cNvCxnSpPr>
              <a:cxnSpLocks noChangeAspect="1" noChangeShapeType="1"/>
              <a:stCxn id="509994" idx="0"/>
              <a:endCxn id="509998" idx="0"/>
            </p:cNvCxnSpPr>
            <p:nvPr/>
          </p:nvCxnSpPr>
          <p:spPr bwMode="auto">
            <a:xfrm rot="5400000" flipV="1">
              <a:off x="3002" y="1712"/>
              <a:ext cx="1" cy="2625"/>
            </a:xfrm>
            <a:prstGeom prst="curvedConnector3">
              <a:avLst>
                <a:gd name="adj1" fmla="val -2090000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2" name="AutoShape 50"/>
            <p:cNvCxnSpPr>
              <a:cxnSpLocks noChangeAspect="1" noChangeShapeType="1"/>
              <a:stCxn id="509991" idx="0"/>
              <a:endCxn id="509998" idx="0"/>
            </p:cNvCxnSpPr>
            <p:nvPr/>
          </p:nvCxnSpPr>
          <p:spPr bwMode="auto">
            <a:xfrm rot="5400000" flipV="1">
              <a:off x="3691" y="2401"/>
              <a:ext cx="1" cy="1247"/>
            </a:xfrm>
            <a:prstGeom prst="curvedConnector3">
              <a:avLst>
                <a:gd name="adj1" fmla="val -1040000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3" name="AutoShape 51"/>
            <p:cNvCxnSpPr>
              <a:cxnSpLocks noChangeAspect="1" noChangeShapeType="1"/>
              <a:stCxn id="509994" idx="0"/>
              <a:endCxn id="509991" idx="0"/>
            </p:cNvCxnSpPr>
            <p:nvPr/>
          </p:nvCxnSpPr>
          <p:spPr bwMode="auto">
            <a:xfrm rot="5400000" flipV="1">
              <a:off x="2379" y="2335"/>
              <a:ext cx="1" cy="1377"/>
            </a:xfrm>
            <a:prstGeom prst="curvedConnector3">
              <a:avLst>
                <a:gd name="adj1" fmla="val -14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4" name="AutoShape 52"/>
            <p:cNvCxnSpPr>
              <a:cxnSpLocks noChangeAspect="1" noChangeShapeType="1"/>
              <a:stCxn id="509991" idx="2"/>
              <a:endCxn id="509995" idx="0"/>
            </p:cNvCxnSpPr>
            <p:nvPr/>
          </p:nvCxnSpPr>
          <p:spPr bwMode="auto">
            <a:xfrm rot="16200000" flipH="1">
              <a:off x="2955" y="3425"/>
              <a:ext cx="385" cy="157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5" name="AutoShape 53"/>
            <p:cNvCxnSpPr>
              <a:cxnSpLocks noChangeAspect="1" noChangeShapeType="1"/>
              <a:stCxn id="509993" idx="0"/>
              <a:endCxn id="509995" idx="0"/>
            </p:cNvCxnSpPr>
            <p:nvPr/>
          </p:nvCxnSpPr>
          <p:spPr bwMode="auto">
            <a:xfrm rot="5400000" flipV="1">
              <a:off x="2626" y="3099"/>
              <a:ext cx="0" cy="1196"/>
            </a:xfrm>
            <a:prstGeom prst="curvedConnector3">
              <a:avLst>
                <a:gd name="adj1" fmla="val -14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6" name="AutoShape 54"/>
            <p:cNvCxnSpPr>
              <a:cxnSpLocks noChangeAspect="1" noChangeShapeType="1"/>
              <a:stCxn id="509993" idx="0"/>
              <a:endCxn id="509992" idx="0"/>
            </p:cNvCxnSpPr>
            <p:nvPr/>
          </p:nvCxnSpPr>
          <p:spPr bwMode="auto">
            <a:xfrm rot="5400000" flipV="1">
              <a:off x="3264" y="2462"/>
              <a:ext cx="0" cy="2470"/>
            </a:xfrm>
            <a:prstGeom prst="curvedConnector3">
              <a:avLst>
                <a:gd name="adj1" fmla="val -2660000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7" name="AutoShape 55"/>
            <p:cNvCxnSpPr>
              <a:cxnSpLocks noChangeAspect="1" noChangeShapeType="1"/>
              <a:stCxn id="509995" idx="0"/>
              <a:endCxn id="509996" idx="0"/>
            </p:cNvCxnSpPr>
            <p:nvPr/>
          </p:nvCxnSpPr>
          <p:spPr bwMode="auto">
            <a:xfrm rot="5400000" flipV="1">
              <a:off x="4459" y="2462"/>
              <a:ext cx="0" cy="2470"/>
            </a:xfrm>
            <a:prstGeom prst="curvedConnector3">
              <a:avLst>
                <a:gd name="adj1" fmla="val -22600005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10008" name="AutoShape 56"/>
            <p:cNvCxnSpPr>
              <a:cxnSpLocks noChangeAspect="1" noChangeShapeType="1"/>
              <a:stCxn id="509992" idx="0"/>
              <a:endCxn id="509996" idx="0"/>
            </p:cNvCxnSpPr>
            <p:nvPr/>
          </p:nvCxnSpPr>
          <p:spPr bwMode="auto">
            <a:xfrm rot="5400000" flipV="1">
              <a:off x="5096" y="3099"/>
              <a:ext cx="0" cy="1196"/>
            </a:xfrm>
            <a:prstGeom prst="curvedConnector3">
              <a:avLst>
                <a:gd name="adj1" fmla="val -14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10009" name="Rectangle 5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Text Box 2"/>
          <p:cNvSpPr txBox="1">
            <a:spLocks noChangeArrowheads="1"/>
          </p:cNvSpPr>
          <p:nvPr/>
        </p:nvSpPr>
        <p:spPr bwMode="auto">
          <a:xfrm>
            <a:off x="381000" y="1828800"/>
            <a:ext cx="8077200" cy="2677656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OrdTop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OrdineTop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|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]|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OrdTopRic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OrdineTop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51098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5" name="Text Box 3"/>
          <p:cNvSpPr txBox="1">
            <a:spLocks noChangeArrowheads="1"/>
          </p:cNvSpPr>
          <p:nvPr/>
        </p:nvSpPr>
        <p:spPr bwMode="auto">
          <a:xfrm>
            <a:off x="457200" y="1752600"/>
            <a:ext cx="8077200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OrdTopRic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OrdineTop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 dirty="0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grigio</a:t>
            </a:r>
            <a:endParaRPr lang="it-IT" sz="2400" b="1" dirty="0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 dirty="0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 dirty="0">
                <a:latin typeface="Calibri"/>
                <a:cs typeface="Calibri"/>
                <a:sym typeface="Symbol" charset="0"/>
              </a:rPr>
              <a:t>        </a:t>
            </a:r>
            <a:r>
              <a:rPr lang="it-IT" sz="2400" b="1" dirty="0" err="1">
                <a:latin typeface="Calibri"/>
                <a:cs typeface="Calibri"/>
                <a:sym typeface="Symbol" charset="0"/>
              </a:rPr>
              <a:t>if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 </a:t>
            </a:r>
            <a:r>
              <a:rPr lang="it-IT" sz="2400" b="1" dirty="0" err="1">
                <a:latin typeface="Calibri"/>
                <a:cs typeface="Calibri"/>
                <a:sym typeface="Symbol" charset="0"/>
              </a:rPr>
              <a:t>then</a:t>
            </a:r>
            <a:endParaRPr lang="it-IT" sz="2400" b="1" dirty="0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 dirty="0">
                <a:latin typeface="Calibri"/>
                <a:cs typeface="Calibri"/>
                <a:sym typeface="Symbol" charset="0"/>
              </a:rPr>
              <a:t>            </a:t>
            </a: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OrdTopRic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OrdineTop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 dirty="0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nero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 err="1">
                <a:latin typeface="Calibri"/>
                <a:cs typeface="Calibri"/>
                <a:sym typeface="Symbol" charset="0"/>
              </a:rPr>
              <a:t>OrdineTop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 dirty="0">
                <a:latin typeface="Calibri"/>
                <a:cs typeface="Calibri"/>
                <a:sym typeface="Symbol" charset="0"/>
              </a:rPr>
              <a:t>i</a:t>
            </a:r>
            <a:r>
              <a:rPr lang="it-IT" sz="2400" b="1" dirty="0">
                <a:latin typeface="Calibri"/>
                <a:cs typeface="Calibri"/>
                <a:sym typeface="Symbol" charset="0"/>
              </a:rPr>
              <a:t> - 1</a:t>
            </a:r>
          </a:p>
        </p:txBody>
      </p:sp>
      <p:sp>
        <p:nvSpPr>
          <p:cNvPr id="62771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</a:t>
            </a:r>
          </a:p>
        </p:txBody>
      </p:sp>
      <p:sp>
        <p:nvSpPr>
          <p:cNvPr id="627717" name="Text Box 5"/>
          <p:cNvSpPr txBox="1">
            <a:spLocks noChangeArrowheads="1"/>
          </p:cNvSpPr>
          <p:nvPr/>
        </p:nvSpPr>
        <p:spPr bwMode="auto">
          <a:xfrm>
            <a:off x="381000" y="4648200"/>
            <a:ext cx="81534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latin typeface="+mn-lt"/>
                <a:cs typeface="+mn-cs"/>
              </a:rPr>
              <a:t>Complessità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La stessa di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  <a:sym typeface="Symbol" charset="0"/>
              </a:rPr>
              <a:t>DFS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ossia 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O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(|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V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| + |</a:t>
            </a:r>
            <a:r>
              <a:rPr lang="it-IT" sz="2400" b="1" i="1" dirty="0">
                <a:solidFill>
                  <a:srgbClr val="FF0000"/>
                </a:solidFill>
                <a:latin typeface="+mn-lt"/>
                <a:cs typeface="+mn-cs"/>
              </a:rPr>
              <a:t>E</a:t>
            </a:r>
            <a:r>
              <a:rPr lang="it-IT" sz="2400" b="1" dirty="0">
                <a:solidFill>
                  <a:srgbClr val="FF0000"/>
                </a:solidFill>
                <a:latin typeface="+mn-lt"/>
                <a:cs typeface="+mn-cs"/>
              </a:rPr>
              <a:t>|)</a:t>
            </a:r>
            <a:endParaRPr lang="it-IT" sz="2400" dirty="0">
              <a:solidFill>
                <a:srgbClr val="FF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3" name="Text Box 3"/>
          <p:cNvSpPr txBox="1">
            <a:spLocks noChangeArrowheads="1"/>
          </p:cNvSpPr>
          <p:nvPr/>
        </p:nvSpPr>
        <p:spPr bwMode="auto">
          <a:xfrm>
            <a:off x="457200" y="1981200"/>
            <a:ext cx="81534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latin typeface="+mn-lt"/>
              </a:rPr>
              <a:t>Teorema</a:t>
            </a:r>
            <a:endParaRPr lang="it-IT" sz="2400" dirty="0">
              <a:solidFill>
                <a:srgbClr val="201FF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Un grafo orientato è aciclico (un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DAG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) se e solo se nella ricerca in profondità non si trova nessun arco all’indietro.</a:t>
            </a:r>
          </a:p>
        </p:txBody>
      </p:sp>
      <p:sp>
        <p:nvSpPr>
          <p:cNvPr id="512004" name="Text Box 4"/>
          <p:cNvSpPr txBox="1">
            <a:spLocks noChangeArrowheads="1"/>
          </p:cNvSpPr>
          <p:nvPr/>
        </p:nvSpPr>
        <p:spPr bwMode="auto">
          <a:xfrm>
            <a:off x="457200" y="3581400"/>
            <a:ext cx="8153400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i="1" u="sng" dirty="0">
                <a:latin typeface="+mn-lt"/>
                <a:cs typeface="+mn-cs"/>
              </a:rPr>
              <a:t>Dimostrazione</a:t>
            </a:r>
            <a:endParaRPr lang="it-IT" sz="2400" dirty="0"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in una ricerca in profondità si trova un arco all’indietro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allora tale arco aggiunto al cammino da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a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(che esiste in quanto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è discendente di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) forma un ciclo.</a:t>
            </a:r>
          </a:p>
        </p:txBody>
      </p:sp>
      <p:sp>
        <p:nvSpPr>
          <p:cNvPr id="512005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Caratterizzazione dei DAG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Text Box 2"/>
          <p:cNvSpPr txBox="1">
            <a:spLocks noChangeArrowheads="1"/>
          </p:cNvSpPr>
          <p:nvPr/>
        </p:nvSpPr>
        <p:spPr bwMode="auto">
          <a:xfrm>
            <a:off x="533400" y="2057400"/>
            <a:ext cx="7948613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Viceversa, supponiamo che il grafo abbia un ciclo.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Sia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il primo vertice del ciclo ad essere scoperto e sia </a:t>
            </a:r>
            <a:r>
              <a:rPr lang="it-IT" sz="2400" b="1" i="1" dirty="0" err="1">
                <a:solidFill>
                  <a:srgbClr val="201FF0"/>
                </a:solidFill>
                <a:latin typeface="+mn-lt"/>
                <a:cs typeface="+mn-cs"/>
              </a:rPr>
              <a:t>uv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l’arco del ciclo che entra in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 </a:t>
            </a:r>
          </a:p>
        </p:txBody>
      </p:sp>
      <p:sp>
        <p:nvSpPr>
          <p:cNvPr id="513027" name="Text Box 3"/>
          <p:cNvSpPr txBox="1">
            <a:spLocks noChangeArrowheads="1"/>
          </p:cNvSpPr>
          <p:nvPr/>
        </p:nvSpPr>
        <p:spPr bwMode="auto">
          <a:xfrm>
            <a:off x="457200" y="3810000"/>
            <a:ext cx="81534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Quando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 viene scoperto esiste un cammino bianco da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 ad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 e quindi, per la proprietà del cammino bianco,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 è discendente di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Di conseguenza </a:t>
            </a:r>
            <a:r>
              <a:rPr lang="it-IT" sz="2400" b="1" i="1">
                <a:solidFill>
                  <a:srgbClr val="201FF0"/>
                </a:solidFill>
                <a:latin typeface="+mn-lt"/>
                <a:cs typeface="+mn-cs"/>
              </a:rPr>
              <a:t>uv</a:t>
            </a:r>
            <a:r>
              <a:rPr lang="it-IT" sz="2400">
                <a:solidFill>
                  <a:srgbClr val="201FF0"/>
                </a:solidFill>
                <a:latin typeface="+mn-lt"/>
                <a:cs typeface="+mn-cs"/>
              </a:rPr>
              <a:t> è un arco all’indietro.</a:t>
            </a:r>
          </a:p>
        </p:txBody>
      </p:sp>
      <p:sp>
        <p:nvSpPr>
          <p:cNvPr id="513028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Caratterizzazione dei DAG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Text Box 2"/>
          <p:cNvSpPr txBox="1">
            <a:spLocks noChangeArrowheads="1"/>
          </p:cNvSpPr>
          <p:nvPr/>
        </p:nvSpPr>
        <p:spPr bwMode="auto">
          <a:xfrm>
            <a:off x="457200" y="1524000"/>
            <a:ext cx="8153400" cy="400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Basta dimostrare che per ogni arco </a:t>
            </a:r>
            <a:r>
              <a:rPr lang="it-IT" sz="2400" b="1" i="1" dirty="0" err="1">
                <a:solidFill>
                  <a:srgbClr val="201FF0"/>
                </a:solidFill>
                <a:latin typeface="+mn-lt"/>
                <a:cs typeface="+mn-cs"/>
              </a:rPr>
              <a:t>uv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il vertice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viene finito prima del vertice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Quando l’arco </a:t>
            </a:r>
            <a:r>
              <a:rPr lang="it-IT" sz="2400" b="1" i="1" dirty="0" err="1">
                <a:solidFill>
                  <a:srgbClr val="201FF0"/>
                </a:solidFill>
                <a:latin typeface="+mn-lt"/>
                <a:cs typeface="+mn-cs"/>
              </a:rPr>
              <a:t>uv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viene esplorato, il vertice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è grigio mentre il vertice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non può essere grigio altrimenti </a:t>
            </a:r>
            <a:r>
              <a:rPr lang="it-IT" sz="2400" b="1" i="1" dirty="0" err="1">
                <a:solidFill>
                  <a:srgbClr val="201FF0"/>
                </a:solidFill>
                <a:latin typeface="+mn-lt"/>
                <a:cs typeface="+mn-cs"/>
              </a:rPr>
              <a:t>uv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sarebbe un arco all’indietro.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è nero esso è </a:t>
            </a:r>
            <a:r>
              <a:rPr lang="it-IT" sz="2400" dirty="0" err="1">
                <a:solidFill>
                  <a:srgbClr val="201FF0"/>
                </a:solidFill>
                <a:latin typeface="+mn-lt"/>
                <a:cs typeface="+mn-cs"/>
              </a:rPr>
              <a:t>gia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stato finito mentre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non lo è ancora.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Se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v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è bianco esso è discendente di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per la proprietà del cammino bianco e viene finito prima di </a:t>
            </a:r>
            <a:r>
              <a:rPr lang="it-IT" sz="2400" b="1" i="1" dirty="0">
                <a:solidFill>
                  <a:srgbClr val="201FF0"/>
                </a:solidFill>
                <a:latin typeface="+mn-lt"/>
                <a:cs typeface="+mn-cs"/>
              </a:rPr>
              <a:t>u</a:t>
            </a:r>
            <a:r>
              <a:rPr lang="it-IT" sz="2400" dirty="0">
                <a:solidFill>
                  <a:srgbClr val="201FF0"/>
                </a:solidFill>
                <a:latin typeface="+mn-lt"/>
                <a:cs typeface="+mn-cs"/>
              </a:rPr>
              <a:t> per la proprietà delle parentesi. </a:t>
            </a:r>
          </a:p>
        </p:txBody>
      </p:sp>
      <p:sp>
        <p:nvSpPr>
          <p:cNvPr id="51405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Ordinamento topologico: Correttezza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Componenti fortemente connesse</a:t>
            </a:r>
          </a:p>
        </p:txBody>
      </p:sp>
      <p:sp>
        <p:nvSpPr>
          <p:cNvPr id="51508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>
                <a:cs typeface="+mn-cs"/>
              </a:rPr>
              <a:t>La ricerca in profondità si può usare anche per calcolare le componenti fortemente connesse di un grafo orientato.</a:t>
            </a:r>
          </a:p>
          <a:p>
            <a:pPr eaLnBrk="1" hangingPunct="1">
              <a:defRPr/>
            </a:pPr>
            <a:r>
              <a:rPr lang="it-IT" dirty="0">
                <a:cs typeface="+mn-cs"/>
              </a:rPr>
              <a:t>Una </a:t>
            </a:r>
            <a:r>
              <a:rPr lang="it-IT" dirty="0">
                <a:solidFill>
                  <a:schemeClr val="hlink"/>
                </a:solidFill>
                <a:cs typeface="+mn-cs"/>
              </a:rPr>
              <a:t>componente fortemente connessa (</a:t>
            </a:r>
            <a:r>
              <a:rPr lang="it-IT" dirty="0" err="1">
                <a:solidFill>
                  <a:schemeClr val="hlink"/>
                </a:solidFill>
                <a:cs typeface="+mn-cs"/>
              </a:rPr>
              <a:t>cfc</a:t>
            </a:r>
            <a:r>
              <a:rPr lang="it-IT" dirty="0">
                <a:solidFill>
                  <a:schemeClr val="hlink"/>
                </a:solidFill>
                <a:cs typeface="+mn-cs"/>
              </a:rPr>
              <a:t>)</a:t>
            </a:r>
            <a:r>
              <a:rPr lang="it-IT" dirty="0">
                <a:cs typeface="+mn-cs"/>
              </a:rPr>
              <a:t> di un grafo orientato </a:t>
            </a:r>
            <a:r>
              <a:rPr lang="it-IT" dirty="0">
                <a:solidFill>
                  <a:srgbClr val="FF0000"/>
                </a:solidFill>
                <a:cs typeface="+mn-cs"/>
              </a:rPr>
              <a:t>G = (V,E)</a:t>
            </a:r>
            <a:r>
              <a:rPr lang="it-IT" dirty="0">
                <a:cs typeface="+mn-cs"/>
              </a:rPr>
              <a:t> è un </a:t>
            </a:r>
            <a:r>
              <a:rPr lang="it-IT" dirty="0">
                <a:solidFill>
                  <a:schemeClr val="hlink"/>
                </a:solidFill>
                <a:cs typeface="+mn-cs"/>
              </a:rPr>
              <a:t>insieme massimale</a:t>
            </a:r>
            <a:r>
              <a:rPr lang="it-IT" dirty="0">
                <a:cs typeface="+mn-cs"/>
              </a:rPr>
              <a:t> di vertici    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 </a:t>
            </a:r>
            <a:r>
              <a:rPr lang="it-IT" dirty="0">
                <a:solidFill>
                  <a:srgbClr val="FF0000"/>
                </a:solidFill>
                <a:cs typeface="+mn-cs"/>
                <a:sym typeface="Symbol" charset="0"/>
              </a:rPr>
              <a:t>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 tale che per ogni </a:t>
            </a:r>
            <a:r>
              <a:rPr lang="it-IT" dirty="0" err="1">
                <a:solidFill>
                  <a:srgbClr val="FF0000"/>
                </a:solidFill>
                <a:cs typeface="+mn-cs"/>
              </a:rPr>
              <a:t>u,v</a:t>
            </a:r>
            <a:r>
              <a:rPr lang="it-IT" dirty="0">
                <a:solidFill>
                  <a:srgbClr val="FF0000"/>
                </a:solidFill>
                <a:cs typeface="+mn-cs"/>
              </a:rPr>
              <a:t> </a:t>
            </a:r>
            <a:r>
              <a:rPr lang="it-IT" dirty="0">
                <a:solidFill>
                  <a:srgbClr val="FF0000"/>
                </a:solidFill>
                <a:cs typeface="+mn-cs"/>
                <a:sym typeface="Symbol" charset="0"/>
              </a:rPr>
              <a:t>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 </a:t>
            </a:r>
            <a:r>
              <a:rPr lang="it-IT" dirty="0">
                <a:cs typeface="+mn-cs"/>
              </a:rPr>
              <a:t>esiste un cammino da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 ed un cammino da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 ad </a:t>
            </a:r>
            <a:r>
              <a:rPr lang="it-IT" dirty="0">
                <a:solidFill>
                  <a:srgbClr val="FF0000"/>
                </a:solidFill>
              </a:rPr>
              <a:t>u</a:t>
            </a:r>
            <a:endParaRPr lang="it-IT" dirty="0"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1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Componenti fortemente connesse</a:t>
            </a:r>
          </a:p>
        </p:txBody>
      </p:sp>
      <p:sp>
        <p:nvSpPr>
          <p:cNvPr id="51610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L’algoritmo per il calcolo delle componenti fortemente connesse si compone di tre fasi:</a:t>
            </a:r>
          </a:p>
          <a:p>
            <a:pPr lvl="1" eaLnBrk="1" hangingPunct="1">
              <a:defRPr/>
            </a:pPr>
            <a:r>
              <a:rPr lang="it-IT"/>
              <a:t>usa la ricerca in profondità in G per ordinare i vertici in ordine di tempo di fine f decrescente (come per l’ordinamento topologico);</a:t>
            </a:r>
          </a:p>
          <a:p>
            <a:pPr lvl="1" eaLnBrk="1" hangingPunct="1">
              <a:defRPr/>
            </a:pPr>
            <a:r>
              <a:rPr lang="it-IT"/>
              <a:t>calcola il grafo trasposto G</a:t>
            </a:r>
            <a:r>
              <a:rPr lang="it-IT" baseline="30000"/>
              <a:t>T </a:t>
            </a:r>
            <a:r>
              <a:rPr lang="it-IT"/>
              <a:t>del grafo G; </a:t>
            </a:r>
          </a:p>
          <a:p>
            <a:pPr lvl="1" eaLnBrk="1" hangingPunct="1">
              <a:defRPr/>
            </a:pPr>
            <a:r>
              <a:rPr lang="it-IT"/>
              <a:t>esegue una ricerca in profondità in G</a:t>
            </a:r>
            <a:r>
              <a:rPr lang="it-IT" baseline="30000"/>
              <a:t>T </a:t>
            </a:r>
            <a:r>
              <a:rPr lang="it-IT"/>
              <a:t>usando l’ordine dei vertici calcolato nella prima fase nel ciclo principale; 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Alla fine gli alberi della ricerca in profondità in G</a:t>
            </a:r>
            <a:r>
              <a:rPr lang="it-IT" baseline="30000">
                <a:cs typeface="+mn-cs"/>
              </a:rPr>
              <a:t>T </a:t>
            </a:r>
            <a:r>
              <a:rPr lang="it-IT">
                <a:cs typeface="+mn-cs"/>
              </a:rPr>
              <a:t>rappresentano le componenti fortemente connesse.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3" name="Rectangle 3"/>
          <p:cNvSpPr>
            <a:spLocks noChangeArrowheads="1"/>
          </p:cNvSpPr>
          <p:nvPr/>
        </p:nvSpPr>
        <p:spPr bwMode="auto">
          <a:xfrm>
            <a:off x="5867400" y="1371600"/>
            <a:ext cx="1066800" cy="20574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24" name="Rectangle 4"/>
          <p:cNvSpPr>
            <a:spLocks noChangeArrowheads="1"/>
          </p:cNvSpPr>
          <p:nvPr/>
        </p:nvSpPr>
        <p:spPr bwMode="auto">
          <a:xfrm>
            <a:off x="4648200" y="1371600"/>
            <a:ext cx="2286000" cy="9144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78851" name="Group 84"/>
          <p:cNvGrpSpPr>
            <a:grpSpLocks/>
          </p:cNvGrpSpPr>
          <p:nvPr/>
        </p:nvGrpSpPr>
        <p:grpSpPr bwMode="auto">
          <a:xfrm>
            <a:off x="2209800" y="1371600"/>
            <a:ext cx="3429000" cy="2057400"/>
            <a:chOff x="1392" y="864"/>
            <a:chExt cx="2160" cy="1296"/>
          </a:xfrm>
        </p:grpSpPr>
        <p:sp>
          <p:nvSpPr>
            <p:cNvPr id="517122" name="Rectangle 2"/>
            <p:cNvSpPr>
              <a:spLocks noChangeArrowheads="1"/>
            </p:cNvSpPr>
            <p:nvPr/>
          </p:nvSpPr>
          <p:spPr bwMode="auto">
            <a:xfrm>
              <a:off x="1392" y="1584"/>
              <a:ext cx="768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25" name="Rectangle 5"/>
            <p:cNvSpPr>
              <a:spLocks noChangeArrowheads="1"/>
            </p:cNvSpPr>
            <p:nvPr/>
          </p:nvSpPr>
          <p:spPr bwMode="auto">
            <a:xfrm>
              <a:off x="2160" y="1584"/>
              <a:ext cx="1392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26" name="Rectangle 6"/>
            <p:cNvSpPr>
              <a:spLocks noChangeArrowheads="1"/>
            </p:cNvSpPr>
            <p:nvPr/>
          </p:nvSpPr>
          <p:spPr bwMode="auto">
            <a:xfrm>
              <a:off x="1392" y="864"/>
              <a:ext cx="1392" cy="72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517127" name="Line 7"/>
          <p:cNvSpPr>
            <a:spLocks noChangeShapeType="1"/>
          </p:cNvSpPr>
          <p:nvPr/>
        </p:nvSpPr>
        <p:spPr bwMode="auto">
          <a:xfrm>
            <a:off x="5410200" y="2057400"/>
            <a:ext cx="609600" cy="60960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28" name="Line 8"/>
          <p:cNvSpPr>
            <a:spLocks noChangeShapeType="1"/>
          </p:cNvSpPr>
          <p:nvPr/>
        </p:nvSpPr>
        <p:spPr bwMode="auto">
          <a:xfrm>
            <a:off x="3886200" y="2133600"/>
            <a:ext cx="0" cy="53340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29" name="Line 9"/>
          <p:cNvSpPr>
            <a:spLocks noChangeShapeType="1"/>
          </p:cNvSpPr>
          <p:nvPr/>
        </p:nvSpPr>
        <p:spPr bwMode="auto">
          <a:xfrm>
            <a:off x="4267200" y="2819400"/>
            <a:ext cx="457200" cy="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0" name="Line 10"/>
          <p:cNvSpPr>
            <a:spLocks noChangeShapeType="1"/>
          </p:cNvSpPr>
          <p:nvPr/>
        </p:nvSpPr>
        <p:spPr bwMode="auto">
          <a:xfrm flipV="1">
            <a:off x="6324600" y="2133600"/>
            <a:ext cx="0" cy="53340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1" name="Line 11"/>
          <p:cNvSpPr>
            <a:spLocks noChangeShapeType="1"/>
          </p:cNvSpPr>
          <p:nvPr/>
        </p:nvSpPr>
        <p:spPr bwMode="auto">
          <a:xfrm>
            <a:off x="3048000" y="2895600"/>
            <a:ext cx="457200" cy="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2" name="Oval 12"/>
          <p:cNvSpPr>
            <a:spLocks noChangeArrowheads="1"/>
          </p:cNvSpPr>
          <p:nvPr/>
        </p:nvSpPr>
        <p:spPr bwMode="auto">
          <a:xfrm>
            <a:off x="2286000" y="2667000"/>
            <a:ext cx="762000" cy="457200"/>
          </a:xfrm>
          <a:prstGeom prst="ellipse">
            <a:avLst/>
          </a:prstGeom>
          <a:solidFill>
            <a:srgbClr val="99C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 4/5 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33" name="Line 13"/>
          <p:cNvSpPr>
            <a:spLocks noChangeShapeType="1"/>
          </p:cNvSpPr>
          <p:nvPr/>
        </p:nvSpPr>
        <p:spPr bwMode="auto">
          <a:xfrm flipH="1">
            <a:off x="3048000" y="2895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4" name="Line 14"/>
          <p:cNvSpPr>
            <a:spLocks noChangeShapeType="1"/>
          </p:cNvSpPr>
          <p:nvPr/>
        </p:nvSpPr>
        <p:spPr bwMode="auto">
          <a:xfrm flipH="1">
            <a:off x="2667000" y="21336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5" name="Line 15"/>
          <p:cNvSpPr>
            <a:spLocks noChangeShapeType="1"/>
          </p:cNvSpPr>
          <p:nvPr/>
        </p:nvSpPr>
        <p:spPr bwMode="auto">
          <a:xfrm flipH="1">
            <a:off x="3886200" y="21336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6" name="Line 16"/>
          <p:cNvSpPr>
            <a:spLocks noChangeShapeType="1"/>
          </p:cNvSpPr>
          <p:nvPr/>
        </p:nvSpPr>
        <p:spPr bwMode="auto">
          <a:xfrm flipH="1">
            <a:off x="5105400" y="21336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37" name="Text Box 17"/>
          <p:cNvSpPr txBox="1">
            <a:spLocks noChangeArrowheads="1"/>
          </p:cNvSpPr>
          <p:nvPr/>
        </p:nvSpPr>
        <p:spPr bwMode="auto">
          <a:xfrm>
            <a:off x="2514600" y="2921000"/>
            <a:ext cx="34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e</a:t>
            </a:r>
          </a:p>
        </p:txBody>
      </p:sp>
      <p:sp>
        <p:nvSpPr>
          <p:cNvPr id="517138" name="Text Box 18"/>
          <p:cNvSpPr txBox="1">
            <a:spLocks noChangeArrowheads="1"/>
          </p:cNvSpPr>
          <p:nvPr/>
        </p:nvSpPr>
        <p:spPr bwMode="auto">
          <a:xfrm>
            <a:off x="3733800" y="29972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f</a:t>
            </a:r>
          </a:p>
        </p:txBody>
      </p:sp>
      <p:sp>
        <p:nvSpPr>
          <p:cNvPr id="517139" name="Text Box 19"/>
          <p:cNvSpPr txBox="1">
            <a:spLocks noChangeArrowheads="1"/>
          </p:cNvSpPr>
          <p:nvPr/>
        </p:nvSpPr>
        <p:spPr bwMode="auto">
          <a:xfrm>
            <a:off x="4953000" y="29210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g</a:t>
            </a:r>
          </a:p>
        </p:txBody>
      </p:sp>
      <p:sp>
        <p:nvSpPr>
          <p:cNvPr id="517140" name="Oval 20"/>
          <p:cNvSpPr>
            <a:spLocks noChangeArrowheads="1"/>
          </p:cNvSpPr>
          <p:nvPr/>
        </p:nvSpPr>
        <p:spPr bwMode="auto">
          <a:xfrm>
            <a:off x="3505200" y="2667000"/>
            <a:ext cx="762000" cy="457200"/>
          </a:xfrm>
          <a:prstGeom prst="ellipse">
            <a:avLst/>
          </a:prstGeom>
          <a:solidFill>
            <a:srgbClr val="99C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 3/8 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1" name="Text Box 21"/>
          <p:cNvSpPr txBox="1">
            <a:spLocks noChangeArrowheads="1"/>
          </p:cNvSpPr>
          <p:nvPr/>
        </p:nvSpPr>
        <p:spPr bwMode="auto">
          <a:xfrm>
            <a:off x="2514600" y="1244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a</a:t>
            </a:r>
          </a:p>
        </p:txBody>
      </p:sp>
      <p:sp>
        <p:nvSpPr>
          <p:cNvPr id="517142" name="Text Box 22"/>
          <p:cNvSpPr txBox="1">
            <a:spLocks noChangeArrowheads="1"/>
          </p:cNvSpPr>
          <p:nvPr/>
        </p:nvSpPr>
        <p:spPr bwMode="auto">
          <a:xfrm>
            <a:off x="3733800" y="1244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b</a:t>
            </a:r>
          </a:p>
        </p:txBody>
      </p:sp>
      <p:sp>
        <p:nvSpPr>
          <p:cNvPr id="517143" name="Text Box 23"/>
          <p:cNvSpPr txBox="1">
            <a:spLocks noChangeArrowheads="1"/>
          </p:cNvSpPr>
          <p:nvPr/>
        </p:nvSpPr>
        <p:spPr bwMode="auto">
          <a:xfrm>
            <a:off x="4953000" y="1244600"/>
            <a:ext cx="34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c</a:t>
            </a:r>
          </a:p>
        </p:txBody>
      </p:sp>
      <p:sp>
        <p:nvSpPr>
          <p:cNvPr id="517144" name="Oval 24"/>
          <p:cNvSpPr>
            <a:spLocks noChangeArrowheads="1"/>
          </p:cNvSpPr>
          <p:nvPr/>
        </p:nvSpPr>
        <p:spPr bwMode="auto">
          <a:xfrm>
            <a:off x="5943600" y="2667000"/>
            <a:ext cx="7620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12/15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5" name="Oval 25"/>
          <p:cNvSpPr>
            <a:spLocks noChangeArrowheads="1"/>
          </p:cNvSpPr>
          <p:nvPr/>
        </p:nvSpPr>
        <p:spPr bwMode="auto">
          <a:xfrm>
            <a:off x="5943600" y="1676400"/>
            <a:ext cx="7620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13/14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6" name="Oval 26"/>
          <p:cNvSpPr>
            <a:spLocks noChangeArrowheads="1"/>
          </p:cNvSpPr>
          <p:nvPr/>
        </p:nvSpPr>
        <p:spPr bwMode="auto">
          <a:xfrm>
            <a:off x="4724400" y="2667000"/>
            <a:ext cx="7620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6/7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7" name="Oval 27"/>
          <p:cNvSpPr>
            <a:spLocks noChangeArrowheads="1"/>
          </p:cNvSpPr>
          <p:nvPr/>
        </p:nvSpPr>
        <p:spPr bwMode="auto">
          <a:xfrm>
            <a:off x="4724400" y="1676400"/>
            <a:ext cx="762000" cy="457200"/>
          </a:xfrm>
          <a:prstGeom prst="ellipse">
            <a:avLst/>
          </a:prstGeom>
          <a:solidFill>
            <a:srgbClr val="99C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11/16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8" name="Oval 28"/>
          <p:cNvSpPr>
            <a:spLocks noChangeArrowheads="1"/>
          </p:cNvSpPr>
          <p:nvPr/>
        </p:nvSpPr>
        <p:spPr bwMode="auto">
          <a:xfrm>
            <a:off x="3505200" y="1676400"/>
            <a:ext cx="7620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 2/9 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49" name="Oval 29"/>
          <p:cNvSpPr>
            <a:spLocks noChangeArrowheads="1"/>
          </p:cNvSpPr>
          <p:nvPr/>
        </p:nvSpPr>
        <p:spPr bwMode="auto">
          <a:xfrm>
            <a:off x="2286000" y="1676400"/>
            <a:ext cx="762000" cy="457200"/>
          </a:xfrm>
          <a:prstGeom prst="ellipse">
            <a:avLst/>
          </a:prstGeom>
          <a:solidFill>
            <a:srgbClr val="99C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it-IT" sz="2400" b="1">
                <a:latin typeface="Times New Roman" charset="0"/>
                <a:cs typeface="+mn-cs"/>
              </a:rPr>
              <a:t>1/10</a:t>
            </a:r>
            <a:endParaRPr lang="en-GB" sz="2400" b="1">
              <a:latin typeface="Times New Roman" charset="0"/>
              <a:cs typeface="+mn-cs"/>
            </a:endParaRPr>
          </a:p>
        </p:txBody>
      </p:sp>
      <p:sp>
        <p:nvSpPr>
          <p:cNvPr id="517150" name="Text Box 30"/>
          <p:cNvSpPr txBox="1">
            <a:spLocks noChangeArrowheads="1"/>
          </p:cNvSpPr>
          <p:nvPr/>
        </p:nvSpPr>
        <p:spPr bwMode="auto">
          <a:xfrm>
            <a:off x="6172200" y="1244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d</a:t>
            </a:r>
          </a:p>
        </p:txBody>
      </p:sp>
      <p:sp>
        <p:nvSpPr>
          <p:cNvPr id="517151" name="Text Box 31"/>
          <p:cNvSpPr txBox="1">
            <a:spLocks noChangeArrowheads="1"/>
          </p:cNvSpPr>
          <p:nvPr/>
        </p:nvSpPr>
        <p:spPr bwMode="auto">
          <a:xfrm>
            <a:off x="6172200" y="2997200"/>
            <a:ext cx="382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it-IT" sz="2800" b="1" i="1">
                <a:latin typeface="Times New Roman" charset="0"/>
                <a:cs typeface="+mn-cs"/>
              </a:rPr>
              <a:t>h</a:t>
            </a:r>
          </a:p>
        </p:txBody>
      </p:sp>
      <p:sp>
        <p:nvSpPr>
          <p:cNvPr id="517152" name="Line 32"/>
          <p:cNvSpPr>
            <a:spLocks noChangeShapeType="1"/>
          </p:cNvSpPr>
          <p:nvPr/>
        </p:nvSpPr>
        <p:spPr bwMode="auto">
          <a:xfrm flipH="1">
            <a:off x="3048000" y="1981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3" name="Line 33"/>
          <p:cNvSpPr>
            <a:spLocks noChangeShapeType="1"/>
          </p:cNvSpPr>
          <p:nvPr/>
        </p:nvSpPr>
        <p:spPr bwMode="auto">
          <a:xfrm flipH="1">
            <a:off x="4267200" y="19050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4" name="Line 34"/>
          <p:cNvSpPr>
            <a:spLocks noChangeShapeType="1"/>
          </p:cNvSpPr>
          <p:nvPr/>
        </p:nvSpPr>
        <p:spPr bwMode="auto">
          <a:xfrm flipH="1">
            <a:off x="4267200" y="2971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5" name="Line 35"/>
          <p:cNvSpPr>
            <a:spLocks noChangeShapeType="1"/>
          </p:cNvSpPr>
          <p:nvPr/>
        </p:nvSpPr>
        <p:spPr bwMode="auto">
          <a:xfrm flipH="1">
            <a:off x="5486400" y="2895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6" name="Line 36"/>
          <p:cNvSpPr>
            <a:spLocks noChangeShapeType="1"/>
          </p:cNvSpPr>
          <p:nvPr/>
        </p:nvSpPr>
        <p:spPr bwMode="auto">
          <a:xfrm flipV="1">
            <a:off x="6324600" y="21336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7" name="Line 37"/>
          <p:cNvSpPr>
            <a:spLocks noChangeShapeType="1"/>
          </p:cNvSpPr>
          <p:nvPr/>
        </p:nvSpPr>
        <p:spPr bwMode="auto">
          <a:xfrm>
            <a:off x="5410200" y="2057400"/>
            <a:ext cx="609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58" name="Line 38"/>
          <p:cNvSpPr>
            <a:spLocks noChangeShapeType="1"/>
          </p:cNvSpPr>
          <p:nvPr/>
        </p:nvSpPr>
        <p:spPr bwMode="auto">
          <a:xfrm>
            <a:off x="3048000" y="1828800"/>
            <a:ext cx="457200" cy="0"/>
          </a:xfrm>
          <a:prstGeom prst="line">
            <a:avLst/>
          </a:prstGeom>
          <a:noFill/>
          <a:ln w="1143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517159" name="AutoShape 39"/>
          <p:cNvCxnSpPr>
            <a:cxnSpLocks noChangeShapeType="1"/>
            <a:stCxn id="517132" idx="3"/>
            <a:endCxn id="517132" idx="1"/>
          </p:cNvCxnSpPr>
          <p:nvPr/>
        </p:nvCxnSpPr>
        <p:spPr bwMode="auto">
          <a:xfrm rot="5400000" flipH="1" flipV="1">
            <a:off x="2421731" y="2894807"/>
            <a:ext cx="352425" cy="1588"/>
          </a:xfrm>
          <a:prstGeom prst="curvedConnector5">
            <a:avLst>
              <a:gd name="adj1" fmla="val -36491"/>
              <a:gd name="adj2" fmla="val -27600005"/>
              <a:gd name="adj3" fmla="val 132431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17160" name="Line 40"/>
          <p:cNvSpPr>
            <a:spLocks noChangeShapeType="1"/>
          </p:cNvSpPr>
          <p:nvPr/>
        </p:nvSpPr>
        <p:spPr bwMode="auto">
          <a:xfrm>
            <a:off x="3048000" y="1828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61" name="Line 41"/>
          <p:cNvSpPr>
            <a:spLocks noChangeShapeType="1"/>
          </p:cNvSpPr>
          <p:nvPr/>
        </p:nvSpPr>
        <p:spPr bwMode="auto">
          <a:xfrm>
            <a:off x="4267200" y="28194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7162" name="Line 42"/>
          <p:cNvSpPr>
            <a:spLocks noChangeShapeType="1"/>
          </p:cNvSpPr>
          <p:nvPr/>
        </p:nvSpPr>
        <p:spPr bwMode="auto">
          <a:xfrm flipH="1">
            <a:off x="5486400" y="19050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517163" name="Group 43"/>
          <p:cNvGrpSpPr>
            <a:grpSpLocks/>
          </p:cNvGrpSpPr>
          <p:nvPr/>
        </p:nvGrpSpPr>
        <p:grpSpPr bwMode="auto">
          <a:xfrm>
            <a:off x="2209800" y="4114800"/>
            <a:ext cx="4724400" cy="2209800"/>
            <a:chOff x="1508" y="2256"/>
            <a:chExt cx="3224" cy="1392"/>
          </a:xfrm>
        </p:grpSpPr>
        <p:sp>
          <p:nvSpPr>
            <p:cNvPr id="517164" name="Rectangle 44"/>
            <p:cNvSpPr>
              <a:spLocks noChangeArrowheads="1"/>
            </p:cNvSpPr>
            <p:nvPr/>
          </p:nvSpPr>
          <p:spPr bwMode="auto">
            <a:xfrm>
              <a:off x="1508" y="3024"/>
              <a:ext cx="676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65" name="Rectangle 45"/>
            <p:cNvSpPr>
              <a:spLocks noChangeArrowheads="1"/>
            </p:cNvSpPr>
            <p:nvPr/>
          </p:nvSpPr>
          <p:spPr bwMode="auto">
            <a:xfrm>
              <a:off x="4004" y="2304"/>
              <a:ext cx="728" cy="129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66" name="Rectangle 46"/>
            <p:cNvSpPr>
              <a:spLocks noChangeArrowheads="1"/>
            </p:cNvSpPr>
            <p:nvPr/>
          </p:nvSpPr>
          <p:spPr bwMode="auto">
            <a:xfrm>
              <a:off x="3172" y="2304"/>
              <a:ext cx="1560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67" name="Rectangle 47"/>
            <p:cNvSpPr>
              <a:spLocks noChangeArrowheads="1"/>
            </p:cNvSpPr>
            <p:nvPr/>
          </p:nvSpPr>
          <p:spPr bwMode="auto">
            <a:xfrm>
              <a:off x="2340" y="3024"/>
              <a:ext cx="1508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68" name="Rectangle 48"/>
            <p:cNvSpPr>
              <a:spLocks noChangeArrowheads="1"/>
            </p:cNvSpPr>
            <p:nvPr/>
          </p:nvSpPr>
          <p:spPr bwMode="auto">
            <a:xfrm>
              <a:off x="1508" y="2304"/>
              <a:ext cx="1508" cy="576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69" name="Line 49"/>
            <p:cNvSpPr>
              <a:spLocks noChangeShapeType="1"/>
            </p:cNvSpPr>
            <p:nvPr/>
          </p:nvSpPr>
          <p:spPr bwMode="auto">
            <a:xfrm>
              <a:off x="2132" y="2688"/>
              <a:ext cx="312" cy="0"/>
            </a:xfrm>
            <a:prstGeom prst="line">
              <a:avLst/>
            </a:prstGeom>
            <a:noFill/>
            <a:ln w="1143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0" name="Line 50"/>
            <p:cNvSpPr>
              <a:spLocks noChangeShapeType="1"/>
            </p:cNvSpPr>
            <p:nvPr/>
          </p:nvSpPr>
          <p:spPr bwMode="auto">
            <a:xfrm flipV="1">
              <a:off x="4368" y="2784"/>
              <a:ext cx="0" cy="336"/>
            </a:xfrm>
            <a:prstGeom prst="line">
              <a:avLst/>
            </a:prstGeom>
            <a:noFill/>
            <a:ln w="1143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1" name="Line 51"/>
            <p:cNvSpPr>
              <a:spLocks noChangeShapeType="1"/>
            </p:cNvSpPr>
            <p:nvPr/>
          </p:nvSpPr>
          <p:spPr bwMode="auto">
            <a:xfrm>
              <a:off x="2964" y="3312"/>
              <a:ext cx="312" cy="0"/>
            </a:xfrm>
            <a:prstGeom prst="line">
              <a:avLst/>
            </a:prstGeom>
            <a:noFill/>
            <a:ln w="1143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2" name="Oval 52"/>
            <p:cNvSpPr>
              <a:spLocks noChangeArrowheads="1"/>
            </p:cNvSpPr>
            <p:nvPr/>
          </p:nvSpPr>
          <p:spPr bwMode="auto">
            <a:xfrm>
              <a:off x="1612" y="3120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15/16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73" name="Line 53"/>
            <p:cNvSpPr>
              <a:spLocks noChangeShapeType="1"/>
            </p:cNvSpPr>
            <p:nvPr/>
          </p:nvSpPr>
          <p:spPr bwMode="auto">
            <a:xfrm flipH="1">
              <a:off x="2132" y="3264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4" name="Line 54"/>
            <p:cNvSpPr>
              <a:spLocks noChangeShapeType="1"/>
            </p:cNvSpPr>
            <p:nvPr/>
          </p:nvSpPr>
          <p:spPr bwMode="auto">
            <a:xfrm flipH="1">
              <a:off x="1872" y="278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5" name="Line 55"/>
            <p:cNvSpPr>
              <a:spLocks noChangeShapeType="1"/>
            </p:cNvSpPr>
            <p:nvPr/>
          </p:nvSpPr>
          <p:spPr bwMode="auto">
            <a:xfrm flipH="1">
              <a:off x="2704" y="278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6" name="Line 56"/>
            <p:cNvSpPr>
              <a:spLocks noChangeShapeType="1"/>
            </p:cNvSpPr>
            <p:nvPr/>
          </p:nvSpPr>
          <p:spPr bwMode="auto">
            <a:xfrm flipH="1">
              <a:off x="3536" y="278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77" name="Text Box 57"/>
            <p:cNvSpPr txBox="1">
              <a:spLocks noChangeArrowheads="1"/>
            </p:cNvSpPr>
            <p:nvPr/>
          </p:nvSpPr>
          <p:spPr bwMode="auto">
            <a:xfrm>
              <a:off x="1768" y="3360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8</a:t>
              </a:r>
            </a:p>
          </p:txBody>
        </p:sp>
        <p:sp>
          <p:nvSpPr>
            <p:cNvPr id="517178" name="Text Box 58"/>
            <p:cNvSpPr txBox="1">
              <a:spLocks noChangeArrowheads="1"/>
            </p:cNvSpPr>
            <p:nvPr/>
          </p:nvSpPr>
          <p:spPr bwMode="auto">
            <a:xfrm>
              <a:off x="2600" y="3360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6</a:t>
              </a:r>
            </a:p>
          </p:txBody>
        </p:sp>
        <p:sp>
          <p:nvSpPr>
            <p:cNvPr id="517179" name="Text Box 59"/>
            <p:cNvSpPr txBox="1">
              <a:spLocks noChangeArrowheads="1"/>
            </p:cNvSpPr>
            <p:nvPr/>
          </p:nvSpPr>
          <p:spPr bwMode="auto">
            <a:xfrm>
              <a:off x="3432" y="3360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7</a:t>
              </a:r>
            </a:p>
          </p:txBody>
        </p:sp>
        <p:sp>
          <p:nvSpPr>
            <p:cNvPr id="517180" name="Oval 60"/>
            <p:cNvSpPr>
              <a:spLocks noChangeArrowheads="1"/>
            </p:cNvSpPr>
            <p:nvPr/>
          </p:nvSpPr>
          <p:spPr bwMode="auto">
            <a:xfrm>
              <a:off x="2444" y="3120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11/14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1" name="Text Box 61"/>
            <p:cNvSpPr txBox="1">
              <a:spLocks noChangeArrowheads="1"/>
            </p:cNvSpPr>
            <p:nvPr/>
          </p:nvSpPr>
          <p:spPr bwMode="auto">
            <a:xfrm>
              <a:off x="1768" y="2256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4</a:t>
              </a:r>
            </a:p>
          </p:txBody>
        </p:sp>
        <p:sp>
          <p:nvSpPr>
            <p:cNvPr id="517182" name="Text Box 62"/>
            <p:cNvSpPr txBox="1">
              <a:spLocks noChangeArrowheads="1"/>
            </p:cNvSpPr>
            <p:nvPr/>
          </p:nvSpPr>
          <p:spPr bwMode="auto">
            <a:xfrm>
              <a:off x="2600" y="2256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5</a:t>
              </a:r>
            </a:p>
          </p:txBody>
        </p:sp>
        <p:sp>
          <p:nvSpPr>
            <p:cNvPr id="517183" name="Text Box 63"/>
            <p:cNvSpPr txBox="1">
              <a:spLocks noChangeArrowheads="1"/>
            </p:cNvSpPr>
            <p:nvPr/>
          </p:nvSpPr>
          <p:spPr bwMode="auto">
            <a:xfrm>
              <a:off x="3432" y="2256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</a:t>
              </a:r>
            </a:p>
          </p:txBody>
        </p:sp>
        <p:sp>
          <p:nvSpPr>
            <p:cNvPr id="517184" name="Oval 64"/>
            <p:cNvSpPr>
              <a:spLocks noChangeArrowheads="1"/>
            </p:cNvSpPr>
            <p:nvPr/>
          </p:nvSpPr>
          <p:spPr bwMode="auto">
            <a:xfrm>
              <a:off x="4108" y="3120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 3/4 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5" name="Oval 65"/>
            <p:cNvSpPr>
              <a:spLocks noChangeArrowheads="1"/>
            </p:cNvSpPr>
            <p:nvPr/>
          </p:nvSpPr>
          <p:spPr bwMode="auto">
            <a:xfrm>
              <a:off x="4108" y="2496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 2/5 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6" name="Oval 66"/>
            <p:cNvSpPr>
              <a:spLocks noChangeArrowheads="1"/>
            </p:cNvSpPr>
            <p:nvPr/>
          </p:nvSpPr>
          <p:spPr bwMode="auto">
            <a:xfrm>
              <a:off x="3276" y="3120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12/13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7" name="Oval 67"/>
            <p:cNvSpPr>
              <a:spLocks noChangeArrowheads="1"/>
            </p:cNvSpPr>
            <p:nvPr/>
          </p:nvSpPr>
          <p:spPr bwMode="auto">
            <a:xfrm>
              <a:off x="3276" y="2496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 1/6 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8" name="Oval 68"/>
            <p:cNvSpPr>
              <a:spLocks noChangeArrowheads="1"/>
            </p:cNvSpPr>
            <p:nvPr/>
          </p:nvSpPr>
          <p:spPr bwMode="auto">
            <a:xfrm>
              <a:off x="2444" y="2496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 8/9 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89" name="Oval 69"/>
            <p:cNvSpPr>
              <a:spLocks noChangeArrowheads="1"/>
            </p:cNvSpPr>
            <p:nvPr/>
          </p:nvSpPr>
          <p:spPr bwMode="auto">
            <a:xfrm>
              <a:off x="1612" y="2496"/>
              <a:ext cx="520" cy="2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7/10</a:t>
              </a:r>
              <a:endParaRPr lang="en-GB" sz="2400" b="1">
                <a:latin typeface="Times New Roman" charset="0"/>
                <a:cs typeface="+mn-cs"/>
              </a:endParaRPr>
            </a:p>
          </p:txBody>
        </p:sp>
        <p:sp>
          <p:nvSpPr>
            <p:cNvPr id="517190" name="Text Box 70"/>
            <p:cNvSpPr txBox="1">
              <a:spLocks noChangeArrowheads="1"/>
            </p:cNvSpPr>
            <p:nvPr/>
          </p:nvSpPr>
          <p:spPr bwMode="auto">
            <a:xfrm>
              <a:off x="4264" y="2256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3</a:t>
              </a:r>
            </a:p>
          </p:txBody>
        </p:sp>
        <p:sp>
          <p:nvSpPr>
            <p:cNvPr id="517191" name="Text Box 71"/>
            <p:cNvSpPr txBox="1">
              <a:spLocks noChangeArrowheads="1"/>
            </p:cNvSpPr>
            <p:nvPr/>
          </p:nvSpPr>
          <p:spPr bwMode="auto">
            <a:xfrm>
              <a:off x="4264" y="3360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it-IT" sz="2400" b="1">
                  <a:latin typeface="Times New Roman" charset="0"/>
                  <a:cs typeface="+mn-cs"/>
                </a:rPr>
                <a:t>2</a:t>
              </a:r>
            </a:p>
          </p:txBody>
        </p:sp>
        <p:sp>
          <p:nvSpPr>
            <p:cNvPr id="517192" name="Line 72"/>
            <p:cNvSpPr>
              <a:spLocks noChangeShapeType="1"/>
            </p:cNvSpPr>
            <p:nvPr/>
          </p:nvSpPr>
          <p:spPr bwMode="auto">
            <a:xfrm flipH="1">
              <a:off x="2132" y="2688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3" name="Line 73"/>
            <p:cNvSpPr>
              <a:spLocks noChangeShapeType="1"/>
            </p:cNvSpPr>
            <p:nvPr/>
          </p:nvSpPr>
          <p:spPr bwMode="auto">
            <a:xfrm flipH="1">
              <a:off x="2964" y="2640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4" name="Line 74"/>
            <p:cNvSpPr>
              <a:spLocks noChangeShapeType="1"/>
            </p:cNvSpPr>
            <p:nvPr/>
          </p:nvSpPr>
          <p:spPr bwMode="auto">
            <a:xfrm flipH="1">
              <a:off x="2964" y="3312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5" name="Line 75"/>
            <p:cNvSpPr>
              <a:spLocks noChangeShapeType="1"/>
            </p:cNvSpPr>
            <p:nvPr/>
          </p:nvSpPr>
          <p:spPr bwMode="auto">
            <a:xfrm flipH="1">
              <a:off x="3796" y="3264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6" name="Line 76"/>
            <p:cNvSpPr>
              <a:spLocks noChangeShapeType="1"/>
            </p:cNvSpPr>
            <p:nvPr/>
          </p:nvSpPr>
          <p:spPr bwMode="auto">
            <a:xfrm flipV="1">
              <a:off x="4368" y="278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7" name="Line 77"/>
            <p:cNvSpPr>
              <a:spLocks noChangeShapeType="1"/>
            </p:cNvSpPr>
            <p:nvPr/>
          </p:nvSpPr>
          <p:spPr bwMode="auto">
            <a:xfrm>
              <a:off x="3744" y="2736"/>
              <a:ext cx="416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198" name="Line 78"/>
            <p:cNvSpPr>
              <a:spLocks noChangeShapeType="1"/>
            </p:cNvSpPr>
            <p:nvPr/>
          </p:nvSpPr>
          <p:spPr bwMode="auto">
            <a:xfrm>
              <a:off x="3796" y="2640"/>
              <a:ext cx="312" cy="0"/>
            </a:xfrm>
            <a:prstGeom prst="line">
              <a:avLst/>
            </a:prstGeom>
            <a:noFill/>
            <a:ln w="1143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cxnSp>
          <p:nvCxnSpPr>
            <p:cNvPr id="517199" name="AutoShape 79"/>
            <p:cNvCxnSpPr>
              <a:cxnSpLocks noChangeShapeType="1"/>
              <a:stCxn id="517172" idx="3"/>
              <a:endCxn id="517172" idx="1"/>
            </p:cNvCxnSpPr>
            <p:nvPr/>
          </p:nvCxnSpPr>
          <p:spPr bwMode="auto">
            <a:xfrm rot="5400000" flipH="1" flipV="1">
              <a:off x="1576" y="3263"/>
              <a:ext cx="222" cy="1"/>
            </a:xfrm>
            <a:prstGeom prst="curvedConnector5">
              <a:avLst>
                <a:gd name="adj1" fmla="val -36491"/>
                <a:gd name="adj2" fmla="val -27600005"/>
                <a:gd name="adj3" fmla="val 132431"/>
              </a:avLst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517200" name="Line 80"/>
            <p:cNvSpPr>
              <a:spLocks noChangeShapeType="1"/>
            </p:cNvSpPr>
            <p:nvPr/>
          </p:nvSpPr>
          <p:spPr bwMode="auto">
            <a:xfrm>
              <a:off x="2132" y="2592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201" name="Line 81"/>
            <p:cNvSpPr>
              <a:spLocks noChangeShapeType="1"/>
            </p:cNvSpPr>
            <p:nvPr/>
          </p:nvSpPr>
          <p:spPr bwMode="auto">
            <a:xfrm>
              <a:off x="2964" y="3216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17202" name="Line 82"/>
            <p:cNvSpPr>
              <a:spLocks noChangeShapeType="1"/>
            </p:cNvSpPr>
            <p:nvPr/>
          </p:nvSpPr>
          <p:spPr bwMode="auto">
            <a:xfrm flipH="1">
              <a:off x="3796" y="2640"/>
              <a:ext cx="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517203" name="Rectangle 8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solidFill>
                  <a:srgbClr val="FF0000"/>
                </a:solidFill>
                <a:cs typeface="+mj-cs"/>
              </a:rPr>
              <a:t>Componenti fortemente connesse</a:t>
            </a:r>
            <a:endParaRPr lang="it-IT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Proprietà dei cammini</a:t>
            </a:r>
          </a:p>
        </p:txBody>
      </p:sp>
      <p:sp>
        <p:nvSpPr>
          <p:cNvPr id="5181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it-IT" dirty="0">
                <a:solidFill>
                  <a:schemeClr val="tx1"/>
                </a:solidFill>
                <a:cs typeface="+mn-cs"/>
              </a:rPr>
              <a:t>Teorema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Se due vertici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e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 sono in una stessa </a:t>
            </a:r>
            <a:r>
              <a:rPr lang="it-IT" dirty="0" err="1">
                <a:cs typeface="+mn-cs"/>
              </a:rPr>
              <a:t>cfc</a:t>
            </a:r>
            <a:r>
              <a:rPr lang="it-IT" dirty="0">
                <a:cs typeface="+mn-cs"/>
              </a:rPr>
              <a:t> allora tale </a:t>
            </a:r>
            <a:r>
              <a:rPr lang="it-IT" dirty="0" err="1">
                <a:cs typeface="+mn-cs"/>
              </a:rPr>
              <a:t>cfc</a:t>
            </a:r>
            <a:r>
              <a:rPr lang="it-IT" dirty="0">
                <a:cs typeface="+mn-cs"/>
              </a:rPr>
              <a:t> contiene anche i vertici di tutti i cammini da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>
                <a:cs typeface="+mn-cs"/>
              </a:rPr>
              <a:t> a </a:t>
            </a:r>
            <a:r>
              <a:rPr lang="it-IT" dirty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>
                <a:cs typeface="+mn-cs"/>
              </a:rPr>
              <a:t>.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solidFill>
                  <a:srgbClr val="000000"/>
                </a:solidFill>
                <a:cs typeface="+mn-cs"/>
              </a:rPr>
              <a:t>Dimostrazione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Sia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un vertice di un cammino da u a v. Allora vi è un cammino da u a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ed un cammino da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a v. Siccome u e v stanno nella stessa </a:t>
            </a:r>
            <a:r>
              <a:rPr lang="it-IT" dirty="0" err="1">
                <a:cs typeface="+mn-cs"/>
              </a:rPr>
              <a:t>cfc</a:t>
            </a:r>
            <a:r>
              <a:rPr lang="it-IT" dirty="0">
                <a:cs typeface="+mn-cs"/>
              </a:rPr>
              <a:t> esiste anche un cammino da v a u che concatenato al cammino da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a v forma un cammino da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a u. Quindi u e </a:t>
            </a:r>
            <a:r>
              <a:rPr lang="it-IT" dirty="0" err="1">
                <a:cs typeface="+mn-cs"/>
              </a:rPr>
              <a:t>w</a:t>
            </a:r>
            <a:r>
              <a:rPr lang="it-IT" dirty="0">
                <a:cs typeface="+mn-cs"/>
              </a:rPr>
              <a:t> sono nella stessa </a:t>
            </a:r>
            <a:r>
              <a:rPr lang="it-IT" dirty="0" err="1">
                <a:cs typeface="+mn-cs"/>
              </a:rPr>
              <a:t>cfc</a:t>
            </a:r>
            <a:r>
              <a:rPr lang="it-IT" dirty="0"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Proprietà degli alberi</a:t>
            </a:r>
          </a:p>
        </p:txBody>
      </p:sp>
      <p:sp>
        <p:nvSpPr>
          <p:cNvPr id="51917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Th: Una ricerca in profondità mette nello stesso albero tutti i vertici di una cfc.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Dimostrazione. </a:t>
            </a:r>
          </a:p>
          <a:p>
            <a:pPr eaLnBrk="1" hangingPunct="1">
              <a:buFont typeface="Wingdings" charset="0"/>
              <a:buNone/>
              <a:defRPr/>
            </a:pPr>
            <a:r>
              <a:rPr lang="it-IT">
                <a:cs typeface="+mn-cs"/>
              </a:rPr>
              <a:t>	Sia u il primo vertice scoperto in una cfc. Quando viene scoperto u tutti gli altri vertici di tale cfc sono bianchi. Esiste quindi un cammino bianco da u ad ogni altro vertice di tale cfc. Per la proprietà del cammino bianco ognuno di tali vertici è discendente di u e quindi appartiene allo stesso albero.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020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Per dimostrare la correttezza dell’algoritmo cominciamo con definire il capostipite 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 di ogni vertice u come quel vertice raggiungibile da u che viene finito per ultimo durante la prima ricerca in profondità.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Osserviamo che siccome u è raggiungibile da u avremo che f[u] </a:t>
            </a:r>
            <a:r>
              <a:rPr lang="it-IT">
                <a:cs typeface="+mn-cs"/>
                <a:sym typeface="Symbol" charset="0"/>
              </a:rPr>
              <a:t></a:t>
            </a:r>
            <a:r>
              <a:rPr lang="it-IT">
                <a:cs typeface="+mn-cs"/>
              </a:rPr>
              <a:t> f[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(u)].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Osserviamo anche che 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(u)) = 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 in quanto ogni vertice raggiungibile da 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 è anche un vertice raggiungibile da 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Proprietà del capostipite</a:t>
            </a:r>
          </a:p>
        </p:txBody>
      </p:sp>
      <p:sp>
        <p:nvSpPr>
          <p:cNvPr id="52122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t-IT">
                <a:cs typeface="+mn-cs"/>
              </a:rPr>
              <a:t>Th: Il capostipite </a:t>
            </a:r>
            <a:r>
              <a:rPr lang="it-IT">
                <a:cs typeface="+mn-cs"/>
                <a:sym typeface="Symbol" charset="0"/>
              </a:rPr>
              <a:t></a:t>
            </a:r>
            <a:r>
              <a:rPr lang="it-IT">
                <a:cs typeface="+mn-cs"/>
              </a:rPr>
              <a:t>(u) di ogni vertice u è un predecessore di u in ogni foresta di ricerca in profondità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>
                <a:cs typeface="+mn-cs"/>
              </a:rPr>
              <a:t>Dimostrazione.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/>
              <a:t>Se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= u la cosa è ovvia. Supponiamo allora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</a:t>
            </a:r>
            <a:r>
              <a:rPr lang="it-IT">
                <a:sym typeface="Symbol" charset="0"/>
              </a:rPr>
              <a:t></a:t>
            </a:r>
            <a:r>
              <a:rPr lang="it-IT"/>
              <a:t> u e quindi f[u] </a:t>
            </a:r>
            <a:r>
              <a:rPr lang="it-IT">
                <a:sym typeface="Symbol" charset="0"/>
              </a:rPr>
              <a:t>&lt;</a:t>
            </a:r>
            <a:r>
              <a:rPr lang="it-IT"/>
              <a:t> f[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(u)].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/>
              <a:t>Quando viene scoperto u il vertice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non può essere nero.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/>
              <a:t>Esso non può neppure essere bianco.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it-IT"/>
              <a:t>Infatti se sono bianchi tutti i vertici del cammino da u a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allora per la proprietà del cammino bianco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è discendente di u e dunque f[u] </a:t>
            </a:r>
            <a:r>
              <a:rPr lang="it-IT">
                <a:sym typeface="Symbol" charset="0"/>
              </a:rPr>
              <a:t></a:t>
            </a:r>
            <a:r>
              <a:rPr lang="it-IT"/>
              <a:t> f[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(u)].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Proprietà del capostipite</a:t>
            </a:r>
          </a:p>
        </p:txBody>
      </p:sp>
      <p:sp>
        <p:nvSpPr>
          <p:cNvPr id="52224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it-IT"/>
              <a:t>Altrimenti sia w l’ultimo nodo non bianco di tale cammino. Il vertice w non può essere nero altrimenti il vertice successivo, che è bianco, dovrebbe essere già stato scoperto. Quindi w è grigio e al momento della scoperta di w vi era un cammino bianco da w a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(u). Quindi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è un discendente di w e dunque f[w] </a:t>
            </a:r>
            <a:r>
              <a:rPr lang="it-IT">
                <a:sym typeface="Symbol" charset="0"/>
              </a:rPr>
              <a:t>&gt;</a:t>
            </a:r>
            <a:r>
              <a:rPr lang="it-IT"/>
              <a:t> f[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(u)]. Questo contraddice il fatto che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sia il capostipite in quanto w è raggiungibile da u. </a:t>
            </a:r>
          </a:p>
          <a:p>
            <a:pPr lvl="1" eaLnBrk="1" hangingPunct="1">
              <a:defRPr/>
            </a:pPr>
            <a:r>
              <a:rPr lang="it-IT"/>
              <a:t>Dunque quando viene scoperto u il vertice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è grigio e u è discendente di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327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Prima conseguenza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Un vertice u e il suo capostipite </a:t>
            </a:r>
            <a:r>
              <a:rPr lang="it-IT" dirty="0">
                <a:cs typeface="+mn-cs"/>
                <a:sym typeface="Symbol" charset="0"/>
              </a:rPr>
              <a:t></a:t>
            </a:r>
            <a:r>
              <a:rPr lang="it-IT" dirty="0">
                <a:cs typeface="+mn-cs"/>
              </a:rPr>
              <a:t>(u) stanno nella stessa </a:t>
            </a:r>
            <a:r>
              <a:rPr lang="it-IT" dirty="0" err="1">
                <a:cs typeface="+mn-cs"/>
              </a:rPr>
              <a:t>cfc</a:t>
            </a:r>
            <a:r>
              <a:rPr lang="it-IT" dirty="0">
                <a:cs typeface="+mn-cs"/>
              </a:rPr>
              <a:t>.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Dimostrazione. </a:t>
            </a:r>
          </a:p>
          <a:p>
            <a:pPr marL="0" indent="0" eaLnBrk="1" hangingPunct="1">
              <a:buNone/>
              <a:defRPr/>
            </a:pPr>
            <a:r>
              <a:rPr lang="it-IT" dirty="0">
                <a:cs typeface="+mn-cs"/>
              </a:rPr>
              <a:t>Per definizione di capostipite vi è un cammino da u a </a:t>
            </a:r>
            <a:r>
              <a:rPr lang="it-IT" dirty="0">
                <a:cs typeface="+mn-cs"/>
                <a:sym typeface="Symbol" charset="0"/>
              </a:rPr>
              <a:t></a:t>
            </a:r>
            <a:r>
              <a:rPr lang="it-IT" dirty="0">
                <a:cs typeface="+mn-cs"/>
              </a:rPr>
              <a:t>(u) e per la proprietà del capostipite vi è un cammino da </a:t>
            </a:r>
            <a:r>
              <a:rPr lang="it-IT" dirty="0">
                <a:cs typeface="+mn-cs"/>
                <a:sym typeface="Symbol" charset="0"/>
              </a:rPr>
              <a:t></a:t>
            </a:r>
            <a:r>
              <a:rPr lang="it-IT" dirty="0">
                <a:cs typeface="+mn-cs"/>
              </a:rPr>
              <a:t>(u) a 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42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Seconda conseguenza. Due vertici u e v stanno nella stessa cfc se e solo se hanno lo stesso capostipite.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Dimostrazione. </a:t>
            </a:r>
          </a:p>
          <a:p>
            <a:pPr lvl="1" eaLnBrk="1" hangingPunct="1">
              <a:defRPr/>
            </a:pPr>
            <a:r>
              <a:rPr lang="it-IT"/>
              <a:t>Se u e v stanno nella stessa cfc allora ogni nodo raggiungibile da u è anche raggiungibile da v e viceversa. </a:t>
            </a:r>
          </a:p>
          <a:p>
            <a:pPr lvl="1" eaLnBrk="1" hangingPunct="1">
              <a:defRPr/>
            </a:pPr>
            <a:r>
              <a:rPr lang="it-IT"/>
              <a:t>Quindi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=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(v). </a:t>
            </a:r>
          </a:p>
          <a:p>
            <a:pPr lvl="1" eaLnBrk="1" hangingPunct="1">
              <a:defRPr/>
            </a:pPr>
            <a:r>
              <a:rPr lang="it-IT"/>
              <a:t>Viceversa, se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=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(v) allora u è nella stessa cfc di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 e v è nella stessa cfc di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(v) = </a:t>
            </a:r>
            <a:r>
              <a:rPr lang="it-IT">
                <a:sym typeface="Symbol" charset="0"/>
              </a:rPr>
              <a:t></a:t>
            </a:r>
            <a:r>
              <a:rPr lang="it-IT"/>
              <a:t>(u).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531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Dunque le cfc sono esattamente gli insiemi di vertici aventi lo stesso capostipite e nella foresta di ricerca in profondità tali vertici sono tutti discendenti del capostipite.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Pertanto durante la ricerca in profondità su G il capostipite è il primo vertice della cfc ad essere scoperto e l’ultimo ad essere finito.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634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Per capire perché la seconda ricerca si effettua sul grafo trasposto G</a:t>
            </a:r>
            <a:r>
              <a:rPr lang="it-IT" baseline="30000">
                <a:cs typeface="+mn-cs"/>
              </a:rPr>
              <a:t>T</a:t>
            </a:r>
            <a:r>
              <a:rPr lang="it-IT">
                <a:cs typeface="+mn-cs"/>
              </a:rPr>
              <a:t> consideriamo il vertice r che viene finito per ultimo nella prima ricerca in profondità.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Esso è certamente un capostipite. Quali sono i vertici della sua cfc? Sono tutti e soli i vertici da cui si può raggiungere r ma non un vertice finito dopo r. Siccome non ci sono vertici finiti dopo r i nodi della cfc sono tutti e soli quelli da cui si può raggiungere r in G, ossia tutti e soli i vertici raggiungibili da r in G</a:t>
            </a:r>
            <a:r>
              <a:rPr lang="it-IT" baseline="30000">
                <a:cs typeface="+mn-cs"/>
              </a:rPr>
              <a:t>T</a:t>
            </a:r>
            <a:r>
              <a:rPr lang="it-IT"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Correttezza</a:t>
            </a:r>
          </a:p>
        </p:txBody>
      </p:sp>
      <p:sp>
        <p:nvSpPr>
          <p:cNvPr id="52736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Dopo che la ricerca in profondità in G</a:t>
            </a:r>
            <a:r>
              <a:rPr lang="it-IT" baseline="30000">
                <a:cs typeface="+mn-cs"/>
              </a:rPr>
              <a:t>T</a:t>
            </a:r>
            <a:r>
              <a:rPr lang="it-IT">
                <a:cs typeface="+mn-cs"/>
              </a:rPr>
              <a:t> ha trovato e colorato di nero tutti i vertici raggiungibili da r essa riparte con il vertice r' bianco avente tempo di fine massimo tra quelli rimasti. </a:t>
            </a:r>
          </a:p>
          <a:p>
            <a:pPr eaLnBrk="1" hangingPunct="1">
              <a:defRPr/>
            </a:pPr>
            <a:r>
              <a:rPr lang="it-IT">
                <a:cs typeface="+mn-cs"/>
              </a:rPr>
              <a:t>Lo stesso ragionamento mostra che la cfc di r' è costituita dai vertici non ancora colorati di nero che sono raggiungibili da r' in G</a:t>
            </a:r>
            <a:r>
              <a:rPr lang="it-IT" baseline="30000">
                <a:cs typeface="+mn-cs"/>
              </a:rPr>
              <a:t>T</a:t>
            </a:r>
            <a:r>
              <a:rPr lang="it-IT"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7" name="Text Box 3"/>
          <p:cNvSpPr txBox="1">
            <a:spLocks noChangeArrowheads="1"/>
          </p:cNvSpPr>
          <p:nvPr/>
        </p:nvSpPr>
        <p:spPr bwMode="auto">
          <a:xfrm>
            <a:off x="533400" y="4114800"/>
            <a:ext cx="8077200" cy="156966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CompFortConn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Passo1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Trasponi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Passo2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5283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l’algoritmo</a:t>
            </a:r>
          </a:p>
        </p:txBody>
      </p:sp>
      <p:sp>
        <p:nvSpPr>
          <p:cNvPr id="5283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n-cs"/>
              </a:rPr>
              <a:t>Nella ricerca in G si usa una pila P per memorizzare i vertici in ordine di finitura decrescente mentre nella ricerca in G</a:t>
            </a:r>
            <a:r>
              <a:rPr lang="it-IT" baseline="30000">
                <a:cs typeface="+mn-cs"/>
              </a:rPr>
              <a:t>T</a:t>
            </a:r>
            <a:r>
              <a:rPr lang="it-IT">
                <a:cs typeface="+mn-cs"/>
              </a:rPr>
              <a:t> si usa una struttura per insiemi disgiunti per memorizzare le cfc.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Text Box 2"/>
          <p:cNvSpPr txBox="1">
            <a:spLocks noChangeArrowheads="1"/>
          </p:cNvSpPr>
          <p:nvPr/>
        </p:nvSpPr>
        <p:spPr bwMode="auto">
          <a:xfrm>
            <a:off x="457200" y="1066800"/>
            <a:ext cx="8077200" cy="2308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Passo1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Passo1Ric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529411" name="Text Box 3"/>
          <p:cNvSpPr txBox="1">
            <a:spLocks noChangeArrowheads="1"/>
          </p:cNvSpPr>
          <p:nvPr/>
        </p:nvSpPr>
        <p:spPr bwMode="auto">
          <a:xfrm>
            <a:off x="457200" y="3657600"/>
            <a:ext cx="8077200" cy="26733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Passo1Ric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grigio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Passo1Ric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nero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Push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529412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l’algoritmo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Text Box 2"/>
          <p:cNvSpPr txBox="1">
            <a:spLocks noChangeArrowheads="1"/>
          </p:cNvSpPr>
          <p:nvPr/>
        </p:nvSpPr>
        <p:spPr bwMode="auto">
          <a:xfrm>
            <a:off x="457200" y="1066800"/>
            <a:ext cx="8077200" cy="26733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Passo2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while not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Empty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 do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Pop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 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Passo2Ric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</p:txBody>
      </p:sp>
      <p:sp>
        <p:nvSpPr>
          <p:cNvPr id="530435" name="Text Box 3"/>
          <p:cNvSpPr txBox="1">
            <a:spLocks noChangeArrowheads="1"/>
          </p:cNvSpPr>
          <p:nvPr/>
        </p:nvSpPr>
        <p:spPr bwMode="auto">
          <a:xfrm>
            <a:off x="457200" y="3810000"/>
            <a:ext cx="8077200" cy="26733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it-IT" sz="2400" b="1" i="1">
                <a:latin typeface="Calibri"/>
                <a:cs typeface="Calibri"/>
                <a:sym typeface="Symbol" charset="0"/>
              </a:rPr>
              <a:t>Passo2Ric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grigio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MakeSet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for “ogni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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]” do      </a:t>
            </a:r>
            <a:r>
              <a:rPr lang="it-IT" sz="2400" b="1" i="1">
                <a:solidFill>
                  <a:schemeClr val="hlink"/>
                </a:solidFill>
                <a:latin typeface="Calibri"/>
                <a:cs typeface="Calibri"/>
                <a:sym typeface="Symbol" charset="0"/>
              </a:rPr>
              <a:t>Adj</a:t>
            </a:r>
            <a:r>
              <a:rPr lang="it-IT" sz="2400" b="1" i="1" baseline="30000">
                <a:solidFill>
                  <a:schemeClr val="hlink"/>
                </a:solidFill>
                <a:latin typeface="Calibri"/>
                <a:cs typeface="Calibri"/>
              </a:rPr>
              <a:t>T</a:t>
            </a:r>
            <a:r>
              <a:rPr lang="it-IT" sz="2400" b="1">
                <a:solidFill>
                  <a:schemeClr val="hlink"/>
                </a:solidFill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solidFill>
                  <a:schemeClr val="hlink"/>
                </a:solidFill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solidFill>
                  <a:schemeClr val="hlink"/>
                </a:solidFill>
                <a:latin typeface="Calibri"/>
                <a:cs typeface="Calibri"/>
                <a:sym typeface="Symbol" charset="0"/>
              </a:rPr>
              <a:t>] lista adiacenze in </a:t>
            </a:r>
            <a:r>
              <a:rPr lang="it-IT" sz="2400" b="1" i="1">
                <a:solidFill>
                  <a:schemeClr val="hlink"/>
                </a:solidFill>
                <a:latin typeface="Calibri"/>
                <a:cs typeface="Calibri"/>
                <a:sym typeface="Symbol" charset="0"/>
              </a:rPr>
              <a:t>G</a:t>
            </a:r>
            <a:r>
              <a:rPr lang="it-IT" sz="2400" b="1" i="1" baseline="30000">
                <a:solidFill>
                  <a:schemeClr val="hlink"/>
                </a:solidFill>
                <a:latin typeface="Calibri"/>
                <a:cs typeface="Calibri"/>
              </a:rPr>
              <a:t>T</a:t>
            </a:r>
            <a:endParaRPr lang="it-IT" sz="2400" b="1">
              <a:latin typeface="Calibri"/>
              <a:cs typeface="Calibri"/>
              <a:sym typeface="Symbol" charset="0"/>
            </a:endParaRP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if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=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bianco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 then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Passo2Ric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</a:rPr>
              <a:t>G</a:t>
            </a:r>
            <a:r>
              <a:rPr lang="it-IT" sz="2400" b="1" i="1" baseline="30000">
                <a:latin typeface="Calibri"/>
                <a:cs typeface="Calibri"/>
              </a:rPr>
              <a:t>T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     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Union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(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,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v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)</a:t>
            </a:r>
          </a:p>
          <a:p>
            <a:pPr eaLnBrk="0" hangingPunct="0">
              <a:defRPr/>
            </a:pPr>
            <a:r>
              <a:rPr lang="it-IT" sz="2400" b="1">
                <a:latin typeface="Calibri"/>
                <a:cs typeface="Calibri"/>
                <a:sym typeface="Symbol" charset="0"/>
              </a:rPr>
              <a:t>   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color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[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u</a:t>
            </a:r>
            <a:r>
              <a:rPr lang="it-IT" sz="2400" b="1">
                <a:latin typeface="Calibri"/>
                <a:cs typeface="Calibri"/>
                <a:sym typeface="Symbol" charset="0"/>
              </a:rPr>
              <a:t>]  </a:t>
            </a:r>
            <a:r>
              <a:rPr lang="it-IT" sz="2400" b="1" i="1">
                <a:latin typeface="Calibri"/>
                <a:cs typeface="Calibri"/>
                <a:sym typeface="Symbol" charset="0"/>
              </a:rPr>
              <a:t>nero</a:t>
            </a:r>
          </a:p>
        </p:txBody>
      </p:sp>
      <p:sp>
        <p:nvSpPr>
          <p:cNvPr id="53043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CFC: l’algoritmo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Grafo delle CFC</a:t>
            </a:r>
          </a:p>
        </p:txBody>
      </p:sp>
      <p:sp>
        <p:nvSpPr>
          <p:cNvPr id="53146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Dato un grafo orientato G, il grafo delle componenti fortemente connesse di G </a:t>
            </a:r>
            <a:r>
              <a:rPr lang="it-IT">
                <a:cs typeface="+mn-cs"/>
              </a:rPr>
              <a:t>è</a:t>
            </a:r>
            <a:r>
              <a:rPr lang="en-US">
                <a:cs typeface="+mn-cs"/>
              </a:rPr>
              <a:t> il grafo </a:t>
            </a:r>
            <a:r>
              <a:rPr lang="it-IT">
                <a:cs typeface="+mn-cs"/>
              </a:rPr>
              <a:t>orientato </a:t>
            </a:r>
            <a:r>
              <a:rPr lang="en-US">
                <a:cs typeface="+mn-cs"/>
              </a:rPr>
              <a:t>H avente come vertici le componenti fortemente connesse di G e un arco da una cfc C ad una cfc C</a:t>
            </a:r>
            <a:r>
              <a:rPr lang="it-IT">
                <a:cs typeface="+mn-cs"/>
              </a:rPr>
              <a:t>' se e solo se in G vi è un arco che connette un vertice di C ad un vertice di C'.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1218</TotalTime>
  <Words>4143</Words>
  <Application>Microsoft Office PowerPoint</Application>
  <PresentationFormat>Presentazione su schermo (4:3)</PresentationFormat>
  <Paragraphs>496</Paragraphs>
  <Slides>46</Slides>
  <Notes>46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47" baseType="lpstr">
      <vt:lpstr>Presentazione</vt:lpstr>
      <vt:lpstr>UNIVERSITA’ DI MILANO-BICOCCA CdL IN INFORMATICA</vt:lpstr>
      <vt:lpstr>Ricerca in profondità (DFS)</vt:lpstr>
      <vt:lpstr>Ricerca in profondità (DFS)</vt:lpstr>
      <vt:lpstr>Ricerca in profondità (DFS)</vt:lpstr>
      <vt:lpstr>Ricerca in profondità (DFS)</vt:lpstr>
      <vt:lpstr>Ricerca in profondità (DFS)</vt:lpstr>
      <vt:lpstr>Ricerca in profondità (DFS)</vt:lpstr>
      <vt:lpstr>DFS: Esempio</vt:lpstr>
      <vt:lpstr>DFS: Esempio</vt:lpstr>
      <vt:lpstr>DFS: Analisi di complessità</vt:lpstr>
      <vt:lpstr>DFS: Analisi di complessità</vt:lpstr>
      <vt:lpstr>DFS: Proprietà delle parentesi</vt:lpstr>
      <vt:lpstr>DFS: Proprietà delle parentesi</vt:lpstr>
      <vt:lpstr>DFS: Proprietà dei discendenti</vt:lpstr>
      <vt:lpstr>DFS: Proprietà del cammino bianco</vt:lpstr>
      <vt:lpstr>DFS: Proprietà del cammino bianco</vt:lpstr>
      <vt:lpstr>DFS: Proprietà del cammino bianco</vt:lpstr>
      <vt:lpstr>DFS: Proprietà del cammino bianco</vt:lpstr>
      <vt:lpstr>DFS: Classificazione degli archi</vt:lpstr>
      <vt:lpstr>DFS: Classificazione degli archi</vt:lpstr>
      <vt:lpstr>DFS: Classificazione degli archi</vt:lpstr>
      <vt:lpstr>Ordinamento topologico</vt:lpstr>
      <vt:lpstr>Ordinamento topologico</vt:lpstr>
      <vt:lpstr>Ordinamento topologico</vt:lpstr>
      <vt:lpstr>Ordinamento topologico</vt:lpstr>
      <vt:lpstr>Ordinamento topologico</vt:lpstr>
      <vt:lpstr>Caratterizzazione dei DAG</vt:lpstr>
      <vt:lpstr>Caratterizzazione dei DAG</vt:lpstr>
      <vt:lpstr>Ordinamento topologico: Correttezza</vt:lpstr>
      <vt:lpstr>Componenti fortemente connesse</vt:lpstr>
      <vt:lpstr>Componenti fortemente connesse</vt:lpstr>
      <vt:lpstr>Componenti fortemente connesse</vt:lpstr>
      <vt:lpstr>CFC: Proprietà dei cammini</vt:lpstr>
      <vt:lpstr>CFC: Proprietà degli alberi</vt:lpstr>
      <vt:lpstr>CFC: Correttezza</vt:lpstr>
      <vt:lpstr>CFC: Proprietà del capostipite</vt:lpstr>
      <vt:lpstr>CFC: Proprietà del capostipite</vt:lpstr>
      <vt:lpstr>CFC: Correttezza</vt:lpstr>
      <vt:lpstr>CFC: Correttezza</vt:lpstr>
      <vt:lpstr>CFC: Correttezza</vt:lpstr>
      <vt:lpstr>CFC: Correttezza</vt:lpstr>
      <vt:lpstr>CFC: Correttezza</vt:lpstr>
      <vt:lpstr>CFC: l’algoritmo</vt:lpstr>
      <vt:lpstr>CFC: l’algoritmo</vt:lpstr>
      <vt:lpstr>CFC: l’algoritmo</vt:lpstr>
      <vt:lpstr>Grafo delle CFC</vt:lpstr>
    </vt:vector>
  </TitlesOfParts>
  <Company>DISCo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70</cp:revision>
  <cp:lastPrinted>2002-02-01T12:39:25Z</cp:lastPrinted>
  <dcterms:created xsi:type="dcterms:W3CDTF">2010-03-03T07:29:28Z</dcterms:created>
  <dcterms:modified xsi:type="dcterms:W3CDTF">2017-11-22T12:21:13Z</dcterms:modified>
</cp:coreProperties>
</file>