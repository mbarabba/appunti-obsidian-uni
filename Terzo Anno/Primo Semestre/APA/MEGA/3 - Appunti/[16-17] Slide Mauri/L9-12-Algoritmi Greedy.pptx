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Slides/notesSlide7.xml" ContentType="application/vnd.openxmlformats-officedocument.presentationml.notesSlide+xml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7" r:id="rId1"/>
  </p:sldMasterIdLst>
  <p:notesMasterIdLst>
    <p:notesMasterId r:id="rId59"/>
  </p:notesMasterIdLst>
  <p:handoutMasterIdLst>
    <p:handoutMasterId r:id="rId60"/>
  </p:handoutMasterIdLst>
  <p:sldIdLst>
    <p:sldId id="515" r:id="rId2"/>
    <p:sldId id="516" r:id="rId3"/>
    <p:sldId id="517" r:id="rId4"/>
    <p:sldId id="518" r:id="rId5"/>
    <p:sldId id="519" r:id="rId6"/>
    <p:sldId id="520" r:id="rId7"/>
    <p:sldId id="521" r:id="rId8"/>
    <p:sldId id="522" r:id="rId9"/>
    <p:sldId id="573" r:id="rId10"/>
    <p:sldId id="524" r:id="rId11"/>
    <p:sldId id="525" r:id="rId12"/>
    <p:sldId id="526" r:id="rId13"/>
    <p:sldId id="527" r:id="rId14"/>
    <p:sldId id="528" r:id="rId15"/>
    <p:sldId id="529" r:id="rId16"/>
    <p:sldId id="530" r:id="rId17"/>
    <p:sldId id="531" r:id="rId18"/>
    <p:sldId id="532" r:id="rId19"/>
    <p:sldId id="533" r:id="rId20"/>
    <p:sldId id="534" r:id="rId21"/>
    <p:sldId id="535" r:id="rId22"/>
    <p:sldId id="536" r:id="rId23"/>
    <p:sldId id="537" r:id="rId24"/>
    <p:sldId id="538" r:id="rId25"/>
    <p:sldId id="539" r:id="rId26"/>
    <p:sldId id="540" r:id="rId27"/>
    <p:sldId id="541" r:id="rId28"/>
    <p:sldId id="542" r:id="rId29"/>
    <p:sldId id="543" r:id="rId30"/>
    <p:sldId id="544" r:id="rId31"/>
    <p:sldId id="545" r:id="rId32"/>
    <p:sldId id="546" r:id="rId33"/>
    <p:sldId id="547" r:id="rId34"/>
    <p:sldId id="548" r:id="rId35"/>
    <p:sldId id="549" r:id="rId36"/>
    <p:sldId id="550" r:id="rId37"/>
    <p:sldId id="551" r:id="rId38"/>
    <p:sldId id="552" r:id="rId39"/>
    <p:sldId id="553" r:id="rId40"/>
    <p:sldId id="554" r:id="rId41"/>
    <p:sldId id="555" r:id="rId42"/>
    <p:sldId id="556" r:id="rId43"/>
    <p:sldId id="557" r:id="rId44"/>
    <p:sldId id="558" r:id="rId45"/>
    <p:sldId id="559" r:id="rId46"/>
    <p:sldId id="560" r:id="rId47"/>
    <p:sldId id="561" r:id="rId48"/>
    <p:sldId id="562" r:id="rId49"/>
    <p:sldId id="563" r:id="rId50"/>
    <p:sldId id="564" r:id="rId51"/>
    <p:sldId id="565" r:id="rId52"/>
    <p:sldId id="566" r:id="rId53"/>
    <p:sldId id="567" r:id="rId54"/>
    <p:sldId id="568" r:id="rId55"/>
    <p:sldId id="569" r:id="rId56"/>
    <p:sldId id="570" r:id="rId57"/>
    <p:sldId id="571" r:id="rId5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9B0"/>
    <a:srgbClr val="004070"/>
    <a:srgbClr val="005FA6"/>
    <a:srgbClr val="F97407"/>
    <a:srgbClr val="013C69"/>
    <a:srgbClr val="60E6E1"/>
    <a:srgbClr val="201FF0"/>
    <a:srgbClr val="3D9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15" autoAdjust="0"/>
    <p:restoredTop sz="86391" autoAdjust="0"/>
  </p:normalViewPr>
  <p:slideViewPr>
    <p:cSldViewPr>
      <p:cViewPr varScale="1">
        <p:scale>
          <a:sx n="98" d="100"/>
          <a:sy n="98" d="100"/>
        </p:scale>
        <p:origin x="-144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54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handoutMaster" Target="handoutMasters/handoutMaster1.xml"/><Relationship Id="rId61" Type="http://schemas.openxmlformats.org/officeDocument/2006/relationships/printerSettings" Target="printerSettings/printerSettings1.bin"/><Relationship Id="rId62" Type="http://schemas.openxmlformats.org/officeDocument/2006/relationships/presProps" Target="pres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C0C0A947-1BBA-AD47-880C-8075A2EF1038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45189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69DC7B21-583F-CD44-B53F-C88A2417CA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08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fld id="{7D39BA04-5008-0745-BDA3-82A84C11E4B3}" type="slidenum">
              <a:rPr lang="en-US" sz="1200">
                <a:latin typeface="Tahoma" charset="0"/>
              </a:rPr>
              <a:pPr eaLnBrk="1" hangingPunct="1"/>
              <a:t>1</a:t>
            </a:fld>
            <a:endParaRPr lang="en-US" sz="1200">
              <a:latin typeface="Tahoma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F3C1A0-015E-4045-9E64-9371A8DE5FA2}" type="slidenum">
              <a:rPr lang="it-IT"/>
              <a:pPr/>
              <a:t>20</a:t>
            </a:fld>
            <a:endParaRPr lang="it-IT"/>
          </a:p>
        </p:txBody>
      </p:sp>
      <p:sp>
        <p:nvSpPr>
          <p:cNvPr id="70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6175" y="687388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0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3332" y="4343401"/>
            <a:ext cx="5031336" cy="411333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3EEAEB-0889-0F42-ADDB-1A6D9B984517}" type="slidenum">
              <a:rPr lang="it-IT"/>
              <a:pPr/>
              <a:t>22</a:t>
            </a:fld>
            <a:endParaRPr lang="it-IT"/>
          </a:p>
        </p:txBody>
      </p:sp>
      <p:sp>
        <p:nvSpPr>
          <p:cNvPr id="70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6175" y="687388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096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3332" y="4343401"/>
            <a:ext cx="5031336" cy="411333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lIns="92044" tIns="46022" rIns="92044" bIns="46022"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5B3911-73D4-D942-89E0-CA32940FE079}" type="slidenum">
              <a:rPr lang="it-IT"/>
              <a:pPr/>
              <a:t>28</a:t>
            </a:fld>
            <a:endParaRPr lang="it-IT"/>
          </a:p>
        </p:txBody>
      </p:sp>
      <p:sp>
        <p:nvSpPr>
          <p:cNvPr id="71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6175" y="687388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168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3332" y="4343401"/>
            <a:ext cx="5031336" cy="411333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2044" tIns="46022" rIns="92044" bIns="46022"/>
          <a:lstStyle/>
          <a:p>
            <a:r>
              <a:rPr lang="it-IT"/>
              <a:t>000001011</a:t>
            </a:r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AF7EF3-6A12-A841-BB5D-D1624ECF0DE6}" type="slidenum">
              <a:rPr lang="it-IT"/>
              <a:pPr/>
              <a:t>29</a:t>
            </a:fld>
            <a:endParaRPr lang="it-IT"/>
          </a:p>
        </p:txBody>
      </p:sp>
      <p:sp>
        <p:nvSpPr>
          <p:cNvPr id="71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6175" y="687388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188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3332" y="4343401"/>
            <a:ext cx="5031336" cy="411333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2044" tIns="46022" rIns="92044" bIns="46022"/>
          <a:lstStyle/>
          <a:p>
            <a:r>
              <a:rPr lang="it-IT"/>
              <a:t>0101111</a:t>
            </a:r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8F93E4-18AB-0B45-9685-AC426AEA8FF5}" type="slidenum">
              <a:rPr lang="it-IT"/>
              <a:pPr/>
              <a:t>30</a:t>
            </a:fld>
            <a:endParaRPr lang="it-IT"/>
          </a:p>
        </p:txBody>
      </p:sp>
      <p:sp>
        <p:nvSpPr>
          <p:cNvPr id="72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6175" y="687388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2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3332" y="4343401"/>
            <a:ext cx="5031336" cy="411333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2044" tIns="46022" rIns="92044" bIns="46022"/>
          <a:lstStyle/>
          <a:p>
            <a:r>
              <a:rPr lang="it-IT"/>
              <a:t>Bisogna cercare di diminuire sia il numero che le frequenzedei nodi interni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18FE21-948D-B644-9281-996DDB3B315C}" type="slidenum">
              <a:rPr lang="it-IT"/>
              <a:pPr/>
              <a:t>32</a:t>
            </a:fld>
            <a:endParaRPr lang="it-IT"/>
          </a:p>
        </p:txBody>
      </p:sp>
      <p:sp>
        <p:nvSpPr>
          <p:cNvPr id="72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6175" y="687388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260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3332" y="4343401"/>
            <a:ext cx="5031336" cy="411333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lIns="92044" tIns="46022" rIns="92044" bIns="46022"/>
          <a:lstStyle/>
          <a:p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9906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304800"/>
            <a:ext cx="7772400" cy="1143000"/>
          </a:xfrm>
        </p:spPr>
        <p:txBody>
          <a:bodyPr/>
          <a:lstStyle>
            <a:lvl1pPr algn="ctr">
              <a:defRPr sz="2800">
                <a:solidFill>
                  <a:schemeClr val="folHlink"/>
                </a:solidFill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2590800"/>
            <a:ext cx="7010400" cy="335280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ct val="120000"/>
              </a:spcBef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53212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941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2503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57456" y="6093296"/>
            <a:ext cx="886544" cy="272752"/>
          </a:xfrm>
          <a:prstGeom prst="rect">
            <a:avLst/>
          </a:prstGeom>
          <a:ln/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 smtClean="0"/>
              <a:t>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97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93713" y="488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kumimoji="1" lang="it-IT" sz="2400">
              <a:latin typeface="Tahoma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738436" y="25467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kumimoji="1" lang="it-IT" sz="2400">
              <a:latin typeface="Tahoma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479674" y="67694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kumimoji="1" lang="it-IT" sz="2400">
              <a:latin typeface="Tahoma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849561" y="67694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kumimoji="1" lang="it-IT" sz="2400">
              <a:latin typeface="Tahoma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65336" y="60392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kumimoji="1" lang="it-IT" sz="2400">
              <a:latin typeface="Tahoma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00336" y="14672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kumimoji="1" lang="it-IT" sz="2400">
              <a:latin typeface="Tahoma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395536" y="90872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kumimoji="1" lang="it-IT" sz="2400">
              <a:latin typeface="Tahoma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15616" y="188640"/>
            <a:ext cx="7535862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452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536" y="1196752"/>
            <a:ext cx="8352928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7"/>
          <p:cNvSpPr>
            <a:spLocks noChangeArrowheads="1"/>
          </p:cNvSpPr>
          <p:nvPr userDrawn="1"/>
        </p:nvSpPr>
        <p:spPr bwMode="auto">
          <a:xfrm>
            <a:off x="107504" y="6381328"/>
            <a:ext cx="8892480" cy="387350"/>
          </a:xfrm>
          <a:prstGeom prst="rect">
            <a:avLst/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it-IT" sz="1000" b="1"/>
              <a:t>Introduzione agli algoritmi e strutture dati 2/ed</a:t>
            </a:r>
            <a:r>
              <a:rPr lang="it-IT" sz="1000"/>
              <a:t/>
            </a:r>
            <a:br>
              <a:rPr lang="it-IT" sz="1000"/>
            </a:br>
            <a:r>
              <a:rPr lang="it-IT" sz="1000"/>
              <a:t>T. H. Cormen, C. E. Leiserson, R. L. Rivest, C. Stein</a:t>
            </a:r>
          </a:p>
        </p:txBody>
      </p:sp>
      <p:pic>
        <p:nvPicPr>
          <p:cNvPr id="15" name="Picture 9" descr="McGraw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448" y="6400315"/>
            <a:ext cx="41433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0" descr="6251-7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16632"/>
            <a:ext cx="560387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Box 8"/>
          <p:cNvSpPr txBox="1">
            <a:spLocks noChangeArrowheads="1"/>
          </p:cNvSpPr>
          <p:nvPr userDrawn="1"/>
        </p:nvSpPr>
        <p:spPr bwMode="auto">
          <a:xfrm>
            <a:off x="5364088" y="6453336"/>
            <a:ext cx="2922588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1000" dirty="0"/>
              <a:t>Copyright © 2005 – The McGraw-Hill Companies </a:t>
            </a:r>
            <a:r>
              <a:rPr lang="it-IT" sz="1000" dirty="0" err="1"/>
              <a:t>srl</a:t>
            </a:r>
            <a:endParaRPr lang="it-IT" sz="10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8" r:id="rId2"/>
    <p:sldLayoutId id="2147483722" r:id="rId3"/>
    <p:sldLayoutId id="2147483723" r:id="rId4"/>
  </p:sldLayoutIdLs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2" grpId="0" build="p" bldLvl="3" autoUpdateAnimBg="0">
        <p:tmplLst>
          <p:tmpl lvl="1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xmlns:p14="http://schemas.microsoft.com/office/powerpoint/2010/main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xmlns:p14="http://schemas.microsoft.com/office/powerpoint/2010/main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/>
          <a:ea typeface="ＭＳ Ｐゴシック" charset="-128"/>
          <a:cs typeface="Arial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hlink"/>
        </a:buClr>
        <a:buFont typeface="Wingdings" charset="0"/>
        <a:buChar char="Ø"/>
        <a:defRPr sz="2400">
          <a:solidFill>
            <a:srgbClr val="201FF0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40000"/>
        </a:spcBef>
        <a:spcAft>
          <a:spcPct val="0"/>
        </a:spcAft>
        <a:buClr>
          <a:schemeClr val="folHlink"/>
        </a:buClr>
        <a:buSzPct val="95000"/>
        <a:buFont typeface="Wingdings" charset="0"/>
        <a:buChar char="ü"/>
        <a:defRPr sz="2000">
          <a:solidFill>
            <a:schemeClr val="hlink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5pPr>
      <a:lvl6pPr marL="2438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6pPr>
      <a:lvl7pPr marL="2895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7pPr>
      <a:lvl8pPr marL="3352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8pPr>
      <a:lvl9pPr marL="3810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3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4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4" Type="http://schemas.openxmlformats.org/officeDocument/2006/relationships/image" Target="../media/image6.w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4" Type="http://schemas.openxmlformats.org/officeDocument/2006/relationships/image" Target="../media/image7.w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8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it-IT" dirty="0">
                <a:ea typeface="ＭＳ Ｐゴシック" charset="0"/>
                <a:cs typeface="ＭＳ Ｐゴシック" charset="0"/>
              </a:rPr>
              <a:t>UNIVERSITA’ DI MILANO-BICOCCA</a:t>
            </a:r>
            <a:br>
              <a:rPr lang="it-IT" dirty="0">
                <a:ea typeface="ＭＳ Ｐゴシック" charset="0"/>
                <a:cs typeface="ＭＳ Ｐゴシック" charset="0"/>
              </a:rPr>
            </a:br>
            <a:r>
              <a:rPr lang="it-IT" dirty="0" err="1">
                <a:ea typeface="ＭＳ Ｐゴシック" charset="0"/>
                <a:cs typeface="ＭＳ Ｐゴシック" charset="0"/>
              </a:rPr>
              <a:t>CdL</a:t>
            </a:r>
            <a:r>
              <a:rPr lang="it-IT" dirty="0">
                <a:ea typeface="ＭＳ Ｐゴシック" charset="0"/>
                <a:cs typeface="ＭＳ Ｐゴシック" charset="0"/>
              </a:rPr>
              <a:t> IN INFORMATICA</a:t>
            </a:r>
          </a:p>
        </p:txBody>
      </p:sp>
      <p:sp>
        <p:nvSpPr>
          <p:cNvPr id="15362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043608" y="2204864"/>
            <a:ext cx="7086600" cy="3886200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it-IT" dirty="0">
                <a:latin typeface="Comic Sans MS" charset="0"/>
                <a:ea typeface="ＭＳ Ｐゴシック" charset="0"/>
                <a:cs typeface="ＭＳ Ｐゴシック" charset="0"/>
              </a:rPr>
              <a:t>Corso di</a:t>
            </a:r>
          </a:p>
          <a:p>
            <a:pPr eaLnBrk="1" hangingPunct="1">
              <a:spcBef>
                <a:spcPts val="1200"/>
              </a:spcBef>
            </a:pPr>
            <a:r>
              <a:rPr lang="it-IT" sz="2800" b="1" dirty="0">
                <a:solidFill>
                  <a:srgbClr val="FF0000"/>
                </a:solidFill>
              </a:rPr>
              <a:t>ANALISI E PROGETTO DI </a:t>
            </a:r>
            <a:r>
              <a:rPr lang="it-IT" sz="2800" b="1" dirty="0" smtClean="0">
                <a:solidFill>
                  <a:srgbClr val="FF0000"/>
                </a:solidFill>
              </a:rPr>
              <a:t>ALGORITMI</a:t>
            </a:r>
            <a:endParaRPr lang="it-IT" sz="2800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dirty="0">
                <a:latin typeface="Comic Sans MS" charset="0"/>
                <a:ea typeface="ＭＳ Ｐゴシック" charset="0"/>
              </a:rPr>
              <a:t>Prof. Giancarlo Mauri</a:t>
            </a:r>
            <a:endParaRPr lang="it-IT" dirty="0">
              <a:latin typeface="Comic Sans MS" charset="0"/>
              <a:ea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r>
              <a:rPr lang="it-IT" dirty="0" smtClean="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Lezioni 9-10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n-US" dirty="0" err="1" smtClean="0">
                <a:solidFill>
                  <a:srgbClr val="3D9E5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Algoritmi</a:t>
            </a:r>
            <a:r>
              <a:rPr lang="en-US" dirty="0" smtClean="0">
                <a:solidFill>
                  <a:srgbClr val="3D9E5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 greedy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5010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9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Algoritmi golosi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ogni volta si fa la scelta migliore localmente</a:t>
            </a:r>
          </a:p>
          <a:p>
            <a:r>
              <a:rPr lang="it-IT" dirty="0" smtClean="0"/>
              <a:t>in questo modo per </a:t>
            </a:r>
            <a:r>
              <a:rPr lang="it-IT" dirty="0" smtClean="0">
                <a:solidFill>
                  <a:srgbClr val="FF0000"/>
                </a:solidFill>
              </a:rPr>
              <a:t>alcuni</a:t>
            </a:r>
            <a:r>
              <a:rPr lang="it-IT" dirty="0" smtClean="0"/>
              <a:t> problemi si ottiene una soluzione globalmente ottima</a:t>
            </a:r>
          </a:p>
          <a:p>
            <a:r>
              <a:rPr lang="it-IT" dirty="0" smtClean="0"/>
              <a:t>Per altri problemi è garantito solo il raggiungimento di un ottimo locale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63" name="Rectangle 7"/>
          <p:cNvSpPr>
            <a:spLocks noGrp="1" noChangeArrowheads="1"/>
          </p:cNvSpPr>
          <p:nvPr>
            <p:ph type="title"/>
          </p:nvPr>
        </p:nvSpPr>
        <p:spPr>
          <a:xfrm>
            <a:off x="1115616" y="188640"/>
            <a:ext cx="7632848" cy="720080"/>
          </a:xfrm>
        </p:spPr>
        <p:txBody>
          <a:bodyPr/>
          <a:lstStyle/>
          <a:p>
            <a:r>
              <a:rPr lang="it-IT" dirty="0"/>
              <a:t>P</a:t>
            </a:r>
            <a:r>
              <a:rPr lang="it-IT" dirty="0" smtClean="0"/>
              <a:t>roblema di </a:t>
            </a:r>
            <a:r>
              <a:rPr lang="it-IT" dirty="0"/>
              <a:t>s</a:t>
            </a:r>
            <a:r>
              <a:rPr lang="it-IT" dirty="0" smtClean="0"/>
              <a:t>celta ottima delle attività</a:t>
            </a:r>
            <a:endParaRPr lang="it-IT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 smtClean="0">
                <a:solidFill>
                  <a:srgbClr val="FF0000"/>
                </a:solidFill>
              </a:rPr>
              <a:t>n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attività </a:t>
            </a:r>
            <a:r>
              <a:rPr lang="it-IT" dirty="0" smtClean="0">
                <a:solidFill>
                  <a:srgbClr val="FF0000"/>
                </a:solidFill>
              </a:rPr>
              <a:t>a</a:t>
            </a:r>
            <a:r>
              <a:rPr lang="it-IT" baseline="-25000" dirty="0" smtClean="0">
                <a:solidFill>
                  <a:srgbClr val="FF0000"/>
                </a:solidFill>
              </a:rPr>
              <a:t>1</a:t>
            </a:r>
            <a:r>
              <a:rPr lang="it-IT" dirty="0" smtClean="0">
                <a:solidFill>
                  <a:srgbClr val="FF0000"/>
                </a:solidFill>
              </a:rPr>
              <a:t>, a</a:t>
            </a:r>
            <a:r>
              <a:rPr lang="it-IT" baseline="-25000" dirty="0" smtClean="0">
                <a:solidFill>
                  <a:srgbClr val="FF0000"/>
                </a:solidFill>
              </a:rPr>
              <a:t>2</a:t>
            </a:r>
            <a:r>
              <a:rPr lang="it-IT" dirty="0" smtClean="0">
                <a:solidFill>
                  <a:srgbClr val="FF0000"/>
                </a:solidFill>
              </a:rPr>
              <a:t>, … , a</a:t>
            </a:r>
            <a:r>
              <a:rPr lang="it-IT" baseline="-25000" dirty="0" smtClean="0">
                <a:solidFill>
                  <a:srgbClr val="FF0000"/>
                </a:solidFill>
              </a:rPr>
              <a:t>n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usano la stessa risorsa (es: lezioni da tenere in una stessa aula)</a:t>
            </a:r>
          </a:p>
          <a:p>
            <a:r>
              <a:rPr lang="it-IT" dirty="0" smtClean="0"/>
              <a:t>Ogni attività </a:t>
            </a:r>
            <a:r>
              <a:rPr lang="it-IT" dirty="0" smtClean="0">
                <a:solidFill>
                  <a:srgbClr val="FF0000"/>
                </a:solidFill>
              </a:rPr>
              <a:t>a</a:t>
            </a:r>
            <a:r>
              <a:rPr lang="it-IT" baseline="-25000" dirty="0" smtClean="0">
                <a:solidFill>
                  <a:srgbClr val="FF0000"/>
                </a:solidFill>
              </a:rPr>
              <a:t>i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ha un tempo di inizio </a:t>
            </a:r>
            <a:r>
              <a:rPr lang="it-IT" dirty="0" smtClean="0">
                <a:solidFill>
                  <a:srgbClr val="FF0000"/>
                </a:solidFill>
              </a:rPr>
              <a:t>s</a:t>
            </a:r>
            <a:r>
              <a:rPr lang="it-IT" baseline="-25000" dirty="0">
                <a:solidFill>
                  <a:srgbClr val="FF0000"/>
                </a:solidFill>
              </a:rPr>
              <a:t>i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ed un tempo di fine </a:t>
            </a:r>
            <a:r>
              <a:rPr lang="it-IT" dirty="0" smtClean="0">
                <a:solidFill>
                  <a:srgbClr val="FF0000"/>
                </a:solidFill>
              </a:rPr>
              <a:t>f</a:t>
            </a:r>
            <a:r>
              <a:rPr lang="it-IT" baseline="-25000" dirty="0">
                <a:solidFill>
                  <a:srgbClr val="FF0000"/>
                </a:solidFill>
              </a:rPr>
              <a:t>i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con </a:t>
            </a:r>
            <a:r>
              <a:rPr lang="it-IT" dirty="0" smtClean="0">
                <a:solidFill>
                  <a:srgbClr val="FF0000"/>
                </a:solidFill>
              </a:rPr>
              <a:t>s</a:t>
            </a:r>
            <a:r>
              <a:rPr lang="it-IT" baseline="-25000" dirty="0">
                <a:solidFill>
                  <a:srgbClr val="FF0000"/>
                </a:solidFill>
              </a:rPr>
              <a:t>i</a:t>
            </a:r>
            <a:r>
              <a:rPr lang="it-IT" dirty="0" smtClean="0">
                <a:solidFill>
                  <a:srgbClr val="FF0000"/>
                </a:solidFill>
              </a:rPr>
              <a:t> &lt;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dirty="0" smtClean="0">
                <a:solidFill>
                  <a:srgbClr val="FF0000"/>
                </a:solidFill>
              </a:rPr>
              <a:t>f</a:t>
            </a:r>
            <a:r>
              <a:rPr lang="it-IT" baseline="-25000" dirty="0" smtClean="0">
                <a:solidFill>
                  <a:srgbClr val="FF0000"/>
                </a:solidFill>
              </a:rPr>
              <a:t>i </a:t>
            </a:r>
            <a:r>
              <a:rPr lang="it-IT" dirty="0" smtClean="0"/>
              <a:t>e occupa </a:t>
            </a:r>
            <a:r>
              <a:rPr lang="it-IT" dirty="0"/>
              <a:t>la risorsa nell’intervallo temporale semiaperto </a:t>
            </a:r>
            <a:r>
              <a:rPr lang="it-IT" dirty="0">
                <a:solidFill>
                  <a:srgbClr val="FF0000"/>
                </a:solidFill>
              </a:rPr>
              <a:t>[s</a:t>
            </a:r>
            <a:r>
              <a:rPr lang="it-IT" baseline="-25000" dirty="0">
                <a:solidFill>
                  <a:srgbClr val="FF0000"/>
                </a:solidFill>
              </a:rPr>
              <a:t>i</a:t>
            </a:r>
            <a:r>
              <a:rPr lang="it-IT" dirty="0">
                <a:solidFill>
                  <a:srgbClr val="FF0000"/>
                </a:solidFill>
              </a:rPr>
              <a:t>, f</a:t>
            </a:r>
            <a:r>
              <a:rPr lang="it-IT" baseline="-25000" dirty="0">
                <a:solidFill>
                  <a:srgbClr val="FF0000"/>
                </a:solidFill>
              </a:rPr>
              <a:t>i</a:t>
            </a:r>
            <a:r>
              <a:rPr lang="it-IT" dirty="0" smtClean="0">
                <a:solidFill>
                  <a:srgbClr val="FF0000"/>
                </a:solidFill>
              </a:rPr>
              <a:t>)</a:t>
            </a:r>
          </a:p>
          <a:p>
            <a:r>
              <a:rPr lang="it-IT" dirty="0" smtClean="0">
                <a:solidFill>
                  <a:srgbClr val="FF0000"/>
                </a:solidFill>
              </a:rPr>
              <a:t>a</a:t>
            </a:r>
            <a:r>
              <a:rPr lang="it-IT" baseline="-25000" dirty="0" smtClean="0">
                <a:solidFill>
                  <a:srgbClr val="FF0000"/>
                </a:solidFill>
              </a:rPr>
              <a:t>i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ed </a:t>
            </a:r>
            <a:r>
              <a:rPr lang="it-IT" dirty="0" err="1" smtClean="0">
                <a:solidFill>
                  <a:srgbClr val="FF0000"/>
                </a:solidFill>
              </a:rPr>
              <a:t>a</a:t>
            </a:r>
            <a:r>
              <a:rPr lang="it-IT" baseline="-25000" dirty="0" err="1" smtClean="0">
                <a:solidFill>
                  <a:srgbClr val="FF0000"/>
                </a:solidFill>
              </a:rPr>
              <a:t>j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sono compatibili se </a:t>
            </a:r>
            <a:r>
              <a:rPr lang="it-IT" dirty="0" smtClean="0">
                <a:solidFill>
                  <a:srgbClr val="FF0000"/>
                </a:solidFill>
              </a:rPr>
              <a:t>[s</a:t>
            </a:r>
            <a:r>
              <a:rPr lang="it-IT" baseline="-25000" dirty="0">
                <a:solidFill>
                  <a:srgbClr val="FF0000"/>
                </a:solidFill>
              </a:rPr>
              <a:t>i</a:t>
            </a:r>
            <a:r>
              <a:rPr lang="it-IT" dirty="0" smtClean="0">
                <a:solidFill>
                  <a:srgbClr val="FF0000"/>
                </a:solidFill>
              </a:rPr>
              <a:t>, f</a:t>
            </a:r>
            <a:r>
              <a:rPr lang="it-IT" baseline="-25000" dirty="0">
                <a:solidFill>
                  <a:srgbClr val="FF0000"/>
                </a:solidFill>
              </a:rPr>
              <a:t>i</a:t>
            </a:r>
            <a:r>
              <a:rPr lang="it-IT" dirty="0" smtClean="0">
                <a:solidFill>
                  <a:srgbClr val="FF0000"/>
                </a:solidFill>
              </a:rPr>
              <a:t>) </a:t>
            </a:r>
            <a:r>
              <a:rPr lang="it-IT" dirty="0" smtClean="0"/>
              <a:t>ed </a:t>
            </a:r>
            <a:r>
              <a:rPr lang="it-IT" dirty="0" smtClean="0">
                <a:solidFill>
                  <a:srgbClr val="FF0000"/>
                </a:solidFill>
              </a:rPr>
              <a:t>[</a:t>
            </a:r>
            <a:r>
              <a:rPr lang="it-IT" dirty="0" err="1" smtClean="0">
                <a:solidFill>
                  <a:srgbClr val="FF0000"/>
                </a:solidFill>
              </a:rPr>
              <a:t>s</a:t>
            </a:r>
            <a:r>
              <a:rPr lang="it-IT" baseline="-25000" dirty="0" err="1" smtClean="0">
                <a:solidFill>
                  <a:srgbClr val="FF0000"/>
                </a:solidFill>
              </a:rPr>
              <a:t>j</a:t>
            </a:r>
            <a:r>
              <a:rPr lang="it-IT" dirty="0" smtClean="0">
                <a:solidFill>
                  <a:srgbClr val="FF0000"/>
                </a:solidFill>
              </a:rPr>
              <a:t>, </a:t>
            </a:r>
            <a:r>
              <a:rPr lang="it-IT" dirty="0" err="1" smtClean="0">
                <a:solidFill>
                  <a:srgbClr val="FF0000"/>
                </a:solidFill>
              </a:rPr>
              <a:t>f</a:t>
            </a:r>
            <a:r>
              <a:rPr lang="it-IT" baseline="-25000" dirty="0" err="1" smtClean="0">
                <a:solidFill>
                  <a:srgbClr val="FF0000"/>
                </a:solidFill>
              </a:rPr>
              <a:t>j</a:t>
            </a:r>
            <a:r>
              <a:rPr lang="it-IT" dirty="0" smtClean="0">
                <a:solidFill>
                  <a:srgbClr val="FF0000"/>
                </a:solidFill>
              </a:rPr>
              <a:t>)</a:t>
            </a:r>
            <a:r>
              <a:rPr lang="it-IT" dirty="0" smtClean="0"/>
              <a:t> sono disgiunti</a:t>
            </a:r>
          </a:p>
          <a:p>
            <a:pPr marL="0" indent="0" algn="ctr">
              <a:buNone/>
            </a:pPr>
            <a:r>
              <a:rPr lang="it-IT" sz="3200" dirty="0" smtClean="0">
                <a:solidFill>
                  <a:srgbClr val="008000"/>
                </a:solidFill>
              </a:rPr>
              <a:t>Problema</a:t>
            </a:r>
            <a:endParaRPr lang="it-IT" dirty="0" smtClean="0"/>
          </a:p>
          <a:p>
            <a:pPr marL="0" indent="0" algn="ctr">
              <a:buNone/>
            </a:pPr>
            <a:r>
              <a:rPr lang="it-IT" dirty="0" smtClean="0">
                <a:solidFill>
                  <a:schemeClr val="tx1"/>
                </a:solidFill>
              </a:rPr>
              <a:t>scegliere </a:t>
            </a:r>
            <a:r>
              <a:rPr lang="it-IT" dirty="0">
                <a:solidFill>
                  <a:schemeClr val="tx1"/>
                </a:solidFill>
              </a:rPr>
              <a:t>il massimo numero di attività </a:t>
            </a:r>
            <a:r>
              <a:rPr lang="it-IT" dirty="0" smtClean="0">
                <a:solidFill>
                  <a:schemeClr val="tx1"/>
                </a:solidFill>
              </a:rPr>
              <a:t>compatibili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Algoritmo </a:t>
            </a:r>
            <a:r>
              <a:rPr lang="it-IT" dirty="0" smtClean="0"/>
              <a:t>di scelta delle attività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Supponiamo che le attività </a:t>
            </a:r>
            <a:r>
              <a:rPr lang="it-IT" dirty="0">
                <a:solidFill>
                  <a:srgbClr val="FF0000"/>
                </a:solidFill>
              </a:rPr>
              <a:t>a</a:t>
            </a:r>
            <a:r>
              <a:rPr lang="it-IT" baseline="-25000" dirty="0">
                <a:solidFill>
                  <a:srgbClr val="FF0000"/>
                </a:solidFill>
              </a:rPr>
              <a:t>1</a:t>
            </a:r>
            <a:r>
              <a:rPr lang="it-IT" dirty="0">
                <a:solidFill>
                  <a:srgbClr val="FF0000"/>
                </a:solidFill>
              </a:rPr>
              <a:t>, a</a:t>
            </a:r>
            <a:r>
              <a:rPr lang="it-IT" baseline="-25000" dirty="0">
                <a:solidFill>
                  <a:srgbClr val="FF0000"/>
                </a:solidFill>
              </a:rPr>
              <a:t>2</a:t>
            </a:r>
            <a:r>
              <a:rPr lang="it-IT" dirty="0">
                <a:solidFill>
                  <a:srgbClr val="FF0000"/>
                </a:solidFill>
              </a:rPr>
              <a:t>, … , a</a:t>
            </a:r>
            <a:r>
              <a:rPr lang="it-IT" baseline="-25000" dirty="0">
                <a:solidFill>
                  <a:srgbClr val="FF0000"/>
                </a:solidFill>
              </a:rPr>
              <a:t>n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smtClean="0"/>
              <a:t>siano ordinate per tempo di fine non decrescente </a:t>
            </a:r>
          </a:p>
          <a:p>
            <a:pPr marL="0" indent="0">
              <a:buNone/>
            </a:pPr>
            <a:r>
              <a:rPr lang="it-IT" dirty="0" smtClean="0"/>
              <a:t>                        </a:t>
            </a:r>
            <a:r>
              <a:rPr lang="it-IT" dirty="0" smtClean="0">
                <a:solidFill>
                  <a:srgbClr val="FF0000"/>
                </a:solidFill>
              </a:rPr>
              <a:t> f</a:t>
            </a:r>
            <a:r>
              <a:rPr lang="it-IT" baseline="-25000" dirty="0">
                <a:solidFill>
                  <a:srgbClr val="FF0000"/>
                </a:solidFill>
              </a:rPr>
              <a:t>1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</a:t>
            </a:r>
            <a:r>
              <a:rPr lang="it-IT" dirty="0" smtClean="0">
                <a:solidFill>
                  <a:srgbClr val="FF0000"/>
                </a:solidFill>
              </a:rPr>
              <a:t> f</a:t>
            </a:r>
            <a:r>
              <a:rPr lang="it-IT" baseline="-25000" dirty="0" smtClean="0">
                <a:solidFill>
                  <a:srgbClr val="FF0000"/>
                </a:solidFill>
              </a:rPr>
              <a:t>2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 </a:t>
            </a:r>
            <a:r>
              <a:rPr lang="it-IT" dirty="0" smtClean="0">
                <a:solidFill>
                  <a:srgbClr val="FF0000"/>
                </a:solidFill>
              </a:rPr>
              <a:t>... </a:t>
            </a:r>
            <a:r>
              <a:rPr lang="it-IT" dirty="0" smtClean="0">
                <a:solidFill>
                  <a:srgbClr val="FF0000"/>
                </a:solidFill>
                <a:sym typeface="Symbol" charset="0"/>
              </a:rPr>
              <a:t>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err="1" smtClean="0">
                <a:solidFill>
                  <a:srgbClr val="FF0000"/>
                </a:solidFill>
              </a:rPr>
              <a:t>f</a:t>
            </a:r>
            <a:r>
              <a:rPr lang="it-IT" baseline="-25000" dirty="0" err="1" smtClean="0">
                <a:solidFill>
                  <a:srgbClr val="FF0000"/>
                </a:solidFill>
              </a:rPr>
              <a:t>n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endParaRPr lang="it-IT" dirty="0" smtClean="0"/>
          </a:p>
          <a:p>
            <a:r>
              <a:rPr lang="it-IT" dirty="0" smtClean="0"/>
              <a:t>Altrimenti le ordiniamo in tempo </a:t>
            </a:r>
            <a:r>
              <a:rPr lang="it-IT" dirty="0" smtClean="0">
                <a:solidFill>
                  <a:srgbClr val="FF0000"/>
                </a:solidFill>
              </a:rPr>
              <a:t>O(</a:t>
            </a:r>
            <a:r>
              <a:rPr lang="it-IT" dirty="0" err="1" smtClean="0">
                <a:solidFill>
                  <a:srgbClr val="FF0000"/>
                </a:solidFill>
              </a:rPr>
              <a:t>n</a:t>
            </a:r>
            <a:r>
              <a:rPr lang="it-IT" dirty="0" smtClean="0">
                <a:solidFill>
                  <a:srgbClr val="FF0000"/>
                </a:solidFill>
              </a:rPr>
              <a:t> log </a:t>
            </a:r>
            <a:r>
              <a:rPr lang="it-IT" dirty="0" err="1" smtClean="0">
                <a:solidFill>
                  <a:srgbClr val="FF0000"/>
                </a:solidFill>
              </a:rPr>
              <a:t>n</a:t>
            </a:r>
            <a:r>
              <a:rPr lang="it-IT" dirty="0" smtClean="0">
                <a:solidFill>
                  <a:srgbClr val="FF0000"/>
                </a:solidFill>
              </a:rPr>
              <a:t>)</a:t>
            </a:r>
          </a:p>
          <a:p>
            <a:r>
              <a:rPr lang="it-IT" dirty="0"/>
              <a:t>L’algoritmo percorre la sequenza </a:t>
            </a:r>
            <a:r>
              <a:rPr lang="it-IT" dirty="0">
                <a:solidFill>
                  <a:srgbClr val="FF0000"/>
                </a:solidFill>
              </a:rPr>
              <a:t>a</a:t>
            </a:r>
            <a:r>
              <a:rPr lang="it-IT" baseline="-25000" dirty="0">
                <a:solidFill>
                  <a:srgbClr val="FF0000"/>
                </a:solidFill>
              </a:rPr>
              <a:t>1</a:t>
            </a:r>
            <a:r>
              <a:rPr lang="it-IT" dirty="0">
                <a:solidFill>
                  <a:srgbClr val="FF0000"/>
                </a:solidFill>
              </a:rPr>
              <a:t>, a</a:t>
            </a:r>
            <a:r>
              <a:rPr lang="it-IT" baseline="-25000" dirty="0">
                <a:solidFill>
                  <a:srgbClr val="FF0000"/>
                </a:solidFill>
              </a:rPr>
              <a:t>2</a:t>
            </a:r>
            <a:r>
              <a:rPr lang="it-IT" dirty="0">
                <a:solidFill>
                  <a:srgbClr val="FF0000"/>
                </a:solidFill>
              </a:rPr>
              <a:t>, … , a</a:t>
            </a:r>
            <a:r>
              <a:rPr lang="it-IT" baseline="-25000" dirty="0">
                <a:solidFill>
                  <a:srgbClr val="FF0000"/>
                </a:solidFill>
              </a:rPr>
              <a:t>n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smtClean="0"/>
              <a:t>e </a:t>
            </a:r>
            <a:r>
              <a:rPr lang="it-IT" dirty="0"/>
              <a:t>seleziona le attività che sono compatibili con quelle scelte fino a quel momento, senza preoccuparsi delle attività </a:t>
            </a:r>
            <a:r>
              <a:rPr lang="it-IT" dirty="0" smtClean="0"/>
              <a:t>successive</a:t>
            </a:r>
            <a:endParaRPr lang="it-IT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Algoritmo di scelta delle attività</a:t>
            </a:r>
          </a:p>
        </p:txBody>
      </p:sp>
      <p:sp>
        <p:nvSpPr>
          <p:cNvPr id="687108" name="Text Box 4"/>
          <p:cNvSpPr txBox="1">
            <a:spLocks noChangeArrowheads="1"/>
          </p:cNvSpPr>
          <p:nvPr/>
        </p:nvSpPr>
        <p:spPr bwMode="auto">
          <a:xfrm>
            <a:off x="467544" y="1772816"/>
            <a:ext cx="8496944" cy="2200602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lang="it-IT" sz="2400" b="1" i="1" dirty="0" err="1" smtClean="0"/>
              <a:t>SelezioneAttivita</a:t>
            </a:r>
            <a:r>
              <a:rPr lang="it-IT" sz="2400" b="1" i="1" dirty="0" smtClean="0"/>
              <a:t> </a:t>
            </a:r>
            <a:r>
              <a:rPr lang="it-IT" sz="2400" b="1" dirty="0" smtClean="0"/>
              <a:t>(</a:t>
            </a:r>
            <a:r>
              <a:rPr lang="it-IT" sz="2400" b="1" i="1" dirty="0" err="1"/>
              <a:t>a</a:t>
            </a:r>
            <a:r>
              <a:rPr lang="it-IT" sz="2400" b="1" dirty="0" err="1" smtClean="0"/>
              <a:t>,</a:t>
            </a:r>
            <a:r>
              <a:rPr lang="it-IT" sz="2400" b="1" i="1" dirty="0" err="1" smtClean="0"/>
              <a:t>s</a:t>
            </a:r>
            <a:r>
              <a:rPr lang="it-IT" sz="2400" b="1" dirty="0" err="1" smtClean="0"/>
              <a:t>,</a:t>
            </a:r>
            <a:r>
              <a:rPr lang="it-IT" sz="2400" b="1" i="1" dirty="0" err="1" smtClean="0"/>
              <a:t>f</a:t>
            </a:r>
            <a:r>
              <a:rPr lang="it-IT" sz="2400" b="1" dirty="0" err="1" smtClean="0"/>
              <a:t>,</a:t>
            </a:r>
            <a:r>
              <a:rPr lang="it-IT" sz="2400" b="1" i="1" dirty="0" err="1" smtClean="0"/>
              <a:t>n</a:t>
            </a:r>
            <a:r>
              <a:rPr lang="it-IT" sz="2400" b="1" dirty="0" smtClean="0"/>
              <a:t>)              </a:t>
            </a:r>
            <a:r>
              <a:rPr lang="it-IT" sz="2400" b="1" dirty="0" smtClean="0">
                <a:solidFill>
                  <a:srgbClr val="FF0000"/>
                </a:solidFill>
                <a:sym typeface="MT Extra" charset="0"/>
              </a:rPr>
              <a:t> </a:t>
            </a:r>
            <a:r>
              <a:rPr lang="it-IT" sz="2400" b="1" i="1" dirty="0" smtClean="0">
                <a:solidFill>
                  <a:srgbClr val="FF0000"/>
                </a:solidFill>
              </a:rPr>
              <a:t>f</a:t>
            </a:r>
            <a:r>
              <a:rPr lang="it-IT" sz="2400" b="1" baseline="-25000" dirty="0" smtClean="0">
                <a:solidFill>
                  <a:srgbClr val="FF0000"/>
                </a:solidFill>
              </a:rPr>
              <a:t>1</a:t>
            </a:r>
            <a:r>
              <a:rPr lang="it-IT" sz="2400" b="1" dirty="0" smtClean="0">
                <a:solidFill>
                  <a:srgbClr val="FF0000"/>
                </a:solidFill>
                <a:sym typeface="Symbol" charset="0"/>
              </a:rPr>
              <a:t></a:t>
            </a:r>
            <a:r>
              <a:rPr lang="it-IT" sz="2400" b="1" i="1" dirty="0" smtClean="0">
                <a:solidFill>
                  <a:srgbClr val="FF0000"/>
                </a:solidFill>
              </a:rPr>
              <a:t>f</a:t>
            </a:r>
            <a:r>
              <a:rPr lang="it-IT" sz="2400" b="1" baseline="-25000" dirty="0" smtClean="0">
                <a:solidFill>
                  <a:srgbClr val="FF0000"/>
                </a:solidFill>
              </a:rPr>
              <a:t>2</a:t>
            </a:r>
            <a:r>
              <a:rPr lang="it-IT" sz="2400" b="1" dirty="0" smtClean="0">
                <a:solidFill>
                  <a:srgbClr val="FF0000"/>
                </a:solidFill>
                <a:sym typeface="Symbol" charset="0"/>
              </a:rPr>
              <a:t></a:t>
            </a:r>
            <a:r>
              <a:rPr lang="it-IT" sz="2400" b="1" dirty="0" smtClean="0">
                <a:solidFill>
                  <a:srgbClr val="FF0000"/>
                </a:solidFill>
              </a:rPr>
              <a:t>…</a:t>
            </a:r>
            <a:r>
              <a:rPr lang="it-IT" sz="2400" b="1" dirty="0" smtClean="0">
                <a:solidFill>
                  <a:srgbClr val="FF0000"/>
                </a:solidFill>
                <a:sym typeface="Symbol" charset="0"/>
              </a:rPr>
              <a:t></a:t>
            </a:r>
            <a:r>
              <a:rPr lang="it-IT" sz="2400" b="1" i="1" dirty="0" err="1" smtClean="0">
                <a:solidFill>
                  <a:srgbClr val="FF0000"/>
                </a:solidFill>
              </a:rPr>
              <a:t>f</a:t>
            </a:r>
            <a:r>
              <a:rPr lang="it-IT" sz="2400" b="1" i="1" baseline="-25000" dirty="0" err="1" smtClean="0">
                <a:solidFill>
                  <a:srgbClr val="FF0000"/>
                </a:solidFill>
              </a:rPr>
              <a:t>n</a:t>
            </a:r>
            <a:endParaRPr lang="it-IT" sz="2400" b="1" dirty="0"/>
          </a:p>
          <a:p>
            <a:pPr>
              <a:lnSpc>
                <a:spcPct val="95000"/>
              </a:lnSpc>
            </a:pPr>
            <a:r>
              <a:rPr lang="it-IT" sz="2400" b="1" dirty="0"/>
              <a:t>   </a:t>
            </a:r>
            <a:r>
              <a:rPr lang="it-IT" sz="2400" b="1" i="1" dirty="0"/>
              <a:t>b</a:t>
            </a:r>
            <a:r>
              <a:rPr lang="it-IT" sz="2400" b="1" baseline="-25000" dirty="0"/>
              <a:t>1</a:t>
            </a:r>
            <a:r>
              <a:rPr lang="it-IT" sz="2400" b="1" dirty="0"/>
              <a:t> </a:t>
            </a:r>
            <a:r>
              <a:rPr lang="it-IT" sz="2400" b="1" dirty="0" smtClean="0">
                <a:sym typeface="Symbol" charset="0"/>
              </a:rPr>
              <a:t> </a:t>
            </a:r>
            <a:r>
              <a:rPr lang="it-IT" sz="2400" b="1" i="1" dirty="0" smtClean="0"/>
              <a:t>a</a:t>
            </a:r>
            <a:r>
              <a:rPr lang="it-IT" sz="2400" b="1" baseline="-25000" dirty="0" smtClean="0"/>
              <a:t>1</a:t>
            </a:r>
            <a:r>
              <a:rPr lang="it-IT" sz="2400" b="1" dirty="0">
                <a:sym typeface="Symbol" charset="0"/>
              </a:rPr>
              <a:t>,  </a:t>
            </a:r>
            <a:r>
              <a:rPr lang="it-IT" sz="2400" b="1" i="1" dirty="0">
                <a:sym typeface="Symbol" charset="0"/>
              </a:rPr>
              <a:t>k</a:t>
            </a:r>
            <a:r>
              <a:rPr lang="it-IT" sz="2400" b="1" dirty="0">
                <a:sym typeface="Symbol" charset="0"/>
              </a:rPr>
              <a:t>  1</a:t>
            </a:r>
            <a:r>
              <a:rPr lang="it-IT" sz="2400" b="1" dirty="0"/>
              <a:t>, </a:t>
            </a:r>
            <a:r>
              <a:rPr lang="it-IT" sz="2400" b="1" i="1" dirty="0" err="1"/>
              <a:t>maxf</a:t>
            </a:r>
            <a:r>
              <a:rPr lang="it-IT" sz="2400" b="1" dirty="0"/>
              <a:t> </a:t>
            </a:r>
            <a:r>
              <a:rPr lang="it-IT" sz="2400" b="1" dirty="0">
                <a:sym typeface="Symbol" charset="0"/>
              </a:rPr>
              <a:t></a:t>
            </a:r>
            <a:r>
              <a:rPr lang="it-IT" sz="2400" b="1" dirty="0"/>
              <a:t> </a:t>
            </a:r>
            <a:r>
              <a:rPr lang="it-IT" sz="2400" b="1" i="1" dirty="0"/>
              <a:t>f</a:t>
            </a:r>
            <a:r>
              <a:rPr lang="it-IT" sz="2400" b="1" baseline="-25000" dirty="0"/>
              <a:t>1</a:t>
            </a:r>
          </a:p>
          <a:p>
            <a:pPr>
              <a:lnSpc>
                <a:spcPct val="95000"/>
              </a:lnSpc>
            </a:pPr>
            <a:r>
              <a:rPr lang="it-IT" sz="2400" b="1" dirty="0"/>
              <a:t>   for </a:t>
            </a:r>
            <a:r>
              <a:rPr lang="it-IT" sz="2400" b="1" i="1" dirty="0"/>
              <a:t>i </a:t>
            </a:r>
            <a:r>
              <a:rPr lang="it-IT" sz="2400" b="1" dirty="0">
                <a:sym typeface="Symbol" charset="0"/>
              </a:rPr>
              <a:t> 2</a:t>
            </a:r>
            <a:r>
              <a:rPr lang="it-IT" sz="2400" b="1" dirty="0"/>
              <a:t> to </a:t>
            </a:r>
            <a:r>
              <a:rPr lang="it-IT" sz="2400" b="1" i="1" dirty="0" err="1"/>
              <a:t>n</a:t>
            </a:r>
            <a:r>
              <a:rPr lang="it-IT" sz="2400" b="1" dirty="0"/>
              <a:t> do</a:t>
            </a:r>
          </a:p>
          <a:p>
            <a:pPr>
              <a:lnSpc>
                <a:spcPct val="95000"/>
              </a:lnSpc>
            </a:pPr>
            <a:r>
              <a:rPr lang="it-IT" sz="2400" b="1" dirty="0"/>
              <a:t>      </a:t>
            </a:r>
            <a:r>
              <a:rPr lang="it-IT" sz="2400" b="1" dirty="0" err="1"/>
              <a:t>if</a:t>
            </a:r>
            <a:r>
              <a:rPr lang="it-IT" sz="2400" b="1" dirty="0"/>
              <a:t> </a:t>
            </a:r>
            <a:r>
              <a:rPr lang="it-IT" sz="2400" b="1" i="1" dirty="0"/>
              <a:t>s</a:t>
            </a:r>
            <a:r>
              <a:rPr lang="it-IT" sz="2400" b="1" i="1" baseline="-25000" dirty="0"/>
              <a:t>i</a:t>
            </a:r>
            <a:r>
              <a:rPr lang="it-IT" sz="2400" b="1" dirty="0"/>
              <a:t> </a:t>
            </a:r>
            <a:r>
              <a:rPr lang="it-IT" sz="2400" b="1" dirty="0">
                <a:sym typeface="Symbol" charset="0"/>
              </a:rPr>
              <a:t></a:t>
            </a:r>
            <a:r>
              <a:rPr lang="it-IT" sz="2400" b="1" dirty="0"/>
              <a:t> </a:t>
            </a:r>
            <a:r>
              <a:rPr lang="it-IT" sz="2400" b="1" i="1" dirty="0" err="1"/>
              <a:t>maxf</a:t>
            </a:r>
            <a:r>
              <a:rPr lang="it-IT" sz="2400" b="1" dirty="0"/>
              <a:t> </a:t>
            </a:r>
            <a:r>
              <a:rPr lang="it-IT" sz="2400" b="1" dirty="0" err="1"/>
              <a:t>then</a:t>
            </a:r>
            <a:endParaRPr lang="it-IT" sz="2400" b="1" dirty="0"/>
          </a:p>
          <a:p>
            <a:pPr>
              <a:lnSpc>
                <a:spcPct val="95000"/>
              </a:lnSpc>
            </a:pPr>
            <a:r>
              <a:rPr lang="it-IT" sz="2400" b="1" dirty="0"/>
              <a:t>         </a:t>
            </a:r>
            <a:r>
              <a:rPr lang="it-IT" sz="2400" b="1" i="1" dirty="0">
                <a:sym typeface="Symbol" charset="0"/>
              </a:rPr>
              <a:t>k</a:t>
            </a:r>
            <a:r>
              <a:rPr lang="it-IT" sz="2400" b="1" dirty="0">
                <a:sym typeface="Symbol" charset="0"/>
              </a:rPr>
              <a:t>  </a:t>
            </a:r>
            <a:r>
              <a:rPr lang="it-IT" sz="2400" b="1" i="1" dirty="0">
                <a:sym typeface="Symbol" charset="0"/>
              </a:rPr>
              <a:t>k</a:t>
            </a:r>
            <a:r>
              <a:rPr lang="it-IT" sz="2400" b="1" dirty="0">
                <a:sym typeface="Symbol" charset="0"/>
              </a:rPr>
              <a:t>+1</a:t>
            </a:r>
            <a:r>
              <a:rPr lang="it-IT" sz="2400" b="1" dirty="0"/>
              <a:t>, </a:t>
            </a:r>
            <a:r>
              <a:rPr lang="it-IT" sz="2400" b="1" i="1" dirty="0" err="1"/>
              <a:t>b</a:t>
            </a:r>
            <a:r>
              <a:rPr lang="it-IT" sz="2400" b="1" i="1" baseline="-25000" dirty="0" err="1"/>
              <a:t>k</a:t>
            </a:r>
            <a:r>
              <a:rPr lang="it-IT" sz="2400" b="1" dirty="0"/>
              <a:t> </a:t>
            </a:r>
            <a:r>
              <a:rPr lang="it-IT" sz="2400" b="1" dirty="0">
                <a:sym typeface="Symbol" charset="0"/>
              </a:rPr>
              <a:t> </a:t>
            </a:r>
            <a:r>
              <a:rPr lang="it-IT" sz="2400" b="1" i="1" dirty="0"/>
              <a:t>a</a:t>
            </a:r>
            <a:r>
              <a:rPr lang="it-IT" sz="2400" b="1" i="1" baseline="-25000" dirty="0"/>
              <a:t>i</a:t>
            </a:r>
            <a:r>
              <a:rPr lang="it-IT" sz="2400" b="1" dirty="0">
                <a:sym typeface="Symbol" charset="0"/>
              </a:rPr>
              <a:t>, </a:t>
            </a:r>
            <a:r>
              <a:rPr lang="it-IT" sz="2400" b="1" i="1" dirty="0" err="1"/>
              <a:t>maxf</a:t>
            </a:r>
            <a:r>
              <a:rPr lang="it-IT" sz="2400" b="1" dirty="0"/>
              <a:t> </a:t>
            </a:r>
            <a:r>
              <a:rPr lang="it-IT" sz="2400" b="1" dirty="0">
                <a:sym typeface="Symbol" charset="0"/>
              </a:rPr>
              <a:t></a:t>
            </a:r>
            <a:r>
              <a:rPr lang="it-IT" sz="2400" b="1" dirty="0"/>
              <a:t> </a:t>
            </a:r>
            <a:r>
              <a:rPr lang="it-IT" sz="2400" b="1" i="1" dirty="0"/>
              <a:t>f</a:t>
            </a:r>
            <a:r>
              <a:rPr lang="it-IT" sz="2400" b="1" i="1" baseline="-25000" dirty="0"/>
              <a:t>i</a:t>
            </a:r>
            <a:endParaRPr lang="it-IT" sz="2400" b="1" dirty="0"/>
          </a:p>
          <a:p>
            <a:pPr>
              <a:lnSpc>
                <a:spcPct val="95000"/>
              </a:lnSpc>
            </a:pPr>
            <a:r>
              <a:rPr lang="it-IT" sz="2400" b="1" dirty="0"/>
              <a:t>   </a:t>
            </a:r>
            <a:r>
              <a:rPr lang="it-IT" sz="2400" b="1" dirty="0" err="1"/>
              <a:t>return</a:t>
            </a:r>
            <a:r>
              <a:rPr lang="it-IT" sz="2400" b="1" dirty="0"/>
              <a:t> </a:t>
            </a:r>
            <a:r>
              <a:rPr lang="it-IT" sz="2400" b="1" i="1" dirty="0"/>
              <a:t>b</a:t>
            </a:r>
            <a:r>
              <a:rPr lang="it-IT" sz="2400" b="1" dirty="0"/>
              <a:t>, </a:t>
            </a:r>
            <a:r>
              <a:rPr lang="it-IT" sz="2400" b="1" i="1" dirty="0"/>
              <a:t>k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Text Box 2"/>
          <p:cNvSpPr txBox="1">
            <a:spLocks noChangeArrowheads="1"/>
          </p:cNvSpPr>
          <p:nvPr/>
        </p:nvSpPr>
        <p:spPr bwMode="auto">
          <a:xfrm>
            <a:off x="935596" y="371262"/>
            <a:ext cx="7596844" cy="92332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35" tIns="45718" rIns="91435" bIns="45718">
            <a:spAutoFit/>
          </a:bodyPr>
          <a:lstStyle/>
          <a:p>
            <a:r>
              <a:rPr lang="it-IT" sz="1800" dirty="0"/>
              <a:t>   </a:t>
            </a:r>
            <a:r>
              <a:rPr lang="it-IT" sz="1800" i="1" dirty="0"/>
              <a:t>i</a:t>
            </a:r>
            <a:r>
              <a:rPr lang="it-IT" sz="1800" dirty="0"/>
              <a:t>       </a:t>
            </a:r>
            <a:r>
              <a:rPr lang="it-IT" sz="1800" dirty="0" smtClean="0"/>
              <a:t>       1      2      3       4      5      6      7      8      9      10     11</a:t>
            </a:r>
            <a:endParaRPr lang="it-IT" sz="1800" dirty="0"/>
          </a:p>
          <a:p>
            <a:r>
              <a:rPr lang="it-IT" sz="1800" i="1" dirty="0"/>
              <a:t>  s</a:t>
            </a:r>
            <a:r>
              <a:rPr lang="it-IT" sz="1800" i="1" baseline="-25000" dirty="0"/>
              <a:t>i</a:t>
            </a:r>
            <a:r>
              <a:rPr lang="it-IT" sz="1800" dirty="0"/>
              <a:t>        </a:t>
            </a:r>
            <a:r>
              <a:rPr lang="it-IT" sz="1800" dirty="0" smtClean="0"/>
              <a:t>      1      0      1       5      3      5      6      8      8        2    12 </a:t>
            </a:r>
            <a:endParaRPr lang="it-IT" sz="1800" dirty="0"/>
          </a:p>
          <a:p>
            <a:r>
              <a:rPr lang="it-IT" sz="1800" i="1" dirty="0"/>
              <a:t>  f</a:t>
            </a:r>
            <a:r>
              <a:rPr lang="it-IT" sz="1800" i="1" baseline="-25000" dirty="0"/>
              <a:t>i</a:t>
            </a:r>
            <a:r>
              <a:rPr lang="it-IT" sz="1800" dirty="0"/>
              <a:t>       </a:t>
            </a:r>
            <a:r>
              <a:rPr lang="it-IT" sz="1800" dirty="0" smtClean="0"/>
              <a:t>      4      5      6       7      8      9     10     11    12      13     14 </a:t>
            </a:r>
            <a:endParaRPr lang="it-IT" sz="1800" dirty="0"/>
          </a:p>
        </p:txBody>
      </p:sp>
      <p:sp>
        <p:nvSpPr>
          <p:cNvPr id="688131" name="Line 3"/>
          <p:cNvSpPr>
            <a:spLocks noChangeShapeType="1"/>
          </p:cNvSpPr>
          <p:nvPr/>
        </p:nvSpPr>
        <p:spPr bwMode="auto">
          <a:xfrm>
            <a:off x="1905000" y="1371600"/>
            <a:ext cx="0" cy="396849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32" name="Line 4"/>
          <p:cNvSpPr>
            <a:spLocks noChangeShapeType="1"/>
          </p:cNvSpPr>
          <p:nvPr/>
        </p:nvSpPr>
        <p:spPr bwMode="auto">
          <a:xfrm>
            <a:off x="1905000" y="15240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88133" name="Line 5"/>
          <p:cNvSpPr>
            <a:spLocks noChangeShapeType="1"/>
          </p:cNvSpPr>
          <p:nvPr/>
        </p:nvSpPr>
        <p:spPr bwMode="auto">
          <a:xfrm>
            <a:off x="1905000" y="18288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88134" name="Line 6"/>
          <p:cNvSpPr>
            <a:spLocks noChangeShapeType="1"/>
          </p:cNvSpPr>
          <p:nvPr/>
        </p:nvSpPr>
        <p:spPr bwMode="auto">
          <a:xfrm>
            <a:off x="1905000" y="21336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88135" name="Line 7"/>
          <p:cNvSpPr>
            <a:spLocks noChangeShapeType="1"/>
          </p:cNvSpPr>
          <p:nvPr/>
        </p:nvSpPr>
        <p:spPr bwMode="auto">
          <a:xfrm>
            <a:off x="1905000" y="24384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88136" name="Line 8"/>
          <p:cNvSpPr>
            <a:spLocks noChangeShapeType="1"/>
          </p:cNvSpPr>
          <p:nvPr/>
        </p:nvSpPr>
        <p:spPr bwMode="auto">
          <a:xfrm>
            <a:off x="1905000" y="36576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88137" name="Line 9"/>
          <p:cNvSpPr>
            <a:spLocks noChangeShapeType="1"/>
          </p:cNvSpPr>
          <p:nvPr/>
        </p:nvSpPr>
        <p:spPr bwMode="auto">
          <a:xfrm>
            <a:off x="1898650" y="27432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88138" name="Line 10"/>
          <p:cNvSpPr>
            <a:spLocks noChangeShapeType="1"/>
          </p:cNvSpPr>
          <p:nvPr/>
        </p:nvSpPr>
        <p:spPr bwMode="auto">
          <a:xfrm>
            <a:off x="1905000" y="30480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88139" name="Line 11"/>
          <p:cNvSpPr>
            <a:spLocks noChangeShapeType="1"/>
          </p:cNvSpPr>
          <p:nvPr/>
        </p:nvSpPr>
        <p:spPr bwMode="auto">
          <a:xfrm>
            <a:off x="1905000" y="33528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88140" name="Line 12"/>
          <p:cNvSpPr>
            <a:spLocks noChangeShapeType="1"/>
          </p:cNvSpPr>
          <p:nvPr/>
        </p:nvSpPr>
        <p:spPr bwMode="auto">
          <a:xfrm>
            <a:off x="1905000" y="39624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88141" name="Line 13"/>
          <p:cNvSpPr>
            <a:spLocks noChangeShapeType="1"/>
          </p:cNvSpPr>
          <p:nvPr/>
        </p:nvSpPr>
        <p:spPr bwMode="auto">
          <a:xfrm>
            <a:off x="1905000" y="42672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88142" name="Line 14"/>
          <p:cNvSpPr>
            <a:spLocks noChangeShapeType="1"/>
          </p:cNvSpPr>
          <p:nvPr/>
        </p:nvSpPr>
        <p:spPr bwMode="auto">
          <a:xfrm>
            <a:off x="1905000" y="45720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88143" name="Line 15"/>
          <p:cNvSpPr>
            <a:spLocks noChangeShapeType="1"/>
          </p:cNvSpPr>
          <p:nvPr/>
        </p:nvSpPr>
        <p:spPr bwMode="auto">
          <a:xfrm>
            <a:off x="1905000" y="48768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88144" name="Line 16"/>
          <p:cNvSpPr>
            <a:spLocks noChangeShapeType="1"/>
          </p:cNvSpPr>
          <p:nvPr/>
        </p:nvSpPr>
        <p:spPr bwMode="auto">
          <a:xfrm>
            <a:off x="1905000" y="51816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88145" name="Text Box 17"/>
          <p:cNvSpPr txBox="1">
            <a:spLocks noChangeArrowheads="1"/>
          </p:cNvSpPr>
          <p:nvPr/>
        </p:nvSpPr>
        <p:spPr bwMode="auto">
          <a:xfrm>
            <a:off x="1371600" y="1371608"/>
            <a:ext cx="533400" cy="463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 0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 1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 2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 3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 4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 5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 6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 7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 8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 9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10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11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12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13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14</a:t>
            </a:r>
          </a:p>
        </p:txBody>
      </p:sp>
      <p:sp>
        <p:nvSpPr>
          <p:cNvPr id="688146" name="Line 18"/>
          <p:cNvSpPr>
            <a:spLocks noChangeShapeType="1"/>
          </p:cNvSpPr>
          <p:nvPr/>
        </p:nvSpPr>
        <p:spPr bwMode="auto">
          <a:xfrm>
            <a:off x="1905000" y="54864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88147" name="Line 19"/>
          <p:cNvSpPr>
            <a:spLocks noChangeShapeType="1"/>
          </p:cNvSpPr>
          <p:nvPr/>
        </p:nvSpPr>
        <p:spPr bwMode="auto">
          <a:xfrm>
            <a:off x="1905000" y="5791200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88148" name="Text Box 20"/>
          <p:cNvSpPr txBox="1">
            <a:spLocks noChangeArrowheads="1"/>
          </p:cNvSpPr>
          <p:nvPr/>
        </p:nvSpPr>
        <p:spPr bwMode="auto">
          <a:xfrm>
            <a:off x="990600" y="6046788"/>
            <a:ext cx="846608" cy="369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/>
          <a:p>
            <a:r>
              <a:rPr lang="it-IT" sz="1800" dirty="0"/>
              <a:t>tempo</a:t>
            </a:r>
          </a:p>
        </p:txBody>
      </p:sp>
      <p:sp>
        <p:nvSpPr>
          <p:cNvPr id="688149" name="Rectangle 21"/>
          <p:cNvSpPr>
            <a:spLocks noChangeArrowheads="1"/>
          </p:cNvSpPr>
          <p:nvPr/>
        </p:nvSpPr>
        <p:spPr bwMode="auto">
          <a:xfrm>
            <a:off x="2109788" y="1828791"/>
            <a:ext cx="352425" cy="906354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1</a:t>
            </a:r>
            <a:endParaRPr lang="it-IT" sz="2000" b="1" i="1"/>
          </a:p>
        </p:txBody>
      </p:sp>
      <p:sp>
        <p:nvSpPr>
          <p:cNvPr id="688150" name="Rectangle 22"/>
          <p:cNvSpPr>
            <a:spLocks noChangeArrowheads="1"/>
          </p:cNvSpPr>
          <p:nvPr/>
        </p:nvSpPr>
        <p:spPr bwMode="auto">
          <a:xfrm>
            <a:off x="2673350" y="1523998"/>
            <a:ext cx="381000" cy="151059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2</a:t>
            </a:r>
          </a:p>
        </p:txBody>
      </p:sp>
      <p:sp>
        <p:nvSpPr>
          <p:cNvPr id="688151" name="Rectangle 23"/>
          <p:cNvSpPr>
            <a:spLocks noChangeArrowheads="1"/>
          </p:cNvSpPr>
          <p:nvPr/>
        </p:nvSpPr>
        <p:spPr bwMode="auto">
          <a:xfrm>
            <a:off x="3235325" y="1828798"/>
            <a:ext cx="381000" cy="151059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3</a:t>
            </a:r>
          </a:p>
        </p:txBody>
      </p:sp>
      <p:sp>
        <p:nvSpPr>
          <p:cNvPr id="688152" name="Rectangle 24"/>
          <p:cNvSpPr>
            <a:spLocks noChangeArrowheads="1"/>
          </p:cNvSpPr>
          <p:nvPr/>
        </p:nvSpPr>
        <p:spPr bwMode="auto">
          <a:xfrm>
            <a:off x="3798888" y="3047991"/>
            <a:ext cx="381000" cy="60424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4</a:t>
            </a:r>
          </a:p>
        </p:txBody>
      </p:sp>
      <p:sp>
        <p:nvSpPr>
          <p:cNvPr id="688153" name="Rectangle 25"/>
          <p:cNvSpPr>
            <a:spLocks noChangeArrowheads="1"/>
          </p:cNvSpPr>
          <p:nvPr/>
        </p:nvSpPr>
        <p:spPr bwMode="auto">
          <a:xfrm>
            <a:off x="4360863" y="2438398"/>
            <a:ext cx="381000" cy="151059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5</a:t>
            </a:r>
          </a:p>
        </p:txBody>
      </p:sp>
      <p:sp>
        <p:nvSpPr>
          <p:cNvPr id="688154" name="Rectangle 26"/>
          <p:cNvSpPr>
            <a:spLocks noChangeArrowheads="1"/>
          </p:cNvSpPr>
          <p:nvPr/>
        </p:nvSpPr>
        <p:spPr bwMode="auto">
          <a:xfrm>
            <a:off x="4924425" y="3047991"/>
            <a:ext cx="381000" cy="1208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6</a:t>
            </a:r>
          </a:p>
        </p:txBody>
      </p:sp>
      <p:sp>
        <p:nvSpPr>
          <p:cNvPr id="688155" name="Rectangle 27"/>
          <p:cNvSpPr>
            <a:spLocks noChangeArrowheads="1"/>
          </p:cNvSpPr>
          <p:nvPr/>
        </p:nvSpPr>
        <p:spPr bwMode="auto">
          <a:xfrm>
            <a:off x="5486400" y="3352791"/>
            <a:ext cx="381000" cy="1208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7</a:t>
            </a:r>
          </a:p>
        </p:txBody>
      </p:sp>
      <p:sp>
        <p:nvSpPr>
          <p:cNvPr id="688156" name="Rectangle 28"/>
          <p:cNvSpPr>
            <a:spLocks noChangeArrowheads="1"/>
          </p:cNvSpPr>
          <p:nvPr/>
        </p:nvSpPr>
        <p:spPr bwMode="auto">
          <a:xfrm>
            <a:off x="6048375" y="3962391"/>
            <a:ext cx="381000" cy="906354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8</a:t>
            </a:r>
          </a:p>
        </p:txBody>
      </p:sp>
      <p:sp>
        <p:nvSpPr>
          <p:cNvPr id="688157" name="Rectangle 29"/>
          <p:cNvSpPr>
            <a:spLocks noChangeArrowheads="1"/>
          </p:cNvSpPr>
          <p:nvPr/>
        </p:nvSpPr>
        <p:spPr bwMode="auto">
          <a:xfrm>
            <a:off x="6611938" y="3962391"/>
            <a:ext cx="381000" cy="120846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9</a:t>
            </a:r>
          </a:p>
        </p:txBody>
      </p:sp>
      <p:sp>
        <p:nvSpPr>
          <p:cNvPr id="688158" name="Rectangle 30"/>
          <p:cNvSpPr>
            <a:spLocks noChangeArrowheads="1"/>
          </p:cNvSpPr>
          <p:nvPr/>
        </p:nvSpPr>
        <p:spPr bwMode="auto">
          <a:xfrm>
            <a:off x="7173913" y="2133596"/>
            <a:ext cx="381000" cy="332329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10</a:t>
            </a:r>
          </a:p>
        </p:txBody>
      </p:sp>
      <p:sp>
        <p:nvSpPr>
          <p:cNvPr id="688159" name="Rectangle 31"/>
          <p:cNvSpPr>
            <a:spLocks noChangeArrowheads="1"/>
          </p:cNvSpPr>
          <p:nvPr/>
        </p:nvSpPr>
        <p:spPr bwMode="auto">
          <a:xfrm>
            <a:off x="7737475" y="5181591"/>
            <a:ext cx="381000" cy="60424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11</a:t>
            </a:r>
          </a:p>
        </p:txBody>
      </p:sp>
      <p:sp>
        <p:nvSpPr>
          <p:cNvPr id="688160" name="Rectangle 32"/>
          <p:cNvSpPr>
            <a:spLocks noChangeArrowheads="1"/>
          </p:cNvSpPr>
          <p:nvPr/>
        </p:nvSpPr>
        <p:spPr bwMode="auto">
          <a:xfrm>
            <a:off x="2109788" y="1828791"/>
            <a:ext cx="352425" cy="906354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1</a:t>
            </a:r>
          </a:p>
        </p:txBody>
      </p:sp>
      <p:sp>
        <p:nvSpPr>
          <p:cNvPr id="688161" name="Rectangle 33"/>
          <p:cNvSpPr>
            <a:spLocks noChangeArrowheads="1"/>
          </p:cNvSpPr>
          <p:nvPr/>
        </p:nvSpPr>
        <p:spPr bwMode="auto">
          <a:xfrm>
            <a:off x="2673350" y="1523998"/>
            <a:ext cx="381000" cy="1510592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2</a:t>
            </a:r>
          </a:p>
        </p:txBody>
      </p:sp>
      <p:sp>
        <p:nvSpPr>
          <p:cNvPr id="688162" name="Rectangle 34"/>
          <p:cNvSpPr>
            <a:spLocks noChangeArrowheads="1"/>
          </p:cNvSpPr>
          <p:nvPr/>
        </p:nvSpPr>
        <p:spPr bwMode="auto">
          <a:xfrm>
            <a:off x="3235325" y="1828798"/>
            <a:ext cx="381000" cy="1510592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 dirty="0"/>
              <a:t>a</a:t>
            </a:r>
            <a:r>
              <a:rPr lang="it-IT" sz="2000" b="1" i="1" baseline="-25000" dirty="0"/>
              <a:t>3</a:t>
            </a:r>
          </a:p>
        </p:txBody>
      </p:sp>
      <p:sp>
        <p:nvSpPr>
          <p:cNvPr id="688163" name="Rectangle 35"/>
          <p:cNvSpPr>
            <a:spLocks noChangeArrowheads="1"/>
          </p:cNvSpPr>
          <p:nvPr/>
        </p:nvSpPr>
        <p:spPr bwMode="auto">
          <a:xfrm>
            <a:off x="3798888" y="3047991"/>
            <a:ext cx="381000" cy="604242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 dirty="0"/>
              <a:t>a</a:t>
            </a:r>
            <a:r>
              <a:rPr lang="it-IT" sz="2000" b="1" i="1" baseline="-25000" dirty="0"/>
              <a:t>4</a:t>
            </a:r>
          </a:p>
        </p:txBody>
      </p:sp>
      <p:sp>
        <p:nvSpPr>
          <p:cNvPr id="688164" name="Rectangle 36"/>
          <p:cNvSpPr>
            <a:spLocks noChangeArrowheads="1"/>
          </p:cNvSpPr>
          <p:nvPr/>
        </p:nvSpPr>
        <p:spPr bwMode="auto">
          <a:xfrm>
            <a:off x="4360863" y="2438398"/>
            <a:ext cx="381000" cy="1510592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5</a:t>
            </a:r>
          </a:p>
        </p:txBody>
      </p:sp>
      <p:sp>
        <p:nvSpPr>
          <p:cNvPr id="688165" name="Rectangle 37"/>
          <p:cNvSpPr>
            <a:spLocks noChangeArrowheads="1"/>
          </p:cNvSpPr>
          <p:nvPr/>
        </p:nvSpPr>
        <p:spPr bwMode="auto">
          <a:xfrm>
            <a:off x="4924425" y="3047991"/>
            <a:ext cx="381000" cy="1208466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6</a:t>
            </a:r>
          </a:p>
        </p:txBody>
      </p:sp>
      <p:sp>
        <p:nvSpPr>
          <p:cNvPr id="688166" name="Rectangle 38"/>
          <p:cNvSpPr>
            <a:spLocks noChangeArrowheads="1"/>
          </p:cNvSpPr>
          <p:nvPr/>
        </p:nvSpPr>
        <p:spPr bwMode="auto">
          <a:xfrm>
            <a:off x="5486400" y="3352791"/>
            <a:ext cx="381000" cy="1208466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7</a:t>
            </a:r>
          </a:p>
        </p:txBody>
      </p:sp>
      <p:sp>
        <p:nvSpPr>
          <p:cNvPr id="688167" name="Rectangle 39"/>
          <p:cNvSpPr>
            <a:spLocks noChangeArrowheads="1"/>
          </p:cNvSpPr>
          <p:nvPr/>
        </p:nvSpPr>
        <p:spPr bwMode="auto">
          <a:xfrm>
            <a:off x="6048375" y="3962391"/>
            <a:ext cx="381000" cy="906354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8</a:t>
            </a:r>
          </a:p>
        </p:txBody>
      </p:sp>
      <p:sp>
        <p:nvSpPr>
          <p:cNvPr id="688168" name="Rectangle 40"/>
          <p:cNvSpPr>
            <a:spLocks noChangeArrowheads="1"/>
          </p:cNvSpPr>
          <p:nvPr/>
        </p:nvSpPr>
        <p:spPr bwMode="auto">
          <a:xfrm>
            <a:off x="6611938" y="3962391"/>
            <a:ext cx="381000" cy="1208466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 dirty="0"/>
              <a:t>a</a:t>
            </a:r>
            <a:r>
              <a:rPr lang="it-IT" sz="2000" b="1" i="1" baseline="-25000" dirty="0"/>
              <a:t>9</a:t>
            </a:r>
          </a:p>
        </p:txBody>
      </p:sp>
      <p:sp>
        <p:nvSpPr>
          <p:cNvPr id="688169" name="Rectangle 41"/>
          <p:cNvSpPr>
            <a:spLocks noChangeArrowheads="1"/>
          </p:cNvSpPr>
          <p:nvPr/>
        </p:nvSpPr>
        <p:spPr bwMode="auto">
          <a:xfrm>
            <a:off x="7173913" y="2133596"/>
            <a:ext cx="381000" cy="3323295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10</a:t>
            </a:r>
          </a:p>
        </p:txBody>
      </p:sp>
      <p:sp>
        <p:nvSpPr>
          <p:cNvPr id="688170" name="Rectangle 42"/>
          <p:cNvSpPr>
            <a:spLocks noChangeArrowheads="1"/>
          </p:cNvSpPr>
          <p:nvPr/>
        </p:nvSpPr>
        <p:spPr bwMode="auto">
          <a:xfrm>
            <a:off x="7737475" y="5181591"/>
            <a:ext cx="381000" cy="604242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11</a:t>
            </a:r>
          </a:p>
        </p:txBody>
      </p:sp>
      <p:sp>
        <p:nvSpPr>
          <p:cNvPr id="688172" name="Text Box 44"/>
          <p:cNvSpPr txBox="1">
            <a:spLocks noChangeArrowheads="1"/>
          </p:cNvSpPr>
          <p:nvPr/>
        </p:nvSpPr>
        <p:spPr bwMode="auto">
          <a:xfrm>
            <a:off x="703263" y="2285990"/>
            <a:ext cx="844550" cy="369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10000"/>
              </a:spcBef>
            </a:pPr>
            <a:r>
              <a:rPr lang="it-IT" sz="1800" i="1" dirty="0" err="1"/>
              <a:t>maxf</a:t>
            </a:r>
            <a:endParaRPr lang="it-IT" sz="1800" baseline="-25000" dirty="0"/>
          </a:p>
        </p:txBody>
      </p:sp>
      <p:sp>
        <p:nvSpPr>
          <p:cNvPr id="688174" name="AutoShape 46"/>
          <p:cNvSpPr>
            <a:spLocks noChangeArrowheads="1"/>
          </p:cNvSpPr>
          <p:nvPr/>
        </p:nvSpPr>
        <p:spPr bwMode="auto">
          <a:xfrm>
            <a:off x="838200" y="3581400"/>
            <a:ext cx="457200" cy="151056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88175" name="AutoShape 47"/>
          <p:cNvSpPr>
            <a:spLocks noChangeArrowheads="1"/>
          </p:cNvSpPr>
          <p:nvPr/>
        </p:nvSpPr>
        <p:spPr bwMode="auto">
          <a:xfrm>
            <a:off x="838200" y="4800600"/>
            <a:ext cx="457200" cy="151056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88176" name="AutoShape 48"/>
          <p:cNvSpPr>
            <a:spLocks noChangeArrowheads="1"/>
          </p:cNvSpPr>
          <p:nvPr/>
        </p:nvSpPr>
        <p:spPr bwMode="auto">
          <a:xfrm>
            <a:off x="838200" y="5715000"/>
            <a:ext cx="457200" cy="151056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88177" name="AutoShape 49"/>
          <p:cNvSpPr>
            <a:spLocks noChangeArrowheads="1"/>
          </p:cNvSpPr>
          <p:nvPr/>
        </p:nvSpPr>
        <p:spPr bwMode="auto">
          <a:xfrm>
            <a:off x="2195736" y="-4320"/>
            <a:ext cx="152400" cy="381000"/>
          </a:xfrm>
          <a:prstGeom prst="down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78" name="AutoShape 50"/>
          <p:cNvSpPr>
            <a:spLocks noChangeArrowheads="1"/>
          </p:cNvSpPr>
          <p:nvPr/>
        </p:nvSpPr>
        <p:spPr bwMode="auto">
          <a:xfrm>
            <a:off x="2771800" y="0"/>
            <a:ext cx="152400" cy="381000"/>
          </a:xfrm>
          <a:prstGeom prst="down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79" name="AutoShape 51"/>
          <p:cNvSpPr>
            <a:spLocks noChangeArrowheads="1"/>
          </p:cNvSpPr>
          <p:nvPr/>
        </p:nvSpPr>
        <p:spPr bwMode="auto">
          <a:xfrm>
            <a:off x="3347864" y="0"/>
            <a:ext cx="152400" cy="381000"/>
          </a:xfrm>
          <a:prstGeom prst="down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80" name="AutoShape 52"/>
          <p:cNvSpPr>
            <a:spLocks noChangeArrowheads="1"/>
          </p:cNvSpPr>
          <p:nvPr/>
        </p:nvSpPr>
        <p:spPr bwMode="auto">
          <a:xfrm>
            <a:off x="3923928" y="0"/>
            <a:ext cx="152400" cy="381000"/>
          </a:xfrm>
          <a:prstGeom prst="down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81" name="AutoShape 53"/>
          <p:cNvSpPr>
            <a:spLocks noChangeArrowheads="1"/>
          </p:cNvSpPr>
          <p:nvPr/>
        </p:nvSpPr>
        <p:spPr bwMode="auto">
          <a:xfrm>
            <a:off x="4499992" y="0"/>
            <a:ext cx="144016" cy="381000"/>
          </a:xfrm>
          <a:prstGeom prst="down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82" name="AutoShape 54"/>
          <p:cNvSpPr>
            <a:spLocks noChangeArrowheads="1"/>
          </p:cNvSpPr>
          <p:nvPr/>
        </p:nvSpPr>
        <p:spPr bwMode="auto">
          <a:xfrm>
            <a:off x="5004048" y="0"/>
            <a:ext cx="152400" cy="381000"/>
          </a:xfrm>
          <a:prstGeom prst="down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83" name="AutoShape 55"/>
          <p:cNvSpPr>
            <a:spLocks noChangeArrowheads="1"/>
          </p:cNvSpPr>
          <p:nvPr/>
        </p:nvSpPr>
        <p:spPr bwMode="auto">
          <a:xfrm>
            <a:off x="5580112" y="0"/>
            <a:ext cx="152400" cy="381000"/>
          </a:xfrm>
          <a:prstGeom prst="down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84" name="AutoShape 56"/>
          <p:cNvSpPr>
            <a:spLocks noChangeArrowheads="1"/>
          </p:cNvSpPr>
          <p:nvPr/>
        </p:nvSpPr>
        <p:spPr bwMode="auto">
          <a:xfrm>
            <a:off x="6084168" y="0"/>
            <a:ext cx="152400" cy="381000"/>
          </a:xfrm>
          <a:prstGeom prst="down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85" name="AutoShape 57"/>
          <p:cNvSpPr>
            <a:spLocks noChangeArrowheads="1"/>
          </p:cNvSpPr>
          <p:nvPr/>
        </p:nvSpPr>
        <p:spPr bwMode="auto">
          <a:xfrm>
            <a:off x="6660232" y="0"/>
            <a:ext cx="152400" cy="381000"/>
          </a:xfrm>
          <a:prstGeom prst="down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86" name="AutoShape 58"/>
          <p:cNvSpPr>
            <a:spLocks noChangeArrowheads="1"/>
          </p:cNvSpPr>
          <p:nvPr/>
        </p:nvSpPr>
        <p:spPr bwMode="auto">
          <a:xfrm>
            <a:off x="7236296" y="0"/>
            <a:ext cx="152400" cy="381000"/>
          </a:xfrm>
          <a:prstGeom prst="down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87" name="AutoShape 59"/>
          <p:cNvSpPr>
            <a:spLocks noChangeArrowheads="1"/>
          </p:cNvSpPr>
          <p:nvPr/>
        </p:nvSpPr>
        <p:spPr bwMode="auto">
          <a:xfrm>
            <a:off x="7812360" y="0"/>
            <a:ext cx="152400" cy="381000"/>
          </a:xfrm>
          <a:prstGeom prst="down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8189" name="Text Box 61"/>
          <p:cNvSpPr txBox="1">
            <a:spLocks noChangeArrowheads="1"/>
          </p:cNvSpPr>
          <p:nvPr/>
        </p:nvSpPr>
        <p:spPr bwMode="auto">
          <a:xfrm>
            <a:off x="2051720" y="4424000"/>
            <a:ext cx="4176464" cy="1849224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lang="it-IT" sz="2000" b="1" i="1" dirty="0" err="1">
                <a:latin typeface="+mj-lt"/>
              </a:rPr>
              <a:t>SelezioneAttivita</a:t>
            </a:r>
            <a:r>
              <a:rPr lang="it-IT" sz="2000" b="1" dirty="0">
                <a:latin typeface="+mj-lt"/>
              </a:rPr>
              <a:t>(</a:t>
            </a:r>
            <a:r>
              <a:rPr lang="it-IT" sz="2000" b="1" i="1" dirty="0" err="1">
                <a:latin typeface="+mj-lt"/>
              </a:rPr>
              <a:t>a</a:t>
            </a:r>
            <a:r>
              <a:rPr lang="it-IT" sz="2000" b="1" dirty="0" err="1">
                <a:latin typeface="+mj-lt"/>
              </a:rPr>
              <a:t>,</a:t>
            </a:r>
            <a:r>
              <a:rPr lang="it-IT" sz="2000" b="1" i="1" dirty="0" err="1">
                <a:latin typeface="+mj-lt"/>
              </a:rPr>
              <a:t>s</a:t>
            </a:r>
            <a:r>
              <a:rPr lang="it-IT" sz="2000" b="1" dirty="0" err="1">
                <a:latin typeface="+mj-lt"/>
              </a:rPr>
              <a:t>,</a:t>
            </a:r>
            <a:r>
              <a:rPr lang="it-IT" sz="2000" b="1" i="1" dirty="0" err="1">
                <a:latin typeface="+mj-lt"/>
              </a:rPr>
              <a:t>f</a:t>
            </a:r>
            <a:r>
              <a:rPr lang="it-IT" sz="2000" b="1" dirty="0" err="1">
                <a:latin typeface="+mj-lt"/>
              </a:rPr>
              <a:t>,</a:t>
            </a:r>
            <a:r>
              <a:rPr lang="it-IT" sz="2000" b="1" i="1" dirty="0" err="1">
                <a:latin typeface="+mj-lt"/>
              </a:rPr>
              <a:t>n</a:t>
            </a:r>
            <a:r>
              <a:rPr lang="it-IT" sz="2000" b="1" dirty="0">
                <a:latin typeface="+mj-lt"/>
              </a:rPr>
              <a:t>) </a:t>
            </a:r>
          </a:p>
          <a:p>
            <a:pPr>
              <a:lnSpc>
                <a:spcPct val="95000"/>
              </a:lnSpc>
            </a:pPr>
            <a:r>
              <a:rPr lang="it-IT" sz="2000" b="1" dirty="0">
                <a:latin typeface="+mj-lt"/>
              </a:rPr>
              <a:t>   </a:t>
            </a:r>
            <a:r>
              <a:rPr lang="it-IT" sz="2000" b="1" i="1" dirty="0">
                <a:latin typeface="+mj-lt"/>
              </a:rPr>
              <a:t>b</a:t>
            </a:r>
            <a:r>
              <a:rPr lang="it-IT" sz="2000" b="1" baseline="-25000" dirty="0">
                <a:latin typeface="+mj-lt"/>
              </a:rPr>
              <a:t>1</a:t>
            </a:r>
            <a:r>
              <a:rPr lang="it-IT" sz="2000" b="1" dirty="0">
                <a:latin typeface="+mj-lt"/>
              </a:rPr>
              <a:t> </a:t>
            </a:r>
            <a:r>
              <a:rPr lang="it-IT" sz="2000" b="1" dirty="0">
                <a:latin typeface="+mj-lt"/>
                <a:sym typeface="Symbol" charset="0"/>
              </a:rPr>
              <a:t> </a:t>
            </a:r>
            <a:r>
              <a:rPr lang="it-IT" sz="2000" b="1" i="1" dirty="0">
                <a:latin typeface="+mj-lt"/>
              </a:rPr>
              <a:t>a</a:t>
            </a:r>
            <a:r>
              <a:rPr lang="it-IT" sz="2000" b="1" baseline="-25000" dirty="0">
                <a:latin typeface="+mj-lt"/>
              </a:rPr>
              <a:t>1</a:t>
            </a:r>
            <a:r>
              <a:rPr lang="it-IT" sz="2000" b="1" dirty="0">
                <a:latin typeface="+mj-lt"/>
                <a:sym typeface="Symbol" charset="0"/>
              </a:rPr>
              <a:t>,  </a:t>
            </a:r>
            <a:r>
              <a:rPr lang="it-IT" sz="2000" b="1" i="1" dirty="0">
                <a:latin typeface="+mj-lt"/>
                <a:sym typeface="Symbol" charset="0"/>
              </a:rPr>
              <a:t>k</a:t>
            </a:r>
            <a:r>
              <a:rPr lang="it-IT" sz="2000" b="1" dirty="0">
                <a:latin typeface="+mj-lt"/>
                <a:sym typeface="Symbol" charset="0"/>
              </a:rPr>
              <a:t>  1</a:t>
            </a:r>
            <a:r>
              <a:rPr lang="it-IT" sz="2000" b="1" dirty="0">
                <a:latin typeface="+mj-lt"/>
              </a:rPr>
              <a:t>, </a:t>
            </a:r>
            <a:r>
              <a:rPr lang="it-IT" sz="2000" b="1" i="1" dirty="0" err="1">
                <a:latin typeface="+mj-lt"/>
              </a:rPr>
              <a:t>maxf</a:t>
            </a:r>
            <a:r>
              <a:rPr lang="it-IT" sz="2000" b="1" dirty="0">
                <a:latin typeface="+mj-lt"/>
              </a:rPr>
              <a:t> </a:t>
            </a:r>
            <a:r>
              <a:rPr lang="it-IT" sz="2000" b="1" dirty="0">
                <a:latin typeface="+mj-lt"/>
                <a:sym typeface="Symbol" charset="0"/>
              </a:rPr>
              <a:t></a:t>
            </a:r>
            <a:r>
              <a:rPr lang="it-IT" sz="2000" b="1" dirty="0">
                <a:latin typeface="+mj-lt"/>
              </a:rPr>
              <a:t> </a:t>
            </a:r>
            <a:r>
              <a:rPr lang="it-IT" sz="2000" b="1" i="1" dirty="0">
                <a:latin typeface="+mj-lt"/>
              </a:rPr>
              <a:t>f</a:t>
            </a:r>
            <a:r>
              <a:rPr lang="it-IT" sz="2000" b="1" baseline="-25000" dirty="0">
                <a:latin typeface="+mj-lt"/>
              </a:rPr>
              <a:t>1</a:t>
            </a:r>
          </a:p>
          <a:p>
            <a:pPr>
              <a:lnSpc>
                <a:spcPct val="95000"/>
              </a:lnSpc>
            </a:pPr>
            <a:r>
              <a:rPr lang="it-IT" sz="2000" b="1" dirty="0">
                <a:latin typeface="+mj-lt"/>
              </a:rPr>
              <a:t>   for </a:t>
            </a:r>
            <a:r>
              <a:rPr lang="it-IT" sz="2000" b="1" i="1" dirty="0">
                <a:latin typeface="+mj-lt"/>
              </a:rPr>
              <a:t>i </a:t>
            </a:r>
            <a:r>
              <a:rPr lang="it-IT" sz="2000" b="1" dirty="0">
                <a:latin typeface="+mj-lt"/>
                <a:sym typeface="Symbol" charset="0"/>
              </a:rPr>
              <a:t> 2</a:t>
            </a:r>
            <a:r>
              <a:rPr lang="it-IT" sz="2000" b="1" dirty="0">
                <a:latin typeface="+mj-lt"/>
              </a:rPr>
              <a:t> to </a:t>
            </a:r>
            <a:r>
              <a:rPr lang="it-IT" sz="2000" b="1" i="1" dirty="0" err="1">
                <a:latin typeface="+mj-lt"/>
              </a:rPr>
              <a:t>n</a:t>
            </a:r>
            <a:r>
              <a:rPr lang="it-IT" sz="2000" b="1" dirty="0">
                <a:latin typeface="+mj-lt"/>
              </a:rPr>
              <a:t> do</a:t>
            </a:r>
          </a:p>
          <a:p>
            <a:pPr>
              <a:lnSpc>
                <a:spcPct val="95000"/>
              </a:lnSpc>
            </a:pPr>
            <a:r>
              <a:rPr lang="it-IT" sz="2000" b="1" dirty="0">
                <a:latin typeface="+mj-lt"/>
              </a:rPr>
              <a:t>      </a:t>
            </a:r>
            <a:r>
              <a:rPr lang="it-IT" sz="2000" b="1" dirty="0" err="1">
                <a:latin typeface="+mj-lt"/>
              </a:rPr>
              <a:t>if</a:t>
            </a:r>
            <a:r>
              <a:rPr lang="it-IT" sz="2000" b="1" dirty="0">
                <a:latin typeface="+mj-lt"/>
              </a:rPr>
              <a:t> </a:t>
            </a:r>
            <a:r>
              <a:rPr lang="it-IT" sz="2000" b="1" i="1" dirty="0">
                <a:latin typeface="+mj-lt"/>
              </a:rPr>
              <a:t>s</a:t>
            </a:r>
            <a:r>
              <a:rPr lang="it-IT" sz="2000" b="1" i="1" baseline="-25000" dirty="0">
                <a:latin typeface="+mj-lt"/>
              </a:rPr>
              <a:t>i</a:t>
            </a:r>
            <a:r>
              <a:rPr lang="it-IT" sz="2000" b="1" dirty="0">
                <a:latin typeface="+mj-lt"/>
              </a:rPr>
              <a:t> </a:t>
            </a:r>
            <a:r>
              <a:rPr lang="it-IT" sz="2000" b="1" dirty="0">
                <a:latin typeface="+mj-lt"/>
                <a:sym typeface="Symbol" charset="0"/>
              </a:rPr>
              <a:t></a:t>
            </a:r>
            <a:r>
              <a:rPr lang="it-IT" sz="2000" b="1" dirty="0">
                <a:latin typeface="+mj-lt"/>
              </a:rPr>
              <a:t> </a:t>
            </a:r>
            <a:r>
              <a:rPr lang="it-IT" sz="2000" b="1" i="1" dirty="0" err="1">
                <a:latin typeface="+mj-lt"/>
              </a:rPr>
              <a:t>maxf</a:t>
            </a:r>
            <a:r>
              <a:rPr lang="it-IT" sz="2000" b="1" dirty="0">
                <a:latin typeface="+mj-lt"/>
              </a:rPr>
              <a:t> </a:t>
            </a:r>
            <a:r>
              <a:rPr lang="it-IT" sz="2000" b="1" dirty="0" err="1">
                <a:latin typeface="+mj-lt"/>
              </a:rPr>
              <a:t>then</a:t>
            </a:r>
            <a:endParaRPr lang="it-IT" sz="2000" b="1" dirty="0">
              <a:latin typeface="+mj-lt"/>
            </a:endParaRPr>
          </a:p>
          <a:p>
            <a:pPr>
              <a:lnSpc>
                <a:spcPct val="95000"/>
              </a:lnSpc>
            </a:pPr>
            <a:r>
              <a:rPr lang="it-IT" sz="2000" b="1" dirty="0">
                <a:latin typeface="+mj-lt"/>
              </a:rPr>
              <a:t>         </a:t>
            </a:r>
            <a:r>
              <a:rPr lang="it-IT" sz="2000" b="1" i="1" dirty="0">
                <a:latin typeface="+mj-lt"/>
                <a:sym typeface="Symbol" charset="0"/>
              </a:rPr>
              <a:t>k</a:t>
            </a:r>
            <a:r>
              <a:rPr lang="it-IT" sz="2000" b="1" dirty="0">
                <a:latin typeface="+mj-lt"/>
                <a:sym typeface="Symbol" charset="0"/>
              </a:rPr>
              <a:t>  </a:t>
            </a:r>
            <a:r>
              <a:rPr lang="it-IT" sz="2000" b="1" i="1" dirty="0">
                <a:latin typeface="+mj-lt"/>
                <a:sym typeface="Symbol" charset="0"/>
              </a:rPr>
              <a:t>k</a:t>
            </a:r>
            <a:r>
              <a:rPr lang="it-IT" sz="2000" b="1" dirty="0">
                <a:latin typeface="+mj-lt"/>
                <a:sym typeface="Symbol" charset="0"/>
              </a:rPr>
              <a:t>+1</a:t>
            </a:r>
            <a:r>
              <a:rPr lang="it-IT" sz="2000" b="1" dirty="0">
                <a:latin typeface="+mj-lt"/>
              </a:rPr>
              <a:t>, </a:t>
            </a:r>
            <a:r>
              <a:rPr lang="it-IT" sz="2000" b="1" i="1" dirty="0" err="1">
                <a:latin typeface="+mj-lt"/>
              </a:rPr>
              <a:t>b</a:t>
            </a:r>
            <a:r>
              <a:rPr lang="it-IT" sz="2000" b="1" i="1" baseline="-25000" dirty="0" err="1">
                <a:latin typeface="+mj-lt"/>
              </a:rPr>
              <a:t>k</a:t>
            </a:r>
            <a:r>
              <a:rPr lang="it-IT" sz="2000" b="1" dirty="0">
                <a:latin typeface="+mj-lt"/>
              </a:rPr>
              <a:t> </a:t>
            </a:r>
            <a:r>
              <a:rPr lang="it-IT" sz="2000" b="1" dirty="0">
                <a:latin typeface="+mj-lt"/>
                <a:sym typeface="Symbol" charset="0"/>
              </a:rPr>
              <a:t> </a:t>
            </a:r>
            <a:r>
              <a:rPr lang="it-IT" sz="2000" b="1" i="1" dirty="0">
                <a:latin typeface="+mj-lt"/>
              </a:rPr>
              <a:t>a</a:t>
            </a:r>
            <a:r>
              <a:rPr lang="it-IT" sz="2000" b="1" i="1" baseline="-25000" dirty="0">
                <a:latin typeface="+mj-lt"/>
              </a:rPr>
              <a:t>i</a:t>
            </a:r>
            <a:r>
              <a:rPr lang="it-IT" sz="2000" b="1" dirty="0">
                <a:latin typeface="+mj-lt"/>
                <a:sym typeface="Symbol" charset="0"/>
              </a:rPr>
              <a:t>, </a:t>
            </a:r>
            <a:r>
              <a:rPr lang="it-IT" sz="2000" b="1" i="1" dirty="0" err="1">
                <a:latin typeface="+mj-lt"/>
              </a:rPr>
              <a:t>maxf</a:t>
            </a:r>
            <a:r>
              <a:rPr lang="it-IT" sz="2000" b="1" dirty="0">
                <a:latin typeface="+mj-lt"/>
              </a:rPr>
              <a:t> </a:t>
            </a:r>
            <a:r>
              <a:rPr lang="it-IT" sz="2000" b="1" dirty="0">
                <a:latin typeface="+mj-lt"/>
                <a:sym typeface="Symbol" charset="0"/>
              </a:rPr>
              <a:t></a:t>
            </a:r>
            <a:r>
              <a:rPr lang="it-IT" sz="2000" b="1" dirty="0">
                <a:latin typeface="+mj-lt"/>
              </a:rPr>
              <a:t> </a:t>
            </a:r>
            <a:r>
              <a:rPr lang="it-IT" sz="2000" b="1" i="1" dirty="0">
                <a:latin typeface="+mj-lt"/>
              </a:rPr>
              <a:t>f</a:t>
            </a:r>
            <a:r>
              <a:rPr lang="it-IT" sz="2000" b="1" i="1" baseline="-25000" dirty="0">
                <a:latin typeface="+mj-lt"/>
              </a:rPr>
              <a:t>i</a:t>
            </a:r>
            <a:endParaRPr lang="it-IT" sz="2000" b="1" dirty="0">
              <a:latin typeface="+mj-lt"/>
            </a:endParaRPr>
          </a:p>
          <a:p>
            <a:pPr>
              <a:lnSpc>
                <a:spcPct val="95000"/>
              </a:lnSpc>
            </a:pPr>
            <a:r>
              <a:rPr lang="it-IT" sz="2000" b="1" dirty="0">
                <a:latin typeface="+mj-lt"/>
              </a:rPr>
              <a:t>   </a:t>
            </a:r>
            <a:r>
              <a:rPr lang="it-IT" sz="2000" b="1" dirty="0" err="1">
                <a:latin typeface="+mj-lt"/>
              </a:rPr>
              <a:t>return</a:t>
            </a:r>
            <a:r>
              <a:rPr lang="it-IT" sz="2000" b="1" dirty="0">
                <a:latin typeface="+mj-lt"/>
              </a:rPr>
              <a:t> </a:t>
            </a:r>
            <a:r>
              <a:rPr lang="it-IT" sz="2000" b="1" i="1" dirty="0">
                <a:latin typeface="+mj-lt"/>
              </a:rPr>
              <a:t>b</a:t>
            </a:r>
            <a:r>
              <a:rPr lang="it-IT" sz="2000" b="1" dirty="0">
                <a:latin typeface="+mj-lt"/>
              </a:rPr>
              <a:t>, </a:t>
            </a:r>
            <a:r>
              <a:rPr lang="it-IT" sz="2000" b="1" i="1" dirty="0">
                <a:latin typeface="+mj-lt"/>
              </a:rPr>
              <a:t>k</a:t>
            </a:r>
          </a:p>
        </p:txBody>
      </p:sp>
      <p:sp>
        <p:nvSpPr>
          <p:cNvPr id="62" name="AutoShape 46"/>
          <p:cNvSpPr>
            <a:spLocks noChangeArrowheads="1"/>
          </p:cNvSpPr>
          <p:nvPr/>
        </p:nvSpPr>
        <p:spPr bwMode="auto">
          <a:xfrm>
            <a:off x="827584" y="2708920"/>
            <a:ext cx="457200" cy="151056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88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88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88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88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88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88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88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88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88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88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88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88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88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88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88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88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88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688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88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688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688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688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688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688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8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688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688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688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688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8160" grpId="0" animBg="1" autoUpdateAnimBg="0"/>
      <p:bldP spid="688161" grpId="0" animBg="1" autoUpdateAnimBg="0"/>
      <p:bldP spid="688162" grpId="0" animBg="1" autoUpdateAnimBg="0"/>
      <p:bldP spid="688163" grpId="0" animBg="1" autoUpdateAnimBg="0"/>
      <p:bldP spid="688164" grpId="0" animBg="1" autoUpdateAnimBg="0"/>
      <p:bldP spid="688165" grpId="0" animBg="1" autoUpdateAnimBg="0"/>
      <p:bldP spid="688166" grpId="0" animBg="1" autoUpdateAnimBg="0"/>
      <p:bldP spid="688167" grpId="0" animBg="1" autoUpdateAnimBg="0"/>
      <p:bldP spid="688168" grpId="0" animBg="1" autoUpdateAnimBg="0"/>
      <p:bldP spid="688169" grpId="0" animBg="1" autoUpdateAnimBg="0"/>
      <p:bldP spid="688170" grpId="0" animBg="1" autoUpdateAnimBg="0"/>
      <p:bldP spid="688174" grpId="0" animBg="1"/>
      <p:bldP spid="688175" grpId="0" animBg="1"/>
      <p:bldP spid="688176" grpId="0" animBg="1"/>
      <p:bldP spid="688177" grpId="0" animBg="1"/>
      <p:bldP spid="688178" grpId="0" animBg="1"/>
      <p:bldP spid="688179" grpId="0" animBg="1"/>
      <p:bldP spid="688180" grpId="0" animBg="1"/>
      <p:bldP spid="688181" grpId="0" animBg="1"/>
      <p:bldP spid="688182" grpId="0" animBg="1"/>
      <p:bldP spid="688183" grpId="0" animBg="1"/>
      <p:bldP spid="688184" grpId="0" animBg="1"/>
      <p:bldP spid="688185" grpId="0" animBg="1"/>
      <p:bldP spid="688186" grpId="0" animBg="1"/>
      <p:bldP spid="688187" grpId="0" animBg="1"/>
      <p:bldP spid="6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Analisi della soluzione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La soluzione trovata contiene quattro attività</a:t>
            </a:r>
          </a:p>
          <a:p>
            <a:r>
              <a:rPr lang="it-IT" dirty="0" smtClean="0"/>
              <a:t>Due domande: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dirty="0" smtClean="0"/>
              <a:t>La soluzione trovata con l’algoritmo goloso è l’unica possibile che contiene quattro attività ? 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dirty="0" smtClean="0"/>
              <a:t>La soluzione trovata con l’algoritmo goloso è ottima o esistono anche soluzioni con più di quattro attività ?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8" name="Line 2"/>
          <p:cNvSpPr>
            <a:spLocks noChangeShapeType="1"/>
          </p:cNvSpPr>
          <p:nvPr/>
        </p:nvSpPr>
        <p:spPr bwMode="auto">
          <a:xfrm>
            <a:off x="1895375" y="1370856"/>
            <a:ext cx="0" cy="472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79" name="Line 3"/>
          <p:cNvSpPr>
            <a:spLocks noChangeShapeType="1"/>
          </p:cNvSpPr>
          <p:nvPr/>
        </p:nvSpPr>
        <p:spPr bwMode="auto">
          <a:xfrm>
            <a:off x="1895375" y="1523256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80" name="Line 4"/>
          <p:cNvSpPr>
            <a:spLocks noChangeShapeType="1"/>
          </p:cNvSpPr>
          <p:nvPr/>
        </p:nvSpPr>
        <p:spPr bwMode="auto">
          <a:xfrm>
            <a:off x="1895375" y="1828056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81" name="Line 5"/>
          <p:cNvSpPr>
            <a:spLocks noChangeShapeType="1"/>
          </p:cNvSpPr>
          <p:nvPr/>
        </p:nvSpPr>
        <p:spPr bwMode="auto">
          <a:xfrm>
            <a:off x="1895375" y="2132856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82" name="Line 6"/>
          <p:cNvSpPr>
            <a:spLocks noChangeShapeType="1"/>
          </p:cNvSpPr>
          <p:nvPr/>
        </p:nvSpPr>
        <p:spPr bwMode="auto">
          <a:xfrm>
            <a:off x="1895375" y="2437656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83" name="Line 7"/>
          <p:cNvSpPr>
            <a:spLocks noChangeShapeType="1"/>
          </p:cNvSpPr>
          <p:nvPr/>
        </p:nvSpPr>
        <p:spPr bwMode="auto">
          <a:xfrm>
            <a:off x="1895375" y="3656856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84" name="Line 8"/>
          <p:cNvSpPr>
            <a:spLocks noChangeShapeType="1"/>
          </p:cNvSpPr>
          <p:nvPr/>
        </p:nvSpPr>
        <p:spPr bwMode="auto">
          <a:xfrm>
            <a:off x="1895375" y="2742456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85" name="Line 9"/>
          <p:cNvSpPr>
            <a:spLocks noChangeShapeType="1"/>
          </p:cNvSpPr>
          <p:nvPr/>
        </p:nvSpPr>
        <p:spPr bwMode="auto">
          <a:xfrm>
            <a:off x="1895375" y="3047256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86" name="Line 10"/>
          <p:cNvSpPr>
            <a:spLocks noChangeShapeType="1"/>
          </p:cNvSpPr>
          <p:nvPr/>
        </p:nvSpPr>
        <p:spPr bwMode="auto">
          <a:xfrm>
            <a:off x="1895375" y="3352056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87" name="Line 11"/>
          <p:cNvSpPr>
            <a:spLocks noChangeShapeType="1"/>
          </p:cNvSpPr>
          <p:nvPr/>
        </p:nvSpPr>
        <p:spPr bwMode="auto">
          <a:xfrm>
            <a:off x="1895375" y="3961656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88" name="Line 12"/>
          <p:cNvSpPr>
            <a:spLocks noChangeShapeType="1"/>
          </p:cNvSpPr>
          <p:nvPr/>
        </p:nvSpPr>
        <p:spPr bwMode="auto">
          <a:xfrm>
            <a:off x="2288715" y="4235624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90189" name="Line 13"/>
          <p:cNvSpPr>
            <a:spLocks noChangeShapeType="1"/>
          </p:cNvSpPr>
          <p:nvPr/>
        </p:nvSpPr>
        <p:spPr bwMode="auto">
          <a:xfrm>
            <a:off x="1895375" y="4571256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90" name="Line 14"/>
          <p:cNvSpPr>
            <a:spLocks noChangeShapeType="1"/>
          </p:cNvSpPr>
          <p:nvPr/>
        </p:nvSpPr>
        <p:spPr bwMode="auto">
          <a:xfrm>
            <a:off x="1895375" y="4876056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91" name="Line 15"/>
          <p:cNvSpPr>
            <a:spLocks noChangeShapeType="1"/>
          </p:cNvSpPr>
          <p:nvPr/>
        </p:nvSpPr>
        <p:spPr bwMode="auto">
          <a:xfrm>
            <a:off x="1895375" y="5180856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92" name="Text Box 16"/>
          <p:cNvSpPr txBox="1">
            <a:spLocks noChangeArrowheads="1"/>
          </p:cNvSpPr>
          <p:nvPr/>
        </p:nvSpPr>
        <p:spPr bwMode="auto">
          <a:xfrm>
            <a:off x="1361975" y="1370856"/>
            <a:ext cx="533400" cy="4635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 0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 1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 2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 3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 4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 5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 6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 7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 8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 9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10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11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12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13</a:t>
            </a:r>
          </a:p>
          <a:p>
            <a:pPr>
              <a:spcBef>
                <a:spcPct val="10000"/>
              </a:spcBef>
            </a:pPr>
            <a:r>
              <a:rPr lang="it-IT" sz="1800" dirty="0">
                <a:latin typeface="+mn-lt"/>
              </a:rPr>
              <a:t>14</a:t>
            </a:r>
          </a:p>
        </p:txBody>
      </p:sp>
      <p:sp>
        <p:nvSpPr>
          <p:cNvPr id="690193" name="Line 17"/>
          <p:cNvSpPr>
            <a:spLocks noChangeShapeType="1"/>
          </p:cNvSpPr>
          <p:nvPr/>
        </p:nvSpPr>
        <p:spPr bwMode="auto">
          <a:xfrm>
            <a:off x="1895375" y="5485656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94" name="Line 18"/>
          <p:cNvSpPr>
            <a:spLocks noChangeShapeType="1"/>
          </p:cNvSpPr>
          <p:nvPr/>
        </p:nvSpPr>
        <p:spPr bwMode="auto">
          <a:xfrm>
            <a:off x="1895375" y="5790456"/>
            <a:ext cx="6248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0195" name="Text Box 19"/>
          <p:cNvSpPr txBox="1">
            <a:spLocks noChangeArrowheads="1"/>
          </p:cNvSpPr>
          <p:nvPr/>
        </p:nvSpPr>
        <p:spPr bwMode="auto">
          <a:xfrm>
            <a:off x="980975" y="6046044"/>
            <a:ext cx="920159" cy="400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>
            <a:spAutoFit/>
          </a:bodyPr>
          <a:lstStyle/>
          <a:p>
            <a:r>
              <a:rPr lang="it-IT" sz="2000" dirty="0"/>
              <a:t>tempo</a:t>
            </a:r>
          </a:p>
        </p:txBody>
      </p:sp>
      <p:sp>
        <p:nvSpPr>
          <p:cNvPr id="690196" name="Rectangle 20"/>
          <p:cNvSpPr>
            <a:spLocks noChangeArrowheads="1"/>
          </p:cNvSpPr>
          <p:nvPr/>
        </p:nvSpPr>
        <p:spPr bwMode="auto">
          <a:xfrm>
            <a:off x="2171600" y="1828056"/>
            <a:ext cx="350838" cy="9144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1</a:t>
            </a:r>
          </a:p>
        </p:txBody>
      </p:sp>
      <p:sp>
        <p:nvSpPr>
          <p:cNvPr id="690197" name="Rectangle 21"/>
          <p:cNvSpPr>
            <a:spLocks noChangeArrowheads="1"/>
          </p:cNvSpPr>
          <p:nvPr/>
        </p:nvSpPr>
        <p:spPr bwMode="auto">
          <a:xfrm>
            <a:off x="2733575" y="1523256"/>
            <a:ext cx="352425" cy="15240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2</a:t>
            </a:r>
          </a:p>
        </p:txBody>
      </p:sp>
      <p:sp>
        <p:nvSpPr>
          <p:cNvPr id="690198" name="Rectangle 22"/>
          <p:cNvSpPr>
            <a:spLocks noChangeArrowheads="1"/>
          </p:cNvSpPr>
          <p:nvPr/>
        </p:nvSpPr>
        <p:spPr bwMode="auto">
          <a:xfrm>
            <a:off x="3266975" y="1828056"/>
            <a:ext cx="381000" cy="15240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3</a:t>
            </a:r>
          </a:p>
        </p:txBody>
      </p:sp>
      <p:sp>
        <p:nvSpPr>
          <p:cNvPr id="690199" name="Rectangle 23"/>
          <p:cNvSpPr>
            <a:spLocks noChangeArrowheads="1"/>
          </p:cNvSpPr>
          <p:nvPr/>
        </p:nvSpPr>
        <p:spPr bwMode="auto">
          <a:xfrm>
            <a:off x="3789263" y="3047256"/>
            <a:ext cx="381000" cy="6096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 dirty="0"/>
              <a:t>a</a:t>
            </a:r>
            <a:r>
              <a:rPr lang="it-IT" sz="2000" b="1" i="1" baseline="-25000" dirty="0"/>
              <a:t>4</a:t>
            </a:r>
          </a:p>
        </p:txBody>
      </p:sp>
      <p:sp>
        <p:nvSpPr>
          <p:cNvPr id="690200" name="Rectangle 24"/>
          <p:cNvSpPr>
            <a:spLocks noChangeArrowheads="1"/>
          </p:cNvSpPr>
          <p:nvPr/>
        </p:nvSpPr>
        <p:spPr bwMode="auto">
          <a:xfrm>
            <a:off x="4351238" y="2437656"/>
            <a:ext cx="381000" cy="15240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 dirty="0"/>
              <a:t>a</a:t>
            </a:r>
            <a:r>
              <a:rPr lang="it-IT" sz="2000" b="1" i="1" baseline="-25000" dirty="0"/>
              <a:t>5</a:t>
            </a:r>
          </a:p>
        </p:txBody>
      </p:sp>
      <p:sp>
        <p:nvSpPr>
          <p:cNvPr id="690201" name="Rectangle 25"/>
          <p:cNvSpPr>
            <a:spLocks noChangeArrowheads="1"/>
          </p:cNvSpPr>
          <p:nvPr/>
        </p:nvSpPr>
        <p:spPr bwMode="auto">
          <a:xfrm>
            <a:off x="4943375" y="3047256"/>
            <a:ext cx="381000" cy="12192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6</a:t>
            </a:r>
          </a:p>
        </p:txBody>
      </p:sp>
      <p:sp>
        <p:nvSpPr>
          <p:cNvPr id="690202" name="Rectangle 26"/>
          <p:cNvSpPr>
            <a:spLocks noChangeArrowheads="1"/>
          </p:cNvSpPr>
          <p:nvPr/>
        </p:nvSpPr>
        <p:spPr bwMode="auto">
          <a:xfrm>
            <a:off x="5476775" y="3352056"/>
            <a:ext cx="381000" cy="12192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7</a:t>
            </a:r>
          </a:p>
        </p:txBody>
      </p:sp>
      <p:sp>
        <p:nvSpPr>
          <p:cNvPr id="690203" name="Rectangle 27"/>
          <p:cNvSpPr>
            <a:spLocks noChangeArrowheads="1"/>
          </p:cNvSpPr>
          <p:nvPr/>
        </p:nvSpPr>
        <p:spPr bwMode="auto">
          <a:xfrm>
            <a:off x="6038750" y="3961656"/>
            <a:ext cx="352425" cy="9144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8</a:t>
            </a:r>
          </a:p>
        </p:txBody>
      </p:sp>
      <p:sp>
        <p:nvSpPr>
          <p:cNvPr id="690204" name="Rectangle 28"/>
          <p:cNvSpPr>
            <a:spLocks noChangeArrowheads="1"/>
          </p:cNvSpPr>
          <p:nvPr/>
        </p:nvSpPr>
        <p:spPr bwMode="auto">
          <a:xfrm>
            <a:off x="6602313" y="3961656"/>
            <a:ext cx="350837" cy="12192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9</a:t>
            </a:r>
          </a:p>
        </p:txBody>
      </p:sp>
      <p:sp>
        <p:nvSpPr>
          <p:cNvPr id="690205" name="Rectangle 29"/>
          <p:cNvSpPr>
            <a:spLocks noChangeArrowheads="1"/>
          </p:cNvSpPr>
          <p:nvPr/>
        </p:nvSpPr>
        <p:spPr bwMode="auto">
          <a:xfrm>
            <a:off x="7164288" y="2132856"/>
            <a:ext cx="381000" cy="33528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10</a:t>
            </a:r>
          </a:p>
        </p:txBody>
      </p:sp>
      <p:sp>
        <p:nvSpPr>
          <p:cNvPr id="690206" name="Rectangle 30"/>
          <p:cNvSpPr>
            <a:spLocks noChangeArrowheads="1"/>
          </p:cNvSpPr>
          <p:nvPr/>
        </p:nvSpPr>
        <p:spPr bwMode="auto">
          <a:xfrm>
            <a:off x="7727850" y="5180856"/>
            <a:ext cx="381000" cy="6096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35" tIns="45718" rIns="91435" bIns="45718" anchor="ctr"/>
          <a:lstStyle/>
          <a:p>
            <a:pPr algn="ctr"/>
            <a:r>
              <a:rPr lang="it-IT" sz="2000" b="1" i="1" dirty="0"/>
              <a:t>a</a:t>
            </a:r>
            <a:r>
              <a:rPr lang="it-IT" sz="2000" b="1" i="1" baseline="-25000" dirty="0"/>
              <a:t>11</a:t>
            </a:r>
          </a:p>
        </p:txBody>
      </p:sp>
      <p:grpSp>
        <p:nvGrpSpPr>
          <p:cNvPr id="690208" name="Group 32"/>
          <p:cNvGrpSpPr>
            <a:grpSpLocks/>
          </p:cNvGrpSpPr>
          <p:nvPr/>
        </p:nvGrpSpPr>
        <p:grpSpPr bwMode="auto">
          <a:xfrm>
            <a:off x="2171600" y="1523256"/>
            <a:ext cx="914400" cy="1524000"/>
            <a:chOff x="1488" y="1104"/>
            <a:chExt cx="624" cy="960"/>
          </a:xfrm>
        </p:grpSpPr>
        <p:sp>
          <p:nvSpPr>
            <p:cNvPr id="690209" name="Rectangle 33"/>
            <p:cNvSpPr>
              <a:spLocks noChangeArrowheads="1"/>
            </p:cNvSpPr>
            <p:nvPr/>
          </p:nvSpPr>
          <p:spPr bwMode="auto">
            <a:xfrm>
              <a:off x="1872" y="1104"/>
              <a:ext cx="240" cy="960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35" tIns="45718" rIns="91435" bIns="45718" anchor="ctr"/>
            <a:lstStyle/>
            <a:p>
              <a:pPr algn="ctr"/>
              <a:r>
                <a:rPr lang="it-IT" sz="2000" b="1" i="1" dirty="0"/>
                <a:t>a</a:t>
              </a:r>
              <a:r>
                <a:rPr lang="it-IT" sz="2000" b="1" i="1" baseline="-25000" dirty="0"/>
                <a:t>2</a:t>
              </a:r>
            </a:p>
          </p:txBody>
        </p:sp>
        <p:sp>
          <p:nvSpPr>
            <p:cNvPr id="690210" name="Rectangle 34"/>
            <p:cNvSpPr>
              <a:spLocks noChangeArrowheads="1"/>
            </p:cNvSpPr>
            <p:nvPr/>
          </p:nvSpPr>
          <p:spPr bwMode="auto">
            <a:xfrm>
              <a:off x="1488" y="1296"/>
              <a:ext cx="240" cy="576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35" tIns="45718" rIns="91435" bIns="45718" anchor="ctr"/>
            <a:lstStyle/>
            <a:p>
              <a:pPr algn="ctr"/>
              <a:r>
                <a:rPr lang="it-IT" sz="2000" b="1" i="1" dirty="0"/>
                <a:t>a</a:t>
              </a:r>
              <a:r>
                <a:rPr lang="it-IT" sz="2000" b="1" i="1" baseline="-25000" dirty="0"/>
                <a:t>1</a:t>
              </a:r>
            </a:p>
          </p:txBody>
        </p:sp>
      </p:grpSp>
      <p:grpSp>
        <p:nvGrpSpPr>
          <p:cNvPr id="690211" name="Group 35"/>
          <p:cNvGrpSpPr>
            <a:grpSpLocks/>
          </p:cNvGrpSpPr>
          <p:nvPr/>
        </p:nvGrpSpPr>
        <p:grpSpPr bwMode="auto">
          <a:xfrm>
            <a:off x="6038750" y="3961656"/>
            <a:ext cx="914400" cy="1219200"/>
            <a:chOff x="4128" y="2640"/>
            <a:chExt cx="624" cy="768"/>
          </a:xfrm>
        </p:grpSpPr>
        <p:sp>
          <p:nvSpPr>
            <p:cNvPr id="690212" name="Rectangle 36"/>
            <p:cNvSpPr>
              <a:spLocks noChangeArrowheads="1"/>
            </p:cNvSpPr>
            <p:nvPr/>
          </p:nvSpPr>
          <p:spPr bwMode="auto">
            <a:xfrm>
              <a:off x="4512" y="2640"/>
              <a:ext cx="240" cy="76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35" tIns="45718" rIns="91435" bIns="45718" anchor="ctr"/>
            <a:lstStyle/>
            <a:p>
              <a:pPr algn="ctr"/>
              <a:r>
                <a:rPr lang="it-IT" sz="2000" b="1" i="1"/>
                <a:t>a</a:t>
              </a:r>
              <a:r>
                <a:rPr lang="it-IT" sz="2000" b="1" i="1" baseline="-25000"/>
                <a:t>9</a:t>
              </a:r>
            </a:p>
          </p:txBody>
        </p:sp>
        <p:sp>
          <p:nvSpPr>
            <p:cNvPr id="690213" name="Rectangle 37"/>
            <p:cNvSpPr>
              <a:spLocks noChangeArrowheads="1"/>
            </p:cNvSpPr>
            <p:nvPr/>
          </p:nvSpPr>
          <p:spPr bwMode="auto">
            <a:xfrm>
              <a:off x="4128" y="2640"/>
              <a:ext cx="240" cy="576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35" tIns="45718" rIns="91435" bIns="45718" anchor="ctr"/>
            <a:lstStyle/>
            <a:p>
              <a:pPr algn="ctr"/>
              <a:r>
                <a:rPr lang="it-IT" sz="2000" b="1" i="1"/>
                <a:t>a</a:t>
              </a:r>
              <a:r>
                <a:rPr lang="it-IT" sz="2000" b="1" i="1" baseline="-25000"/>
                <a:t>8</a:t>
              </a:r>
            </a:p>
          </p:txBody>
        </p:sp>
      </p:grpSp>
      <p:sp>
        <p:nvSpPr>
          <p:cNvPr id="39" name="Text Box 2"/>
          <p:cNvSpPr txBox="1">
            <a:spLocks noChangeArrowheads="1"/>
          </p:cNvSpPr>
          <p:nvPr/>
        </p:nvSpPr>
        <p:spPr bwMode="auto">
          <a:xfrm>
            <a:off x="935596" y="371262"/>
            <a:ext cx="7524836" cy="923326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35" tIns="45718" rIns="91435" bIns="45718">
            <a:spAutoFit/>
          </a:bodyPr>
          <a:lstStyle/>
          <a:p>
            <a:r>
              <a:rPr lang="it-IT" sz="1800" dirty="0"/>
              <a:t>   </a:t>
            </a:r>
            <a:r>
              <a:rPr lang="it-IT" sz="1800" i="1" dirty="0"/>
              <a:t>i</a:t>
            </a:r>
            <a:r>
              <a:rPr lang="it-IT" sz="1800" dirty="0"/>
              <a:t>       </a:t>
            </a:r>
            <a:r>
              <a:rPr lang="it-IT" sz="1800" dirty="0" smtClean="0"/>
              <a:t>       1      2      3       4      5      6      7      8      9      10     11</a:t>
            </a:r>
            <a:endParaRPr lang="it-IT" sz="1800" dirty="0"/>
          </a:p>
          <a:p>
            <a:r>
              <a:rPr lang="it-IT" sz="1800" i="1" dirty="0"/>
              <a:t>  s</a:t>
            </a:r>
            <a:r>
              <a:rPr lang="it-IT" sz="1800" i="1" baseline="-25000" dirty="0"/>
              <a:t>i</a:t>
            </a:r>
            <a:r>
              <a:rPr lang="it-IT" sz="1800" dirty="0"/>
              <a:t>        </a:t>
            </a:r>
            <a:r>
              <a:rPr lang="it-IT" sz="1800" dirty="0" smtClean="0"/>
              <a:t>      1      0      1       5      3      5      6      8      8        2    12 </a:t>
            </a:r>
            <a:endParaRPr lang="it-IT" sz="1800" dirty="0"/>
          </a:p>
          <a:p>
            <a:r>
              <a:rPr lang="it-IT" sz="1800" i="1" dirty="0"/>
              <a:t>  f</a:t>
            </a:r>
            <a:r>
              <a:rPr lang="it-IT" sz="1800" i="1" baseline="-25000" dirty="0"/>
              <a:t>i</a:t>
            </a:r>
            <a:r>
              <a:rPr lang="it-IT" sz="1800" dirty="0"/>
              <a:t>       </a:t>
            </a:r>
            <a:r>
              <a:rPr lang="it-IT" sz="1800" dirty="0" smtClean="0"/>
              <a:t>      4      5      6       7      8      9     10     11    12      13     14 </a:t>
            </a:r>
            <a:endParaRPr lang="it-IT" sz="1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Ottimalità</a:t>
            </a:r>
            <a:r>
              <a:rPr lang="en-US" dirty="0" smtClean="0"/>
              <a:t> </a:t>
            </a:r>
            <a:r>
              <a:rPr lang="en-US" dirty="0" err="1" smtClean="0"/>
              <a:t>della</a:t>
            </a:r>
            <a:r>
              <a:rPr lang="en-US" dirty="0" smtClean="0"/>
              <a:t> </a:t>
            </a:r>
            <a:r>
              <a:rPr lang="en-US" dirty="0" err="1" smtClean="0"/>
              <a:t>soluzione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340768"/>
            <a:ext cx="8352928" cy="1800200"/>
          </a:xfrm>
        </p:spPr>
        <p:txBody>
          <a:bodyPr/>
          <a:lstStyle/>
          <a:p>
            <a:pPr>
              <a:spcBef>
                <a:spcPct val="100000"/>
              </a:spcBef>
            </a:pPr>
            <a:r>
              <a:rPr lang="it-IT" dirty="0">
                <a:solidFill>
                  <a:srgbClr val="0000FF"/>
                </a:solidFill>
              </a:rPr>
              <a:t>Cerchiamo di rispondere alla seconda domanda.</a:t>
            </a:r>
          </a:p>
          <a:p>
            <a:pPr marL="914400" lvl="1" indent="-457200">
              <a:buClr>
                <a:srgbClr val="3333CC"/>
              </a:buClr>
              <a:buFont typeface="+mj-lt"/>
              <a:buAutoNum type="arabicPeriod" startAt="2"/>
            </a:pPr>
            <a:r>
              <a:rPr lang="it-IT" dirty="0">
                <a:solidFill>
                  <a:srgbClr val="FF0000"/>
                </a:solidFill>
              </a:rPr>
              <a:t>La soluzione trovata con l’algoritmo goloso è ottima o esistono anche soluzioni con più di quattro attività</a:t>
            </a:r>
            <a:r>
              <a:rPr lang="it-IT" dirty="0" smtClean="0">
                <a:solidFill>
                  <a:srgbClr val="FF0000"/>
                </a:solidFill>
              </a:rPr>
              <a:t>?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539552" y="3501008"/>
            <a:ext cx="8280920" cy="2200602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lang="it-IT" sz="2400" b="1" i="1" dirty="0" err="1"/>
              <a:t>SelezioneAttivita</a:t>
            </a:r>
            <a:r>
              <a:rPr lang="it-IT" sz="2400" b="1" dirty="0"/>
              <a:t>(</a:t>
            </a:r>
            <a:r>
              <a:rPr lang="it-IT" sz="2400" b="1" i="1" dirty="0"/>
              <a:t>a</a:t>
            </a:r>
            <a:r>
              <a:rPr lang="it-IT" sz="2400" b="1" dirty="0"/>
              <a:t>, </a:t>
            </a:r>
            <a:r>
              <a:rPr lang="it-IT" sz="2400" b="1" i="1" dirty="0" err="1"/>
              <a:t>s</a:t>
            </a:r>
            <a:r>
              <a:rPr lang="it-IT" sz="2400" b="1" dirty="0"/>
              <a:t>, </a:t>
            </a:r>
            <a:r>
              <a:rPr lang="it-IT" sz="2400" b="1" i="1" dirty="0" err="1"/>
              <a:t>f</a:t>
            </a:r>
            <a:r>
              <a:rPr lang="it-IT" sz="2400" b="1" dirty="0"/>
              <a:t>, </a:t>
            </a:r>
            <a:r>
              <a:rPr lang="it-IT" sz="2400" b="1" i="1" dirty="0" err="1"/>
              <a:t>n</a:t>
            </a:r>
            <a:r>
              <a:rPr lang="it-IT" sz="2400" b="1" dirty="0"/>
              <a:t>)	</a:t>
            </a:r>
            <a:r>
              <a:rPr lang="it-IT" sz="2400" b="1" dirty="0" smtClean="0"/>
              <a:t>    </a:t>
            </a:r>
            <a:r>
              <a:rPr lang="it-IT" sz="2400" b="1" dirty="0" smtClean="0">
                <a:solidFill>
                  <a:srgbClr val="FF0000"/>
                </a:solidFill>
                <a:sym typeface="MT Extra" charset="0"/>
              </a:rPr>
              <a:t> </a:t>
            </a:r>
            <a:r>
              <a:rPr lang="it-IT" sz="2400" b="1" i="1" dirty="0">
                <a:solidFill>
                  <a:srgbClr val="FF0000"/>
                </a:solidFill>
              </a:rPr>
              <a:t>f</a:t>
            </a:r>
            <a:r>
              <a:rPr lang="it-IT" sz="2400" b="1" baseline="-25000" dirty="0">
                <a:solidFill>
                  <a:srgbClr val="FF0000"/>
                </a:solidFill>
              </a:rPr>
              <a:t>1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>
                <a:solidFill>
                  <a:srgbClr val="FF0000"/>
                </a:solidFill>
                <a:sym typeface="Symbol" charset="0"/>
              </a:rPr>
              <a:t> </a:t>
            </a:r>
            <a:r>
              <a:rPr lang="it-IT" sz="2400" b="1" i="1" dirty="0">
                <a:solidFill>
                  <a:srgbClr val="FF0000"/>
                </a:solidFill>
              </a:rPr>
              <a:t>f</a:t>
            </a:r>
            <a:r>
              <a:rPr lang="it-IT" sz="2400" b="1" baseline="-25000" dirty="0">
                <a:solidFill>
                  <a:srgbClr val="FF0000"/>
                </a:solidFill>
              </a:rPr>
              <a:t>2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>
                <a:solidFill>
                  <a:srgbClr val="FF0000"/>
                </a:solidFill>
                <a:sym typeface="Symbol" charset="0"/>
              </a:rPr>
              <a:t> </a:t>
            </a:r>
            <a:r>
              <a:rPr lang="it-IT" sz="2400" b="1" dirty="0">
                <a:solidFill>
                  <a:srgbClr val="FF0000"/>
                </a:solidFill>
              </a:rPr>
              <a:t>... </a:t>
            </a:r>
            <a:r>
              <a:rPr lang="it-IT" sz="2400" b="1" dirty="0">
                <a:solidFill>
                  <a:srgbClr val="FF0000"/>
                </a:solidFill>
                <a:sym typeface="Symbol" charset="0"/>
              </a:rPr>
              <a:t> </a:t>
            </a:r>
            <a:r>
              <a:rPr lang="it-IT" sz="2400" b="1" i="1" dirty="0" err="1">
                <a:solidFill>
                  <a:srgbClr val="FF0000"/>
                </a:solidFill>
              </a:rPr>
              <a:t>f</a:t>
            </a:r>
            <a:r>
              <a:rPr lang="it-IT" sz="2400" b="1" i="1" baseline="-25000" dirty="0" err="1">
                <a:solidFill>
                  <a:srgbClr val="FF0000"/>
                </a:solidFill>
              </a:rPr>
              <a:t>n</a:t>
            </a:r>
            <a:endParaRPr lang="it-IT" sz="2400" b="1" dirty="0"/>
          </a:p>
          <a:p>
            <a:pPr>
              <a:lnSpc>
                <a:spcPct val="95000"/>
              </a:lnSpc>
            </a:pPr>
            <a:r>
              <a:rPr lang="it-IT" sz="2400" b="1" dirty="0"/>
              <a:t>   </a:t>
            </a:r>
            <a:r>
              <a:rPr lang="it-IT" sz="2400" b="1" i="1" dirty="0"/>
              <a:t>b</a:t>
            </a:r>
            <a:r>
              <a:rPr lang="it-IT" sz="2400" b="1" baseline="-25000" dirty="0"/>
              <a:t>1</a:t>
            </a:r>
            <a:r>
              <a:rPr lang="it-IT" sz="2400" b="1" dirty="0"/>
              <a:t> </a:t>
            </a:r>
            <a:r>
              <a:rPr lang="it-IT" sz="2400" b="1" dirty="0">
                <a:sym typeface="Symbol" charset="0"/>
              </a:rPr>
              <a:t> </a:t>
            </a:r>
            <a:r>
              <a:rPr lang="it-IT" sz="2400" b="1" i="1" dirty="0"/>
              <a:t>a</a:t>
            </a:r>
            <a:r>
              <a:rPr lang="it-IT" sz="2400" b="1" baseline="-25000" dirty="0"/>
              <a:t>1</a:t>
            </a:r>
            <a:r>
              <a:rPr lang="it-IT" sz="2400" b="1" dirty="0">
                <a:sym typeface="Symbol" charset="0"/>
              </a:rPr>
              <a:t>,  </a:t>
            </a:r>
            <a:r>
              <a:rPr lang="it-IT" sz="2400" b="1" i="1" dirty="0">
                <a:sym typeface="Symbol" charset="0"/>
              </a:rPr>
              <a:t>k</a:t>
            </a:r>
            <a:r>
              <a:rPr lang="it-IT" sz="2400" b="1" dirty="0">
                <a:sym typeface="Symbol" charset="0"/>
              </a:rPr>
              <a:t>  1</a:t>
            </a:r>
            <a:r>
              <a:rPr lang="it-IT" sz="2400" b="1" dirty="0"/>
              <a:t>, </a:t>
            </a:r>
            <a:r>
              <a:rPr lang="it-IT" sz="2400" b="1" i="1" dirty="0" err="1"/>
              <a:t>maxf</a:t>
            </a:r>
            <a:r>
              <a:rPr lang="it-IT" sz="2400" b="1" dirty="0"/>
              <a:t> </a:t>
            </a:r>
            <a:r>
              <a:rPr lang="it-IT" sz="2400" b="1" dirty="0">
                <a:sym typeface="Symbol" charset="0"/>
              </a:rPr>
              <a:t></a:t>
            </a:r>
            <a:r>
              <a:rPr lang="it-IT" sz="2400" b="1" dirty="0"/>
              <a:t> </a:t>
            </a:r>
            <a:r>
              <a:rPr lang="it-IT" sz="2400" b="1" i="1" dirty="0"/>
              <a:t>f</a:t>
            </a:r>
            <a:r>
              <a:rPr lang="it-IT" sz="2400" b="1" baseline="-25000" dirty="0"/>
              <a:t>1</a:t>
            </a:r>
          </a:p>
          <a:p>
            <a:pPr>
              <a:lnSpc>
                <a:spcPct val="95000"/>
              </a:lnSpc>
            </a:pPr>
            <a:r>
              <a:rPr lang="it-IT" sz="2400" b="1" dirty="0"/>
              <a:t>   for </a:t>
            </a:r>
            <a:r>
              <a:rPr lang="it-IT" sz="2400" b="1" i="1" dirty="0"/>
              <a:t>i </a:t>
            </a:r>
            <a:r>
              <a:rPr lang="it-IT" sz="2400" b="1" dirty="0">
                <a:sym typeface="Symbol" charset="0"/>
              </a:rPr>
              <a:t> 2</a:t>
            </a:r>
            <a:r>
              <a:rPr lang="it-IT" sz="2400" b="1" dirty="0"/>
              <a:t> to </a:t>
            </a:r>
            <a:r>
              <a:rPr lang="it-IT" sz="2400" b="1" i="1" dirty="0" err="1"/>
              <a:t>n</a:t>
            </a:r>
            <a:r>
              <a:rPr lang="it-IT" sz="2400" b="1" dirty="0"/>
              <a:t> do</a:t>
            </a:r>
          </a:p>
          <a:p>
            <a:pPr>
              <a:lnSpc>
                <a:spcPct val="95000"/>
              </a:lnSpc>
            </a:pPr>
            <a:r>
              <a:rPr lang="it-IT" sz="2400" b="1" dirty="0"/>
              <a:t>      </a:t>
            </a:r>
            <a:r>
              <a:rPr lang="it-IT" sz="2400" b="1" dirty="0" err="1"/>
              <a:t>if</a:t>
            </a:r>
            <a:r>
              <a:rPr lang="it-IT" sz="2400" b="1" dirty="0"/>
              <a:t> </a:t>
            </a:r>
            <a:r>
              <a:rPr lang="it-IT" sz="2400" b="1" i="1" dirty="0"/>
              <a:t>s</a:t>
            </a:r>
            <a:r>
              <a:rPr lang="it-IT" sz="2400" b="1" i="1" baseline="-25000" dirty="0"/>
              <a:t>i</a:t>
            </a:r>
            <a:r>
              <a:rPr lang="it-IT" sz="2400" b="1" dirty="0"/>
              <a:t> </a:t>
            </a:r>
            <a:r>
              <a:rPr lang="it-IT" sz="2400" b="1" dirty="0">
                <a:sym typeface="Symbol" charset="0"/>
              </a:rPr>
              <a:t></a:t>
            </a:r>
            <a:r>
              <a:rPr lang="it-IT" sz="2400" b="1" dirty="0"/>
              <a:t> </a:t>
            </a:r>
            <a:r>
              <a:rPr lang="it-IT" sz="2400" b="1" i="1" dirty="0" err="1"/>
              <a:t>maxf</a:t>
            </a:r>
            <a:r>
              <a:rPr lang="it-IT" sz="2400" b="1" dirty="0"/>
              <a:t> </a:t>
            </a:r>
            <a:r>
              <a:rPr lang="it-IT" sz="2400" b="1" dirty="0" err="1"/>
              <a:t>then</a:t>
            </a:r>
            <a:endParaRPr lang="it-IT" sz="2400" b="1" dirty="0"/>
          </a:p>
          <a:p>
            <a:pPr>
              <a:lnSpc>
                <a:spcPct val="95000"/>
              </a:lnSpc>
            </a:pPr>
            <a:r>
              <a:rPr lang="it-IT" sz="2400" b="1" dirty="0"/>
              <a:t>         </a:t>
            </a:r>
            <a:r>
              <a:rPr lang="it-IT" sz="2400" b="1" i="1" dirty="0">
                <a:sym typeface="Symbol" charset="0"/>
              </a:rPr>
              <a:t>k</a:t>
            </a:r>
            <a:r>
              <a:rPr lang="it-IT" sz="2400" b="1" dirty="0">
                <a:sym typeface="Symbol" charset="0"/>
              </a:rPr>
              <a:t>  </a:t>
            </a:r>
            <a:r>
              <a:rPr lang="it-IT" sz="2400" b="1" i="1" dirty="0">
                <a:sym typeface="Symbol" charset="0"/>
              </a:rPr>
              <a:t>k</a:t>
            </a:r>
            <a:r>
              <a:rPr lang="it-IT" sz="2400" b="1" dirty="0">
                <a:sym typeface="Symbol" charset="0"/>
              </a:rPr>
              <a:t>+1</a:t>
            </a:r>
            <a:r>
              <a:rPr lang="it-IT" sz="2400" b="1" dirty="0"/>
              <a:t>, </a:t>
            </a:r>
            <a:r>
              <a:rPr lang="it-IT" sz="2400" b="1" i="1" dirty="0" err="1"/>
              <a:t>b</a:t>
            </a:r>
            <a:r>
              <a:rPr lang="it-IT" sz="2400" b="1" i="1" baseline="-25000" dirty="0" err="1"/>
              <a:t>k</a:t>
            </a:r>
            <a:r>
              <a:rPr lang="it-IT" sz="2400" b="1" dirty="0"/>
              <a:t> </a:t>
            </a:r>
            <a:r>
              <a:rPr lang="it-IT" sz="2400" b="1" dirty="0">
                <a:sym typeface="Symbol" charset="0"/>
              </a:rPr>
              <a:t> </a:t>
            </a:r>
            <a:r>
              <a:rPr lang="it-IT" sz="2400" b="1" i="1" dirty="0"/>
              <a:t>a</a:t>
            </a:r>
            <a:r>
              <a:rPr lang="it-IT" sz="2400" b="1" i="1" baseline="-25000" dirty="0"/>
              <a:t>i</a:t>
            </a:r>
            <a:r>
              <a:rPr lang="it-IT" sz="2400" b="1" dirty="0">
                <a:sym typeface="Symbol" charset="0"/>
              </a:rPr>
              <a:t>, </a:t>
            </a:r>
            <a:r>
              <a:rPr lang="it-IT" sz="2400" b="1" i="1" dirty="0" err="1"/>
              <a:t>maxf</a:t>
            </a:r>
            <a:r>
              <a:rPr lang="it-IT" sz="2400" b="1" dirty="0"/>
              <a:t> </a:t>
            </a:r>
            <a:r>
              <a:rPr lang="it-IT" sz="2400" b="1" dirty="0">
                <a:sym typeface="Symbol" charset="0"/>
              </a:rPr>
              <a:t></a:t>
            </a:r>
            <a:r>
              <a:rPr lang="it-IT" sz="2400" b="1" dirty="0"/>
              <a:t> </a:t>
            </a:r>
            <a:r>
              <a:rPr lang="it-IT" sz="2400" b="1" i="1" dirty="0"/>
              <a:t>f</a:t>
            </a:r>
            <a:r>
              <a:rPr lang="it-IT" sz="2400" b="1" i="1" baseline="-25000" dirty="0"/>
              <a:t>i</a:t>
            </a:r>
            <a:endParaRPr lang="it-IT" sz="2400" b="1" dirty="0"/>
          </a:p>
          <a:p>
            <a:pPr>
              <a:lnSpc>
                <a:spcPct val="95000"/>
              </a:lnSpc>
            </a:pPr>
            <a:r>
              <a:rPr lang="it-IT" sz="2400" b="1" dirty="0"/>
              <a:t>   </a:t>
            </a:r>
            <a:r>
              <a:rPr lang="it-IT" sz="2400" b="1" dirty="0" err="1"/>
              <a:t>return</a:t>
            </a:r>
            <a:r>
              <a:rPr lang="it-IT" sz="2400" b="1" dirty="0"/>
              <a:t> </a:t>
            </a:r>
            <a:r>
              <a:rPr lang="it-IT" sz="2400" b="1" i="1" dirty="0"/>
              <a:t>b</a:t>
            </a:r>
            <a:r>
              <a:rPr lang="it-IT" sz="2400" b="1" dirty="0"/>
              <a:t>, </a:t>
            </a:r>
            <a:r>
              <a:rPr lang="it-IT" sz="2400" b="1" i="1" dirty="0"/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20005847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Ottimalità</a:t>
            </a:r>
            <a:r>
              <a:rPr lang="en-US" dirty="0" smtClean="0"/>
              <a:t> </a:t>
            </a:r>
            <a:r>
              <a:rPr lang="en-US" dirty="0" err="1" smtClean="0"/>
              <a:t>della</a:t>
            </a:r>
            <a:r>
              <a:rPr lang="en-US" dirty="0" smtClean="0"/>
              <a:t> </a:t>
            </a:r>
            <a:r>
              <a:rPr lang="en-US" dirty="0" err="1" smtClean="0"/>
              <a:t>soluzione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L’algoritmo comincia scegliendo la prima attività </a:t>
            </a:r>
            <a:r>
              <a:rPr lang="it-IT" b="1" i="1" dirty="0">
                <a:solidFill>
                  <a:srgbClr val="FF0000"/>
                </a:solidFill>
              </a:rPr>
              <a:t>a</a:t>
            </a:r>
            <a:r>
              <a:rPr lang="it-IT" b="1" baseline="-25000" dirty="0">
                <a:solidFill>
                  <a:srgbClr val="FF0000"/>
                </a:solidFill>
              </a:rPr>
              <a:t>1</a:t>
            </a:r>
            <a:r>
              <a:rPr lang="it-IT" dirty="0" smtClean="0"/>
              <a:t> (quella con tempo di fine più basso)</a:t>
            </a:r>
          </a:p>
          <a:p>
            <a:r>
              <a:rPr lang="it-IT" dirty="0" smtClean="0"/>
              <a:t>Siamo sicuri che questa scelta non possa compromettere il risultato? </a:t>
            </a:r>
          </a:p>
          <a:p>
            <a:r>
              <a:rPr lang="it-IT" dirty="0" smtClean="0"/>
              <a:t>In altre parole: esiste sempre una soluzione ottima che contiene </a:t>
            </a:r>
            <a:r>
              <a:rPr lang="it-IT" b="1" i="1" dirty="0">
                <a:solidFill>
                  <a:srgbClr val="FF0000"/>
                </a:solidFill>
              </a:rPr>
              <a:t>a</a:t>
            </a:r>
            <a:r>
              <a:rPr lang="it-IT" b="1" baseline="-25000" dirty="0">
                <a:solidFill>
                  <a:srgbClr val="FF0000"/>
                </a:solidFill>
              </a:rPr>
              <a:t>1</a:t>
            </a:r>
            <a:r>
              <a:rPr lang="it-IT" dirty="0" smtClean="0"/>
              <a:t>?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1" name="Rectangle 3"/>
          <p:cNvSpPr>
            <a:spLocks noChangeArrowheads="1"/>
          </p:cNvSpPr>
          <p:nvPr/>
        </p:nvSpPr>
        <p:spPr bwMode="auto">
          <a:xfrm>
            <a:off x="977057" y="3853408"/>
            <a:ext cx="1336675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 i="1"/>
              <a:t>b</a:t>
            </a:r>
            <a:r>
              <a:rPr lang="it-IT" sz="2000" b="1" i="1" baseline="-25000"/>
              <a:t>1</a:t>
            </a:r>
          </a:p>
        </p:txBody>
      </p:sp>
      <p:sp>
        <p:nvSpPr>
          <p:cNvPr id="693252" name="Rectangle 4"/>
          <p:cNvSpPr>
            <a:spLocks noChangeArrowheads="1"/>
          </p:cNvSpPr>
          <p:nvPr/>
        </p:nvSpPr>
        <p:spPr bwMode="auto">
          <a:xfrm>
            <a:off x="2524870" y="3853408"/>
            <a:ext cx="703262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 i="1"/>
              <a:t>b</a:t>
            </a:r>
            <a:r>
              <a:rPr lang="it-IT" sz="2000" b="1" i="1" baseline="-25000"/>
              <a:t>2</a:t>
            </a:r>
          </a:p>
        </p:txBody>
      </p:sp>
      <p:sp>
        <p:nvSpPr>
          <p:cNvPr id="693253" name="Rectangle 5"/>
          <p:cNvSpPr>
            <a:spLocks noChangeArrowheads="1"/>
          </p:cNvSpPr>
          <p:nvPr/>
        </p:nvSpPr>
        <p:spPr bwMode="auto">
          <a:xfrm>
            <a:off x="6674595" y="3853408"/>
            <a:ext cx="7747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 i="1"/>
              <a:t>b</a:t>
            </a:r>
            <a:r>
              <a:rPr lang="it-IT" sz="2000" b="1" i="1" baseline="-25000"/>
              <a:t>m</a:t>
            </a:r>
          </a:p>
        </p:txBody>
      </p:sp>
      <p:sp>
        <p:nvSpPr>
          <p:cNvPr id="693254" name="Rectangle 6"/>
          <p:cNvSpPr>
            <a:spLocks noChangeArrowheads="1"/>
          </p:cNvSpPr>
          <p:nvPr/>
        </p:nvSpPr>
        <p:spPr bwMode="auto">
          <a:xfrm>
            <a:off x="3509120" y="3853408"/>
            <a:ext cx="2884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 i="1"/>
              <a:t>…………………..</a:t>
            </a:r>
            <a:endParaRPr lang="it-IT" sz="2000" b="1" i="1" baseline="-25000"/>
          </a:p>
        </p:txBody>
      </p:sp>
      <p:sp>
        <p:nvSpPr>
          <p:cNvPr id="693255" name="Rectangle 7"/>
          <p:cNvSpPr>
            <a:spLocks noChangeArrowheads="1"/>
          </p:cNvSpPr>
          <p:nvPr/>
        </p:nvSpPr>
        <p:spPr bwMode="auto">
          <a:xfrm>
            <a:off x="1259632" y="5301208"/>
            <a:ext cx="773113" cy="4572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000" b="1" i="1"/>
              <a:t>a</a:t>
            </a:r>
            <a:r>
              <a:rPr lang="it-IT" sz="2000" b="1" i="1" baseline="-25000"/>
              <a:t>1</a:t>
            </a:r>
          </a:p>
        </p:txBody>
      </p:sp>
      <p:grpSp>
        <p:nvGrpSpPr>
          <p:cNvPr id="693256" name="Group 8"/>
          <p:cNvGrpSpPr>
            <a:grpSpLocks/>
          </p:cNvGrpSpPr>
          <p:nvPr/>
        </p:nvGrpSpPr>
        <p:grpSpPr bwMode="auto">
          <a:xfrm>
            <a:off x="1259632" y="5301208"/>
            <a:ext cx="6189663" cy="457200"/>
            <a:chOff x="864" y="3456"/>
            <a:chExt cx="4224" cy="288"/>
          </a:xfrm>
        </p:grpSpPr>
        <p:sp>
          <p:nvSpPr>
            <p:cNvPr id="693257" name="Rectangle 9"/>
            <p:cNvSpPr>
              <a:spLocks noChangeArrowheads="1"/>
            </p:cNvSpPr>
            <p:nvPr/>
          </p:nvSpPr>
          <p:spPr bwMode="auto">
            <a:xfrm>
              <a:off x="1728" y="3456"/>
              <a:ext cx="48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 i="1"/>
                <a:t>b</a:t>
              </a:r>
              <a:r>
                <a:rPr lang="it-IT" sz="2000" b="1" i="1" baseline="-25000"/>
                <a:t>2</a:t>
              </a:r>
            </a:p>
          </p:txBody>
        </p:sp>
        <p:sp>
          <p:nvSpPr>
            <p:cNvPr id="693258" name="Rectangle 10"/>
            <p:cNvSpPr>
              <a:spLocks noChangeArrowheads="1"/>
            </p:cNvSpPr>
            <p:nvPr/>
          </p:nvSpPr>
          <p:spPr bwMode="auto">
            <a:xfrm>
              <a:off x="4560" y="3456"/>
              <a:ext cx="52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 i="1"/>
                <a:t>b</a:t>
              </a:r>
              <a:r>
                <a:rPr lang="it-IT" sz="2000" b="1" i="1" baseline="-25000"/>
                <a:t>m</a:t>
              </a:r>
            </a:p>
          </p:txBody>
        </p:sp>
        <p:sp>
          <p:nvSpPr>
            <p:cNvPr id="693259" name="Rectangle 11"/>
            <p:cNvSpPr>
              <a:spLocks noChangeArrowheads="1"/>
            </p:cNvSpPr>
            <p:nvPr/>
          </p:nvSpPr>
          <p:spPr bwMode="auto">
            <a:xfrm>
              <a:off x="2400" y="3456"/>
              <a:ext cx="19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 i="1"/>
                <a:t>…………………..</a:t>
              </a:r>
              <a:endParaRPr lang="it-IT" sz="2000" b="1" i="1" baseline="-25000"/>
            </a:p>
          </p:txBody>
        </p:sp>
        <p:sp>
          <p:nvSpPr>
            <p:cNvPr id="693260" name="Rectangle 12"/>
            <p:cNvSpPr>
              <a:spLocks noChangeArrowheads="1"/>
            </p:cNvSpPr>
            <p:nvPr/>
          </p:nvSpPr>
          <p:spPr bwMode="auto">
            <a:xfrm>
              <a:off x="864" y="3456"/>
              <a:ext cx="528" cy="28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000" b="1" i="1"/>
                <a:t>a</a:t>
              </a:r>
              <a:r>
                <a:rPr lang="it-IT" sz="2000" b="1" i="1" baseline="-25000"/>
                <a:t>1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Ottimalità</a:t>
            </a:r>
            <a:r>
              <a:rPr lang="en-US" dirty="0" smtClean="0"/>
              <a:t> </a:t>
            </a:r>
            <a:r>
              <a:rPr lang="en-US" dirty="0" err="1" smtClean="0"/>
              <a:t>della</a:t>
            </a:r>
            <a:r>
              <a:rPr lang="en-US" dirty="0" smtClean="0"/>
              <a:t> </a:t>
            </a:r>
            <a:r>
              <a:rPr lang="en-US" dirty="0" err="1" smtClean="0"/>
              <a:t>soluzione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96752"/>
            <a:ext cx="8280920" cy="1944216"/>
          </a:xfrm>
        </p:spPr>
        <p:txBody>
          <a:bodyPr/>
          <a:lstStyle/>
          <a:p>
            <a:r>
              <a:rPr lang="it-IT" dirty="0" smtClean="0"/>
              <a:t>La risposta è affermativa</a:t>
            </a:r>
          </a:p>
          <a:p>
            <a:r>
              <a:rPr lang="it-IT" dirty="0" smtClean="0"/>
              <a:t>Sia </a:t>
            </a:r>
            <a:r>
              <a:rPr lang="it-IT" b="1" i="1" dirty="0" smtClean="0">
                <a:solidFill>
                  <a:srgbClr val="FF0000"/>
                </a:solidFill>
              </a:rPr>
              <a:t>b</a:t>
            </a:r>
            <a:r>
              <a:rPr lang="it-IT" b="1" baseline="-25000" dirty="0" smtClean="0">
                <a:solidFill>
                  <a:srgbClr val="FF0000"/>
                </a:solidFill>
              </a:rPr>
              <a:t>1</a:t>
            </a:r>
            <a:r>
              <a:rPr lang="it-IT" dirty="0" smtClean="0">
                <a:solidFill>
                  <a:srgbClr val="FF0000"/>
                </a:solidFill>
              </a:rPr>
              <a:t>, ... ,</a:t>
            </a:r>
            <a:r>
              <a:rPr lang="it-IT" b="1" i="1" dirty="0">
                <a:solidFill>
                  <a:srgbClr val="FF0000"/>
                </a:solidFill>
              </a:rPr>
              <a:t> </a:t>
            </a:r>
            <a:r>
              <a:rPr lang="it-IT" b="1" i="1" dirty="0" err="1">
                <a:solidFill>
                  <a:srgbClr val="FF0000"/>
                </a:solidFill>
              </a:rPr>
              <a:t>b</a:t>
            </a:r>
            <a:r>
              <a:rPr lang="it-IT" b="1" baseline="-25000" dirty="0" err="1" smtClean="0">
                <a:solidFill>
                  <a:srgbClr val="FF0000"/>
                </a:solidFill>
              </a:rPr>
              <a:t>m</a:t>
            </a:r>
            <a:r>
              <a:rPr lang="it-IT" dirty="0" smtClean="0"/>
              <a:t> una qualsiasi soluzione ottima (ne esiste certamente almeno una) che supponiamo ordinata per tempo di fine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3255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Ottimalità</a:t>
            </a:r>
            <a:r>
              <a:rPr lang="en-US" dirty="0" smtClean="0"/>
              <a:t> </a:t>
            </a:r>
            <a:r>
              <a:rPr lang="en-US" dirty="0" err="1" smtClean="0"/>
              <a:t>della</a:t>
            </a:r>
            <a:r>
              <a:rPr lang="en-US" dirty="0" smtClean="0"/>
              <a:t> </a:t>
            </a:r>
            <a:r>
              <a:rPr lang="en-US" dirty="0" err="1" smtClean="0"/>
              <a:t>soluzione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it-IT" dirty="0" smtClean="0"/>
              <a:t>le attività </a:t>
            </a:r>
            <a:r>
              <a:rPr lang="it-IT" b="1" i="1" dirty="0" smtClean="0">
                <a:solidFill>
                  <a:srgbClr val="FF0000"/>
                </a:solidFill>
              </a:rPr>
              <a:t>b</a:t>
            </a:r>
            <a:r>
              <a:rPr lang="it-IT" b="1" baseline="-25000" dirty="0" smtClean="0">
                <a:solidFill>
                  <a:srgbClr val="FF0000"/>
                </a:solidFill>
              </a:rPr>
              <a:t>2</a:t>
            </a:r>
            <a:r>
              <a:rPr lang="it-IT" dirty="0" smtClean="0">
                <a:solidFill>
                  <a:srgbClr val="FF0000"/>
                </a:solidFill>
              </a:rPr>
              <a:t>, </a:t>
            </a:r>
            <a:r>
              <a:rPr lang="it-IT" dirty="0">
                <a:solidFill>
                  <a:srgbClr val="FF0000"/>
                </a:solidFill>
              </a:rPr>
              <a:t>... ,</a:t>
            </a:r>
            <a:r>
              <a:rPr lang="it-IT" b="1" i="1" dirty="0">
                <a:solidFill>
                  <a:srgbClr val="FF0000"/>
                </a:solidFill>
              </a:rPr>
              <a:t> </a:t>
            </a:r>
            <a:r>
              <a:rPr lang="it-IT" b="1" i="1" dirty="0" err="1">
                <a:solidFill>
                  <a:srgbClr val="FF0000"/>
                </a:solidFill>
              </a:rPr>
              <a:t>b</a:t>
            </a:r>
            <a:r>
              <a:rPr lang="it-IT" b="1" baseline="-25000" dirty="0" err="1">
                <a:solidFill>
                  <a:srgbClr val="FF0000"/>
                </a:solidFill>
              </a:rPr>
              <a:t>m</a:t>
            </a:r>
            <a:r>
              <a:rPr lang="it-IT" dirty="0"/>
              <a:t> </a:t>
            </a:r>
            <a:r>
              <a:rPr lang="it-IT" dirty="0" smtClean="0"/>
              <a:t>sono compatibili con </a:t>
            </a:r>
            <a:r>
              <a:rPr lang="it-IT" b="1" i="1" dirty="0" smtClean="0">
                <a:solidFill>
                  <a:srgbClr val="FF0000"/>
                </a:solidFill>
              </a:rPr>
              <a:t>b</a:t>
            </a:r>
            <a:r>
              <a:rPr lang="it-IT" b="1" baseline="-25000" dirty="0" smtClean="0">
                <a:solidFill>
                  <a:srgbClr val="FF0000"/>
                </a:solidFill>
              </a:rPr>
              <a:t>1</a:t>
            </a:r>
            <a:r>
              <a:rPr lang="it-IT" b="1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e terminano dopo </a:t>
            </a:r>
            <a:r>
              <a:rPr lang="it-IT" b="1" i="1" dirty="0" smtClean="0">
                <a:solidFill>
                  <a:srgbClr val="FF0000"/>
                </a:solidFill>
              </a:rPr>
              <a:t>b</a:t>
            </a:r>
            <a:r>
              <a:rPr lang="it-IT" b="1" baseline="-25000" dirty="0" smtClean="0">
                <a:solidFill>
                  <a:srgbClr val="FF0000"/>
                </a:solidFill>
              </a:rPr>
              <a:t>1</a:t>
            </a:r>
            <a:endParaRPr lang="it-IT" dirty="0" smtClean="0"/>
          </a:p>
          <a:p>
            <a:pPr marL="457200" indent="-457200">
              <a:buFont typeface="+mj-lt"/>
              <a:buAutoNum type="arabicPeriod"/>
            </a:pPr>
            <a:r>
              <a:rPr lang="it-IT" dirty="0" smtClean="0"/>
              <a:t>Esse hanno quindi tempo di inizio maggiore o uguale al tempo di fine </a:t>
            </a:r>
            <a:r>
              <a:rPr lang="it-IT" dirty="0" err="1" smtClean="0">
                <a:solidFill>
                  <a:srgbClr val="FF0000"/>
                </a:solidFill>
              </a:rPr>
              <a:t>f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di </a:t>
            </a:r>
            <a:r>
              <a:rPr lang="it-IT" b="1" i="1" dirty="0">
                <a:solidFill>
                  <a:srgbClr val="FF0000"/>
                </a:solidFill>
              </a:rPr>
              <a:t>b</a:t>
            </a:r>
            <a:r>
              <a:rPr lang="it-IT" b="1" baseline="-25000" dirty="0">
                <a:solidFill>
                  <a:srgbClr val="FF0000"/>
                </a:solidFill>
              </a:rPr>
              <a:t>1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endParaRPr lang="it-IT" b="1" dirty="0" smtClean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it-IT" dirty="0" smtClean="0"/>
              <a:t>Ma </a:t>
            </a:r>
            <a:r>
              <a:rPr lang="it-IT" b="1" i="1" dirty="0">
                <a:solidFill>
                  <a:srgbClr val="FF0000"/>
                </a:solidFill>
              </a:rPr>
              <a:t>a</a:t>
            </a:r>
            <a:r>
              <a:rPr lang="it-IT" b="1" baseline="-25000" dirty="0">
                <a:solidFill>
                  <a:srgbClr val="FF0000"/>
                </a:solidFill>
              </a:rPr>
              <a:t>1</a:t>
            </a:r>
            <a:r>
              <a:rPr lang="it-IT" dirty="0" smtClean="0"/>
              <a:t> ha il tempo di fine </a:t>
            </a:r>
            <a:r>
              <a:rPr lang="it-IT" b="1" i="1" dirty="0" smtClean="0">
                <a:solidFill>
                  <a:srgbClr val="FF0000"/>
                </a:solidFill>
              </a:rPr>
              <a:t>f</a:t>
            </a:r>
            <a:r>
              <a:rPr lang="it-IT" b="1" baseline="-25000" dirty="0" smtClean="0">
                <a:solidFill>
                  <a:srgbClr val="FF0000"/>
                </a:solidFill>
              </a:rPr>
              <a:t>1</a:t>
            </a:r>
            <a:r>
              <a:rPr lang="it-IT" dirty="0" smtClean="0"/>
              <a:t> minimo in assoluto e quindi termina prima di </a:t>
            </a:r>
            <a:r>
              <a:rPr lang="it-IT" b="1" i="1" dirty="0">
                <a:solidFill>
                  <a:srgbClr val="FF0000"/>
                </a:solidFill>
              </a:rPr>
              <a:t>b</a:t>
            </a:r>
            <a:r>
              <a:rPr lang="it-IT" b="1" baseline="-25000" dirty="0">
                <a:solidFill>
                  <a:srgbClr val="FF0000"/>
                </a:solidFill>
              </a:rPr>
              <a:t>1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endParaRPr lang="it-IT" dirty="0" smtClean="0">
              <a:sym typeface="Symbol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it-IT" dirty="0" smtClean="0">
                <a:sym typeface="Symbol" charset="0"/>
              </a:rPr>
              <a:t>Quindi anche </a:t>
            </a:r>
            <a:r>
              <a:rPr lang="it-IT" b="1" i="1" dirty="0">
                <a:solidFill>
                  <a:srgbClr val="FF0000"/>
                </a:solidFill>
              </a:rPr>
              <a:t>a</a:t>
            </a:r>
            <a:r>
              <a:rPr lang="it-IT" b="1" baseline="-25000" dirty="0">
                <a:solidFill>
                  <a:srgbClr val="FF0000"/>
                </a:solidFill>
              </a:rPr>
              <a:t>1</a:t>
            </a:r>
            <a:r>
              <a:rPr lang="it-IT" dirty="0" smtClean="0"/>
              <a:t> è compatibile con </a:t>
            </a:r>
            <a:r>
              <a:rPr lang="it-IT" b="1" i="1" dirty="0">
                <a:solidFill>
                  <a:srgbClr val="FF0000"/>
                </a:solidFill>
              </a:rPr>
              <a:t>b</a:t>
            </a:r>
            <a:r>
              <a:rPr lang="it-IT" b="1" baseline="-25000" dirty="0">
                <a:solidFill>
                  <a:srgbClr val="FF0000"/>
                </a:solidFill>
              </a:rPr>
              <a:t>2</a:t>
            </a:r>
            <a:r>
              <a:rPr lang="it-IT" dirty="0">
                <a:solidFill>
                  <a:srgbClr val="FF0000"/>
                </a:solidFill>
              </a:rPr>
              <a:t>, ... ,</a:t>
            </a:r>
            <a:r>
              <a:rPr lang="it-IT" b="1" i="1" dirty="0">
                <a:solidFill>
                  <a:srgbClr val="FF0000"/>
                </a:solidFill>
              </a:rPr>
              <a:t> </a:t>
            </a:r>
            <a:r>
              <a:rPr lang="it-IT" b="1" i="1" dirty="0" err="1">
                <a:solidFill>
                  <a:srgbClr val="FF0000"/>
                </a:solidFill>
              </a:rPr>
              <a:t>b</a:t>
            </a:r>
            <a:r>
              <a:rPr lang="it-IT" b="1" baseline="-25000" dirty="0" err="1">
                <a:solidFill>
                  <a:srgbClr val="FF0000"/>
                </a:solidFill>
              </a:rPr>
              <a:t>m</a:t>
            </a:r>
            <a:r>
              <a:rPr lang="it-IT" dirty="0"/>
              <a:t> </a:t>
            </a:r>
            <a:endParaRPr lang="it-IT" dirty="0" smtClean="0"/>
          </a:p>
          <a:p>
            <a:pPr marL="0" indent="0">
              <a:buNone/>
            </a:pPr>
            <a:r>
              <a:rPr lang="it-IT" dirty="0" smtClean="0"/>
              <a:t>Dunque </a:t>
            </a:r>
            <a:r>
              <a:rPr lang="it-IT" b="1" i="1" dirty="0" smtClean="0">
                <a:solidFill>
                  <a:srgbClr val="FF0000"/>
                </a:solidFill>
              </a:rPr>
              <a:t>a</a:t>
            </a:r>
            <a:r>
              <a:rPr lang="it-IT" b="1" baseline="-25000" dirty="0" smtClean="0">
                <a:solidFill>
                  <a:srgbClr val="FF0000"/>
                </a:solidFill>
              </a:rPr>
              <a:t>1</a:t>
            </a:r>
            <a:r>
              <a:rPr lang="it-IT" b="1" dirty="0" smtClean="0">
                <a:solidFill>
                  <a:srgbClr val="FF0000"/>
                </a:solidFill>
              </a:rPr>
              <a:t>, </a:t>
            </a:r>
            <a:r>
              <a:rPr lang="it-IT" b="1" i="1" dirty="0" smtClean="0">
                <a:solidFill>
                  <a:srgbClr val="FF0000"/>
                </a:solidFill>
              </a:rPr>
              <a:t>b</a:t>
            </a:r>
            <a:r>
              <a:rPr lang="it-IT" b="1" baseline="-25000" dirty="0" smtClean="0">
                <a:solidFill>
                  <a:srgbClr val="FF0000"/>
                </a:solidFill>
              </a:rPr>
              <a:t>2</a:t>
            </a:r>
            <a:r>
              <a:rPr lang="it-IT" dirty="0">
                <a:solidFill>
                  <a:srgbClr val="FF0000"/>
                </a:solidFill>
              </a:rPr>
              <a:t>, ... ,</a:t>
            </a:r>
            <a:r>
              <a:rPr lang="it-IT" b="1" i="1" dirty="0">
                <a:solidFill>
                  <a:srgbClr val="FF0000"/>
                </a:solidFill>
              </a:rPr>
              <a:t> </a:t>
            </a:r>
            <a:r>
              <a:rPr lang="it-IT" b="1" i="1" dirty="0" err="1">
                <a:solidFill>
                  <a:srgbClr val="FF0000"/>
                </a:solidFill>
              </a:rPr>
              <a:t>b</a:t>
            </a:r>
            <a:r>
              <a:rPr lang="it-IT" b="1" baseline="-25000" dirty="0" err="1">
                <a:solidFill>
                  <a:srgbClr val="FF0000"/>
                </a:solidFill>
              </a:rPr>
              <a:t>m</a:t>
            </a:r>
            <a:r>
              <a:rPr lang="it-IT" dirty="0"/>
              <a:t> </a:t>
            </a:r>
            <a:r>
              <a:rPr lang="it-IT" dirty="0" smtClean="0"/>
              <a:t>è una soluzione ottima che contiene </a:t>
            </a:r>
            <a:r>
              <a:rPr lang="it-IT" b="1" i="1" dirty="0">
                <a:solidFill>
                  <a:srgbClr val="FF0000"/>
                </a:solidFill>
              </a:rPr>
              <a:t>a</a:t>
            </a:r>
            <a:r>
              <a:rPr lang="it-IT" b="1" baseline="-25000" dirty="0">
                <a:solidFill>
                  <a:srgbClr val="FF0000"/>
                </a:solidFill>
              </a:rPr>
              <a:t>1</a:t>
            </a:r>
            <a:endParaRPr lang="it-IT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300" name="Text Box 4"/>
          <p:cNvSpPr txBox="1">
            <a:spLocks noChangeArrowheads="1"/>
          </p:cNvSpPr>
          <p:nvPr/>
        </p:nvSpPr>
        <p:spPr bwMode="auto">
          <a:xfrm>
            <a:off x="1547664" y="2204864"/>
            <a:ext cx="5904656" cy="2200602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lang="it-IT" sz="2400" b="1" i="1"/>
              <a:t>SelezioneAttivita</a:t>
            </a:r>
            <a:r>
              <a:rPr lang="it-IT" sz="2400" b="1"/>
              <a:t>(</a:t>
            </a:r>
            <a:r>
              <a:rPr lang="it-IT" sz="2400" b="1" i="1"/>
              <a:t>a</a:t>
            </a:r>
            <a:r>
              <a:rPr lang="it-IT" sz="2400" b="1"/>
              <a:t>, </a:t>
            </a:r>
            <a:r>
              <a:rPr lang="it-IT" sz="2400" b="1" i="1"/>
              <a:t>s</a:t>
            </a:r>
            <a:r>
              <a:rPr lang="it-IT" sz="2400" b="1"/>
              <a:t>, </a:t>
            </a:r>
            <a:r>
              <a:rPr lang="it-IT" sz="2400" b="1" i="1"/>
              <a:t>f</a:t>
            </a:r>
            <a:r>
              <a:rPr lang="it-IT" sz="2400" b="1"/>
              <a:t>, </a:t>
            </a:r>
            <a:r>
              <a:rPr lang="it-IT" sz="2400" b="1" i="1"/>
              <a:t>n</a:t>
            </a:r>
            <a:r>
              <a:rPr lang="it-IT" sz="2400" b="1"/>
              <a:t>) </a:t>
            </a:r>
          </a:p>
          <a:p>
            <a:pPr>
              <a:lnSpc>
                <a:spcPct val="95000"/>
              </a:lnSpc>
            </a:pPr>
            <a:r>
              <a:rPr lang="it-IT" sz="2400" b="1"/>
              <a:t>   </a:t>
            </a:r>
            <a:r>
              <a:rPr lang="it-IT" sz="2400" b="1" i="1"/>
              <a:t>b</a:t>
            </a:r>
            <a:r>
              <a:rPr lang="it-IT" sz="2400" b="1" baseline="-25000"/>
              <a:t>1</a:t>
            </a:r>
            <a:r>
              <a:rPr lang="it-IT" sz="2400" b="1"/>
              <a:t> </a:t>
            </a:r>
            <a:r>
              <a:rPr lang="it-IT" sz="2400" b="1">
                <a:sym typeface="Symbol" charset="0"/>
              </a:rPr>
              <a:t> </a:t>
            </a:r>
            <a:r>
              <a:rPr lang="it-IT" sz="2400" b="1" i="1"/>
              <a:t>a</a:t>
            </a:r>
            <a:r>
              <a:rPr lang="it-IT" sz="2400" b="1" baseline="-25000"/>
              <a:t>1</a:t>
            </a:r>
            <a:r>
              <a:rPr lang="it-IT" sz="2400" b="1">
                <a:sym typeface="Symbol" charset="0"/>
              </a:rPr>
              <a:t>,  </a:t>
            </a:r>
            <a:r>
              <a:rPr lang="it-IT" sz="2400" b="1" i="1">
                <a:sym typeface="Symbol" charset="0"/>
              </a:rPr>
              <a:t>k</a:t>
            </a:r>
            <a:r>
              <a:rPr lang="it-IT" sz="2400" b="1">
                <a:sym typeface="Symbol" charset="0"/>
              </a:rPr>
              <a:t>  1</a:t>
            </a:r>
            <a:r>
              <a:rPr lang="it-IT" sz="2400" b="1"/>
              <a:t>, </a:t>
            </a:r>
            <a:r>
              <a:rPr lang="it-IT" sz="2400" b="1" i="1"/>
              <a:t>maxf</a:t>
            </a:r>
            <a:r>
              <a:rPr lang="it-IT" sz="2400" b="1"/>
              <a:t> </a:t>
            </a:r>
            <a:r>
              <a:rPr lang="it-IT" sz="2400" b="1">
                <a:sym typeface="Symbol" charset="0"/>
              </a:rPr>
              <a:t></a:t>
            </a:r>
            <a:r>
              <a:rPr lang="it-IT" sz="2400" b="1"/>
              <a:t> </a:t>
            </a:r>
            <a:r>
              <a:rPr lang="it-IT" sz="2400" b="1" i="1"/>
              <a:t>f</a:t>
            </a:r>
            <a:r>
              <a:rPr lang="it-IT" sz="2400" b="1" baseline="-25000"/>
              <a:t>1</a:t>
            </a:r>
          </a:p>
          <a:p>
            <a:pPr>
              <a:lnSpc>
                <a:spcPct val="95000"/>
              </a:lnSpc>
            </a:pPr>
            <a:r>
              <a:rPr lang="it-IT" sz="2400" b="1"/>
              <a:t>   for </a:t>
            </a:r>
            <a:r>
              <a:rPr lang="it-IT" sz="2400" b="1" i="1"/>
              <a:t>i </a:t>
            </a:r>
            <a:r>
              <a:rPr lang="it-IT" sz="2400" b="1">
                <a:sym typeface="Symbol" charset="0"/>
              </a:rPr>
              <a:t> 2</a:t>
            </a:r>
            <a:r>
              <a:rPr lang="it-IT" sz="2400" b="1"/>
              <a:t> to </a:t>
            </a:r>
            <a:r>
              <a:rPr lang="it-IT" sz="2400" b="1" i="1"/>
              <a:t>n</a:t>
            </a:r>
            <a:r>
              <a:rPr lang="it-IT" sz="2400" b="1"/>
              <a:t> do</a:t>
            </a:r>
          </a:p>
          <a:p>
            <a:pPr>
              <a:lnSpc>
                <a:spcPct val="95000"/>
              </a:lnSpc>
            </a:pPr>
            <a:r>
              <a:rPr lang="it-IT" sz="2400" b="1"/>
              <a:t>      if </a:t>
            </a:r>
            <a:r>
              <a:rPr lang="it-IT" sz="2400" b="1" i="1"/>
              <a:t>s</a:t>
            </a:r>
            <a:r>
              <a:rPr lang="it-IT" sz="2400" b="1" i="1" baseline="-25000"/>
              <a:t>i</a:t>
            </a:r>
            <a:r>
              <a:rPr lang="it-IT" sz="2400" b="1"/>
              <a:t> </a:t>
            </a:r>
            <a:r>
              <a:rPr lang="it-IT" sz="2400" b="1">
                <a:sym typeface="Symbol" charset="0"/>
              </a:rPr>
              <a:t></a:t>
            </a:r>
            <a:r>
              <a:rPr lang="it-IT" sz="2400" b="1"/>
              <a:t> </a:t>
            </a:r>
            <a:r>
              <a:rPr lang="it-IT" sz="2400" b="1" i="1"/>
              <a:t>maxf</a:t>
            </a:r>
            <a:r>
              <a:rPr lang="it-IT" sz="2400" b="1"/>
              <a:t> then</a:t>
            </a:r>
          </a:p>
          <a:p>
            <a:pPr>
              <a:lnSpc>
                <a:spcPct val="95000"/>
              </a:lnSpc>
            </a:pPr>
            <a:r>
              <a:rPr lang="it-IT" sz="2400" b="1"/>
              <a:t>         </a:t>
            </a:r>
            <a:r>
              <a:rPr lang="it-IT" sz="2400" b="1" i="1">
                <a:sym typeface="Symbol" charset="0"/>
              </a:rPr>
              <a:t>k</a:t>
            </a:r>
            <a:r>
              <a:rPr lang="it-IT" sz="2400" b="1">
                <a:sym typeface="Symbol" charset="0"/>
              </a:rPr>
              <a:t>  </a:t>
            </a:r>
            <a:r>
              <a:rPr lang="it-IT" sz="2400" b="1" i="1">
                <a:sym typeface="Symbol" charset="0"/>
              </a:rPr>
              <a:t>k</a:t>
            </a:r>
            <a:r>
              <a:rPr lang="it-IT" sz="2400" b="1">
                <a:sym typeface="Symbol" charset="0"/>
              </a:rPr>
              <a:t>+1</a:t>
            </a:r>
            <a:r>
              <a:rPr lang="it-IT" sz="2400" b="1"/>
              <a:t>, </a:t>
            </a:r>
            <a:r>
              <a:rPr lang="it-IT" sz="2400" b="1" i="1"/>
              <a:t>b</a:t>
            </a:r>
            <a:r>
              <a:rPr lang="it-IT" sz="2400" b="1" i="1" baseline="-25000"/>
              <a:t>k</a:t>
            </a:r>
            <a:r>
              <a:rPr lang="it-IT" sz="2400" b="1"/>
              <a:t> </a:t>
            </a:r>
            <a:r>
              <a:rPr lang="it-IT" sz="2400" b="1">
                <a:sym typeface="Symbol" charset="0"/>
              </a:rPr>
              <a:t> </a:t>
            </a:r>
            <a:r>
              <a:rPr lang="it-IT" sz="2400" b="1" i="1"/>
              <a:t>a</a:t>
            </a:r>
            <a:r>
              <a:rPr lang="it-IT" sz="2400" b="1" i="1" baseline="-25000"/>
              <a:t>i</a:t>
            </a:r>
            <a:r>
              <a:rPr lang="it-IT" sz="2400" b="1">
                <a:sym typeface="Symbol" charset="0"/>
              </a:rPr>
              <a:t>, </a:t>
            </a:r>
            <a:r>
              <a:rPr lang="it-IT" sz="2400" b="1" i="1"/>
              <a:t>maxf</a:t>
            </a:r>
            <a:r>
              <a:rPr lang="it-IT" sz="2400" b="1"/>
              <a:t> </a:t>
            </a:r>
            <a:r>
              <a:rPr lang="it-IT" sz="2400" b="1">
                <a:sym typeface="Symbol" charset="0"/>
              </a:rPr>
              <a:t></a:t>
            </a:r>
            <a:r>
              <a:rPr lang="it-IT" sz="2400" b="1"/>
              <a:t> </a:t>
            </a:r>
            <a:r>
              <a:rPr lang="it-IT" sz="2400" b="1" i="1"/>
              <a:t>f</a:t>
            </a:r>
            <a:r>
              <a:rPr lang="it-IT" sz="2400" b="1" i="1" baseline="-25000"/>
              <a:t>i</a:t>
            </a:r>
            <a:endParaRPr lang="it-IT" sz="2400" b="1"/>
          </a:p>
          <a:p>
            <a:pPr>
              <a:lnSpc>
                <a:spcPct val="95000"/>
              </a:lnSpc>
            </a:pPr>
            <a:r>
              <a:rPr lang="it-IT" sz="2400" b="1"/>
              <a:t>   return </a:t>
            </a:r>
            <a:r>
              <a:rPr lang="it-IT" sz="2400" b="1" i="1"/>
              <a:t>b</a:t>
            </a:r>
            <a:r>
              <a:rPr lang="it-IT" sz="2400" b="1"/>
              <a:t>, </a:t>
            </a:r>
            <a:r>
              <a:rPr lang="it-IT" sz="2400" b="1" i="1"/>
              <a:t>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Ottimalità</a:t>
            </a:r>
            <a:r>
              <a:rPr lang="en-US" dirty="0" smtClean="0"/>
              <a:t> </a:t>
            </a:r>
            <a:r>
              <a:rPr lang="en-US" dirty="0" err="1" smtClean="0"/>
              <a:t>della</a:t>
            </a:r>
            <a:r>
              <a:rPr lang="en-US" dirty="0" smtClean="0"/>
              <a:t> </a:t>
            </a:r>
            <a:r>
              <a:rPr lang="en-US" dirty="0" err="1" smtClean="0"/>
              <a:t>soluzione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96752"/>
            <a:ext cx="8352928" cy="5112568"/>
          </a:xfrm>
        </p:spPr>
        <p:txBody>
          <a:bodyPr/>
          <a:lstStyle/>
          <a:p>
            <a:r>
              <a:rPr lang="it-IT" dirty="0" err="1" smtClean="0">
                <a:solidFill>
                  <a:srgbClr val="FF0000"/>
                </a:solidFill>
              </a:rPr>
              <a:t>maxf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viene posto ad </a:t>
            </a:r>
            <a:r>
              <a:rPr lang="it-IT" b="1" i="1" dirty="0" smtClean="0">
                <a:solidFill>
                  <a:srgbClr val="FF0000"/>
                </a:solidFill>
              </a:rPr>
              <a:t>f</a:t>
            </a:r>
            <a:r>
              <a:rPr lang="it-IT" b="1" baseline="-25000" dirty="0" smtClean="0">
                <a:solidFill>
                  <a:srgbClr val="FF0000"/>
                </a:solidFill>
              </a:rPr>
              <a:t>1 </a:t>
            </a:r>
            <a:r>
              <a:rPr lang="it-IT" dirty="0" smtClean="0"/>
              <a:t>ed aggiornato ad </a:t>
            </a:r>
            <a:r>
              <a:rPr lang="it-IT" b="1" i="1" dirty="0" smtClean="0">
                <a:solidFill>
                  <a:srgbClr val="FF0000"/>
                </a:solidFill>
              </a:rPr>
              <a:t>f</a:t>
            </a:r>
            <a:r>
              <a:rPr lang="it-IT" b="1" baseline="-25000" dirty="0" smtClean="0">
                <a:solidFill>
                  <a:srgbClr val="FF0000"/>
                </a:solidFill>
              </a:rPr>
              <a:t>i</a:t>
            </a:r>
            <a:r>
              <a:rPr lang="it-IT" b="1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ogni volta che si seleziona una nuova attività </a:t>
            </a:r>
            <a:r>
              <a:rPr lang="it-IT" b="1" i="1" dirty="0">
                <a:solidFill>
                  <a:srgbClr val="FF0000"/>
                </a:solidFill>
              </a:rPr>
              <a:t>a</a:t>
            </a:r>
            <a:r>
              <a:rPr lang="it-IT" b="1" baseline="-25000" dirty="0" smtClean="0">
                <a:solidFill>
                  <a:srgbClr val="FF0000"/>
                </a:solidFill>
              </a:rPr>
              <a:t>i</a:t>
            </a:r>
            <a:endParaRPr lang="it-IT" dirty="0" smtClean="0"/>
          </a:p>
          <a:p>
            <a:endParaRPr lang="it-IT" dirty="0" smtClean="0"/>
          </a:p>
          <a:p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it-IT" dirty="0" smtClean="0"/>
              <a:t>Siccome le attività sono ordinate per tempo di fine non decrescente, </a:t>
            </a:r>
            <a:r>
              <a:rPr lang="it-IT" dirty="0" err="1">
                <a:solidFill>
                  <a:srgbClr val="FF0000"/>
                </a:solidFill>
              </a:rPr>
              <a:t>maxf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smtClean="0"/>
              <a:t>è il massimo tempo finale delle attività precedentemente selezionate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25" name="Text Box 5"/>
          <p:cNvSpPr txBox="1">
            <a:spLocks noChangeArrowheads="1"/>
          </p:cNvSpPr>
          <p:nvPr/>
        </p:nvSpPr>
        <p:spPr bwMode="auto">
          <a:xfrm>
            <a:off x="1115616" y="2132856"/>
            <a:ext cx="6842769" cy="914609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lang="it-IT" sz="2800" b="1" dirty="0"/>
              <a:t>      </a:t>
            </a:r>
            <a:r>
              <a:rPr lang="it-IT" sz="2800" b="1" dirty="0" err="1"/>
              <a:t>if</a:t>
            </a:r>
            <a:r>
              <a:rPr lang="it-IT" sz="2800" b="1" dirty="0"/>
              <a:t> </a:t>
            </a:r>
            <a:r>
              <a:rPr lang="it-IT" sz="2800" b="1" i="1" dirty="0"/>
              <a:t>s</a:t>
            </a:r>
            <a:r>
              <a:rPr lang="it-IT" sz="2800" b="1" i="1" baseline="-25000" dirty="0"/>
              <a:t>i</a:t>
            </a:r>
            <a:r>
              <a:rPr lang="it-IT" sz="2800" b="1" dirty="0"/>
              <a:t> </a:t>
            </a:r>
            <a:r>
              <a:rPr lang="it-IT" sz="2800" b="1" dirty="0">
                <a:sym typeface="Symbol" charset="0"/>
              </a:rPr>
              <a:t></a:t>
            </a:r>
            <a:r>
              <a:rPr lang="it-IT" sz="2800" b="1" dirty="0"/>
              <a:t> </a:t>
            </a:r>
            <a:r>
              <a:rPr lang="it-IT" sz="2800" b="1" i="1" dirty="0" err="1"/>
              <a:t>maxf</a:t>
            </a:r>
            <a:r>
              <a:rPr lang="it-IT" sz="2800" b="1" dirty="0"/>
              <a:t> </a:t>
            </a:r>
            <a:r>
              <a:rPr lang="it-IT" sz="2800" b="1" dirty="0" err="1"/>
              <a:t>then</a:t>
            </a:r>
            <a:endParaRPr lang="it-IT" sz="2800" b="1" dirty="0"/>
          </a:p>
          <a:p>
            <a:pPr>
              <a:lnSpc>
                <a:spcPct val="95000"/>
              </a:lnSpc>
            </a:pPr>
            <a:r>
              <a:rPr lang="it-IT" sz="2800" b="1" dirty="0"/>
              <a:t>         </a:t>
            </a:r>
            <a:r>
              <a:rPr lang="it-IT" sz="2800" b="1" i="1" dirty="0">
                <a:sym typeface="Symbol" charset="0"/>
              </a:rPr>
              <a:t>k</a:t>
            </a:r>
            <a:r>
              <a:rPr lang="it-IT" sz="2800" b="1" dirty="0">
                <a:sym typeface="Symbol" charset="0"/>
              </a:rPr>
              <a:t>  </a:t>
            </a:r>
            <a:r>
              <a:rPr lang="it-IT" sz="2800" b="1" i="1" dirty="0">
                <a:sym typeface="Symbol" charset="0"/>
              </a:rPr>
              <a:t>k</a:t>
            </a:r>
            <a:r>
              <a:rPr lang="it-IT" sz="2800" b="1" dirty="0">
                <a:sym typeface="Symbol" charset="0"/>
              </a:rPr>
              <a:t>+1</a:t>
            </a:r>
            <a:r>
              <a:rPr lang="it-IT" sz="2800" b="1" dirty="0"/>
              <a:t>, </a:t>
            </a:r>
            <a:r>
              <a:rPr lang="it-IT" sz="2800" b="1" i="1" dirty="0" err="1"/>
              <a:t>b</a:t>
            </a:r>
            <a:r>
              <a:rPr lang="it-IT" sz="2800" b="1" i="1" baseline="-25000" dirty="0" err="1"/>
              <a:t>k</a:t>
            </a:r>
            <a:r>
              <a:rPr lang="it-IT" sz="2800" b="1" dirty="0"/>
              <a:t> </a:t>
            </a:r>
            <a:r>
              <a:rPr lang="it-IT" sz="2800" b="1" dirty="0">
                <a:sym typeface="Symbol" charset="0"/>
              </a:rPr>
              <a:t> </a:t>
            </a:r>
            <a:r>
              <a:rPr lang="it-IT" sz="2800" b="1" i="1" dirty="0"/>
              <a:t>a</a:t>
            </a:r>
            <a:r>
              <a:rPr lang="it-IT" sz="2800" b="1" i="1" baseline="-25000" dirty="0"/>
              <a:t>i</a:t>
            </a:r>
            <a:r>
              <a:rPr lang="it-IT" sz="2800" b="1" dirty="0">
                <a:sym typeface="Symbol" charset="0"/>
              </a:rPr>
              <a:t>, </a:t>
            </a:r>
            <a:r>
              <a:rPr lang="it-IT" sz="2800" b="1" i="1" dirty="0" err="1"/>
              <a:t>maxf</a:t>
            </a:r>
            <a:r>
              <a:rPr lang="it-IT" sz="2800" b="1" dirty="0"/>
              <a:t> </a:t>
            </a:r>
            <a:r>
              <a:rPr lang="it-IT" sz="2800" b="1" dirty="0">
                <a:sym typeface="Symbol" charset="0"/>
              </a:rPr>
              <a:t></a:t>
            </a:r>
            <a:r>
              <a:rPr lang="it-IT" sz="2800" b="1" dirty="0"/>
              <a:t> </a:t>
            </a:r>
            <a:r>
              <a:rPr lang="it-IT" sz="2800" b="1" i="1" dirty="0"/>
              <a:t>f</a:t>
            </a:r>
            <a:r>
              <a:rPr lang="it-IT" sz="2800" b="1" i="1" baseline="-25000" dirty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Ottimalità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soluzione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412776"/>
            <a:ext cx="8352928" cy="4752528"/>
          </a:xfrm>
        </p:spPr>
        <p:txBody>
          <a:bodyPr/>
          <a:lstStyle/>
          <a:p>
            <a:r>
              <a:rPr lang="it-IT" dirty="0"/>
              <a:t>Con il test</a:t>
            </a:r>
            <a:r>
              <a:rPr lang="it-IT" dirty="0" smtClean="0"/>
              <a:t>:</a:t>
            </a:r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  <a:p>
            <a:r>
              <a:rPr lang="it-IT" dirty="0"/>
              <a:t>l’algoritmo seleziona la prima attività </a:t>
            </a:r>
            <a:r>
              <a:rPr lang="it-IT" b="1" i="1" dirty="0"/>
              <a:t>a</a:t>
            </a:r>
            <a:r>
              <a:rPr lang="it-IT" sz="2800" b="1" i="1" baseline="-25000" dirty="0"/>
              <a:t>i</a:t>
            </a:r>
            <a:r>
              <a:rPr lang="it-IT" dirty="0"/>
              <a:t> il cui tempo di inizio </a:t>
            </a:r>
            <a:r>
              <a:rPr lang="it-IT" b="1" i="1" dirty="0">
                <a:solidFill>
                  <a:srgbClr val="FF0000"/>
                </a:solidFill>
              </a:rPr>
              <a:t>s</a:t>
            </a:r>
            <a:r>
              <a:rPr lang="it-IT" sz="2800" b="1" i="1" baseline="-25000" dirty="0">
                <a:solidFill>
                  <a:srgbClr val="FF0000"/>
                </a:solidFill>
              </a:rPr>
              <a:t>i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è maggiore o uguale di </a:t>
            </a:r>
            <a:r>
              <a:rPr lang="it-IT" sz="2000" b="1" i="1" dirty="0" err="1" smtClean="0">
                <a:solidFill>
                  <a:srgbClr val="FF0000"/>
                </a:solidFill>
              </a:rPr>
              <a:t>maxf</a:t>
            </a:r>
            <a:endParaRPr lang="it-IT" dirty="0"/>
          </a:p>
          <a:p>
            <a:r>
              <a:rPr lang="it-IT" dirty="0"/>
              <a:t>Siamo sicuri che questa scelta non comprometta il </a:t>
            </a:r>
            <a:r>
              <a:rPr lang="it-IT" dirty="0" smtClean="0"/>
              <a:t>risultato ? </a:t>
            </a:r>
            <a:endParaRPr lang="it-IT" dirty="0"/>
          </a:p>
          <a:p>
            <a:r>
              <a:rPr lang="it-IT" dirty="0"/>
              <a:t>In altre parole: esiste sempre una soluzione ottima che contiene </a:t>
            </a:r>
            <a:r>
              <a:rPr lang="it-IT" b="1" i="1" dirty="0">
                <a:solidFill>
                  <a:srgbClr val="FF0000"/>
                </a:solidFill>
              </a:rPr>
              <a:t>a</a:t>
            </a:r>
            <a:r>
              <a:rPr lang="it-IT" sz="2800" b="1" i="1" baseline="-25000" dirty="0">
                <a:solidFill>
                  <a:srgbClr val="FF0000"/>
                </a:solidFill>
              </a:rPr>
              <a:t>i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e le attività </a:t>
            </a:r>
            <a:r>
              <a:rPr lang="it-IT" b="1" i="1" dirty="0">
                <a:solidFill>
                  <a:srgbClr val="FF0000"/>
                </a:solidFill>
              </a:rPr>
              <a:t>b</a:t>
            </a:r>
            <a:r>
              <a:rPr lang="it-IT" sz="2800" b="1" i="1" baseline="-25000" dirty="0">
                <a:solidFill>
                  <a:srgbClr val="FF0000"/>
                </a:solidFill>
              </a:rPr>
              <a:t>1</a:t>
            </a:r>
            <a:r>
              <a:rPr lang="it-IT" dirty="0">
                <a:solidFill>
                  <a:srgbClr val="FF0000"/>
                </a:solidFill>
              </a:rPr>
              <a:t>, ... </a:t>
            </a:r>
            <a:r>
              <a:rPr lang="it-IT" dirty="0" smtClean="0">
                <a:solidFill>
                  <a:srgbClr val="FF0000"/>
                </a:solidFill>
              </a:rPr>
              <a:t>, </a:t>
            </a:r>
            <a:r>
              <a:rPr lang="it-IT" b="1" i="1" dirty="0" err="1" smtClean="0">
                <a:solidFill>
                  <a:srgbClr val="FF0000"/>
                </a:solidFill>
              </a:rPr>
              <a:t>b</a:t>
            </a:r>
            <a:r>
              <a:rPr lang="it-IT" sz="2800" b="1" i="1" baseline="-25000" dirty="0" err="1" smtClean="0">
                <a:solidFill>
                  <a:srgbClr val="FF0000"/>
                </a:solidFill>
              </a:rPr>
              <a:t>k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/>
              <a:t>finora </a:t>
            </a:r>
            <a:r>
              <a:rPr lang="it-IT" dirty="0" smtClean="0"/>
              <a:t>scelte ?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47" name="Rectangle 3"/>
          <p:cNvSpPr>
            <a:spLocks noChangeArrowheads="1"/>
          </p:cNvSpPr>
          <p:nvPr/>
        </p:nvSpPr>
        <p:spPr bwMode="auto">
          <a:xfrm>
            <a:off x="4216896" y="5588571"/>
            <a:ext cx="774700" cy="4572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sz="2400" b="1" i="1"/>
              <a:t>a</a:t>
            </a:r>
            <a:r>
              <a:rPr lang="it-IT" sz="2400" b="1" i="1" baseline="-25000"/>
              <a:t>i</a:t>
            </a:r>
          </a:p>
        </p:txBody>
      </p:sp>
      <p:grpSp>
        <p:nvGrpSpPr>
          <p:cNvPr id="697348" name="Group 4"/>
          <p:cNvGrpSpPr>
            <a:grpSpLocks/>
          </p:cNvGrpSpPr>
          <p:nvPr/>
        </p:nvGrpSpPr>
        <p:grpSpPr bwMode="auto">
          <a:xfrm>
            <a:off x="827584" y="5588571"/>
            <a:ext cx="7315200" cy="457200"/>
            <a:chOff x="480" y="3456"/>
            <a:chExt cx="4992" cy="288"/>
          </a:xfrm>
        </p:grpSpPr>
        <p:sp>
          <p:nvSpPr>
            <p:cNvPr id="697349" name="Rectangle 5"/>
            <p:cNvSpPr>
              <a:spLocks noChangeArrowheads="1"/>
            </p:cNvSpPr>
            <p:nvPr/>
          </p:nvSpPr>
          <p:spPr bwMode="auto">
            <a:xfrm>
              <a:off x="480" y="3456"/>
              <a:ext cx="91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 i="1"/>
                <a:t>b</a:t>
              </a:r>
              <a:r>
                <a:rPr lang="it-IT" sz="2400" b="1" i="1" baseline="-25000"/>
                <a:t>1</a:t>
              </a:r>
            </a:p>
          </p:txBody>
        </p:sp>
        <p:sp>
          <p:nvSpPr>
            <p:cNvPr id="697350" name="Rectangle 6"/>
            <p:cNvSpPr>
              <a:spLocks noChangeArrowheads="1"/>
            </p:cNvSpPr>
            <p:nvPr/>
          </p:nvSpPr>
          <p:spPr bwMode="auto">
            <a:xfrm>
              <a:off x="2064" y="3456"/>
              <a:ext cx="48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 i="1"/>
                <a:t>b</a:t>
              </a:r>
              <a:r>
                <a:rPr lang="it-IT" sz="2400" b="1" i="1" baseline="-25000"/>
                <a:t>k</a:t>
              </a:r>
            </a:p>
          </p:txBody>
        </p:sp>
        <p:sp>
          <p:nvSpPr>
            <p:cNvPr id="697351" name="Rectangle 7"/>
            <p:cNvSpPr>
              <a:spLocks noChangeArrowheads="1"/>
            </p:cNvSpPr>
            <p:nvPr/>
          </p:nvSpPr>
          <p:spPr bwMode="auto">
            <a:xfrm>
              <a:off x="4944" y="3456"/>
              <a:ext cx="52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 i="1"/>
                <a:t>b</a:t>
              </a:r>
              <a:r>
                <a:rPr lang="it-IT" sz="2400" b="1" i="1" baseline="-25000"/>
                <a:t>m</a:t>
              </a:r>
            </a:p>
          </p:txBody>
        </p:sp>
        <p:sp>
          <p:nvSpPr>
            <p:cNvPr id="697352" name="Rectangle 8"/>
            <p:cNvSpPr>
              <a:spLocks noChangeArrowheads="1"/>
            </p:cNvSpPr>
            <p:nvPr/>
          </p:nvSpPr>
          <p:spPr bwMode="auto">
            <a:xfrm>
              <a:off x="1440" y="3456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 i="1"/>
                <a:t>…..</a:t>
              </a:r>
              <a:endParaRPr lang="it-IT" sz="2400" b="1" i="1" baseline="-25000"/>
            </a:p>
          </p:txBody>
        </p:sp>
        <p:sp>
          <p:nvSpPr>
            <p:cNvPr id="697353" name="Rectangle 9"/>
            <p:cNvSpPr>
              <a:spLocks noChangeArrowheads="1"/>
            </p:cNvSpPr>
            <p:nvPr/>
          </p:nvSpPr>
          <p:spPr bwMode="auto">
            <a:xfrm>
              <a:off x="4368" y="3456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 i="1"/>
                <a:t>…..</a:t>
              </a:r>
              <a:endParaRPr lang="it-IT" sz="2400" b="1" i="1" baseline="-25000"/>
            </a:p>
          </p:txBody>
        </p:sp>
        <p:sp>
          <p:nvSpPr>
            <p:cNvPr id="697354" name="Rectangle 10"/>
            <p:cNvSpPr>
              <a:spLocks noChangeArrowheads="1"/>
            </p:cNvSpPr>
            <p:nvPr/>
          </p:nvSpPr>
          <p:spPr bwMode="auto">
            <a:xfrm>
              <a:off x="3696" y="3456"/>
              <a:ext cx="67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 i="1"/>
                <a:t>b</a:t>
              </a:r>
              <a:r>
                <a:rPr lang="it-IT" sz="2400" b="1" i="1" baseline="-25000"/>
                <a:t>k+2</a:t>
              </a:r>
            </a:p>
          </p:txBody>
        </p:sp>
        <p:sp>
          <p:nvSpPr>
            <p:cNvPr id="697355" name="Rectangle 11"/>
            <p:cNvSpPr>
              <a:spLocks noChangeArrowheads="1"/>
            </p:cNvSpPr>
            <p:nvPr/>
          </p:nvSpPr>
          <p:spPr bwMode="auto">
            <a:xfrm>
              <a:off x="2784" y="3456"/>
              <a:ext cx="528" cy="28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 i="1"/>
                <a:t>a</a:t>
              </a:r>
              <a:r>
                <a:rPr lang="it-IT" sz="2400" b="1" i="1" baseline="-25000"/>
                <a:t>i</a:t>
              </a:r>
            </a:p>
          </p:txBody>
        </p:sp>
      </p:grpSp>
      <p:grpSp>
        <p:nvGrpSpPr>
          <p:cNvPr id="697356" name="Group 12"/>
          <p:cNvGrpSpPr>
            <a:grpSpLocks/>
          </p:cNvGrpSpPr>
          <p:nvPr/>
        </p:nvGrpSpPr>
        <p:grpSpPr bwMode="auto">
          <a:xfrm>
            <a:off x="827584" y="3501008"/>
            <a:ext cx="7315200" cy="1320800"/>
            <a:chOff x="489" y="2024"/>
            <a:chExt cx="4992" cy="832"/>
          </a:xfrm>
        </p:grpSpPr>
        <p:sp>
          <p:nvSpPr>
            <p:cNvPr id="697357" name="Rectangle 13"/>
            <p:cNvSpPr>
              <a:spLocks noChangeArrowheads="1"/>
            </p:cNvSpPr>
            <p:nvPr/>
          </p:nvSpPr>
          <p:spPr bwMode="auto">
            <a:xfrm>
              <a:off x="489" y="2568"/>
              <a:ext cx="91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 i="1"/>
                <a:t>b</a:t>
              </a:r>
              <a:r>
                <a:rPr lang="it-IT" sz="2400" b="1" i="1" baseline="-25000"/>
                <a:t>1</a:t>
              </a:r>
            </a:p>
          </p:txBody>
        </p:sp>
        <p:sp>
          <p:nvSpPr>
            <p:cNvPr id="697358" name="Rectangle 14"/>
            <p:cNvSpPr>
              <a:spLocks noChangeArrowheads="1"/>
            </p:cNvSpPr>
            <p:nvPr/>
          </p:nvSpPr>
          <p:spPr bwMode="auto">
            <a:xfrm>
              <a:off x="2073" y="2568"/>
              <a:ext cx="480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 i="1"/>
                <a:t>b</a:t>
              </a:r>
              <a:r>
                <a:rPr lang="it-IT" sz="2400" b="1" i="1" baseline="-25000"/>
                <a:t>k</a:t>
              </a:r>
            </a:p>
          </p:txBody>
        </p:sp>
        <p:sp>
          <p:nvSpPr>
            <p:cNvPr id="697359" name="Rectangle 15"/>
            <p:cNvSpPr>
              <a:spLocks noChangeArrowheads="1"/>
            </p:cNvSpPr>
            <p:nvPr/>
          </p:nvSpPr>
          <p:spPr bwMode="auto">
            <a:xfrm>
              <a:off x="4953" y="2568"/>
              <a:ext cx="528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 i="1"/>
                <a:t>b</a:t>
              </a:r>
              <a:r>
                <a:rPr lang="it-IT" sz="2400" b="1" i="1" baseline="-25000"/>
                <a:t>m</a:t>
              </a:r>
            </a:p>
          </p:txBody>
        </p:sp>
        <p:sp>
          <p:nvSpPr>
            <p:cNvPr id="697360" name="Rectangle 16"/>
            <p:cNvSpPr>
              <a:spLocks noChangeArrowheads="1"/>
            </p:cNvSpPr>
            <p:nvPr/>
          </p:nvSpPr>
          <p:spPr bwMode="auto">
            <a:xfrm>
              <a:off x="1449" y="2568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 i="1"/>
                <a:t>…..</a:t>
              </a:r>
              <a:endParaRPr lang="it-IT" sz="2400" b="1" i="1" baseline="-25000"/>
            </a:p>
          </p:txBody>
        </p:sp>
        <p:sp>
          <p:nvSpPr>
            <p:cNvPr id="697361" name="Rectangle 17"/>
            <p:cNvSpPr>
              <a:spLocks noChangeArrowheads="1"/>
            </p:cNvSpPr>
            <p:nvPr/>
          </p:nvSpPr>
          <p:spPr bwMode="auto">
            <a:xfrm>
              <a:off x="2937" y="2568"/>
              <a:ext cx="67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 i="1" dirty="0"/>
                <a:t>b</a:t>
              </a:r>
              <a:r>
                <a:rPr lang="it-IT" sz="2400" b="1" i="1" baseline="-25000" dirty="0"/>
                <a:t>k+1</a:t>
              </a:r>
            </a:p>
          </p:txBody>
        </p:sp>
        <p:sp>
          <p:nvSpPr>
            <p:cNvPr id="697362" name="Rectangle 18"/>
            <p:cNvSpPr>
              <a:spLocks noChangeArrowheads="1"/>
            </p:cNvSpPr>
            <p:nvPr/>
          </p:nvSpPr>
          <p:spPr bwMode="auto">
            <a:xfrm>
              <a:off x="4377" y="2568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 i="1"/>
                <a:t>…..</a:t>
              </a:r>
              <a:endParaRPr lang="it-IT" sz="2400" b="1" i="1" baseline="-25000"/>
            </a:p>
          </p:txBody>
        </p:sp>
        <p:sp>
          <p:nvSpPr>
            <p:cNvPr id="697363" name="Rectangle 19"/>
            <p:cNvSpPr>
              <a:spLocks noChangeArrowheads="1"/>
            </p:cNvSpPr>
            <p:nvPr/>
          </p:nvSpPr>
          <p:spPr bwMode="auto">
            <a:xfrm>
              <a:off x="3705" y="2568"/>
              <a:ext cx="67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 i="1"/>
                <a:t>b</a:t>
              </a:r>
              <a:r>
                <a:rPr lang="it-IT" sz="2400" b="1" i="1" baseline="-25000"/>
                <a:t>k+2</a:t>
              </a:r>
            </a:p>
          </p:txBody>
        </p:sp>
        <p:sp>
          <p:nvSpPr>
            <p:cNvPr id="697364" name="Rectangle 20"/>
            <p:cNvSpPr>
              <a:spLocks noChangeArrowheads="1"/>
            </p:cNvSpPr>
            <p:nvPr/>
          </p:nvSpPr>
          <p:spPr bwMode="auto">
            <a:xfrm>
              <a:off x="2258" y="2024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 i="1"/>
                <a:t>maxf</a:t>
              </a:r>
              <a:endParaRPr lang="it-IT" b="1" i="1" baseline="-25000"/>
            </a:p>
          </p:txBody>
        </p:sp>
        <p:sp>
          <p:nvSpPr>
            <p:cNvPr id="697365" name="AutoShape 21"/>
            <p:cNvSpPr>
              <a:spLocks noChangeArrowheads="1"/>
            </p:cNvSpPr>
            <p:nvPr/>
          </p:nvSpPr>
          <p:spPr bwMode="auto">
            <a:xfrm>
              <a:off x="2530" y="2296"/>
              <a:ext cx="91" cy="227"/>
            </a:xfrm>
            <a:prstGeom prst="downArrow">
              <a:avLst>
                <a:gd name="adj1" fmla="val 50000"/>
                <a:gd name="adj2" fmla="val 6236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Ottimalità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soluzione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96752"/>
            <a:ext cx="8352928" cy="2232248"/>
          </a:xfrm>
        </p:spPr>
        <p:txBody>
          <a:bodyPr/>
          <a:lstStyle/>
          <a:p>
            <a:pPr>
              <a:spcBef>
                <a:spcPct val="100000"/>
              </a:spcBef>
            </a:pPr>
            <a:r>
              <a:rPr lang="it-IT" b="1" u="sng" dirty="0"/>
              <a:t>La risposta è ancora affermativa</a:t>
            </a:r>
            <a:r>
              <a:rPr lang="it-IT" i="1" u="sng" dirty="0"/>
              <a:t>.</a:t>
            </a:r>
            <a:r>
              <a:rPr lang="it-IT" dirty="0"/>
              <a:t> </a:t>
            </a:r>
          </a:p>
          <a:p>
            <a:r>
              <a:rPr lang="it-IT" dirty="0"/>
              <a:t>Assumiamo </a:t>
            </a:r>
            <a:r>
              <a:rPr lang="it-IT" dirty="0" smtClean="0"/>
              <a:t>per induzione che </a:t>
            </a:r>
            <a:r>
              <a:rPr lang="it-IT" dirty="0"/>
              <a:t>esista una soluzione ottima </a:t>
            </a:r>
            <a:r>
              <a:rPr lang="it-IT" b="1" i="1" dirty="0">
                <a:solidFill>
                  <a:srgbClr val="FF0000"/>
                </a:solidFill>
              </a:rPr>
              <a:t>b</a:t>
            </a:r>
            <a:r>
              <a:rPr lang="it-IT" sz="2800" b="1" i="1" baseline="-25000" dirty="0">
                <a:solidFill>
                  <a:srgbClr val="FF0000"/>
                </a:solidFill>
              </a:rPr>
              <a:t>1</a:t>
            </a:r>
            <a:r>
              <a:rPr lang="it-IT" dirty="0">
                <a:solidFill>
                  <a:srgbClr val="FF0000"/>
                </a:solidFill>
              </a:rPr>
              <a:t>, ... ,</a:t>
            </a:r>
            <a:r>
              <a:rPr lang="it-IT" b="1" i="1" dirty="0" err="1">
                <a:solidFill>
                  <a:srgbClr val="FF0000"/>
                </a:solidFill>
              </a:rPr>
              <a:t>b</a:t>
            </a:r>
            <a:r>
              <a:rPr lang="it-IT" sz="2800" b="1" i="1" baseline="-25000" dirty="0" err="1">
                <a:solidFill>
                  <a:srgbClr val="FF0000"/>
                </a:solidFill>
              </a:rPr>
              <a:t>k</a:t>
            </a:r>
            <a:r>
              <a:rPr lang="it-IT" dirty="0">
                <a:solidFill>
                  <a:srgbClr val="FF0000"/>
                </a:solidFill>
              </a:rPr>
              <a:t>, </a:t>
            </a:r>
            <a:r>
              <a:rPr lang="it-IT" b="1" i="1" dirty="0">
                <a:solidFill>
                  <a:srgbClr val="FF0000"/>
                </a:solidFill>
              </a:rPr>
              <a:t>b</a:t>
            </a:r>
            <a:r>
              <a:rPr lang="it-IT" sz="2800" b="1" i="1" baseline="-25000" dirty="0">
                <a:solidFill>
                  <a:srgbClr val="FF0000"/>
                </a:solidFill>
              </a:rPr>
              <a:t>k+1</a:t>
            </a:r>
            <a:r>
              <a:rPr lang="it-IT" dirty="0">
                <a:solidFill>
                  <a:srgbClr val="FF0000"/>
                </a:solidFill>
              </a:rPr>
              <a:t>, ... ,</a:t>
            </a:r>
            <a:r>
              <a:rPr lang="it-IT" b="1" i="1" dirty="0" err="1">
                <a:solidFill>
                  <a:srgbClr val="FF0000"/>
                </a:solidFill>
              </a:rPr>
              <a:t>b</a:t>
            </a:r>
            <a:r>
              <a:rPr lang="it-IT" sz="2800" b="1" i="1" baseline="-25000" dirty="0" err="1">
                <a:solidFill>
                  <a:srgbClr val="FF0000"/>
                </a:solidFill>
              </a:rPr>
              <a:t>m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che estende le attività </a:t>
            </a:r>
            <a:r>
              <a:rPr lang="it-IT" b="1" i="1" dirty="0">
                <a:solidFill>
                  <a:srgbClr val="FF0000"/>
                </a:solidFill>
              </a:rPr>
              <a:t>b</a:t>
            </a:r>
            <a:r>
              <a:rPr lang="it-IT" sz="2800" b="1" i="1" baseline="-25000" dirty="0">
                <a:solidFill>
                  <a:srgbClr val="FF0000"/>
                </a:solidFill>
              </a:rPr>
              <a:t>1</a:t>
            </a:r>
            <a:r>
              <a:rPr lang="it-IT" dirty="0">
                <a:solidFill>
                  <a:srgbClr val="FF0000"/>
                </a:solidFill>
              </a:rPr>
              <a:t>, ... ,</a:t>
            </a:r>
            <a:r>
              <a:rPr lang="it-IT" b="1" i="1" dirty="0" err="1">
                <a:solidFill>
                  <a:srgbClr val="FF0000"/>
                </a:solidFill>
              </a:rPr>
              <a:t>b</a:t>
            </a:r>
            <a:r>
              <a:rPr lang="it-IT" sz="2800" b="1" i="1" baseline="-25000" dirty="0" err="1">
                <a:solidFill>
                  <a:srgbClr val="FF0000"/>
                </a:solidFill>
              </a:rPr>
              <a:t>k</a:t>
            </a:r>
            <a:r>
              <a:rPr lang="it-IT" dirty="0">
                <a:solidFill>
                  <a:srgbClr val="FF0000"/>
                </a:solidFill>
              </a:rPr>
              <a:t>  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finora  scelte  e  supponiamo   </a:t>
            </a:r>
            <a:r>
              <a:rPr lang="it-IT" b="1" i="1" dirty="0" smtClean="0">
                <a:solidFill>
                  <a:srgbClr val="FF0000"/>
                </a:solidFill>
              </a:rPr>
              <a:t>b</a:t>
            </a:r>
            <a:r>
              <a:rPr lang="it-IT" sz="2800" b="1" i="1" baseline="-25000" dirty="0" smtClean="0">
                <a:solidFill>
                  <a:srgbClr val="FF0000"/>
                </a:solidFill>
              </a:rPr>
              <a:t>1</a:t>
            </a:r>
            <a:r>
              <a:rPr lang="it-IT" dirty="0">
                <a:solidFill>
                  <a:srgbClr val="FF0000"/>
                </a:solidFill>
              </a:rPr>
              <a:t>, ... ,</a:t>
            </a:r>
            <a:r>
              <a:rPr lang="it-IT" b="1" i="1" dirty="0" err="1">
                <a:solidFill>
                  <a:srgbClr val="FF0000"/>
                </a:solidFill>
              </a:rPr>
              <a:t>b</a:t>
            </a:r>
            <a:r>
              <a:rPr lang="it-IT" sz="2800" b="1" i="1" baseline="-25000" dirty="0" err="1">
                <a:solidFill>
                  <a:srgbClr val="FF0000"/>
                </a:solidFill>
              </a:rPr>
              <a:t>k</a:t>
            </a:r>
            <a:r>
              <a:rPr lang="it-IT" dirty="0">
                <a:solidFill>
                  <a:srgbClr val="FF0000"/>
                </a:solidFill>
              </a:rPr>
              <a:t>  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e </a:t>
            </a:r>
            <a:r>
              <a:rPr lang="it-IT" b="1" i="1" dirty="0">
                <a:solidFill>
                  <a:srgbClr val="FF0000"/>
                </a:solidFill>
              </a:rPr>
              <a:t>b</a:t>
            </a:r>
            <a:r>
              <a:rPr lang="it-IT" sz="2800" b="1" i="1" baseline="-25000" dirty="0">
                <a:solidFill>
                  <a:srgbClr val="FF0000"/>
                </a:solidFill>
              </a:rPr>
              <a:t>k+1</a:t>
            </a:r>
            <a:r>
              <a:rPr lang="it-IT" dirty="0">
                <a:solidFill>
                  <a:srgbClr val="FF0000"/>
                </a:solidFill>
              </a:rPr>
              <a:t>, ... ,</a:t>
            </a:r>
            <a:r>
              <a:rPr lang="it-IT" b="1" i="1" dirty="0" err="1">
                <a:solidFill>
                  <a:srgbClr val="FF0000"/>
                </a:solidFill>
              </a:rPr>
              <a:t>b</a:t>
            </a:r>
            <a:r>
              <a:rPr lang="it-IT" sz="2800" b="1" i="1" baseline="-25000" dirty="0" err="1">
                <a:solidFill>
                  <a:srgbClr val="FF0000"/>
                </a:solidFill>
              </a:rPr>
              <a:t>m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ordinate per tempo di fine.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7347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Ottimalità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soluzione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it-IT" dirty="0"/>
              <a:t>Le attività scartate finora iniziano prima e hanno tempo di fine maggiore o uguale ad una delle attività precedentemente </a:t>
            </a:r>
            <a:r>
              <a:rPr lang="it-IT" dirty="0" smtClean="0"/>
              <a:t>scelte</a:t>
            </a:r>
            <a:endParaRPr lang="it-IT" dirty="0"/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Esse sono quindi incompatibili con almeno una delle attività </a:t>
            </a:r>
            <a:r>
              <a:rPr lang="it-IT" b="1" i="1" dirty="0">
                <a:solidFill>
                  <a:srgbClr val="FF0000"/>
                </a:solidFill>
              </a:rPr>
              <a:t>b</a:t>
            </a:r>
            <a:r>
              <a:rPr lang="it-IT" sz="2800" b="1" i="1" baseline="-25000" dirty="0">
                <a:solidFill>
                  <a:srgbClr val="FF0000"/>
                </a:solidFill>
              </a:rPr>
              <a:t>1</a:t>
            </a:r>
            <a:r>
              <a:rPr lang="it-IT" dirty="0">
                <a:solidFill>
                  <a:srgbClr val="FF0000"/>
                </a:solidFill>
              </a:rPr>
              <a:t>, ... ,</a:t>
            </a:r>
            <a:r>
              <a:rPr lang="it-IT" b="1" i="1" dirty="0" err="1">
                <a:solidFill>
                  <a:srgbClr val="FF0000"/>
                </a:solidFill>
              </a:rPr>
              <a:t>b</a:t>
            </a:r>
            <a:r>
              <a:rPr lang="it-IT" sz="2800" b="1" i="1" baseline="-25000" dirty="0" err="1">
                <a:solidFill>
                  <a:srgbClr val="FF0000"/>
                </a:solidFill>
              </a:rPr>
              <a:t>k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finora </a:t>
            </a:r>
            <a:r>
              <a:rPr lang="it-IT" dirty="0" smtClean="0"/>
              <a:t>scelte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 smtClean="0"/>
              <a:t> </a:t>
            </a:r>
            <a:r>
              <a:rPr lang="it-IT" b="1" i="1" dirty="0" smtClean="0">
                <a:solidFill>
                  <a:srgbClr val="FF0000"/>
                </a:solidFill>
              </a:rPr>
              <a:t>b</a:t>
            </a:r>
            <a:r>
              <a:rPr lang="it-IT" sz="2800" b="1" i="1" baseline="-25000" dirty="0" smtClean="0">
                <a:solidFill>
                  <a:srgbClr val="FF0000"/>
                </a:solidFill>
              </a:rPr>
              <a:t>k</a:t>
            </a:r>
            <a:r>
              <a:rPr lang="it-IT" sz="2800" b="1" i="1" baseline="-25000" dirty="0">
                <a:solidFill>
                  <a:srgbClr val="FF0000"/>
                </a:solidFill>
              </a:rPr>
              <a:t>+1</a:t>
            </a:r>
            <a:r>
              <a:rPr lang="it-IT" dirty="0">
                <a:solidFill>
                  <a:srgbClr val="FF0000"/>
                </a:solidFill>
              </a:rPr>
              <a:t>, ... ,</a:t>
            </a:r>
            <a:r>
              <a:rPr lang="it-IT" b="1" i="1" dirty="0" err="1">
                <a:solidFill>
                  <a:srgbClr val="FF0000"/>
                </a:solidFill>
              </a:rPr>
              <a:t>b</a:t>
            </a:r>
            <a:r>
              <a:rPr lang="it-IT" sz="2800" b="1" i="1" baseline="-25000" dirty="0" err="1">
                <a:solidFill>
                  <a:srgbClr val="FF0000"/>
                </a:solidFill>
              </a:rPr>
              <a:t>m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sono invece compatibili con tutte le attività </a:t>
            </a:r>
            <a:r>
              <a:rPr lang="it-IT" b="1" i="1" dirty="0">
                <a:solidFill>
                  <a:srgbClr val="FF0000"/>
                </a:solidFill>
              </a:rPr>
              <a:t>b</a:t>
            </a:r>
            <a:r>
              <a:rPr lang="it-IT" sz="2800" b="1" i="1" baseline="-25000" dirty="0">
                <a:solidFill>
                  <a:srgbClr val="FF0000"/>
                </a:solidFill>
              </a:rPr>
              <a:t>1</a:t>
            </a:r>
            <a:r>
              <a:rPr lang="it-IT" dirty="0">
                <a:solidFill>
                  <a:srgbClr val="FF0000"/>
                </a:solidFill>
              </a:rPr>
              <a:t>, ... ,</a:t>
            </a:r>
            <a:r>
              <a:rPr lang="it-IT" b="1" i="1" dirty="0" err="1">
                <a:solidFill>
                  <a:srgbClr val="FF0000"/>
                </a:solidFill>
              </a:rPr>
              <a:t>b</a:t>
            </a:r>
            <a:r>
              <a:rPr lang="it-IT" sz="2800" b="1" i="1" baseline="-25000" dirty="0" err="1">
                <a:solidFill>
                  <a:srgbClr val="FF0000"/>
                </a:solidFill>
              </a:rPr>
              <a:t>k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e quindi non sono tra quelle scartate </a:t>
            </a:r>
            <a:r>
              <a:rPr lang="it-IT" dirty="0" smtClean="0"/>
              <a:t>precedentemente</a:t>
            </a:r>
            <a:endParaRPr lang="it-IT" dirty="0"/>
          </a:p>
          <a:p>
            <a:pPr marL="457200" indent="-457200">
              <a:buFont typeface="+mj-lt"/>
              <a:buAutoNum type="arabicPeriod"/>
            </a:pPr>
            <a:r>
              <a:rPr lang="it-IT" dirty="0" smtClean="0"/>
              <a:t> </a:t>
            </a:r>
            <a:r>
              <a:rPr lang="it-IT" b="1" i="1" dirty="0">
                <a:solidFill>
                  <a:srgbClr val="FF0000"/>
                </a:solidFill>
              </a:rPr>
              <a:t>b</a:t>
            </a:r>
            <a:r>
              <a:rPr lang="it-IT" sz="2800" b="1" i="1" baseline="-25000" dirty="0">
                <a:solidFill>
                  <a:srgbClr val="FF0000"/>
                </a:solidFill>
              </a:rPr>
              <a:t>k+1</a:t>
            </a:r>
            <a:r>
              <a:rPr lang="it-IT" dirty="0">
                <a:solidFill>
                  <a:srgbClr val="FF0000"/>
                </a:solidFill>
              </a:rPr>
              <a:t>, ... ,</a:t>
            </a:r>
            <a:r>
              <a:rPr lang="it-IT" b="1" i="1" dirty="0" err="1">
                <a:solidFill>
                  <a:srgbClr val="FF0000"/>
                </a:solidFill>
              </a:rPr>
              <a:t>b</a:t>
            </a:r>
            <a:r>
              <a:rPr lang="it-IT" sz="2800" b="1" i="1" baseline="-25000" dirty="0" err="1">
                <a:solidFill>
                  <a:srgbClr val="FF0000"/>
                </a:solidFill>
              </a:rPr>
              <a:t>m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hanno sia tempo di fine che tempo di inizio maggiore o uguale di </a:t>
            </a:r>
            <a:r>
              <a:rPr lang="it-IT" sz="2000" b="1" i="1" dirty="0" err="1" smtClean="0">
                <a:solidFill>
                  <a:srgbClr val="FF0000"/>
                </a:solidFill>
              </a:rPr>
              <a:t>maxf</a:t>
            </a:r>
            <a:endParaRPr lang="it-IT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Ottimalità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soluzione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spcBef>
                <a:spcPct val="100000"/>
              </a:spcBef>
              <a:buFont typeface="+mj-lt"/>
              <a:buAutoNum type="arabicPeriod" startAt="5"/>
            </a:pPr>
            <a:r>
              <a:rPr lang="it-IT" dirty="0"/>
              <a:t>L’attività </a:t>
            </a:r>
            <a:r>
              <a:rPr lang="it-IT" b="1" i="1" dirty="0">
                <a:solidFill>
                  <a:srgbClr val="FF0000"/>
                </a:solidFill>
              </a:rPr>
              <a:t>a</a:t>
            </a:r>
            <a:r>
              <a:rPr lang="it-IT" sz="2800" b="1" i="1" baseline="-25000" dirty="0">
                <a:solidFill>
                  <a:srgbClr val="FF0000"/>
                </a:solidFill>
              </a:rPr>
              <a:t>i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è quella con tempo di fine </a:t>
            </a:r>
            <a:r>
              <a:rPr lang="it-IT" b="1" i="1" dirty="0">
                <a:solidFill>
                  <a:srgbClr val="FF0000"/>
                </a:solidFill>
              </a:rPr>
              <a:t>f</a:t>
            </a:r>
            <a:r>
              <a:rPr lang="it-IT" sz="2800" b="1" i="1" baseline="-25000" dirty="0">
                <a:solidFill>
                  <a:srgbClr val="FF0000"/>
                </a:solidFill>
              </a:rPr>
              <a:t>i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minimo in assoluto tra quelle compatibili con </a:t>
            </a:r>
            <a:r>
              <a:rPr lang="it-IT" dirty="0" smtClean="0"/>
              <a:t> </a:t>
            </a:r>
            <a:r>
              <a:rPr lang="it-IT" b="1" i="1" dirty="0" smtClean="0">
                <a:solidFill>
                  <a:srgbClr val="FF0000"/>
                </a:solidFill>
              </a:rPr>
              <a:t>b</a:t>
            </a:r>
            <a:r>
              <a:rPr lang="it-IT" sz="2800" b="1" i="1" baseline="-25000" dirty="0" smtClean="0">
                <a:solidFill>
                  <a:srgbClr val="FF0000"/>
                </a:solidFill>
              </a:rPr>
              <a:t>1</a:t>
            </a:r>
            <a:r>
              <a:rPr lang="it-IT" dirty="0">
                <a:solidFill>
                  <a:srgbClr val="FF0000"/>
                </a:solidFill>
              </a:rPr>
              <a:t>, ... ,</a:t>
            </a:r>
            <a:r>
              <a:rPr lang="it-IT" b="1" i="1" dirty="0" err="1">
                <a:solidFill>
                  <a:srgbClr val="FF0000"/>
                </a:solidFill>
              </a:rPr>
              <a:t>b</a:t>
            </a:r>
            <a:r>
              <a:rPr lang="it-IT" sz="2800" b="1" i="1" baseline="-25000" dirty="0" err="1">
                <a:solidFill>
                  <a:srgbClr val="FF0000"/>
                </a:solidFill>
              </a:rPr>
              <a:t>k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r>
              <a:rPr lang="it-IT" dirty="0" smtClean="0"/>
              <a:t>e </a:t>
            </a:r>
            <a:r>
              <a:rPr lang="it-IT" dirty="0"/>
              <a:t>quindi </a:t>
            </a:r>
            <a:r>
              <a:rPr lang="it-IT" b="1" i="1" dirty="0">
                <a:solidFill>
                  <a:srgbClr val="FF0000"/>
                </a:solidFill>
              </a:rPr>
              <a:t>f</a:t>
            </a:r>
            <a:r>
              <a:rPr lang="it-IT" sz="2800" b="1" i="1" baseline="-25000" dirty="0">
                <a:solidFill>
                  <a:srgbClr val="FF0000"/>
                </a:solidFill>
              </a:rPr>
              <a:t>i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rgbClr val="FF0000"/>
                </a:solidFill>
                <a:sym typeface="Symbol" charset="0"/>
              </a:rPr>
              <a:t> </a:t>
            </a:r>
            <a:r>
              <a:rPr lang="it-IT" b="1" i="1" dirty="0" err="1" smtClean="0">
                <a:solidFill>
                  <a:srgbClr val="FF0000"/>
                </a:solidFill>
                <a:sym typeface="Symbol" charset="0"/>
              </a:rPr>
              <a:t>f</a:t>
            </a:r>
            <a:endParaRPr lang="it-IT" dirty="0">
              <a:solidFill>
                <a:srgbClr val="FF0000"/>
              </a:solidFill>
              <a:sym typeface="Symbol" charset="0"/>
            </a:endParaRPr>
          </a:p>
          <a:p>
            <a:pPr marL="457200" indent="-457200">
              <a:spcBef>
                <a:spcPct val="100000"/>
              </a:spcBef>
              <a:buFont typeface="+mj-lt"/>
              <a:buAutoNum type="arabicPeriod" startAt="5"/>
            </a:pPr>
            <a:r>
              <a:rPr lang="it-IT" dirty="0"/>
              <a:t>Siccome </a:t>
            </a:r>
            <a:r>
              <a:rPr lang="it-IT" b="1" i="1" dirty="0">
                <a:solidFill>
                  <a:srgbClr val="FF0000"/>
                </a:solidFill>
              </a:rPr>
              <a:t>b</a:t>
            </a:r>
            <a:r>
              <a:rPr lang="it-IT" sz="2800" b="1" i="1" baseline="-25000" dirty="0">
                <a:solidFill>
                  <a:srgbClr val="FF0000"/>
                </a:solidFill>
              </a:rPr>
              <a:t>k+1</a:t>
            </a:r>
            <a:r>
              <a:rPr lang="it-IT" dirty="0"/>
              <a:t> è compatibile con </a:t>
            </a:r>
            <a:r>
              <a:rPr lang="it-IT" b="1" i="1" dirty="0">
                <a:solidFill>
                  <a:srgbClr val="FF0000"/>
                </a:solidFill>
              </a:rPr>
              <a:t>b</a:t>
            </a:r>
            <a:r>
              <a:rPr lang="it-IT" sz="2800" b="1" i="1" baseline="-25000" dirty="0">
                <a:solidFill>
                  <a:srgbClr val="FF0000"/>
                </a:solidFill>
              </a:rPr>
              <a:t>k+2</a:t>
            </a:r>
            <a:r>
              <a:rPr lang="it-IT" dirty="0">
                <a:solidFill>
                  <a:srgbClr val="FF0000"/>
                </a:solidFill>
              </a:rPr>
              <a:t>, ... ,</a:t>
            </a:r>
            <a:r>
              <a:rPr lang="it-IT" b="1" i="1" dirty="0" err="1">
                <a:solidFill>
                  <a:srgbClr val="FF0000"/>
                </a:solidFill>
              </a:rPr>
              <a:t>b</a:t>
            </a:r>
            <a:r>
              <a:rPr lang="it-IT" sz="2800" b="1" i="1" baseline="-25000" dirty="0" err="1">
                <a:solidFill>
                  <a:srgbClr val="FF0000"/>
                </a:solidFill>
              </a:rPr>
              <a:t>m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i tempi di inizio di </a:t>
            </a:r>
            <a:r>
              <a:rPr lang="it-IT" b="1" i="1" dirty="0">
                <a:solidFill>
                  <a:srgbClr val="FF0000"/>
                </a:solidFill>
              </a:rPr>
              <a:t>b</a:t>
            </a:r>
            <a:r>
              <a:rPr lang="it-IT" sz="2800" b="1" i="1" baseline="-25000" dirty="0">
                <a:solidFill>
                  <a:srgbClr val="FF0000"/>
                </a:solidFill>
              </a:rPr>
              <a:t>k+2</a:t>
            </a:r>
            <a:r>
              <a:rPr lang="it-IT" dirty="0">
                <a:solidFill>
                  <a:srgbClr val="FF0000"/>
                </a:solidFill>
              </a:rPr>
              <a:t>, ... ,</a:t>
            </a:r>
            <a:r>
              <a:rPr lang="it-IT" b="1" i="1" dirty="0" err="1">
                <a:solidFill>
                  <a:srgbClr val="FF0000"/>
                </a:solidFill>
              </a:rPr>
              <a:t>b</a:t>
            </a:r>
            <a:r>
              <a:rPr lang="it-IT" sz="2800" b="1" i="1" baseline="-25000" dirty="0" err="1">
                <a:solidFill>
                  <a:srgbClr val="FF0000"/>
                </a:solidFill>
              </a:rPr>
              <a:t>m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sono maggiori o uguali di </a:t>
            </a:r>
            <a:r>
              <a:rPr lang="it-IT" b="1" i="1" dirty="0" err="1">
                <a:solidFill>
                  <a:srgbClr val="FF0000"/>
                </a:solidFill>
              </a:rPr>
              <a:t>f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ym typeface="Symbol" charset="0"/>
              </a:rPr>
              <a:t>e quindi anche di</a:t>
            </a:r>
            <a:r>
              <a:rPr lang="it-IT" dirty="0"/>
              <a:t> </a:t>
            </a:r>
            <a:r>
              <a:rPr lang="it-IT" b="1" i="1" dirty="0" smtClean="0">
                <a:solidFill>
                  <a:srgbClr val="FF0000"/>
                </a:solidFill>
              </a:rPr>
              <a:t>f</a:t>
            </a:r>
            <a:r>
              <a:rPr lang="it-IT" sz="2800" b="1" i="1" baseline="-25000" dirty="0" smtClean="0">
                <a:solidFill>
                  <a:srgbClr val="FF0000"/>
                </a:solidFill>
              </a:rPr>
              <a:t>i</a:t>
            </a:r>
            <a:endParaRPr lang="it-IT" dirty="0"/>
          </a:p>
          <a:p>
            <a:pPr marL="457200" indent="-457200">
              <a:spcBef>
                <a:spcPct val="100000"/>
              </a:spcBef>
              <a:buFont typeface="+mj-lt"/>
              <a:buAutoNum type="arabicPeriod" startAt="5"/>
            </a:pPr>
            <a:r>
              <a:rPr lang="it-IT" dirty="0">
                <a:sym typeface="Symbol" charset="0"/>
              </a:rPr>
              <a:t>Dunque anche </a:t>
            </a:r>
            <a:r>
              <a:rPr lang="it-IT" b="1" i="1" dirty="0">
                <a:solidFill>
                  <a:srgbClr val="FF0000"/>
                </a:solidFill>
              </a:rPr>
              <a:t>a</a:t>
            </a:r>
            <a:r>
              <a:rPr lang="it-IT" b="1" i="1" baseline="-25000" dirty="0">
                <a:solidFill>
                  <a:srgbClr val="FF0000"/>
                </a:solidFill>
              </a:rPr>
              <a:t>i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è compatibile con </a:t>
            </a:r>
            <a:r>
              <a:rPr lang="it-IT" b="1" i="1" dirty="0">
                <a:solidFill>
                  <a:srgbClr val="FF0000"/>
                </a:solidFill>
              </a:rPr>
              <a:t>b</a:t>
            </a:r>
            <a:r>
              <a:rPr lang="it-IT" sz="2800" b="1" i="1" baseline="-25000" dirty="0">
                <a:solidFill>
                  <a:srgbClr val="FF0000"/>
                </a:solidFill>
              </a:rPr>
              <a:t>k+2</a:t>
            </a:r>
            <a:r>
              <a:rPr lang="it-IT" dirty="0">
                <a:solidFill>
                  <a:srgbClr val="FF0000"/>
                </a:solidFill>
              </a:rPr>
              <a:t>, ... ,</a:t>
            </a:r>
            <a:r>
              <a:rPr lang="it-IT" b="1" i="1" dirty="0" err="1">
                <a:solidFill>
                  <a:srgbClr val="FF0000"/>
                </a:solidFill>
              </a:rPr>
              <a:t>b</a:t>
            </a:r>
            <a:r>
              <a:rPr lang="it-IT" sz="2800" b="1" i="1" baseline="-25000" dirty="0" err="1">
                <a:solidFill>
                  <a:srgbClr val="FF0000"/>
                </a:solidFill>
              </a:rPr>
              <a:t>m</a:t>
            </a:r>
            <a:endParaRPr lang="it-IT" sz="2800" b="1" i="1" baseline="-25000" dirty="0">
              <a:solidFill>
                <a:srgbClr val="FF0000"/>
              </a:solidFill>
            </a:endParaRPr>
          </a:p>
          <a:p>
            <a:pPr marL="457200" indent="-457200">
              <a:spcBef>
                <a:spcPct val="100000"/>
              </a:spcBef>
              <a:buFont typeface="+mj-lt"/>
              <a:buAutoNum type="arabicPeriod" startAt="5"/>
            </a:pPr>
            <a:r>
              <a:rPr lang="it-IT" dirty="0"/>
              <a:t>Pertanto </a:t>
            </a:r>
            <a:r>
              <a:rPr lang="it-IT" b="1" i="1" dirty="0">
                <a:solidFill>
                  <a:srgbClr val="FF0000"/>
                </a:solidFill>
              </a:rPr>
              <a:t>b</a:t>
            </a:r>
            <a:r>
              <a:rPr lang="it-IT" sz="2800" b="1" i="1" baseline="-25000" dirty="0">
                <a:solidFill>
                  <a:srgbClr val="FF0000"/>
                </a:solidFill>
              </a:rPr>
              <a:t>1</a:t>
            </a:r>
            <a:r>
              <a:rPr lang="it-IT" dirty="0">
                <a:solidFill>
                  <a:srgbClr val="FF0000"/>
                </a:solidFill>
              </a:rPr>
              <a:t>, ... ,</a:t>
            </a:r>
            <a:r>
              <a:rPr lang="it-IT" b="1" i="1" dirty="0" err="1">
                <a:solidFill>
                  <a:srgbClr val="FF0000"/>
                </a:solidFill>
              </a:rPr>
              <a:t>b</a:t>
            </a:r>
            <a:r>
              <a:rPr lang="it-IT" sz="2800" b="1" i="1" baseline="-25000" dirty="0" err="1">
                <a:solidFill>
                  <a:srgbClr val="FF0000"/>
                </a:solidFill>
              </a:rPr>
              <a:t>k</a:t>
            </a:r>
            <a:r>
              <a:rPr lang="it-IT" dirty="0">
                <a:solidFill>
                  <a:srgbClr val="FF0000"/>
                </a:solidFill>
              </a:rPr>
              <a:t>, </a:t>
            </a:r>
            <a:r>
              <a:rPr lang="it-IT" b="1" i="1" dirty="0">
                <a:solidFill>
                  <a:srgbClr val="FF0000"/>
                </a:solidFill>
              </a:rPr>
              <a:t>a</a:t>
            </a:r>
            <a:r>
              <a:rPr lang="it-IT" sz="2800" b="1" i="1" baseline="-25000" dirty="0">
                <a:solidFill>
                  <a:srgbClr val="FF0000"/>
                </a:solidFill>
              </a:rPr>
              <a:t>i</a:t>
            </a:r>
            <a:r>
              <a:rPr lang="it-IT" baseline="-25000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rgbClr val="FF0000"/>
                </a:solidFill>
              </a:rPr>
              <a:t>,</a:t>
            </a:r>
            <a:r>
              <a:rPr lang="it-IT" b="1" i="1" dirty="0">
                <a:solidFill>
                  <a:srgbClr val="FF0000"/>
                </a:solidFill>
              </a:rPr>
              <a:t>b</a:t>
            </a:r>
            <a:r>
              <a:rPr lang="it-IT" sz="2800" b="1" i="1" baseline="-25000" dirty="0">
                <a:solidFill>
                  <a:srgbClr val="FF0000"/>
                </a:solidFill>
              </a:rPr>
              <a:t>k+2</a:t>
            </a:r>
            <a:r>
              <a:rPr lang="it-IT" dirty="0">
                <a:solidFill>
                  <a:srgbClr val="FF0000"/>
                </a:solidFill>
              </a:rPr>
              <a:t>, ... ,</a:t>
            </a:r>
            <a:r>
              <a:rPr lang="it-IT" b="1" i="1" dirty="0" err="1">
                <a:solidFill>
                  <a:srgbClr val="FF0000"/>
                </a:solidFill>
              </a:rPr>
              <a:t>b</a:t>
            </a:r>
            <a:r>
              <a:rPr lang="it-IT" sz="2800" b="1" i="1" baseline="-25000" dirty="0" err="1">
                <a:solidFill>
                  <a:srgbClr val="FF0000"/>
                </a:solidFill>
              </a:rPr>
              <a:t>m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è una soluzione ottima contenente </a:t>
            </a:r>
            <a:r>
              <a:rPr lang="it-IT" b="1" i="1" dirty="0">
                <a:solidFill>
                  <a:srgbClr val="FF0000"/>
                </a:solidFill>
              </a:rPr>
              <a:t>a</a:t>
            </a:r>
            <a:r>
              <a:rPr lang="it-IT" sz="2800" b="1" i="1" baseline="-25000" dirty="0">
                <a:solidFill>
                  <a:srgbClr val="FF0000"/>
                </a:solidFill>
              </a:rPr>
              <a:t>i</a:t>
            </a:r>
            <a:r>
              <a:rPr lang="it-IT" dirty="0">
                <a:solidFill>
                  <a:srgbClr val="FF0000"/>
                </a:solidFill>
              </a:rPr>
              <a:t> e </a:t>
            </a:r>
            <a:r>
              <a:rPr lang="it-IT" b="1" i="1" dirty="0">
                <a:solidFill>
                  <a:srgbClr val="FF0000"/>
                </a:solidFill>
              </a:rPr>
              <a:t>b</a:t>
            </a:r>
            <a:r>
              <a:rPr lang="it-IT" sz="2800" b="1" i="1" baseline="-25000" dirty="0">
                <a:solidFill>
                  <a:srgbClr val="FF0000"/>
                </a:solidFill>
              </a:rPr>
              <a:t>1</a:t>
            </a:r>
            <a:r>
              <a:rPr lang="it-IT" dirty="0">
                <a:solidFill>
                  <a:srgbClr val="FF0000"/>
                </a:solidFill>
              </a:rPr>
              <a:t>, ... ,</a:t>
            </a:r>
            <a:r>
              <a:rPr lang="it-IT" b="1" i="1" dirty="0" err="1" smtClean="0">
                <a:solidFill>
                  <a:srgbClr val="FF0000"/>
                </a:solidFill>
              </a:rPr>
              <a:t>b</a:t>
            </a:r>
            <a:r>
              <a:rPr lang="it-IT" sz="2800" b="1" i="1" baseline="-25000" dirty="0" err="1" smtClean="0">
                <a:solidFill>
                  <a:srgbClr val="FF0000"/>
                </a:solidFill>
              </a:rPr>
              <a:t>k</a:t>
            </a:r>
            <a:endParaRPr lang="it-IT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Ottimalità della soluzione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100000"/>
              </a:spcBef>
            </a:pPr>
            <a:r>
              <a:rPr lang="it-IT" dirty="0"/>
              <a:t>Sappiamo quindi che durante tutta l’esecuzione dell’algoritmo esiste sempre una soluzione ottima contenente le attività </a:t>
            </a:r>
            <a:r>
              <a:rPr lang="it-IT" b="1" i="1" dirty="0">
                <a:solidFill>
                  <a:srgbClr val="FF0000"/>
                </a:solidFill>
              </a:rPr>
              <a:t>b</a:t>
            </a:r>
            <a:r>
              <a:rPr lang="it-IT" sz="2800" b="1" i="1" baseline="-25000" dirty="0">
                <a:solidFill>
                  <a:srgbClr val="FF0000"/>
                </a:solidFill>
              </a:rPr>
              <a:t>1</a:t>
            </a:r>
            <a:r>
              <a:rPr lang="it-IT" dirty="0">
                <a:solidFill>
                  <a:srgbClr val="FF0000"/>
                </a:solidFill>
              </a:rPr>
              <a:t>, ... , </a:t>
            </a:r>
            <a:r>
              <a:rPr lang="it-IT" b="1" i="1" dirty="0" err="1">
                <a:solidFill>
                  <a:srgbClr val="FF0000"/>
                </a:solidFill>
              </a:rPr>
              <a:t>b</a:t>
            </a:r>
            <a:r>
              <a:rPr lang="it-IT" sz="2800" b="1" i="1" baseline="-25000" dirty="0" err="1">
                <a:solidFill>
                  <a:srgbClr val="FF0000"/>
                </a:solidFill>
              </a:rPr>
              <a:t>k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scelte fino a quel </a:t>
            </a:r>
            <a:r>
              <a:rPr lang="it-IT" dirty="0" smtClean="0"/>
              <a:t>momento</a:t>
            </a:r>
            <a:endParaRPr lang="it-IT" sz="2000" dirty="0"/>
          </a:p>
          <a:p>
            <a:pPr>
              <a:spcBef>
                <a:spcPct val="100000"/>
              </a:spcBef>
            </a:pPr>
            <a:r>
              <a:rPr lang="it-IT" dirty="0"/>
              <a:t>Quando l’algoritmo termina non ci sono altre attività compatibili con </a:t>
            </a:r>
            <a:r>
              <a:rPr lang="it-IT" b="1" i="1" dirty="0">
                <a:solidFill>
                  <a:srgbClr val="FF0000"/>
                </a:solidFill>
              </a:rPr>
              <a:t>b</a:t>
            </a:r>
            <a:r>
              <a:rPr lang="it-IT" sz="2800" b="1" i="1" baseline="-25000" dirty="0">
                <a:solidFill>
                  <a:srgbClr val="FF0000"/>
                </a:solidFill>
              </a:rPr>
              <a:t>1</a:t>
            </a:r>
            <a:r>
              <a:rPr lang="it-IT" dirty="0">
                <a:solidFill>
                  <a:srgbClr val="FF0000"/>
                </a:solidFill>
              </a:rPr>
              <a:t>, ... , </a:t>
            </a:r>
            <a:r>
              <a:rPr lang="it-IT" b="1" i="1" dirty="0" err="1">
                <a:solidFill>
                  <a:srgbClr val="FF0000"/>
                </a:solidFill>
              </a:rPr>
              <a:t>b</a:t>
            </a:r>
            <a:r>
              <a:rPr lang="it-IT" sz="2800" b="1" i="1" baseline="-25000" dirty="0" err="1">
                <a:solidFill>
                  <a:srgbClr val="FF0000"/>
                </a:solidFill>
              </a:rPr>
              <a:t>k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e quindi le attività memorizzate in </a:t>
            </a:r>
            <a:r>
              <a:rPr lang="it-IT" b="1" i="1" dirty="0">
                <a:solidFill>
                  <a:srgbClr val="FF0000"/>
                </a:solidFill>
                <a:sym typeface="Symbol" charset="0"/>
              </a:rPr>
              <a:t>b</a:t>
            </a:r>
            <a:r>
              <a:rPr lang="it-IT" b="1" baseline="-25000" dirty="0">
                <a:solidFill>
                  <a:srgbClr val="FF0000"/>
                </a:solidFill>
                <a:sym typeface="Symbol" charset="0"/>
              </a:rPr>
              <a:t>1..k</a:t>
            </a:r>
            <a:r>
              <a:rPr lang="it-IT" dirty="0"/>
              <a:t> sono una soluzione </a:t>
            </a:r>
            <a:r>
              <a:rPr lang="it-IT" dirty="0" smtClean="0"/>
              <a:t>ottima</a:t>
            </a:r>
            <a:endParaRPr lang="it-IT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Perché goloso?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smtClean="0"/>
              <a:t>L’algoritmo è goloso perché ad ogni passo, tra tutte le attività compatibili con quelle già scelte, sceglie quella che termina prima</a:t>
            </a:r>
          </a:p>
          <a:p>
            <a:r>
              <a:rPr lang="it-IT" dirty="0" smtClean="0"/>
              <a:t>Questa scelta è localmente ottimale (golosa) perché lascia il massimo intervallo di tempo a disposizione per le successive attività</a:t>
            </a:r>
            <a:endParaRPr lang="it-IT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47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Elementi della strategia golosa</a:t>
            </a:r>
            <a:endParaRPr lang="it-IT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100000"/>
              </a:spcBef>
            </a:pPr>
            <a:r>
              <a:rPr lang="it-IT" sz="2800" i="1" u="sng" dirty="0">
                <a:solidFill>
                  <a:schemeClr val="accent5">
                    <a:lumMod val="50000"/>
                  </a:schemeClr>
                </a:solidFill>
              </a:rPr>
              <a:t>Sottostruttura </a:t>
            </a:r>
            <a:r>
              <a:rPr lang="it-IT" sz="2800" i="1" u="sng" dirty="0" smtClean="0">
                <a:solidFill>
                  <a:schemeClr val="accent5">
                    <a:lumMod val="50000"/>
                  </a:schemeClr>
                </a:solidFill>
              </a:rPr>
              <a:t>ottima</a:t>
            </a:r>
            <a:endParaRPr lang="it-IT" sz="2800" dirty="0">
              <a:solidFill>
                <a:schemeClr val="accent5">
                  <a:lumMod val="50000"/>
                </a:schemeClr>
              </a:solidFill>
            </a:endParaRPr>
          </a:p>
          <a:p>
            <a:pPr marL="576000" indent="0">
              <a:spcBef>
                <a:spcPct val="100000"/>
              </a:spcBef>
              <a:buNone/>
            </a:pPr>
            <a:r>
              <a:rPr lang="it-IT" dirty="0" smtClean="0"/>
              <a:t>Ogni </a:t>
            </a:r>
            <a:r>
              <a:rPr lang="it-IT" dirty="0"/>
              <a:t>soluzione ottima non elementare si compone di soluzioni ottime di </a:t>
            </a:r>
            <a:r>
              <a:rPr lang="it-IT" dirty="0" err="1" smtClean="0"/>
              <a:t>sottoproblemi</a:t>
            </a:r>
            <a:endParaRPr lang="it-IT" dirty="0"/>
          </a:p>
          <a:p>
            <a:pPr>
              <a:spcBef>
                <a:spcPct val="100000"/>
              </a:spcBef>
            </a:pPr>
            <a:r>
              <a:rPr lang="it-IT" sz="2800" i="1" u="sng" dirty="0">
                <a:solidFill>
                  <a:srgbClr val="20AC6F"/>
                </a:solidFill>
              </a:rPr>
              <a:t>Proprietà della scelta </a:t>
            </a:r>
            <a:r>
              <a:rPr lang="it-IT" sz="2800" i="1" u="sng" dirty="0" smtClean="0">
                <a:solidFill>
                  <a:srgbClr val="20AC6F"/>
                </a:solidFill>
              </a:rPr>
              <a:t>golosa</a:t>
            </a:r>
            <a:endParaRPr lang="it-IT" sz="2800" dirty="0">
              <a:solidFill>
                <a:srgbClr val="20AC6F"/>
              </a:solidFill>
            </a:endParaRPr>
          </a:p>
          <a:p>
            <a:pPr marL="576000" lvl="0" indent="0">
              <a:spcBef>
                <a:spcPct val="100000"/>
              </a:spcBef>
              <a:buClr>
                <a:srgbClr val="FF0000"/>
              </a:buClr>
              <a:buNone/>
            </a:pPr>
            <a:r>
              <a:rPr lang="it-IT" dirty="0" smtClean="0"/>
              <a:t>La </a:t>
            </a:r>
            <a:r>
              <a:rPr lang="it-IT" dirty="0"/>
              <a:t>scelta localmente ottima (golosa) non pregiudica la possibilità di arrivare ad una soluzione globalmente </a:t>
            </a:r>
            <a:r>
              <a:rPr lang="it-IT" dirty="0" smtClean="0"/>
              <a:t>ottima</a:t>
            </a:r>
            <a:endParaRPr lang="it-IT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>
                <a:solidFill>
                  <a:srgbClr val="FF0000"/>
                </a:solidFill>
              </a:rPr>
              <a:t>ESEMPIO: Codici </a:t>
            </a:r>
            <a:r>
              <a:rPr lang="it-IT" dirty="0">
                <a:solidFill>
                  <a:srgbClr val="FF0000"/>
                </a:solidFill>
              </a:rPr>
              <a:t>di </a:t>
            </a:r>
            <a:r>
              <a:rPr lang="it-IT" dirty="0" err="1" smtClean="0">
                <a:solidFill>
                  <a:srgbClr val="FF0000"/>
                </a:solidFill>
              </a:rPr>
              <a:t>Huffman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100000"/>
              </a:spcBef>
            </a:pPr>
            <a:r>
              <a:rPr lang="it-IT" dirty="0"/>
              <a:t>I </a:t>
            </a:r>
            <a:r>
              <a:rPr lang="it-IT" i="1" u="sng" dirty="0">
                <a:solidFill>
                  <a:srgbClr val="FF0000"/>
                </a:solidFill>
              </a:rPr>
              <a:t>codici di </a:t>
            </a:r>
            <a:r>
              <a:rPr lang="it-IT" i="1" u="sng" dirty="0" err="1">
                <a:solidFill>
                  <a:srgbClr val="FF0000"/>
                </a:solidFill>
              </a:rPr>
              <a:t>Huffman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vengono ampiamente usati nella compressione dei dati. Essi normalmente permettono un risparmio compreso tra il 20% ed il 90% secondo il tipo di </a:t>
            </a:r>
            <a:r>
              <a:rPr lang="it-IT" dirty="0" smtClean="0"/>
              <a:t>file</a:t>
            </a:r>
            <a:endParaRPr lang="it-IT" dirty="0"/>
          </a:p>
          <a:p>
            <a:r>
              <a:rPr lang="it-IT" dirty="0"/>
              <a:t>Sulla base delle frequenze con cui ogni carattere appare nel file, l’algoritmo goloso di </a:t>
            </a:r>
            <a:r>
              <a:rPr lang="it-IT" dirty="0" err="1"/>
              <a:t>Huffman</a:t>
            </a:r>
            <a:r>
              <a:rPr lang="it-IT" dirty="0"/>
              <a:t> trova un </a:t>
            </a:r>
            <a:r>
              <a:rPr lang="it-IT" i="1" u="sng" dirty="0">
                <a:solidFill>
                  <a:srgbClr val="FF0000"/>
                </a:solidFill>
              </a:rPr>
              <a:t>codice ottimo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b="1" dirty="0"/>
              <a:t>—</a:t>
            </a:r>
            <a:r>
              <a:rPr lang="it-IT" dirty="0"/>
              <a:t> ossia un modo ottimale di associare ad ogni carattere una sequenza di bit detta </a:t>
            </a:r>
            <a:r>
              <a:rPr lang="it-IT" i="1" u="sng" dirty="0">
                <a:solidFill>
                  <a:srgbClr val="FF0000"/>
                </a:solidFill>
              </a:rPr>
              <a:t>parola </a:t>
            </a:r>
            <a:r>
              <a:rPr lang="it-IT" i="1" u="sng" dirty="0" smtClean="0">
                <a:solidFill>
                  <a:srgbClr val="FF0000"/>
                </a:solidFill>
              </a:rPr>
              <a:t>codice</a:t>
            </a:r>
            <a:r>
              <a:rPr lang="it-IT" dirty="0" smtClean="0">
                <a:solidFill>
                  <a:srgbClr val="FF0000"/>
                </a:solidFill>
              </a:rPr>
              <a:t> </a:t>
            </a:r>
            <a:endParaRPr lang="it-IT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610" name="Text Box 2"/>
          <p:cNvSpPr txBox="1">
            <a:spLocks noChangeArrowheads="1"/>
          </p:cNvSpPr>
          <p:nvPr/>
        </p:nvSpPr>
        <p:spPr bwMode="auto">
          <a:xfrm>
            <a:off x="395536" y="1484784"/>
            <a:ext cx="7924800" cy="461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 sz="2400" dirty="0">
                <a:solidFill>
                  <a:srgbClr val="0000FF"/>
                </a:solidFill>
              </a:rPr>
              <a:t>Sia dato un file di 120 caratteri con frequenze:</a:t>
            </a:r>
          </a:p>
        </p:txBody>
      </p:sp>
      <p:sp>
        <p:nvSpPr>
          <p:cNvPr id="708611" name="Text Box 3"/>
          <p:cNvSpPr txBox="1">
            <a:spLocks noChangeArrowheads="1"/>
          </p:cNvSpPr>
          <p:nvPr/>
        </p:nvSpPr>
        <p:spPr bwMode="auto">
          <a:xfrm>
            <a:off x="683568" y="2276872"/>
            <a:ext cx="7391400" cy="72707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 sz="2000" b="1" dirty="0">
                <a:latin typeface="Courier New" charset="0"/>
                <a:sym typeface="Symbol" charset="0"/>
              </a:rPr>
              <a:t>carattere     a     b     c     d     e     </a:t>
            </a:r>
            <a:r>
              <a:rPr lang="it-IT" sz="2000" b="1" dirty="0" err="1">
                <a:latin typeface="Courier New" charset="0"/>
                <a:sym typeface="Symbol" charset="0"/>
              </a:rPr>
              <a:t>f</a:t>
            </a:r>
            <a:endParaRPr lang="it-IT" sz="2000" b="1" dirty="0">
              <a:latin typeface="Courier New" charset="0"/>
              <a:sym typeface="Symbol" charset="0"/>
            </a:endParaRPr>
          </a:p>
          <a:p>
            <a:r>
              <a:rPr lang="it-IT" sz="2000" b="1" dirty="0">
                <a:latin typeface="Courier New" charset="0"/>
                <a:sym typeface="Symbol" charset="0"/>
              </a:rPr>
              <a:t>frequenza    57    13    12    24     9     5</a:t>
            </a:r>
          </a:p>
        </p:txBody>
      </p:sp>
      <p:sp>
        <p:nvSpPr>
          <p:cNvPr id="708613" name="Text Box 5"/>
          <p:cNvSpPr txBox="1">
            <a:spLocks noChangeArrowheads="1"/>
          </p:cNvSpPr>
          <p:nvPr/>
        </p:nvSpPr>
        <p:spPr bwMode="auto">
          <a:xfrm>
            <a:off x="395536" y="3429000"/>
            <a:ext cx="80010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29" tIns="45715" rIns="91429" bIns="45715">
            <a:spAutoFit/>
          </a:bodyPr>
          <a:lstStyle/>
          <a:p>
            <a:r>
              <a:rPr lang="it-IT" sz="2400" dirty="0">
                <a:solidFill>
                  <a:srgbClr val="0000FF"/>
                </a:solidFill>
              </a:rPr>
              <a:t>Usando un codice a lunghezza fissa occorrono 3 bit per rappresentare 6 caratteri. Ad esempio</a:t>
            </a:r>
          </a:p>
        </p:txBody>
      </p:sp>
      <p:sp>
        <p:nvSpPr>
          <p:cNvPr id="708614" name="Text Box 6"/>
          <p:cNvSpPr txBox="1">
            <a:spLocks noChangeArrowheads="1"/>
          </p:cNvSpPr>
          <p:nvPr/>
        </p:nvSpPr>
        <p:spPr bwMode="auto">
          <a:xfrm>
            <a:off x="683568" y="4581128"/>
            <a:ext cx="7543800" cy="707876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29" tIns="45715" rIns="91429" bIns="45715">
            <a:spAutoFit/>
          </a:bodyPr>
          <a:lstStyle/>
          <a:p>
            <a:r>
              <a:rPr lang="it-IT" sz="2000" b="1" dirty="0">
                <a:latin typeface="Courier New" charset="0"/>
                <a:sym typeface="Symbol" charset="0"/>
              </a:rPr>
              <a:t>carattere     a     b     c     d     e     </a:t>
            </a:r>
            <a:r>
              <a:rPr lang="it-IT" sz="2000" b="1" dirty="0" err="1">
                <a:latin typeface="Courier New" charset="0"/>
                <a:sym typeface="Symbol" charset="0"/>
              </a:rPr>
              <a:t>f</a:t>
            </a:r>
            <a:endParaRPr lang="it-IT" sz="2000" b="1" dirty="0">
              <a:latin typeface="Courier New" charset="0"/>
              <a:sym typeface="Symbol" charset="0"/>
            </a:endParaRPr>
          </a:p>
          <a:p>
            <a:r>
              <a:rPr lang="it-IT" sz="2000" b="1" dirty="0">
                <a:latin typeface="Courier New" charset="0"/>
                <a:sym typeface="Symbol" charset="0"/>
              </a:rPr>
              <a:t>cod. fisso  000   001   010   011   100   101</a:t>
            </a:r>
          </a:p>
        </p:txBody>
      </p:sp>
      <p:sp>
        <p:nvSpPr>
          <p:cNvPr id="708615" name="Text Box 7"/>
          <p:cNvSpPr txBox="1">
            <a:spLocks noChangeArrowheads="1"/>
          </p:cNvSpPr>
          <p:nvPr/>
        </p:nvSpPr>
        <p:spPr bwMode="auto">
          <a:xfrm>
            <a:off x="395536" y="5661248"/>
            <a:ext cx="8229600" cy="461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 sz="2400" dirty="0">
                <a:solidFill>
                  <a:srgbClr val="0000FF"/>
                </a:solidFill>
              </a:rPr>
              <a:t>Per codificare il file occorrono 120 </a:t>
            </a:r>
            <a:r>
              <a:rPr lang="it-IT" sz="2400" dirty="0">
                <a:solidFill>
                  <a:srgbClr val="0000FF"/>
                </a:solidFill>
                <a:sym typeface="Symbol" charset="0"/>
              </a:rPr>
              <a:t></a:t>
            </a:r>
            <a:r>
              <a:rPr lang="it-IT" sz="2400" dirty="0">
                <a:solidFill>
                  <a:srgbClr val="0000FF"/>
                </a:solidFill>
              </a:rPr>
              <a:t> 3 = 360 </a:t>
            </a:r>
            <a:r>
              <a:rPr lang="it-IT" sz="2400" dirty="0" smtClean="0">
                <a:solidFill>
                  <a:srgbClr val="0000FF"/>
                </a:solidFill>
              </a:rPr>
              <a:t>bit </a:t>
            </a:r>
            <a:endParaRPr lang="it-IT" sz="2400" dirty="0">
              <a:solidFill>
                <a:srgbClr val="0000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ESEMPIO: Codici di </a:t>
            </a:r>
            <a:r>
              <a:rPr lang="it-IT" dirty="0" err="1">
                <a:solidFill>
                  <a:srgbClr val="FF0000"/>
                </a:solidFill>
              </a:rPr>
              <a:t>Huffman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8615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658" name="Text Box 2"/>
          <p:cNvSpPr txBox="1">
            <a:spLocks noChangeArrowheads="1"/>
          </p:cNvSpPr>
          <p:nvPr/>
        </p:nvSpPr>
        <p:spPr bwMode="auto">
          <a:xfrm>
            <a:off x="539552" y="1412776"/>
            <a:ext cx="8229600" cy="1200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 sz="2400" dirty="0">
                <a:solidFill>
                  <a:srgbClr val="0000FF"/>
                </a:solidFill>
              </a:rPr>
              <a:t>Possiamo fare meglio con un codice a lunghezza variabile che assegni codici più corti ai caratteri più frequenti. Ad esempio con il codice</a:t>
            </a:r>
          </a:p>
        </p:txBody>
      </p:sp>
      <p:sp>
        <p:nvSpPr>
          <p:cNvPr id="710659" name="Text Box 3"/>
          <p:cNvSpPr txBox="1">
            <a:spLocks noChangeArrowheads="1"/>
          </p:cNvSpPr>
          <p:nvPr/>
        </p:nvSpPr>
        <p:spPr bwMode="auto">
          <a:xfrm>
            <a:off x="762000" y="2743200"/>
            <a:ext cx="7543800" cy="103187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 sz="2000" b="1">
                <a:latin typeface="Courier New" charset="0"/>
                <a:sym typeface="Symbol" charset="0"/>
              </a:rPr>
              <a:t>carattere     a     b     c     d     e     f</a:t>
            </a:r>
          </a:p>
          <a:p>
            <a:r>
              <a:rPr lang="it-IT" sz="2000" b="1">
                <a:latin typeface="Courier New" charset="0"/>
                <a:sym typeface="Symbol" charset="0"/>
              </a:rPr>
              <a:t>frequenza    57    13    12    24     9     5</a:t>
            </a:r>
          </a:p>
          <a:p>
            <a:r>
              <a:rPr lang="it-IT" sz="2000" b="1">
                <a:latin typeface="Courier New" charset="0"/>
                <a:sym typeface="Symbol" charset="0"/>
              </a:rPr>
              <a:t>cod. var.     0   101   100   111  1101  1100</a:t>
            </a:r>
          </a:p>
        </p:txBody>
      </p:sp>
      <p:sp>
        <p:nvSpPr>
          <p:cNvPr id="710660" name="Text Box 4"/>
          <p:cNvSpPr txBox="1">
            <a:spLocks noChangeArrowheads="1"/>
          </p:cNvSpPr>
          <p:nvPr/>
        </p:nvSpPr>
        <p:spPr bwMode="auto">
          <a:xfrm>
            <a:off x="539552" y="4293096"/>
            <a:ext cx="7924800" cy="461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 sz="2400" dirty="0">
                <a:solidFill>
                  <a:srgbClr val="0000FF"/>
                </a:solidFill>
              </a:rPr>
              <a:t>b</a:t>
            </a:r>
            <a:r>
              <a:rPr lang="it-IT" sz="2400" dirty="0" smtClean="0">
                <a:solidFill>
                  <a:srgbClr val="0000FF"/>
                </a:solidFill>
              </a:rPr>
              <a:t>astano </a:t>
            </a:r>
            <a:r>
              <a:rPr lang="it-IT" sz="2400" dirty="0">
                <a:solidFill>
                  <a:srgbClr val="0000FF"/>
                </a:solidFill>
              </a:rPr>
              <a:t>57 </a:t>
            </a:r>
            <a:r>
              <a:rPr lang="it-IT" sz="2400" dirty="0">
                <a:solidFill>
                  <a:srgbClr val="0000FF"/>
                </a:solidFill>
                <a:sym typeface="Symbol" charset="0"/>
              </a:rPr>
              <a:t> </a:t>
            </a:r>
            <a:r>
              <a:rPr lang="it-IT" sz="2400" dirty="0">
                <a:solidFill>
                  <a:srgbClr val="0000FF"/>
                </a:solidFill>
              </a:rPr>
              <a:t>1 + 49 </a:t>
            </a:r>
            <a:r>
              <a:rPr lang="it-IT" sz="2400" dirty="0">
                <a:solidFill>
                  <a:srgbClr val="0000FF"/>
                </a:solidFill>
                <a:sym typeface="Symbol" charset="0"/>
              </a:rPr>
              <a:t></a:t>
            </a:r>
            <a:r>
              <a:rPr lang="it-IT" sz="2400" dirty="0">
                <a:solidFill>
                  <a:srgbClr val="0000FF"/>
                </a:solidFill>
              </a:rPr>
              <a:t> 3 + 14 </a:t>
            </a:r>
            <a:r>
              <a:rPr lang="it-IT" sz="2400" dirty="0">
                <a:solidFill>
                  <a:srgbClr val="0000FF"/>
                </a:solidFill>
                <a:sym typeface="Symbol" charset="0"/>
              </a:rPr>
              <a:t></a:t>
            </a:r>
            <a:r>
              <a:rPr lang="it-IT" sz="2400" dirty="0">
                <a:solidFill>
                  <a:srgbClr val="0000FF"/>
                </a:solidFill>
              </a:rPr>
              <a:t> 4 = 260 </a:t>
            </a:r>
            <a:r>
              <a:rPr lang="it-IT" sz="2400" dirty="0" smtClean="0">
                <a:solidFill>
                  <a:srgbClr val="0000FF"/>
                </a:solidFill>
              </a:rPr>
              <a:t>bit</a:t>
            </a:r>
            <a:endParaRPr lang="it-IT" sz="2400" dirty="0">
              <a:solidFill>
                <a:srgbClr val="0000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ESEMPIO: Codici di </a:t>
            </a:r>
            <a:r>
              <a:rPr lang="it-IT" dirty="0" err="1">
                <a:solidFill>
                  <a:srgbClr val="FF0000"/>
                </a:solidFill>
              </a:rPr>
              <a:t>Huffman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0659" grpId="0" animBg="1" autoUpdateAnimBg="0"/>
      <p:bldP spid="710660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Codici prefissi</a:t>
            </a:r>
            <a:endParaRPr lang="it-IT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Un </a:t>
            </a:r>
            <a:r>
              <a:rPr lang="it-IT" i="1" u="sng" dirty="0">
                <a:solidFill>
                  <a:srgbClr val="FF0000"/>
                </a:solidFill>
              </a:rPr>
              <a:t>codice prefisso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è un codice in cui nessuna parola codice è prefisso (parte iniziale) di </a:t>
            </a:r>
            <a:r>
              <a:rPr lang="it-IT" dirty="0" smtClean="0"/>
              <a:t>un’altra</a:t>
            </a:r>
            <a:endParaRPr lang="it-IT" dirty="0"/>
          </a:p>
          <a:p>
            <a:r>
              <a:rPr lang="it-IT" dirty="0"/>
              <a:t>Ogni codice a lunghezza fissa è ovviamente </a:t>
            </a:r>
            <a:r>
              <a:rPr lang="it-IT" dirty="0" smtClean="0"/>
              <a:t>prefisso</a:t>
            </a:r>
            <a:endParaRPr lang="it-IT" dirty="0"/>
          </a:p>
          <a:p>
            <a:r>
              <a:rPr lang="it-IT" dirty="0"/>
              <a:t>Ma anche il codice a lunghezza variabile che abbiamo appena visto è un codice </a:t>
            </a:r>
            <a:r>
              <a:rPr lang="it-IT" dirty="0" smtClean="0"/>
              <a:t>prefisso</a:t>
            </a:r>
            <a:endParaRPr lang="it-IT" dirty="0"/>
          </a:p>
          <a:p>
            <a:r>
              <a:rPr lang="it-IT" dirty="0"/>
              <a:t>Codifica e decodifica sono particolarmente semplici con i codici </a:t>
            </a:r>
            <a:r>
              <a:rPr lang="it-IT" dirty="0" smtClean="0"/>
              <a:t>prefissi</a:t>
            </a:r>
            <a:endParaRPr lang="it-IT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706" name="Text Box 2"/>
          <p:cNvSpPr txBox="1">
            <a:spLocks noChangeArrowheads="1"/>
          </p:cNvSpPr>
          <p:nvPr/>
        </p:nvSpPr>
        <p:spPr bwMode="auto">
          <a:xfrm>
            <a:off x="467544" y="1397496"/>
            <a:ext cx="8229600" cy="461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>
                <a:solidFill>
                  <a:srgbClr val="0000FF"/>
                </a:solidFill>
              </a:rPr>
              <a:t>Con il codice prefisso</a:t>
            </a:r>
          </a:p>
        </p:txBody>
      </p:sp>
      <p:sp>
        <p:nvSpPr>
          <p:cNvPr id="712707" name="Text Box 3"/>
          <p:cNvSpPr txBox="1">
            <a:spLocks noChangeArrowheads="1"/>
          </p:cNvSpPr>
          <p:nvPr/>
        </p:nvSpPr>
        <p:spPr bwMode="auto">
          <a:xfrm>
            <a:off x="467544" y="3150096"/>
            <a:ext cx="8229600" cy="461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La codifica della stringa </a:t>
            </a:r>
            <a:r>
              <a:rPr lang="it-IT" sz="2400" b="1" dirty="0" err="1">
                <a:solidFill>
                  <a:srgbClr val="FF0000"/>
                </a:solidFill>
                <a:latin typeface="Courier New" charset="0"/>
                <a:sym typeface="Symbol" charset="0"/>
              </a:rPr>
              <a:t>abc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è </a:t>
            </a:r>
            <a:r>
              <a:rPr lang="it-IT" sz="2400" b="1" dirty="0">
                <a:solidFill>
                  <a:srgbClr val="FF0000"/>
                </a:solidFill>
                <a:latin typeface="Courier New" charset="0"/>
                <a:sym typeface="Symbol" charset="0"/>
              </a:rPr>
              <a:t>0101</a:t>
            </a:r>
            <a:r>
              <a:rPr lang="it-IT" sz="2400" b="1" dirty="0" smtClean="0">
                <a:solidFill>
                  <a:srgbClr val="FF0000"/>
                </a:solidFill>
                <a:latin typeface="Courier New" charset="0"/>
                <a:sym typeface="Symbol" charset="0"/>
              </a:rPr>
              <a:t>100</a:t>
            </a:r>
            <a:endParaRPr lang="it-IT" sz="2400" dirty="0">
              <a:solidFill>
                <a:srgbClr val="FF0000"/>
              </a:solidFill>
            </a:endParaRPr>
          </a:p>
        </p:txBody>
      </p:sp>
      <p:sp>
        <p:nvSpPr>
          <p:cNvPr id="712708" name="Text Box 4"/>
          <p:cNvSpPr txBox="1">
            <a:spLocks noChangeArrowheads="1"/>
          </p:cNvSpPr>
          <p:nvPr/>
        </p:nvSpPr>
        <p:spPr bwMode="auto">
          <a:xfrm>
            <a:off x="696144" y="2235696"/>
            <a:ext cx="7543800" cy="72707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 sz="2000" b="1">
                <a:latin typeface="Courier New" charset="0"/>
                <a:sym typeface="Symbol" charset="0"/>
              </a:rPr>
              <a:t>carattere     a     b     c     d     e     f</a:t>
            </a:r>
          </a:p>
          <a:p>
            <a:r>
              <a:rPr lang="it-IT" sz="2000" b="1">
                <a:latin typeface="Courier New" charset="0"/>
                <a:sym typeface="Symbol" charset="0"/>
              </a:rPr>
              <a:t>cod. var.     0   101   100   111  1101  1100</a:t>
            </a:r>
          </a:p>
        </p:txBody>
      </p:sp>
      <p:sp>
        <p:nvSpPr>
          <p:cNvPr id="712709" name="Text Box 5"/>
          <p:cNvSpPr txBox="1">
            <a:spLocks noChangeArrowheads="1"/>
          </p:cNvSpPr>
          <p:nvPr/>
        </p:nvSpPr>
        <p:spPr bwMode="auto">
          <a:xfrm>
            <a:off x="467544" y="4293096"/>
            <a:ext cx="8229600" cy="1754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La decodifica è pure </a:t>
            </a:r>
            <a:r>
              <a:rPr lang="it-IT" sz="2400" dirty="0" smtClean="0">
                <a:solidFill>
                  <a:srgbClr val="0000FF"/>
                </a:solidFill>
              </a:rPr>
              <a:t>semplice</a:t>
            </a:r>
            <a:endParaRPr lang="it-IT" sz="2400" dirty="0">
              <a:solidFill>
                <a:srgbClr val="0000FF"/>
              </a:solidFill>
            </a:endParaRPr>
          </a:p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Siccome nessuna parola codice è prefisso di un’altra, la prima parola codice del file codificato risulta univocamente </a:t>
            </a:r>
            <a:r>
              <a:rPr lang="it-IT" sz="2400" dirty="0" smtClean="0">
                <a:solidFill>
                  <a:srgbClr val="0000FF"/>
                </a:solidFill>
              </a:rPr>
              <a:t>determinata </a:t>
            </a:r>
            <a:endParaRPr lang="it-IT" sz="2400" dirty="0">
              <a:solidFill>
                <a:srgbClr val="0000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Codici prefissi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2709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Text Box 2"/>
          <p:cNvSpPr txBox="1">
            <a:spLocks noChangeArrowheads="1"/>
          </p:cNvSpPr>
          <p:nvPr/>
        </p:nvSpPr>
        <p:spPr bwMode="auto">
          <a:xfrm>
            <a:off x="539552" y="1340768"/>
            <a:ext cx="8229600" cy="4401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it-IT" sz="2800" dirty="0">
                <a:solidFill>
                  <a:srgbClr val="0000FF"/>
                </a:solidFill>
                <a:latin typeface="+mn-lt"/>
              </a:rPr>
              <a:t>Per la decodifica basta quindi:</a:t>
            </a: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it-IT" sz="2800" dirty="0">
                <a:solidFill>
                  <a:srgbClr val="0000FF"/>
                </a:solidFill>
                <a:latin typeface="+mn-lt"/>
              </a:rPr>
              <a:t>individuare la prima parola codice del file </a:t>
            </a:r>
            <a:r>
              <a:rPr lang="it-IT" sz="2800" dirty="0" smtClean="0">
                <a:solidFill>
                  <a:srgbClr val="0000FF"/>
                </a:solidFill>
                <a:latin typeface="+mn-lt"/>
              </a:rPr>
              <a:t>codificato</a:t>
            </a:r>
            <a:endParaRPr lang="it-IT" sz="2800" dirty="0">
              <a:solidFill>
                <a:srgbClr val="0000FF"/>
              </a:solidFill>
              <a:latin typeface="+mn-lt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it-IT" sz="2800" dirty="0">
                <a:solidFill>
                  <a:srgbClr val="0000FF"/>
                </a:solidFill>
                <a:latin typeface="+mn-lt"/>
              </a:rPr>
              <a:t>tradurla nel carattere originale e aggiungere tale carattere al file </a:t>
            </a:r>
            <a:r>
              <a:rPr lang="it-IT" sz="2800" dirty="0" smtClean="0">
                <a:solidFill>
                  <a:srgbClr val="0000FF"/>
                </a:solidFill>
                <a:latin typeface="+mn-lt"/>
              </a:rPr>
              <a:t>decodificato</a:t>
            </a:r>
            <a:endParaRPr lang="it-IT" sz="2800" dirty="0">
              <a:solidFill>
                <a:srgbClr val="0000FF"/>
              </a:solidFill>
              <a:latin typeface="+mn-lt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it-IT" sz="2800" dirty="0">
                <a:solidFill>
                  <a:srgbClr val="0000FF"/>
                </a:solidFill>
                <a:latin typeface="+mn-lt"/>
              </a:rPr>
              <a:t>rimuovere la parola codice dal file </a:t>
            </a:r>
            <a:r>
              <a:rPr lang="it-IT" sz="2800" dirty="0" smtClean="0">
                <a:solidFill>
                  <a:srgbClr val="0000FF"/>
                </a:solidFill>
                <a:latin typeface="+mn-lt"/>
              </a:rPr>
              <a:t>codificato</a:t>
            </a:r>
            <a:endParaRPr lang="it-IT" sz="2800" dirty="0">
              <a:solidFill>
                <a:srgbClr val="0000FF"/>
              </a:solidFill>
              <a:latin typeface="+mn-lt"/>
            </a:endParaRPr>
          </a:p>
          <a:p>
            <a:pPr>
              <a:spcBef>
                <a:spcPct val="50000"/>
              </a:spcBef>
              <a:buFontTx/>
              <a:buAutoNum type="arabicPeriod"/>
            </a:pPr>
            <a:r>
              <a:rPr lang="it-IT" sz="2800" dirty="0">
                <a:solidFill>
                  <a:srgbClr val="0000FF"/>
                </a:solidFill>
                <a:latin typeface="+mn-lt"/>
              </a:rPr>
              <a:t>ripetere l’operazione per i successivi </a:t>
            </a:r>
            <a:r>
              <a:rPr lang="it-IT" sz="2800" dirty="0" smtClean="0">
                <a:solidFill>
                  <a:srgbClr val="0000FF"/>
                </a:solidFill>
                <a:latin typeface="+mn-lt"/>
              </a:rPr>
              <a:t>caratteri</a:t>
            </a:r>
            <a:endParaRPr lang="it-IT" sz="2800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Codici prefissi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54" name="Text Box 2"/>
          <p:cNvSpPr txBox="1">
            <a:spLocks noChangeArrowheads="1"/>
          </p:cNvSpPr>
          <p:nvPr/>
        </p:nvSpPr>
        <p:spPr bwMode="auto">
          <a:xfrm>
            <a:off x="477888" y="1450504"/>
            <a:ext cx="8229600" cy="523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800" dirty="0">
                <a:solidFill>
                  <a:srgbClr val="0000FF"/>
                </a:solidFill>
              </a:rPr>
              <a:t>Ad esempio con il codice</a:t>
            </a:r>
          </a:p>
        </p:txBody>
      </p:sp>
      <p:sp>
        <p:nvSpPr>
          <p:cNvPr id="714755" name="Text Box 3"/>
          <p:cNvSpPr txBox="1">
            <a:spLocks noChangeArrowheads="1"/>
          </p:cNvSpPr>
          <p:nvPr/>
        </p:nvSpPr>
        <p:spPr bwMode="auto">
          <a:xfrm>
            <a:off x="467544" y="3140968"/>
            <a:ext cx="8229600" cy="1384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800" dirty="0">
                <a:solidFill>
                  <a:srgbClr val="0000FF"/>
                </a:solidFill>
              </a:rPr>
              <a:t>la suddivisione in parole codice della stringa di bit </a:t>
            </a:r>
            <a:r>
              <a:rPr lang="it-IT" sz="2800" b="1" dirty="0">
                <a:solidFill>
                  <a:srgbClr val="FF0000"/>
                </a:solidFill>
                <a:sym typeface="Symbol" charset="0"/>
              </a:rPr>
              <a:t>001011101</a:t>
            </a:r>
            <a:r>
              <a:rPr lang="it-IT" sz="2800" dirty="0">
                <a:solidFill>
                  <a:srgbClr val="0000FF"/>
                </a:solidFill>
              </a:rPr>
              <a:t> è </a:t>
            </a:r>
            <a:r>
              <a:rPr lang="it-IT" sz="2800" b="1" dirty="0">
                <a:solidFill>
                  <a:srgbClr val="FF0000"/>
                </a:solidFill>
                <a:sym typeface="Symbol" charset="0"/>
              </a:rPr>
              <a:t>001011101</a:t>
            </a:r>
            <a:r>
              <a:rPr lang="it-IT" sz="2800" dirty="0">
                <a:solidFill>
                  <a:srgbClr val="FF0000"/>
                </a:solidFill>
              </a:rPr>
              <a:t> </a:t>
            </a:r>
            <a:r>
              <a:rPr lang="it-IT" sz="2800" dirty="0">
                <a:solidFill>
                  <a:srgbClr val="0000FF"/>
                </a:solidFill>
              </a:rPr>
              <a:t>a cui corrisponde la stringa </a:t>
            </a:r>
            <a:r>
              <a:rPr lang="it-IT" sz="2800" b="1" dirty="0" err="1" smtClean="0">
                <a:solidFill>
                  <a:srgbClr val="FF0000"/>
                </a:solidFill>
                <a:sym typeface="Symbol" charset="0"/>
              </a:rPr>
              <a:t>aabe</a:t>
            </a:r>
            <a:endParaRPr lang="it-IT" sz="2800" dirty="0">
              <a:solidFill>
                <a:srgbClr val="FF0000"/>
              </a:solidFill>
            </a:endParaRPr>
          </a:p>
        </p:txBody>
      </p:sp>
      <p:sp>
        <p:nvSpPr>
          <p:cNvPr id="714756" name="Text Box 4"/>
          <p:cNvSpPr txBox="1">
            <a:spLocks noChangeArrowheads="1"/>
          </p:cNvSpPr>
          <p:nvPr/>
        </p:nvSpPr>
        <p:spPr bwMode="auto">
          <a:xfrm>
            <a:off x="696144" y="2150368"/>
            <a:ext cx="7543800" cy="72707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 sz="2000" b="1">
                <a:latin typeface="Courier New" charset="0"/>
                <a:sym typeface="Symbol" charset="0"/>
              </a:rPr>
              <a:t>carattere     a     b     c     d     e     f</a:t>
            </a:r>
          </a:p>
          <a:p>
            <a:r>
              <a:rPr lang="it-IT" sz="2000" b="1">
                <a:latin typeface="Courier New" charset="0"/>
                <a:sym typeface="Symbol" charset="0"/>
              </a:rPr>
              <a:t>cod. var.     0   101   100   111  1101  1100</a:t>
            </a:r>
          </a:p>
        </p:txBody>
      </p:sp>
      <p:sp>
        <p:nvSpPr>
          <p:cNvPr id="714757" name="Text Box 5"/>
          <p:cNvSpPr txBox="1">
            <a:spLocks noChangeArrowheads="1"/>
          </p:cNvSpPr>
          <p:nvPr/>
        </p:nvSpPr>
        <p:spPr bwMode="auto">
          <a:xfrm>
            <a:off x="457200" y="4724400"/>
            <a:ext cx="8229600" cy="1384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800" dirty="0">
                <a:solidFill>
                  <a:srgbClr val="0000FF"/>
                </a:solidFill>
              </a:rPr>
              <a:t>Per facilitare la suddivisione del file codificato in parole codice è comodo rappresentare il codice con un albero </a:t>
            </a:r>
            <a:r>
              <a:rPr lang="it-IT" sz="2800" dirty="0" smtClean="0">
                <a:solidFill>
                  <a:srgbClr val="0000FF"/>
                </a:solidFill>
              </a:rPr>
              <a:t>binario</a:t>
            </a:r>
            <a:endParaRPr lang="it-IT" sz="2800" dirty="0">
              <a:solidFill>
                <a:srgbClr val="0000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Codici prefissi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4757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8" name="Text Box 2"/>
          <p:cNvSpPr txBox="1">
            <a:spLocks noChangeArrowheads="1"/>
          </p:cNvSpPr>
          <p:nvPr/>
        </p:nvSpPr>
        <p:spPr bwMode="auto">
          <a:xfrm>
            <a:off x="467544" y="1124744"/>
            <a:ext cx="8229600" cy="461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Ad esempio il codice a lunghezza fissa</a:t>
            </a:r>
          </a:p>
        </p:txBody>
      </p:sp>
      <p:sp>
        <p:nvSpPr>
          <p:cNvPr id="715779" name="Text Box 3"/>
          <p:cNvSpPr txBox="1">
            <a:spLocks noChangeArrowheads="1"/>
          </p:cNvSpPr>
          <p:nvPr/>
        </p:nvSpPr>
        <p:spPr bwMode="auto">
          <a:xfrm>
            <a:off x="755576" y="1700808"/>
            <a:ext cx="7391400" cy="103187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 sz="2000" b="1" dirty="0">
                <a:latin typeface="Courier New" charset="0"/>
                <a:sym typeface="Symbol" charset="0"/>
              </a:rPr>
              <a:t>carattere     a     b     c     d     e     </a:t>
            </a:r>
            <a:r>
              <a:rPr lang="it-IT" sz="2000" b="1" dirty="0" err="1">
                <a:latin typeface="Courier New" charset="0"/>
                <a:sym typeface="Symbol" charset="0"/>
              </a:rPr>
              <a:t>f</a:t>
            </a:r>
            <a:endParaRPr lang="it-IT" sz="2000" b="1" dirty="0">
              <a:latin typeface="Courier New" charset="0"/>
              <a:sym typeface="Symbol" charset="0"/>
            </a:endParaRPr>
          </a:p>
          <a:p>
            <a:r>
              <a:rPr lang="it-IT" sz="2000" b="1" dirty="0">
                <a:latin typeface="Courier New" charset="0"/>
                <a:sym typeface="Symbol" charset="0"/>
              </a:rPr>
              <a:t>frequenza    57    13    12    24     9     5</a:t>
            </a:r>
          </a:p>
          <a:p>
            <a:r>
              <a:rPr lang="it-IT" sz="2000" b="1" dirty="0">
                <a:latin typeface="Courier New" charset="0"/>
                <a:sym typeface="Symbol" charset="0"/>
              </a:rPr>
              <a:t>cod. fisso  000   001   010   011   100   101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403648" y="3212976"/>
            <a:ext cx="5936704" cy="3125688"/>
            <a:chOff x="1371600" y="2895600"/>
            <a:chExt cx="5943601" cy="3429000"/>
          </a:xfrm>
        </p:grpSpPr>
        <p:sp>
          <p:nvSpPr>
            <p:cNvPr id="715781" name="Oval 5"/>
            <p:cNvSpPr>
              <a:spLocks noChangeArrowheads="1"/>
            </p:cNvSpPr>
            <p:nvPr/>
          </p:nvSpPr>
          <p:spPr bwMode="auto">
            <a:xfrm>
              <a:off x="4595813" y="2895600"/>
              <a:ext cx="603250" cy="60483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pPr algn="ctr"/>
              <a:r>
                <a:rPr lang="it-IT" sz="2000"/>
                <a:t>120</a:t>
              </a:r>
              <a:endParaRPr lang="it-IT"/>
            </a:p>
          </p:txBody>
        </p:sp>
        <p:sp>
          <p:nvSpPr>
            <p:cNvPr id="715782" name="Oval 6"/>
            <p:cNvSpPr>
              <a:spLocks noChangeArrowheads="1"/>
            </p:cNvSpPr>
            <p:nvPr/>
          </p:nvSpPr>
          <p:spPr bwMode="auto">
            <a:xfrm>
              <a:off x="2781300" y="3803650"/>
              <a:ext cx="604838" cy="60483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pPr algn="ctr"/>
              <a:r>
                <a:rPr lang="it-IT" sz="2000"/>
                <a:t>106</a:t>
              </a:r>
              <a:endParaRPr lang="it-IT"/>
            </a:p>
          </p:txBody>
        </p:sp>
        <p:sp>
          <p:nvSpPr>
            <p:cNvPr id="715783" name="Oval 7"/>
            <p:cNvSpPr>
              <a:spLocks noChangeArrowheads="1"/>
            </p:cNvSpPr>
            <p:nvPr/>
          </p:nvSpPr>
          <p:spPr bwMode="auto">
            <a:xfrm>
              <a:off x="6710363" y="3803650"/>
              <a:ext cx="604838" cy="60483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pPr algn="ctr"/>
              <a:r>
                <a:rPr lang="it-IT" sz="2000"/>
                <a:t>14</a:t>
              </a:r>
              <a:endParaRPr lang="it-IT"/>
            </a:p>
          </p:txBody>
        </p:sp>
        <p:sp>
          <p:nvSpPr>
            <p:cNvPr id="715784" name="Oval 8"/>
            <p:cNvSpPr>
              <a:spLocks noChangeArrowheads="1"/>
            </p:cNvSpPr>
            <p:nvPr/>
          </p:nvSpPr>
          <p:spPr bwMode="auto">
            <a:xfrm>
              <a:off x="1874838" y="4711700"/>
              <a:ext cx="604838" cy="60483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pPr algn="ctr"/>
              <a:r>
                <a:rPr lang="it-IT" sz="2000"/>
                <a:t>70</a:t>
              </a:r>
              <a:endParaRPr lang="it-IT"/>
            </a:p>
          </p:txBody>
        </p:sp>
        <p:sp>
          <p:nvSpPr>
            <p:cNvPr id="715785" name="Oval 9"/>
            <p:cNvSpPr>
              <a:spLocks noChangeArrowheads="1"/>
            </p:cNvSpPr>
            <p:nvPr/>
          </p:nvSpPr>
          <p:spPr bwMode="auto">
            <a:xfrm>
              <a:off x="3789363" y="4711700"/>
              <a:ext cx="604838" cy="60483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pPr algn="ctr"/>
              <a:r>
                <a:rPr lang="it-IT" sz="2000"/>
                <a:t>36</a:t>
              </a:r>
              <a:endParaRPr lang="it-IT"/>
            </a:p>
          </p:txBody>
        </p:sp>
        <p:sp>
          <p:nvSpPr>
            <p:cNvPr id="715786" name="Oval 10"/>
            <p:cNvSpPr>
              <a:spLocks noChangeArrowheads="1"/>
            </p:cNvSpPr>
            <p:nvPr/>
          </p:nvSpPr>
          <p:spPr bwMode="auto">
            <a:xfrm>
              <a:off x="5602288" y="4711700"/>
              <a:ext cx="604838" cy="60483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pPr algn="ctr"/>
              <a:r>
                <a:rPr lang="it-IT" sz="2000"/>
                <a:t>14</a:t>
              </a:r>
              <a:endParaRPr lang="it-IT"/>
            </a:p>
          </p:txBody>
        </p:sp>
        <p:sp>
          <p:nvSpPr>
            <p:cNvPr id="715787" name="Rectangle 11"/>
            <p:cNvSpPr>
              <a:spLocks noChangeArrowheads="1"/>
            </p:cNvSpPr>
            <p:nvPr/>
          </p:nvSpPr>
          <p:spPr bwMode="auto">
            <a:xfrm>
              <a:off x="1371600" y="5921375"/>
              <a:ext cx="704850" cy="403225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a</a:t>
              </a:r>
              <a:r>
                <a:rPr lang="it-IT" sz="2000"/>
                <a:t>:57</a:t>
              </a:r>
            </a:p>
          </p:txBody>
        </p:sp>
        <p:sp>
          <p:nvSpPr>
            <p:cNvPr id="715788" name="Rectangle 12"/>
            <p:cNvSpPr>
              <a:spLocks noChangeArrowheads="1"/>
            </p:cNvSpPr>
            <p:nvPr/>
          </p:nvSpPr>
          <p:spPr bwMode="auto">
            <a:xfrm>
              <a:off x="6107113" y="5921375"/>
              <a:ext cx="704850" cy="403225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f</a:t>
              </a:r>
              <a:r>
                <a:rPr lang="it-IT" sz="2000"/>
                <a:t>:5</a:t>
              </a:r>
            </a:p>
          </p:txBody>
        </p:sp>
        <p:sp>
          <p:nvSpPr>
            <p:cNvPr id="715789" name="Rectangle 13"/>
            <p:cNvSpPr>
              <a:spLocks noChangeArrowheads="1"/>
            </p:cNvSpPr>
            <p:nvPr/>
          </p:nvSpPr>
          <p:spPr bwMode="auto">
            <a:xfrm>
              <a:off x="5199063" y="5921375"/>
              <a:ext cx="706438" cy="403225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e</a:t>
              </a:r>
              <a:r>
                <a:rPr lang="it-IT" sz="2000"/>
                <a:t>:9</a:t>
              </a:r>
            </a:p>
          </p:txBody>
        </p:sp>
        <p:sp>
          <p:nvSpPr>
            <p:cNvPr id="715790" name="Rectangle 14"/>
            <p:cNvSpPr>
              <a:spLocks noChangeArrowheads="1"/>
            </p:cNvSpPr>
            <p:nvPr/>
          </p:nvSpPr>
          <p:spPr bwMode="auto">
            <a:xfrm>
              <a:off x="4192588" y="5921375"/>
              <a:ext cx="704850" cy="403225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d</a:t>
              </a:r>
              <a:r>
                <a:rPr lang="it-IT" sz="2000"/>
                <a:t>:24</a:t>
              </a:r>
            </a:p>
          </p:txBody>
        </p:sp>
        <p:sp>
          <p:nvSpPr>
            <p:cNvPr id="715791" name="Rectangle 15"/>
            <p:cNvSpPr>
              <a:spLocks noChangeArrowheads="1"/>
            </p:cNvSpPr>
            <p:nvPr/>
          </p:nvSpPr>
          <p:spPr bwMode="auto">
            <a:xfrm>
              <a:off x="3286125" y="5921375"/>
              <a:ext cx="704850" cy="403225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c</a:t>
              </a:r>
              <a:r>
                <a:rPr lang="it-IT" sz="2000"/>
                <a:t>:12</a:t>
              </a:r>
            </a:p>
          </p:txBody>
        </p:sp>
        <p:sp>
          <p:nvSpPr>
            <p:cNvPr id="715792" name="Rectangle 16"/>
            <p:cNvSpPr>
              <a:spLocks noChangeArrowheads="1"/>
            </p:cNvSpPr>
            <p:nvPr/>
          </p:nvSpPr>
          <p:spPr bwMode="auto">
            <a:xfrm>
              <a:off x="2278063" y="5921375"/>
              <a:ext cx="704850" cy="403225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b</a:t>
              </a:r>
              <a:r>
                <a:rPr lang="it-IT" sz="2000"/>
                <a:t>:13</a:t>
              </a:r>
            </a:p>
          </p:txBody>
        </p:sp>
        <p:sp>
          <p:nvSpPr>
            <p:cNvPr id="715793" name="Line 17"/>
            <p:cNvSpPr>
              <a:spLocks noChangeShapeType="1"/>
            </p:cNvSpPr>
            <p:nvPr/>
          </p:nvSpPr>
          <p:spPr bwMode="auto">
            <a:xfrm>
              <a:off x="2379663" y="5316538"/>
              <a:ext cx="301625" cy="6048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endParaRPr lang="en-US" sz="2400"/>
            </a:p>
          </p:txBody>
        </p:sp>
        <p:sp>
          <p:nvSpPr>
            <p:cNvPr id="715794" name="Line 18"/>
            <p:cNvSpPr>
              <a:spLocks noChangeShapeType="1"/>
            </p:cNvSpPr>
            <p:nvPr/>
          </p:nvSpPr>
          <p:spPr bwMode="auto">
            <a:xfrm>
              <a:off x="4192588" y="5316538"/>
              <a:ext cx="301625" cy="6048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endParaRPr lang="en-US" sz="2400"/>
            </a:p>
          </p:txBody>
        </p:sp>
        <p:sp>
          <p:nvSpPr>
            <p:cNvPr id="715795" name="Line 19"/>
            <p:cNvSpPr>
              <a:spLocks noChangeShapeType="1"/>
            </p:cNvSpPr>
            <p:nvPr/>
          </p:nvSpPr>
          <p:spPr bwMode="auto">
            <a:xfrm>
              <a:off x="6107113" y="5316538"/>
              <a:ext cx="301625" cy="6048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endParaRPr lang="en-US" sz="2400"/>
            </a:p>
          </p:txBody>
        </p:sp>
        <p:sp>
          <p:nvSpPr>
            <p:cNvPr id="715796" name="Line 20"/>
            <p:cNvSpPr>
              <a:spLocks noChangeShapeType="1"/>
            </p:cNvSpPr>
            <p:nvPr/>
          </p:nvSpPr>
          <p:spPr bwMode="auto">
            <a:xfrm flipH="1">
              <a:off x="1673225" y="5316538"/>
              <a:ext cx="303213" cy="6048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endParaRPr lang="en-US" sz="2400"/>
            </a:p>
          </p:txBody>
        </p:sp>
        <p:sp>
          <p:nvSpPr>
            <p:cNvPr id="715797" name="Line 21"/>
            <p:cNvSpPr>
              <a:spLocks noChangeShapeType="1"/>
            </p:cNvSpPr>
            <p:nvPr/>
          </p:nvSpPr>
          <p:spPr bwMode="auto">
            <a:xfrm flipH="1">
              <a:off x="3587750" y="5316538"/>
              <a:ext cx="301625" cy="6048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endParaRPr lang="en-US" sz="2400"/>
            </a:p>
          </p:txBody>
        </p:sp>
        <p:sp>
          <p:nvSpPr>
            <p:cNvPr id="715798" name="Line 22"/>
            <p:cNvSpPr>
              <a:spLocks noChangeShapeType="1"/>
            </p:cNvSpPr>
            <p:nvPr/>
          </p:nvSpPr>
          <p:spPr bwMode="auto">
            <a:xfrm flipH="1">
              <a:off x="5502275" y="5316538"/>
              <a:ext cx="301625" cy="6048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endParaRPr lang="en-US" sz="2400"/>
            </a:p>
          </p:txBody>
        </p:sp>
        <p:sp>
          <p:nvSpPr>
            <p:cNvPr id="715799" name="Line 23"/>
            <p:cNvSpPr>
              <a:spLocks noChangeShapeType="1"/>
            </p:cNvSpPr>
            <p:nvPr/>
          </p:nvSpPr>
          <p:spPr bwMode="auto">
            <a:xfrm flipH="1">
              <a:off x="2379663" y="4306888"/>
              <a:ext cx="503238" cy="5048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endParaRPr lang="en-US" sz="2400"/>
            </a:p>
          </p:txBody>
        </p:sp>
        <p:sp>
          <p:nvSpPr>
            <p:cNvPr id="715800" name="Line 24"/>
            <p:cNvSpPr>
              <a:spLocks noChangeShapeType="1"/>
            </p:cNvSpPr>
            <p:nvPr/>
          </p:nvSpPr>
          <p:spPr bwMode="auto">
            <a:xfrm flipH="1">
              <a:off x="6107113" y="4306888"/>
              <a:ext cx="603250" cy="5048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endParaRPr lang="en-US" sz="2400"/>
            </a:p>
          </p:txBody>
        </p:sp>
        <p:sp>
          <p:nvSpPr>
            <p:cNvPr id="715801" name="Line 25"/>
            <p:cNvSpPr>
              <a:spLocks noChangeShapeType="1"/>
            </p:cNvSpPr>
            <p:nvPr/>
          </p:nvSpPr>
          <p:spPr bwMode="auto">
            <a:xfrm>
              <a:off x="3286125" y="4306888"/>
              <a:ext cx="603250" cy="5048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endParaRPr lang="en-US" sz="2400"/>
            </a:p>
          </p:txBody>
        </p:sp>
        <p:sp>
          <p:nvSpPr>
            <p:cNvPr id="715802" name="Line 26"/>
            <p:cNvSpPr>
              <a:spLocks noChangeShapeType="1"/>
            </p:cNvSpPr>
            <p:nvPr/>
          </p:nvSpPr>
          <p:spPr bwMode="auto">
            <a:xfrm>
              <a:off x="5199063" y="3400425"/>
              <a:ext cx="1511300" cy="6048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endParaRPr lang="en-US" sz="2400"/>
            </a:p>
          </p:txBody>
        </p:sp>
        <p:sp>
          <p:nvSpPr>
            <p:cNvPr id="715803" name="Line 27"/>
            <p:cNvSpPr>
              <a:spLocks noChangeShapeType="1"/>
            </p:cNvSpPr>
            <p:nvPr/>
          </p:nvSpPr>
          <p:spPr bwMode="auto">
            <a:xfrm flipH="1">
              <a:off x="3386138" y="3400425"/>
              <a:ext cx="1309688" cy="6048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endParaRPr lang="en-US" sz="2400"/>
            </a:p>
          </p:txBody>
        </p:sp>
        <p:sp>
          <p:nvSpPr>
            <p:cNvPr id="715804" name="Text Box 28"/>
            <p:cNvSpPr txBox="1">
              <a:spLocks noChangeArrowheads="1"/>
            </p:cNvSpPr>
            <p:nvPr/>
          </p:nvSpPr>
          <p:spPr bwMode="auto">
            <a:xfrm>
              <a:off x="5803900" y="3198813"/>
              <a:ext cx="36195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r>
                <a:rPr lang="it-IT" sz="2000"/>
                <a:t>1</a:t>
              </a:r>
              <a:endParaRPr lang="it-IT"/>
            </a:p>
          </p:txBody>
        </p:sp>
        <p:sp>
          <p:nvSpPr>
            <p:cNvPr id="715805" name="Text Box 29"/>
            <p:cNvSpPr txBox="1">
              <a:spLocks noChangeArrowheads="1"/>
            </p:cNvSpPr>
            <p:nvPr/>
          </p:nvSpPr>
          <p:spPr bwMode="auto">
            <a:xfrm>
              <a:off x="4192588" y="5114925"/>
              <a:ext cx="36195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r>
                <a:rPr lang="it-IT" sz="2000"/>
                <a:t>1</a:t>
              </a:r>
              <a:endParaRPr lang="it-IT"/>
            </a:p>
          </p:txBody>
        </p:sp>
        <p:sp>
          <p:nvSpPr>
            <p:cNvPr id="715806" name="Text Box 30"/>
            <p:cNvSpPr txBox="1">
              <a:spLocks noChangeArrowheads="1"/>
            </p:cNvSpPr>
            <p:nvPr/>
          </p:nvSpPr>
          <p:spPr bwMode="auto">
            <a:xfrm>
              <a:off x="3487738" y="4105275"/>
              <a:ext cx="36195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r>
                <a:rPr lang="it-IT" sz="2000"/>
                <a:t>1</a:t>
              </a:r>
              <a:endParaRPr lang="it-IT"/>
            </a:p>
          </p:txBody>
        </p:sp>
        <p:sp>
          <p:nvSpPr>
            <p:cNvPr id="715807" name="Text Box 31"/>
            <p:cNvSpPr txBox="1">
              <a:spLocks noChangeArrowheads="1"/>
            </p:cNvSpPr>
            <p:nvPr/>
          </p:nvSpPr>
          <p:spPr bwMode="auto">
            <a:xfrm>
              <a:off x="2379663" y="5114925"/>
              <a:ext cx="36195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r>
                <a:rPr lang="it-IT" sz="2000"/>
                <a:t>1</a:t>
              </a:r>
              <a:endParaRPr lang="it-IT"/>
            </a:p>
          </p:txBody>
        </p:sp>
        <p:sp>
          <p:nvSpPr>
            <p:cNvPr id="715808" name="Text Box 32"/>
            <p:cNvSpPr txBox="1">
              <a:spLocks noChangeArrowheads="1"/>
            </p:cNvSpPr>
            <p:nvPr/>
          </p:nvSpPr>
          <p:spPr bwMode="auto">
            <a:xfrm>
              <a:off x="6107113" y="5114925"/>
              <a:ext cx="36195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r>
                <a:rPr lang="it-IT" sz="2000"/>
                <a:t>1</a:t>
              </a:r>
              <a:endParaRPr lang="it-IT"/>
            </a:p>
          </p:txBody>
        </p:sp>
        <p:sp>
          <p:nvSpPr>
            <p:cNvPr id="715809" name="Text Box 33"/>
            <p:cNvSpPr txBox="1">
              <a:spLocks noChangeArrowheads="1"/>
            </p:cNvSpPr>
            <p:nvPr/>
          </p:nvSpPr>
          <p:spPr bwMode="auto">
            <a:xfrm>
              <a:off x="1573213" y="5114925"/>
              <a:ext cx="36195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r>
                <a:rPr lang="it-IT" sz="2000"/>
                <a:t>0</a:t>
              </a:r>
              <a:endParaRPr lang="it-IT"/>
            </a:p>
          </p:txBody>
        </p:sp>
        <p:sp>
          <p:nvSpPr>
            <p:cNvPr id="715810" name="Text Box 34"/>
            <p:cNvSpPr txBox="1">
              <a:spLocks noChangeArrowheads="1"/>
            </p:cNvSpPr>
            <p:nvPr/>
          </p:nvSpPr>
          <p:spPr bwMode="auto">
            <a:xfrm>
              <a:off x="3487738" y="5114925"/>
              <a:ext cx="36195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r>
                <a:rPr lang="it-IT" sz="2000"/>
                <a:t>0</a:t>
              </a:r>
              <a:endParaRPr lang="it-IT"/>
            </a:p>
          </p:txBody>
        </p:sp>
        <p:sp>
          <p:nvSpPr>
            <p:cNvPr id="715811" name="Text Box 35"/>
            <p:cNvSpPr txBox="1">
              <a:spLocks noChangeArrowheads="1"/>
            </p:cNvSpPr>
            <p:nvPr/>
          </p:nvSpPr>
          <p:spPr bwMode="auto">
            <a:xfrm>
              <a:off x="5400675" y="5114925"/>
              <a:ext cx="36195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r>
                <a:rPr lang="it-IT" sz="2000"/>
                <a:t>0</a:t>
              </a:r>
              <a:endParaRPr lang="it-IT"/>
            </a:p>
          </p:txBody>
        </p:sp>
        <p:sp>
          <p:nvSpPr>
            <p:cNvPr id="715812" name="Text Box 36"/>
            <p:cNvSpPr txBox="1">
              <a:spLocks noChangeArrowheads="1"/>
            </p:cNvSpPr>
            <p:nvPr/>
          </p:nvSpPr>
          <p:spPr bwMode="auto">
            <a:xfrm>
              <a:off x="2278063" y="4105275"/>
              <a:ext cx="36195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r>
                <a:rPr lang="it-IT" sz="2000"/>
                <a:t>0</a:t>
              </a:r>
              <a:endParaRPr lang="it-IT"/>
            </a:p>
          </p:txBody>
        </p:sp>
        <p:sp>
          <p:nvSpPr>
            <p:cNvPr id="715813" name="Text Box 37"/>
            <p:cNvSpPr txBox="1">
              <a:spLocks noChangeArrowheads="1"/>
            </p:cNvSpPr>
            <p:nvPr/>
          </p:nvSpPr>
          <p:spPr bwMode="auto">
            <a:xfrm>
              <a:off x="6005513" y="4105275"/>
              <a:ext cx="36195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r>
                <a:rPr lang="it-IT" sz="2000"/>
                <a:t>0</a:t>
              </a:r>
              <a:endParaRPr lang="it-IT"/>
            </a:p>
          </p:txBody>
        </p:sp>
        <p:sp>
          <p:nvSpPr>
            <p:cNvPr id="715814" name="Text Box 38"/>
            <p:cNvSpPr txBox="1">
              <a:spLocks noChangeArrowheads="1"/>
            </p:cNvSpPr>
            <p:nvPr/>
          </p:nvSpPr>
          <p:spPr bwMode="auto">
            <a:xfrm>
              <a:off x="3789363" y="3198813"/>
              <a:ext cx="36195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17" tIns="45659" rIns="91317" bIns="45659" anchor="ctr"/>
            <a:lstStyle/>
            <a:p>
              <a:r>
                <a:rPr lang="it-IT" sz="2000"/>
                <a:t>0</a:t>
              </a:r>
              <a:endParaRPr lang="it-IT"/>
            </a:p>
          </p:txBody>
        </p:sp>
      </p:grpSp>
      <p:sp>
        <p:nvSpPr>
          <p:cNvPr id="715815" name="Text Box 39"/>
          <p:cNvSpPr txBox="1">
            <a:spLocks noChangeArrowheads="1"/>
          </p:cNvSpPr>
          <p:nvPr/>
        </p:nvSpPr>
        <p:spPr bwMode="auto">
          <a:xfrm>
            <a:off x="526976" y="2627784"/>
            <a:ext cx="822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317" tIns="45659" rIns="91317" bIns="45659" anchor="ctr"/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ha la seguente rappresentazione ad albero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Codici prefissi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26" name="Text Box 2"/>
          <p:cNvSpPr txBox="1">
            <a:spLocks noChangeArrowheads="1"/>
          </p:cNvSpPr>
          <p:nvPr/>
        </p:nvSpPr>
        <p:spPr bwMode="auto">
          <a:xfrm>
            <a:off x="611560" y="1196752"/>
            <a:ext cx="8229600" cy="461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Mentre il codice a lunghezza variabile</a:t>
            </a:r>
          </a:p>
        </p:txBody>
      </p:sp>
      <p:grpSp>
        <p:nvGrpSpPr>
          <p:cNvPr id="717827" name="Group 3"/>
          <p:cNvGrpSpPr>
            <a:grpSpLocks noChangeAspect="1"/>
          </p:cNvGrpSpPr>
          <p:nvPr/>
        </p:nvGrpSpPr>
        <p:grpSpPr bwMode="auto">
          <a:xfrm>
            <a:off x="683568" y="2996952"/>
            <a:ext cx="5945124" cy="3668268"/>
            <a:chOff x="336" y="1344"/>
            <a:chExt cx="4512" cy="2784"/>
          </a:xfrm>
        </p:grpSpPr>
        <p:sp>
          <p:nvSpPr>
            <p:cNvPr id="717828" name="Oval 4"/>
            <p:cNvSpPr>
              <a:spLocks noChangeArrowheads="1"/>
            </p:cNvSpPr>
            <p:nvPr/>
          </p:nvSpPr>
          <p:spPr bwMode="auto">
            <a:xfrm>
              <a:off x="3577" y="1978"/>
              <a:ext cx="381" cy="35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000">
                  <a:solidFill>
                    <a:srgbClr val="0000FF"/>
                  </a:solidFill>
                </a:rPr>
                <a:t>63</a:t>
              </a:r>
              <a:endParaRPr lang="it-IT">
                <a:solidFill>
                  <a:srgbClr val="0000FF"/>
                </a:solidFill>
              </a:endParaRPr>
            </a:p>
          </p:txBody>
        </p:sp>
        <p:sp>
          <p:nvSpPr>
            <p:cNvPr id="717829" name="Oval 5"/>
            <p:cNvSpPr>
              <a:spLocks noChangeArrowheads="1"/>
            </p:cNvSpPr>
            <p:nvPr/>
          </p:nvSpPr>
          <p:spPr bwMode="auto">
            <a:xfrm>
              <a:off x="2941" y="1440"/>
              <a:ext cx="381" cy="35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000">
                  <a:solidFill>
                    <a:srgbClr val="0000FF"/>
                  </a:solidFill>
                </a:rPr>
                <a:t>120</a:t>
              </a:r>
              <a:endParaRPr lang="it-IT">
                <a:solidFill>
                  <a:srgbClr val="0000FF"/>
                </a:solidFill>
              </a:endParaRPr>
            </a:p>
          </p:txBody>
        </p:sp>
        <p:sp>
          <p:nvSpPr>
            <p:cNvPr id="717830" name="Line 6"/>
            <p:cNvSpPr>
              <a:spLocks noChangeShapeType="1"/>
            </p:cNvSpPr>
            <p:nvPr/>
          </p:nvSpPr>
          <p:spPr bwMode="auto">
            <a:xfrm>
              <a:off x="3259" y="1739"/>
              <a:ext cx="381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 sz="2400">
                <a:solidFill>
                  <a:srgbClr val="0000FF"/>
                </a:solidFill>
              </a:endParaRPr>
            </a:p>
          </p:txBody>
        </p:sp>
        <p:sp>
          <p:nvSpPr>
            <p:cNvPr id="717831" name="Rectangle 7"/>
            <p:cNvSpPr>
              <a:spLocks noChangeArrowheads="1"/>
            </p:cNvSpPr>
            <p:nvPr/>
          </p:nvSpPr>
          <p:spPr bwMode="auto">
            <a:xfrm>
              <a:off x="2496" y="2097"/>
              <a:ext cx="445" cy="23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1800" b="1">
                  <a:solidFill>
                    <a:srgbClr val="0000FF"/>
                  </a:solidFill>
                  <a:latin typeface="Courier New" charset="0"/>
                  <a:sym typeface="Symbol" charset="0"/>
                </a:rPr>
                <a:t>a</a:t>
              </a:r>
              <a:r>
                <a:rPr lang="it-IT" sz="2000">
                  <a:solidFill>
                    <a:srgbClr val="0000FF"/>
                  </a:solidFill>
                </a:rPr>
                <a:t>:57</a:t>
              </a:r>
            </a:p>
          </p:txBody>
        </p:sp>
        <p:sp>
          <p:nvSpPr>
            <p:cNvPr id="717832" name="Line 8"/>
            <p:cNvSpPr>
              <a:spLocks noChangeShapeType="1"/>
            </p:cNvSpPr>
            <p:nvPr/>
          </p:nvSpPr>
          <p:spPr bwMode="auto">
            <a:xfrm flipH="1">
              <a:off x="2687" y="1739"/>
              <a:ext cx="318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 sz="2400">
                <a:solidFill>
                  <a:srgbClr val="0000FF"/>
                </a:solidFill>
              </a:endParaRPr>
            </a:p>
          </p:txBody>
        </p:sp>
        <p:sp>
          <p:nvSpPr>
            <p:cNvPr id="717833" name="Line 9"/>
            <p:cNvSpPr>
              <a:spLocks noChangeShapeType="1"/>
            </p:cNvSpPr>
            <p:nvPr/>
          </p:nvSpPr>
          <p:spPr bwMode="auto">
            <a:xfrm flipH="1">
              <a:off x="3259" y="2276"/>
              <a:ext cx="381" cy="2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 sz="2400">
                <a:solidFill>
                  <a:srgbClr val="0000FF"/>
                </a:solidFill>
              </a:endParaRPr>
            </a:p>
          </p:txBody>
        </p:sp>
        <p:sp>
          <p:nvSpPr>
            <p:cNvPr id="717834" name="Oval 10"/>
            <p:cNvSpPr>
              <a:spLocks noChangeArrowheads="1"/>
            </p:cNvSpPr>
            <p:nvPr/>
          </p:nvSpPr>
          <p:spPr bwMode="auto">
            <a:xfrm>
              <a:off x="2941" y="2515"/>
              <a:ext cx="381" cy="35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000">
                  <a:solidFill>
                    <a:srgbClr val="0000FF"/>
                  </a:solidFill>
                </a:rPr>
                <a:t>25</a:t>
              </a:r>
              <a:endParaRPr lang="it-IT">
                <a:solidFill>
                  <a:srgbClr val="0000FF"/>
                </a:solidFill>
              </a:endParaRPr>
            </a:p>
          </p:txBody>
        </p:sp>
        <p:sp>
          <p:nvSpPr>
            <p:cNvPr id="717835" name="Oval 11"/>
            <p:cNvSpPr>
              <a:spLocks noChangeArrowheads="1"/>
            </p:cNvSpPr>
            <p:nvPr/>
          </p:nvSpPr>
          <p:spPr bwMode="auto">
            <a:xfrm>
              <a:off x="4149" y="2515"/>
              <a:ext cx="381" cy="35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000">
                  <a:solidFill>
                    <a:srgbClr val="0000FF"/>
                  </a:solidFill>
                </a:rPr>
                <a:t>38</a:t>
              </a:r>
              <a:endParaRPr lang="it-IT">
                <a:solidFill>
                  <a:srgbClr val="0000FF"/>
                </a:solidFill>
              </a:endParaRPr>
            </a:p>
          </p:txBody>
        </p:sp>
        <p:sp>
          <p:nvSpPr>
            <p:cNvPr id="717836" name="Line 12"/>
            <p:cNvSpPr>
              <a:spLocks noChangeShapeType="1"/>
            </p:cNvSpPr>
            <p:nvPr/>
          </p:nvSpPr>
          <p:spPr bwMode="auto">
            <a:xfrm>
              <a:off x="3894" y="2276"/>
              <a:ext cx="318" cy="2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 sz="2400">
                <a:solidFill>
                  <a:srgbClr val="0000FF"/>
                </a:solidFill>
              </a:endParaRPr>
            </a:p>
          </p:txBody>
        </p:sp>
        <p:sp>
          <p:nvSpPr>
            <p:cNvPr id="717837" name="Line 13"/>
            <p:cNvSpPr>
              <a:spLocks noChangeShapeType="1"/>
            </p:cNvSpPr>
            <p:nvPr/>
          </p:nvSpPr>
          <p:spPr bwMode="auto">
            <a:xfrm>
              <a:off x="3195" y="2874"/>
              <a:ext cx="191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 sz="2400">
                <a:solidFill>
                  <a:srgbClr val="0000FF"/>
                </a:solidFill>
              </a:endParaRPr>
            </a:p>
          </p:txBody>
        </p:sp>
        <p:sp>
          <p:nvSpPr>
            <p:cNvPr id="717838" name="Line 14"/>
            <p:cNvSpPr>
              <a:spLocks noChangeShapeType="1"/>
            </p:cNvSpPr>
            <p:nvPr/>
          </p:nvSpPr>
          <p:spPr bwMode="auto">
            <a:xfrm>
              <a:off x="4467" y="2874"/>
              <a:ext cx="190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 sz="2400">
                <a:solidFill>
                  <a:srgbClr val="0000FF"/>
                </a:solidFill>
              </a:endParaRPr>
            </a:p>
          </p:txBody>
        </p:sp>
        <p:sp>
          <p:nvSpPr>
            <p:cNvPr id="717839" name="Line 15"/>
            <p:cNvSpPr>
              <a:spLocks noChangeShapeType="1"/>
            </p:cNvSpPr>
            <p:nvPr/>
          </p:nvSpPr>
          <p:spPr bwMode="auto">
            <a:xfrm flipH="1">
              <a:off x="2877" y="2874"/>
              <a:ext cx="191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 sz="2400">
                <a:solidFill>
                  <a:srgbClr val="0000FF"/>
                </a:solidFill>
              </a:endParaRPr>
            </a:p>
          </p:txBody>
        </p:sp>
        <p:sp>
          <p:nvSpPr>
            <p:cNvPr id="717840" name="Line 16"/>
            <p:cNvSpPr>
              <a:spLocks noChangeShapeType="1"/>
            </p:cNvSpPr>
            <p:nvPr/>
          </p:nvSpPr>
          <p:spPr bwMode="auto">
            <a:xfrm flipH="1">
              <a:off x="4085" y="2874"/>
              <a:ext cx="191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 sz="2400">
                <a:solidFill>
                  <a:srgbClr val="0000FF"/>
                </a:solidFill>
              </a:endParaRPr>
            </a:p>
          </p:txBody>
        </p:sp>
        <p:sp>
          <p:nvSpPr>
            <p:cNvPr id="717841" name="Oval 17"/>
            <p:cNvSpPr>
              <a:spLocks noChangeArrowheads="1"/>
            </p:cNvSpPr>
            <p:nvPr/>
          </p:nvSpPr>
          <p:spPr bwMode="auto">
            <a:xfrm>
              <a:off x="3831" y="3172"/>
              <a:ext cx="381" cy="35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000">
                  <a:solidFill>
                    <a:srgbClr val="0000FF"/>
                  </a:solidFill>
                </a:rPr>
                <a:t>14</a:t>
              </a:r>
              <a:endParaRPr lang="it-IT">
                <a:solidFill>
                  <a:srgbClr val="0000FF"/>
                </a:solidFill>
              </a:endParaRPr>
            </a:p>
          </p:txBody>
        </p:sp>
        <p:sp>
          <p:nvSpPr>
            <p:cNvPr id="717842" name="Line 18"/>
            <p:cNvSpPr>
              <a:spLocks noChangeShapeType="1"/>
            </p:cNvSpPr>
            <p:nvPr/>
          </p:nvSpPr>
          <p:spPr bwMode="auto">
            <a:xfrm flipH="1">
              <a:off x="3704" y="3531"/>
              <a:ext cx="190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 sz="2400">
                <a:solidFill>
                  <a:srgbClr val="0000FF"/>
                </a:solidFill>
              </a:endParaRPr>
            </a:p>
          </p:txBody>
        </p:sp>
        <p:sp>
          <p:nvSpPr>
            <p:cNvPr id="717843" name="Line 19"/>
            <p:cNvSpPr>
              <a:spLocks noChangeShapeType="1"/>
            </p:cNvSpPr>
            <p:nvPr/>
          </p:nvSpPr>
          <p:spPr bwMode="auto">
            <a:xfrm>
              <a:off x="4149" y="3531"/>
              <a:ext cx="190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 sz="2400">
                <a:solidFill>
                  <a:srgbClr val="0000FF"/>
                </a:solidFill>
              </a:endParaRPr>
            </a:p>
          </p:txBody>
        </p:sp>
        <p:sp>
          <p:nvSpPr>
            <p:cNvPr id="717844" name="Rectangle 20"/>
            <p:cNvSpPr>
              <a:spLocks noChangeArrowheads="1"/>
            </p:cNvSpPr>
            <p:nvPr/>
          </p:nvSpPr>
          <p:spPr bwMode="auto">
            <a:xfrm>
              <a:off x="3195" y="3232"/>
              <a:ext cx="445" cy="23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1800" b="1">
                  <a:solidFill>
                    <a:srgbClr val="0000FF"/>
                  </a:solidFill>
                  <a:latin typeface="Courier New" charset="0"/>
                  <a:sym typeface="Symbol" charset="0"/>
                </a:rPr>
                <a:t>b</a:t>
              </a:r>
              <a:r>
                <a:rPr lang="it-IT" sz="2000">
                  <a:solidFill>
                    <a:srgbClr val="0000FF"/>
                  </a:solidFill>
                </a:rPr>
                <a:t>:13</a:t>
              </a:r>
            </a:p>
          </p:txBody>
        </p:sp>
        <p:sp>
          <p:nvSpPr>
            <p:cNvPr id="717845" name="Rectangle 21"/>
            <p:cNvSpPr>
              <a:spLocks noChangeArrowheads="1"/>
            </p:cNvSpPr>
            <p:nvPr/>
          </p:nvSpPr>
          <p:spPr bwMode="auto">
            <a:xfrm>
              <a:off x="2623" y="3232"/>
              <a:ext cx="445" cy="23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1800" b="1">
                  <a:solidFill>
                    <a:srgbClr val="0000FF"/>
                  </a:solidFill>
                  <a:latin typeface="Courier New" charset="0"/>
                  <a:sym typeface="Symbol" charset="0"/>
                </a:rPr>
                <a:t>c</a:t>
              </a:r>
              <a:r>
                <a:rPr lang="it-IT" sz="2000">
                  <a:solidFill>
                    <a:srgbClr val="0000FF"/>
                  </a:solidFill>
                </a:rPr>
                <a:t>:12</a:t>
              </a:r>
            </a:p>
          </p:txBody>
        </p:sp>
        <p:sp>
          <p:nvSpPr>
            <p:cNvPr id="717846" name="Rectangle 22"/>
            <p:cNvSpPr>
              <a:spLocks noChangeArrowheads="1"/>
            </p:cNvSpPr>
            <p:nvPr/>
          </p:nvSpPr>
          <p:spPr bwMode="auto">
            <a:xfrm>
              <a:off x="4403" y="3232"/>
              <a:ext cx="445" cy="23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1800" b="1">
                  <a:solidFill>
                    <a:srgbClr val="0000FF"/>
                  </a:solidFill>
                  <a:latin typeface="Courier New" charset="0"/>
                  <a:sym typeface="Symbol" charset="0"/>
                </a:rPr>
                <a:t>d</a:t>
              </a:r>
              <a:r>
                <a:rPr lang="it-IT" sz="2000">
                  <a:solidFill>
                    <a:srgbClr val="0000FF"/>
                  </a:solidFill>
                </a:rPr>
                <a:t>:24</a:t>
              </a:r>
            </a:p>
          </p:txBody>
        </p:sp>
        <p:sp>
          <p:nvSpPr>
            <p:cNvPr id="717847" name="Rectangle 23"/>
            <p:cNvSpPr>
              <a:spLocks noChangeArrowheads="1"/>
            </p:cNvSpPr>
            <p:nvPr/>
          </p:nvSpPr>
          <p:spPr bwMode="auto">
            <a:xfrm>
              <a:off x="3513" y="3889"/>
              <a:ext cx="445" cy="23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1800" b="1">
                  <a:solidFill>
                    <a:srgbClr val="0000FF"/>
                  </a:solidFill>
                  <a:latin typeface="Courier New" charset="0"/>
                  <a:sym typeface="Symbol" charset="0"/>
                </a:rPr>
                <a:t>f</a:t>
              </a:r>
              <a:r>
                <a:rPr lang="it-IT" sz="2000">
                  <a:solidFill>
                    <a:srgbClr val="0000FF"/>
                  </a:solidFill>
                </a:rPr>
                <a:t>:5</a:t>
              </a:r>
            </a:p>
          </p:txBody>
        </p:sp>
        <p:sp>
          <p:nvSpPr>
            <p:cNvPr id="717848" name="Rectangle 24"/>
            <p:cNvSpPr>
              <a:spLocks noChangeArrowheads="1"/>
            </p:cNvSpPr>
            <p:nvPr/>
          </p:nvSpPr>
          <p:spPr bwMode="auto">
            <a:xfrm>
              <a:off x="4085" y="3889"/>
              <a:ext cx="445" cy="23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1800" b="1">
                  <a:solidFill>
                    <a:srgbClr val="0000FF"/>
                  </a:solidFill>
                  <a:latin typeface="Courier New" charset="0"/>
                  <a:sym typeface="Symbol" charset="0"/>
                </a:rPr>
                <a:t>e</a:t>
              </a:r>
              <a:r>
                <a:rPr lang="it-IT" sz="2000">
                  <a:solidFill>
                    <a:srgbClr val="0000FF"/>
                  </a:solidFill>
                </a:rPr>
                <a:t>:9</a:t>
              </a:r>
            </a:p>
          </p:txBody>
        </p:sp>
        <p:sp>
          <p:nvSpPr>
            <p:cNvPr id="717849" name="Text Box 25"/>
            <p:cNvSpPr txBox="1">
              <a:spLocks noChangeArrowheads="1"/>
            </p:cNvSpPr>
            <p:nvPr/>
          </p:nvSpPr>
          <p:spPr bwMode="auto">
            <a:xfrm>
              <a:off x="2687" y="161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000">
                  <a:solidFill>
                    <a:srgbClr val="0000FF"/>
                  </a:solidFill>
                </a:rPr>
                <a:t>0</a:t>
              </a:r>
              <a:endParaRPr lang="it-IT">
                <a:solidFill>
                  <a:srgbClr val="0000FF"/>
                </a:solidFill>
              </a:endParaRPr>
            </a:p>
          </p:txBody>
        </p:sp>
        <p:sp>
          <p:nvSpPr>
            <p:cNvPr id="717850" name="Text Box 26"/>
            <p:cNvSpPr txBox="1">
              <a:spLocks noChangeArrowheads="1"/>
            </p:cNvSpPr>
            <p:nvPr/>
          </p:nvSpPr>
          <p:spPr bwMode="auto">
            <a:xfrm>
              <a:off x="3259" y="2154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000">
                  <a:solidFill>
                    <a:srgbClr val="0000FF"/>
                  </a:solidFill>
                </a:rPr>
                <a:t>0</a:t>
              </a:r>
              <a:endParaRPr lang="it-IT">
                <a:solidFill>
                  <a:srgbClr val="0000FF"/>
                </a:solidFill>
              </a:endParaRPr>
            </a:p>
          </p:txBody>
        </p:sp>
        <p:sp>
          <p:nvSpPr>
            <p:cNvPr id="717851" name="Text Box 27"/>
            <p:cNvSpPr txBox="1">
              <a:spLocks noChangeArrowheads="1"/>
            </p:cNvSpPr>
            <p:nvPr/>
          </p:nvSpPr>
          <p:spPr bwMode="auto">
            <a:xfrm>
              <a:off x="2814" y="2750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000">
                  <a:solidFill>
                    <a:srgbClr val="0000FF"/>
                  </a:solidFill>
                </a:rPr>
                <a:t>0</a:t>
              </a:r>
              <a:endParaRPr lang="it-IT">
                <a:solidFill>
                  <a:srgbClr val="0000FF"/>
                </a:solidFill>
              </a:endParaRPr>
            </a:p>
          </p:txBody>
        </p:sp>
        <p:sp>
          <p:nvSpPr>
            <p:cNvPr id="717852" name="Text Box 28"/>
            <p:cNvSpPr txBox="1">
              <a:spLocks noChangeArrowheads="1"/>
            </p:cNvSpPr>
            <p:nvPr/>
          </p:nvSpPr>
          <p:spPr bwMode="auto">
            <a:xfrm>
              <a:off x="3958" y="2750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000">
                  <a:solidFill>
                    <a:srgbClr val="0000FF"/>
                  </a:solidFill>
                </a:rPr>
                <a:t>0</a:t>
              </a:r>
              <a:endParaRPr lang="it-IT">
                <a:solidFill>
                  <a:srgbClr val="0000FF"/>
                </a:solidFill>
              </a:endParaRPr>
            </a:p>
          </p:txBody>
        </p:sp>
        <p:sp>
          <p:nvSpPr>
            <p:cNvPr id="717853" name="Text Box 29"/>
            <p:cNvSpPr txBox="1">
              <a:spLocks noChangeArrowheads="1"/>
            </p:cNvSpPr>
            <p:nvPr/>
          </p:nvSpPr>
          <p:spPr bwMode="auto">
            <a:xfrm>
              <a:off x="3640" y="3407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000">
                  <a:solidFill>
                    <a:srgbClr val="0000FF"/>
                  </a:solidFill>
                </a:rPr>
                <a:t>0</a:t>
              </a:r>
              <a:endParaRPr lang="it-IT">
                <a:solidFill>
                  <a:srgbClr val="0000FF"/>
                </a:solidFill>
              </a:endParaRPr>
            </a:p>
          </p:txBody>
        </p:sp>
        <p:sp>
          <p:nvSpPr>
            <p:cNvPr id="717854" name="Text Box 30"/>
            <p:cNvSpPr txBox="1">
              <a:spLocks noChangeArrowheads="1"/>
            </p:cNvSpPr>
            <p:nvPr/>
          </p:nvSpPr>
          <p:spPr bwMode="auto">
            <a:xfrm>
              <a:off x="3386" y="161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000">
                  <a:solidFill>
                    <a:srgbClr val="0000FF"/>
                  </a:solidFill>
                </a:rPr>
                <a:t>1</a:t>
              </a:r>
              <a:endParaRPr lang="it-IT">
                <a:solidFill>
                  <a:srgbClr val="0000FF"/>
                </a:solidFill>
              </a:endParaRPr>
            </a:p>
          </p:txBody>
        </p:sp>
        <p:sp>
          <p:nvSpPr>
            <p:cNvPr id="717855" name="Text Box 31"/>
            <p:cNvSpPr txBox="1">
              <a:spLocks noChangeArrowheads="1"/>
            </p:cNvSpPr>
            <p:nvPr/>
          </p:nvSpPr>
          <p:spPr bwMode="auto">
            <a:xfrm>
              <a:off x="3958" y="2154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000">
                  <a:solidFill>
                    <a:srgbClr val="0000FF"/>
                  </a:solidFill>
                </a:rPr>
                <a:t>1</a:t>
              </a:r>
              <a:endParaRPr lang="it-IT">
                <a:solidFill>
                  <a:srgbClr val="0000FF"/>
                </a:solidFill>
              </a:endParaRPr>
            </a:p>
          </p:txBody>
        </p:sp>
        <p:sp>
          <p:nvSpPr>
            <p:cNvPr id="717856" name="Text Box 32"/>
            <p:cNvSpPr txBox="1">
              <a:spLocks noChangeArrowheads="1"/>
            </p:cNvSpPr>
            <p:nvPr/>
          </p:nvSpPr>
          <p:spPr bwMode="auto">
            <a:xfrm>
              <a:off x="4467" y="2750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000">
                  <a:solidFill>
                    <a:srgbClr val="0000FF"/>
                  </a:solidFill>
                </a:rPr>
                <a:t>1</a:t>
              </a:r>
              <a:endParaRPr lang="it-IT">
                <a:solidFill>
                  <a:srgbClr val="0000FF"/>
                </a:solidFill>
              </a:endParaRPr>
            </a:p>
          </p:txBody>
        </p:sp>
        <p:sp>
          <p:nvSpPr>
            <p:cNvPr id="717857" name="Text Box 33"/>
            <p:cNvSpPr txBox="1">
              <a:spLocks noChangeArrowheads="1"/>
            </p:cNvSpPr>
            <p:nvPr/>
          </p:nvSpPr>
          <p:spPr bwMode="auto">
            <a:xfrm>
              <a:off x="3195" y="2750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000">
                  <a:solidFill>
                    <a:srgbClr val="0000FF"/>
                  </a:solidFill>
                </a:rPr>
                <a:t>1</a:t>
              </a:r>
              <a:endParaRPr lang="it-IT">
                <a:solidFill>
                  <a:srgbClr val="0000FF"/>
                </a:solidFill>
              </a:endParaRPr>
            </a:p>
          </p:txBody>
        </p:sp>
        <p:sp>
          <p:nvSpPr>
            <p:cNvPr id="717858" name="Text Box 34"/>
            <p:cNvSpPr txBox="1">
              <a:spLocks noChangeArrowheads="1"/>
            </p:cNvSpPr>
            <p:nvPr/>
          </p:nvSpPr>
          <p:spPr bwMode="auto">
            <a:xfrm>
              <a:off x="4149" y="3407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000">
                  <a:solidFill>
                    <a:srgbClr val="0000FF"/>
                  </a:solidFill>
                </a:rPr>
                <a:t>1</a:t>
              </a:r>
              <a:endParaRPr lang="it-IT">
                <a:solidFill>
                  <a:srgbClr val="0000FF"/>
                </a:solidFill>
              </a:endParaRPr>
            </a:p>
          </p:txBody>
        </p:sp>
        <p:sp>
          <p:nvSpPr>
            <p:cNvPr id="717859" name="Text Box 35"/>
            <p:cNvSpPr txBox="1">
              <a:spLocks noChangeArrowheads="1"/>
            </p:cNvSpPr>
            <p:nvPr/>
          </p:nvSpPr>
          <p:spPr bwMode="auto">
            <a:xfrm>
              <a:off x="336" y="1344"/>
              <a:ext cx="225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>
                <a:spcBef>
                  <a:spcPct val="50000"/>
                </a:spcBef>
              </a:pPr>
              <a:r>
                <a:rPr lang="it-IT" sz="2400" dirty="0">
                  <a:solidFill>
                    <a:srgbClr val="0000FF"/>
                  </a:solidFill>
                </a:rPr>
                <a:t>ha rappresentazione</a:t>
              </a:r>
            </a:p>
          </p:txBody>
        </p:sp>
      </p:grpSp>
      <p:sp>
        <p:nvSpPr>
          <p:cNvPr id="717860" name="Text Box 36"/>
          <p:cNvSpPr txBox="1">
            <a:spLocks noChangeArrowheads="1"/>
          </p:cNvSpPr>
          <p:nvPr/>
        </p:nvSpPr>
        <p:spPr bwMode="auto">
          <a:xfrm>
            <a:off x="683568" y="1844824"/>
            <a:ext cx="7543800" cy="103187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 sz="2000" b="1" dirty="0">
                <a:latin typeface="Courier New" charset="0"/>
                <a:sym typeface="Symbol" charset="0"/>
              </a:rPr>
              <a:t>carattere     a     b     c     d     e     </a:t>
            </a:r>
            <a:r>
              <a:rPr lang="it-IT" sz="2000" b="1" dirty="0" err="1">
                <a:latin typeface="Courier New" charset="0"/>
                <a:sym typeface="Symbol" charset="0"/>
              </a:rPr>
              <a:t>f</a:t>
            </a:r>
            <a:endParaRPr lang="it-IT" sz="2000" b="1" dirty="0">
              <a:latin typeface="Courier New" charset="0"/>
              <a:sym typeface="Symbol" charset="0"/>
            </a:endParaRPr>
          </a:p>
          <a:p>
            <a:r>
              <a:rPr lang="it-IT" sz="2000" b="1" dirty="0">
                <a:latin typeface="Courier New" charset="0"/>
                <a:sym typeface="Symbol" charset="0"/>
              </a:rPr>
              <a:t>frequenza    57    13    12    24     9     5</a:t>
            </a:r>
          </a:p>
          <a:p>
            <a:r>
              <a:rPr lang="it-IT" sz="2000" b="1" dirty="0">
                <a:latin typeface="Courier New" charset="0"/>
                <a:sym typeface="Symbol" charset="0"/>
              </a:rPr>
              <a:t>cod. </a:t>
            </a:r>
            <a:r>
              <a:rPr lang="it-IT" sz="2000" b="1" dirty="0" err="1">
                <a:latin typeface="Courier New" charset="0"/>
                <a:sym typeface="Symbol" charset="0"/>
              </a:rPr>
              <a:t>var</a:t>
            </a:r>
            <a:r>
              <a:rPr lang="it-IT" sz="2000" b="1" dirty="0">
                <a:latin typeface="Courier New" charset="0"/>
                <a:sym typeface="Symbol" charset="0"/>
              </a:rPr>
              <a:t>.     0   101   100   111  1101  1100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Codici prefissi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Text Box 2"/>
          <p:cNvSpPr txBox="1">
            <a:spLocks noChangeArrowheads="1"/>
          </p:cNvSpPr>
          <p:nvPr/>
        </p:nvSpPr>
        <p:spPr bwMode="auto">
          <a:xfrm>
            <a:off x="683568" y="1340768"/>
            <a:ext cx="7772400" cy="830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La lunghezza in bit del file codificato con il codice rappresentato da un albero </a:t>
            </a:r>
            <a:r>
              <a:rPr lang="it-IT" sz="2400" b="1" i="1" dirty="0">
                <a:solidFill>
                  <a:srgbClr val="FF0000"/>
                </a:solidFill>
              </a:rPr>
              <a:t>T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 smtClean="0">
                <a:solidFill>
                  <a:srgbClr val="FF0000"/>
                </a:solidFill>
              </a:rPr>
              <a:t> </a:t>
            </a:r>
            <a:r>
              <a:rPr lang="it-IT" sz="2400" dirty="0" smtClean="0">
                <a:solidFill>
                  <a:srgbClr val="0000FF"/>
                </a:solidFill>
              </a:rPr>
              <a:t>è</a:t>
            </a:r>
            <a:r>
              <a:rPr lang="it-IT" sz="2400" dirty="0">
                <a:solidFill>
                  <a:srgbClr val="0000FF"/>
                </a:solidFill>
              </a:rPr>
              <a:t>:</a:t>
            </a:r>
          </a:p>
        </p:txBody>
      </p:sp>
      <p:graphicFrame>
        <p:nvGraphicFramePr>
          <p:cNvPr id="7219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0443079"/>
              </p:ext>
            </p:extLst>
          </p:nvPr>
        </p:nvGraphicFramePr>
        <p:xfrm>
          <a:off x="2483768" y="2564929"/>
          <a:ext cx="2846070" cy="853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2" name="Equation" r:id="rId4" imgW="1143000" imgH="342720" progId="Equation.3">
                  <p:embed/>
                </p:oleObj>
              </mc:Choice>
              <mc:Fallback>
                <p:oleObj name="Equation" r:id="rId4" imgW="114300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2564929"/>
                        <a:ext cx="2846070" cy="8533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1924" name="Text Box 4"/>
          <p:cNvSpPr txBox="1">
            <a:spLocks noChangeArrowheads="1"/>
          </p:cNvSpPr>
          <p:nvPr/>
        </p:nvSpPr>
        <p:spPr bwMode="auto">
          <a:xfrm>
            <a:off x="683568" y="3789040"/>
            <a:ext cx="7696200" cy="1569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in cui la sommatoria è estesa a tutti i caratteri </a:t>
            </a:r>
            <a:r>
              <a:rPr lang="it-IT" sz="2400" b="1" i="1" dirty="0">
                <a:solidFill>
                  <a:srgbClr val="FF0000"/>
                </a:solidFill>
              </a:rPr>
              <a:t>c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dell’alfabeto </a:t>
            </a:r>
            <a:r>
              <a:rPr lang="it-IT" sz="2400" b="1" i="1" dirty="0">
                <a:solidFill>
                  <a:srgbClr val="FF0000"/>
                </a:solidFill>
              </a:rPr>
              <a:t>C</a:t>
            </a:r>
            <a:r>
              <a:rPr lang="it-IT" sz="2400" dirty="0">
                <a:solidFill>
                  <a:srgbClr val="0000FF"/>
                </a:solidFill>
              </a:rPr>
              <a:t>,  </a:t>
            </a:r>
            <a:r>
              <a:rPr lang="it-IT" sz="2400" b="1" i="1" dirty="0" err="1">
                <a:solidFill>
                  <a:srgbClr val="FF0000"/>
                </a:solidFill>
              </a:rPr>
              <a:t>f</a:t>
            </a:r>
            <a:r>
              <a:rPr lang="it-IT" sz="2400" b="1" i="1" baseline="-25000" dirty="0" err="1">
                <a:solidFill>
                  <a:srgbClr val="FF0000"/>
                </a:solidFill>
              </a:rPr>
              <a:t>c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è la frequenza del carattere </a:t>
            </a:r>
            <a:r>
              <a:rPr lang="it-IT" sz="2400" b="1" i="1" dirty="0">
                <a:solidFill>
                  <a:srgbClr val="FF0000"/>
                </a:solidFill>
              </a:rPr>
              <a:t>c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e </a:t>
            </a:r>
            <a:r>
              <a:rPr lang="it-IT" sz="2400" b="1" i="1" dirty="0" err="1">
                <a:solidFill>
                  <a:srgbClr val="FF0000"/>
                </a:solidFill>
              </a:rPr>
              <a:t>d</a:t>
            </a:r>
            <a:r>
              <a:rPr lang="it-IT" sz="2400" b="1" i="1" baseline="-25000" dirty="0" err="1">
                <a:solidFill>
                  <a:srgbClr val="FF0000"/>
                </a:solidFill>
              </a:rPr>
              <a:t>T</a:t>
            </a:r>
            <a:r>
              <a:rPr lang="it-IT" sz="2400" b="1" dirty="0">
                <a:solidFill>
                  <a:srgbClr val="FF0000"/>
                </a:solidFill>
              </a:rPr>
              <a:t>(</a:t>
            </a:r>
            <a:r>
              <a:rPr lang="it-IT" sz="2400" b="1" i="1" dirty="0">
                <a:solidFill>
                  <a:srgbClr val="FF0000"/>
                </a:solidFill>
              </a:rPr>
              <a:t>c</a:t>
            </a:r>
            <a:r>
              <a:rPr lang="it-IT" sz="2400" b="1" dirty="0">
                <a:solidFill>
                  <a:srgbClr val="FF0000"/>
                </a:solidFill>
              </a:rPr>
              <a:t>)</a:t>
            </a:r>
            <a:r>
              <a:rPr lang="it-IT" sz="2400" i="1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è la profondità della foglia che rappresenta il carattere </a:t>
            </a:r>
            <a:r>
              <a:rPr lang="it-IT" sz="2400" b="1" i="1" dirty="0">
                <a:solidFill>
                  <a:srgbClr val="FF0000"/>
                </a:solidFill>
              </a:rPr>
              <a:t>c</a:t>
            </a:r>
            <a:r>
              <a:rPr lang="it-IT" sz="2400" i="1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nell’albero </a:t>
            </a:r>
            <a:r>
              <a:rPr lang="it-IT" sz="2400" b="1" i="1" dirty="0" smtClean="0">
                <a:solidFill>
                  <a:srgbClr val="FF0000"/>
                </a:solidFill>
              </a:rPr>
              <a:t>T</a:t>
            </a:r>
            <a:endParaRPr lang="it-IT" sz="2400" dirty="0">
              <a:solidFill>
                <a:srgbClr val="0000FF"/>
              </a:solidFill>
            </a:endParaRPr>
          </a:p>
        </p:txBody>
      </p:sp>
      <p:sp>
        <p:nvSpPr>
          <p:cNvPr id="72192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B(T) prima forma</a:t>
            </a:r>
            <a:endParaRPr lang="it-IT" dirty="0"/>
          </a:p>
        </p:txBody>
      </p:sp>
      <p:sp>
        <p:nvSpPr>
          <p:cNvPr id="721926" name="Text Box 6"/>
          <p:cNvSpPr txBox="1">
            <a:spLocks noChangeArrowheads="1"/>
          </p:cNvSpPr>
          <p:nvPr/>
        </p:nvSpPr>
        <p:spPr bwMode="auto">
          <a:xfrm>
            <a:off x="539552" y="5498976"/>
            <a:ext cx="8088312" cy="646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1800" b="1" u="sng"/>
              <a:t>Nota</a:t>
            </a:r>
            <a:r>
              <a:rPr lang="it-IT" sz="1800"/>
              <a:t>: assumiamo che l’alfabeto </a:t>
            </a:r>
            <a:r>
              <a:rPr lang="it-IT" sz="1800" b="1" i="1"/>
              <a:t>C</a:t>
            </a:r>
            <a:r>
              <a:rPr lang="it-IT" sz="1800"/>
              <a:t> contenga almeno due caratteri. In caso contrario basta un numero per rappresentare il file: la sua lunghezza.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970" name="Text Box 2"/>
          <p:cNvSpPr txBox="1">
            <a:spLocks noChangeArrowheads="1"/>
          </p:cNvSpPr>
          <p:nvPr/>
        </p:nvSpPr>
        <p:spPr bwMode="auto">
          <a:xfrm>
            <a:off x="755576" y="1052736"/>
            <a:ext cx="7848600" cy="461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La lunghezza in bit del file codificato è anche:</a:t>
            </a:r>
          </a:p>
        </p:txBody>
      </p:sp>
      <p:graphicFrame>
        <p:nvGraphicFramePr>
          <p:cNvPr id="7239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846152"/>
              </p:ext>
            </p:extLst>
          </p:nvPr>
        </p:nvGraphicFramePr>
        <p:xfrm>
          <a:off x="919981" y="3068233"/>
          <a:ext cx="2811780" cy="843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6" name="Equation" r:id="rId3" imgW="1143000" imgH="342720" progId="Equation.3">
                  <p:embed/>
                </p:oleObj>
              </mc:Choice>
              <mc:Fallback>
                <p:oleObj name="Equation" r:id="rId3" imgW="114300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981" y="3068233"/>
                        <a:ext cx="2811780" cy="8430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3972" name="Text Box 4"/>
          <p:cNvSpPr txBox="1">
            <a:spLocks noChangeArrowheads="1"/>
          </p:cNvSpPr>
          <p:nvPr/>
        </p:nvSpPr>
        <p:spPr bwMode="auto">
          <a:xfrm>
            <a:off x="732656" y="5506616"/>
            <a:ext cx="7696200" cy="830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in cui la sommatoria è estesa alle frequenze </a:t>
            </a:r>
            <a:r>
              <a:rPr lang="it-IT" sz="2400" b="1" i="1" dirty="0" err="1" smtClean="0">
                <a:solidFill>
                  <a:srgbClr val="FF0000"/>
                </a:solidFill>
              </a:rPr>
              <a:t>f</a:t>
            </a:r>
            <a:r>
              <a:rPr lang="it-IT" sz="2400" b="1" dirty="0" smtClean="0">
                <a:solidFill>
                  <a:srgbClr val="FF0000"/>
                </a:solidFill>
              </a:rPr>
              <a:t>[</a:t>
            </a:r>
            <a:r>
              <a:rPr lang="it-IT" sz="2400" b="1" i="1" dirty="0">
                <a:solidFill>
                  <a:srgbClr val="FF0000"/>
                </a:solidFill>
              </a:rPr>
              <a:t>x</a:t>
            </a:r>
            <a:r>
              <a:rPr lang="it-IT" sz="2400" b="1" dirty="0">
                <a:solidFill>
                  <a:srgbClr val="FF0000"/>
                </a:solidFill>
              </a:rPr>
              <a:t>]</a:t>
            </a:r>
            <a:r>
              <a:rPr lang="it-IT" sz="2400" dirty="0">
                <a:solidFill>
                  <a:srgbClr val="0000FF"/>
                </a:solidFill>
              </a:rPr>
              <a:t> di tutti i nodi </a:t>
            </a:r>
            <a:r>
              <a:rPr lang="it-IT" sz="2400" dirty="0" smtClean="0">
                <a:solidFill>
                  <a:srgbClr val="0000FF"/>
                </a:solidFill>
              </a:rPr>
              <a:t>non foglia </a:t>
            </a:r>
            <a:r>
              <a:rPr lang="it-IT" sz="2400" b="1" i="1" dirty="0" smtClean="0">
                <a:solidFill>
                  <a:srgbClr val="FF0000"/>
                </a:solidFill>
              </a:rPr>
              <a:t>x</a:t>
            </a:r>
            <a:r>
              <a:rPr lang="it-IT" sz="2400" dirty="0" smtClean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dell’albero </a:t>
            </a:r>
            <a:r>
              <a:rPr lang="it-IT" sz="2400" b="1" i="1" dirty="0" smtClean="0">
                <a:solidFill>
                  <a:srgbClr val="FF0000"/>
                </a:solidFill>
              </a:rPr>
              <a:t>T</a:t>
            </a:r>
            <a:endParaRPr lang="it-IT" sz="2400" dirty="0">
              <a:solidFill>
                <a:srgbClr val="0000FF"/>
              </a:solidFill>
            </a:endParaRPr>
          </a:p>
        </p:txBody>
      </p:sp>
      <p:grpSp>
        <p:nvGrpSpPr>
          <p:cNvPr id="723973" name="Group 5"/>
          <p:cNvGrpSpPr>
            <a:grpSpLocks/>
          </p:cNvGrpSpPr>
          <p:nvPr/>
        </p:nvGrpSpPr>
        <p:grpSpPr bwMode="auto">
          <a:xfrm>
            <a:off x="5076056" y="1772816"/>
            <a:ext cx="3124200" cy="3581400"/>
            <a:chOff x="2496" y="1440"/>
            <a:chExt cx="2352" cy="2688"/>
          </a:xfrm>
        </p:grpSpPr>
        <p:sp>
          <p:nvSpPr>
            <p:cNvPr id="723974" name="Oval 6"/>
            <p:cNvSpPr>
              <a:spLocks noChangeArrowheads="1"/>
            </p:cNvSpPr>
            <p:nvPr/>
          </p:nvSpPr>
          <p:spPr bwMode="auto">
            <a:xfrm>
              <a:off x="3577" y="1978"/>
              <a:ext cx="381" cy="35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pPr algn="ctr"/>
              <a:r>
                <a:rPr lang="it-IT" sz="2000"/>
                <a:t>63</a:t>
              </a:r>
              <a:endParaRPr lang="it-IT"/>
            </a:p>
          </p:txBody>
        </p:sp>
        <p:sp>
          <p:nvSpPr>
            <p:cNvPr id="723975" name="Oval 7"/>
            <p:cNvSpPr>
              <a:spLocks noChangeArrowheads="1"/>
            </p:cNvSpPr>
            <p:nvPr/>
          </p:nvSpPr>
          <p:spPr bwMode="auto">
            <a:xfrm>
              <a:off x="2941" y="1440"/>
              <a:ext cx="381" cy="35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pPr algn="ctr"/>
              <a:r>
                <a:rPr lang="it-IT" sz="2000"/>
                <a:t>120</a:t>
              </a:r>
              <a:endParaRPr lang="it-IT"/>
            </a:p>
          </p:txBody>
        </p:sp>
        <p:sp>
          <p:nvSpPr>
            <p:cNvPr id="723976" name="Line 8"/>
            <p:cNvSpPr>
              <a:spLocks noChangeShapeType="1"/>
            </p:cNvSpPr>
            <p:nvPr/>
          </p:nvSpPr>
          <p:spPr bwMode="auto">
            <a:xfrm>
              <a:off x="3259" y="1739"/>
              <a:ext cx="381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endParaRPr lang="en-US" sz="2800"/>
            </a:p>
          </p:txBody>
        </p:sp>
        <p:sp>
          <p:nvSpPr>
            <p:cNvPr id="723977" name="Rectangle 9"/>
            <p:cNvSpPr>
              <a:spLocks noChangeArrowheads="1"/>
            </p:cNvSpPr>
            <p:nvPr/>
          </p:nvSpPr>
          <p:spPr bwMode="auto">
            <a:xfrm>
              <a:off x="2496" y="2097"/>
              <a:ext cx="445" cy="23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a</a:t>
              </a:r>
              <a:r>
                <a:rPr lang="it-IT" sz="2000"/>
                <a:t>:57</a:t>
              </a:r>
            </a:p>
          </p:txBody>
        </p:sp>
        <p:sp>
          <p:nvSpPr>
            <p:cNvPr id="723978" name="Line 10"/>
            <p:cNvSpPr>
              <a:spLocks noChangeShapeType="1"/>
            </p:cNvSpPr>
            <p:nvPr/>
          </p:nvSpPr>
          <p:spPr bwMode="auto">
            <a:xfrm flipH="1">
              <a:off x="2687" y="1739"/>
              <a:ext cx="318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endParaRPr lang="en-US" sz="2800"/>
            </a:p>
          </p:txBody>
        </p:sp>
        <p:sp>
          <p:nvSpPr>
            <p:cNvPr id="723979" name="Line 11"/>
            <p:cNvSpPr>
              <a:spLocks noChangeShapeType="1"/>
            </p:cNvSpPr>
            <p:nvPr/>
          </p:nvSpPr>
          <p:spPr bwMode="auto">
            <a:xfrm flipH="1">
              <a:off x="3259" y="2276"/>
              <a:ext cx="381" cy="2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endParaRPr lang="en-US" sz="2800"/>
            </a:p>
          </p:txBody>
        </p:sp>
        <p:sp>
          <p:nvSpPr>
            <p:cNvPr id="723980" name="Oval 12"/>
            <p:cNvSpPr>
              <a:spLocks noChangeArrowheads="1"/>
            </p:cNvSpPr>
            <p:nvPr/>
          </p:nvSpPr>
          <p:spPr bwMode="auto">
            <a:xfrm>
              <a:off x="2941" y="2515"/>
              <a:ext cx="381" cy="35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pPr algn="ctr"/>
              <a:r>
                <a:rPr lang="it-IT" sz="2000"/>
                <a:t>25</a:t>
              </a:r>
              <a:endParaRPr lang="it-IT"/>
            </a:p>
          </p:txBody>
        </p:sp>
        <p:sp>
          <p:nvSpPr>
            <p:cNvPr id="723981" name="Oval 13"/>
            <p:cNvSpPr>
              <a:spLocks noChangeArrowheads="1"/>
            </p:cNvSpPr>
            <p:nvPr/>
          </p:nvSpPr>
          <p:spPr bwMode="auto">
            <a:xfrm>
              <a:off x="4149" y="2515"/>
              <a:ext cx="381" cy="35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pPr algn="ctr"/>
              <a:r>
                <a:rPr lang="it-IT" sz="2000" dirty="0"/>
                <a:t>38</a:t>
              </a:r>
              <a:endParaRPr lang="it-IT" dirty="0"/>
            </a:p>
          </p:txBody>
        </p:sp>
        <p:sp>
          <p:nvSpPr>
            <p:cNvPr id="723982" name="Line 14"/>
            <p:cNvSpPr>
              <a:spLocks noChangeShapeType="1"/>
            </p:cNvSpPr>
            <p:nvPr/>
          </p:nvSpPr>
          <p:spPr bwMode="auto">
            <a:xfrm>
              <a:off x="3894" y="2276"/>
              <a:ext cx="318" cy="2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endParaRPr lang="en-US" sz="2800"/>
            </a:p>
          </p:txBody>
        </p:sp>
        <p:sp>
          <p:nvSpPr>
            <p:cNvPr id="723983" name="Line 15"/>
            <p:cNvSpPr>
              <a:spLocks noChangeShapeType="1"/>
            </p:cNvSpPr>
            <p:nvPr/>
          </p:nvSpPr>
          <p:spPr bwMode="auto">
            <a:xfrm>
              <a:off x="3195" y="2874"/>
              <a:ext cx="191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endParaRPr lang="en-US" sz="2800"/>
            </a:p>
          </p:txBody>
        </p:sp>
        <p:sp>
          <p:nvSpPr>
            <p:cNvPr id="723984" name="Line 16"/>
            <p:cNvSpPr>
              <a:spLocks noChangeShapeType="1"/>
            </p:cNvSpPr>
            <p:nvPr/>
          </p:nvSpPr>
          <p:spPr bwMode="auto">
            <a:xfrm>
              <a:off x="4467" y="2874"/>
              <a:ext cx="190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endParaRPr lang="en-US" sz="2800"/>
            </a:p>
          </p:txBody>
        </p:sp>
        <p:sp>
          <p:nvSpPr>
            <p:cNvPr id="723985" name="Line 17"/>
            <p:cNvSpPr>
              <a:spLocks noChangeShapeType="1"/>
            </p:cNvSpPr>
            <p:nvPr/>
          </p:nvSpPr>
          <p:spPr bwMode="auto">
            <a:xfrm flipH="1">
              <a:off x="2877" y="2874"/>
              <a:ext cx="191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endParaRPr lang="en-US" sz="2800"/>
            </a:p>
          </p:txBody>
        </p:sp>
        <p:sp>
          <p:nvSpPr>
            <p:cNvPr id="723986" name="Line 18"/>
            <p:cNvSpPr>
              <a:spLocks noChangeShapeType="1"/>
            </p:cNvSpPr>
            <p:nvPr/>
          </p:nvSpPr>
          <p:spPr bwMode="auto">
            <a:xfrm flipH="1">
              <a:off x="4085" y="2874"/>
              <a:ext cx="191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endParaRPr lang="en-US" sz="2800"/>
            </a:p>
          </p:txBody>
        </p:sp>
        <p:sp>
          <p:nvSpPr>
            <p:cNvPr id="723987" name="Oval 19"/>
            <p:cNvSpPr>
              <a:spLocks noChangeArrowheads="1"/>
            </p:cNvSpPr>
            <p:nvPr/>
          </p:nvSpPr>
          <p:spPr bwMode="auto">
            <a:xfrm>
              <a:off x="3831" y="3172"/>
              <a:ext cx="381" cy="35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pPr algn="ctr"/>
              <a:r>
                <a:rPr lang="it-IT" sz="2000"/>
                <a:t>14</a:t>
              </a:r>
              <a:endParaRPr lang="it-IT"/>
            </a:p>
          </p:txBody>
        </p:sp>
        <p:sp>
          <p:nvSpPr>
            <p:cNvPr id="723988" name="Line 20"/>
            <p:cNvSpPr>
              <a:spLocks noChangeShapeType="1"/>
            </p:cNvSpPr>
            <p:nvPr/>
          </p:nvSpPr>
          <p:spPr bwMode="auto">
            <a:xfrm flipH="1">
              <a:off x="3704" y="3531"/>
              <a:ext cx="190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endParaRPr lang="en-US" sz="2800"/>
            </a:p>
          </p:txBody>
        </p:sp>
        <p:sp>
          <p:nvSpPr>
            <p:cNvPr id="723989" name="Line 21"/>
            <p:cNvSpPr>
              <a:spLocks noChangeShapeType="1"/>
            </p:cNvSpPr>
            <p:nvPr/>
          </p:nvSpPr>
          <p:spPr bwMode="auto">
            <a:xfrm>
              <a:off x="4149" y="3531"/>
              <a:ext cx="190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endParaRPr lang="en-US" sz="2800"/>
            </a:p>
          </p:txBody>
        </p:sp>
        <p:sp>
          <p:nvSpPr>
            <p:cNvPr id="723990" name="Rectangle 22"/>
            <p:cNvSpPr>
              <a:spLocks noChangeArrowheads="1"/>
            </p:cNvSpPr>
            <p:nvPr/>
          </p:nvSpPr>
          <p:spPr bwMode="auto">
            <a:xfrm>
              <a:off x="3195" y="3232"/>
              <a:ext cx="445" cy="23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pPr algn="ctr"/>
              <a:r>
                <a:rPr lang="it-IT" sz="1800" b="1" dirty="0">
                  <a:latin typeface="Courier New" charset="0"/>
                  <a:sym typeface="Symbol" charset="0"/>
                </a:rPr>
                <a:t>b</a:t>
              </a:r>
              <a:r>
                <a:rPr lang="it-IT" sz="2000" dirty="0"/>
                <a:t>:</a:t>
              </a:r>
              <a:r>
                <a:rPr lang="it-IT" sz="1800" dirty="0"/>
                <a:t>13</a:t>
              </a:r>
              <a:endParaRPr lang="it-IT" sz="2000" dirty="0"/>
            </a:p>
          </p:txBody>
        </p:sp>
        <p:sp>
          <p:nvSpPr>
            <p:cNvPr id="723991" name="Rectangle 23"/>
            <p:cNvSpPr>
              <a:spLocks noChangeArrowheads="1"/>
            </p:cNvSpPr>
            <p:nvPr/>
          </p:nvSpPr>
          <p:spPr bwMode="auto">
            <a:xfrm>
              <a:off x="2623" y="3232"/>
              <a:ext cx="445" cy="23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c</a:t>
              </a:r>
              <a:r>
                <a:rPr lang="it-IT" sz="2000"/>
                <a:t>:12</a:t>
              </a:r>
            </a:p>
          </p:txBody>
        </p:sp>
        <p:sp>
          <p:nvSpPr>
            <p:cNvPr id="723992" name="Rectangle 24"/>
            <p:cNvSpPr>
              <a:spLocks noChangeArrowheads="1"/>
            </p:cNvSpPr>
            <p:nvPr/>
          </p:nvSpPr>
          <p:spPr bwMode="auto">
            <a:xfrm>
              <a:off x="4403" y="3232"/>
              <a:ext cx="445" cy="23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d</a:t>
              </a:r>
              <a:r>
                <a:rPr lang="it-IT" sz="2000"/>
                <a:t>:24</a:t>
              </a:r>
            </a:p>
          </p:txBody>
        </p:sp>
        <p:sp>
          <p:nvSpPr>
            <p:cNvPr id="723993" name="Rectangle 25"/>
            <p:cNvSpPr>
              <a:spLocks noChangeArrowheads="1"/>
            </p:cNvSpPr>
            <p:nvPr/>
          </p:nvSpPr>
          <p:spPr bwMode="auto">
            <a:xfrm>
              <a:off x="3513" y="3889"/>
              <a:ext cx="445" cy="23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f</a:t>
              </a:r>
              <a:r>
                <a:rPr lang="it-IT" sz="2000"/>
                <a:t>:5</a:t>
              </a:r>
            </a:p>
          </p:txBody>
        </p:sp>
        <p:sp>
          <p:nvSpPr>
            <p:cNvPr id="723994" name="Rectangle 26"/>
            <p:cNvSpPr>
              <a:spLocks noChangeArrowheads="1"/>
            </p:cNvSpPr>
            <p:nvPr/>
          </p:nvSpPr>
          <p:spPr bwMode="auto">
            <a:xfrm>
              <a:off x="4085" y="3889"/>
              <a:ext cx="445" cy="23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e</a:t>
              </a:r>
              <a:r>
                <a:rPr lang="it-IT" sz="2000"/>
                <a:t>:9</a:t>
              </a:r>
            </a:p>
          </p:txBody>
        </p:sp>
        <p:sp>
          <p:nvSpPr>
            <p:cNvPr id="723995" name="Text Box 27"/>
            <p:cNvSpPr txBox="1">
              <a:spLocks noChangeArrowheads="1"/>
            </p:cNvSpPr>
            <p:nvPr/>
          </p:nvSpPr>
          <p:spPr bwMode="auto">
            <a:xfrm>
              <a:off x="2688" y="1654"/>
              <a:ext cx="254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r>
                <a:rPr lang="it-IT" sz="2000"/>
                <a:t>0</a:t>
              </a:r>
              <a:endParaRPr lang="it-IT"/>
            </a:p>
          </p:txBody>
        </p:sp>
        <p:sp>
          <p:nvSpPr>
            <p:cNvPr id="723996" name="Text Box 28"/>
            <p:cNvSpPr txBox="1">
              <a:spLocks noChangeArrowheads="1"/>
            </p:cNvSpPr>
            <p:nvPr/>
          </p:nvSpPr>
          <p:spPr bwMode="auto">
            <a:xfrm>
              <a:off x="3260" y="2195"/>
              <a:ext cx="253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r>
                <a:rPr lang="it-IT" sz="2000"/>
                <a:t>0</a:t>
              </a:r>
              <a:endParaRPr lang="it-IT"/>
            </a:p>
          </p:txBody>
        </p:sp>
        <p:sp>
          <p:nvSpPr>
            <p:cNvPr id="723997" name="Text Box 29"/>
            <p:cNvSpPr txBox="1">
              <a:spLocks noChangeArrowheads="1"/>
            </p:cNvSpPr>
            <p:nvPr/>
          </p:nvSpPr>
          <p:spPr bwMode="auto">
            <a:xfrm>
              <a:off x="2815" y="2794"/>
              <a:ext cx="253" cy="3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r>
                <a:rPr lang="it-IT" sz="2000"/>
                <a:t>0</a:t>
              </a:r>
              <a:endParaRPr lang="it-IT"/>
            </a:p>
          </p:txBody>
        </p:sp>
        <p:sp>
          <p:nvSpPr>
            <p:cNvPr id="723998" name="Text Box 30"/>
            <p:cNvSpPr txBox="1">
              <a:spLocks noChangeArrowheads="1"/>
            </p:cNvSpPr>
            <p:nvPr/>
          </p:nvSpPr>
          <p:spPr bwMode="auto">
            <a:xfrm>
              <a:off x="3959" y="2794"/>
              <a:ext cx="253" cy="3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r>
                <a:rPr lang="it-IT" sz="2000"/>
                <a:t>0</a:t>
              </a:r>
              <a:endParaRPr lang="it-IT"/>
            </a:p>
          </p:txBody>
        </p:sp>
        <p:sp>
          <p:nvSpPr>
            <p:cNvPr id="723999" name="Text Box 31"/>
            <p:cNvSpPr txBox="1">
              <a:spLocks noChangeArrowheads="1"/>
            </p:cNvSpPr>
            <p:nvPr/>
          </p:nvSpPr>
          <p:spPr bwMode="auto">
            <a:xfrm>
              <a:off x="3640" y="3446"/>
              <a:ext cx="253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r>
                <a:rPr lang="it-IT" sz="2000"/>
                <a:t>0</a:t>
              </a:r>
              <a:endParaRPr lang="it-IT"/>
            </a:p>
          </p:txBody>
        </p:sp>
        <p:sp>
          <p:nvSpPr>
            <p:cNvPr id="724000" name="Text Box 32"/>
            <p:cNvSpPr txBox="1">
              <a:spLocks noChangeArrowheads="1"/>
            </p:cNvSpPr>
            <p:nvPr/>
          </p:nvSpPr>
          <p:spPr bwMode="auto">
            <a:xfrm>
              <a:off x="3385" y="1654"/>
              <a:ext cx="254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r>
                <a:rPr lang="it-IT" sz="2000"/>
                <a:t>1</a:t>
              </a:r>
              <a:endParaRPr lang="it-IT"/>
            </a:p>
          </p:txBody>
        </p:sp>
        <p:sp>
          <p:nvSpPr>
            <p:cNvPr id="724001" name="Text Box 33"/>
            <p:cNvSpPr txBox="1">
              <a:spLocks noChangeArrowheads="1"/>
            </p:cNvSpPr>
            <p:nvPr/>
          </p:nvSpPr>
          <p:spPr bwMode="auto">
            <a:xfrm>
              <a:off x="3959" y="2195"/>
              <a:ext cx="253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r>
                <a:rPr lang="it-IT" sz="2000"/>
                <a:t>1</a:t>
              </a:r>
              <a:endParaRPr lang="it-IT"/>
            </a:p>
          </p:txBody>
        </p:sp>
        <p:sp>
          <p:nvSpPr>
            <p:cNvPr id="724002" name="Text Box 34"/>
            <p:cNvSpPr txBox="1">
              <a:spLocks noChangeArrowheads="1"/>
            </p:cNvSpPr>
            <p:nvPr/>
          </p:nvSpPr>
          <p:spPr bwMode="auto">
            <a:xfrm>
              <a:off x="4466" y="2794"/>
              <a:ext cx="253" cy="3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r>
                <a:rPr lang="it-IT" sz="2000"/>
                <a:t>1</a:t>
              </a:r>
              <a:endParaRPr lang="it-IT"/>
            </a:p>
          </p:txBody>
        </p:sp>
        <p:sp>
          <p:nvSpPr>
            <p:cNvPr id="724003" name="Text Box 35"/>
            <p:cNvSpPr txBox="1">
              <a:spLocks noChangeArrowheads="1"/>
            </p:cNvSpPr>
            <p:nvPr/>
          </p:nvSpPr>
          <p:spPr bwMode="auto">
            <a:xfrm>
              <a:off x="3195" y="2794"/>
              <a:ext cx="254" cy="3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r>
                <a:rPr lang="it-IT" sz="2000"/>
                <a:t>1</a:t>
              </a:r>
              <a:endParaRPr lang="it-IT"/>
            </a:p>
          </p:txBody>
        </p:sp>
        <p:sp>
          <p:nvSpPr>
            <p:cNvPr id="724004" name="Text Box 36"/>
            <p:cNvSpPr txBox="1">
              <a:spLocks noChangeArrowheads="1"/>
            </p:cNvSpPr>
            <p:nvPr/>
          </p:nvSpPr>
          <p:spPr bwMode="auto">
            <a:xfrm>
              <a:off x="4149" y="3446"/>
              <a:ext cx="253" cy="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32" tIns="45667" rIns="91332" bIns="45667" anchor="ctr"/>
            <a:lstStyle/>
            <a:p>
              <a:r>
                <a:rPr lang="it-IT" sz="2000"/>
                <a:t>1</a:t>
              </a:r>
              <a:endParaRPr lang="it-IT"/>
            </a:p>
          </p:txBody>
        </p:sp>
      </p:grpSp>
      <p:sp>
        <p:nvSpPr>
          <p:cNvPr id="724005" name="Rectangle 3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B(T) seconda forma</a:t>
            </a:r>
            <a:endParaRPr lang="it-IT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994" name="Text Box 2"/>
          <p:cNvSpPr txBox="1">
            <a:spLocks noChangeArrowheads="1"/>
          </p:cNvSpPr>
          <p:nvPr/>
        </p:nvSpPr>
        <p:spPr bwMode="auto">
          <a:xfrm>
            <a:off x="395536" y="1196752"/>
            <a:ext cx="8369300" cy="830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L’algoritmo goloso di </a:t>
            </a:r>
            <a:r>
              <a:rPr lang="it-IT" sz="2400" dirty="0" err="1">
                <a:solidFill>
                  <a:srgbClr val="0000FF"/>
                </a:solidFill>
              </a:rPr>
              <a:t>Huffman</a:t>
            </a:r>
            <a:r>
              <a:rPr lang="it-IT" sz="2400" dirty="0">
                <a:solidFill>
                  <a:srgbClr val="0000FF"/>
                </a:solidFill>
              </a:rPr>
              <a:t> costruisce l’albero di un codice prefisso </a:t>
            </a:r>
            <a:r>
              <a:rPr lang="it-IT" sz="2400" dirty="0" smtClean="0">
                <a:solidFill>
                  <a:srgbClr val="0000FF"/>
                </a:solidFill>
              </a:rPr>
              <a:t>ottimo</a:t>
            </a:r>
            <a:endParaRPr lang="it-IT" sz="2400" dirty="0">
              <a:solidFill>
                <a:srgbClr val="0000FF"/>
              </a:solidFill>
            </a:endParaRPr>
          </a:p>
        </p:txBody>
      </p:sp>
      <p:sp>
        <p:nvSpPr>
          <p:cNvPr id="724995" name="Text Box 3"/>
          <p:cNvSpPr txBox="1">
            <a:spLocks noChangeArrowheads="1"/>
          </p:cNvSpPr>
          <p:nvPr/>
        </p:nvSpPr>
        <p:spPr bwMode="auto">
          <a:xfrm>
            <a:off x="683568" y="2132856"/>
            <a:ext cx="7737475" cy="3046984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 sz="2400" b="1" i="1"/>
              <a:t>Huffman</a:t>
            </a:r>
            <a:r>
              <a:rPr lang="it-IT" sz="2400" b="1"/>
              <a:t>(</a:t>
            </a:r>
            <a:r>
              <a:rPr lang="it-IT" sz="2400" b="1" i="1"/>
              <a:t>c</a:t>
            </a:r>
            <a:r>
              <a:rPr lang="it-IT" sz="2400" b="1"/>
              <a:t>, </a:t>
            </a:r>
            <a:r>
              <a:rPr lang="it-IT" sz="2400" b="1" i="1"/>
              <a:t>f</a:t>
            </a:r>
            <a:r>
              <a:rPr lang="it-IT" sz="2400" b="1"/>
              <a:t>, </a:t>
            </a:r>
            <a:r>
              <a:rPr lang="it-IT" sz="2400" b="1" i="1"/>
              <a:t>n</a:t>
            </a:r>
            <a:r>
              <a:rPr lang="it-IT" sz="2400" b="1"/>
              <a:t>)</a:t>
            </a:r>
          </a:p>
          <a:p>
            <a:r>
              <a:rPr lang="it-IT" sz="2400" b="1"/>
              <a:t>    </a:t>
            </a:r>
            <a:r>
              <a:rPr lang="it-IT" sz="2400" b="1" i="1"/>
              <a:t>Q</a:t>
            </a:r>
            <a:r>
              <a:rPr lang="it-IT" sz="2400" b="1"/>
              <a:t> </a:t>
            </a:r>
            <a:r>
              <a:rPr lang="it-IT" sz="2400" b="1">
                <a:sym typeface="Symbol" charset="0"/>
              </a:rPr>
              <a:t></a:t>
            </a:r>
            <a:r>
              <a:rPr lang="it-IT" sz="2400" b="1"/>
              <a:t> </a:t>
            </a:r>
            <a:r>
              <a:rPr lang="it-IT" sz="2400" b="1">
                <a:sym typeface="Symbol" charset="0"/>
              </a:rPr>
              <a:t> 			</a:t>
            </a:r>
            <a:r>
              <a:rPr lang="it-IT" sz="24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 </a:t>
            </a:r>
            <a:r>
              <a:rPr lang="it-IT" sz="2400" b="1">
                <a:solidFill>
                  <a:srgbClr val="0000CC"/>
                </a:solidFill>
              </a:rPr>
              <a:t>coda con priorità</a:t>
            </a:r>
          </a:p>
          <a:p>
            <a:r>
              <a:rPr lang="it-IT" sz="2400" b="1"/>
              <a:t>    </a:t>
            </a:r>
            <a:r>
              <a:rPr lang="it-IT" sz="2400" b="1">
                <a:sym typeface="Symbol" charset="0"/>
              </a:rPr>
              <a:t>for </a:t>
            </a:r>
            <a:r>
              <a:rPr lang="it-IT" sz="2400" b="1" i="1">
                <a:sym typeface="Symbol" charset="0"/>
              </a:rPr>
              <a:t>i</a:t>
            </a:r>
            <a:r>
              <a:rPr lang="it-IT" sz="2400" b="1">
                <a:sym typeface="Symbol" charset="0"/>
              </a:rPr>
              <a:t>  1 to </a:t>
            </a:r>
            <a:r>
              <a:rPr lang="it-IT" sz="2400" b="1" i="1">
                <a:sym typeface="Symbol" charset="0"/>
              </a:rPr>
              <a:t>n</a:t>
            </a:r>
            <a:r>
              <a:rPr lang="it-IT" sz="2400" b="1">
                <a:sym typeface="Symbol" charset="0"/>
              </a:rPr>
              <a:t> do</a:t>
            </a:r>
          </a:p>
          <a:p>
            <a:r>
              <a:rPr lang="it-IT" sz="2400" b="1">
                <a:sym typeface="Symbol" charset="0"/>
              </a:rPr>
              <a:t>        </a:t>
            </a:r>
            <a:r>
              <a:rPr lang="it-IT" sz="2400" b="1" i="1">
                <a:sym typeface="Symbol" charset="0"/>
              </a:rPr>
              <a:t>Push</a:t>
            </a:r>
            <a:r>
              <a:rPr lang="it-IT" sz="2400" b="1">
                <a:sym typeface="Symbol" charset="0"/>
              </a:rPr>
              <a:t>(</a:t>
            </a:r>
            <a:r>
              <a:rPr lang="it-IT" sz="2400" b="1" i="1">
                <a:sym typeface="Symbol" charset="0"/>
              </a:rPr>
              <a:t>Q</a:t>
            </a:r>
            <a:r>
              <a:rPr lang="it-IT" sz="2400" b="1">
                <a:sym typeface="Symbol" charset="0"/>
              </a:rPr>
              <a:t>, </a:t>
            </a:r>
            <a:r>
              <a:rPr lang="it-IT" sz="2400" b="1" i="1">
                <a:sym typeface="Symbol" charset="0"/>
              </a:rPr>
              <a:t>nodo</a:t>
            </a:r>
            <a:r>
              <a:rPr lang="it-IT" sz="2400" b="1">
                <a:sym typeface="Symbol" charset="0"/>
              </a:rPr>
              <a:t>(</a:t>
            </a:r>
            <a:r>
              <a:rPr lang="it-IT" sz="2400" b="1" i="1">
                <a:sym typeface="Symbol" charset="0"/>
              </a:rPr>
              <a:t>f</a:t>
            </a:r>
            <a:r>
              <a:rPr lang="it-IT" sz="2400" b="1" i="1" baseline="-25000">
                <a:sym typeface="Symbol" charset="0"/>
              </a:rPr>
              <a:t>i</a:t>
            </a:r>
            <a:r>
              <a:rPr lang="it-IT" sz="2400" b="1">
                <a:sym typeface="Symbol" charset="0"/>
              </a:rPr>
              <a:t>, </a:t>
            </a:r>
            <a:r>
              <a:rPr lang="it-IT" sz="2400" b="1" i="1">
                <a:sym typeface="Symbol" charset="0"/>
              </a:rPr>
              <a:t>c</a:t>
            </a:r>
            <a:r>
              <a:rPr lang="it-IT" sz="2400" b="1" i="1" baseline="-25000">
                <a:sym typeface="Symbol" charset="0"/>
              </a:rPr>
              <a:t>i</a:t>
            </a:r>
            <a:r>
              <a:rPr lang="it-IT" sz="2400" b="1">
                <a:sym typeface="Symbol" charset="0"/>
              </a:rPr>
              <a:t>))</a:t>
            </a:r>
          </a:p>
          <a:p>
            <a:r>
              <a:rPr lang="it-IT" sz="2400" b="1">
                <a:sym typeface="Symbol" charset="0"/>
              </a:rPr>
              <a:t>    for </a:t>
            </a:r>
            <a:r>
              <a:rPr lang="it-IT" sz="2400" b="1" i="1">
                <a:sym typeface="Symbol" charset="0"/>
              </a:rPr>
              <a:t>j</a:t>
            </a:r>
            <a:r>
              <a:rPr lang="it-IT" sz="2400" b="1">
                <a:sym typeface="Symbol" charset="0"/>
              </a:rPr>
              <a:t>  </a:t>
            </a:r>
            <a:r>
              <a:rPr lang="it-IT" sz="2400" b="1" i="1">
                <a:sym typeface="Symbol" charset="0"/>
              </a:rPr>
              <a:t>n</a:t>
            </a:r>
            <a:r>
              <a:rPr lang="it-IT" sz="2400" b="1">
                <a:sym typeface="Symbol" charset="0"/>
              </a:rPr>
              <a:t> downto 2 do</a:t>
            </a:r>
          </a:p>
          <a:p>
            <a:r>
              <a:rPr lang="it-IT" sz="2400" b="1">
                <a:sym typeface="Symbol" charset="0"/>
              </a:rPr>
              <a:t>        </a:t>
            </a:r>
            <a:r>
              <a:rPr lang="it-IT" sz="2400" b="1" i="1">
                <a:sym typeface="Symbol" charset="0"/>
              </a:rPr>
              <a:t>x</a:t>
            </a:r>
            <a:r>
              <a:rPr lang="it-IT" sz="2400" b="1">
                <a:sym typeface="Symbol" charset="0"/>
              </a:rPr>
              <a:t>  </a:t>
            </a:r>
            <a:r>
              <a:rPr lang="it-IT" sz="2400" b="1" i="1">
                <a:sym typeface="Symbol" charset="0"/>
              </a:rPr>
              <a:t>ExtractMin</a:t>
            </a:r>
            <a:r>
              <a:rPr lang="it-IT" sz="2400" b="1">
                <a:sym typeface="Symbol" charset="0"/>
              </a:rPr>
              <a:t>(</a:t>
            </a:r>
            <a:r>
              <a:rPr lang="it-IT" sz="2400" b="1" i="1">
                <a:sym typeface="Symbol" charset="0"/>
              </a:rPr>
              <a:t>Q</a:t>
            </a:r>
            <a:r>
              <a:rPr lang="it-IT" sz="2400" b="1">
                <a:sym typeface="Symbol" charset="0"/>
              </a:rPr>
              <a:t>), </a:t>
            </a:r>
            <a:r>
              <a:rPr lang="it-IT" sz="2400" b="1" i="1">
                <a:sym typeface="Symbol" charset="0"/>
              </a:rPr>
              <a:t>y</a:t>
            </a:r>
            <a:r>
              <a:rPr lang="it-IT" sz="2400" b="1">
                <a:sym typeface="Symbol" charset="0"/>
              </a:rPr>
              <a:t>  </a:t>
            </a:r>
            <a:r>
              <a:rPr lang="it-IT" sz="2400" b="1" i="1">
                <a:sym typeface="Symbol" charset="0"/>
              </a:rPr>
              <a:t>ExtractMin</a:t>
            </a:r>
            <a:r>
              <a:rPr lang="it-IT" sz="2400" b="1">
                <a:sym typeface="Symbol" charset="0"/>
              </a:rPr>
              <a:t>(</a:t>
            </a:r>
            <a:r>
              <a:rPr lang="it-IT" sz="2400" b="1" i="1">
                <a:sym typeface="Symbol" charset="0"/>
              </a:rPr>
              <a:t>Q</a:t>
            </a:r>
            <a:r>
              <a:rPr lang="it-IT" sz="2400" b="1">
                <a:sym typeface="Symbol" charset="0"/>
              </a:rPr>
              <a:t>)</a:t>
            </a:r>
          </a:p>
          <a:p>
            <a:r>
              <a:rPr lang="it-IT" sz="2400" b="1">
                <a:sym typeface="Symbol" charset="0"/>
              </a:rPr>
              <a:t>        </a:t>
            </a:r>
            <a:r>
              <a:rPr lang="it-IT" sz="2400" b="1" i="1">
                <a:sym typeface="Symbol" charset="0"/>
              </a:rPr>
              <a:t>Insert</a:t>
            </a:r>
            <a:r>
              <a:rPr lang="it-IT" sz="2400" b="1">
                <a:sym typeface="Symbol" charset="0"/>
              </a:rPr>
              <a:t>(</a:t>
            </a:r>
            <a:r>
              <a:rPr lang="it-IT" sz="2400" b="1" i="1">
                <a:sym typeface="Symbol" charset="0"/>
              </a:rPr>
              <a:t>Q</a:t>
            </a:r>
            <a:r>
              <a:rPr lang="it-IT" sz="2400" b="1">
                <a:sym typeface="Symbol" charset="0"/>
              </a:rPr>
              <a:t>,</a:t>
            </a:r>
            <a:r>
              <a:rPr lang="it-IT" sz="2400" b="1" i="1">
                <a:sym typeface="Symbol" charset="0"/>
              </a:rPr>
              <a:t>nodo</a:t>
            </a:r>
            <a:r>
              <a:rPr lang="it-IT" sz="2400" b="1">
                <a:sym typeface="Symbol" charset="0"/>
              </a:rPr>
              <a:t>(</a:t>
            </a:r>
            <a:r>
              <a:rPr lang="it-IT" sz="2400" b="1" i="1">
                <a:sym typeface="Symbol" charset="0"/>
              </a:rPr>
              <a:t>x</a:t>
            </a:r>
            <a:r>
              <a:rPr lang="it-IT" sz="2400" b="1">
                <a:sym typeface="Symbol" charset="0"/>
              </a:rPr>
              <a:t>,</a:t>
            </a:r>
            <a:r>
              <a:rPr lang="it-IT" sz="2400" b="1" i="1">
                <a:sym typeface="Symbol" charset="0"/>
              </a:rPr>
              <a:t>y</a:t>
            </a:r>
            <a:r>
              <a:rPr lang="it-IT" sz="2400" b="1">
                <a:sym typeface="Symbol" charset="0"/>
              </a:rPr>
              <a:t>))</a:t>
            </a:r>
          </a:p>
          <a:p>
            <a:r>
              <a:rPr lang="it-IT" sz="2400" b="1"/>
              <a:t>    return </a:t>
            </a:r>
            <a:r>
              <a:rPr lang="it-IT" sz="2400" b="1" i="1"/>
              <a:t>ExtractMin</a:t>
            </a:r>
            <a:r>
              <a:rPr lang="it-IT" sz="2400" b="1"/>
              <a:t>(</a:t>
            </a:r>
            <a:r>
              <a:rPr lang="it-IT" sz="2400" b="1" i="1"/>
              <a:t>Q</a:t>
            </a:r>
            <a:r>
              <a:rPr lang="it-IT" sz="2400" b="1"/>
              <a:t>)</a:t>
            </a:r>
          </a:p>
        </p:txBody>
      </p:sp>
      <p:sp>
        <p:nvSpPr>
          <p:cNvPr id="724997" name="Text Box 5"/>
          <p:cNvSpPr txBox="1">
            <a:spLocks noChangeArrowheads="1"/>
          </p:cNvSpPr>
          <p:nvPr/>
        </p:nvSpPr>
        <p:spPr bwMode="auto">
          <a:xfrm>
            <a:off x="422275" y="5241032"/>
            <a:ext cx="8369300" cy="1200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b="1" i="1" dirty="0" err="1">
                <a:solidFill>
                  <a:srgbClr val="FF0000"/>
                </a:solidFill>
              </a:rPr>
              <a:t>Q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è una coda con priorità, 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nodo</a:t>
            </a:r>
            <a:r>
              <a:rPr lang="it-IT" sz="2400" b="1" dirty="0">
                <a:solidFill>
                  <a:srgbClr val="FF0000"/>
                </a:solidFill>
                <a:sym typeface="Symbol" charset="0"/>
              </a:rPr>
              <a:t>(</a:t>
            </a:r>
            <a:r>
              <a:rPr lang="it-IT" sz="2400" b="1" i="1" dirty="0" err="1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b="1" dirty="0">
                <a:solidFill>
                  <a:srgbClr val="FF0000"/>
                </a:solidFill>
                <a:sym typeface="Symbol" charset="0"/>
              </a:rPr>
              <a:t>, 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c</a:t>
            </a:r>
            <a:r>
              <a:rPr lang="it-IT" sz="2400" b="1" dirty="0">
                <a:solidFill>
                  <a:srgbClr val="FF0000"/>
                </a:solidFill>
                <a:sym typeface="Symbol" charset="0"/>
              </a:rPr>
              <a:t>) </a:t>
            </a:r>
            <a:r>
              <a:rPr lang="it-IT" sz="2400" dirty="0">
                <a:solidFill>
                  <a:srgbClr val="0000FF"/>
                </a:solidFill>
                <a:sym typeface="Symbol" charset="0"/>
              </a:rPr>
              <a:t>è il costruttore di</a:t>
            </a:r>
            <a:r>
              <a:rPr lang="it-IT" sz="2400" b="1" dirty="0">
                <a:solidFill>
                  <a:srgbClr val="0000FF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un nodo foglia e 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nodo</a:t>
            </a:r>
            <a:r>
              <a:rPr lang="it-IT" sz="2400" b="1" dirty="0">
                <a:solidFill>
                  <a:srgbClr val="FF0000"/>
                </a:solidFill>
                <a:sym typeface="Symbol" charset="0"/>
              </a:rPr>
              <a:t>(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x</a:t>
            </a:r>
            <a:r>
              <a:rPr lang="it-IT" sz="2400" b="1" dirty="0">
                <a:solidFill>
                  <a:srgbClr val="FF0000"/>
                </a:solidFill>
                <a:sym typeface="Symbol" charset="0"/>
              </a:rPr>
              <a:t>, 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y</a:t>
            </a:r>
            <a:r>
              <a:rPr lang="it-IT" sz="2400" b="1" dirty="0">
                <a:solidFill>
                  <a:srgbClr val="FF0000"/>
                </a:solidFill>
                <a:sym typeface="Symbol" charset="0"/>
              </a:rPr>
              <a:t>)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  <a:sym typeface="Symbol" charset="0"/>
              </a:rPr>
              <a:t>è</a:t>
            </a:r>
            <a:r>
              <a:rPr lang="it-IT" sz="2400" dirty="0">
                <a:solidFill>
                  <a:srgbClr val="0000FF"/>
                </a:solidFill>
              </a:rPr>
              <a:t> il costruttore di un nodo </a:t>
            </a:r>
            <a:r>
              <a:rPr lang="it-IT" sz="2400" dirty="0" smtClean="0">
                <a:solidFill>
                  <a:srgbClr val="0000FF"/>
                </a:solidFill>
              </a:rPr>
              <a:t>interno</a:t>
            </a:r>
            <a:endParaRPr lang="it-IT" sz="2400" dirty="0">
              <a:solidFill>
                <a:srgbClr val="0000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Algoritmo</a:t>
            </a:r>
            <a:r>
              <a:rPr lang="en-US" dirty="0" smtClean="0"/>
              <a:t> di </a:t>
            </a:r>
            <a:r>
              <a:rPr lang="it-IT" dirty="0" err="1">
                <a:solidFill>
                  <a:srgbClr val="FF0000"/>
                </a:solidFill>
              </a:rPr>
              <a:t>Huffman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042" name="Group 2"/>
          <p:cNvGrpSpPr>
            <a:grpSpLocks noChangeAspect="1"/>
          </p:cNvGrpSpPr>
          <p:nvPr/>
        </p:nvGrpSpPr>
        <p:grpSpPr bwMode="auto">
          <a:xfrm>
            <a:off x="755576" y="3501008"/>
            <a:ext cx="5312664" cy="1454658"/>
            <a:chOff x="384" y="2964"/>
            <a:chExt cx="3024" cy="876"/>
          </a:xfrm>
        </p:grpSpPr>
        <p:sp>
          <p:nvSpPr>
            <p:cNvPr id="727043" name="Rectangle 3"/>
            <p:cNvSpPr>
              <a:spLocks noChangeArrowheads="1"/>
            </p:cNvSpPr>
            <p:nvPr/>
          </p:nvSpPr>
          <p:spPr bwMode="auto">
            <a:xfrm>
              <a:off x="3072" y="3120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a</a:t>
              </a:r>
              <a:r>
                <a:rPr lang="it-IT" sz="2000"/>
                <a:t>:57</a:t>
              </a:r>
            </a:p>
          </p:txBody>
        </p:sp>
        <p:sp>
          <p:nvSpPr>
            <p:cNvPr id="727044" name="Rectangle 4"/>
            <p:cNvSpPr>
              <a:spLocks noChangeArrowheads="1"/>
            </p:cNvSpPr>
            <p:nvPr/>
          </p:nvSpPr>
          <p:spPr bwMode="auto">
            <a:xfrm>
              <a:off x="1392" y="3120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b</a:t>
              </a:r>
              <a:r>
                <a:rPr lang="it-IT" sz="2000"/>
                <a:t>:13</a:t>
              </a:r>
            </a:p>
          </p:txBody>
        </p:sp>
        <p:sp>
          <p:nvSpPr>
            <p:cNvPr id="727045" name="Rectangle 5"/>
            <p:cNvSpPr>
              <a:spLocks noChangeArrowheads="1"/>
            </p:cNvSpPr>
            <p:nvPr/>
          </p:nvSpPr>
          <p:spPr bwMode="auto">
            <a:xfrm>
              <a:off x="816" y="3120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c</a:t>
              </a:r>
              <a:r>
                <a:rPr lang="it-IT" sz="2000"/>
                <a:t>:12</a:t>
              </a:r>
            </a:p>
          </p:txBody>
        </p:sp>
        <p:sp>
          <p:nvSpPr>
            <p:cNvPr id="727046" name="Oval 6"/>
            <p:cNvSpPr>
              <a:spLocks noChangeArrowheads="1"/>
            </p:cNvSpPr>
            <p:nvPr/>
          </p:nvSpPr>
          <p:spPr bwMode="auto">
            <a:xfrm>
              <a:off x="1968" y="3072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pPr algn="ctr"/>
              <a:r>
                <a:rPr lang="it-IT" sz="2000"/>
                <a:t>14</a:t>
              </a:r>
            </a:p>
          </p:txBody>
        </p:sp>
        <p:sp>
          <p:nvSpPr>
            <p:cNvPr id="727047" name="Line 7"/>
            <p:cNvSpPr>
              <a:spLocks noChangeShapeType="1"/>
            </p:cNvSpPr>
            <p:nvPr/>
          </p:nvSpPr>
          <p:spPr bwMode="auto">
            <a:xfrm flipH="1">
              <a:off x="1872" y="3360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endParaRPr lang="en-US" sz="2000"/>
            </a:p>
          </p:txBody>
        </p:sp>
        <p:sp>
          <p:nvSpPr>
            <p:cNvPr id="727048" name="Line 8"/>
            <p:cNvSpPr>
              <a:spLocks noChangeShapeType="1"/>
            </p:cNvSpPr>
            <p:nvPr/>
          </p:nvSpPr>
          <p:spPr bwMode="auto">
            <a:xfrm>
              <a:off x="2208" y="3360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endParaRPr lang="en-US" sz="2000"/>
            </a:p>
          </p:txBody>
        </p:sp>
        <p:sp>
          <p:nvSpPr>
            <p:cNvPr id="727049" name="Rectangle 9"/>
            <p:cNvSpPr>
              <a:spLocks noChangeArrowheads="1"/>
            </p:cNvSpPr>
            <p:nvPr/>
          </p:nvSpPr>
          <p:spPr bwMode="auto">
            <a:xfrm>
              <a:off x="2496" y="3120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d</a:t>
              </a:r>
              <a:r>
                <a:rPr lang="it-IT" sz="2000"/>
                <a:t>:24</a:t>
              </a:r>
            </a:p>
          </p:txBody>
        </p:sp>
        <p:sp>
          <p:nvSpPr>
            <p:cNvPr id="727050" name="Rectangle 10"/>
            <p:cNvSpPr>
              <a:spLocks noChangeArrowheads="1"/>
            </p:cNvSpPr>
            <p:nvPr/>
          </p:nvSpPr>
          <p:spPr bwMode="auto">
            <a:xfrm>
              <a:off x="1728" y="364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f</a:t>
              </a:r>
              <a:r>
                <a:rPr lang="it-IT" sz="2000"/>
                <a:t>:5</a:t>
              </a:r>
            </a:p>
          </p:txBody>
        </p:sp>
        <p:sp>
          <p:nvSpPr>
            <p:cNvPr id="727051" name="Rectangle 11"/>
            <p:cNvSpPr>
              <a:spLocks noChangeArrowheads="1"/>
            </p:cNvSpPr>
            <p:nvPr/>
          </p:nvSpPr>
          <p:spPr bwMode="auto">
            <a:xfrm>
              <a:off x="2160" y="364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e</a:t>
              </a:r>
              <a:r>
                <a:rPr lang="it-IT" sz="2000"/>
                <a:t>:9</a:t>
              </a:r>
            </a:p>
          </p:txBody>
        </p:sp>
        <p:sp>
          <p:nvSpPr>
            <p:cNvPr id="727052" name="Text Box 12"/>
            <p:cNvSpPr txBox="1">
              <a:spLocks noChangeArrowheads="1"/>
            </p:cNvSpPr>
            <p:nvPr/>
          </p:nvSpPr>
          <p:spPr bwMode="auto">
            <a:xfrm>
              <a:off x="1824" y="3249"/>
              <a:ext cx="171" cy="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r>
                <a:rPr lang="it-IT" sz="2000"/>
                <a:t>0</a:t>
              </a:r>
            </a:p>
          </p:txBody>
        </p:sp>
        <p:sp>
          <p:nvSpPr>
            <p:cNvPr id="727053" name="Text Box 13"/>
            <p:cNvSpPr txBox="1">
              <a:spLocks noChangeArrowheads="1"/>
            </p:cNvSpPr>
            <p:nvPr/>
          </p:nvSpPr>
          <p:spPr bwMode="auto">
            <a:xfrm>
              <a:off x="2208" y="3249"/>
              <a:ext cx="171" cy="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r>
                <a:rPr lang="it-IT" sz="2000" dirty="0"/>
                <a:t>1</a:t>
              </a:r>
            </a:p>
          </p:txBody>
        </p:sp>
        <p:sp>
          <p:nvSpPr>
            <p:cNvPr id="727054" name="Text Box 14"/>
            <p:cNvSpPr txBox="1">
              <a:spLocks noChangeArrowheads="1"/>
            </p:cNvSpPr>
            <p:nvPr/>
          </p:nvSpPr>
          <p:spPr bwMode="auto">
            <a:xfrm>
              <a:off x="384" y="2964"/>
              <a:ext cx="218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r>
                <a:rPr lang="it-IT" sz="2000" b="1">
                  <a:latin typeface="Courier New" charset="0"/>
                  <a:sym typeface="Symbol" charset="0"/>
                </a:rPr>
                <a:t>Q</a:t>
              </a:r>
              <a:endParaRPr lang="it-IT" sz="2000"/>
            </a:p>
          </p:txBody>
        </p:sp>
        <p:sp>
          <p:nvSpPr>
            <p:cNvPr id="727055" name="AutoShape 15"/>
            <p:cNvSpPr>
              <a:spLocks noChangeArrowheads="1"/>
            </p:cNvSpPr>
            <p:nvPr/>
          </p:nvSpPr>
          <p:spPr bwMode="auto">
            <a:xfrm>
              <a:off x="624" y="3168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endParaRPr lang="en-US" sz="2000"/>
            </a:p>
          </p:txBody>
        </p:sp>
        <p:sp>
          <p:nvSpPr>
            <p:cNvPr id="727056" name="AutoShape 16"/>
            <p:cNvSpPr>
              <a:spLocks noChangeArrowheads="1"/>
            </p:cNvSpPr>
            <p:nvPr/>
          </p:nvSpPr>
          <p:spPr bwMode="auto">
            <a:xfrm>
              <a:off x="2304" y="3168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endParaRPr lang="en-US" sz="2000"/>
            </a:p>
          </p:txBody>
        </p:sp>
        <p:sp>
          <p:nvSpPr>
            <p:cNvPr id="727057" name="AutoShape 17"/>
            <p:cNvSpPr>
              <a:spLocks noChangeArrowheads="1"/>
            </p:cNvSpPr>
            <p:nvPr/>
          </p:nvSpPr>
          <p:spPr bwMode="auto">
            <a:xfrm>
              <a:off x="2880" y="3168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endParaRPr lang="en-US" sz="2000"/>
            </a:p>
          </p:txBody>
        </p:sp>
        <p:sp>
          <p:nvSpPr>
            <p:cNvPr id="727058" name="AutoShape 18"/>
            <p:cNvSpPr>
              <a:spLocks noChangeArrowheads="1"/>
            </p:cNvSpPr>
            <p:nvPr/>
          </p:nvSpPr>
          <p:spPr bwMode="auto">
            <a:xfrm>
              <a:off x="1200" y="3168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endParaRPr lang="en-US" sz="2000"/>
            </a:p>
          </p:txBody>
        </p:sp>
        <p:sp>
          <p:nvSpPr>
            <p:cNvPr id="727059" name="AutoShape 19"/>
            <p:cNvSpPr>
              <a:spLocks noChangeArrowheads="1"/>
            </p:cNvSpPr>
            <p:nvPr/>
          </p:nvSpPr>
          <p:spPr bwMode="auto">
            <a:xfrm>
              <a:off x="1776" y="3168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89" tIns="45695" rIns="91389" bIns="45695" anchor="ctr"/>
            <a:lstStyle/>
            <a:p>
              <a:endParaRPr lang="en-US" sz="2000"/>
            </a:p>
          </p:txBody>
        </p:sp>
      </p:grpSp>
      <p:grpSp>
        <p:nvGrpSpPr>
          <p:cNvPr id="727060" name="Group 20"/>
          <p:cNvGrpSpPr>
            <a:grpSpLocks noChangeAspect="1"/>
          </p:cNvGrpSpPr>
          <p:nvPr/>
        </p:nvGrpSpPr>
        <p:grpSpPr bwMode="auto">
          <a:xfrm>
            <a:off x="755576" y="2564904"/>
            <a:ext cx="6324600" cy="570530"/>
            <a:chOff x="288" y="1334"/>
            <a:chExt cx="3648" cy="346"/>
          </a:xfrm>
        </p:grpSpPr>
        <p:sp>
          <p:nvSpPr>
            <p:cNvPr id="727061" name="Rectangle 21"/>
            <p:cNvSpPr>
              <a:spLocks noChangeArrowheads="1"/>
            </p:cNvSpPr>
            <p:nvPr/>
          </p:nvSpPr>
          <p:spPr bwMode="auto">
            <a:xfrm>
              <a:off x="3600" y="14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05" tIns="45702" rIns="91405" bIns="45702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a</a:t>
              </a:r>
              <a:r>
                <a:rPr lang="it-IT" sz="2000"/>
                <a:t>:57</a:t>
              </a:r>
            </a:p>
          </p:txBody>
        </p:sp>
        <p:sp>
          <p:nvSpPr>
            <p:cNvPr id="727062" name="Rectangle 22"/>
            <p:cNvSpPr>
              <a:spLocks noChangeArrowheads="1"/>
            </p:cNvSpPr>
            <p:nvPr/>
          </p:nvSpPr>
          <p:spPr bwMode="auto">
            <a:xfrm>
              <a:off x="3024" y="14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05" tIns="45702" rIns="91405" bIns="45702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d</a:t>
              </a:r>
              <a:r>
                <a:rPr lang="it-IT" sz="2000"/>
                <a:t>:24</a:t>
              </a:r>
            </a:p>
          </p:txBody>
        </p:sp>
        <p:sp>
          <p:nvSpPr>
            <p:cNvPr id="727063" name="Rectangle 23"/>
            <p:cNvSpPr>
              <a:spLocks noChangeArrowheads="1"/>
            </p:cNvSpPr>
            <p:nvPr/>
          </p:nvSpPr>
          <p:spPr bwMode="auto">
            <a:xfrm>
              <a:off x="720" y="14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05" tIns="45702" rIns="91405" bIns="45702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f</a:t>
              </a:r>
              <a:r>
                <a:rPr lang="it-IT" sz="2000"/>
                <a:t>:5</a:t>
              </a:r>
            </a:p>
          </p:txBody>
        </p:sp>
        <p:sp>
          <p:nvSpPr>
            <p:cNvPr id="727064" name="Rectangle 24"/>
            <p:cNvSpPr>
              <a:spLocks noChangeArrowheads="1"/>
            </p:cNvSpPr>
            <p:nvPr/>
          </p:nvSpPr>
          <p:spPr bwMode="auto">
            <a:xfrm>
              <a:off x="1296" y="14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05" tIns="45702" rIns="91405" bIns="45702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e</a:t>
              </a:r>
              <a:r>
                <a:rPr lang="it-IT" sz="2000"/>
                <a:t>:9</a:t>
              </a:r>
            </a:p>
          </p:txBody>
        </p:sp>
        <p:sp>
          <p:nvSpPr>
            <p:cNvPr id="727065" name="Text Box 25"/>
            <p:cNvSpPr txBox="1">
              <a:spLocks noChangeArrowheads="1"/>
            </p:cNvSpPr>
            <p:nvPr/>
          </p:nvSpPr>
          <p:spPr bwMode="auto">
            <a:xfrm>
              <a:off x="288" y="1334"/>
              <a:ext cx="220" cy="3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05" tIns="45702" rIns="91405" bIns="45702" anchor="ctr"/>
            <a:lstStyle/>
            <a:p>
              <a:r>
                <a:rPr lang="it-IT" sz="2000" b="1">
                  <a:latin typeface="Courier New" charset="0"/>
                  <a:sym typeface="Symbol" charset="0"/>
                </a:rPr>
                <a:t>Q</a:t>
              </a:r>
              <a:endParaRPr lang="it-IT" sz="2000"/>
            </a:p>
          </p:txBody>
        </p:sp>
        <p:sp>
          <p:nvSpPr>
            <p:cNvPr id="727066" name="AutoShape 26"/>
            <p:cNvSpPr>
              <a:spLocks noChangeArrowheads="1"/>
            </p:cNvSpPr>
            <p:nvPr/>
          </p:nvSpPr>
          <p:spPr bwMode="auto">
            <a:xfrm>
              <a:off x="528" y="1536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05" tIns="45702" rIns="91405" bIns="45702" anchor="ctr"/>
            <a:lstStyle/>
            <a:p>
              <a:endParaRPr lang="en-US" sz="2000"/>
            </a:p>
          </p:txBody>
        </p:sp>
        <p:sp>
          <p:nvSpPr>
            <p:cNvPr id="727067" name="AutoShape 27"/>
            <p:cNvSpPr>
              <a:spLocks noChangeArrowheads="1"/>
            </p:cNvSpPr>
            <p:nvPr/>
          </p:nvSpPr>
          <p:spPr bwMode="auto">
            <a:xfrm>
              <a:off x="2832" y="1536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05" tIns="45702" rIns="91405" bIns="45702" anchor="ctr"/>
            <a:lstStyle/>
            <a:p>
              <a:endParaRPr lang="en-US" sz="2000"/>
            </a:p>
          </p:txBody>
        </p:sp>
        <p:sp>
          <p:nvSpPr>
            <p:cNvPr id="727068" name="AutoShape 28"/>
            <p:cNvSpPr>
              <a:spLocks noChangeArrowheads="1"/>
            </p:cNvSpPr>
            <p:nvPr/>
          </p:nvSpPr>
          <p:spPr bwMode="auto">
            <a:xfrm>
              <a:off x="3408" y="1536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05" tIns="45702" rIns="91405" bIns="45702" anchor="ctr"/>
            <a:lstStyle/>
            <a:p>
              <a:endParaRPr lang="en-US" sz="2000"/>
            </a:p>
          </p:txBody>
        </p:sp>
        <p:sp>
          <p:nvSpPr>
            <p:cNvPr id="727069" name="AutoShape 29"/>
            <p:cNvSpPr>
              <a:spLocks noChangeArrowheads="1"/>
            </p:cNvSpPr>
            <p:nvPr/>
          </p:nvSpPr>
          <p:spPr bwMode="auto">
            <a:xfrm>
              <a:off x="1104" y="1536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05" tIns="45702" rIns="91405" bIns="45702" anchor="ctr"/>
            <a:lstStyle/>
            <a:p>
              <a:endParaRPr lang="en-US" sz="2000"/>
            </a:p>
          </p:txBody>
        </p:sp>
        <p:sp>
          <p:nvSpPr>
            <p:cNvPr id="727070" name="AutoShape 30"/>
            <p:cNvSpPr>
              <a:spLocks noChangeArrowheads="1"/>
            </p:cNvSpPr>
            <p:nvPr/>
          </p:nvSpPr>
          <p:spPr bwMode="auto">
            <a:xfrm>
              <a:off x="1680" y="1536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05" tIns="45702" rIns="91405" bIns="45702" anchor="ctr"/>
            <a:lstStyle/>
            <a:p>
              <a:endParaRPr lang="en-US" sz="2000"/>
            </a:p>
          </p:txBody>
        </p:sp>
        <p:sp>
          <p:nvSpPr>
            <p:cNvPr id="727071" name="Rectangle 31"/>
            <p:cNvSpPr>
              <a:spLocks noChangeArrowheads="1"/>
            </p:cNvSpPr>
            <p:nvPr/>
          </p:nvSpPr>
          <p:spPr bwMode="auto">
            <a:xfrm>
              <a:off x="2448" y="14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05" tIns="45702" rIns="91405" bIns="45702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b</a:t>
              </a:r>
              <a:r>
                <a:rPr lang="it-IT" sz="2000"/>
                <a:t>:13</a:t>
              </a:r>
            </a:p>
          </p:txBody>
        </p:sp>
        <p:sp>
          <p:nvSpPr>
            <p:cNvPr id="727072" name="Rectangle 32"/>
            <p:cNvSpPr>
              <a:spLocks noChangeArrowheads="1"/>
            </p:cNvSpPr>
            <p:nvPr/>
          </p:nvSpPr>
          <p:spPr bwMode="auto">
            <a:xfrm>
              <a:off x="1872" y="14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05" tIns="45702" rIns="91405" bIns="45702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c</a:t>
              </a:r>
              <a:r>
                <a:rPr lang="it-IT" sz="2000"/>
                <a:t>:12</a:t>
              </a:r>
            </a:p>
          </p:txBody>
        </p:sp>
        <p:sp>
          <p:nvSpPr>
            <p:cNvPr id="727073" name="AutoShape 33"/>
            <p:cNvSpPr>
              <a:spLocks noChangeArrowheads="1"/>
            </p:cNvSpPr>
            <p:nvPr/>
          </p:nvSpPr>
          <p:spPr bwMode="auto">
            <a:xfrm>
              <a:off x="2256" y="1536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405" tIns="45702" rIns="91405" bIns="45702" anchor="ctr"/>
            <a:lstStyle/>
            <a:p>
              <a:endParaRPr lang="en-US" sz="2000"/>
            </a:p>
          </p:txBody>
        </p:sp>
      </p:grpSp>
      <p:sp>
        <p:nvSpPr>
          <p:cNvPr id="727074" name="Text Box 34"/>
          <p:cNvSpPr txBox="1">
            <a:spLocks noChangeArrowheads="1"/>
          </p:cNvSpPr>
          <p:nvPr/>
        </p:nvSpPr>
        <p:spPr bwMode="auto">
          <a:xfrm>
            <a:off x="683568" y="1772816"/>
            <a:ext cx="7543800" cy="72707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r>
              <a:rPr lang="it-IT" sz="2000" b="1" dirty="0">
                <a:latin typeface="Courier New" charset="0"/>
                <a:sym typeface="Symbol" charset="0"/>
              </a:rPr>
              <a:t>carattere     a     b     c     d     e     </a:t>
            </a:r>
            <a:r>
              <a:rPr lang="it-IT" sz="2000" b="1" dirty="0" err="1">
                <a:latin typeface="Courier New" charset="0"/>
                <a:sym typeface="Symbol" charset="0"/>
              </a:rPr>
              <a:t>f</a:t>
            </a:r>
            <a:endParaRPr lang="it-IT" sz="2000" b="1" dirty="0">
              <a:latin typeface="Courier New" charset="0"/>
              <a:sym typeface="Symbol" charset="0"/>
            </a:endParaRPr>
          </a:p>
          <a:p>
            <a:r>
              <a:rPr lang="it-IT" sz="2000" b="1" dirty="0">
                <a:latin typeface="Courier New" charset="0"/>
                <a:sym typeface="Symbol" charset="0"/>
              </a:rPr>
              <a:t>frequenza    57    13    12    24     9     5</a:t>
            </a:r>
          </a:p>
        </p:txBody>
      </p:sp>
      <p:sp>
        <p:nvSpPr>
          <p:cNvPr id="727075" name="Text Box 35"/>
          <p:cNvSpPr txBox="1">
            <a:spLocks noChangeArrowheads="1"/>
          </p:cNvSpPr>
          <p:nvPr/>
        </p:nvSpPr>
        <p:spPr bwMode="auto">
          <a:xfrm>
            <a:off x="615752" y="1170856"/>
            <a:ext cx="7772400" cy="461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Costruzione dell’albero di </a:t>
            </a:r>
            <a:r>
              <a:rPr lang="it-IT" sz="2400" dirty="0" err="1">
                <a:solidFill>
                  <a:srgbClr val="0000FF"/>
                </a:solidFill>
              </a:rPr>
              <a:t>Huffman</a:t>
            </a:r>
            <a:r>
              <a:rPr lang="it-IT" sz="2400" dirty="0">
                <a:solidFill>
                  <a:srgbClr val="0000FF"/>
                </a:solidFill>
              </a:rPr>
              <a:t> con dati:</a:t>
            </a:r>
          </a:p>
        </p:txBody>
      </p:sp>
      <p:grpSp>
        <p:nvGrpSpPr>
          <p:cNvPr id="727076" name="Group 36"/>
          <p:cNvGrpSpPr>
            <a:grpSpLocks noChangeAspect="1"/>
          </p:cNvGrpSpPr>
          <p:nvPr/>
        </p:nvGrpSpPr>
        <p:grpSpPr bwMode="auto">
          <a:xfrm>
            <a:off x="827584" y="5157192"/>
            <a:ext cx="4047744" cy="1391412"/>
            <a:chOff x="2880" y="2004"/>
            <a:chExt cx="2400" cy="876"/>
          </a:xfrm>
        </p:grpSpPr>
        <p:sp>
          <p:nvSpPr>
            <p:cNvPr id="727077" name="Rectangle 37"/>
            <p:cNvSpPr>
              <a:spLocks noChangeArrowheads="1"/>
            </p:cNvSpPr>
            <p:nvPr/>
          </p:nvSpPr>
          <p:spPr bwMode="auto">
            <a:xfrm>
              <a:off x="4944" y="2160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a</a:t>
              </a:r>
              <a:r>
                <a:rPr lang="it-IT" sz="2000"/>
                <a:t>:57</a:t>
              </a:r>
            </a:p>
          </p:txBody>
        </p:sp>
        <p:sp>
          <p:nvSpPr>
            <p:cNvPr id="727078" name="Oval 38"/>
            <p:cNvSpPr>
              <a:spLocks noChangeArrowheads="1"/>
            </p:cNvSpPr>
            <p:nvPr/>
          </p:nvSpPr>
          <p:spPr bwMode="auto">
            <a:xfrm>
              <a:off x="4416" y="2112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000"/>
                <a:t>25</a:t>
              </a:r>
            </a:p>
          </p:txBody>
        </p:sp>
        <p:sp>
          <p:nvSpPr>
            <p:cNvPr id="727079" name="Line 39"/>
            <p:cNvSpPr>
              <a:spLocks noChangeShapeType="1"/>
            </p:cNvSpPr>
            <p:nvPr/>
          </p:nvSpPr>
          <p:spPr bwMode="auto">
            <a:xfrm>
              <a:off x="4608" y="2400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 sz="2000"/>
            </a:p>
          </p:txBody>
        </p:sp>
        <p:sp>
          <p:nvSpPr>
            <p:cNvPr id="727080" name="Line 40"/>
            <p:cNvSpPr>
              <a:spLocks noChangeShapeType="1"/>
            </p:cNvSpPr>
            <p:nvPr/>
          </p:nvSpPr>
          <p:spPr bwMode="auto">
            <a:xfrm flipH="1">
              <a:off x="4368" y="2400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 sz="2000"/>
            </a:p>
          </p:txBody>
        </p:sp>
        <p:sp>
          <p:nvSpPr>
            <p:cNvPr id="727081" name="Rectangle 41"/>
            <p:cNvSpPr>
              <a:spLocks noChangeArrowheads="1"/>
            </p:cNvSpPr>
            <p:nvPr/>
          </p:nvSpPr>
          <p:spPr bwMode="auto">
            <a:xfrm>
              <a:off x="4608" y="26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000" b="1" dirty="0">
                  <a:latin typeface="Courier New" charset="0"/>
                  <a:sym typeface="Symbol" charset="0"/>
                </a:rPr>
                <a:t>b</a:t>
              </a:r>
              <a:r>
                <a:rPr lang="it-IT" sz="2000" dirty="0"/>
                <a:t>:13</a:t>
              </a:r>
            </a:p>
          </p:txBody>
        </p:sp>
        <p:sp>
          <p:nvSpPr>
            <p:cNvPr id="727082" name="Rectangle 42"/>
            <p:cNvSpPr>
              <a:spLocks noChangeArrowheads="1"/>
            </p:cNvSpPr>
            <p:nvPr/>
          </p:nvSpPr>
          <p:spPr bwMode="auto">
            <a:xfrm>
              <a:off x="4176" y="26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c</a:t>
              </a:r>
              <a:r>
                <a:rPr lang="it-IT" sz="2000"/>
                <a:t>:12</a:t>
              </a:r>
            </a:p>
          </p:txBody>
        </p:sp>
        <p:sp>
          <p:nvSpPr>
            <p:cNvPr id="727083" name="Text Box 43"/>
            <p:cNvSpPr txBox="1">
              <a:spLocks noChangeArrowheads="1"/>
            </p:cNvSpPr>
            <p:nvPr/>
          </p:nvSpPr>
          <p:spPr bwMode="auto">
            <a:xfrm>
              <a:off x="4320" y="2289"/>
              <a:ext cx="17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r>
                <a:rPr lang="it-IT" sz="2000"/>
                <a:t>0</a:t>
              </a:r>
            </a:p>
          </p:txBody>
        </p:sp>
        <p:sp>
          <p:nvSpPr>
            <p:cNvPr id="727084" name="Text Box 44"/>
            <p:cNvSpPr txBox="1">
              <a:spLocks noChangeArrowheads="1"/>
            </p:cNvSpPr>
            <p:nvPr/>
          </p:nvSpPr>
          <p:spPr bwMode="auto">
            <a:xfrm>
              <a:off x="4608" y="2289"/>
              <a:ext cx="17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r>
                <a:rPr lang="it-IT" sz="2000"/>
                <a:t>1</a:t>
              </a:r>
            </a:p>
          </p:txBody>
        </p:sp>
        <p:sp>
          <p:nvSpPr>
            <p:cNvPr id="727085" name="Oval 45"/>
            <p:cNvSpPr>
              <a:spLocks noChangeArrowheads="1"/>
            </p:cNvSpPr>
            <p:nvPr/>
          </p:nvSpPr>
          <p:spPr bwMode="auto">
            <a:xfrm>
              <a:off x="3312" y="2112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000"/>
                <a:t>14</a:t>
              </a:r>
            </a:p>
          </p:txBody>
        </p:sp>
        <p:sp>
          <p:nvSpPr>
            <p:cNvPr id="727086" name="Line 46"/>
            <p:cNvSpPr>
              <a:spLocks noChangeShapeType="1"/>
            </p:cNvSpPr>
            <p:nvPr/>
          </p:nvSpPr>
          <p:spPr bwMode="auto">
            <a:xfrm flipH="1">
              <a:off x="3216" y="2400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 sz="2000"/>
            </a:p>
          </p:txBody>
        </p:sp>
        <p:sp>
          <p:nvSpPr>
            <p:cNvPr id="727087" name="Line 47"/>
            <p:cNvSpPr>
              <a:spLocks noChangeShapeType="1"/>
            </p:cNvSpPr>
            <p:nvPr/>
          </p:nvSpPr>
          <p:spPr bwMode="auto">
            <a:xfrm>
              <a:off x="3552" y="2400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 sz="2000"/>
            </a:p>
          </p:txBody>
        </p:sp>
        <p:sp>
          <p:nvSpPr>
            <p:cNvPr id="727088" name="Rectangle 48"/>
            <p:cNvSpPr>
              <a:spLocks noChangeArrowheads="1"/>
            </p:cNvSpPr>
            <p:nvPr/>
          </p:nvSpPr>
          <p:spPr bwMode="auto">
            <a:xfrm>
              <a:off x="3840" y="2160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000" b="1" dirty="0">
                  <a:latin typeface="Courier New" charset="0"/>
                  <a:sym typeface="Symbol" charset="0"/>
                </a:rPr>
                <a:t>d</a:t>
              </a:r>
              <a:r>
                <a:rPr lang="it-IT" sz="2000" dirty="0"/>
                <a:t>:24</a:t>
              </a:r>
            </a:p>
          </p:txBody>
        </p:sp>
        <p:sp>
          <p:nvSpPr>
            <p:cNvPr id="727089" name="Rectangle 49"/>
            <p:cNvSpPr>
              <a:spLocks noChangeArrowheads="1"/>
            </p:cNvSpPr>
            <p:nvPr/>
          </p:nvSpPr>
          <p:spPr bwMode="auto">
            <a:xfrm>
              <a:off x="3072" y="26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f</a:t>
              </a:r>
              <a:r>
                <a:rPr lang="it-IT" sz="2000"/>
                <a:t>:5</a:t>
              </a:r>
            </a:p>
          </p:txBody>
        </p:sp>
        <p:sp>
          <p:nvSpPr>
            <p:cNvPr id="727090" name="Rectangle 50"/>
            <p:cNvSpPr>
              <a:spLocks noChangeArrowheads="1"/>
            </p:cNvSpPr>
            <p:nvPr/>
          </p:nvSpPr>
          <p:spPr bwMode="auto">
            <a:xfrm>
              <a:off x="3504" y="26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e</a:t>
              </a:r>
              <a:r>
                <a:rPr lang="it-IT" sz="2000"/>
                <a:t>:9</a:t>
              </a:r>
            </a:p>
          </p:txBody>
        </p:sp>
        <p:sp>
          <p:nvSpPr>
            <p:cNvPr id="727091" name="Text Box 51"/>
            <p:cNvSpPr txBox="1">
              <a:spLocks noChangeArrowheads="1"/>
            </p:cNvSpPr>
            <p:nvPr/>
          </p:nvSpPr>
          <p:spPr bwMode="auto">
            <a:xfrm>
              <a:off x="3168" y="2289"/>
              <a:ext cx="17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r>
                <a:rPr lang="it-IT" sz="2000"/>
                <a:t>0</a:t>
              </a:r>
            </a:p>
          </p:txBody>
        </p:sp>
        <p:sp>
          <p:nvSpPr>
            <p:cNvPr id="727092" name="Text Box 52"/>
            <p:cNvSpPr txBox="1">
              <a:spLocks noChangeArrowheads="1"/>
            </p:cNvSpPr>
            <p:nvPr/>
          </p:nvSpPr>
          <p:spPr bwMode="auto">
            <a:xfrm>
              <a:off x="3552" y="2289"/>
              <a:ext cx="17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r>
                <a:rPr lang="it-IT" sz="2000"/>
                <a:t>1</a:t>
              </a:r>
            </a:p>
          </p:txBody>
        </p:sp>
        <p:sp>
          <p:nvSpPr>
            <p:cNvPr id="727093" name="Text Box 53"/>
            <p:cNvSpPr txBox="1">
              <a:spLocks noChangeArrowheads="1"/>
            </p:cNvSpPr>
            <p:nvPr/>
          </p:nvSpPr>
          <p:spPr bwMode="auto">
            <a:xfrm>
              <a:off x="2880" y="2004"/>
              <a:ext cx="227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r>
                <a:rPr lang="it-IT" sz="2000" b="1">
                  <a:latin typeface="Courier New" charset="0"/>
                  <a:sym typeface="Symbol" charset="0"/>
                </a:rPr>
                <a:t>Q</a:t>
              </a:r>
              <a:endParaRPr lang="it-IT" sz="2000"/>
            </a:p>
          </p:txBody>
        </p:sp>
        <p:sp>
          <p:nvSpPr>
            <p:cNvPr id="727094" name="AutoShape 54"/>
            <p:cNvSpPr>
              <a:spLocks noChangeArrowheads="1"/>
            </p:cNvSpPr>
            <p:nvPr/>
          </p:nvSpPr>
          <p:spPr bwMode="auto">
            <a:xfrm>
              <a:off x="3120" y="2208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 sz="2000"/>
            </a:p>
          </p:txBody>
        </p:sp>
        <p:sp>
          <p:nvSpPr>
            <p:cNvPr id="727095" name="AutoShape 55"/>
            <p:cNvSpPr>
              <a:spLocks noChangeArrowheads="1"/>
            </p:cNvSpPr>
            <p:nvPr/>
          </p:nvSpPr>
          <p:spPr bwMode="auto">
            <a:xfrm>
              <a:off x="4752" y="2208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 sz="2000"/>
            </a:p>
          </p:txBody>
        </p:sp>
        <p:sp>
          <p:nvSpPr>
            <p:cNvPr id="727096" name="AutoShape 56"/>
            <p:cNvSpPr>
              <a:spLocks noChangeArrowheads="1"/>
            </p:cNvSpPr>
            <p:nvPr/>
          </p:nvSpPr>
          <p:spPr bwMode="auto">
            <a:xfrm>
              <a:off x="3648" y="2208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 sz="2000"/>
            </a:p>
          </p:txBody>
        </p:sp>
        <p:sp>
          <p:nvSpPr>
            <p:cNvPr id="727097" name="AutoShape 57"/>
            <p:cNvSpPr>
              <a:spLocks noChangeArrowheads="1"/>
            </p:cNvSpPr>
            <p:nvPr/>
          </p:nvSpPr>
          <p:spPr bwMode="auto">
            <a:xfrm>
              <a:off x="4224" y="2208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 sz="20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Algoritmo</a:t>
            </a:r>
            <a:r>
              <a:rPr lang="en-US" dirty="0"/>
              <a:t> di </a:t>
            </a:r>
            <a:r>
              <a:rPr lang="it-IT" dirty="0" err="1">
                <a:solidFill>
                  <a:srgbClr val="FF0000"/>
                </a:solidFill>
              </a:rPr>
              <a:t>Huffman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8066" name="Group 2"/>
          <p:cNvGrpSpPr>
            <a:grpSpLocks noChangeAspect="1"/>
          </p:cNvGrpSpPr>
          <p:nvPr/>
        </p:nvGrpSpPr>
        <p:grpSpPr bwMode="auto">
          <a:xfrm>
            <a:off x="2483768" y="3558957"/>
            <a:ext cx="4114800" cy="2160270"/>
            <a:chOff x="3216" y="2580"/>
            <a:chExt cx="2256" cy="1404"/>
          </a:xfrm>
        </p:grpSpPr>
        <p:sp>
          <p:nvSpPr>
            <p:cNvPr id="728067" name="Rectangle 3"/>
            <p:cNvSpPr>
              <a:spLocks noChangeArrowheads="1"/>
            </p:cNvSpPr>
            <p:nvPr/>
          </p:nvSpPr>
          <p:spPr bwMode="auto">
            <a:xfrm>
              <a:off x="5136" y="2736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a</a:t>
              </a:r>
              <a:r>
                <a:rPr lang="it-IT" sz="2000"/>
                <a:t>:57</a:t>
              </a:r>
            </a:p>
          </p:txBody>
        </p:sp>
        <p:sp>
          <p:nvSpPr>
            <p:cNvPr id="728068" name="Oval 4"/>
            <p:cNvSpPr>
              <a:spLocks noChangeArrowheads="1"/>
            </p:cNvSpPr>
            <p:nvPr/>
          </p:nvSpPr>
          <p:spPr bwMode="auto">
            <a:xfrm>
              <a:off x="3648" y="2688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000"/>
                <a:t>25</a:t>
              </a:r>
            </a:p>
          </p:txBody>
        </p:sp>
        <p:sp>
          <p:nvSpPr>
            <p:cNvPr id="728069" name="Line 5"/>
            <p:cNvSpPr>
              <a:spLocks noChangeShapeType="1"/>
            </p:cNvSpPr>
            <p:nvPr/>
          </p:nvSpPr>
          <p:spPr bwMode="auto">
            <a:xfrm>
              <a:off x="3840" y="297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 sz="2000"/>
            </a:p>
          </p:txBody>
        </p:sp>
        <p:sp>
          <p:nvSpPr>
            <p:cNvPr id="728070" name="Line 6"/>
            <p:cNvSpPr>
              <a:spLocks noChangeShapeType="1"/>
            </p:cNvSpPr>
            <p:nvPr/>
          </p:nvSpPr>
          <p:spPr bwMode="auto">
            <a:xfrm flipH="1">
              <a:off x="3600" y="297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 sz="2000"/>
            </a:p>
          </p:txBody>
        </p:sp>
        <p:sp>
          <p:nvSpPr>
            <p:cNvPr id="728071" name="Rectangle 7"/>
            <p:cNvSpPr>
              <a:spLocks noChangeArrowheads="1"/>
            </p:cNvSpPr>
            <p:nvPr/>
          </p:nvSpPr>
          <p:spPr bwMode="auto">
            <a:xfrm>
              <a:off x="3840" y="326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000">
                  <a:latin typeface="Courier New" charset="0"/>
                  <a:sym typeface="Symbol" charset="0"/>
                </a:rPr>
                <a:t>b</a:t>
              </a:r>
              <a:r>
                <a:rPr lang="it-IT" sz="2000"/>
                <a:t>:13</a:t>
              </a:r>
            </a:p>
          </p:txBody>
        </p:sp>
        <p:sp>
          <p:nvSpPr>
            <p:cNvPr id="728072" name="Rectangle 8"/>
            <p:cNvSpPr>
              <a:spLocks noChangeArrowheads="1"/>
            </p:cNvSpPr>
            <p:nvPr/>
          </p:nvSpPr>
          <p:spPr bwMode="auto">
            <a:xfrm>
              <a:off x="3408" y="326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c</a:t>
              </a:r>
              <a:r>
                <a:rPr lang="it-IT" sz="2000"/>
                <a:t>:12</a:t>
              </a:r>
            </a:p>
          </p:txBody>
        </p:sp>
        <p:sp>
          <p:nvSpPr>
            <p:cNvPr id="728073" name="Text Box 9"/>
            <p:cNvSpPr txBox="1">
              <a:spLocks noChangeArrowheads="1"/>
            </p:cNvSpPr>
            <p:nvPr/>
          </p:nvSpPr>
          <p:spPr bwMode="auto">
            <a:xfrm>
              <a:off x="3552" y="2865"/>
              <a:ext cx="179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2000"/>
                <a:t>0</a:t>
              </a:r>
            </a:p>
          </p:txBody>
        </p:sp>
        <p:sp>
          <p:nvSpPr>
            <p:cNvPr id="728074" name="Text Box 10"/>
            <p:cNvSpPr txBox="1">
              <a:spLocks noChangeArrowheads="1"/>
            </p:cNvSpPr>
            <p:nvPr/>
          </p:nvSpPr>
          <p:spPr bwMode="auto">
            <a:xfrm>
              <a:off x="3840" y="2865"/>
              <a:ext cx="179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2000"/>
                <a:t>1</a:t>
              </a:r>
            </a:p>
          </p:txBody>
        </p:sp>
        <p:sp>
          <p:nvSpPr>
            <p:cNvPr id="728075" name="Oval 11"/>
            <p:cNvSpPr>
              <a:spLocks noChangeArrowheads="1"/>
            </p:cNvSpPr>
            <p:nvPr/>
          </p:nvSpPr>
          <p:spPr bwMode="auto">
            <a:xfrm>
              <a:off x="4560" y="2688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000"/>
                <a:t>38</a:t>
              </a:r>
            </a:p>
          </p:txBody>
        </p:sp>
        <p:sp>
          <p:nvSpPr>
            <p:cNvPr id="728076" name="Line 12"/>
            <p:cNvSpPr>
              <a:spLocks noChangeShapeType="1"/>
            </p:cNvSpPr>
            <p:nvPr/>
          </p:nvSpPr>
          <p:spPr bwMode="auto">
            <a:xfrm>
              <a:off x="4800" y="297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 sz="2000"/>
            </a:p>
          </p:txBody>
        </p:sp>
        <p:sp>
          <p:nvSpPr>
            <p:cNvPr id="728077" name="Line 13"/>
            <p:cNvSpPr>
              <a:spLocks noChangeShapeType="1"/>
            </p:cNvSpPr>
            <p:nvPr/>
          </p:nvSpPr>
          <p:spPr bwMode="auto">
            <a:xfrm flipH="1">
              <a:off x="4512" y="2976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 sz="2000"/>
            </a:p>
          </p:txBody>
        </p:sp>
        <p:sp>
          <p:nvSpPr>
            <p:cNvPr id="728078" name="Oval 14"/>
            <p:cNvSpPr>
              <a:spLocks noChangeArrowheads="1"/>
            </p:cNvSpPr>
            <p:nvPr/>
          </p:nvSpPr>
          <p:spPr bwMode="auto">
            <a:xfrm>
              <a:off x="4320" y="3216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000"/>
                <a:t>14</a:t>
              </a:r>
            </a:p>
          </p:txBody>
        </p:sp>
        <p:sp>
          <p:nvSpPr>
            <p:cNvPr id="728079" name="Line 15"/>
            <p:cNvSpPr>
              <a:spLocks noChangeShapeType="1"/>
            </p:cNvSpPr>
            <p:nvPr/>
          </p:nvSpPr>
          <p:spPr bwMode="auto">
            <a:xfrm flipH="1">
              <a:off x="4224" y="3504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 sz="2000"/>
            </a:p>
          </p:txBody>
        </p:sp>
        <p:sp>
          <p:nvSpPr>
            <p:cNvPr id="728080" name="Line 16"/>
            <p:cNvSpPr>
              <a:spLocks noChangeShapeType="1"/>
            </p:cNvSpPr>
            <p:nvPr/>
          </p:nvSpPr>
          <p:spPr bwMode="auto">
            <a:xfrm>
              <a:off x="4560" y="3504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 sz="2000"/>
            </a:p>
          </p:txBody>
        </p:sp>
        <p:sp>
          <p:nvSpPr>
            <p:cNvPr id="728081" name="Rectangle 17"/>
            <p:cNvSpPr>
              <a:spLocks noChangeArrowheads="1"/>
            </p:cNvSpPr>
            <p:nvPr/>
          </p:nvSpPr>
          <p:spPr bwMode="auto">
            <a:xfrm>
              <a:off x="4752" y="326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000" b="1" dirty="0">
                  <a:latin typeface="Courier New" charset="0"/>
                  <a:sym typeface="Symbol" charset="0"/>
                </a:rPr>
                <a:t>d</a:t>
              </a:r>
              <a:r>
                <a:rPr lang="it-IT" sz="2000" dirty="0"/>
                <a:t>:24</a:t>
              </a:r>
            </a:p>
          </p:txBody>
        </p:sp>
        <p:sp>
          <p:nvSpPr>
            <p:cNvPr id="728082" name="Rectangle 18"/>
            <p:cNvSpPr>
              <a:spLocks noChangeArrowheads="1"/>
            </p:cNvSpPr>
            <p:nvPr/>
          </p:nvSpPr>
          <p:spPr bwMode="auto">
            <a:xfrm>
              <a:off x="4080" y="3792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f</a:t>
              </a:r>
              <a:r>
                <a:rPr lang="it-IT" sz="2000"/>
                <a:t>:5</a:t>
              </a:r>
            </a:p>
          </p:txBody>
        </p:sp>
        <p:sp>
          <p:nvSpPr>
            <p:cNvPr id="728083" name="Rectangle 19"/>
            <p:cNvSpPr>
              <a:spLocks noChangeArrowheads="1"/>
            </p:cNvSpPr>
            <p:nvPr/>
          </p:nvSpPr>
          <p:spPr bwMode="auto">
            <a:xfrm>
              <a:off x="4512" y="3792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e</a:t>
              </a:r>
              <a:r>
                <a:rPr lang="it-IT" sz="2000"/>
                <a:t>:9</a:t>
              </a:r>
            </a:p>
          </p:txBody>
        </p:sp>
        <p:sp>
          <p:nvSpPr>
            <p:cNvPr id="728084" name="Text Box 20"/>
            <p:cNvSpPr txBox="1">
              <a:spLocks noChangeArrowheads="1"/>
            </p:cNvSpPr>
            <p:nvPr/>
          </p:nvSpPr>
          <p:spPr bwMode="auto">
            <a:xfrm>
              <a:off x="4416" y="2865"/>
              <a:ext cx="179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2000"/>
                <a:t>0</a:t>
              </a:r>
            </a:p>
          </p:txBody>
        </p:sp>
        <p:sp>
          <p:nvSpPr>
            <p:cNvPr id="728085" name="Text Box 21"/>
            <p:cNvSpPr txBox="1">
              <a:spLocks noChangeArrowheads="1"/>
            </p:cNvSpPr>
            <p:nvPr/>
          </p:nvSpPr>
          <p:spPr bwMode="auto">
            <a:xfrm>
              <a:off x="4176" y="3393"/>
              <a:ext cx="179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2000"/>
                <a:t>0</a:t>
              </a:r>
            </a:p>
          </p:txBody>
        </p:sp>
        <p:sp>
          <p:nvSpPr>
            <p:cNvPr id="728086" name="Text Box 22"/>
            <p:cNvSpPr txBox="1">
              <a:spLocks noChangeArrowheads="1"/>
            </p:cNvSpPr>
            <p:nvPr/>
          </p:nvSpPr>
          <p:spPr bwMode="auto">
            <a:xfrm>
              <a:off x="4800" y="2865"/>
              <a:ext cx="179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2000"/>
                <a:t>1</a:t>
              </a:r>
            </a:p>
          </p:txBody>
        </p:sp>
        <p:sp>
          <p:nvSpPr>
            <p:cNvPr id="728087" name="Text Box 23"/>
            <p:cNvSpPr txBox="1">
              <a:spLocks noChangeArrowheads="1"/>
            </p:cNvSpPr>
            <p:nvPr/>
          </p:nvSpPr>
          <p:spPr bwMode="auto">
            <a:xfrm>
              <a:off x="4560" y="3393"/>
              <a:ext cx="179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2000"/>
                <a:t>1</a:t>
              </a:r>
            </a:p>
          </p:txBody>
        </p:sp>
        <p:sp>
          <p:nvSpPr>
            <p:cNvPr id="728088" name="Text Box 24"/>
            <p:cNvSpPr txBox="1">
              <a:spLocks noChangeArrowheads="1"/>
            </p:cNvSpPr>
            <p:nvPr/>
          </p:nvSpPr>
          <p:spPr bwMode="auto">
            <a:xfrm>
              <a:off x="3216" y="2580"/>
              <a:ext cx="227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2000" b="1">
                  <a:latin typeface="Courier New" charset="0"/>
                  <a:sym typeface="Symbol" charset="0"/>
                </a:rPr>
                <a:t>Q</a:t>
              </a:r>
              <a:endParaRPr lang="it-IT" sz="2000"/>
            </a:p>
          </p:txBody>
        </p:sp>
        <p:sp>
          <p:nvSpPr>
            <p:cNvPr id="728089" name="AutoShape 25"/>
            <p:cNvSpPr>
              <a:spLocks noChangeArrowheads="1"/>
            </p:cNvSpPr>
            <p:nvPr/>
          </p:nvSpPr>
          <p:spPr bwMode="auto">
            <a:xfrm>
              <a:off x="3456" y="2784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 sz="2000"/>
            </a:p>
          </p:txBody>
        </p:sp>
        <p:sp>
          <p:nvSpPr>
            <p:cNvPr id="728090" name="AutoShape 26"/>
            <p:cNvSpPr>
              <a:spLocks noChangeArrowheads="1"/>
            </p:cNvSpPr>
            <p:nvPr/>
          </p:nvSpPr>
          <p:spPr bwMode="auto">
            <a:xfrm>
              <a:off x="3984" y="2784"/>
              <a:ext cx="528" cy="96"/>
            </a:xfrm>
            <a:prstGeom prst="rightArrow">
              <a:avLst>
                <a:gd name="adj1" fmla="val 50000"/>
                <a:gd name="adj2" fmla="val 1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 sz="2000"/>
            </a:p>
          </p:txBody>
        </p:sp>
        <p:sp>
          <p:nvSpPr>
            <p:cNvPr id="728091" name="AutoShape 27"/>
            <p:cNvSpPr>
              <a:spLocks noChangeArrowheads="1"/>
            </p:cNvSpPr>
            <p:nvPr/>
          </p:nvSpPr>
          <p:spPr bwMode="auto">
            <a:xfrm>
              <a:off x="4896" y="2784"/>
              <a:ext cx="192" cy="9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 sz="2000"/>
            </a:p>
          </p:txBody>
        </p:sp>
      </p:grpSp>
      <p:grpSp>
        <p:nvGrpSpPr>
          <p:cNvPr id="728092" name="Group 28"/>
          <p:cNvGrpSpPr>
            <a:grpSpLocks noChangeAspect="1"/>
          </p:cNvGrpSpPr>
          <p:nvPr/>
        </p:nvGrpSpPr>
        <p:grpSpPr bwMode="auto">
          <a:xfrm>
            <a:off x="2483768" y="1196752"/>
            <a:ext cx="4389120" cy="1357880"/>
            <a:chOff x="2880" y="2004"/>
            <a:chExt cx="2400" cy="876"/>
          </a:xfrm>
        </p:grpSpPr>
        <p:sp>
          <p:nvSpPr>
            <p:cNvPr id="728093" name="Rectangle 29"/>
            <p:cNvSpPr>
              <a:spLocks noChangeArrowheads="1"/>
            </p:cNvSpPr>
            <p:nvPr/>
          </p:nvSpPr>
          <p:spPr bwMode="auto">
            <a:xfrm>
              <a:off x="4944" y="2160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a</a:t>
              </a:r>
              <a:r>
                <a:rPr lang="it-IT" sz="2000"/>
                <a:t>:57</a:t>
              </a:r>
            </a:p>
          </p:txBody>
        </p:sp>
        <p:sp>
          <p:nvSpPr>
            <p:cNvPr id="728094" name="Oval 30"/>
            <p:cNvSpPr>
              <a:spLocks noChangeArrowheads="1"/>
            </p:cNvSpPr>
            <p:nvPr/>
          </p:nvSpPr>
          <p:spPr bwMode="auto">
            <a:xfrm>
              <a:off x="4416" y="2112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000"/>
                <a:t>25</a:t>
              </a:r>
            </a:p>
          </p:txBody>
        </p:sp>
        <p:sp>
          <p:nvSpPr>
            <p:cNvPr id="728095" name="Line 31"/>
            <p:cNvSpPr>
              <a:spLocks noChangeShapeType="1"/>
            </p:cNvSpPr>
            <p:nvPr/>
          </p:nvSpPr>
          <p:spPr bwMode="auto">
            <a:xfrm>
              <a:off x="4608" y="2400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 sz="2000"/>
            </a:p>
          </p:txBody>
        </p:sp>
        <p:sp>
          <p:nvSpPr>
            <p:cNvPr id="728096" name="Line 32"/>
            <p:cNvSpPr>
              <a:spLocks noChangeShapeType="1"/>
            </p:cNvSpPr>
            <p:nvPr/>
          </p:nvSpPr>
          <p:spPr bwMode="auto">
            <a:xfrm flipH="1">
              <a:off x="4368" y="2400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 sz="2000"/>
            </a:p>
          </p:txBody>
        </p:sp>
        <p:sp>
          <p:nvSpPr>
            <p:cNvPr id="728097" name="Rectangle 33"/>
            <p:cNvSpPr>
              <a:spLocks noChangeArrowheads="1"/>
            </p:cNvSpPr>
            <p:nvPr/>
          </p:nvSpPr>
          <p:spPr bwMode="auto">
            <a:xfrm>
              <a:off x="4608" y="26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b</a:t>
              </a:r>
              <a:r>
                <a:rPr lang="it-IT" sz="2000"/>
                <a:t>:13</a:t>
              </a:r>
            </a:p>
          </p:txBody>
        </p:sp>
        <p:sp>
          <p:nvSpPr>
            <p:cNvPr id="728098" name="Rectangle 34"/>
            <p:cNvSpPr>
              <a:spLocks noChangeArrowheads="1"/>
            </p:cNvSpPr>
            <p:nvPr/>
          </p:nvSpPr>
          <p:spPr bwMode="auto">
            <a:xfrm>
              <a:off x="4176" y="26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000" b="1" dirty="0">
                  <a:latin typeface="Courier New" charset="0"/>
                  <a:sym typeface="Symbol" charset="0"/>
                </a:rPr>
                <a:t>c</a:t>
              </a:r>
              <a:r>
                <a:rPr lang="it-IT" sz="2000" dirty="0"/>
                <a:t>:12</a:t>
              </a:r>
            </a:p>
          </p:txBody>
        </p:sp>
        <p:sp>
          <p:nvSpPr>
            <p:cNvPr id="728099" name="Text Box 35"/>
            <p:cNvSpPr txBox="1">
              <a:spLocks noChangeArrowheads="1"/>
            </p:cNvSpPr>
            <p:nvPr/>
          </p:nvSpPr>
          <p:spPr bwMode="auto">
            <a:xfrm>
              <a:off x="4320" y="2289"/>
              <a:ext cx="17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r>
                <a:rPr lang="it-IT" sz="2000"/>
                <a:t>0</a:t>
              </a:r>
            </a:p>
          </p:txBody>
        </p:sp>
        <p:sp>
          <p:nvSpPr>
            <p:cNvPr id="728100" name="Text Box 36"/>
            <p:cNvSpPr txBox="1">
              <a:spLocks noChangeArrowheads="1"/>
            </p:cNvSpPr>
            <p:nvPr/>
          </p:nvSpPr>
          <p:spPr bwMode="auto">
            <a:xfrm>
              <a:off x="4608" y="2289"/>
              <a:ext cx="17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r>
                <a:rPr lang="it-IT" sz="2000"/>
                <a:t>1</a:t>
              </a:r>
            </a:p>
          </p:txBody>
        </p:sp>
        <p:sp>
          <p:nvSpPr>
            <p:cNvPr id="728101" name="Oval 37"/>
            <p:cNvSpPr>
              <a:spLocks noChangeArrowheads="1"/>
            </p:cNvSpPr>
            <p:nvPr/>
          </p:nvSpPr>
          <p:spPr bwMode="auto">
            <a:xfrm>
              <a:off x="3312" y="2112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000"/>
                <a:t>14</a:t>
              </a:r>
            </a:p>
          </p:txBody>
        </p:sp>
        <p:sp>
          <p:nvSpPr>
            <p:cNvPr id="728102" name="Line 38"/>
            <p:cNvSpPr>
              <a:spLocks noChangeShapeType="1"/>
            </p:cNvSpPr>
            <p:nvPr/>
          </p:nvSpPr>
          <p:spPr bwMode="auto">
            <a:xfrm flipH="1">
              <a:off x="3216" y="2400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 sz="2000"/>
            </a:p>
          </p:txBody>
        </p:sp>
        <p:sp>
          <p:nvSpPr>
            <p:cNvPr id="728103" name="Line 39"/>
            <p:cNvSpPr>
              <a:spLocks noChangeShapeType="1"/>
            </p:cNvSpPr>
            <p:nvPr/>
          </p:nvSpPr>
          <p:spPr bwMode="auto">
            <a:xfrm>
              <a:off x="3552" y="2400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 sz="2000"/>
            </a:p>
          </p:txBody>
        </p:sp>
        <p:sp>
          <p:nvSpPr>
            <p:cNvPr id="728104" name="Rectangle 40"/>
            <p:cNvSpPr>
              <a:spLocks noChangeArrowheads="1"/>
            </p:cNvSpPr>
            <p:nvPr/>
          </p:nvSpPr>
          <p:spPr bwMode="auto">
            <a:xfrm>
              <a:off x="3840" y="2160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d</a:t>
              </a:r>
              <a:r>
                <a:rPr lang="it-IT" sz="2000"/>
                <a:t>:24</a:t>
              </a:r>
            </a:p>
          </p:txBody>
        </p:sp>
        <p:sp>
          <p:nvSpPr>
            <p:cNvPr id="728105" name="Rectangle 41"/>
            <p:cNvSpPr>
              <a:spLocks noChangeArrowheads="1"/>
            </p:cNvSpPr>
            <p:nvPr/>
          </p:nvSpPr>
          <p:spPr bwMode="auto">
            <a:xfrm>
              <a:off x="3072" y="26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f</a:t>
              </a:r>
              <a:r>
                <a:rPr lang="it-IT" sz="2000"/>
                <a:t>:5</a:t>
              </a:r>
            </a:p>
          </p:txBody>
        </p:sp>
        <p:sp>
          <p:nvSpPr>
            <p:cNvPr id="728106" name="Rectangle 42"/>
            <p:cNvSpPr>
              <a:spLocks noChangeArrowheads="1"/>
            </p:cNvSpPr>
            <p:nvPr/>
          </p:nvSpPr>
          <p:spPr bwMode="auto">
            <a:xfrm>
              <a:off x="3504" y="2688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e</a:t>
              </a:r>
              <a:r>
                <a:rPr lang="it-IT" sz="2000"/>
                <a:t>:9</a:t>
              </a:r>
            </a:p>
          </p:txBody>
        </p:sp>
        <p:sp>
          <p:nvSpPr>
            <p:cNvPr id="728107" name="Text Box 43"/>
            <p:cNvSpPr txBox="1">
              <a:spLocks noChangeArrowheads="1"/>
            </p:cNvSpPr>
            <p:nvPr/>
          </p:nvSpPr>
          <p:spPr bwMode="auto">
            <a:xfrm>
              <a:off x="3168" y="2289"/>
              <a:ext cx="17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r>
                <a:rPr lang="it-IT" sz="2000"/>
                <a:t>0</a:t>
              </a:r>
            </a:p>
          </p:txBody>
        </p:sp>
        <p:sp>
          <p:nvSpPr>
            <p:cNvPr id="728108" name="Text Box 44"/>
            <p:cNvSpPr txBox="1">
              <a:spLocks noChangeArrowheads="1"/>
            </p:cNvSpPr>
            <p:nvPr/>
          </p:nvSpPr>
          <p:spPr bwMode="auto">
            <a:xfrm>
              <a:off x="3552" y="2289"/>
              <a:ext cx="178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r>
                <a:rPr lang="it-IT" sz="2000"/>
                <a:t>1</a:t>
              </a:r>
            </a:p>
          </p:txBody>
        </p:sp>
        <p:sp>
          <p:nvSpPr>
            <p:cNvPr id="728109" name="Text Box 45"/>
            <p:cNvSpPr txBox="1">
              <a:spLocks noChangeArrowheads="1"/>
            </p:cNvSpPr>
            <p:nvPr/>
          </p:nvSpPr>
          <p:spPr bwMode="auto">
            <a:xfrm>
              <a:off x="2880" y="2004"/>
              <a:ext cx="227" cy="3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r>
                <a:rPr lang="it-IT" sz="2000" b="1">
                  <a:latin typeface="Courier New" charset="0"/>
                  <a:sym typeface="Symbol" charset="0"/>
                </a:rPr>
                <a:t>Q</a:t>
              </a:r>
              <a:endParaRPr lang="it-IT" sz="2000"/>
            </a:p>
          </p:txBody>
        </p:sp>
        <p:sp>
          <p:nvSpPr>
            <p:cNvPr id="728110" name="AutoShape 46"/>
            <p:cNvSpPr>
              <a:spLocks noChangeArrowheads="1"/>
            </p:cNvSpPr>
            <p:nvPr/>
          </p:nvSpPr>
          <p:spPr bwMode="auto">
            <a:xfrm>
              <a:off x="3120" y="2208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 sz="2000"/>
            </a:p>
          </p:txBody>
        </p:sp>
        <p:sp>
          <p:nvSpPr>
            <p:cNvPr id="728111" name="AutoShape 47"/>
            <p:cNvSpPr>
              <a:spLocks noChangeArrowheads="1"/>
            </p:cNvSpPr>
            <p:nvPr/>
          </p:nvSpPr>
          <p:spPr bwMode="auto">
            <a:xfrm>
              <a:off x="4752" y="2208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 sz="2000"/>
            </a:p>
          </p:txBody>
        </p:sp>
        <p:sp>
          <p:nvSpPr>
            <p:cNvPr id="728112" name="AutoShape 48"/>
            <p:cNvSpPr>
              <a:spLocks noChangeArrowheads="1"/>
            </p:cNvSpPr>
            <p:nvPr/>
          </p:nvSpPr>
          <p:spPr bwMode="auto">
            <a:xfrm>
              <a:off x="3648" y="2208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 sz="2000"/>
            </a:p>
          </p:txBody>
        </p:sp>
        <p:sp>
          <p:nvSpPr>
            <p:cNvPr id="728113" name="AutoShape 49"/>
            <p:cNvSpPr>
              <a:spLocks noChangeArrowheads="1"/>
            </p:cNvSpPr>
            <p:nvPr/>
          </p:nvSpPr>
          <p:spPr bwMode="auto">
            <a:xfrm>
              <a:off x="4224" y="2208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74" tIns="45687" rIns="91374" bIns="45687" anchor="ctr"/>
            <a:lstStyle/>
            <a:p>
              <a:endParaRPr lang="en-US" sz="20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Algoritmo</a:t>
            </a:r>
            <a:r>
              <a:rPr lang="en-US" dirty="0"/>
              <a:t> di </a:t>
            </a:r>
            <a:r>
              <a:rPr lang="it-IT" dirty="0" err="1">
                <a:solidFill>
                  <a:srgbClr val="FF0000"/>
                </a:solidFill>
              </a:rPr>
              <a:t>Huffman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8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8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9090" name="Group 2"/>
          <p:cNvGrpSpPr>
            <a:grpSpLocks noChangeAspect="1"/>
          </p:cNvGrpSpPr>
          <p:nvPr/>
        </p:nvGrpSpPr>
        <p:grpSpPr bwMode="auto">
          <a:xfrm>
            <a:off x="107504" y="1988840"/>
            <a:ext cx="4114800" cy="2400300"/>
            <a:chOff x="3216" y="2580"/>
            <a:chExt cx="2256" cy="1404"/>
          </a:xfrm>
        </p:grpSpPr>
        <p:sp>
          <p:nvSpPr>
            <p:cNvPr id="729091" name="Rectangle 3"/>
            <p:cNvSpPr>
              <a:spLocks noChangeArrowheads="1"/>
            </p:cNvSpPr>
            <p:nvPr/>
          </p:nvSpPr>
          <p:spPr bwMode="auto">
            <a:xfrm>
              <a:off x="5136" y="2736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a</a:t>
              </a:r>
              <a:r>
                <a:rPr lang="it-IT" sz="2000"/>
                <a:t>:57</a:t>
              </a:r>
            </a:p>
          </p:txBody>
        </p:sp>
        <p:sp>
          <p:nvSpPr>
            <p:cNvPr id="729092" name="Oval 4"/>
            <p:cNvSpPr>
              <a:spLocks noChangeArrowheads="1"/>
            </p:cNvSpPr>
            <p:nvPr/>
          </p:nvSpPr>
          <p:spPr bwMode="auto">
            <a:xfrm>
              <a:off x="3648" y="2688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000"/>
                <a:t>25</a:t>
              </a:r>
            </a:p>
          </p:txBody>
        </p:sp>
        <p:sp>
          <p:nvSpPr>
            <p:cNvPr id="729093" name="Line 5"/>
            <p:cNvSpPr>
              <a:spLocks noChangeShapeType="1"/>
            </p:cNvSpPr>
            <p:nvPr/>
          </p:nvSpPr>
          <p:spPr bwMode="auto">
            <a:xfrm>
              <a:off x="3840" y="297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 sz="2000"/>
            </a:p>
          </p:txBody>
        </p:sp>
        <p:sp>
          <p:nvSpPr>
            <p:cNvPr id="729094" name="Line 6"/>
            <p:cNvSpPr>
              <a:spLocks noChangeShapeType="1"/>
            </p:cNvSpPr>
            <p:nvPr/>
          </p:nvSpPr>
          <p:spPr bwMode="auto">
            <a:xfrm flipH="1">
              <a:off x="3600" y="297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 sz="2000"/>
            </a:p>
          </p:txBody>
        </p:sp>
        <p:sp>
          <p:nvSpPr>
            <p:cNvPr id="729095" name="Rectangle 7"/>
            <p:cNvSpPr>
              <a:spLocks noChangeArrowheads="1"/>
            </p:cNvSpPr>
            <p:nvPr/>
          </p:nvSpPr>
          <p:spPr bwMode="auto">
            <a:xfrm>
              <a:off x="3840" y="326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b</a:t>
              </a:r>
              <a:r>
                <a:rPr lang="it-IT" sz="2000" b="1"/>
                <a:t>:</a:t>
              </a:r>
              <a:r>
                <a:rPr lang="it-IT" sz="2000"/>
                <a:t>13</a:t>
              </a:r>
            </a:p>
          </p:txBody>
        </p:sp>
        <p:sp>
          <p:nvSpPr>
            <p:cNvPr id="729096" name="Rectangle 8"/>
            <p:cNvSpPr>
              <a:spLocks noChangeArrowheads="1"/>
            </p:cNvSpPr>
            <p:nvPr/>
          </p:nvSpPr>
          <p:spPr bwMode="auto">
            <a:xfrm>
              <a:off x="3408" y="326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c</a:t>
              </a:r>
              <a:r>
                <a:rPr lang="it-IT" sz="2000"/>
                <a:t>:12</a:t>
              </a:r>
            </a:p>
          </p:txBody>
        </p:sp>
        <p:sp>
          <p:nvSpPr>
            <p:cNvPr id="729097" name="Text Box 9"/>
            <p:cNvSpPr txBox="1">
              <a:spLocks noChangeArrowheads="1"/>
            </p:cNvSpPr>
            <p:nvPr/>
          </p:nvSpPr>
          <p:spPr bwMode="auto">
            <a:xfrm>
              <a:off x="3552" y="2865"/>
              <a:ext cx="179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2000"/>
                <a:t>0</a:t>
              </a:r>
            </a:p>
          </p:txBody>
        </p:sp>
        <p:sp>
          <p:nvSpPr>
            <p:cNvPr id="729098" name="Text Box 10"/>
            <p:cNvSpPr txBox="1">
              <a:spLocks noChangeArrowheads="1"/>
            </p:cNvSpPr>
            <p:nvPr/>
          </p:nvSpPr>
          <p:spPr bwMode="auto">
            <a:xfrm>
              <a:off x="3840" y="2865"/>
              <a:ext cx="179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2000" dirty="0"/>
                <a:t>1</a:t>
              </a:r>
            </a:p>
          </p:txBody>
        </p:sp>
        <p:sp>
          <p:nvSpPr>
            <p:cNvPr id="729099" name="Oval 11"/>
            <p:cNvSpPr>
              <a:spLocks noChangeArrowheads="1"/>
            </p:cNvSpPr>
            <p:nvPr/>
          </p:nvSpPr>
          <p:spPr bwMode="auto">
            <a:xfrm>
              <a:off x="4560" y="2688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000"/>
                <a:t>38</a:t>
              </a:r>
            </a:p>
          </p:txBody>
        </p:sp>
        <p:sp>
          <p:nvSpPr>
            <p:cNvPr id="729100" name="Line 12"/>
            <p:cNvSpPr>
              <a:spLocks noChangeShapeType="1"/>
            </p:cNvSpPr>
            <p:nvPr/>
          </p:nvSpPr>
          <p:spPr bwMode="auto">
            <a:xfrm>
              <a:off x="4800" y="297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 sz="2000"/>
            </a:p>
          </p:txBody>
        </p:sp>
        <p:sp>
          <p:nvSpPr>
            <p:cNvPr id="729101" name="Line 13"/>
            <p:cNvSpPr>
              <a:spLocks noChangeShapeType="1"/>
            </p:cNvSpPr>
            <p:nvPr/>
          </p:nvSpPr>
          <p:spPr bwMode="auto">
            <a:xfrm flipH="1">
              <a:off x="4512" y="2976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 sz="2000"/>
            </a:p>
          </p:txBody>
        </p:sp>
        <p:sp>
          <p:nvSpPr>
            <p:cNvPr id="729102" name="Oval 14"/>
            <p:cNvSpPr>
              <a:spLocks noChangeArrowheads="1"/>
            </p:cNvSpPr>
            <p:nvPr/>
          </p:nvSpPr>
          <p:spPr bwMode="auto">
            <a:xfrm>
              <a:off x="4320" y="3216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000"/>
                <a:t>14</a:t>
              </a:r>
            </a:p>
          </p:txBody>
        </p:sp>
        <p:sp>
          <p:nvSpPr>
            <p:cNvPr id="729103" name="Line 15"/>
            <p:cNvSpPr>
              <a:spLocks noChangeShapeType="1"/>
            </p:cNvSpPr>
            <p:nvPr/>
          </p:nvSpPr>
          <p:spPr bwMode="auto">
            <a:xfrm flipH="1">
              <a:off x="4224" y="3504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 sz="2000"/>
            </a:p>
          </p:txBody>
        </p:sp>
        <p:sp>
          <p:nvSpPr>
            <p:cNvPr id="729104" name="Line 16"/>
            <p:cNvSpPr>
              <a:spLocks noChangeShapeType="1"/>
            </p:cNvSpPr>
            <p:nvPr/>
          </p:nvSpPr>
          <p:spPr bwMode="auto">
            <a:xfrm>
              <a:off x="4560" y="3504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 sz="2000"/>
            </a:p>
          </p:txBody>
        </p:sp>
        <p:sp>
          <p:nvSpPr>
            <p:cNvPr id="729105" name="Rectangle 17"/>
            <p:cNvSpPr>
              <a:spLocks noChangeArrowheads="1"/>
            </p:cNvSpPr>
            <p:nvPr/>
          </p:nvSpPr>
          <p:spPr bwMode="auto">
            <a:xfrm>
              <a:off x="4752" y="326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000" b="1" dirty="0">
                  <a:latin typeface="Courier New" charset="0"/>
                  <a:sym typeface="Symbol" charset="0"/>
                </a:rPr>
                <a:t>d</a:t>
              </a:r>
              <a:r>
                <a:rPr lang="it-IT" sz="2000" dirty="0"/>
                <a:t>:24</a:t>
              </a:r>
            </a:p>
          </p:txBody>
        </p:sp>
        <p:sp>
          <p:nvSpPr>
            <p:cNvPr id="729106" name="Rectangle 18"/>
            <p:cNvSpPr>
              <a:spLocks noChangeArrowheads="1"/>
            </p:cNvSpPr>
            <p:nvPr/>
          </p:nvSpPr>
          <p:spPr bwMode="auto">
            <a:xfrm>
              <a:off x="4080" y="3792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f</a:t>
              </a:r>
              <a:r>
                <a:rPr lang="it-IT" sz="2000"/>
                <a:t>:5</a:t>
              </a:r>
            </a:p>
          </p:txBody>
        </p:sp>
        <p:sp>
          <p:nvSpPr>
            <p:cNvPr id="729107" name="Rectangle 19"/>
            <p:cNvSpPr>
              <a:spLocks noChangeArrowheads="1"/>
            </p:cNvSpPr>
            <p:nvPr/>
          </p:nvSpPr>
          <p:spPr bwMode="auto">
            <a:xfrm>
              <a:off x="4512" y="3792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e</a:t>
              </a:r>
              <a:r>
                <a:rPr lang="it-IT" sz="2000"/>
                <a:t>:9</a:t>
              </a:r>
            </a:p>
          </p:txBody>
        </p:sp>
        <p:sp>
          <p:nvSpPr>
            <p:cNvPr id="729108" name="Text Box 20"/>
            <p:cNvSpPr txBox="1">
              <a:spLocks noChangeArrowheads="1"/>
            </p:cNvSpPr>
            <p:nvPr/>
          </p:nvSpPr>
          <p:spPr bwMode="auto">
            <a:xfrm>
              <a:off x="4416" y="2865"/>
              <a:ext cx="179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2000"/>
                <a:t>0</a:t>
              </a:r>
            </a:p>
          </p:txBody>
        </p:sp>
        <p:sp>
          <p:nvSpPr>
            <p:cNvPr id="729109" name="Text Box 21"/>
            <p:cNvSpPr txBox="1">
              <a:spLocks noChangeArrowheads="1"/>
            </p:cNvSpPr>
            <p:nvPr/>
          </p:nvSpPr>
          <p:spPr bwMode="auto">
            <a:xfrm>
              <a:off x="4176" y="3393"/>
              <a:ext cx="179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2000"/>
                <a:t>0</a:t>
              </a:r>
            </a:p>
          </p:txBody>
        </p:sp>
        <p:sp>
          <p:nvSpPr>
            <p:cNvPr id="729110" name="Text Box 22"/>
            <p:cNvSpPr txBox="1">
              <a:spLocks noChangeArrowheads="1"/>
            </p:cNvSpPr>
            <p:nvPr/>
          </p:nvSpPr>
          <p:spPr bwMode="auto">
            <a:xfrm>
              <a:off x="4800" y="2865"/>
              <a:ext cx="179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2000"/>
                <a:t>1</a:t>
              </a:r>
            </a:p>
          </p:txBody>
        </p:sp>
        <p:sp>
          <p:nvSpPr>
            <p:cNvPr id="729111" name="Text Box 23"/>
            <p:cNvSpPr txBox="1">
              <a:spLocks noChangeArrowheads="1"/>
            </p:cNvSpPr>
            <p:nvPr/>
          </p:nvSpPr>
          <p:spPr bwMode="auto">
            <a:xfrm>
              <a:off x="4560" y="3393"/>
              <a:ext cx="179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2000"/>
                <a:t>1</a:t>
              </a:r>
            </a:p>
          </p:txBody>
        </p:sp>
        <p:sp>
          <p:nvSpPr>
            <p:cNvPr id="729112" name="Text Box 24"/>
            <p:cNvSpPr txBox="1">
              <a:spLocks noChangeArrowheads="1"/>
            </p:cNvSpPr>
            <p:nvPr/>
          </p:nvSpPr>
          <p:spPr bwMode="auto">
            <a:xfrm>
              <a:off x="3216" y="2580"/>
              <a:ext cx="227" cy="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r>
                <a:rPr lang="it-IT" sz="2000" b="1">
                  <a:latin typeface="Courier New" charset="0"/>
                  <a:sym typeface="Symbol" charset="0"/>
                </a:rPr>
                <a:t>Q</a:t>
              </a:r>
              <a:endParaRPr lang="it-IT" sz="2000"/>
            </a:p>
          </p:txBody>
        </p:sp>
        <p:sp>
          <p:nvSpPr>
            <p:cNvPr id="729113" name="AutoShape 25"/>
            <p:cNvSpPr>
              <a:spLocks noChangeArrowheads="1"/>
            </p:cNvSpPr>
            <p:nvPr/>
          </p:nvSpPr>
          <p:spPr bwMode="auto">
            <a:xfrm>
              <a:off x="3456" y="2784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 sz="2000"/>
            </a:p>
          </p:txBody>
        </p:sp>
        <p:sp>
          <p:nvSpPr>
            <p:cNvPr id="729114" name="AutoShape 26"/>
            <p:cNvSpPr>
              <a:spLocks noChangeArrowheads="1"/>
            </p:cNvSpPr>
            <p:nvPr/>
          </p:nvSpPr>
          <p:spPr bwMode="auto">
            <a:xfrm>
              <a:off x="3984" y="2784"/>
              <a:ext cx="528" cy="96"/>
            </a:xfrm>
            <a:prstGeom prst="rightArrow">
              <a:avLst>
                <a:gd name="adj1" fmla="val 50000"/>
                <a:gd name="adj2" fmla="val 1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 sz="2000"/>
            </a:p>
          </p:txBody>
        </p:sp>
        <p:sp>
          <p:nvSpPr>
            <p:cNvPr id="729115" name="AutoShape 27"/>
            <p:cNvSpPr>
              <a:spLocks noChangeArrowheads="1"/>
            </p:cNvSpPr>
            <p:nvPr/>
          </p:nvSpPr>
          <p:spPr bwMode="auto">
            <a:xfrm>
              <a:off x="4896" y="2784"/>
              <a:ext cx="192" cy="9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57" tIns="45679" rIns="91357" bIns="45679" anchor="ctr"/>
            <a:lstStyle/>
            <a:p>
              <a:endParaRPr lang="en-US" sz="2000"/>
            </a:p>
          </p:txBody>
        </p:sp>
      </p:grpSp>
      <p:grpSp>
        <p:nvGrpSpPr>
          <p:cNvPr id="729116" name="Group 28"/>
          <p:cNvGrpSpPr>
            <a:grpSpLocks noChangeAspect="1"/>
          </p:cNvGrpSpPr>
          <p:nvPr/>
        </p:nvGrpSpPr>
        <p:grpSpPr bwMode="auto">
          <a:xfrm>
            <a:off x="4860032" y="1988840"/>
            <a:ext cx="3771900" cy="3360420"/>
            <a:chOff x="336" y="1908"/>
            <a:chExt cx="2016" cy="1836"/>
          </a:xfrm>
        </p:grpSpPr>
        <p:sp>
          <p:nvSpPr>
            <p:cNvPr id="729117" name="Oval 29"/>
            <p:cNvSpPr>
              <a:spLocks noChangeArrowheads="1"/>
            </p:cNvSpPr>
            <p:nvPr/>
          </p:nvSpPr>
          <p:spPr bwMode="auto">
            <a:xfrm>
              <a:off x="1392" y="2016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000"/>
                <a:t>63</a:t>
              </a:r>
            </a:p>
          </p:txBody>
        </p:sp>
        <p:sp>
          <p:nvSpPr>
            <p:cNvPr id="729118" name="Rectangle 30"/>
            <p:cNvSpPr>
              <a:spLocks noChangeArrowheads="1"/>
            </p:cNvSpPr>
            <p:nvPr/>
          </p:nvSpPr>
          <p:spPr bwMode="auto">
            <a:xfrm>
              <a:off x="768" y="206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000" b="1" dirty="0">
                  <a:latin typeface="Courier New" charset="0"/>
                  <a:sym typeface="Symbol" charset="0"/>
                </a:rPr>
                <a:t>a</a:t>
              </a:r>
              <a:r>
                <a:rPr lang="it-IT" sz="2000" dirty="0"/>
                <a:t>:57</a:t>
              </a:r>
            </a:p>
          </p:txBody>
        </p:sp>
        <p:sp>
          <p:nvSpPr>
            <p:cNvPr id="729119" name="Line 31"/>
            <p:cNvSpPr>
              <a:spLocks noChangeShapeType="1"/>
            </p:cNvSpPr>
            <p:nvPr/>
          </p:nvSpPr>
          <p:spPr bwMode="auto">
            <a:xfrm flipH="1">
              <a:off x="1152" y="2256"/>
              <a:ext cx="288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 sz="2000"/>
            </a:p>
          </p:txBody>
        </p:sp>
        <p:sp>
          <p:nvSpPr>
            <p:cNvPr id="729120" name="Oval 32"/>
            <p:cNvSpPr>
              <a:spLocks noChangeArrowheads="1"/>
            </p:cNvSpPr>
            <p:nvPr/>
          </p:nvSpPr>
          <p:spPr bwMode="auto">
            <a:xfrm>
              <a:off x="912" y="2448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000"/>
                <a:t>25</a:t>
              </a:r>
            </a:p>
          </p:txBody>
        </p:sp>
        <p:sp>
          <p:nvSpPr>
            <p:cNvPr id="729121" name="Oval 33"/>
            <p:cNvSpPr>
              <a:spLocks noChangeArrowheads="1"/>
            </p:cNvSpPr>
            <p:nvPr/>
          </p:nvSpPr>
          <p:spPr bwMode="auto">
            <a:xfrm>
              <a:off x="1824" y="2448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000"/>
                <a:t>38</a:t>
              </a:r>
            </a:p>
          </p:txBody>
        </p:sp>
        <p:sp>
          <p:nvSpPr>
            <p:cNvPr id="729122" name="Line 34"/>
            <p:cNvSpPr>
              <a:spLocks noChangeShapeType="1"/>
            </p:cNvSpPr>
            <p:nvPr/>
          </p:nvSpPr>
          <p:spPr bwMode="auto">
            <a:xfrm>
              <a:off x="1632" y="2256"/>
              <a:ext cx="24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 sz="2000"/>
            </a:p>
          </p:txBody>
        </p:sp>
        <p:sp>
          <p:nvSpPr>
            <p:cNvPr id="729123" name="Line 35"/>
            <p:cNvSpPr>
              <a:spLocks noChangeShapeType="1"/>
            </p:cNvSpPr>
            <p:nvPr/>
          </p:nvSpPr>
          <p:spPr bwMode="auto">
            <a:xfrm>
              <a:off x="1104" y="273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 sz="2000"/>
            </a:p>
          </p:txBody>
        </p:sp>
        <p:sp>
          <p:nvSpPr>
            <p:cNvPr id="729124" name="Line 36"/>
            <p:cNvSpPr>
              <a:spLocks noChangeShapeType="1"/>
            </p:cNvSpPr>
            <p:nvPr/>
          </p:nvSpPr>
          <p:spPr bwMode="auto">
            <a:xfrm>
              <a:off x="2064" y="273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 sz="2000"/>
            </a:p>
          </p:txBody>
        </p:sp>
        <p:sp>
          <p:nvSpPr>
            <p:cNvPr id="729125" name="Line 37"/>
            <p:cNvSpPr>
              <a:spLocks noChangeShapeType="1"/>
            </p:cNvSpPr>
            <p:nvPr/>
          </p:nvSpPr>
          <p:spPr bwMode="auto">
            <a:xfrm flipH="1">
              <a:off x="864" y="273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 sz="2000"/>
            </a:p>
          </p:txBody>
        </p:sp>
        <p:sp>
          <p:nvSpPr>
            <p:cNvPr id="729126" name="Line 38"/>
            <p:cNvSpPr>
              <a:spLocks noChangeShapeType="1"/>
            </p:cNvSpPr>
            <p:nvPr/>
          </p:nvSpPr>
          <p:spPr bwMode="auto">
            <a:xfrm flipH="1">
              <a:off x="1776" y="2736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 sz="2000"/>
            </a:p>
          </p:txBody>
        </p:sp>
        <p:sp>
          <p:nvSpPr>
            <p:cNvPr id="729127" name="Oval 39"/>
            <p:cNvSpPr>
              <a:spLocks noChangeArrowheads="1"/>
            </p:cNvSpPr>
            <p:nvPr/>
          </p:nvSpPr>
          <p:spPr bwMode="auto">
            <a:xfrm>
              <a:off x="1584" y="2976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000"/>
                <a:t>14</a:t>
              </a:r>
            </a:p>
          </p:txBody>
        </p:sp>
        <p:sp>
          <p:nvSpPr>
            <p:cNvPr id="729128" name="Line 40"/>
            <p:cNvSpPr>
              <a:spLocks noChangeShapeType="1"/>
            </p:cNvSpPr>
            <p:nvPr/>
          </p:nvSpPr>
          <p:spPr bwMode="auto">
            <a:xfrm flipH="1">
              <a:off x="1488" y="3264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 sz="2000"/>
            </a:p>
          </p:txBody>
        </p:sp>
        <p:sp>
          <p:nvSpPr>
            <p:cNvPr id="729129" name="Line 41"/>
            <p:cNvSpPr>
              <a:spLocks noChangeShapeType="1"/>
            </p:cNvSpPr>
            <p:nvPr/>
          </p:nvSpPr>
          <p:spPr bwMode="auto">
            <a:xfrm>
              <a:off x="1824" y="3264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 sz="2000"/>
            </a:p>
          </p:txBody>
        </p:sp>
        <p:sp>
          <p:nvSpPr>
            <p:cNvPr id="729130" name="Rectangle 42"/>
            <p:cNvSpPr>
              <a:spLocks noChangeArrowheads="1"/>
            </p:cNvSpPr>
            <p:nvPr/>
          </p:nvSpPr>
          <p:spPr bwMode="auto">
            <a:xfrm>
              <a:off x="1104" y="302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b</a:t>
              </a:r>
              <a:r>
                <a:rPr lang="it-IT" sz="2000"/>
                <a:t>:13</a:t>
              </a:r>
            </a:p>
          </p:txBody>
        </p:sp>
        <p:sp>
          <p:nvSpPr>
            <p:cNvPr id="729131" name="Rectangle 43"/>
            <p:cNvSpPr>
              <a:spLocks noChangeArrowheads="1"/>
            </p:cNvSpPr>
            <p:nvPr/>
          </p:nvSpPr>
          <p:spPr bwMode="auto">
            <a:xfrm>
              <a:off x="672" y="302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c</a:t>
              </a:r>
              <a:r>
                <a:rPr lang="it-IT" sz="2000"/>
                <a:t>:12</a:t>
              </a:r>
            </a:p>
          </p:txBody>
        </p:sp>
        <p:sp>
          <p:nvSpPr>
            <p:cNvPr id="729132" name="Rectangle 44"/>
            <p:cNvSpPr>
              <a:spLocks noChangeArrowheads="1"/>
            </p:cNvSpPr>
            <p:nvPr/>
          </p:nvSpPr>
          <p:spPr bwMode="auto">
            <a:xfrm>
              <a:off x="2016" y="302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d</a:t>
              </a:r>
              <a:r>
                <a:rPr lang="it-IT" sz="2000"/>
                <a:t>:24</a:t>
              </a:r>
            </a:p>
          </p:txBody>
        </p:sp>
        <p:sp>
          <p:nvSpPr>
            <p:cNvPr id="729133" name="Rectangle 45"/>
            <p:cNvSpPr>
              <a:spLocks noChangeArrowheads="1"/>
            </p:cNvSpPr>
            <p:nvPr/>
          </p:nvSpPr>
          <p:spPr bwMode="auto">
            <a:xfrm>
              <a:off x="1344" y="3552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f</a:t>
              </a:r>
              <a:r>
                <a:rPr lang="it-IT" sz="2000"/>
                <a:t>:5</a:t>
              </a:r>
            </a:p>
          </p:txBody>
        </p:sp>
        <p:sp>
          <p:nvSpPr>
            <p:cNvPr id="729134" name="Rectangle 46"/>
            <p:cNvSpPr>
              <a:spLocks noChangeArrowheads="1"/>
            </p:cNvSpPr>
            <p:nvPr/>
          </p:nvSpPr>
          <p:spPr bwMode="auto">
            <a:xfrm>
              <a:off x="1776" y="3552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e</a:t>
              </a:r>
              <a:r>
                <a:rPr lang="it-IT" sz="2000"/>
                <a:t>:9</a:t>
              </a:r>
            </a:p>
          </p:txBody>
        </p:sp>
        <p:sp>
          <p:nvSpPr>
            <p:cNvPr id="729135" name="Text Box 47"/>
            <p:cNvSpPr txBox="1">
              <a:spLocks noChangeArrowheads="1"/>
            </p:cNvSpPr>
            <p:nvPr/>
          </p:nvSpPr>
          <p:spPr bwMode="auto">
            <a:xfrm>
              <a:off x="1152" y="2145"/>
              <a:ext cx="174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000"/>
                <a:t>0</a:t>
              </a:r>
            </a:p>
          </p:txBody>
        </p:sp>
        <p:sp>
          <p:nvSpPr>
            <p:cNvPr id="729136" name="Text Box 48"/>
            <p:cNvSpPr txBox="1">
              <a:spLocks noChangeArrowheads="1"/>
            </p:cNvSpPr>
            <p:nvPr/>
          </p:nvSpPr>
          <p:spPr bwMode="auto">
            <a:xfrm>
              <a:off x="816" y="2625"/>
              <a:ext cx="174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000"/>
                <a:t>0</a:t>
              </a:r>
            </a:p>
          </p:txBody>
        </p:sp>
        <p:sp>
          <p:nvSpPr>
            <p:cNvPr id="729137" name="Text Box 49"/>
            <p:cNvSpPr txBox="1">
              <a:spLocks noChangeArrowheads="1"/>
            </p:cNvSpPr>
            <p:nvPr/>
          </p:nvSpPr>
          <p:spPr bwMode="auto">
            <a:xfrm>
              <a:off x="1680" y="2625"/>
              <a:ext cx="174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000"/>
                <a:t>0</a:t>
              </a:r>
            </a:p>
          </p:txBody>
        </p:sp>
        <p:sp>
          <p:nvSpPr>
            <p:cNvPr id="729138" name="Text Box 50"/>
            <p:cNvSpPr txBox="1">
              <a:spLocks noChangeArrowheads="1"/>
            </p:cNvSpPr>
            <p:nvPr/>
          </p:nvSpPr>
          <p:spPr bwMode="auto">
            <a:xfrm>
              <a:off x="1440" y="3153"/>
              <a:ext cx="174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000"/>
                <a:t>0</a:t>
              </a:r>
            </a:p>
          </p:txBody>
        </p:sp>
        <p:sp>
          <p:nvSpPr>
            <p:cNvPr id="729139" name="Text Box 51"/>
            <p:cNvSpPr txBox="1">
              <a:spLocks noChangeArrowheads="1"/>
            </p:cNvSpPr>
            <p:nvPr/>
          </p:nvSpPr>
          <p:spPr bwMode="auto">
            <a:xfrm>
              <a:off x="1680" y="2145"/>
              <a:ext cx="174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000"/>
                <a:t>1</a:t>
              </a:r>
            </a:p>
          </p:txBody>
        </p:sp>
        <p:sp>
          <p:nvSpPr>
            <p:cNvPr id="729140" name="Text Box 52"/>
            <p:cNvSpPr txBox="1">
              <a:spLocks noChangeArrowheads="1"/>
            </p:cNvSpPr>
            <p:nvPr/>
          </p:nvSpPr>
          <p:spPr bwMode="auto">
            <a:xfrm>
              <a:off x="2064" y="2625"/>
              <a:ext cx="174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000"/>
                <a:t>1</a:t>
              </a:r>
            </a:p>
          </p:txBody>
        </p:sp>
        <p:sp>
          <p:nvSpPr>
            <p:cNvPr id="729141" name="Text Box 53"/>
            <p:cNvSpPr txBox="1">
              <a:spLocks noChangeArrowheads="1"/>
            </p:cNvSpPr>
            <p:nvPr/>
          </p:nvSpPr>
          <p:spPr bwMode="auto">
            <a:xfrm>
              <a:off x="1104" y="2625"/>
              <a:ext cx="174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000"/>
                <a:t>1</a:t>
              </a:r>
            </a:p>
          </p:txBody>
        </p:sp>
        <p:sp>
          <p:nvSpPr>
            <p:cNvPr id="729142" name="Text Box 54"/>
            <p:cNvSpPr txBox="1">
              <a:spLocks noChangeArrowheads="1"/>
            </p:cNvSpPr>
            <p:nvPr/>
          </p:nvSpPr>
          <p:spPr bwMode="auto">
            <a:xfrm>
              <a:off x="1824" y="3153"/>
              <a:ext cx="174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000"/>
                <a:t>1</a:t>
              </a:r>
            </a:p>
          </p:txBody>
        </p:sp>
        <p:sp>
          <p:nvSpPr>
            <p:cNvPr id="729143" name="Text Box 55"/>
            <p:cNvSpPr txBox="1">
              <a:spLocks noChangeArrowheads="1"/>
            </p:cNvSpPr>
            <p:nvPr/>
          </p:nvSpPr>
          <p:spPr bwMode="auto">
            <a:xfrm>
              <a:off x="336" y="1908"/>
              <a:ext cx="221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000" b="1">
                  <a:latin typeface="Courier New" charset="0"/>
                  <a:sym typeface="Symbol" charset="0"/>
                </a:rPr>
                <a:t>Q</a:t>
              </a:r>
              <a:endParaRPr lang="it-IT" sz="2000"/>
            </a:p>
          </p:txBody>
        </p:sp>
        <p:sp>
          <p:nvSpPr>
            <p:cNvPr id="729144" name="AutoShape 56"/>
            <p:cNvSpPr>
              <a:spLocks noChangeArrowheads="1"/>
            </p:cNvSpPr>
            <p:nvPr/>
          </p:nvSpPr>
          <p:spPr bwMode="auto">
            <a:xfrm>
              <a:off x="576" y="2112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 sz="2000"/>
            </a:p>
          </p:txBody>
        </p:sp>
        <p:sp>
          <p:nvSpPr>
            <p:cNvPr id="729145" name="AutoShape 57"/>
            <p:cNvSpPr>
              <a:spLocks noChangeArrowheads="1"/>
            </p:cNvSpPr>
            <p:nvPr/>
          </p:nvSpPr>
          <p:spPr bwMode="auto">
            <a:xfrm>
              <a:off x="1152" y="2112"/>
              <a:ext cx="192" cy="9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 sz="20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Algoritmo</a:t>
            </a:r>
            <a:r>
              <a:rPr lang="en-US" dirty="0"/>
              <a:t> di </a:t>
            </a:r>
            <a:r>
              <a:rPr lang="it-IT" dirty="0" err="1">
                <a:solidFill>
                  <a:srgbClr val="FF0000"/>
                </a:solidFill>
              </a:rPr>
              <a:t>Huffman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9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9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9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0114" name="Group 2"/>
          <p:cNvGrpSpPr>
            <a:grpSpLocks noChangeAspect="1"/>
          </p:cNvGrpSpPr>
          <p:nvPr/>
        </p:nvGrpSpPr>
        <p:grpSpPr bwMode="auto">
          <a:xfrm>
            <a:off x="601216" y="1340765"/>
            <a:ext cx="3703320" cy="3360420"/>
            <a:chOff x="336" y="1908"/>
            <a:chExt cx="2016" cy="1836"/>
          </a:xfrm>
        </p:grpSpPr>
        <p:sp>
          <p:nvSpPr>
            <p:cNvPr id="730115" name="Oval 3"/>
            <p:cNvSpPr>
              <a:spLocks noChangeArrowheads="1"/>
            </p:cNvSpPr>
            <p:nvPr/>
          </p:nvSpPr>
          <p:spPr bwMode="auto">
            <a:xfrm>
              <a:off x="1392" y="2016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000"/>
                <a:t>63</a:t>
              </a:r>
            </a:p>
          </p:txBody>
        </p:sp>
        <p:sp>
          <p:nvSpPr>
            <p:cNvPr id="730116" name="Rectangle 4"/>
            <p:cNvSpPr>
              <a:spLocks noChangeArrowheads="1"/>
            </p:cNvSpPr>
            <p:nvPr/>
          </p:nvSpPr>
          <p:spPr bwMode="auto">
            <a:xfrm>
              <a:off x="768" y="206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a</a:t>
              </a:r>
              <a:r>
                <a:rPr lang="it-IT" sz="2000"/>
                <a:t>:57</a:t>
              </a:r>
            </a:p>
          </p:txBody>
        </p:sp>
        <p:sp>
          <p:nvSpPr>
            <p:cNvPr id="730117" name="Line 5"/>
            <p:cNvSpPr>
              <a:spLocks noChangeShapeType="1"/>
            </p:cNvSpPr>
            <p:nvPr/>
          </p:nvSpPr>
          <p:spPr bwMode="auto">
            <a:xfrm flipH="1">
              <a:off x="1152" y="2256"/>
              <a:ext cx="288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 sz="2000"/>
            </a:p>
          </p:txBody>
        </p:sp>
        <p:sp>
          <p:nvSpPr>
            <p:cNvPr id="730118" name="Oval 6"/>
            <p:cNvSpPr>
              <a:spLocks noChangeArrowheads="1"/>
            </p:cNvSpPr>
            <p:nvPr/>
          </p:nvSpPr>
          <p:spPr bwMode="auto">
            <a:xfrm>
              <a:off x="912" y="2448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000"/>
                <a:t>25</a:t>
              </a:r>
            </a:p>
          </p:txBody>
        </p:sp>
        <p:sp>
          <p:nvSpPr>
            <p:cNvPr id="730119" name="Oval 7"/>
            <p:cNvSpPr>
              <a:spLocks noChangeArrowheads="1"/>
            </p:cNvSpPr>
            <p:nvPr/>
          </p:nvSpPr>
          <p:spPr bwMode="auto">
            <a:xfrm>
              <a:off x="1824" y="2448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000"/>
                <a:t>38</a:t>
              </a:r>
            </a:p>
          </p:txBody>
        </p:sp>
        <p:sp>
          <p:nvSpPr>
            <p:cNvPr id="730120" name="Line 8"/>
            <p:cNvSpPr>
              <a:spLocks noChangeShapeType="1"/>
            </p:cNvSpPr>
            <p:nvPr/>
          </p:nvSpPr>
          <p:spPr bwMode="auto">
            <a:xfrm>
              <a:off x="1632" y="2256"/>
              <a:ext cx="24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 sz="2000"/>
            </a:p>
          </p:txBody>
        </p:sp>
        <p:sp>
          <p:nvSpPr>
            <p:cNvPr id="730121" name="Line 9"/>
            <p:cNvSpPr>
              <a:spLocks noChangeShapeType="1"/>
            </p:cNvSpPr>
            <p:nvPr/>
          </p:nvSpPr>
          <p:spPr bwMode="auto">
            <a:xfrm>
              <a:off x="1104" y="273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 sz="2000"/>
            </a:p>
          </p:txBody>
        </p:sp>
        <p:sp>
          <p:nvSpPr>
            <p:cNvPr id="730122" name="Line 10"/>
            <p:cNvSpPr>
              <a:spLocks noChangeShapeType="1"/>
            </p:cNvSpPr>
            <p:nvPr/>
          </p:nvSpPr>
          <p:spPr bwMode="auto">
            <a:xfrm>
              <a:off x="2064" y="273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 sz="2000"/>
            </a:p>
          </p:txBody>
        </p:sp>
        <p:sp>
          <p:nvSpPr>
            <p:cNvPr id="730123" name="Line 11"/>
            <p:cNvSpPr>
              <a:spLocks noChangeShapeType="1"/>
            </p:cNvSpPr>
            <p:nvPr/>
          </p:nvSpPr>
          <p:spPr bwMode="auto">
            <a:xfrm flipH="1">
              <a:off x="864" y="273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 sz="2000"/>
            </a:p>
          </p:txBody>
        </p:sp>
        <p:sp>
          <p:nvSpPr>
            <p:cNvPr id="730124" name="Line 12"/>
            <p:cNvSpPr>
              <a:spLocks noChangeShapeType="1"/>
            </p:cNvSpPr>
            <p:nvPr/>
          </p:nvSpPr>
          <p:spPr bwMode="auto">
            <a:xfrm flipH="1">
              <a:off x="1776" y="2736"/>
              <a:ext cx="96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 sz="2000"/>
            </a:p>
          </p:txBody>
        </p:sp>
        <p:sp>
          <p:nvSpPr>
            <p:cNvPr id="730125" name="Oval 13"/>
            <p:cNvSpPr>
              <a:spLocks noChangeArrowheads="1"/>
            </p:cNvSpPr>
            <p:nvPr/>
          </p:nvSpPr>
          <p:spPr bwMode="auto">
            <a:xfrm>
              <a:off x="1584" y="2976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000"/>
                <a:t>14</a:t>
              </a:r>
            </a:p>
          </p:txBody>
        </p:sp>
        <p:sp>
          <p:nvSpPr>
            <p:cNvPr id="730126" name="Line 14"/>
            <p:cNvSpPr>
              <a:spLocks noChangeShapeType="1"/>
            </p:cNvSpPr>
            <p:nvPr/>
          </p:nvSpPr>
          <p:spPr bwMode="auto">
            <a:xfrm flipH="1">
              <a:off x="1488" y="3264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 sz="2000"/>
            </a:p>
          </p:txBody>
        </p:sp>
        <p:sp>
          <p:nvSpPr>
            <p:cNvPr id="730127" name="Line 15"/>
            <p:cNvSpPr>
              <a:spLocks noChangeShapeType="1"/>
            </p:cNvSpPr>
            <p:nvPr/>
          </p:nvSpPr>
          <p:spPr bwMode="auto">
            <a:xfrm>
              <a:off x="1824" y="3264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 sz="2000"/>
            </a:p>
          </p:txBody>
        </p:sp>
        <p:sp>
          <p:nvSpPr>
            <p:cNvPr id="730128" name="Rectangle 16"/>
            <p:cNvSpPr>
              <a:spLocks noChangeArrowheads="1"/>
            </p:cNvSpPr>
            <p:nvPr/>
          </p:nvSpPr>
          <p:spPr bwMode="auto">
            <a:xfrm>
              <a:off x="1104" y="302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b</a:t>
              </a:r>
              <a:r>
                <a:rPr lang="it-IT" sz="2000"/>
                <a:t>:13</a:t>
              </a:r>
            </a:p>
          </p:txBody>
        </p:sp>
        <p:sp>
          <p:nvSpPr>
            <p:cNvPr id="730129" name="Rectangle 17"/>
            <p:cNvSpPr>
              <a:spLocks noChangeArrowheads="1"/>
            </p:cNvSpPr>
            <p:nvPr/>
          </p:nvSpPr>
          <p:spPr bwMode="auto">
            <a:xfrm>
              <a:off x="672" y="302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c</a:t>
              </a:r>
              <a:r>
                <a:rPr lang="it-IT" sz="2000"/>
                <a:t>:12</a:t>
              </a:r>
            </a:p>
          </p:txBody>
        </p:sp>
        <p:sp>
          <p:nvSpPr>
            <p:cNvPr id="730130" name="Rectangle 18"/>
            <p:cNvSpPr>
              <a:spLocks noChangeArrowheads="1"/>
            </p:cNvSpPr>
            <p:nvPr/>
          </p:nvSpPr>
          <p:spPr bwMode="auto">
            <a:xfrm>
              <a:off x="2016" y="302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d</a:t>
              </a:r>
              <a:r>
                <a:rPr lang="it-IT" sz="2000"/>
                <a:t>:24</a:t>
              </a:r>
            </a:p>
          </p:txBody>
        </p:sp>
        <p:sp>
          <p:nvSpPr>
            <p:cNvPr id="730131" name="Rectangle 19"/>
            <p:cNvSpPr>
              <a:spLocks noChangeArrowheads="1"/>
            </p:cNvSpPr>
            <p:nvPr/>
          </p:nvSpPr>
          <p:spPr bwMode="auto">
            <a:xfrm>
              <a:off x="1344" y="3552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f</a:t>
              </a:r>
              <a:r>
                <a:rPr lang="it-IT" sz="2000"/>
                <a:t>:5</a:t>
              </a:r>
            </a:p>
          </p:txBody>
        </p:sp>
        <p:sp>
          <p:nvSpPr>
            <p:cNvPr id="730132" name="Rectangle 20"/>
            <p:cNvSpPr>
              <a:spLocks noChangeArrowheads="1"/>
            </p:cNvSpPr>
            <p:nvPr/>
          </p:nvSpPr>
          <p:spPr bwMode="auto">
            <a:xfrm>
              <a:off x="1776" y="3552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e</a:t>
              </a:r>
              <a:r>
                <a:rPr lang="it-IT" sz="2000"/>
                <a:t>:9</a:t>
              </a:r>
            </a:p>
          </p:txBody>
        </p:sp>
        <p:sp>
          <p:nvSpPr>
            <p:cNvPr id="730133" name="Text Box 21"/>
            <p:cNvSpPr txBox="1">
              <a:spLocks noChangeArrowheads="1"/>
            </p:cNvSpPr>
            <p:nvPr/>
          </p:nvSpPr>
          <p:spPr bwMode="auto">
            <a:xfrm>
              <a:off x="1152" y="2145"/>
              <a:ext cx="177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000"/>
                <a:t>0</a:t>
              </a:r>
            </a:p>
          </p:txBody>
        </p:sp>
        <p:sp>
          <p:nvSpPr>
            <p:cNvPr id="730134" name="Text Box 22"/>
            <p:cNvSpPr txBox="1">
              <a:spLocks noChangeArrowheads="1"/>
            </p:cNvSpPr>
            <p:nvPr/>
          </p:nvSpPr>
          <p:spPr bwMode="auto">
            <a:xfrm>
              <a:off x="816" y="2625"/>
              <a:ext cx="177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000"/>
                <a:t>0</a:t>
              </a:r>
            </a:p>
          </p:txBody>
        </p:sp>
        <p:sp>
          <p:nvSpPr>
            <p:cNvPr id="730135" name="Text Box 23"/>
            <p:cNvSpPr txBox="1">
              <a:spLocks noChangeArrowheads="1"/>
            </p:cNvSpPr>
            <p:nvPr/>
          </p:nvSpPr>
          <p:spPr bwMode="auto">
            <a:xfrm>
              <a:off x="1680" y="2625"/>
              <a:ext cx="177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000"/>
                <a:t>0</a:t>
              </a:r>
            </a:p>
          </p:txBody>
        </p:sp>
        <p:sp>
          <p:nvSpPr>
            <p:cNvPr id="730136" name="Text Box 24"/>
            <p:cNvSpPr txBox="1">
              <a:spLocks noChangeArrowheads="1"/>
            </p:cNvSpPr>
            <p:nvPr/>
          </p:nvSpPr>
          <p:spPr bwMode="auto">
            <a:xfrm>
              <a:off x="1440" y="3153"/>
              <a:ext cx="177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000"/>
                <a:t>0</a:t>
              </a:r>
            </a:p>
          </p:txBody>
        </p:sp>
        <p:sp>
          <p:nvSpPr>
            <p:cNvPr id="730137" name="Text Box 25"/>
            <p:cNvSpPr txBox="1">
              <a:spLocks noChangeArrowheads="1"/>
            </p:cNvSpPr>
            <p:nvPr/>
          </p:nvSpPr>
          <p:spPr bwMode="auto">
            <a:xfrm>
              <a:off x="1680" y="2145"/>
              <a:ext cx="177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000"/>
                <a:t>1</a:t>
              </a:r>
            </a:p>
          </p:txBody>
        </p:sp>
        <p:sp>
          <p:nvSpPr>
            <p:cNvPr id="730138" name="Text Box 26"/>
            <p:cNvSpPr txBox="1">
              <a:spLocks noChangeArrowheads="1"/>
            </p:cNvSpPr>
            <p:nvPr/>
          </p:nvSpPr>
          <p:spPr bwMode="auto">
            <a:xfrm>
              <a:off x="2064" y="2625"/>
              <a:ext cx="178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000"/>
                <a:t>1</a:t>
              </a:r>
            </a:p>
          </p:txBody>
        </p:sp>
        <p:sp>
          <p:nvSpPr>
            <p:cNvPr id="730139" name="Text Box 27"/>
            <p:cNvSpPr txBox="1">
              <a:spLocks noChangeArrowheads="1"/>
            </p:cNvSpPr>
            <p:nvPr/>
          </p:nvSpPr>
          <p:spPr bwMode="auto">
            <a:xfrm>
              <a:off x="1104" y="2625"/>
              <a:ext cx="177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000"/>
                <a:t>1</a:t>
              </a:r>
            </a:p>
          </p:txBody>
        </p:sp>
        <p:sp>
          <p:nvSpPr>
            <p:cNvPr id="730140" name="Text Box 28"/>
            <p:cNvSpPr txBox="1">
              <a:spLocks noChangeArrowheads="1"/>
            </p:cNvSpPr>
            <p:nvPr/>
          </p:nvSpPr>
          <p:spPr bwMode="auto">
            <a:xfrm>
              <a:off x="1824" y="3153"/>
              <a:ext cx="177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000" dirty="0"/>
                <a:t>1</a:t>
              </a:r>
            </a:p>
          </p:txBody>
        </p:sp>
        <p:sp>
          <p:nvSpPr>
            <p:cNvPr id="730141" name="Text Box 29"/>
            <p:cNvSpPr txBox="1">
              <a:spLocks noChangeArrowheads="1"/>
            </p:cNvSpPr>
            <p:nvPr/>
          </p:nvSpPr>
          <p:spPr bwMode="auto">
            <a:xfrm>
              <a:off x="336" y="1908"/>
              <a:ext cx="226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r>
                <a:rPr lang="it-IT" sz="2000" b="1">
                  <a:latin typeface="Courier New" charset="0"/>
                  <a:sym typeface="Symbol" charset="0"/>
                </a:rPr>
                <a:t>Q</a:t>
              </a:r>
              <a:endParaRPr lang="it-IT" sz="2000"/>
            </a:p>
          </p:txBody>
        </p:sp>
        <p:sp>
          <p:nvSpPr>
            <p:cNvPr id="730142" name="AutoShape 30"/>
            <p:cNvSpPr>
              <a:spLocks noChangeArrowheads="1"/>
            </p:cNvSpPr>
            <p:nvPr/>
          </p:nvSpPr>
          <p:spPr bwMode="auto">
            <a:xfrm>
              <a:off x="576" y="2112"/>
              <a:ext cx="144" cy="96"/>
            </a:xfrm>
            <a:prstGeom prst="rightArrow">
              <a:avLst>
                <a:gd name="adj1" fmla="val 50000"/>
                <a:gd name="adj2" fmla="val 37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 sz="2000"/>
            </a:p>
          </p:txBody>
        </p:sp>
        <p:sp>
          <p:nvSpPr>
            <p:cNvPr id="730143" name="AutoShape 31"/>
            <p:cNvSpPr>
              <a:spLocks noChangeArrowheads="1"/>
            </p:cNvSpPr>
            <p:nvPr/>
          </p:nvSpPr>
          <p:spPr bwMode="auto">
            <a:xfrm>
              <a:off x="1152" y="2112"/>
              <a:ext cx="192" cy="9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43" tIns="45672" rIns="91343" bIns="45672" anchor="ctr"/>
            <a:lstStyle/>
            <a:p>
              <a:endParaRPr lang="en-US" sz="2000"/>
            </a:p>
          </p:txBody>
        </p:sp>
      </p:grpSp>
      <p:grpSp>
        <p:nvGrpSpPr>
          <p:cNvPr id="730144" name="Group 32"/>
          <p:cNvGrpSpPr>
            <a:grpSpLocks noChangeAspect="1"/>
          </p:cNvGrpSpPr>
          <p:nvPr/>
        </p:nvGrpSpPr>
        <p:grpSpPr bwMode="auto">
          <a:xfrm>
            <a:off x="4716016" y="1340768"/>
            <a:ext cx="3703320" cy="4406265"/>
            <a:chOff x="3456" y="1908"/>
            <a:chExt cx="1920" cy="2268"/>
          </a:xfrm>
        </p:grpSpPr>
        <p:sp>
          <p:nvSpPr>
            <p:cNvPr id="730145" name="Oval 33"/>
            <p:cNvSpPr>
              <a:spLocks noChangeArrowheads="1"/>
            </p:cNvSpPr>
            <p:nvPr/>
          </p:nvSpPr>
          <p:spPr bwMode="auto">
            <a:xfrm>
              <a:off x="4416" y="2448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000"/>
                <a:t>63</a:t>
              </a:r>
            </a:p>
          </p:txBody>
        </p:sp>
        <p:sp>
          <p:nvSpPr>
            <p:cNvPr id="730146" name="Oval 34"/>
            <p:cNvSpPr>
              <a:spLocks noChangeArrowheads="1"/>
            </p:cNvSpPr>
            <p:nvPr/>
          </p:nvSpPr>
          <p:spPr bwMode="auto">
            <a:xfrm>
              <a:off x="3936" y="2016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000"/>
                <a:t>120</a:t>
              </a:r>
            </a:p>
          </p:txBody>
        </p:sp>
        <p:sp>
          <p:nvSpPr>
            <p:cNvPr id="730147" name="Line 35"/>
            <p:cNvSpPr>
              <a:spLocks noChangeShapeType="1"/>
            </p:cNvSpPr>
            <p:nvPr/>
          </p:nvSpPr>
          <p:spPr bwMode="auto">
            <a:xfrm>
              <a:off x="4176" y="2256"/>
              <a:ext cx="288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 sz="2000"/>
            </a:p>
          </p:txBody>
        </p:sp>
        <p:sp>
          <p:nvSpPr>
            <p:cNvPr id="730148" name="Rectangle 36"/>
            <p:cNvSpPr>
              <a:spLocks noChangeArrowheads="1"/>
            </p:cNvSpPr>
            <p:nvPr/>
          </p:nvSpPr>
          <p:spPr bwMode="auto">
            <a:xfrm>
              <a:off x="3600" y="254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a</a:t>
              </a:r>
              <a:r>
                <a:rPr lang="it-IT" sz="2000"/>
                <a:t>:57</a:t>
              </a:r>
            </a:p>
          </p:txBody>
        </p:sp>
        <p:sp>
          <p:nvSpPr>
            <p:cNvPr id="730149" name="Line 37"/>
            <p:cNvSpPr>
              <a:spLocks noChangeShapeType="1"/>
            </p:cNvSpPr>
            <p:nvPr/>
          </p:nvSpPr>
          <p:spPr bwMode="auto">
            <a:xfrm flipH="1">
              <a:off x="3744" y="2256"/>
              <a:ext cx="24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 sz="2000"/>
            </a:p>
          </p:txBody>
        </p:sp>
        <p:sp>
          <p:nvSpPr>
            <p:cNvPr id="730150" name="Line 38"/>
            <p:cNvSpPr>
              <a:spLocks noChangeShapeType="1"/>
            </p:cNvSpPr>
            <p:nvPr/>
          </p:nvSpPr>
          <p:spPr bwMode="auto">
            <a:xfrm flipH="1">
              <a:off x="4176" y="2688"/>
              <a:ext cx="288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 sz="2000"/>
            </a:p>
          </p:txBody>
        </p:sp>
        <p:sp>
          <p:nvSpPr>
            <p:cNvPr id="730151" name="Oval 39"/>
            <p:cNvSpPr>
              <a:spLocks noChangeArrowheads="1"/>
            </p:cNvSpPr>
            <p:nvPr/>
          </p:nvSpPr>
          <p:spPr bwMode="auto">
            <a:xfrm>
              <a:off x="3936" y="2880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000"/>
                <a:t>25</a:t>
              </a:r>
            </a:p>
          </p:txBody>
        </p:sp>
        <p:sp>
          <p:nvSpPr>
            <p:cNvPr id="730152" name="Oval 40"/>
            <p:cNvSpPr>
              <a:spLocks noChangeArrowheads="1"/>
            </p:cNvSpPr>
            <p:nvPr/>
          </p:nvSpPr>
          <p:spPr bwMode="auto">
            <a:xfrm>
              <a:off x="4848" y="2880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000"/>
                <a:t>38</a:t>
              </a:r>
            </a:p>
          </p:txBody>
        </p:sp>
        <p:sp>
          <p:nvSpPr>
            <p:cNvPr id="730153" name="Line 41"/>
            <p:cNvSpPr>
              <a:spLocks noChangeShapeType="1"/>
            </p:cNvSpPr>
            <p:nvPr/>
          </p:nvSpPr>
          <p:spPr bwMode="auto">
            <a:xfrm>
              <a:off x="4656" y="2688"/>
              <a:ext cx="24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 sz="2000"/>
            </a:p>
          </p:txBody>
        </p:sp>
        <p:sp>
          <p:nvSpPr>
            <p:cNvPr id="730154" name="Line 42"/>
            <p:cNvSpPr>
              <a:spLocks noChangeShapeType="1"/>
            </p:cNvSpPr>
            <p:nvPr/>
          </p:nvSpPr>
          <p:spPr bwMode="auto">
            <a:xfrm>
              <a:off x="4128" y="3168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 sz="2000"/>
            </a:p>
          </p:txBody>
        </p:sp>
        <p:sp>
          <p:nvSpPr>
            <p:cNvPr id="730155" name="Line 43"/>
            <p:cNvSpPr>
              <a:spLocks noChangeShapeType="1"/>
            </p:cNvSpPr>
            <p:nvPr/>
          </p:nvSpPr>
          <p:spPr bwMode="auto">
            <a:xfrm>
              <a:off x="5088" y="3168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 sz="2000"/>
            </a:p>
          </p:txBody>
        </p:sp>
        <p:sp>
          <p:nvSpPr>
            <p:cNvPr id="730156" name="Line 44"/>
            <p:cNvSpPr>
              <a:spLocks noChangeShapeType="1"/>
            </p:cNvSpPr>
            <p:nvPr/>
          </p:nvSpPr>
          <p:spPr bwMode="auto">
            <a:xfrm flipH="1">
              <a:off x="3888" y="3168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 sz="2000"/>
            </a:p>
          </p:txBody>
        </p:sp>
        <p:sp>
          <p:nvSpPr>
            <p:cNvPr id="730157" name="Line 45"/>
            <p:cNvSpPr>
              <a:spLocks noChangeShapeType="1"/>
            </p:cNvSpPr>
            <p:nvPr/>
          </p:nvSpPr>
          <p:spPr bwMode="auto">
            <a:xfrm flipH="1">
              <a:off x="4800" y="3168"/>
              <a:ext cx="144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 sz="2000"/>
            </a:p>
          </p:txBody>
        </p:sp>
        <p:sp>
          <p:nvSpPr>
            <p:cNvPr id="730158" name="Oval 46"/>
            <p:cNvSpPr>
              <a:spLocks noChangeArrowheads="1"/>
            </p:cNvSpPr>
            <p:nvPr/>
          </p:nvSpPr>
          <p:spPr bwMode="auto">
            <a:xfrm>
              <a:off x="4608" y="3408"/>
              <a:ext cx="288" cy="28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000"/>
                <a:t>14</a:t>
              </a:r>
            </a:p>
          </p:txBody>
        </p:sp>
        <p:sp>
          <p:nvSpPr>
            <p:cNvPr id="730159" name="Line 47"/>
            <p:cNvSpPr>
              <a:spLocks noChangeShapeType="1"/>
            </p:cNvSpPr>
            <p:nvPr/>
          </p:nvSpPr>
          <p:spPr bwMode="auto">
            <a:xfrm flipH="1">
              <a:off x="4512" y="369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 sz="2000"/>
            </a:p>
          </p:txBody>
        </p:sp>
        <p:sp>
          <p:nvSpPr>
            <p:cNvPr id="730160" name="Line 48"/>
            <p:cNvSpPr>
              <a:spLocks noChangeShapeType="1"/>
            </p:cNvSpPr>
            <p:nvPr/>
          </p:nvSpPr>
          <p:spPr bwMode="auto">
            <a:xfrm>
              <a:off x="4848" y="3696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 sz="2000"/>
            </a:p>
          </p:txBody>
        </p:sp>
        <p:sp>
          <p:nvSpPr>
            <p:cNvPr id="730161" name="Rectangle 49"/>
            <p:cNvSpPr>
              <a:spLocks noChangeArrowheads="1"/>
            </p:cNvSpPr>
            <p:nvPr/>
          </p:nvSpPr>
          <p:spPr bwMode="auto">
            <a:xfrm>
              <a:off x="4128" y="3456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b</a:t>
              </a:r>
              <a:r>
                <a:rPr lang="it-IT" sz="2000"/>
                <a:t>:13</a:t>
              </a:r>
            </a:p>
          </p:txBody>
        </p:sp>
        <p:sp>
          <p:nvSpPr>
            <p:cNvPr id="730162" name="Rectangle 50"/>
            <p:cNvSpPr>
              <a:spLocks noChangeArrowheads="1"/>
            </p:cNvSpPr>
            <p:nvPr/>
          </p:nvSpPr>
          <p:spPr bwMode="auto">
            <a:xfrm>
              <a:off x="3696" y="3456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c</a:t>
              </a:r>
              <a:r>
                <a:rPr lang="it-IT" sz="2000"/>
                <a:t>:12</a:t>
              </a:r>
            </a:p>
          </p:txBody>
        </p:sp>
        <p:sp>
          <p:nvSpPr>
            <p:cNvPr id="730163" name="Rectangle 51"/>
            <p:cNvSpPr>
              <a:spLocks noChangeArrowheads="1"/>
            </p:cNvSpPr>
            <p:nvPr/>
          </p:nvSpPr>
          <p:spPr bwMode="auto">
            <a:xfrm>
              <a:off x="5040" y="3456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d</a:t>
              </a:r>
              <a:r>
                <a:rPr lang="it-IT" sz="2000"/>
                <a:t>:24</a:t>
              </a:r>
            </a:p>
          </p:txBody>
        </p:sp>
        <p:sp>
          <p:nvSpPr>
            <p:cNvPr id="730164" name="Rectangle 52"/>
            <p:cNvSpPr>
              <a:spLocks noChangeArrowheads="1"/>
            </p:cNvSpPr>
            <p:nvPr/>
          </p:nvSpPr>
          <p:spPr bwMode="auto">
            <a:xfrm>
              <a:off x="4368" y="398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f</a:t>
              </a:r>
              <a:r>
                <a:rPr lang="it-IT" sz="2000"/>
                <a:t>:5</a:t>
              </a:r>
            </a:p>
          </p:txBody>
        </p:sp>
        <p:sp>
          <p:nvSpPr>
            <p:cNvPr id="730165" name="Rectangle 53"/>
            <p:cNvSpPr>
              <a:spLocks noChangeArrowheads="1"/>
            </p:cNvSpPr>
            <p:nvPr/>
          </p:nvSpPr>
          <p:spPr bwMode="auto">
            <a:xfrm>
              <a:off x="4800" y="3984"/>
              <a:ext cx="336" cy="192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pPr algn="ctr"/>
              <a:r>
                <a:rPr lang="it-IT" sz="2000" b="1">
                  <a:latin typeface="Courier New" charset="0"/>
                  <a:sym typeface="Symbol" charset="0"/>
                </a:rPr>
                <a:t>e</a:t>
              </a:r>
              <a:r>
                <a:rPr lang="it-IT" sz="2000"/>
                <a:t>:9</a:t>
              </a:r>
            </a:p>
          </p:txBody>
        </p:sp>
        <p:sp>
          <p:nvSpPr>
            <p:cNvPr id="730166" name="Text Box 54"/>
            <p:cNvSpPr txBox="1">
              <a:spLocks noChangeArrowheads="1"/>
            </p:cNvSpPr>
            <p:nvPr/>
          </p:nvSpPr>
          <p:spPr bwMode="auto">
            <a:xfrm>
              <a:off x="3744" y="2145"/>
              <a:ext cx="169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000"/>
                <a:t>0</a:t>
              </a:r>
            </a:p>
          </p:txBody>
        </p:sp>
        <p:sp>
          <p:nvSpPr>
            <p:cNvPr id="730167" name="Text Box 55"/>
            <p:cNvSpPr txBox="1">
              <a:spLocks noChangeArrowheads="1"/>
            </p:cNvSpPr>
            <p:nvPr/>
          </p:nvSpPr>
          <p:spPr bwMode="auto">
            <a:xfrm>
              <a:off x="4176" y="2577"/>
              <a:ext cx="169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000"/>
                <a:t>0</a:t>
              </a:r>
            </a:p>
          </p:txBody>
        </p:sp>
        <p:sp>
          <p:nvSpPr>
            <p:cNvPr id="730168" name="Text Box 56"/>
            <p:cNvSpPr txBox="1">
              <a:spLocks noChangeArrowheads="1"/>
            </p:cNvSpPr>
            <p:nvPr/>
          </p:nvSpPr>
          <p:spPr bwMode="auto">
            <a:xfrm>
              <a:off x="3840" y="3057"/>
              <a:ext cx="169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000"/>
                <a:t>0</a:t>
              </a:r>
            </a:p>
          </p:txBody>
        </p:sp>
        <p:sp>
          <p:nvSpPr>
            <p:cNvPr id="730169" name="Text Box 57"/>
            <p:cNvSpPr txBox="1">
              <a:spLocks noChangeArrowheads="1"/>
            </p:cNvSpPr>
            <p:nvPr/>
          </p:nvSpPr>
          <p:spPr bwMode="auto">
            <a:xfrm>
              <a:off x="4704" y="3057"/>
              <a:ext cx="169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000"/>
                <a:t>0</a:t>
              </a:r>
            </a:p>
          </p:txBody>
        </p:sp>
        <p:sp>
          <p:nvSpPr>
            <p:cNvPr id="730170" name="Text Box 58"/>
            <p:cNvSpPr txBox="1">
              <a:spLocks noChangeArrowheads="1"/>
            </p:cNvSpPr>
            <p:nvPr/>
          </p:nvSpPr>
          <p:spPr bwMode="auto">
            <a:xfrm>
              <a:off x="4464" y="3585"/>
              <a:ext cx="169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000"/>
                <a:t>0</a:t>
              </a:r>
            </a:p>
          </p:txBody>
        </p:sp>
        <p:sp>
          <p:nvSpPr>
            <p:cNvPr id="730171" name="Text Box 59"/>
            <p:cNvSpPr txBox="1">
              <a:spLocks noChangeArrowheads="1"/>
            </p:cNvSpPr>
            <p:nvPr/>
          </p:nvSpPr>
          <p:spPr bwMode="auto">
            <a:xfrm>
              <a:off x="4272" y="2145"/>
              <a:ext cx="169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000"/>
                <a:t>1</a:t>
              </a:r>
            </a:p>
          </p:txBody>
        </p:sp>
        <p:sp>
          <p:nvSpPr>
            <p:cNvPr id="730172" name="Text Box 60"/>
            <p:cNvSpPr txBox="1">
              <a:spLocks noChangeArrowheads="1"/>
            </p:cNvSpPr>
            <p:nvPr/>
          </p:nvSpPr>
          <p:spPr bwMode="auto">
            <a:xfrm>
              <a:off x="4704" y="2577"/>
              <a:ext cx="169" cy="2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000"/>
                <a:t>1</a:t>
              </a:r>
            </a:p>
          </p:txBody>
        </p:sp>
        <p:sp>
          <p:nvSpPr>
            <p:cNvPr id="730173" name="Text Box 61"/>
            <p:cNvSpPr txBox="1">
              <a:spLocks noChangeArrowheads="1"/>
            </p:cNvSpPr>
            <p:nvPr/>
          </p:nvSpPr>
          <p:spPr bwMode="auto">
            <a:xfrm>
              <a:off x="5088" y="3057"/>
              <a:ext cx="169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000"/>
                <a:t>1</a:t>
              </a:r>
            </a:p>
          </p:txBody>
        </p:sp>
        <p:sp>
          <p:nvSpPr>
            <p:cNvPr id="730174" name="Text Box 62"/>
            <p:cNvSpPr txBox="1">
              <a:spLocks noChangeArrowheads="1"/>
            </p:cNvSpPr>
            <p:nvPr/>
          </p:nvSpPr>
          <p:spPr bwMode="auto">
            <a:xfrm>
              <a:off x="4128" y="3057"/>
              <a:ext cx="169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000"/>
                <a:t>1</a:t>
              </a:r>
            </a:p>
          </p:txBody>
        </p:sp>
        <p:sp>
          <p:nvSpPr>
            <p:cNvPr id="730175" name="Text Box 63"/>
            <p:cNvSpPr txBox="1">
              <a:spLocks noChangeArrowheads="1"/>
            </p:cNvSpPr>
            <p:nvPr/>
          </p:nvSpPr>
          <p:spPr bwMode="auto">
            <a:xfrm>
              <a:off x="4848" y="3585"/>
              <a:ext cx="169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000"/>
                <a:t>1</a:t>
              </a:r>
            </a:p>
          </p:txBody>
        </p:sp>
        <p:sp>
          <p:nvSpPr>
            <p:cNvPr id="730176" name="Text Box 64"/>
            <p:cNvSpPr txBox="1">
              <a:spLocks noChangeArrowheads="1"/>
            </p:cNvSpPr>
            <p:nvPr/>
          </p:nvSpPr>
          <p:spPr bwMode="auto">
            <a:xfrm>
              <a:off x="3456" y="1908"/>
              <a:ext cx="215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r>
                <a:rPr lang="it-IT" sz="2000" b="1">
                  <a:latin typeface="Courier New" charset="0"/>
                  <a:sym typeface="Symbol" charset="0"/>
                </a:rPr>
                <a:t>Q</a:t>
              </a:r>
              <a:endParaRPr lang="it-IT" sz="2000"/>
            </a:p>
          </p:txBody>
        </p:sp>
        <p:sp>
          <p:nvSpPr>
            <p:cNvPr id="730177" name="AutoShape 65"/>
            <p:cNvSpPr>
              <a:spLocks noChangeArrowheads="1"/>
            </p:cNvSpPr>
            <p:nvPr/>
          </p:nvSpPr>
          <p:spPr bwMode="auto">
            <a:xfrm>
              <a:off x="3696" y="2112"/>
              <a:ext cx="192" cy="9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1326" tIns="45664" rIns="91326" bIns="45664" anchor="ctr"/>
            <a:lstStyle/>
            <a:p>
              <a:endParaRPr lang="en-US" sz="20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Algoritmo</a:t>
            </a:r>
            <a:r>
              <a:rPr lang="en-US" dirty="0"/>
              <a:t> di </a:t>
            </a:r>
            <a:r>
              <a:rPr lang="it-IT" dirty="0" err="1">
                <a:solidFill>
                  <a:srgbClr val="FF0000"/>
                </a:solidFill>
              </a:rPr>
              <a:t>Huffman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0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0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0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138" name="Text Box 2"/>
          <p:cNvSpPr txBox="1">
            <a:spLocks noChangeArrowheads="1"/>
          </p:cNvSpPr>
          <p:nvPr/>
        </p:nvSpPr>
        <p:spPr bwMode="auto">
          <a:xfrm>
            <a:off x="323528" y="4581128"/>
            <a:ext cx="8369300" cy="1615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200" dirty="0">
                <a:solidFill>
                  <a:srgbClr val="0000FF"/>
                </a:solidFill>
              </a:rPr>
              <a:t>Assumendo che la coda </a:t>
            </a:r>
            <a:r>
              <a:rPr lang="it-IT" sz="2200" b="1" dirty="0" err="1">
                <a:solidFill>
                  <a:srgbClr val="FF0000"/>
                </a:solidFill>
                <a:latin typeface="Courier New" charset="0"/>
              </a:rPr>
              <a:t>Q</a:t>
            </a:r>
            <a:r>
              <a:rPr lang="it-IT" sz="2200" dirty="0">
                <a:solidFill>
                  <a:srgbClr val="FF0000"/>
                </a:solidFill>
              </a:rPr>
              <a:t> </a:t>
            </a:r>
            <a:r>
              <a:rPr lang="it-IT" sz="2200" dirty="0">
                <a:solidFill>
                  <a:srgbClr val="0000FF"/>
                </a:solidFill>
              </a:rPr>
              <a:t>venga realizzata con un </a:t>
            </a:r>
            <a:r>
              <a:rPr lang="it-IT" sz="2200" dirty="0" err="1">
                <a:solidFill>
                  <a:srgbClr val="0000FF"/>
                </a:solidFill>
              </a:rPr>
              <a:t>heap</a:t>
            </a:r>
            <a:r>
              <a:rPr lang="it-IT" sz="2200" dirty="0">
                <a:solidFill>
                  <a:srgbClr val="0000FF"/>
                </a:solidFill>
              </a:rPr>
              <a:t>, le operazioni </a:t>
            </a:r>
            <a:r>
              <a:rPr lang="it-IT" sz="2200" b="1" i="1" dirty="0" err="1">
                <a:solidFill>
                  <a:srgbClr val="FF0000"/>
                </a:solidFill>
                <a:sym typeface="Symbol" charset="0"/>
              </a:rPr>
              <a:t>Insert</a:t>
            </a:r>
            <a:r>
              <a:rPr lang="it-IT" sz="2200" b="1" dirty="0">
                <a:solidFill>
                  <a:srgbClr val="FF0000"/>
                </a:solidFill>
                <a:latin typeface="Courier New" charset="0"/>
                <a:sym typeface="Symbol" charset="0"/>
              </a:rPr>
              <a:t> </a:t>
            </a:r>
            <a:r>
              <a:rPr lang="it-IT" sz="2200" dirty="0">
                <a:solidFill>
                  <a:srgbClr val="0000FF"/>
                </a:solidFill>
              </a:rPr>
              <a:t>ed </a:t>
            </a:r>
            <a:r>
              <a:rPr lang="it-IT" sz="2200" b="1" i="1" dirty="0" err="1">
                <a:solidFill>
                  <a:srgbClr val="FF0000"/>
                </a:solidFill>
                <a:sym typeface="Symbol" charset="0"/>
              </a:rPr>
              <a:t>ExtractMin</a:t>
            </a:r>
            <a:r>
              <a:rPr lang="it-IT" sz="2200" dirty="0">
                <a:solidFill>
                  <a:srgbClr val="FF0000"/>
                </a:solidFill>
              </a:rPr>
              <a:t> </a:t>
            </a:r>
            <a:r>
              <a:rPr lang="it-IT" sz="2200" dirty="0">
                <a:solidFill>
                  <a:srgbClr val="0000FF"/>
                </a:solidFill>
              </a:rPr>
              <a:t>richiedono tempo </a:t>
            </a:r>
            <a:r>
              <a:rPr lang="it-IT" sz="2200" b="1" i="1" dirty="0">
                <a:solidFill>
                  <a:srgbClr val="FF0000"/>
                </a:solidFill>
              </a:rPr>
              <a:t>O</a:t>
            </a:r>
            <a:r>
              <a:rPr lang="it-IT" sz="2200" b="1" dirty="0">
                <a:solidFill>
                  <a:srgbClr val="FF0000"/>
                </a:solidFill>
              </a:rPr>
              <a:t>(log </a:t>
            </a:r>
            <a:r>
              <a:rPr lang="it-IT" sz="2200" b="1" i="1" dirty="0" err="1">
                <a:solidFill>
                  <a:srgbClr val="FF0000"/>
                </a:solidFill>
              </a:rPr>
              <a:t>n</a:t>
            </a:r>
            <a:r>
              <a:rPr lang="it-IT" sz="2200" b="1" dirty="0" smtClean="0">
                <a:solidFill>
                  <a:srgbClr val="FF0000"/>
                </a:solidFill>
              </a:rPr>
              <a:t>)</a:t>
            </a:r>
            <a:endParaRPr lang="it-IT" sz="2200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</a:pPr>
            <a:r>
              <a:rPr lang="it-IT" sz="2200" dirty="0">
                <a:solidFill>
                  <a:srgbClr val="0000FF"/>
                </a:solidFill>
              </a:rPr>
              <a:t>Pertanto l’intero algoritmo richiede tempo </a:t>
            </a:r>
            <a:r>
              <a:rPr lang="it-IT" sz="2200" b="1" i="1" dirty="0">
                <a:solidFill>
                  <a:srgbClr val="FF0000"/>
                </a:solidFill>
              </a:rPr>
              <a:t>O</a:t>
            </a:r>
            <a:r>
              <a:rPr lang="it-IT" sz="2200" b="1" dirty="0">
                <a:solidFill>
                  <a:srgbClr val="FF0000"/>
                </a:solidFill>
              </a:rPr>
              <a:t>(</a:t>
            </a:r>
            <a:r>
              <a:rPr lang="it-IT" sz="2200" b="1" i="1" dirty="0" err="1">
                <a:solidFill>
                  <a:srgbClr val="FF0000"/>
                </a:solidFill>
              </a:rPr>
              <a:t>n</a:t>
            </a:r>
            <a:r>
              <a:rPr lang="it-IT" sz="2200" b="1" dirty="0">
                <a:solidFill>
                  <a:srgbClr val="FF0000"/>
                </a:solidFill>
              </a:rPr>
              <a:t> log </a:t>
            </a:r>
            <a:r>
              <a:rPr lang="it-IT" sz="2200" b="1" i="1" dirty="0" err="1">
                <a:solidFill>
                  <a:srgbClr val="FF0000"/>
                </a:solidFill>
              </a:rPr>
              <a:t>n</a:t>
            </a:r>
            <a:r>
              <a:rPr lang="it-IT" sz="2200" b="1" dirty="0">
                <a:solidFill>
                  <a:srgbClr val="FF0000"/>
                </a:solidFill>
              </a:rPr>
              <a:t>)</a:t>
            </a:r>
            <a:r>
              <a:rPr lang="it-IT" sz="2200" dirty="0">
                <a:solidFill>
                  <a:srgbClr val="FF0000"/>
                </a:solidFill>
              </a:rPr>
              <a:t> </a:t>
            </a:r>
            <a:r>
              <a:rPr lang="it-IT" sz="2200" dirty="0">
                <a:solidFill>
                  <a:srgbClr val="0000FF"/>
                </a:solidFill>
              </a:rPr>
              <a:t>(dove </a:t>
            </a:r>
            <a:r>
              <a:rPr lang="it-IT" sz="2200" b="1" i="1" dirty="0" err="1">
                <a:solidFill>
                  <a:srgbClr val="FF0000"/>
                </a:solidFill>
              </a:rPr>
              <a:t>n</a:t>
            </a:r>
            <a:r>
              <a:rPr lang="it-IT" sz="2200" dirty="0">
                <a:solidFill>
                  <a:srgbClr val="FF0000"/>
                </a:solidFill>
              </a:rPr>
              <a:t> </a:t>
            </a:r>
            <a:r>
              <a:rPr lang="it-IT" sz="2200" dirty="0">
                <a:solidFill>
                  <a:srgbClr val="0000FF"/>
                </a:solidFill>
              </a:rPr>
              <a:t>è il numero di caratteri dell’alfabeto</a:t>
            </a:r>
            <a:r>
              <a:rPr lang="it-IT" sz="2200" dirty="0" smtClean="0">
                <a:solidFill>
                  <a:srgbClr val="0000FF"/>
                </a:solidFill>
              </a:rPr>
              <a:t>)</a:t>
            </a:r>
            <a:endParaRPr lang="it-IT" sz="2200" dirty="0">
              <a:solidFill>
                <a:srgbClr val="0000FF"/>
              </a:solidFill>
            </a:endParaRPr>
          </a:p>
        </p:txBody>
      </p:sp>
      <p:sp>
        <p:nvSpPr>
          <p:cNvPr id="73113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Complessità algoritmo di Huffman</a:t>
            </a:r>
            <a:endParaRPr lang="it-IT"/>
          </a:p>
        </p:txBody>
      </p:sp>
      <p:sp>
        <p:nvSpPr>
          <p:cNvPr id="731140" name="Text Box 4"/>
          <p:cNvSpPr txBox="1">
            <a:spLocks noChangeArrowheads="1"/>
          </p:cNvSpPr>
          <p:nvPr/>
        </p:nvSpPr>
        <p:spPr bwMode="auto">
          <a:xfrm>
            <a:off x="1115616" y="1484784"/>
            <a:ext cx="6696744" cy="2800762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35" tIns="45718" rIns="91435" bIns="45718">
            <a:spAutoFit/>
          </a:bodyPr>
          <a:lstStyle/>
          <a:p>
            <a:r>
              <a:rPr lang="it-IT" sz="2200" b="1" i="1" dirty="0" err="1"/>
              <a:t>Huffman</a:t>
            </a:r>
            <a:r>
              <a:rPr lang="it-IT" sz="2200" b="1" dirty="0"/>
              <a:t>(</a:t>
            </a:r>
            <a:r>
              <a:rPr lang="it-IT" sz="2200" b="1" i="1" dirty="0"/>
              <a:t>c</a:t>
            </a:r>
            <a:r>
              <a:rPr lang="it-IT" sz="2200" b="1" dirty="0"/>
              <a:t>, </a:t>
            </a:r>
            <a:r>
              <a:rPr lang="it-IT" sz="2200" b="1" i="1" dirty="0" err="1"/>
              <a:t>f</a:t>
            </a:r>
            <a:r>
              <a:rPr lang="it-IT" sz="2200" b="1" dirty="0"/>
              <a:t>, </a:t>
            </a:r>
            <a:r>
              <a:rPr lang="it-IT" sz="2200" b="1" i="1" dirty="0" err="1"/>
              <a:t>n</a:t>
            </a:r>
            <a:r>
              <a:rPr lang="it-IT" sz="2200" b="1" dirty="0"/>
              <a:t>)</a:t>
            </a:r>
          </a:p>
          <a:p>
            <a:r>
              <a:rPr lang="it-IT" sz="2200" b="1" dirty="0"/>
              <a:t>    </a:t>
            </a:r>
            <a:r>
              <a:rPr lang="it-IT" sz="2200" b="1" i="1" dirty="0" err="1"/>
              <a:t>Q</a:t>
            </a:r>
            <a:r>
              <a:rPr lang="it-IT" sz="2200" b="1" dirty="0"/>
              <a:t> </a:t>
            </a:r>
            <a:r>
              <a:rPr lang="it-IT" sz="2200" b="1" dirty="0">
                <a:sym typeface="Symbol" charset="0"/>
              </a:rPr>
              <a:t></a:t>
            </a:r>
            <a:r>
              <a:rPr lang="it-IT" sz="2200" b="1" dirty="0"/>
              <a:t> </a:t>
            </a:r>
            <a:r>
              <a:rPr lang="it-IT" sz="2200" b="1" dirty="0">
                <a:sym typeface="Symbol" charset="0"/>
              </a:rPr>
              <a:t> 		</a:t>
            </a:r>
            <a:r>
              <a:rPr lang="it-IT" sz="2200" b="1" dirty="0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200" b="1" dirty="0">
                <a:solidFill>
                  <a:srgbClr val="0000CC"/>
                </a:solidFill>
                <a:sym typeface="Symbol" charset="0"/>
              </a:rPr>
              <a:t> </a:t>
            </a:r>
            <a:r>
              <a:rPr lang="it-IT" sz="2200" b="1" dirty="0">
                <a:solidFill>
                  <a:srgbClr val="0000CC"/>
                </a:solidFill>
              </a:rPr>
              <a:t>coda con priorità</a:t>
            </a:r>
          </a:p>
          <a:p>
            <a:r>
              <a:rPr lang="it-IT" sz="2200" b="1" dirty="0"/>
              <a:t>    </a:t>
            </a:r>
            <a:r>
              <a:rPr lang="it-IT" sz="2200" b="1" dirty="0">
                <a:sym typeface="Symbol" charset="0"/>
              </a:rPr>
              <a:t>for </a:t>
            </a:r>
            <a:r>
              <a:rPr lang="it-IT" sz="2200" b="1" i="1" dirty="0">
                <a:sym typeface="Symbol" charset="0"/>
              </a:rPr>
              <a:t>i</a:t>
            </a:r>
            <a:r>
              <a:rPr lang="it-IT" sz="2200" b="1" dirty="0">
                <a:sym typeface="Symbol" charset="0"/>
              </a:rPr>
              <a:t>  1 to </a:t>
            </a:r>
            <a:r>
              <a:rPr lang="it-IT" sz="2200" b="1" i="1" dirty="0" err="1">
                <a:sym typeface="Symbol" charset="0"/>
              </a:rPr>
              <a:t>n</a:t>
            </a:r>
            <a:r>
              <a:rPr lang="it-IT" sz="2200" b="1" dirty="0">
                <a:sym typeface="Symbol" charset="0"/>
              </a:rPr>
              <a:t> do</a:t>
            </a:r>
          </a:p>
          <a:p>
            <a:r>
              <a:rPr lang="it-IT" sz="2200" b="1" dirty="0">
                <a:sym typeface="Symbol" charset="0"/>
              </a:rPr>
              <a:t>        </a:t>
            </a:r>
            <a:r>
              <a:rPr lang="it-IT" sz="2200" b="1" i="1" dirty="0" err="1">
                <a:sym typeface="Symbol" charset="0"/>
              </a:rPr>
              <a:t>Push</a:t>
            </a:r>
            <a:r>
              <a:rPr lang="it-IT" sz="2200" b="1" dirty="0">
                <a:sym typeface="Symbol" charset="0"/>
              </a:rPr>
              <a:t>(</a:t>
            </a:r>
            <a:r>
              <a:rPr lang="it-IT" sz="2200" b="1" i="1" dirty="0" err="1">
                <a:sym typeface="Symbol" charset="0"/>
              </a:rPr>
              <a:t>Q</a:t>
            </a:r>
            <a:r>
              <a:rPr lang="it-IT" sz="2200" b="1" dirty="0">
                <a:sym typeface="Symbol" charset="0"/>
              </a:rPr>
              <a:t>, </a:t>
            </a:r>
            <a:r>
              <a:rPr lang="it-IT" sz="2200" b="1" i="1" dirty="0">
                <a:sym typeface="Symbol" charset="0"/>
              </a:rPr>
              <a:t>nodo</a:t>
            </a:r>
            <a:r>
              <a:rPr lang="it-IT" sz="2200" b="1" dirty="0">
                <a:sym typeface="Symbol" charset="0"/>
              </a:rPr>
              <a:t>(</a:t>
            </a:r>
            <a:r>
              <a:rPr lang="it-IT" sz="2200" b="1" i="1" dirty="0">
                <a:sym typeface="Symbol" charset="0"/>
              </a:rPr>
              <a:t>f</a:t>
            </a:r>
            <a:r>
              <a:rPr lang="it-IT" sz="2200" b="1" i="1" baseline="-25000" dirty="0">
                <a:sym typeface="Symbol" charset="0"/>
              </a:rPr>
              <a:t>i</a:t>
            </a:r>
            <a:r>
              <a:rPr lang="it-IT" sz="2200" b="1" dirty="0">
                <a:sym typeface="Symbol" charset="0"/>
              </a:rPr>
              <a:t>, </a:t>
            </a:r>
            <a:r>
              <a:rPr lang="it-IT" sz="2200" b="1" i="1" dirty="0">
                <a:sym typeface="Symbol" charset="0"/>
              </a:rPr>
              <a:t>c</a:t>
            </a:r>
            <a:r>
              <a:rPr lang="it-IT" sz="2200" b="1" i="1" baseline="-25000" dirty="0">
                <a:sym typeface="Symbol" charset="0"/>
              </a:rPr>
              <a:t>i</a:t>
            </a:r>
            <a:r>
              <a:rPr lang="it-IT" sz="2200" b="1" dirty="0">
                <a:sym typeface="Symbol" charset="0"/>
              </a:rPr>
              <a:t>))</a:t>
            </a:r>
          </a:p>
          <a:p>
            <a:r>
              <a:rPr lang="it-IT" sz="2200" b="1" dirty="0">
                <a:sym typeface="Symbol" charset="0"/>
              </a:rPr>
              <a:t>    for </a:t>
            </a:r>
            <a:r>
              <a:rPr lang="it-IT" sz="2200" b="1" i="1" dirty="0" err="1">
                <a:sym typeface="Symbol" charset="0"/>
              </a:rPr>
              <a:t>j</a:t>
            </a:r>
            <a:r>
              <a:rPr lang="it-IT" sz="2200" b="1" dirty="0">
                <a:sym typeface="Symbol" charset="0"/>
              </a:rPr>
              <a:t>  </a:t>
            </a:r>
            <a:r>
              <a:rPr lang="it-IT" sz="2200" b="1" i="1" dirty="0" err="1">
                <a:sym typeface="Symbol" charset="0"/>
              </a:rPr>
              <a:t>n</a:t>
            </a:r>
            <a:r>
              <a:rPr lang="it-IT" sz="2200" b="1" dirty="0">
                <a:sym typeface="Symbol" charset="0"/>
              </a:rPr>
              <a:t> </a:t>
            </a:r>
            <a:r>
              <a:rPr lang="it-IT" sz="2200" b="1" dirty="0" err="1">
                <a:sym typeface="Symbol" charset="0"/>
              </a:rPr>
              <a:t>downto</a:t>
            </a:r>
            <a:r>
              <a:rPr lang="it-IT" sz="2200" b="1" dirty="0">
                <a:sym typeface="Symbol" charset="0"/>
              </a:rPr>
              <a:t> 2 do</a:t>
            </a:r>
          </a:p>
          <a:p>
            <a:r>
              <a:rPr lang="it-IT" sz="2200" b="1" dirty="0">
                <a:sym typeface="Symbol" charset="0"/>
              </a:rPr>
              <a:t>        </a:t>
            </a:r>
            <a:r>
              <a:rPr lang="it-IT" sz="2200" b="1" i="1" dirty="0">
                <a:sym typeface="Symbol" charset="0"/>
              </a:rPr>
              <a:t>x</a:t>
            </a:r>
            <a:r>
              <a:rPr lang="it-IT" sz="2200" b="1" dirty="0">
                <a:sym typeface="Symbol" charset="0"/>
              </a:rPr>
              <a:t>  </a:t>
            </a:r>
            <a:r>
              <a:rPr lang="it-IT" sz="2200" b="1" i="1" dirty="0" err="1">
                <a:sym typeface="Symbol" charset="0"/>
              </a:rPr>
              <a:t>ExtractMin</a:t>
            </a:r>
            <a:r>
              <a:rPr lang="it-IT" sz="2200" b="1" dirty="0">
                <a:sym typeface="Symbol" charset="0"/>
              </a:rPr>
              <a:t>(</a:t>
            </a:r>
            <a:r>
              <a:rPr lang="it-IT" sz="2200" b="1" i="1" dirty="0" err="1">
                <a:sym typeface="Symbol" charset="0"/>
              </a:rPr>
              <a:t>Q</a:t>
            </a:r>
            <a:r>
              <a:rPr lang="it-IT" sz="2200" b="1" dirty="0">
                <a:sym typeface="Symbol" charset="0"/>
              </a:rPr>
              <a:t>), </a:t>
            </a:r>
            <a:r>
              <a:rPr lang="it-IT" sz="2200" b="1" i="1" dirty="0">
                <a:sym typeface="Symbol" charset="0"/>
              </a:rPr>
              <a:t>y</a:t>
            </a:r>
            <a:r>
              <a:rPr lang="it-IT" sz="2200" b="1" dirty="0">
                <a:sym typeface="Symbol" charset="0"/>
              </a:rPr>
              <a:t>  </a:t>
            </a:r>
            <a:r>
              <a:rPr lang="it-IT" sz="2200" b="1" i="1" dirty="0" err="1">
                <a:sym typeface="Symbol" charset="0"/>
              </a:rPr>
              <a:t>ExtractMin</a:t>
            </a:r>
            <a:r>
              <a:rPr lang="it-IT" sz="2200" b="1" dirty="0">
                <a:sym typeface="Symbol" charset="0"/>
              </a:rPr>
              <a:t>(</a:t>
            </a:r>
            <a:r>
              <a:rPr lang="it-IT" sz="2200" b="1" i="1" dirty="0" err="1">
                <a:sym typeface="Symbol" charset="0"/>
              </a:rPr>
              <a:t>Q</a:t>
            </a:r>
            <a:r>
              <a:rPr lang="it-IT" sz="2200" b="1" dirty="0">
                <a:sym typeface="Symbol" charset="0"/>
              </a:rPr>
              <a:t>)</a:t>
            </a:r>
          </a:p>
          <a:p>
            <a:r>
              <a:rPr lang="it-IT" sz="2200" b="1" dirty="0">
                <a:sym typeface="Symbol" charset="0"/>
              </a:rPr>
              <a:t>        </a:t>
            </a:r>
            <a:r>
              <a:rPr lang="it-IT" sz="2200" b="1" i="1" dirty="0" err="1">
                <a:sym typeface="Symbol" charset="0"/>
              </a:rPr>
              <a:t>Insert</a:t>
            </a:r>
            <a:r>
              <a:rPr lang="it-IT" sz="2200" b="1" dirty="0">
                <a:sym typeface="Symbol" charset="0"/>
              </a:rPr>
              <a:t>(</a:t>
            </a:r>
            <a:r>
              <a:rPr lang="it-IT" sz="2200" b="1" i="1" dirty="0" err="1">
                <a:sym typeface="Symbol" charset="0"/>
              </a:rPr>
              <a:t>Q</a:t>
            </a:r>
            <a:r>
              <a:rPr lang="it-IT" sz="2200" b="1" dirty="0" err="1">
                <a:sym typeface="Symbol" charset="0"/>
              </a:rPr>
              <a:t>,</a:t>
            </a:r>
            <a:r>
              <a:rPr lang="it-IT" sz="2200" b="1" i="1" dirty="0" err="1">
                <a:sym typeface="Symbol" charset="0"/>
              </a:rPr>
              <a:t>nodo</a:t>
            </a:r>
            <a:r>
              <a:rPr lang="it-IT" sz="2200" b="1" dirty="0">
                <a:sym typeface="Symbol" charset="0"/>
              </a:rPr>
              <a:t>(</a:t>
            </a:r>
            <a:r>
              <a:rPr lang="it-IT" sz="2200" b="1" i="1" dirty="0" err="1">
                <a:sym typeface="Symbol" charset="0"/>
              </a:rPr>
              <a:t>x</a:t>
            </a:r>
            <a:r>
              <a:rPr lang="it-IT" sz="2200" b="1" dirty="0" err="1">
                <a:sym typeface="Symbol" charset="0"/>
              </a:rPr>
              <a:t>,</a:t>
            </a:r>
            <a:r>
              <a:rPr lang="it-IT" sz="2200" b="1" i="1" dirty="0" err="1">
                <a:sym typeface="Symbol" charset="0"/>
              </a:rPr>
              <a:t>y</a:t>
            </a:r>
            <a:r>
              <a:rPr lang="it-IT" sz="2200" b="1" dirty="0">
                <a:sym typeface="Symbol" charset="0"/>
              </a:rPr>
              <a:t>))</a:t>
            </a:r>
          </a:p>
          <a:p>
            <a:r>
              <a:rPr lang="it-IT" sz="2200" b="1" dirty="0"/>
              <a:t>    </a:t>
            </a:r>
            <a:r>
              <a:rPr lang="it-IT" sz="2200" b="1" dirty="0" err="1"/>
              <a:t>return</a:t>
            </a:r>
            <a:r>
              <a:rPr lang="it-IT" sz="2200" b="1" dirty="0"/>
              <a:t> </a:t>
            </a:r>
            <a:r>
              <a:rPr lang="it-IT" sz="2200" b="1" i="1" dirty="0" err="1"/>
              <a:t>ExtractMin</a:t>
            </a:r>
            <a:r>
              <a:rPr lang="it-IT" sz="2200" b="1" dirty="0"/>
              <a:t>(</a:t>
            </a:r>
            <a:r>
              <a:rPr lang="it-IT" sz="2200" b="1" i="1" dirty="0" err="1"/>
              <a:t>Q</a:t>
            </a:r>
            <a:r>
              <a:rPr lang="it-IT" sz="2200" b="1" dirty="0"/>
              <a:t>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162" name="Text Box 2"/>
          <p:cNvSpPr txBox="1">
            <a:spLocks noChangeArrowheads="1"/>
          </p:cNvSpPr>
          <p:nvPr/>
        </p:nvSpPr>
        <p:spPr bwMode="auto">
          <a:xfrm>
            <a:off x="683568" y="1196752"/>
            <a:ext cx="7772400" cy="1569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100000"/>
              </a:spcBef>
            </a:pPr>
            <a:r>
              <a:rPr lang="it-IT" sz="2400" dirty="0">
                <a:solidFill>
                  <a:srgbClr val="0000FF"/>
                </a:solidFill>
              </a:rPr>
              <a:t>L’algoritmo è </a:t>
            </a:r>
            <a:r>
              <a:rPr lang="it-IT" sz="2400" i="1" u="sng" dirty="0">
                <a:solidFill>
                  <a:srgbClr val="0000FF"/>
                </a:solidFill>
              </a:rPr>
              <a:t>goloso</a:t>
            </a:r>
            <a:r>
              <a:rPr lang="it-IT" sz="2400" dirty="0">
                <a:solidFill>
                  <a:srgbClr val="0000FF"/>
                </a:solidFill>
              </a:rPr>
              <a:t> perché ad ogni passo costruisce il nodo interno avente frequenza minima </a:t>
            </a:r>
            <a:r>
              <a:rPr lang="it-IT" sz="2400" dirty="0" smtClean="0">
                <a:solidFill>
                  <a:srgbClr val="0000FF"/>
                </a:solidFill>
              </a:rPr>
              <a:t>possibile</a:t>
            </a:r>
          </a:p>
          <a:p>
            <a:pPr>
              <a:spcBef>
                <a:spcPct val="100000"/>
              </a:spcBef>
            </a:pPr>
            <a:r>
              <a:rPr lang="it-IT" sz="2400" dirty="0" smtClean="0">
                <a:solidFill>
                  <a:srgbClr val="0000FF"/>
                </a:solidFill>
              </a:rPr>
              <a:t>Ricordiamo </a:t>
            </a:r>
            <a:r>
              <a:rPr lang="it-IT" sz="2400" dirty="0">
                <a:solidFill>
                  <a:srgbClr val="0000FF"/>
                </a:solidFill>
              </a:rPr>
              <a:t>infatti che</a:t>
            </a:r>
          </a:p>
        </p:txBody>
      </p:sp>
      <p:sp>
        <p:nvSpPr>
          <p:cNvPr id="732163" name="Text Box 3"/>
          <p:cNvSpPr txBox="1">
            <a:spLocks noChangeArrowheads="1"/>
          </p:cNvSpPr>
          <p:nvPr/>
        </p:nvSpPr>
        <p:spPr bwMode="auto">
          <a:xfrm>
            <a:off x="683568" y="4244752"/>
            <a:ext cx="7772400" cy="1754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Siamo sicuri che in questo modo otteniamo sempre un codice </a:t>
            </a:r>
            <a:r>
              <a:rPr lang="it-IT" sz="2400" dirty="0" smtClean="0">
                <a:solidFill>
                  <a:srgbClr val="0000FF"/>
                </a:solidFill>
              </a:rPr>
              <a:t>ottimo ?</a:t>
            </a:r>
            <a:endParaRPr lang="it-IT" sz="2400" dirty="0">
              <a:solidFill>
                <a:srgbClr val="0000FF"/>
              </a:solidFill>
            </a:endParaRPr>
          </a:p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Per accertarlo dimostriamo le proprietà della scelta golosa e della sottostruttura </a:t>
            </a:r>
            <a:r>
              <a:rPr lang="it-IT" sz="2400" dirty="0" smtClean="0">
                <a:solidFill>
                  <a:srgbClr val="0000FF"/>
                </a:solidFill>
              </a:rPr>
              <a:t>ottima</a:t>
            </a:r>
            <a:endParaRPr lang="it-IT" sz="2400" dirty="0">
              <a:solidFill>
                <a:srgbClr val="0000FF"/>
              </a:solidFill>
            </a:endParaRPr>
          </a:p>
        </p:txBody>
      </p:sp>
      <p:graphicFrame>
        <p:nvGraphicFramePr>
          <p:cNvPr id="7321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8357130"/>
              </p:ext>
            </p:extLst>
          </p:nvPr>
        </p:nvGraphicFramePr>
        <p:xfrm>
          <a:off x="2371725" y="2890838"/>
          <a:ext cx="3398838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0" name="Equation" r:id="rId3" imgW="1282700" imgH="368300" progId="Equation.3">
                  <p:embed/>
                </p:oleObj>
              </mc:Choice>
              <mc:Fallback>
                <p:oleObj name="Equation" r:id="rId3" imgW="12827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1725" y="2890838"/>
                        <a:ext cx="3398838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216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Perché goloso?</a:t>
            </a:r>
            <a:endParaRPr lang="en-GB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186" name="Text Box 2"/>
          <p:cNvSpPr txBox="1">
            <a:spLocks noChangeArrowheads="1"/>
          </p:cNvSpPr>
          <p:nvPr/>
        </p:nvSpPr>
        <p:spPr bwMode="auto">
          <a:xfrm>
            <a:off x="683568" y="1340768"/>
            <a:ext cx="7807325" cy="341632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b="1" u="sng" dirty="0"/>
              <a:t>Lemma</a:t>
            </a:r>
            <a:r>
              <a:rPr lang="it-IT" sz="2400" dirty="0"/>
              <a:t> (</a:t>
            </a:r>
            <a:r>
              <a:rPr lang="it-IT" sz="2400" i="1" dirty="0"/>
              <a:t>proprietà della scelta golosa</a:t>
            </a:r>
            <a:r>
              <a:rPr lang="it-IT" sz="2400" dirty="0"/>
              <a:t>) </a:t>
            </a:r>
          </a:p>
          <a:p>
            <a:r>
              <a:rPr lang="it-IT" sz="2400" dirty="0"/>
              <a:t>Sia </a:t>
            </a:r>
            <a:r>
              <a:rPr lang="it-IT" sz="2400" b="1" i="1" dirty="0" err="1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b="1" i="1" baseline="-25000" dirty="0" err="1">
                <a:solidFill>
                  <a:srgbClr val="FF0000"/>
                </a:solidFill>
                <a:sym typeface="Symbol" charset="0"/>
              </a:rPr>
              <a:t>c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la frequenza di ciascun carattere </a:t>
            </a:r>
            <a:r>
              <a:rPr lang="it-IT" sz="2400" b="1" i="1" dirty="0">
                <a:solidFill>
                  <a:srgbClr val="FF0000"/>
                </a:solidFill>
              </a:rPr>
              <a:t>c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di un alfabeto </a:t>
            </a:r>
            <a:r>
              <a:rPr lang="it-IT" sz="2400" b="1" i="1" dirty="0">
                <a:solidFill>
                  <a:srgbClr val="FF0000"/>
                </a:solidFill>
              </a:rPr>
              <a:t>C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e siano 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a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e 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b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due caratteri di 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C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aventi frequenze </a:t>
            </a:r>
            <a:r>
              <a:rPr lang="it-IT" sz="2400" dirty="0"/>
              <a:t> 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b="1" i="1" baseline="-25000" dirty="0">
                <a:solidFill>
                  <a:srgbClr val="FF0000"/>
                </a:solidFill>
                <a:sym typeface="Symbol" charset="0"/>
              </a:rPr>
              <a:t>a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,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b="1" i="1" dirty="0" err="1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b="1" i="1" baseline="-25000" dirty="0" err="1">
                <a:solidFill>
                  <a:srgbClr val="FF0000"/>
                </a:solidFill>
                <a:sym typeface="Symbol" charset="0"/>
              </a:rPr>
              <a:t>b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minime. </a:t>
            </a:r>
          </a:p>
          <a:p>
            <a:r>
              <a:rPr lang="it-IT" sz="2400" u="sng" dirty="0">
                <a:sym typeface="Symbol" charset="0"/>
              </a:rPr>
              <a:t>Esiste</a:t>
            </a:r>
            <a:r>
              <a:rPr lang="it-IT" sz="2400" dirty="0">
                <a:sym typeface="Symbol" charset="0"/>
              </a:rPr>
              <a:t> un codice prefisso ottimo in cui le parole codice di 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a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e 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b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hanno la stessa lunghezza e differiscono soltanto per l’ultimo bit (e quindi, nell’albero del codice, le foglie associate ad 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a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e 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b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sono </a:t>
            </a:r>
            <a:r>
              <a:rPr lang="it-IT" sz="2400" dirty="0"/>
              <a:t>figlie dello stesso nodo interno, cioè sorelle</a:t>
            </a:r>
            <a:r>
              <a:rPr lang="it-IT" sz="2400" dirty="0" smtClean="0"/>
              <a:t>) </a:t>
            </a:r>
            <a:endParaRPr lang="it-IT" sz="2400" dirty="0"/>
          </a:p>
        </p:txBody>
      </p:sp>
      <p:sp>
        <p:nvSpPr>
          <p:cNvPr id="7331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Lemma scelta golosa</a:t>
            </a:r>
            <a:endParaRPr lang="it-IT" dirty="0"/>
          </a:p>
        </p:txBody>
      </p:sp>
      <p:sp>
        <p:nvSpPr>
          <p:cNvPr id="733188" name="Text Box 4"/>
          <p:cNvSpPr txBox="1">
            <a:spLocks noChangeArrowheads="1"/>
          </p:cNvSpPr>
          <p:nvPr/>
        </p:nvSpPr>
        <p:spPr bwMode="auto">
          <a:xfrm>
            <a:off x="611560" y="5085184"/>
            <a:ext cx="8136904" cy="1015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35" tIns="45718" rIns="91435" bIns="45718">
            <a:spAutoFit/>
          </a:bodyPr>
          <a:lstStyle/>
          <a:p>
            <a:r>
              <a:rPr lang="it-IT" sz="2000" b="1" dirty="0"/>
              <a:t>Attenzione</a:t>
            </a:r>
            <a:r>
              <a:rPr lang="it-IT" sz="2000" dirty="0"/>
              <a:t>: Il Lemma </a:t>
            </a:r>
            <a:r>
              <a:rPr lang="it-IT" sz="2000" b="1" u="sng" dirty="0"/>
              <a:t>non</a:t>
            </a:r>
            <a:r>
              <a:rPr lang="it-IT" sz="2000" dirty="0"/>
              <a:t> dice che ciò è vero per ogni </a:t>
            </a:r>
            <a:r>
              <a:rPr lang="it-IT" sz="2000" dirty="0">
                <a:sym typeface="Symbol" charset="0"/>
              </a:rPr>
              <a:t>codice prefisso ottimo e </a:t>
            </a:r>
            <a:r>
              <a:rPr lang="it-IT" sz="2000" b="1" u="sng" dirty="0"/>
              <a:t>tanto meno</a:t>
            </a:r>
            <a:r>
              <a:rPr lang="it-IT" sz="2000" dirty="0"/>
              <a:t> che se ciò è vero il codice è ottimo</a:t>
            </a:r>
            <a:r>
              <a:rPr lang="it-IT" sz="2000" dirty="0">
                <a:sym typeface="Symbol" charset="0"/>
              </a:rPr>
              <a:t>!!!! </a:t>
            </a:r>
          </a:p>
          <a:p>
            <a:r>
              <a:rPr lang="it-IT" sz="2000" dirty="0">
                <a:sym typeface="Symbol" charset="0"/>
              </a:rPr>
              <a:t>Dice </a:t>
            </a:r>
            <a:r>
              <a:rPr lang="it-IT" sz="2000" b="1" u="sng" dirty="0">
                <a:sym typeface="Symbol" charset="0"/>
              </a:rPr>
              <a:t>solo</a:t>
            </a:r>
            <a:r>
              <a:rPr lang="it-IT" sz="2000" dirty="0">
                <a:sym typeface="Symbol" charset="0"/>
              </a:rPr>
              <a:t> che </a:t>
            </a:r>
            <a:r>
              <a:rPr lang="it-IT" sz="2000" dirty="0"/>
              <a:t>ciò </a:t>
            </a:r>
            <a:r>
              <a:rPr lang="it-IT" sz="2000" dirty="0">
                <a:sym typeface="Symbol" charset="0"/>
              </a:rPr>
              <a:t>è vero per </a:t>
            </a:r>
            <a:r>
              <a:rPr lang="it-IT" sz="2000" b="1" u="sng" dirty="0">
                <a:sym typeface="Symbol" charset="0"/>
              </a:rPr>
              <a:t>almeno</a:t>
            </a:r>
            <a:r>
              <a:rPr lang="it-IT" sz="2000" dirty="0">
                <a:sym typeface="Symbol" charset="0"/>
              </a:rPr>
              <a:t> un codice ottimo.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210" name="Text Box 2"/>
          <p:cNvSpPr txBox="1">
            <a:spLocks noChangeArrowheads="1"/>
          </p:cNvSpPr>
          <p:nvPr/>
        </p:nvSpPr>
        <p:spPr bwMode="auto">
          <a:xfrm>
            <a:off x="395536" y="1196752"/>
            <a:ext cx="83820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Sia </a:t>
            </a:r>
            <a:r>
              <a:rPr lang="it-IT" sz="2400" b="1" i="1" dirty="0">
                <a:solidFill>
                  <a:srgbClr val="FF0000"/>
                </a:solidFill>
              </a:rPr>
              <a:t>T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 smtClean="0">
                <a:solidFill>
                  <a:srgbClr val="FF0000"/>
                </a:solidFill>
              </a:rPr>
              <a:t> </a:t>
            </a:r>
            <a:r>
              <a:rPr lang="it-IT" sz="2400" dirty="0" smtClean="0">
                <a:solidFill>
                  <a:srgbClr val="0000FF"/>
                </a:solidFill>
              </a:rPr>
              <a:t>l’albero </a:t>
            </a:r>
            <a:r>
              <a:rPr lang="it-IT" sz="2400" dirty="0">
                <a:solidFill>
                  <a:srgbClr val="0000FF"/>
                </a:solidFill>
              </a:rPr>
              <a:t>di un codice prefisso </a:t>
            </a:r>
            <a:r>
              <a:rPr lang="it-IT" sz="2400" dirty="0" smtClean="0">
                <a:solidFill>
                  <a:srgbClr val="0000FF"/>
                </a:solidFill>
              </a:rPr>
              <a:t>ottimo</a:t>
            </a:r>
            <a:endParaRPr lang="it-IT" sz="2400" dirty="0">
              <a:solidFill>
                <a:srgbClr val="0000FF"/>
              </a:solidFill>
            </a:endParaRPr>
          </a:p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Ogni nodo interno di </a:t>
            </a:r>
            <a:r>
              <a:rPr lang="it-IT" sz="2400" b="1" i="1" dirty="0">
                <a:solidFill>
                  <a:srgbClr val="FF0000"/>
                </a:solidFill>
              </a:rPr>
              <a:t>T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 smtClean="0">
                <a:solidFill>
                  <a:srgbClr val="FF0000"/>
                </a:solidFill>
              </a:rPr>
              <a:t> </a:t>
            </a:r>
            <a:r>
              <a:rPr lang="it-IT" sz="2400" dirty="0" smtClean="0">
                <a:solidFill>
                  <a:srgbClr val="0000FF"/>
                </a:solidFill>
              </a:rPr>
              <a:t>ha </a:t>
            </a:r>
            <a:r>
              <a:rPr lang="it-IT" sz="2400" dirty="0">
                <a:solidFill>
                  <a:srgbClr val="0000FF"/>
                </a:solidFill>
              </a:rPr>
              <a:t>due figli (altrimenti togliendo il nodo si otterrebbe un codice migliore</a:t>
            </a:r>
            <a:r>
              <a:rPr lang="it-IT" sz="2400" dirty="0" smtClean="0">
                <a:solidFill>
                  <a:srgbClr val="0000FF"/>
                </a:solidFill>
              </a:rPr>
              <a:t>)</a:t>
            </a:r>
            <a:endParaRPr lang="it-IT" sz="2400" dirty="0">
              <a:solidFill>
                <a:srgbClr val="0000FF"/>
              </a:solidFill>
            </a:endParaRPr>
          </a:p>
        </p:txBody>
      </p:sp>
      <p:grpSp>
        <p:nvGrpSpPr>
          <p:cNvPr id="734211" name="Group 3"/>
          <p:cNvGrpSpPr>
            <a:grpSpLocks noChangeAspect="1"/>
          </p:cNvGrpSpPr>
          <p:nvPr/>
        </p:nvGrpSpPr>
        <p:grpSpPr bwMode="auto">
          <a:xfrm>
            <a:off x="4878756" y="2636907"/>
            <a:ext cx="2691525" cy="3163429"/>
            <a:chOff x="3431" y="1680"/>
            <a:chExt cx="1975" cy="2239"/>
          </a:xfrm>
        </p:grpSpPr>
        <p:sp>
          <p:nvSpPr>
            <p:cNvPr id="734212" name="Oval 4"/>
            <p:cNvSpPr>
              <a:spLocks noChangeArrowheads="1"/>
            </p:cNvSpPr>
            <p:nvPr/>
          </p:nvSpPr>
          <p:spPr bwMode="auto">
            <a:xfrm>
              <a:off x="3804" y="1680"/>
              <a:ext cx="320" cy="29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/>
                <a:t>120</a:t>
              </a:r>
            </a:p>
          </p:txBody>
        </p:sp>
        <p:sp>
          <p:nvSpPr>
            <p:cNvPr id="734213" name="Oval 5"/>
            <p:cNvSpPr>
              <a:spLocks noChangeArrowheads="1"/>
            </p:cNvSpPr>
            <p:nvPr/>
          </p:nvSpPr>
          <p:spPr bwMode="auto">
            <a:xfrm>
              <a:off x="4338" y="2128"/>
              <a:ext cx="320" cy="29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/>
                <a:t>63</a:t>
              </a:r>
            </a:p>
          </p:txBody>
        </p:sp>
        <p:sp>
          <p:nvSpPr>
            <p:cNvPr id="734214" name="Line 6"/>
            <p:cNvSpPr>
              <a:spLocks noChangeShapeType="1"/>
            </p:cNvSpPr>
            <p:nvPr/>
          </p:nvSpPr>
          <p:spPr bwMode="auto">
            <a:xfrm>
              <a:off x="4071" y="1929"/>
              <a:ext cx="320" cy="2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34215" name="Rectangle 7"/>
            <p:cNvSpPr>
              <a:spLocks noChangeArrowheads="1"/>
            </p:cNvSpPr>
            <p:nvPr/>
          </p:nvSpPr>
          <p:spPr bwMode="auto">
            <a:xfrm>
              <a:off x="3431" y="2227"/>
              <a:ext cx="373" cy="19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a</a:t>
              </a:r>
              <a:r>
                <a:rPr lang="it-IT" sz="1800"/>
                <a:t>:57</a:t>
              </a:r>
            </a:p>
          </p:txBody>
        </p:sp>
        <p:sp>
          <p:nvSpPr>
            <p:cNvPr id="734216" name="Line 8"/>
            <p:cNvSpPr>
              <a:spLocks noChangeShapeType="1"/>
            </p:cNvSpPr>
            <p:nvPr/>
          </p:nvSpPr>
          <p:spPr bwMode="auto">
            <a:xfrm flipH="1">
              <a:off x="3591" y="1929"/>
              <a:ext cx="267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34217" name="Line 9"/>
            <p:cNvSpPr>
              <a:spLocks noChangeShapeType="1"/>
            </p:cNvSpPr>
            <p:nvPr/>
          </p:nvSpPr>
          <p:spPr bwMode="auto">
            <a:xfrm flipH="1">
              <a:off x="4097" y="2376"/>
              <a:ext cx="294" cy="2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34218" name="Oval 10"/>
            <p:cNvSpPr>
              <a:spLocks noChangeArrowheads="1"/>
            </p:cNvSpPr>
            <p:nvPr/>
          </p:nvSpPr>
          <p:spPr bwMode="auto">
            <a:xfrm>
              <a:off x="3792" y="2592"/>
              <a:ext cx="320" cy="29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/>
                <a:t>25</a:t>
              </a:r>
            </a:p>
          </p:txBody>
        </p:sp>
        <p:sp>
          <p:nvSpPr>
            <p:cNvPr id="734219" name="Oval 11"/>
            <p:cNvSpPr>
              <a:spLocks noChangeArrowheads="1"/>
            </p:cNvSpPr>
            <p:nvPr/>
          </p:nvSpPr>
          <p:spPr bwMode="auto">
            <a:xfrm>
              <a:off x="4819" y="2575"/>
              <a:ext cx="320" cy="29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/>
                <a:t>38</a:t>
              </a:r>
            </a:p>
          </p:txBody>
        </p:sp>
        <p:sp>
          <p:nvSpPr>
            <p:cNvPr id="734220" name="Line 12"/>
            <p:cNvSpPr>
              <a:spLocks noChangeShapeType="1"/>
            </p:cNvSpPr>
            <p:nvPr/>
          </p:nvSpPr>
          <p:spPr bwMode="auto">
            <a:xfrm>
              <a:off x="4605" y="2376"/>
              <a:ext cx="267" cy="2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34221" name="Line 13"/>
            <p:cNvSpPr>
              <a:spLocks noChangeShapeType="1"/>
            </p:cNvSpPr>
            <p:nvPr/>
          </p:nvSpPr>
          <p:spPr bwMode="auto">
            <a:xfrm>
              <a:off x="4005" y="2891"/>
              <a:ext cx="161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34222" name="Line 14"/>
            <p:cNvSpPr>
              <a:spLocks noChangeShapeType="1"/>
            </p:cNvSpPr>
            <p:nvPr/>
          </p:nvSpPr>
          <p:spPr bwMode="auto">
            <a:xfrm>
              <a:off x="5086" y="2874"/>
              <a:ext cx="160" cy="2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34223" name="Line 15"/>
            <p:cNvSpPr>
              <a:spLocks noChangeShapeType="1"/>
            </p:cNvSpPr>
            <p:nvPr/>
          </p:nvSpPr>
          <p:spPr bwMode="auto">
            <a:xfrm flipH="1">
              <a:off x="3738" y="2891"/>
              <a:ext cx="161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34224" name="Line 16"/>
            <p:cNvSpPr>
              <a:spLocks noChangeShapeType="1"/>
            </p:cNvSpPr>
            <p:nvPr/>
          </p:nvSpPr>
          <p:spPr bwMode="auto">
            <a:xfrm flipH="1">
              <a:off x="4765" y="2874"/>
              <a:ext cx="161" cy="2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34225" name="Oval 17"/>
            <p:cNvSpPr>
              <a:spLocks noChangeArrowheads="1"/>
            </p:cNvSpPr>
            <p:nvPr/>
          </p:nvSpPr>
          <p:spPr bwMode="auto">
            <a:xfrm>
              <a:off x="4552" y="3123"/>
              <a:ext cx="320" cy="29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/>
                <a:t>14</a:t>
              </a:r>
            </a:p>
          </p:txBody>
        </p:sp>
        <p:sp>
          <p:nvSpPr>
            <p:cNvPr id="734226" name="Line 18"/>
            <p:cNvSpPr>
              <a:spLocks noChangeShapeType="1"/>
            </p:cNvSpPr>
            <p:nvPr/>
          </p:nvSpPr>
          <p:spPr bwMode="auto">
            <a:xfrm flipH="1">
              <a:off x="4445" y="3422"/>
              <a:ext cx="160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34227" name="Line 19"/>
            <p:cNvSpPr>
              <a:spLocks noChangeShapeType="1"/>
            </p:cNvSpPr>
            <p:nvPr/>
          </p:nvSpPr>
          <p:spPr bwMode="auto">
            <a:xfrm>
              <a:off x="4819" y="3422"/>
              <a:ext cx="159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34228" name="Rectangle 20"/>
            <p:cNvSpPr>
              <a:spLocks noChangeArrowheads="1"/>
            </p:cNvSpPr>
            <p:nvPr/>
          </p:nvSpPr>
          <p:spPr bwMode="auto">
            <a:xfrm>
              <a:off x="4005" y="3189"/>
              <a:ext cx="374" cy="200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b</a:t>
              </a:r>
              <a:r>
                <a:rPr lang="it-IT" sz="1800"/>
                <a:t>:13</a:t>
              </a:r>
            </a:p>
          </p:txBody>
        </p:sp>
        <p:sp>
          <p:nvSpPr>
            <p:cNvPr id="734229" name="Rectangle 21"/>
            <p:cNvSpPr>
              <a:spLocks noChangeArrowheads="1"/>
            </p:cNvSpPr>
            <p:nvPr/>
          </p:nvSpPr>
          <p:spPr bwMode="auto">
            <a:xfrm>
              <a:off x="3525" y="3189"/>
              <a:ext cx="374" cy="200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c</a:t>
              </a:r>
              <a:r>
                <a:rPr lang="it-IT" sz="1800"/>
                <a:t>:12</a:t>
              </a:r>
            </a:p>
          </p:txBody>
        </p:sp>
        <p:sp>
          <p:nvSpPr>
            <p:cNvPr id="734230" name="Rectangle 22"/>
            <p:cNvSpPr>
              <a:spLocks noChangeArrowheads="1"/>
            </p:cNvSpPr>
            <p:nvPr/>
          </p:nvSpPr>
          <p:spPr bwMode="auto">
            <a:xfrm>
              <a:off x="5032" y="3173"/>
              <a:ext cx="374" cy="19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d</a:t>
              </a:r>
              <a:r>
                <a:rPr lang="it-IT" sz="1800"/>
                <a:t>:24</a:t>
              </a:r>
            </a:p>
          </p:txBody>
        </p:sp>
        <p:sp>
          <p:nvSpPr>
            <p:cNvPr id="734231" name="Rectangle 23"/>
            <p:cNvSpPr>
              <a:spLocks noChangeArrowheads="1"/>
            </p:cNvSpPr>
            <p:nvPr/>
          </p:nvSpPr>
          <p:spPr bwMode="auto">
            <a:xfrm>
              <a:off x="4285" y="3720"/>
              <a:ext cx="373" cy="19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f</a:t>
              </a:r>
              <a:r>
                <a:rPr lang="it-IT" sz="1800"/>
                <a:t>:5</a:t>
              </a:r>
            </a:p>
          </p:txBody>
        </p:sp>
        <p:sp>
          <p:nvSpPr>
            <p:cNvPr id="734232" name="Rectangle 24"/>
            <p:cNvSpPr>
              <a:spLocks noChangeArrowheads="1"/>
            </p:cNvSpPr>
            <p:nvPr/>
          </p:nvSpPr>
          <p:spPr bwMode="auto">
            <a:xfrm>
              <a:off x="4765" y="3720"/>
              <a:ext cx="374" cy="19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e</a:t>
              </a:r>
              <a:r>
                <a:rPr lang="it-IT" sz="1800"/>
                <a:t>:9</a:t>
              </a:r>
            </a:p>
          </p:txBody>
        </p:sp>
        <p:sp>
          <p:nvSpPr>
            <p:cNvPr id="734233" name="Text Box 25"/>
            <p:cNvSpPr txBox="1">
              <a:spLocks noChangeArrowheads="1"/>
            </p:cNvSpPr>
            <p:nvPr/>
          </p:nvSpPr>
          <p:spPr bwMode="auto">
            <a:xfrm>
              <a:off x="3591" y="1889"/>
              <a:ext cx="239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1800"/>
                <a:t>0</a:t>
              </a:r>
            </a:p>
          </p:txBody>
        </p:sp>
        <p:sp>
          <p:nvSpPr>
            <p:cNvPr id="734234" name="Text Box 26"/>
            <p:cNvSpPr txBox="1">
              <a:spLocks noChangeArrowheads="1"/>
            </p:cNvSpPr>
            <p:nvPr/>
          </p:nvSpPr>
          <p:spPr bwMode="auto">
            <a:xfrm>
              <a:off x="4071" y="2337"/>
              <a:ext cx="239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1800"/>
                <a:t>0</a:t>
              </a:r>
            </a:p>
          </p:txBody>
        </p:sp>
        <p:sp>
          <p:nvSpPr>
            <p:cNvPr id="734235" name="Text Box 27"/>
            <p:cNvSpPr txBox="1">
              <a:spLocks noChangeArrowheads="1"/>
            </p:cNvSpPr>
            <p:nvPr/>
          </p:nvSpPr>
          <p:spPr bwMode="auto">
            <a:xfrm>
              <a:off x="3685" y="2851"/>
              <a:ext cx="239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1800"/>
                <a:t>0</a:t>
              </a:r>
            </a:p>
          </p:txBody>
        </p:sp>
        <p:sp>
          <p:nvSpPr>
            <p:cNvPr id="734236" name="Text Box 28"/>
            <p:cNvSpPr txBox="1">
              <a:spLocks noChangeArrowheads="1"/>
            </p:cNvSpPr>
            <p:nvPr/>
          </p:nvSpPr>
          <p:spPr bwMode="auto">
            <a:xfrm>
              <a:off x="4658" y="2834"/>
              <a:ext cx="239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1800"/>
                <a:t>0</a:t>
              </a:r>
            </a:p>
          </p:txBody>
        </p:sp>
        <p:sp>
          <p:nvSpPr>
            <p:cNvPr id="734237" name="Text Box 29"/>
            <p:cNvSpPr txBox="1">
              <a:spLocks noChangeArrowheads="1"/>
            </p:cNvSpPr>
            <p:nvPr/>
          </p:nvSpPr>
          <p:spPr bwMode="auto">
            <a:xfrm>
              <a:off x="4391" y="3381"/>
              <a:ext cx="239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1800"/>
                <a:t>0</a:t>
              </a:r>
            </a:p>
          </p:txBody>
        </p:sp>
        <p:sp>
          <p:nvSpPr>
            <p:cNvPr id="734238" name="Text Box 30"/>
            <p:cNvSpPr txBox="1">
              <a:spLocks noChangeArrowheads="1"/>
            </p:cNvSpPr>
            <p:nvPr/>
          </p:nvSpPr>
          <p:spPr bwMode="auto">
            <a:xfrm>
              <a:off x="4178" y="1889"/>
              <a:ext cx="212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1800"/>
                <a:t>1</a:t>
              </a:r>
            </a:p>
          </p:txBody>
        </p:sp>
        <p:sp>
          <p:nvSpPr>
            <p:cNvPr id="734239" name="Text Box 31"/>
            <p:cNvSpPr txBox="1">
              <a:spLocks noChangeArrowheads="1"/>
            </p:cNvSpPr>
            <p:nvPr/>
          </p:nvSpPr>
          <p:spPr bwMode="auto">
            <a:xfrm>
              <a:off x="4658" y="2337"/>
              <a:ext cx="212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1800"/>
                <a:t>1</a:t>
              </a:r>
            </a:p>
          </p:txBody>
        </p:sp>
        <p:sp>
          <p:nvSpPr>
            <p:cNvPr id="734240" name="Text Box 32"/>
            <p:cNvSpPr txBox="1">
              <a:spLocks noChangeArrowheads="1"/>
            </p:cNvSpPr>
            <p:nvPr/>
          </p:nvSpPr>
          <p:spPr bwMode="auto">
            <a:xfrm>
              <a:off x="5086" y="2834"/>
              <a:ext cx="212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1800"/>
                <a:t>1</a:t>
              </a:r>
            </a:p>
          </p:txBody>
        </p:sp>
        <p:sp>
          <p:nvSpPr>
            <p:cNvPr id="734241" name="Text Box 33"/>
            <p:cNvSpPr txBox="1">
              <a:spLocks noChangeArrowheads="1"/>
            </p:cNvSpPr>
            <p:nvPr/>
          </p:nvSpPr>
          <p:spPr bwMode="auto">
            <a:xfrm>
              <a:off x="4005" y="2851"/>
              <a:ext cx="212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1800"/>
                <a:t>1</a:t>
              </a:r>
            </a:p>
          </p:txBody>
        </p:sp>
        <p:sp>
          <p:nvSpPr>
            <p:cNvPr id="734242" name="Text Box 34"/>
            <p:cNvSpPr txBox="1">
              <a:spLocks noChangeArrowheads="1"/>
            </p:cNvSpPr>
            <p:nvPr/>
          </p:nvSpPr>
          <p:spPr bwMode="auto">
            <a:xfrm>
              <a:off x="4819" y="3381"/>
              <a:ext cx="212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1800"/>
                <a:t>1</a:t>
              </a:r>
            </a:p>
          </p:txBody>
        </p:sp>
      </p:grpSp>
      <p:grpSp>
        <p:nvGrpSpPr>
          <p:cNvPr id="734243" name="Group 35"/>
          <p:cNvGrpSpPr>
            <a:grpSpLocks noChangeAspect="1"/>
          </p:cNvGrpSpPr>
          <p:nvPr/>
        </p:nvGrpSpPr>
        <p:grpSpPr bwMode="auto">
          <a:xfrm>
            <a:off x="611560" y="2636912"/>
            <a:ext cx="3246786" cy="3807699"/>
            <a:chOff x="400" y="1440"/>
            <a:chExt cx="2489" cy="2695"/>
          </a:xfrm>
        </p:grpSpPr>
        <p:sp>
          <p:nvSpPr>
            <p:cNvPr id="734244" name="Oval 36"/>
            <p:cNvSpPr>
              <a:spLocks noChangeArrowheads="1"/>
            </p:cNvSpPr>
            <p:nvPr/>
          </p:nvSpPr>
          <p:spPr bwMode="auto">
            <a:xfrm>
              <a:off x="1774" y="1888"/>
              <a:ext cx="334" cy="29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 dirty="0"/>
                <a:t>63</a:t>
              </a:r>
            </a:p>
          </p:txBody>
        </p:sp>
        <p:sp>
          <p:nvSpPr>
            <p:cNvPr id="734245" name="Oval 37"/>
            <p:cNvSpPr>
              <a:spLocks noChangeArrowheads="1"/>
            </p:cNvSpPr>
            <p:nvPr/>
          </p:nvSpPr>
          <p:spPr bwMode="auto">
            <a:xfrm>
              <a:off x="1215" y="1440"/>
              <a:ext cx="335" cy="298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/>
                <a:t>120</a:t>
              </a:r>
            </a:p>
          </p:txBody>
        </p:sp>
        <p:sp>
          <p:nvSpPr>
            <p:cNvPr id="734246" name="Line 38"/>
            <p:cNvSpPr>
              <a:spLocks noChangeShapeType="1"/>
            </p:cNvSpPr>
            <p:nvPr/>
          </p:nvSpPr>
          <p:spPr bwMode="auto">
            <a:xfrm>
              <a:off x="1494" y="1689"/>
              <a:ext cx="335" cy="2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34247" name="Rectangle 39"/>
            <p:cNvSpPr>
              <a:spLocks noChangeArrowheads="1"/>
            </p:cNvSpPr>
            <p:nvPr/>
          </p:nvSpPr>
          <p:spPr bwMode="auto">
            <a:xfrm>
              <a:off x="825" y="1987"/>
              <a:ext cx="390" cy="19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a</a:t>
              </a:r>
              <a:r>
                <a:rPr lang="it-IT" sz="1800"/>
                <a:t>:57</a:t>
              </a:r>
            </a:p>
          </p:txBody>
        </p:sp>
        <p:sp>
          <p:nvSpPr>
            <p:cNvPr id="734248" name="Line 40"/>
            <p:cNvSpPr>
              <a:spLocks noChangeShapeType="1"/>
            </p:cNvSpPr>
            <p:nvPr/>
          </p:nvSpPr>
          <p:spPr bwMode="auto">
            <a:xfrm flipH="1">
              <a:off x="992" y="1689"/>
              <a:ext cx="280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34249" name="Line 41"/>
            <p:cNvSpPr>
              <a:spLocks noChangeShapeType="1"/>
            </p:cNvSpPr>
            <p:nvPr/>
          </p:nvSpPr>
          <p:spPr bwMode="auto">
            <a:xfrm flipH="1">
              <a:off x="1522" y="2136"/>
              <a:ext cx="307" cy="2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34250" name="Oval 42"/>
            <p:cNvSpPr>
              <a:spLocks noChangeArrowheads="1"/>
            </p:cNvSpPr>
            <p:nvPr/>
          </p:nvSpPr>
          <p:spPr bwMode="auto">
            <a:xfrm>
              <a:off x="679" y="2865"/>
              <a:ext cx="334" cy="29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/>
                <a:t>25</a:t>
              </a:r>
            </a:p>
          </p:txBody>
        </p:sp>
        <p:sp>
          <p:nvSpPr>
            <p:cNvPr id="734251" name="Oval 43"/>
            <p:cNvSpPr>
              <a:spLocks noChangeArrowheads="1"/>
            </p:cNvSpPr>
            <p:nvPr/>
          </p:nvSpPr>
          <p:spPr bwMode="auto">
            <a:xfrm>
              <a:off x="2276" y="2335"/>
              <a:ext cx="334" cy="29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/>
                <a:t>38</a:t>
              </a:r>
            </a:p>
          </p:txBody>
        </p:sp>
        <p:sp>
          <p:nvSpPr>
            <p:cNvPr id="734252" name="Line 44"/>
            <p:cNvSpPr>
              <a:spLocks noChangeShapeType="1"/>
            </p:cNvSpPr>
            <p:nvPr/>
          </p:nvSpPr>
          <p:spPr bwMode="auto">
            <a:xfrm>
              <a:off x="2052" y="2136"/>
              <a:ext cx="279" cy="2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34253" name="Line 45"/>
            <p:cNvSpPr>
              <a:spLocks noChangeShapeType="1"/>
            </p:cNvSpPr>
            <p:nvPr/>
          </p:nvSpPr>
          <p:spPr bwMode="auto">
            <a:xfrm>
              <a:off x="902" y="3164"/>
              <a:ext cx="168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34254" name="Line 46"/>
            <p:cNvSpPr>
              <a:spLocks noChangeShapeType="1"/>
            </p:cNvSpPr>
            <p:nvPr/>
          </p:nvSpPr>
          <p:spPr bwMode="auto">
            <a:xfrm>
              <a:off x="2555" y="2634"/>
              <a:ext cx="166" cy="2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34255" name="Line 47"/>
            <p:cNvSpPr>
              <a:spLocks noChangeShapeType="1"/>
            </p:cNvSpPr>
            <p:nvPr/>
          </p:nvSpPr>
          <p:spPr bwMode="auto">
            <a:xfrm flipH="1">
              <a:off x="623" y="3164"/>
              <a:ext cx="168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34256" name="Line 48"/>
            <p:cNvSpPr>
              <a:spLocks noChangeShapeType="1"/>
            </p:cNvSpPr>
            <p:nvPr/>
          </p:nvSpPr>
          <p:spPr bwMode="auto">
            <a:xfrm flipH="1">
              <a:off x="2219" y="2634"/>
              <a:ext cx="168" cy="2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34257" name="Oval 49"/>
            <p:cNvSpPr>
              <a:spLocks noChangeArrowheads="1"/>
            </p:cNvSpPr>
            <p:nvPr/>
          </p:nvSpPr>
          <p:spPr bwMode="auto">
            <a:xfrm>
              <a:off x="1996" y="2883"/>
              <a:ext cx="335" cy="29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/>
                <a:t>14</a:t>
              </a:r>
            </a:p>
          </p:txBody>
        </p:sp>
        <p:sp>
          <p:nvSpPr>
            <p:cNvPr id="734258" name="Line 50"/>
            <p:cNvSpPr>
              <a:spLocks noChangeShapeType="1"/>
            </p:cNvSpPr>
            <p:nvPr/>
          </p:nvSpPr>
          <p:spPr bwMode="auto">
            <a:xfrm flipH="1">
              <a:off x="1885" y="3182"/>
              <a:ext cx="167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34259" name="Line 51"/>
            <p:cNvSpPr>
              <a:spLocks noChangeShapeType="1"/>
            </p:cNvSpPr>
            <p:nvPr/>
          </p:nvSpPr>
          <p:spPr bwMode="auto">
            <a:xfrm>
              <a:off x="2276" y="3182"/>
              <a:ext cx="166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34260" name="Rectangle 52"/>
            <p:cNvSpPr>
              <a:spLocks noChangeArrowheads="1"/>
            </p:cNvSpPr>
            <p:nvPr/>
          </p:nvSpPr>
          <p:spPr bwMode="auto">
            <a:xfrm>
              <a:off x="902" y="3462"/>
              <a:ext cx="391" cy="200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b</a:t>
              </a:r>
              <a:r>
                <a:rPr lang="it-IT" sz="1800"/>
                <a:t>:13</a:t>
              </a:r>
            </a:p>
          </p:txBody>
        </p:sp>
        <p:sp>
          <p:nvSpPr>
            <p:cNvPr id="734261" name="Rectangle 53"/>
            <p:cNvSpPr>
              <a:spLocks noChangeArrowheads="1"/>
            </p:cNvSpPr>
            <p:nvPr/>
          </p:nvSpPr>
          <p:spPr bwMode="auto">
            <a:xfrm>
              <a:off x="400" y="3462"/>
              <a:ext cx="391" cy="200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c</a:t>
              </a:r>
              <a:r>
                <a:rPr lang="it-IT" sz="1800"/>
                <a:t>:12</a:t>
              </a:r>
            </a:p>
          </p:txBody>
        </p:sp>
        <p:sp>
          <p:nvSpPr>
            <p:cNvPr id="734262" name="Rectangle 54"/>
            <p:cNvSpPr>
              <a:spLocks noChangeArrowheads="1"/>
            </p:cNvSpPr>
            <p:nvPr/>
          </p:nvSpPr>
          <p:spPr bwMode="auto">
            <a:xfrm>
              <a:off x="2498" y="2933"/>
              <a:ext cx="391" cy="19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d</a:t>
              </a:r>
              <a:r>
                <a:rPr lang="it-IT" sz="1800"/>
                <a:t>:24</a:t>
              </a:r>
            </a:p>
          </p:txBody>
        </p:sp>
        <p:sp>
          <p:nvSpPr>
            <p:cNvPr id="734263" name="Rectangle 55"/>
            <p:cNvSpPr>
              <a:spLocks noChangeArrowheads="1"/>
            </p:cNvSpPr>
            <p:nvPr/>
          </p:nvSpPr>
          <p:spPr bwMode="auto">
            <a:xfrm>
              <a:off x="1717" y="3480"/>
              <a:ext cx="391" cy="19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f</a:t>
              </a:r>
              <a:r>
                <a:rPr lang="it-IT" sz="1800"/>
                <a:t>:5</a:t>
              </a:r>
            </a:p>
          </p:txBody>
        </p:sp>
        <p:sp>
          <p:nvSpPr>
            <p:cNvPr id="734264" name="Rectangle 56"/>
            <p:cNvSpPr>
              <a:spLocks noChangeArrowheads="1"/>
            </p:cNvSpPr>
            <p:nvPr/>
          </p:nvSpPr>
          <p:spPr bwMode="auto">
            <a:xfrm>
              <a:off x="2112" y="3936"/>
              <a:ext cx="391" cy="199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 b="1">
                  <a:latin typeface="Courier New" charset="0"/>
                  <a:sym typeface="Symbol" charset="0"/>
                </a:rPr>
                <a:t>e</a:t>
              </a:r>
              <a:r>
                <a:rPr lang="it-IT" sz="1800"/>
                <a:t>:9</a:t>
              </a:r>
            </a:p>
          </p:txBody>
        </p:sp>
        <p:sp>
          <p:nvSpPr>
            <p:cNvPr id="734265" name="Text Box 57"/>
            <p:cNvSpPr txBox="1">
              <a:spLocks noChangeArrowheads="1"/>
            </p:cNvSpPr>
            <p:nvPr/>
          </p:nvSpPr>
          <p:spPr bwMode="auto">
            <a:xfrm>
              <a:off x="992" y="1649"/>
              <a:ext cx="250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1800"/>
                <a:t>0</a:t>
              </a:r>
            </a:p>
          </p:txBody>
        </p:sp>
        <p:sp>
          <p:nvSpPr>
            <p:cNvPr id="734266" name="Text Box 58"/>
            <p:cNvSpPr txBox="1">
              <a:spLocks noChangeArrowheads="1"/>
            </p:cNvSpPr>
            <p:nvPr/>
          </p:nvSpPr>
          <p:spPr bwMode="auto">
            <a:xfrm>
              <a:off x="1494" y="2097"/>
              <a:ext cx="250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1800"/>
                <a:t>0</a:t>
              </a:r>
            </a:p>
          </p:txBody>
        </p:sp>
        <p:sp>
          <p:nvSpPr>
            <p:cNvPr id="734267" name="Text Box 59"/>
            <p:cNvSpPr txBox="1">
              <a:spLocks noChangeArrowheads="1"/>
            </p:cNvSpPr>
            <p:nvPr/>
          </p:nvSpPr>
          <p:spPr bwMode="auto">
            <a:xfrm>
              <a:off x="567" y="3124"/>
              <a:ext cx="250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1800"/>
                <a:t>0</a:t>
              </a:r>
            </a:p>
          </p:txBody>
        </p:sp>
        <p:sp>
          <p:nvSpPr>
            <p:cNvPr id="734268" name="Text Box 60"/>
            <p:cNvSpPr txBox="1">
              <a:spLocks noChangeArrowheads="1"/>
            </p:cNvSpPr>
            <p:nvPr/>
          </p:nvSpPr>
          <p:spPr bwMode="auto">
            <a:xfrm>
              <a:off x="2107" y="2594"/>
              <a:ext cx="250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1800" dirty="0"/>
                <a:t>0</a:t>
              </a:r>
            </a:p>
          </p:txBody>
        </p:sp>
        <p:sp>
          <p:nvSpPr>
            <p:cNvPr id="734269" name="Text Box 61"/>
            <p:cNvSpPr txBox="1">
              <a:spLocks noChangeArrowheads="1"/>
            </p:cNvSpPr>
            <p:nvPr/>
          </p:nvSpPr>
          <p:spPr bwMode="auto">
            <a:xfrm>
              <a:off x="1829" y="3141"/>
              <a:ext cx="250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1800"/>
                <a:t>0</a:t>
              </a:r>
            </a:p>
          </p:txBody>
        </p:sp>
        <p:sp>
          <p:nvSpPr>
            <p:cNvPr id="734270" name="Text Box 62"/>
            <p:cNvSpPr txBox="1">
              <a:spLocks noChangeArrowheads="1"/>
            </p:cNvSpPr>
            <p:nvPr/>
          </p:nvSpPr>
          <p:spPr bwMode="auto">
            <a:xfrm>
              <a:off x="1605" y="1649"/>
              <a:ext cx="221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1800"/>
                <a:t>1</a:t>
              </a:r>
            </a:p>
          </p:txBody>
        </p:sp>
        <p:sp>
          <p:nvSpPr>
            <p:cNvPr id="734271" name="Text Box 63"/>
            <p:cNvSpPr txBox="1">
              <a:spLocks noChangeArrowheads="1"/>
            </p:cNvSpPr>
            <p:nvPr/>
          </p:nvSpPr>
          <p:spPr bwMode="auto">
            <a:xfrm>
              <a:off x="2107" y="2097"/>
              <a:ext cx="221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1800"/>
                <a:t>1</a:t>
              </a:r>
            </a:p>
          </p:txBody>
        </p:sp>
        <p:sp>
          <p:nvSpPr>
            <p:cNvPr id="734272" name="Text Box 64"/>
            <p:cNvSpPr txBox="1">
              <a:spLocks noChangeArrowheads="1"/>
            </p:cNvSpPr>
            <p:nvPr/>
          </p:nvSpPr>
          <p:spPr bwMode="auto">
            <a:xfrm>
              <a:off x="2555" y="2594"/>
              <a:ext cx="221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1800"/>
                <a:t>1</a:t>
              </a:r>
            </a:p>
          </p:txBody>
        </p:sp>
        <p:sp>
          <p:nvSpPr>
            <p:cNvPr id="734273" name="Text Box 65"/>
            <p:cNvSpPr txBox="1">
              <a:spLocks noChangeArrowheads="1"/>
            </p:cNvSpPr>
            <p:nvPr/>
          </p:nvSpPr>
          <p:spPr bwMode="auto">
            <a:xfrm>
              <a:off x="901" y="3124"/>
              <a:ext cx="221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1800"/>
                <a:t>1</a:t>
              </a:r>
            </a:p>
          </p:txBody>
        </p:sp>
        <p:sp>
          <p:nvSpPr>
            <p:cNvPr id="734274" name="Text Box 66"/>
            <p:cNvSpPr txBox="1">
              <a:spLocks noChangeArrowheads="1"/>
            </p:cNvSpPr>
            <p:nvPr/>
          </p:nvSpPr>
          <p:spPr bwMode="auto">
            <a:xfrm>
              <a:off x="2276" y="3141"/>
              <a:ext cx="221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1800"/>
                <a:t>1</a:t>
              </a:r>
            </a:p>
          </p:txBody>
        </p:sp>
        <p:sp>
          <p:nvSpPr>
            <p:cNvPr id="734275" name="Oval 67"/>
            <p:cNvSpPr>
              <a:spLocks noChangeArrowheads="1"/>
            </p:cNvSpPr>
            <p:nvPr/>
          </p:nvSpPr>
          <p:spPr bwMode="auto">
            <a:xfrm>
              <a:off x="1227" y="2385"/>
              <a:ext cx="334" cy="29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/>
                <a:t>25</a:t>
              </a:r>
            </a:p>
          </p:txBody>
        </p:sp>
        <p:sp>
          <p:nvSpPr>
            <p:cNvPr id="734276" name="Line 68"/>
            <p:cNvSpPr>
              <a:spLocks noChangeShapeType="1"/>
            </p:cNvSpPr>
            <p:nvPr/>
          </p:nvSpPr>
          <p:spPr bwMode="auto">
            <a:xfrm flipH="1">
              <a:off x="974" y="2634"/>
              <a:ext cx="308" cy="2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34277" name="Text Box 69"/>
            <p:cNvSpPr txBox="1">
              <a:spLocks noChangeArrowheads="1"/>
            </p:cNvSpPr>
            <p:nvPr/>
          </p:nvSpPr>
          <p:spPr bwMode="auto">
            <a:xfrm>
              <a:off x="948" y="2595"/>
              <a:ext cx="250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1800"/>
                <a:t>0</a:t>
              </a:r>
            </a:p>
          </p:txBody>
        </p:sp>
        <p:sp>
          <p:nvSpPr>
            <p:cNvPr id="734278" name="Line 70"/>
            <p:cNvSpPr>
              <a:spLocks noChangeShapeType="1"/>
            </p:cNvSpPr>
            <p:nvPr/>
          </p:nvSpPr>
          <p:spPr bwMode="auto">
            <a:xfrm flipH="1">
              <a:off x="2304" y="3648"/>
              <a:ext cx="167" cy="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34279" name="Oval 71"/>
            <p:cNvSpPr>
              <a:spLocks noChangeArrowheads="1"/>
            </p:cNvSpPr>
            <p:nvPr/>
          </p:nvSpPr>
          <p:spPr bwMode="auto">
            <a:xfrm>
              <a:off x="2352" y="3456"/>
              <a:ext cx="335" cy="299"/>
            </a:xfrm>
            <a:prstGeom prst="ellipse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1800"/>
                <a:t>9</a:t>
              </a:r>
            </a:p>
          </p:txBody>
        </p:sp>
        <p:sp>
          <p:nvSpPr>
            <p:cNvPr id="734280" name="Text Box 72"/>
            <p:cNvSpPr txBox="1">
              <a:spLocks noChangeArrowheads="1"/>
            </p:cNvSpPr>
            <p:nvPr/>
          </p:nvSpPr>
          <p:spPr bwMode="auto">
            <a:xfrm>
              <a:off x="2256" y="3648"/>
              <a:ext cx="250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1800"/>
                <a:t>0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Lemma scelta golosa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Text Box 2"/>
          <p:cNvSpPr txBox="1">
            <a:spLocks noChangeArrowheads="1"/>
          </p:cNvSpPr>
          <p:nvPr/>
        </p:nvSpPr>
        <p:spPr bwMode="auto">
          <a:xfrm>
            <a:off x="467544" y="1484784"/>
            <a:ext cx="83820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In </a:t>
            </a:r>
            <a:r>
              <a:rPr lang="it-IT" sz="2400" b="1" i="1" dirty="0">
                <a:solidFill>
                  <a:srgbClr val="FF0000"/>
                </a:solidFill>
              </a:rPr>
              <a:t>T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esistono quindi due foglie di profondità massima che sono </a:t>
            </a:r>
            <a:r>
              <a:rPr lang="it-IT" sz="2400" dirty="0" smtClean="0">
                <a:solidFill>
                  <a:srgbClr val="0000FF"/>
                </a:solidFill>
              </a:rPr>
              <a:t>sorelle</a:t>
            </a:r>
            <a:endParaRPr lang="it-IT" sz="2400" dirty="0">
              <a:solidFill>
                <a:srgbClr val="0000FF"/>
              </a:solidFill>
            </a:endParaRPr>
          </a:p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Siano </a:t>
            </a:r>
            <a:r>
              <a:rPr lang="it-IT" sz="2400" b="1" i="1" dirty="0">
                <a:solidFill>
                  <a:srgbClr val="FF0000"/>
                </a:solidFill>
              </a:rPr>
              <a:t>c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e </a:t>
            </a:r>
            <a:r>
              <a:rPr lang="it-IT" sz="2400" b="1" i="1" dirty="0">
                <a:solidFill>
                  <a:srgbClr val="FF0000"/>
                </a:solidFill>
              </a:rPr>
              <a:t>d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i due caratteri di tali </a:t>
            </a:r>
            <a:r>
              <a:rPr lang="it-IT" sz="2400" dirty="0" smtClean="0">
                <a:solidFill>
                  <a:srgbClr val="0000FF"/>
                </a:solidFill>
              </a:rPr>
              <a:t>foglie</a:t>
            </a:r>
            <a:endParaRPr lang="it-IT" sz="2400" dirty="0">
              <a:solidFill>
                <a:srgbClr val="0000FF"/>
              </a:solidFill>
            </a:endParaRPr>
          </a:p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Mostriamo che scambiando </a:t>
            </a:r>
            <a:r>
              <a:rPr lang="it-IT" sz="2400" b="1" i="1" dirty="0">
                <a:solidFill>
                  <a:srgbClr val="FF0000"/>
                </a:solidFill>
              </a:rPr>
              <a:t>c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e </a:t>
            </a:r>
            <a:r>
              <a:rPr lang="it-IT" sz="2400" b="1" i="1" dirty="0">
                <a:solidFill>
                  <a:srgbClr val="FF0000"/>
                </a:solidFill>
              </a:rPr>
              <a:t>d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con </a:t>
            </a:r>
            <a:r>
              <a:rPr lang="it-IT" sz="2400" b="1" i="1" dirty="0">
                <a:solidFill>
                  <a:srgbClr val="FF0000"/>
                </a:solidFill>
              </a:rPr>
              <a:t>a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e </a:t>
            </a:r>
            <a:r>
              <a:rPr lang="it-IT" sz="2400" b="1" i="1" dirty="0">
                <a:solidFill>
                  <a:srgbClr val="FF0000"/>
                </a:solidFill>
              </a:rPr>
              <a:t>b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il codice rimane </a:t>
            </a:r>
            <a:r>
              <a:rPr lang="it-IT" sz="2400" dirty="0" smtClean="0">
                <a:solidFill>
                  <a:srgbClr val="0000FF"/>
                </a:solidFill>
              </a:rPr>
              <a:t>ottimo</a:t>
            </a:r>
            <a:endParaRPr lang="it-IT" sz="2400" dirty="0">
              <a:solidFill>
                <a:srgbClr val="0000FF"/>
              </a:solidFill>
            </a:endParaRPr>
          </a:p>
        </p:txBody>
      </p:sp>
      <p:sp>
        <p:nvSpPr>
          <p:cNvPr id="735235" name="Text Box 3"/>
          <p:cNvSpPr txBox="1">
            <a:spLocks noChangeArrowheads="1"/>
          </p:cNvSpPr>
          <p:nvPr/>
        </p:nvSpPr>
        <p:spPr bwMode="auto">
          <a:xfrm>
            <a:off x="467544" y="4365104"/>
            <a:ext cx="801846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Possiamo supporre </a:t>
            </a:r>
            <a:r>
              <a:rPr lang="it-IT" sz="2400" b="1" i="1" dirty="0" err="1">
                <a:solidFill>
                  <a:srgbClr val="FF0000"/>
                </a:solidFill>
              </a:rPr>
              <a:t>f</a:t>
            </a:r>
            <a:r>
              <a:rPr lang="it-IT" sz="2400" b="1" i="1" baseline="-25000" dirty="0" err="1">
                <a:solidFill>
                  <a:srgbClr val="FF0000"/>
                </a:solidFill>
              </a:rPr>
              <a:t>c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 </a:t>
            </a:r>
            <a:r>
              <a:rPr lang="it-IT" sz="2400" b="1" i="1" dirty="0" err="1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b="1" i="1" baseline="-25000" dirty="0" err="1">
                <a:solidFill>
                  <a:srgbClr val="FF0000"/>
                </a:solidFill>
              </a:rPr>
              <a:t>d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ed </a:t>
            </a:r>
            <a:r>
              <a:rPr lang="it-IT" sz="2400" b="1" i="1" dirty="0">
                <a:solidFill>
                  <a:srgbClr val="FF0000"/>
                </a:solidFill>
              </a:rPr>
              <a:t>f</a:t>
            </a:r>
            <a:r>
              <a:rPr lang="it-IT" sz="2400" b="1" i="1" baseline="-25000" dirty="0">
                <a:solidFill>
                  <a:srgbClr val="FF0000"/>
                </a:solidFill>
              </a:rPr>
              <a:t>a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 </a:t>
            </a:r>
            <a:r>
              <a:rPr lang="it-IT" sz="2400" b="1" i="1" dirty="0" err="1" smtClean="0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b="1" i="1" baseline="-25000" dirty="0" err="1" smtClean="0">
                <a:solidFill>
                  <a:srgbClr val="FF0000"/>
                </a:solidFill>
              </a:rPr>
              <a:t>b</a:t>
            </a:r>
            <a:endParaRPr lang="it-IT" sz="2400" dirty="0">
              <a:solidFill>
                <a:srgbClr val="FF0000"/>
              </a:solidFill>
              <a:sym typeface="Symbol" charset="0"/>
            </a:endParaRPr>
          </a:p>
          <a:p>
            <a:pPr>
              <a:spcBef>
                <a:spcPct val="50000"/>
              </a:spcBef>
            </a:pP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a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0000FF"/>
                </a:solidFill>
                <a:sym typeface="Symbol" charset="0"/>
              </a:rPr>
              <a:t>e 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b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0000FF"/>
                </a:solidFill>
                <a:sym typeface="Symbol" charset="0"/>
              </a:rPr>
              <a:t>sono due caratteri con frequenza minima in assoluto e quindi </a:t>
            </a:r>
            <a:r>
              <a:rPr lang="it-IT" sz="2400" b="1" i="1" dirty="0">
                <a:solidFill>
                  <a:srgbClr val="FF0000"/>
                </a:solidFill>
              </a:rPr>
              <a:t>f</a:t>
            </a:r>
            <a:r>
              <a:rPr lang="it-IT" sz="2400" b="1" i="1" baseline="-25000" dirty="0">
                <a:solidFill>
                  <a:srgbClr val="FF0000"/>
                </a:solidFill>
              </a:rPr>
              <a:t>a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 </a:t>
            </a:r>
            <a:r>
              <a:rPr lang="it-IT" sz="2400" b="1" i="1" dirty="0" err="1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b="1" i="1" baseline="-25000" dirty="0" err="1">
                <a:solidFill>
                  <a:srgbClr val="FF0000"/>
                </a:solidFill>
              </a:rPr>
              <a:t>c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ed </a:t>
            </a:r>
            <a:r>
              <a:rPr lang="it-IT" sz="2400" b="1" i="1" dirty="0" err="1">
                <a:solidFill>
                  <a:srgbClr val="FF0000"/>
                </a:solidFill>
              </a:rPr>
              <a:t>f</a:t>
            </a:r>
            <a:r>
              <a:rPr lang="it-IT" sz="2400" b="1" i="1" baseline="-25000" dirty="0" err="1">
                <a:solidFill>
                  <a:srgbClr val="FF0000"/>
                </a:solidFill>
              </a:rPr>
              <a:t>b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 </a:t>
            </a:r>
            <a:r>
              <a:rPr lang="it-IT" sz="2400" b="1" i="1" dirty="0" err="1" smtClean="0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b="1" i="1" baseline="-25000" dirty="0" err="1" smtClean="0">
                <a:solidFill>
                  <a:srgbClr val="FF0000"/>
                </a:solidFill>
              </a:rPr>
              <a:t>d</a:t>
            </a:r>
            <a:endParaRPr lang="it-IT" sz="2400" dirty="0">
              <a:solidFill>
                <a:srgbClr val="FF0000"/>
              </a:solidFill>
              <a:sym typeface="Symbo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Lemma scelta golosa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84" name="Text Box 28"/>
          <p:cNvSpPr txBox="1">
            <a:spLocks noChangeArrowheads="1"/>
          </p:cNvSpPr>
          <p:nvPr/>
        </p:nvSpPr>
        <p:spPr bwMode="auto">
          <a:xfrm>
            <a:off x="467544" y="1268760"/>
            <a:ext cx="8382000" cy="120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  <a:sym typeface="Symbol" charset="0"/>
              </a:rPr>
              <a:t>Sia 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T' </a:t>
            </a:r>
            <a:r>
              <a:rPr lang="it-IT" sz="2400" dirty="0">
                <a:solidFill>
                  <a:srgbClr val="0000FF"/>
                </a:solidFill>
                <a:sym typeface="Symbol" charset="0"/>
              </a:rPr>
              <a:t>l’albero che si ottiene da 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T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0000FF"/>
                </a:solidFill>
                <a:sym typeface="Symbol" charset="0"/>
              </a:rPr>
              <a:t>scambiando le foglia associata al carattere 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c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0000FF"/>
                </a:solidFill>
                <a:sym typeface="Symbol" charset="0"/>
              </a:rPr>
              <a:t>con quella associata al carattere 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a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0000FF"/>
                </a:solidFill>
                <a:sym typeface="Symbol" charset="0"/>
              </a:rPr>
              <a:t>(e ricalcolando le frequenze dei nodi interni</a:t>
            </a:r>
            <a:r>
              <a:rPr lang="it-IT" sz="2400" dirty="0" smtClean="0">
                <a:solidFill>
                  <a:srgbClr val="0000FF"/>
                </a:solidFill>
                <a:sym typeface="Symbol" charset="0"/>
              </a:rPr>
              <a:t>)</a:t>
            </a:r>
            <a:endParaRPr lang="it-IT" sz="2400" dirty="0">
              <a:solidFill>
                <a:srgbClr val="0000FF"/>
              </a:solidFill>
              <a:sym typeface="Symbol" charset="0"/>
            </a:endParaRPr>
          </a:p>
        </p:txBody>
      </p:sp>
      <p:sp>
        <p:nvSpPr>
          <p:cNvPr id="736285" name="Text Box 29"/>
          <p:cNvSpPr txBox="1">
            <a:spLocks noChangeArrowheads="1"/>
          </p:cNvSpPr>
          <p:nvPr/>
        </p:nvSpPr>
        <p:spPr bwMode="auto">
          <a:xfrm>
            <a:off x="2915816" y="2996952"/>
            <a:ext cx="26733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b="1" i="1" dirty="0"/>
              <a:t>f</a:t>
            </a:r>
            <a:r>
              <a:rPr lang="it-IT" sz="2400" b="1" i="1" baseline="-25000" dirty="0"/>
              <a:t>a</a:t>
            </a:r>
            <a:r>
              <a:rPr lang="it-IT" sz="2400" dirty="0"/>
              <a:t> </a:t>
            </a:r>
            <a:r>
              <a:rPr lang="it-IT" sz="2400" dirty="0">
                <a:sym typeface="Symbol" charset="0"/>
              </a:rPr>
              <a:t> </a:t>
            </a:r>
            <a:r>
              <a:rPr lang="it-IT" sz="2400" b="1" i="1" dirty="0" err="1">
                <a:sym typeface="Symbol" charset="0"/>
              </a:rPr>
              <a:t>f</a:t>
            </a:r>
            <a:r>
              <a:rPr lang="it-IT" sz="2400" b="1" i="1" baseline="-25000" dirty="0" err="1"/>
              <a:t>c</a:t>
            </a:r>
            <a:r>
              <a:rPr lang="it-IT" sz="2400" dirty="0"/>
              <a:t> </a:t>
            </a:r>
            <a:r>
              <a:rPr lang="it-IT" sz="2400" dirty="0">
                <a:sym typeface="Symbol" charset="0"/>
              </a:rPr>
              <a:t>ed </a:t>
            </a:r>
            <a:r>
              <a:rPr lang="it-IT" sz="2400" b="1" i="1" dirty="0" err="1"/>
              <a:t>f</a:t>
            </a:r>
            <a:r>
              <a:rPr lang="it-IT" sz="2400" b="1" i="1" baseline="-25000" dirty="0" err="1"/>
              <a:t>b</a:t>
            </a:r>
            <a:r>
              <a:rPr lang="it-IT" sz="2400" dirty="0"/>
              <a:t> </a:t>
            </a:r>
            <a:r>
              <a:rPr lang="it-IT" sz="2400" dirty="0">
                <a:sym typeface="Symbol" charset="0"/>
              </a:rPr>
              <a:t> </a:t>
            </a:r>
            <a:r>
              <a:rPr lang="it-IT" sz="2400" b="1" i="1" dirty="0" err="1" smtClean="0">
                <a:sym typeface="Symbol" charset="0"/>
              </a:rPr>
              <a:t>f</a:t>
            </a:r>
            <a:r>
              <a:rPr lang="it-IT" sz="2400" b="1" i="1" baseline="-25000" dirty="0" err="1" smtClean="0"/>
              <a:t>d</a:t>
            </a:r>
            <a:endParaRPr lang="it-IT" sz="2400" dirty="0">
              <a:sym typeface="Symbo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Lemma scelta golosa</a:t>
            </a:r>
            <a:endParaRPr lang="en-US" dirty="0"/>
          </a:p>
        </p:txBody>
      </p:sp>
      <p:grpSp>
        <p:nvGrpSpPr>
          <p:cNvPr id="32" name="Group 31"/>
          <p:cNvGrpSpPr>
            <a:grpSpLocks noChangeAspect="1"/>
          </p:cNvGrpSpPr>
          <p:nvPr/>
        </p:nvGrpSpPr>
        <p:grpSpPr>
          <a:xfrm>
            <a:off x="1475656" y="3284984"/>
            <a:ext cx="5420360" cy="2926080"/>
            <a:chOff x="1143000" y="2743200"/>
            <a:chExt cx="6775450" cy="3657600"/>
          </a:xfrm>
        </p:grpSpPr>
        <p:sp>
          <p:nvSpPr>
            <p:cNvPr id="33" name="Freeform 2"/>
            <p:cNvSpPr>
              <a:spLocks/>
            </p:cNvSpPr>
            <p:nvPr/>
          </p:nvSpPr>
          <p:spPr bwMode="auto">
            <a:xfrm>
              <a:off x="1219200" y="2819400"/>
              <a:ext cx="2819400" cy="2971800"/>
            </a:xfrm>
            <a:custGeom>
              <a:avLst/>
              <a:gdLst>
                <a:gd name="T0" fmla="*/ 864 w 1776"/>
                <a:gd name="T1" fmla="*/ 0 h 1872"/>
                <a:gd name="T2" fmla="*/ 0 w 1776"/>
                <a:gd name="T3" fmla="*/ 1296 h 1872"/>
                <a:gd name="T4" fmla="*/ 480 w 1776"/>
                <a:gd name="T5" fmla="*/ 1296 h 1872"/>
                <a:gd name="T6" fmla="*/ 336 w 1776"/>
                <a:gd name="T7" fmla="*/ 1872 h 1872"/>
                <a:gd name="T8" fmla="*/ 1392 w 1776"/>
                <a:gd name="T9" fmla="*/ 1872 h 1872"/>
                <a:gd name="T10" fmla="*/ 1296 w 1776"/>
                <a:gd name="T11" fmla="*/ 1488 h 1872"/>
                <a:gd name="T12" fmla="*/ 1776 w 1776"/>
                <a:gd name="T13" fmla="*/ 1488 h 1872"/>
                <a:gd name="T14" fmla="*/ 857 w 1776"/>
                <a:gd name="T15" fmla="*/ 5 h 1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76" h="1872">
                  <a:moveTo>
                    <a:pt x="864" y="0"/>
                  </a:moveTo>
                  <a:lnTo>
                    <a:pt x="0" y="1296"/>
                  </a:lnTo>
                  <a:lnTo>
                    <a:pt x="480" y="1296"/>
                  </a:lnTo>
                  <a:lnTo>
                    <a:pt x="336" y="1872"/>
                  </a:lnTo>
                  <a:lnTo>
                    <a:pt x="1392" y="1872"/>
                  </a:lnTo>
                  <a:lnTo>
                    <a:pt x="1296" y="1488"/>
                  </a:lnTo>
                  <a:lnTo>
                    <a:pt x="1776" y="1488"/>
                  </a:lnTo>
                  <a:lnTo>
                    <a:pt x="857" y="5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4" name="Rectangle 3"/>
            <p:cNvSpPr>
              <a:spLocks noChangeArrowheads="1"/>
            </p:cNvSpPr>
            <p:nvPr/>
          </p:nvSpPr>
          <p:spPr bwMode="auto">
            <a:xfrm>
              <a:off x="2057400" y="6096000"/>
              <a:ext cx="5334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 i="1"/>
                <a:t>c</a:t>
              </a:r>
            </a:p>
          </p:txBody>
        </p:sp>
        <p:sp>
          <p:nvSpPr>
            <p:cNvPr id="35" name="Rectangle 4"/>
            <p:cNvSpPr>
              <a:spLocks noChangeArrowheads="1"/>
            </p:cNvSpPr>
            <p:nvPr/>
          </p:nvSpPr>
          <p:spPr bwMode="auto">
            <a:xfrm>
              <a:off x="3446463" y="5410200"/>
              <a:ext cx="5334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 i="1"/>
                <a:t>b</a:t>
              </a:r>
            </a:p>
          </p:txBody>
        </p:sp>
        <p:sp>
          <p:nvSpPr>
            <p:cNvPr id="36" name="Rectangle 5"/>
            <p:cNvSpPr>
              <a:spLocks noChangeArrowheads="1"/>
            </p:cNvSpPr>
            <p:nvPr/>
          </p:nvSpPr>
          <p:spPr bwMode="auto">
            <a:xfrm>
              <a:off x="1143000" y="5105400"/>
              <a:ext cx="5334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 i="1"/>
                <a:t>a</a:t>
              </a:r>
            </a:p>
          </p:txBody>
        </p:sp>
        <p:sp>
          <p:nvSpPr>
            <p:cNvPr id="37" name="Rectangle 6"/>
            <p:cNvSpPr>
              <a:spLocks noChangeArrowheads="1"/>
            </p:cNvSpPr>
            <p:nvPr/>
          </p:nvSpPr>
          <p:spPr bwMode="auto">
            <a:xfrm>
              <a:off x="2743200" y="6096000"/>
              <a:ext cx="5334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 i="1"/>
                <a:t>d</a:t>
              </a:r>
            </a:p>
          </p:txBody>
        </p:sp>
        <p:sp>
          <p:nvSpPr>
            <p:cNvPr id="38" name="Oval 7"/>
            <p:cNvSpPr>
              <a:spLocks noChangeArrowheads="1"/>
            </p:cNvSpPr>
            <p:nvPr/>
          </p:nvSpPr>
          <p:spPr bwMode="auto">
            <a:xfrm>
              <a:off x="3124200" y="48006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9" name="Oval 8"/>
            <p:cNvSpPr>
              <a:spLocks noChangeArrowheads="1"/>
            </p:cNvSpPr>
            <p:nvPr/>
          </p:nvSpPr>
          <p:spPr bwMode="auto">
            <a:xfrm>
              <a:off x="1600200" y="44958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0" name="Line 9"/>
            <p:cNvSpPr>
              <a:spLocks noChangeShapeType="1"/>
            </p:cNvSpPr>
            <p:nvPr/>
          </p:nvSpPr>
          <p:spPr bwMode="auto">
            <a:xfrm flipH="1">
              <a:off x="1447800" y="4800600"/>
              <a:ext cx="228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1" name="Line 10"/>
            <p:cNvSpPr>
              <a:spLocks noChangeShapeType="1"/>
            </p:cNvSpPr>
            <p:nvPr/>
          </p:nvSpPr>
          <p:spPr bwMode="auto">
            <a:xfrm flipH="1">
              <a:off x="2362200" y="5791200"/>
              <a:ext cx="228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2" name="Line 11"/>
            <p:cNvSpPr>
              <a:spLocks noChangeShapeType="1"/>
            </p:cNvSpPr>
            <p:nvPr/>
          </p:nvSpPr>
          <p:spPr bwMode="auto">
            <a:xfrm>
              <a:off x="2743200" y="5791200"/>
              <a:ext cx="228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3" name="Line 12"/>
            <p:cNvSpPr>
              <a:spLocks noChangeShapeType="1"/>
            </p:cNvSpPr>
            <p:nvPr/>
          </p:nvSpPr>
          <p:spPr bwMode="auto">
            <a:xfrm>
              <a:off x="3429000" y="5181600"/>
              <a:ext cx="1524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4" name="Oval 13"/>
            <p:cNvSpPr>
              <a:spLocks noChangeArrowheads="1"/>
            </p:cNvSpPr>
            <p:nvPr/>
          </p:nvSpPr>
          <p:spPr bwMode="auto">
            <a:xfrm>
              <a:off x="2438400" y="54102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5" name="Text Box 14"/>
            <p:cNvSpPr txBox="1">
              <a:spLocks noChangeArrowheads="1"/>
            </p:cNvSpPr>
            <p:nvPr/>
          </p:nvSpPr>
          <p:spPr bwMode="auto">
            <a:xfrm>
              <a:off x="2390775" y="3505200"/>
              <a:ext cx="47365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 b="1" i="1"/>
                <a:t>T</a:t>
              </a:r>
            </a:p>
          </p:txBody>
        </p:sp>
        <p:sp>
          <p:nvSpPr>
            <p:cNvPr id="46" name="Freeform 15"/>
            <p:cNvSpPr>
              <a:spLocks/>
            </p:cNvSpPr>
            <p:nvPr/>
          </p:nvSpPr>
          <p:spPr bwMode="auto">
            <a:xfrm>
              <a:off x="5064125" y="2743200"/>
              <a:ext cx="2819400" cy="2971800"/>
            </a:xfrm>
            <a:custGeom>
              <a:avLst/>
              <a:gdLst>
                <a:gd name="T0" fmla="*/ 864 w 1776"/>
                <a:gd name="T1" fmla="*/ 0 h 1872"/>
                <a:gd name="T2" fmla="*/ 0 w 1776"/>
                <a:gd name="T3" fmla="*/ 1296 h 1872"/>
                <a:gd name="T4" fmla="*/ 480 w 1776"/>
                <a:gd name="T5" fmla="*/ 1296 h 1872"/>
                <a:gd name="T6" fmla="*/ 336 w 1776"/>
                <a:gd name="T7" fmla="*/ 1872 h 1872"/>
                <a:gd name="T8" fmla="*/ 1392 w 1776"/>
                <a:gd name="T9" fmla="*/ 1872 h 1872"/>
                <a:gd name="T10" fmla="*/ 1296 w 1776"/>
                <a:gd name="T11" fmla="*/ 1488 h 1872"/>
                <a:gd name="T12" fmla="*/ 1776 w 1776"/>
                <a:gd name="T13" fmla="*/ 1488 h 1872"/>
                <a:gd name="T14" fmla="*/ 857 w 1776"/>
                <a:gd name="T15" fmla="*/ 5 h 1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76" h="1872">
                  <a:moveTo>
                    <a:pt x="864" y="0"/>
                  </a:moveTo>
                  <a:lnTo>
                    <a:pt x="0" y="1296"/>
                  </a:lnTo>
                  <a:lnTo>
                    <a:pt x="480" y="1296"/>
                  </a:lnTo>
                  <a:lnTo>
                    <a:pt x="336" y="1872"/>
                  </a:lnTo>
                  <a:lnTo>
                    <a:pt x="1392" y="1872"/>
                  </a:lnTo>
                  <a:lnTo>
                    <a:pt x="1296" y="1488"/>
                  </a:lnTo>
                  <a:lnTo>
                    <a:pt x="1776" y="1488"/>
                  </a:lnTo>
                  <a:lnTo>
                    <a:pt x="857" y="5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7" name="Rectangle 16"/>
            <p:cNvSpPr>
              <a:spLocks noChangeArrowheads="1"/>
            </p:cNvSpPr>
            <p:nvPr/>
          </p:nvSpPr>
          <p:spPr bwMode="auto">
            <a:xfrm>
              <a:off x="5978525" y="6019800"/>
              <a:ext cx="5334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 i="1"/>
                <a:t>a</a:t>
              </a:r>
            </a:p>
          </p:txBody>
        </p:sp>
        <p:sp>
          <p:nvSpPr>
            <p:cNvPr id="48" name="Rectangle 17"/>
            <p:cNvSpPr>
              <a:spLocks noChangeArrowheads="1"/>
            </p:cNvSpPr>
            <p:nvPr/>
          </p:nvSpPr>
          <p:spPr bwMode="auto">
            <a:xfrm>
              <a:off x="7385050" y="5334000"/>
              <a:ext cx="5334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 i="1"/>
                <a:t>b</a:t>
              </a:r>
            </a:p>
          </p:txBody>
        </p:sp>
        <p:sp>
          <p:nvSpPr>
            <p:cNvPr id="49" name="Rectangle 18"/>
            <p:cNvSpPr>
              <a:spLocks noChangeArrowheads="1"/>
            </p:cNvSpPr>
            <p:nvPr/>
          </p:nvSpPr>
          <p:spPr bwMode="auto">
            <a:xfrm>
              <a:off x="5064125" y="5029200"/>
              <a:ext cx="5334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 i="1"/>
                <a:t>c</a:t>
              </a:r>
            </a:p>
          </p:txBody>
        </p:sp>
        <p:sp>
          <p:nvSpPr>
            <p:cNvPr id="50" name="Rectangle 19"/>
            <p:cNvSpPr>
              <a:spLocks noChangeArrowheads="1"/>
            </p:cNvSpPr>
            <p:nvPr/>
          </p:nvSpPr>
          <p:spPr bwMode="auto">
            <a:xfrm>
              <a:off x="6681788" y="6019800"/>
              <a:ext cx="5334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 i="1"/>
                <a:t>d</a:t>
              </a:r>
            </a:p>
          </p:txBody>
        </p:sp>
        <p:sp>
          <p:nvSpPr>
            <p:cNvPr id="51" name="Oval 20"/>
            <p:cNvSpPr>
              <a:spLocks noChangeArrowheads="1"/>
            </p:cNvSpPr>
            <p:nvPr/>
          </p:nvSpPr>
          <p:spPr bwMode="auto">
            <a:xfrm>
              <a:off x="7045325" y="47244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2" name="Oval 21"/>
            <p:cNvSpPr>
              <a:spLocks noChangeArrowheads="1"/>
            </p:cNvSpPr>
            <p:nvPr/>
          </p:nvSpPr>
          <p:spPr bwMode="auto">
            <a:xfrm>
              <a:off x="5521325" y="44196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3" name="Line 22"/>
            <p:cNvSpPr>
              <a:spLocks noChangeShapeType="1"/>
            </p:cNvSpPr>
            <p:nvPr/>
          </p:nvSpPr>
          <p:spPr bwMode="auto">
            <a:xfrm flipH="1">
              <a:off x="5368925" y="4724400"/>
              <a:ext cx="228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4" name="Line 23"/>
            <p:cNvSpPr>
              <a:spLocks noChangeShapeType="1"/>
            </p:cNvSpPr>
            <p:nvPr/>
          </p:nvSpPr>
          <p:spPr bwMode="auto">
            <a:xfrm flipH="1">
              <a:off x="6283325" y="5715000"/>
              <a:ext cx="228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5" name="Line 24"/>
            <p:cNvSpPr>
              <a:spLocks noChangeShapeType="1"/>
            </p:cNvSpPr>
            <p:nvPr/>
          </p:nvSpPr>
          <p:spPr bwMode="auto">
            <a:xfrm>
              <a:off x="6664325" y="5715000"/>
              <a:ext cx="228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6" name="Line 25"/>
            <p:cNvSpPr>
              <a:spLocks noChangeShapeType="1"/>
            </p:cNvSpPr>
            <p:nvPr/>
          </p:nvSpPr>
          <p:spPr bwMode="auto">
            <a:xfrm>
              <a:off x="7350125" y="5105400"/>
              <a:ext cx="1524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7" name="Oval 26"/>
            <p:cNvSpPr>
              <a:spLocks noChangeArrowheads="1"/>
            </p:cNvSpPr>
            <p:nvPr/>
          </p:nvSpPr>
          <p:spPr bwMode="auto">
            <a:xfrm>
              <a:off x="6359525" y="53340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8" name="Text Box 27"/>
            <p:cNvSpPr txBox="1">
              <a:spLocks noChangeArrowheads="1"/>
            </p:cNvSpPr>
            <p:nvPr/>
          </p:nvSpPr>
          <p:spPr bwMode="auto">
            <a:xfrm>
              <a:off x="6189663" y="3505200"/>
              <a:ext cx="55330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400" b="1" i="1"/>
                <a:t>T’</a:t>
              </a:r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82" name="Text Box 2"/>
          <p:cNvSpPr txBox="1">
            <a:spLocks noChangeArrowheads="1"/>
          </p:cNvSpPr>
          <p:nvPr/>
        </p:nvSpPr>
        <p:spPr bwMode="auto">
          <a:xfrm>
            <a:off x="342937" y="1362444"/>
            <a:ext cx="838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  <a:sym typeface="Symbol" charset="0"/>
              </a:rPr>
              <a:t>Allora:</a:t>
            </a:r>
          </a:p>
        </p:txBody>
      </p:sp>
      <p:sp>
        <p:nvSpPr>
          <p:cNvPr id="737283" name="Text Box 3"/>
          <p:cNvSpPr txBox="1">
            <a:spLocks noChangeArrowheads="1"/>
          </p:cNvSpPr>
          <p:nvPr/>
        </p:nvSpPr>
        <p:spPr bwMode="auto">
          <a:xfrm>
            <a:off x="323528" y="4149080"/>
            <a:ext cx="83820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dirty="0">
                <a:solidFill>
                  <a:srgbClr val="0000FF"/>
                </a:solidFill>
              </a:rPr>
              <a:t>Siccome </a:t>
            </a:r>
            <a:r>
              <a:rPr lang="it-IT" sz="2400" b="1" i="1" dirty="0">
                <a:solidFill>
                  <a:srgbClr val="FF0000"/>
                </a:solidFill>
              </a:rPr>
              <a:t>T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 smtClean="0">
                <a:solidFill>
                  <a:srgbClr val="FF0000"/>
                </a:solidFill>
              </a:rPr>
              <a:t> </a:t>
            </a:r>
            <a:r>
              <a:rPr lang="it-IT" sz="2400" dirty="0" smtClean="0">
                <a:solidFill>
                  <a:srgbClr val="0000FF"/>
                </a:solidFill>
              </a:rPr>
              <a:t>è </a:t>
            </a:r>
            <a:r>
              <a:rPr lang="it-IT" sz="2400" dirty="0">
                <a:solidFill>
                  <a:srgbClr val="0000FF"/>
                </a:solidFill>
              </a:rPr>
              <a:t>ottimo </a:t>
            </a:r>
            <a:r>
              <a:rPr lang="it-IT" sz="2400" b="1" i="1" dirty="0">
                <a:solidFill>
                  <a:srgbClr val="FF0000"/>
                </a:solidFill>
              </a:rPr>
              <a:t>B(T)</a:t>
            </a:r>
            <a:r>
              <a:rPr lang="it-IT" sz="2400" dirty="0">
                <a:solidFill>
                  <a:srgbClr val="FF0000"/>
                </a:solidFill>
              </a:rPr>
              <a:t> = </a:t>
            </a:r>
            <a:r>
              <a:rPr lang="it-IT" sz="2400" b="1" i="1" dirty="0">
                <a:solidFill>
                  <a:srgbClr val="FF0000"/>
                </a:solidFill>
              </a:rPr>
              <a:t>B(T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'</a:t>
            </a:r>
            <a:r>
              <a:rPr lang="it-IT" sz="2400" b="1" i="1" dirty="0">
                <a:solidFill>
                  <a:srgbClr val="FF0000"/>
                </a:solidFill>
              </a:rPr>
              <a:t>)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e quindi anche </a:t>
            </a:r>
            <a:r>
              <a:rPr lang="it-IT" sz="2400" b="1" i="1" dirty="0">
                <a:solidFill>
                  <a:srgbClr val="FF0000"/>
                </a:solidFill>
              </a:rPr>
              <a:t>T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'</a:t>
            </a:r>
            <a:r>
              <a:rPr lang="it-IT" sz="2400" b="1" i="1" dirty="0">
                <a:solidFill>
                  <a:srgbClr val="0000FF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è ottimo. </a:t>
            </a:r>
          </a:p>
          <a:p>
            <a:r>
              <a:rPr lang="it-IT" sz="2400" dirty="0">
                <a:solidFill>
                  <a:srgbClr val="0000FF"/>
                </a:solidFill>
              </a:rPr>
              <a:t>Allo stesso modo, scambiando </a:t>
            </a:r>
            <a:r>
              <a:rPr lang="it-IT" sz="2400" dirty="0">
                <a:solidFill>
                  <a:srgbClr val="0000FF"/>
                </a:solidFill>
                <a:sym typeface="Symbol" charset="0"/>
              </a:rPr>
              <a:t>le foglie dei caratteri 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d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olidFill>
                  <a:srgbClr val="0000FF"/>
                </a:solidFill>
                <a:sym typeface="Symbol" charset="0"/>
              </a:rPr>
              <a:t>e 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b</a:t>
            </a:r>
            <a:r>
              <a:rPr lang="it-IT" sz="2400" i="1" dirty="0">
                <a:solidFill>
                  <a:srgbClr val="0000FF"/>
                </a:solidFill>
                <a:sym typeface="Symbol" charset="0"/>
              </a:rPr>
              <a:t>,</a:t>
            </a:r>
            <a:r>
              <a:rPr lang="it-IT" sz="2400" dirty="0">
                <a:solidFill>
                  <a:srgbClr val="0000FF"/>
                </a:solidFill>
              </a:rPr>
              <a:t> si ottiene un albero ottimo </a:t>
            </a:r>
            <a:r>
              <a:rPr lang="it-IT" sz="2400" b="1" i="1" dirty="0" smtClean="0">
                <a:solidFill>
                  <a:srgbClr val="FF0000"/>
                </a:solidFill>
              </a:rPr>
              <a:t>T</a:t>
            </a:r>
            <a:r>
              <a:rPr lang="it-IT" sz="2400" b="1" i="1" dirty="0" smtClean="0">
                <a:solidFill>
                  <a:srgbClr val="FF0000"/>
                </a:solidFill>
                <a:sym typeface="Symbol" charset="0"/>
              </a:rPr>
              <a:t>”</a:t>
            </a:r>
            <a:r>
              <a:rPr lang="it-IT" sz="2400" b="1" i="1" dirty="0" smtClean="0">
                <a:solidFill>
                  <a:srgbClr val="0000FF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in cui </a:t>
            </a:r>
            <a:r>
              <a:rPr lang="it-IT" sz="2400" b="1" i="1" dirty="0">
                <a:solidFill>
                  <a:srgbClr val="0000FF"/>
                </a:solidFill>
              </a:rPr>
              <a:t>a</a:t>
            </a:r>
            <a:r>
              <a:rPr lang="it-IT" sz="2400" dirty="0">
                <a:solidFill>
                  <a:srgbClr val="0000FF"/>
                </a:solidFill>
              </a:rPr>
              <a:t> e </a:t>
            </a:r>
            <a:r>
              <a:rPr lang="it-IT" sz="2400" b="1" i="1" dirty="0">
                <a:solidFill>
                  <a:srgbClr val="0000FF"/>
                </a:solidFill>
              </a:rPr>
              <a:t>b</a:t>
            </a:r>
            <a:r>
              <a:rPr lang="it-IT" sz="2400" dirty="0">
                <a:solidFill>
                  <a:srgbClr val="0000FF"/>
                </a:solidFill>
              </a:rPr>
              <a:t> sono associati a due foglie sorelle. </a:t>
            </a:r>
          </a:p>
        </p:txBody>
      </p:sp>
      <p:graphicFrame>
        <p:nvGraphicFramePr>
          <p:cNvPr id="7372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8462097"/>
              </p:ext>
            </p:extLst>
          </p:nvPr>
        </p:nvGraphicFramePr>
        <p:xfrm>
          <a:off x="630288" y="1972072"/>
          <a:ext cx="6552720" cy="2133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3" name="Equation" r:id="rId3" imgW="3276360" imgH="1066680" progId="Equation.3">
                  <p:embed/>
                </p:oleObj>
              </mc:Choice>
              <mc:Fallback>
                <p:oleObj name="Equation" r:id="rId3" imgW="3276360" imgH="1066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288" y="1972072"/>
                        <a:ext cx="6552720" cy="2133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Lemma scelta golosa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Text Box 2"/>
          <p:cNvSpPr txBox="1">
            <a:spLocks noChangeArrowheads="1"/>
          </p:cNvSpPr>
          <p:nvPr/>
        </p:nvSpPr>
        <p:spPr bwMode="auto">
          <a:xfrm>
            <a:off x="467544" y="1772816"/>
            <a:ext cx="8229600" cy="3416320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b="1" u="sng" dirty="0"/>
              <a:t>Lemma</a:t>
            </a:r>
            <a:r>
              <a:rPr lang="it-IT" sz="2400" dirty="0"/>
              <a:t> (</a:t>
            </a:r>
            <a:r>
              <a:rPr lang="it-IT" sz="2400" i="1" dirty="0"/>
              <a:t>proprietà della sottostruttura ottima</a:t>
            </a:r>
            <a:r>
              <a:rPr lang="it-IT" sz="2400" dirty="0"/>
              <a:t>)</a:t>
            </a:r>
          </a:p>
          <a:p>
            <a:r>
              <a:rPr lang="it-IT" sz="2400" dirty="0"/>
              <a:t>Sia </a:t>
            </a:r>
            <a:r>
              <a:rPr lang="it-IT" sz="2400" b="1" i="1" dirty="0" err="1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b="1" i="1" baseline="-25000" dirty="0" err="1">
                <a:solidFill>
                  <a:srgbClr val="FF0000"/>
                </a:solidFill>
                <a:sym typeface="Symbol" charset="0"/>
              </a:rPr>
              <a:t>c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la frequenza di ciascun carattere </a:t>
            </a:r>
            <a:r>
              <a:rPr lang="it-IT" sz="2400" b="1" i="1" dirty="0">
                <a:solidFill>
                  <a:srgbClr val="FF0000"/>
                </a:solidFill>
              </a:rPr>
              <a:t>c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di un alfabeto </a:t>
            </a:r>
            <a:r>
              <a:rPr lang="it-IT" sz="2400" b="1" i="1" dirty="0">
                <a:solidFill>
                  <a:srgbClr val="FF0000"/>
                </a:solidFill>
              </a:rPr>
              <a:t>C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dirty="0">
                <a:sym typeface="Symbol" charset="0"/>
              </a:rPr>
              <a:t>e sia</a:t>
            </a:r>
            <a:r>
              <a:rPr lang="it-IT" sz="2400" dirty="0"/>
              <a:t> </a:t>
            </a:r>
            <a:r>
              <a:rPr lang="it-IT" sz="2400" b="1" i="1" dirty="0">
                <a:solidFill>
                  <a:srgbClr val="FF0000"/>
                </a:solidFill>
              </a:rPr>
              <a:t>T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/>
              <a:t>l’albero di un codice prefisso ottimo per </a:t>
            </a:r>
            <a:r>
              <a:rPr lang="it-IT" sz="2400" b="1" i="1" dirty="0">
                <a:solidFill>
                  <a:srgbClr val="FF0000"/>
                </a:solidFill>
              </a:rPr>
              <a:t>C</a:t>
            </a:r>
            <a:r>
              <a:rPr lang="it-IT" sz="2400" dirty="0"/>
              <a:t>. </a:t>
            </a:r>
          </a:p>
          <a:p>
            <a:r>
              <a:rPr lang="it-IT" sz="2400" dirty="0"/>
              <a:t>Siano </a:t>
            </a:r>
            <a:r>
              <a:rPr lang="it-IT" sz="2400" b="1" i="1" dirty="0">
                <a:solidFill>
                  <a:srgbClr val="FF0000"/>
                </a:solidFill>
              </a:rPr>
              <a:t>a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 smtClean="0"/>
              <a:t>e </a:t>
            </a:r>
            <a:r>
              <a:rPr lang="it-IT" sz="2400" b="1" i="1" dirty="0">
                <a:solidFill>
                  <a:srgbClr val="FF0000"/>
                </a:solidFill>
              </a:rPr>
              <a:t>b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/>
              <a:t>i caratteri associati a due foglie sorelle </a:t>
            </a:r>
            <a:r>
              <a:rPr lang="it-IT" sz="2400" b="1" i="1" dirty="0">
                <a:solidFill>
                  <a:srgbClr val="FF0000"/>
                </a:solidFill>
              </a:rPr>
              <a:t>x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/>
              <a:t>ed </a:t>
            </a:r>
            <a:r>
              <a:rPr lang="it-IT" sz="2400" b="1" i="1" dirty="0">
                <a:solidFill>
                  <a:srgbClr val="FF0000"/>
                </a:solidFill>
              </a:rPr>
              <a:t>y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/>
              <a:t>di </a:t>
            </a:r>
            <a:r>
              <a:rPr lang="it-IT" sz="2400" b="1" i="1" dirty="0">
                <a:solidFill>
                  <a:srgbClr val="FF0000"/>
                </a:solidFill>
              </a:rPr>
              <a:t>T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/>
              <a:t>e sia </a:t>
            </a:r>
            <a:r>
              <a:rPr lang="it-IT" sz="2400" b="1" i="1" dirty="0" err="1">
                <a:solidFill>
                  <a:srgbClr val="FF0000"/>
                </a:solidFill>
              </a:rPr>
              <a:t>z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/>
              <a:t>il padre. </a:t>
            </a:r>
          </a:p>
          <a:p>
            <a:r>
              <a:rPr lang="it-IT" sz="2400" dirty="0"/>
              <a:t>Se consideriamo </a:t>
            </a:r>
            <a:r>
              <a:rPr lang="it-IT" sz="2400" b="1" i="1" dirty="0" err="1">
                <a:solidFill>
                  <a:srgbClr val="FF0000"/>
                </a:solidFill>
              </a:rPr>
              <a:t>z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/>
              <a:t>come foglia associata ad un nuovo carattere </a:t>
            </a:r>
            <a:r>
              <a:rPr lang="it-IT" sz="2400" b="1" i="1" dirty="0">
                <a:solidFill>
                  <a:srgbClr val="FF0000"/>
                </a:solidFill>
              </a:rPr>
              <a:t>c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/>
              <a:t>con frequenza </a:t>
            </a:r>
            <a:r>
              <a:rPr lang="it-IT" sz="2400" b="1" i="1" dirty="0" err="1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b="1" i="1" baseline="-25000" dirty="0" err="1">
                <a:solidFill>
                  <a:srgbClr val="FF0000"/>
                </a:solidFill>
                <a:sym typeface="Symbol" charset="0"/>
              </a:rPr>
              <a:t>c</a:t>
            </a:r>
            <a:r>
              <a:rPr lang="it-IT" sz="2400" dirty="0">
                <a:solidFill>
                  <a:srgbClr val="FF0000"/>
                </a:solidFill>
              </a:rPr>
              <a:t> = </a:t>
            </a:r>
            <a:r>
              <a:rPr lang="it-IT" sz="2400" b="1" i="1" dirty="0" err="1">
                <a:solidFill>
                  <a:srgbClr val="FF0000"/>
                </a:solidFill>
              </a:rPr>
              <a:t>f</a:t>
            </a:r>
            <a:r>
              <a:rPr lang="it-IT" sz="2400" b="1" dirty="0">
                <a:solidFill>
                  <a:srgbClr val="FF0000"/>
                </a:solidFill>
              </a:rPr>
              <a:t>[</a:t>
            </a:r>
            <a:r>
              <a:rPr lang="it-IT" sz="2400" b="1" i="1" dirty="0" err="1">
                <a:solidFill>
                  <a:srgbClr val="FF0000"/>
                </a:solidFill>
              </a:rPr>
              <a:t>z</a:t>
            </a:r>
            <a:r>
              <a:rPr lang="it-IT" sz="2400" b="1" dirty="0">
                <a:solidFill>
                  <a:srgbClr val="FF0000"/>
                </a:solidFill>
              </a:rPr>
              <a:t>] =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b="1" i="1" dirty="0" err="1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b="1" i="1" baseline="-25000" dirty="0" err="1">
                <a:solidFill>
                  <a:srgbClr val="FF0000"/>
                </a:solidFill>
                <a:sym typeface="Symbol" charset="0"/>
              </a:rPr>
              <a:t>a</a:t>
            </a:r>
            <a:r>
              <a:rPr lang="it-IT" sz="2400" b="1" i="1" dirty="0" err="1" smtClean="0">
                <a:solidFill>
                  <a:srgbClr val="FF0000"/>
                </a:solidFill>
              </a:rPr>
              <a:t>+</a:t>
            </a:r>
            <a:r>
              <a:rPr lang="it-IT" sz="2400" b="1" i="1" dirty="0" err="1" smtClean="0">
                <a:solidFill>
                  <a:srgbClr val="FF0000"/>
                </a:solidFill>
                <a:sym typeface="Symbol" charset="0"/>
              </a:rPr>
              <a:t>f</a:t>
            </a:r>
            <a:r>
              <a:rPr lang="it-IT" sz="2400" b="1" i="1" baseline="-25000" dirty="0" err="1" smtClean="0">
                <a:solidFill>
                  <a:srgbClr val="FF0000"/>
                </a:solidFill>
                <a:sym typeface="Symbol" charset="0"/>
              </a:rPr>
              <a:t>b</a:t>
            </a:r>
            <a:r>
              <a:rPr lang="it-IT" sz="2400" dirty="0" smtClean="0">
                <a:solidFill>
                  <a:srgbClr val="FF0000"/>
                </a:solidFill>
              </a:rPr>
              <a:t> </a:t>
            </a:r>
            <a:r>
              <a:rPr lang="it-IT" sz="2400" dirty="0"/>
              <a:t>allora l’albero</a:t>
            </a:r>
            <a:r>
              <a:rPr lang="it-IT" sz="2400" dirty="0">
                <a:sym typeface="Symbol" charset="0"/>
              </a:rPr>
              <a:t> 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T'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=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T </a:t>
            </a:r>
            <a:r>
              <a:rPr lang="it-IT" sz="2400" b="1" dirty="0">
                <a:solidFill>
                  <a:srgbClr val="FF0000"/>
                </a:solidFill>
                <a:sym typeface="Symbol" charset="0"/>
              </a:rPr>
              <a:t>\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{</a:t>
            </a:r>
            <a:r>
              <a:rPr lang="it-IT" sz="2400" b="1" i="1" dirty="0" err="1">
                <a:solidFill>
                  <a:srgbClr val="FF0000"/>
                </a:solidFill>
                <a:sym typeface="Symbol" charset="0"/>
              </a:rPr>
              <a:t>x,y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} </a:t>
            </a:r>
            <a:r>
              <a:rPr lang="it-IT" sz="2400" dirty="0">
                <a:sym typeface="Symbol" charset="0"/>
              </a:rPr>
              <a:t>rappresenta un codice prefisso ottimo per l’alfabeto 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C'</a:t>
            </a:r>
            <a:r>
              <a:rPr lang="it-IT" sz="2400" i="1" dirty="0">
                <a:solidFill>
                  <a:srgbClr val="FF0000"/>
                </a:solidFill>
                <a:sym typeface="Symbol" charset="0"/>
              </a:rPr>
              <a:t>=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C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b="1" dirty="0">
                <a:solidFill>
                  <a:srgbClr val="FF0000"/>
                </a:solidFill>
                <a:sym typeface="Symbol" charset="0"/>
              </a:rPr>
              <a:t>\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{</a:t>
            </a:r>
            <a:r>
              <a:rPr lang="it-IT" sz="2400" b="1" i="1" dirty="0" err="1">
                <a:solidFill>
                  <a:srgbClr val="FF0000"/>
                </a:solidFill>
                <a:sym typeface="Symbol" charset="0"/>
              </a:rPr>
              <a:t>a,b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}{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c</a:t>
            </a:r>
            <a:r>
              <a:rPr lang="it-IT" sz="2400" dirty="0">
                <a:solidFill>
                  <a:srgbClr val="FF0000"/>
                </a:solidFill>
                <a:sym typeface="Symbol" charset="0"/>
              </a:rPr>
              <a:t>}</a:t>
            </a:r>
            <a:r>
              <a:rPr lang="it-IT" sz="2400" dirty="0">
                <a:sym typeface="Symbol" charset="0"/>
              </a:rPr>
              <a:t>. </a:t>
            </a:r>
          </a:p>
        </p:txBody>
      </p:sp>
      <p:sp>
        <p:nvSpPr>
          <p:cNvPr id="73830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Lemma sottostruttura ottima</a:t>
            </a:r>
            <a:endParaRPr lang="it-IT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93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3549656"/>
              </p:ext>
            </p:extLst>
          </p:nvPr>
        </p:nvGraphicFramePr>
        <p:xfrm>
          <a:off x="611560" y="1700808"/>
          <a:ext cx="629856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7" name="Equation" r:id="rId3" imgW="3149280" imgH="685800" progId="Equation.3">
                  <p:embed/>
                </p:oleObj>
              </mc:Choice>
              <mc:Fallback>
                <p:oleObj name="Equation" r:id="rId3" imgW="314928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1700808"/>
                        <a:ext cx="629856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9331" name="Text Box 3"/>
          <p:cNvSpPr txBox="1">
            <a:spLocks noChangeArrowheads="1"/>
          </p:cNvSpPr>
          <p:nvPr/>
        </p:nvSpPr>
        <p:spPr bwMode="auto">
          <a:xfrm>
            <a:off x="304800" y="3387080"/>
            <a:ext cx="83820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Supponiamo, per assurdo, che esista un albero 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S'</a:t>
            </a:r>
            <a:r>
              <a:rPr lang="it-IT" sz="2400" dirty="0">
                <a:solidFill>
                  <a:srgbClr val="0000FF"/>
                </a:solidFill>
              </a:rPr>
              <a:t> per 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C'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tale che </a:t>
            </a:r>
            <a:r>
              <a:rPr lang="it-IT" sz="2400" b="1" i="1" dirty="0">
                <a:solidFill>
                  <a:srgbClr val="FF0000"/>
                </a:solidFill>
              </a:rPr>
              <a:t>B</a:t>
            </a:r>
            <a:r>
              <a:rPr lang="it-IT" sz="2400" b="1" dirty="0">
                <a:solidFill>
                  <a:srgbClr val="FF0000"/>
                </a:solidFill>
              </a:rPr>
              <a:t>(</a:t>
            </a:r>
            <a:r>
              <a:rPr lang="it-IT" sz="2400" b="1" i="1" dirty="0" smtClean="0">
                <a:solidFill>
                  <a:srgbClr val="FF0000"/>
                </a:solidFill>
                <a:sym typeface="Symbol" charset="0"/>
              </a:rPr>
              <a:t>S’</a:t>
            </a:r>
            <a:r>
              <a:rPr lang="it-IT" sz="2400" b="1" dirty="0" smtClean="0">
                <a:solidFill>
                  <a:srgbClr val="FF0000"/>
                </a:solidFill>
              </a:rPr>
              <a:t>)&lt;</a:t>
            </a:r>
            <a:r>
              <a:rPr lang="it-IT" sz="2400" b="1" i="1" dirty="0" smtClean="0">
                <a:solidFill>
                  <a:srgbClr val="FF0000"/>
                </a:solidFill>
              </a:rPr>
              <a:t>B</a:t>
            </a:r>
            <a:r>
              <a:rPr lang="it-IT" sz="2400" b="1" dirty="0">
                <a:solidFill>
                  <a:srgbClr val="FF0000"/>
                </a:solidFill>
              </a:rPr>
              <a:t>(</a:t>
            </a:r>
            <a:r>
              <a:rPr lang="it-IT" sz="2400" b="1" i="1" dirty="0" smtClean="0">
                <a:solidFill>
                  <a:srgbClr val="FF0000"/>
                </a:solidFill>
                <a:sym typeface="Symbol" charset="0"/>
              </a:rPr>
              <a:t>T’</a:t>
            </a:r>
            <a:r>
              <a:rPr lang="it-IT" sz="2400" b="1" dirty="0" smtClean="0">
                <a:solidFill>
                  <a:srgbClr val="FF0000"/>
                </a:solidFill>
              </a:rPr>
              <a:t>)</a:t>
            </a:r>
            <a:endParaRPr lang="it-IT" sz="2400" dirty="0">
              <a:solidFill>
                <a:srgbClr val="0000FF"/>
              </a:solidFill>
            </a:endParaRPr>
          </a:p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Aggiungendo ad 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S'</a:t>
            </a:r>
            <a:r>
              <a:rPr lang="it-IT" sz="2400" dirty="0">
                <a:solidFill>
                  <a:srgbClr val="0000FF"/>
                </a:solidFill>
              </a:rPr>
              <a:t> le foglie </a:t>
            </a:r>
            <a:r>
              <a:rPr lang="it-IT" sz="2400" b="1" i="1" dirty="0">
                <a:solidFill>
                  <a:srgbClr val="FF0000"/>
                </a:solidFill>
              </a:rPr>
              <a:t>x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ed </a:t>
            </a:r>
            <a:r>
              <a:rPr lang="it-IT" sz="2400" b="1" i="1" dirty="0">
                <a:solidFill>
                  <a:srgbClr val="FF0000"/>
                </a:solidFill>
              </a:rPr>
              <a:t>y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come figlie del nodo </a:t>
            </a:r>
            <a:r>
              <a:rPr lang="it-IT" sz="2400" b="1" i="1" dirty="0" err="1">
                <a:solidFill>
                  <a:srgbClr val="FF0000"/>
                </a:solidFill>
              </a:rPr>
              <a:t>z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(che in 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S'</a:t>
            </a:r>
            <a:r>
              <a:rPr lang="it-IT" sz="2400" dirty="0">
                <a:solidFill>
                  <a:srgbClr val="0000FF"/>
                </a:solidFill>
              </a:rPr>
              <a:t> è una foglia) otterremmo un albero </a:t>
            </a:r>
            <a:r>
              <a:rPr lang="it-IT" sz="2400" b="1" i="1" dirty="0" err="1">
                <a:solidFill>
                  <a:srgbClr val="FF0000"/>
                </a:solidFill>
              </a:rPr>
              <a:t>S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per </a:t>
            </a:r>
            <a:r>
              <a:rPr lang="it-IT" sz="2400" b="1" i="1" dirty="0">
                <a:solidFill>
                  <a:srgbClr val="FF0000"/>
                </a:solidFill>
              </a:rPr>
              <a:t>C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tale che </a:t>
            </a:r>
            <a:r>
              <a:rPr lang="it-IT" sz="2400" b="1" i="1" dirty="0">
                <a:solidFill>
                  <a:srgbClr val="FF0000"/>
                </a:solidFill>
              </a:rPr>
              <a:t>B</a:t>
            </a:r>
            <a:r>
              <a:rPr lang="it-IT" sz="2400" b="1" dirty="0">
                <a:solidFill>
                  <a:srgbClr val="FF0000"/>
                </a:solidFill>
              </a:rPr>
              <a:t>(</a:t>
            </a:r>
            <a:r>
              <a:rPr lang="it-IT" sz="2400" b="1" i="1" dirty="0" err="1">
                <a:solidFill>
                  <a:srgbClr val="FF0000"/>
                </a:solidFill>
              </a:rPr>
              <a:t>S</a:t>
            </a:r>
            <a:r>
              <a:rPr lang="it-IT" sz="2400" b="1" dirty="0" smtClean="0">
                <a:solidFill>
                  <a:srgbClr val="FF0000"/>
                </a:solidFill>
              </a:rPr>
              <a:t>)&lt;</a:t>
            </a:r>
            <a:r>
              <a:rPr lang="it-IT" sz="2400" b="1" i="1" dirty="0" smtClean="0">
                <a:solidFill>
                  <a:srgbClr val="FF0000"/>
                </a:solidFill>
              </a:rPr>
              <a:t>B</a:t>
            </a:r>
            <a:r>
              <a:rPr lang="it-IT" sz="2400" b="1" dirty="0">
                <a:solidFill>
                  <a:srgbClr val="FF0000"/>
                </a:solidFill>
              </a:rPr>
              <a:t>(</a:t>
            </a:r>
            <a:r>
              <a:rPr lang="it-IT" sz="2400" b="1" i="1" dirty="0">
                <a:solidFill>
                  <a:srgbClr val="FF0000"/>
                </a:solidFill>
              </a:rPr>
              <a:t>T</a:t>
            </a:r>
            <a:r>
              <a:rPr lang="it-IT" sz="2400" b="1" dirty="0">
                <a:solidFill>
                  <a:srgbClr val="FF0000"/>
                </a:solidFill>
              </a:rPr>
              <a:t>)</a:t>
            </a:r>
            <a:r>
              <a:rPr lang="it-IT" sz="2400" b="1" i="1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contro l’ipotesi che </a:t>
            </a:r>
            <a:r>
              <a:rPr lang="it-IT" sz="2400" b="1" i="1" dirty="0">
                <a:solidFill>
                  <a:srgbClr val="FF0000"/>
                </a:solidFill>
              </a:rPr>
              <a:t>T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sia ottimo.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Lemma sottostruttura ottima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>
            <a:grpSpLocks noChangeAspect="1"/>
          </p:cNvGrpSpPr>
          <p:nvPr/>
        </p:nvGrpSpPr>
        <p:grpSpPr>
          <a:xfrm>
            <a:off x="1475656" y="1196752"/>
            <a:ext cx="5601255" cy="4531201"/>
            <a:chOff x="1125538" y="762000"/>
            <a:chExt cx="6589712" cy="5330825"/>
          </a:xfrm>
        </p:grpSpPr>
        <p:sp>
          <p:nvSpPr>
            <p:cNvPr id="740354" name="Freeform 2"/>
            <p:cNvSpPr>
              <a:spLocks/>
            </p:cNvSpPr>
            <p:nvPr/>
          </p:nvSpPr>
          <p:spPr bwMode="auto">
            <a:xfrm>
              <a:off x="1143000" y="782638"/>
              <a:ext cx="2932113" cy="2405062"/>
            </a:xfrm>
            <a:custGeom>
              <a:avLst/>
              <a:gdLst>
                <a:gd name="T0" fmla="*/ 765 w 1847"/>
                <a:gd name="T1" fmla="*/ 0 h 1515"/>
                <a:gd name="T2" fmla="*/ 0 w 1847"/>
                <a:gd name="T3" fmla="*/ 995 h 1515"/>
                <a:gd name="T4" fmla="*/ 824 w 1847"/>
                <a:gd name="T5" fmla="*/ 992 h 1515"/>
                <a:gd name="T6" fmla="*/ 886 w 1847"/>
                <a:gd name="T7" fmla="*/ 1515 h 1515"/>
                <a:gd name="T8" fmla="*/ 1847 w 1847"/>
                <a:gd name="T9" fmla="*/ 1515 h 1515"/>
                <a:gd name="T10" fmla="*/ 765 w 1847"/>
                <a:gd name="T11" fmla="*/ 0 h 15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47" h="1515">
                  <a:moveTo>
                    <a:pt x="765" y="0"/>
                  </a:moveTo>
                  <a:lnTo>
                    <a:pt x="0" y="995"/>
                  </a:lnTo>
                  <a:lnTo>
                    <a:pt x="824" y="992"/>
                  </a:lnTo>
                  <a:lnTo>
                    <a:pt x="886" y="1515"/>
                  </a:lnTo>
                  <a:lnTo>
                    <a:pt x="1847" y="1515"/>
                  </a:lnTo>
                  <a:lnTo>
                    <a:pt x="765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740355" name="Rectangle 3"/>
            <p:cNvSpPr>
              <a:spLocks noChangeArrowheads="1"/>
            </p:cNvSpPr>
            <p:nvPr/>
          </p:nvSpPr>
          <p:spPr bwMode="auto">
            <a:xfrm>
              <a:off x="1143000" y="2667000"/>
              <a:ext cx="5334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50000"/>
                </a:lnSpc>
              </a:pPr>
              <a:r>
                <a:rPr lang="it-IT" sz="2400" b="1" i="1"/>
                <a:t>a</a:t>
              </a:r>
            </a:p>
          </p:txBody>
        </p:sp>
        <p:sp>
          <p:nvSpPr>
            <p:cNvPr id="740356" name="Rectangle 4"/>
            <p:cNvSpPr>
              <a:spLocks noChangeArrowheads="1"/>
            </p:cNvSpPr>
            <p:nvPr/>
          </p:nvSpPr>
          <p:spPr bwMode="auto">
            <a:xfrm>
              <a:off x="1828800" y="2667000"/>
              <a:ext cx="5334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75000"/>
                </a:lnSpc>
              </a:pPr>
              <a:r>
                <a:rPr lang="it-IT" sz="2400" b="1" i="1"/>
                <a:t>b</a:t>
              </a:r>
            </a:p>
          </p:txBody>
        </p:sp>
        <p:sp>
          <p:nvSpPr>
            <p:cNvPr id="740357" name="Oval 5"/>
            <p:cNvSpPr>
              <a:spLocks noChangeArrowheads="1"/>
            </p:cNvSpPr>
            <p:nvPr/>
          </p:nvSpPr>
          <p:spPr bwMode="auto">
            <a:xfrm>
              <a:off x="1600200" y="19812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 i="1"/>
                <a:t>c</a:t>
              </a:r>
            </a:p>
          </p:txBody>
        </p:sp>
        <p:sp>
          <p:nvSpPr>
            <p:cNvPr id="740358" name="Line 6"/>
            <p:cNvSpPr>
              <a:spLocks noChangeShapeType="1"/>
            </p:cNvSpPr>
            <p:nvPr/>
          </p:nvSpPr>
          <p:spPr bwMode="auto">
            <a:xfrm flipH="1">
              <a:off x="1447800" y="2362200"/>
              <a:ext cx="228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740359" name="Line 7"/>
            <p:cNvSpPr>
              <a:spLocks noChangeShapeType="1"/>
            </p:cNvSpPr>
            <p:nvPr/>
          </p:nvSpPr>
          <p:spPr bwMode="auto">
            <a:xfrm>
              <a:off x="1905000" y="2362200"/>
              <a:ext cx="228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740360" name="Text Box 8"/>
            <p:cNvSpPr txBox="1">
              <a:spLocks noChangeArrowheads="1"/>
            </p:cNvSpPr>
            <p:nvPr/>
          </p:nvSpPr>
          <p:spPr bwMode="auto">
            <a:xfrm>
              <a:off x="2181225" y="1143000"/>
              <a:ext cx="51809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800" b="1" i="1"/>
                <a:t>T</a:t>
              </a:r>
              <a:endParaRPr lang="it-IT" sz="2800"/>
            </a:p>
          </p:txBody>
        </p:sp>
        <p:sp>
          <p:nvSpPr>
            <p:cNvPr id="740361" name="Freeform 9"/>
            <p:cNvSpPr>
              <a:spLocks/>
            </p:cNvSpPr>
            <p:nvPr/>
          </p:nvSpPr>
          <p:spPr bwMode="auto">
            <a:xfrm>
              <a:off x="4783138" y="762000"/>
              <a:ext cx="2932112" cy="2405063"/>
            </a:xfrm>
            <a:custGeom>
              <a:avLst/>
              <a:gdLst>
                <a:gd name="T0" fmla="*/ 765 w 1847"/>
                <a:gd name="T1" fmla="*/ 0 h 1515"/>
                <a:gd name="T2" fmla="*/ 0 w 1847"/>
                <a:gd name="T3" fmla="*/ 995 h 1515"/>
                <a:gd name="T4" fmla="*/ 824 w 1847"/>
                <a:gd name="T5" fmla="*/ 992 h 1515"/>
                <a:gd name="T6" fmla="*/ 886 w 1847"/>
                <a:gd name="T7" fmla="*/ 1515 h 1515"/>
                <a:gd name="T8" fmla="*/ 1847 w 1847"/>
                <a:gd name="T9" fmla="*/ 1515 h 1515"/>
                <a:gd name="T10" fmla="*/ 765 w 1847"/>
                <a:gd name="T11" fmla="*/ 0 h 15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47" h="1515">
                  <a:moveTo>
                    <a:pt x="765" y="0"/>
                  </a:moveTo>
                  <a:lnTo>
                    <a:pt x="0" y="995"/>
                  </a:lnTo>
                  <a:lnTo>
                    <a:pt x="824" y="992"/>
                  </a:lnTo>
                  <a:lnTo>
                    <a:pt x="886" y="1515"/>
                  </a:lnTo>
                  <a:lnTo>
                    <a:pt x="1847" y="1515"/>
                  </a:lnTo>
                  <a:lnTo>
                    <a:pt x="765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740362" name="Rectangle 10"/>
            <p:cNvSpPr>
              <a:spLocks noChangeArrowheads="1"/>
            </p:cNvSpPr>
            <p:nvPr/>
          </p:nvSpPr>
          <p:spPr bwMode="auto">
            <a:xfrm>
              <a:off x="5240338" y="2209800"/>
              <a:ext cx="5334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50000"/>
                </a:lnSpc>
              </a:pPr>
              <a:r>
                <a:rPr lang="it-IT" sz="2400" b="1" i="1"/>
                <a:t>c</a:t>
              </a:r>
            </a:p>
          </p:txBody>
        </p:sp>
        <p:sp>
          <p:nvSpPr>
            <p:cNvPr id="740363" name="Text Box 11"/>
            <p:cNvSpPr txBox="1">
              <a:spLocks noChangeArrowheads="1"/>
            </p:cNvSpPr>
            <p:nvPr/>
          </p:nvSpPr>
          <p:spPr bwMode="auto">
            <a:xfrm>
              <a:off x="5767388" y="1295400"/>
              <a:ext cx="59503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800" b="1" i="1"/>
                <a:t>T’</a:t>
              </a:r>
              <a:endParaRPr lang="it-IT" sz="2800"/>
            </a:p>
          </p:txBody>
        </p:sp>
        <p:sp>
          <p:nvSpPr>
            <p:cNvPr id="740364" name="Freeform 12"/>
            <p:cNvSpPr>
              <a:spLocks/>
            </p:cNvSpPr>
            <p:nvPr/>
          </p:nvSpPr>
          <p:spPr bwMode="auto">
            <a:xfrm>
              <a:off x="5105400" y="3810000"/>
              <a:ext cx="2222500" cy="2282825"/>
            </a:xfrm>
            <a:custGeom>
              <a:avLst/>
              <a:gdLst>
                <a:gd name="T0" fmla="*/ 845 w 1400"/>
                <a:gd name="T1" fmla="*/ 0 h 1438"/>
                <a:gd name="T2" fmla="*/ 0 w 1400"/>
                <a:gd name="T3" fmla="*/ 1438 h 1438"/>
                <a:gd name="T4" fmla="*/ 716 w 1400"/>
                <a:gd name="T5" fmla="*/ 1423 h 1438"/>
                <a:gd name="T6" fmla="*/ 792 w 1400"/>
                <a:gd name="T7" fmla="*/ 738 h 1438"/>
                <a:gd name="T8" fmla="*/ 1400 w 1400"/>
                <a:gd name="T9" fmla="*/ 738 h 1438"/>
                <a:gd name="T10" fmla="*/ 845 w 1400"/>
                <a:gd name="T11" fmla="*/ 0 h 1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0" h="1438">
                  <a:moveTo>
                    <a:pt x="845" y="0"/>
                  </a:moveTo>
                  <a:lnTo>
                    <a:pt x="0" y="1438"/>
                  </a:lnTo>
                  <a:lnTo>
                    <a:pt x="716" y="1423"/>
                  </a:lnTo>
                  <a:lnTo>
                    <a:pt x="792" y="738"/>
                  </a:lnTo>
                  <a:lnTo>
                    <a:pt x="1400" y="738"/>
                  </a:lnTo>
                  <a:lnTo>
                    <a:pt x="845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740365" name="Rectangle 13"/>
            <p:cNvSpPr>
              <a:spLocks noChangeArrowheads="1"/>
            </p:cNvSpPr>
            <p:nvPr/>
          </p:nvSpPr>
          <p:spPr bwMode="auto">
            <a:xfrm>
              <a:off x="6680200" y="4800600"/>
              <a:ext cx="5334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50000"/>
                </a:lnSpc>
              </a:pPr>
              <a:r>
                <a:rPr lang="it-IT" sz="2400" b="1" i="1"/>
                <a:t>c</a:t>
              </a:r>
            </a:p>
          </p:txBody>
        </p:sp>
        <p:sp>
          <p:nvSpPr>
            <p:cNvPr id="740366" name="Text Box 14"/>
            <p:cNvSpPr txBox="1">
              <a:spLocks noChangeArrowheads="1"/>
            </p:cNvSpPr>
            <p:nvPr/>
          </p:nvSpPr>
          <p:spPr bwMode="auto">
            <a:xfrm>
              <a:off x="6189663" y="4038600"/>
              <a:ext cx="59503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800" b="1" i="1"/>
                <a:t>S’</a:t>
              </a:r>
              <a:endParaRPr lang="it-IT" sz="2800"/>
            </a:p>
          </p:txBody>
        </p:sp>
        <p:sp>
          <p:nvSpPr>
            <p:cNvPr id="740367" name="Freeform 15"/>
            <p:cNvSpPr>
              <a:spLocks/>
            </p:cNvSpPr>
            <p:nvPr/>
          </p:nvSpPr>
          <p:spPr bwMode="auto">
            <a:xfrm>
              <a:off x="1447800" y="3810000"/>
              <a:ext cx="2222500" cy="2282825"/>
            </a:xfrm>
            <a:custGeom>
              <a:avLst/>
              <a:gdLst>
                <a:gd name="T0" fmla="*/ 845 w 1400"/>
                <a:gd name="T1" fmla="*/ 0 h 1438"/>
                <a:gd name="T2" fmla="*/ 0 w 1400"/>
                <a:gd name="T3" fmla="*/ 1438 h 1438"/>
                <a:gd name="T4" fmla="*/ 716 w 1400"/>
                <a:gd name="T5" fmla="*/ 1423 h 1438"/>
                <a:gd name="T6" fmla="*/ 792 w 1400"/>
                <a:gd name="T7" fmla="*/ 738 h 1438"/>
                <a:gd name="T8" fmla="*/ 1400 w 1400"/>
                <a:gd name="T9" fmla="*/ 738 h 1438"/>
                <a:gd name="T10" fmla="*/ 845 w 1400"/>
                <a:gd name="T11" fmla="*/ 0 h 1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0" h="1438">
                  <a:moveTo>
                    <a:pt x="845" y="0"/>
                  </a:moveTo>
                  <a:lnTo>
                    <a:pt x="0" y="1438"/>
                  </a:lnTo>
                  <a:lnTo>
                    <a:pt x="716" y="1423"/>
                  </a:lnTo>
                  <a:lnTo>
                    <a:pt x="792" y="738"/>
                  </a:lnTo>
                  <a:lnTo>
                    <a:pt x="1400" y="738"/>
                  </a:lnTo>
                  <a:lnTo>
                    <a:pt x="845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740368" name="Text Box 16"/>
            <p:cNvSpPr txBox="1">
              <a:spLocks noChangeArrowheads="1"/>
            </p:cNvSpPr>
            <p:nvPr/>
          </p:nvSpPr>
          <p:spPr bwMode="auto">
            <a:xfrm>
              <a:off x="2601913" y="4038600"/>
              <a:ext cx="49244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it-IT" sz="2800" b="1" i="1"/>
                <a:t>S</a:t>
              </a:r>
              <a:endParaRPr lang="it-IT" sz="2800"/>
            </a:p>
          </p:txBody>
        </p:sp>
        <p:sp>
          <p:nvSpPr>
            <p:cNvPr id="740369" name="Rectangle 17"/>
            <p:cNvSpPr>
              <a:spLocks noChangeArrowheads="1"/>
            </p:cNvSpPr>
            <p:nvPr/>
          </p:nvSpPr>
          <p:spPr bwMode="auto">
            <a:xfrm>
              <a:off x="2743200" y="5334000"/>
              <a:ext cx="5334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50000"/>
                </a:lnSpc>
              </a:pPr>
              <a:r>
                <a:rPr lang="it-IT" sz="2400" b="1" i="1"/>
                <a:t>a</a:t>
              </a:r>
            </a:p>
          </p:txBody>
        </p:sp>
        <p:sp>
          <p:nvSpPr>
            <p:cNvPr id="740370" name="Rectangle 18"/>
            <p:cNvSpPr>
              <a:spLocks noChangeArrowheads="1"/>
            </p:cNvSpPr>
            <p:nvPr/>
          </p:nvSpPr>
          <p:spPr bwMode="auto">
            <a:xfrm>
              <a:off x="3352800" y="5334000"/>
              <a:ext cx="5334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75000"/>
                </a:lnSpc>
              </a:pPr>
              <a:r>
                <a:rPr lang="it-IT" sz="2400" b="1" i="1"/>
                <a:t>b</a:t>
              </a:r>
            </a:p>
          </p:txBody>
        </p:sp>
        <p:sp>
          <p:nvSpPr>
            <p:cNvPr id="740371" name="Line 19"/>
            <p:cNvSpPr>
              <a:spLocks noChangeShapeType="1"/>
            </p:cNvSpPr>
            <p:nvPr/>
          </p:nvSpPr>
          <p:spPr bwMode="auto">
            <a:xfrm flipH="1">
              <a:off x="2971800" y="49530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740372" name="Line 20"/>
            <p:cNvSpPr>
              <a:spLocks noChangeShapeType="1"/>
            </p:cNvSpPr>
            <p:nvPr/>
          </p:nvSpPr>
          <p:spPr bwMode="auto">
            <a:xfrm>
              <a:off x="3352800" y="4953000"/>
              <a:ext cx="3048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740373" name="Oval 21"/>
            <p:cNvSpPr>
              <a:spLocks noChangeArrowheads="1"/>
            </p:cNvSpPr>
            <p:nvPr/>
          </p:nvSpPr>
          <p:spPr bwMode="auto">
            <a:xfrm>
              <a:off x="3048000" y="45720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it-IT" sz="2400" b="1" i="1"/>
                <a:t>c</a:t>
              </a:r>
            </a:p>
          </p:txBody>
        </p:sp>
        <p:sp>
          <p:nvSpPr>
            <p:cNvPr id="740374" name="Rectangle 22"/>
            <p:cNvSpPr>
              <a:spLocks noChangeArrowheads="1"/>
            </p:cNvSpPr>
            <p:nvPr/>
          </p:nvSpPr>
          <p:spPr bwMode="auto">
            <a:xfrm>
              <a:off x="1125538" y="2971800"/>
              <a:ext cx="5334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50000"/>
                </a:lnSpc>
              </a:pPr>
              <a:r>
                <a:rPr lang="it-IT" sz="2400" b="1" i="1"/>
                <a:t>x</a:t>
              </a:r>
            </a:p>
          </p:txBody>
        </p:sp>
        <p:sp>
          <p:nvSpPr>
            <p:cNvPr id="740375" name="Rectangle 23"/>
            <p:cNvSpPr>
              <a:spLocks noChangeArrowheads="1"/>
            </p:cNvSpPr>
            <p:nvPr/>
          </p:nvSpPr>
          <p:spPr bwMode="auto">
            <a:xfrm>
              <a:off x="1828800" y="2971800"/>
              <a:ext cx="5334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50000"/>
                </a:lnSpc>
              </a:pPr>
              <a:r>
                <a:rPr lang="it-IT" sz="2400" b="1" i="1"/>
                <a:t>y</a:t>
              </a:r>
            </a:p>
          </p:txBody>
        </p:sp>
        <p:sp>
          <p:nvSpPr>
            <p:cNvPr id="740376" name="Rectangle 24"/>
            <p:cNvSpPr>
              <a:spLocks noChangeArrowheads="1"/>
            </p:cNvSpPr>
            <p:nvPr/>
          </p:nvSpPr>
          <p:spPr bwMode="auto">
            <a:xfrm>
              <a:off x="1898650" y="1981200"/>
              <a:ext cx="5334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50000"/>
                </a:lnSpc>
              </a:pPr>
              <a:r>
                <a:rPr lang="it-IT" sz="2400" b="1" i="1"/>
                <a:t>z</a:t>
              </a:r>
            </a:p>
          </p:txBody>
        </p:sp>
        <p:sp>
          <p:nvSpPr>
            <p:cNvPr id="740377" name="Rectangle 25"/>
            <p:cNvSpPr>
              <a:spLocks noChangeArrowheads="1"/>
            </p:cNvSpPr>
            <p:nvPr/>
          </p:nvSpPr>
          <p:spPr bwMode="auto">
            <a:xfrm>
              <a:off x="6681788" y="5105400"/>
              <a:ext cx="5334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50000"/>
                </a:lnSpc>
              </a:pPr>
              <a:r>
                <a:rPr lang="it-IT" sz="2400" b="1" i="1"/>
                <a:t>z</a:t>
              </a:r>
            </a:p>
          </p:txBody>
        </p:sp>
        <p:sp>
          <p:nvSpPr>
            <p:cNvPr id="740378" name="Rectangle 26"/>
            <p:cNvSpPr>
              <a:spLocks noChangeArrowheads="1"/>
            </p:cNvSpPr>
            <p:nvPr/>
          </p:nvSpPr>
          <p:spPr bwMode="auto">
            <a:xfrm>
              <a:off x="5275263" y="2514600"/>
              <a:ext cx="5334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50000"/>
                </a:lnSpc>
              </a:pPr>
              <a:r>
                <a:rPr lang="it-IT" sz="2400" b="1" i="1"/>
                <a:t>z</a:t>
              </a:r>
            </a:p>
          </p:txBody>
        </p:sp>
        <p:sp>
          <p:nvSpPr>
            <p:cNvPr id="740379" name="Rectangle 27"/>
            <p:cNvSpPr>
              <a:spLocks noChangeArrowheads="1"/>
            </p:cNvSpPr>
            <p:nvPr/>
          </p:nvSpPr>
          <p:spPr bwMode="auto">
            <a:xfrm>
              <a:off x="3305175" y="4419600"/>
              <a:ext cx="5334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50000"/>
                </a:lnSpc>
              </a:pPr>
              <a:r>
                <a:rPr lang="it-IT" sz="2400" b="1" i="1"/>
                <a:t>z</a:t>
              </a:r>
            </a:p>
          </p:txBody>
        </p:sp>
        <p:sp>
          <p:nvSpPr>
            <p:cNvPr id="740380" name="Rectangle 28"/>
            <p:cNvSpPr>
              <a:spLocks noChangeArrowheads="1"/>
            </p:cNvSpPr>
            <p:nvPr/>
          </p:nvSpPr>
          <p:spPr bwMode="auto">
            <a:xfrm>
              <a:off x="2743200" y="5638800"/>
              <a:ext cx="5334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50000"/>
                </a:lnSpc>
              </a:pPr>
              <a:r>
                <a:rPr lang="it-IT" sz="2400" b="1" i="1"/>
                <a:t>x</a:t>
              </a:r>
            </a:p>
          </p:txBody>
        </p:sp>
        <p:sp>
          <p:nvSpPr>
            <p:cNvPr id="740381" name="Rectangle 29"/>
            <p:cNvSpPr>
              <a:spLocks noChangeArrowheads="1"/>
            </p:cNvSpPr>
            <p:nvPr/>
          </p:nvSpPr>
          <p:spPr bwMode="auto">
            <a:xfrm>
              <a:off x="3376613" y="5638800"/>
              <a:ext cx="5334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50000"/>
                </a:lnSpc>
              </a:pPr>
              <a:r>
                <a:rPr lang="it-IT" sz="2400" b="1" i="1"/>
                <a:t>y</a:t>
              </a:r>
            </a:p>
          </p:txBody>
        </p:sp>
        <p:sp>
          <p:nvSpPr>
            <p:cNvPr id="740382" name="AutoShape 30"/>
            <p:cNvSpPr>
              <a:spLocks noChangeArrowheads="1"/>
            </p:cNvSpPr>
            <p:nvPr/>
          </p:nvSpPr>
          <p:spPr bwMode="auto">
            <a:xfrm>
              <a:off x="3798888" y="838200"/>
              <a:ext cx="773112" cy="152400"/>
            </a:xfrm>
            <a:prstGeom prst="rightArrow">
              <a:avLst>
                <a:gd name="adj1" fmla="val 50000"/>
                <a:gd name="adj2" fmla="val 126823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740383" name="AutoShape 31"/>
            <p:cNvSpPr>
              <a:spLocks noChangeArrowheads="1"/>
            </p:cNvSpPr>
            <p:nvPr/>
          </p:nvSpPr>
          <p:spPr bwMode="auto">
            <a:xfrm>
              <a:off x="6330950" y="3276600"/>
              <a:ext cx="139700" cy="457200"/>
            </a:xfrm>
            <a:prstGeom prst="downArrow">
              <a:avLst>
                <a:gd name="adj1" fmla="val 50000"/>
                <a:gd name="adj2" fmla="val 81818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740384" name="AutoShape 32"/>
            <p:cNvSpPr>
              <a:spLocks noChangeArrowheads="1"/>
            </p:cNvSpPr>
            <p:nvPr/>
          </p:nvSpPr>
          <p:spPr bwMode="auto">
            <a:xfrm>
              <a:off x="4360863" y="4572000"/>
              <a:ext cx="633412" cy="152400"/>
            </a:xfrm>
            <a:prstGeom prst="leftArrow">
              <a:avLst>
                <a:gd name="adj1" fmla="val 50000"/>
                <a:gd name="adj2" fmla="val 103906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Lemma sottostruttura ottima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378" name="Text Box 2"/>
          <p:cNvSpPr txBox="1">
            <a:spLocks noChangeArrowheads="1"/>
          </p:cNvSpPr>
          <p:nvPr/>
        </p:nvSpPr>
        <p:spPr bwMode="auto">
          <a:xfrm>
            <a:off x="323528" y="1124744"/>
            <a:ext cx="8424936" cy="830997"/>
          </a:xfrm>
          <a:prstGeom prst="rect">
            <a:avLst/>
          </a:prstGeom>
          <a:solidFill>
            <a:srgbClr val="CCFFCC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it-IT" sz="2400" b="1" u="sng" dirty="0"/>
              <a:t>Teorema</a:t>
            </a:r>
            <a:r>
              <a:rPr lang="it-IT" sz="2400" dirty="0"/>
              <a:t>   </a:t>
            </a:r>
          </a:p>
          <a:p>
            <a:r>
              <a:rPr lang="it-IT" sz="2400" dirty="0"/>
              <a:t>L’algoritmo di </a:t>
            </a:r>
            <a:r>
              <a:rPr lang="it-IT" sz="2400" dirty="0" err="1"/>
              <a:t>Huffman</a:t>
            </a:r>
            <a:r>
              <a:rPr lang="it-IT" sz="2400" dirty="0"/>
              <a:t> produce un codice prefisso </a:t>
            </a:r>
            <a:r>
              <a:rPr lang="it-IT" sz="2400" dirty="0" smtClean="0"/>
              <a:t>ottimo</a:t>
            </a:r>
            <a:endParaRPr lang="it-IT" sz="2400" dirty="0">
              <a:sym typeface="Symbol" charset="0"/>
            </a:endParaRPr>
          </a:p>
        </p:txBody>
      </p:sp>
      <p:sp>
        <p:nvSpPr>
          <p:cNvPr id="741379" name="Text Box 3"/>
          <p:cNvSpPr txBox="1">
            <a:spLocks noChangeArrowheads="1"/>
          </p:cNvSpPr>
          <p:nvPr/>
        </p:nvSpPr>
        <p:spPr bwMode="auto">
          <a:xfrm>
            <a:off x="450850" y="5157788"/>
            <a:ext cx="8153400" cy="120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Si dimostra per induzione sul numero di caratteri dell’alfabeto (lunghezza della coda) usando i due lemmi precedenti.</a:t>
            </a:r>
          </a:p>
        </p:txBody>
      </p:sp>
      <p:sp>
        <p:nvSpPr>
          <p:cNvPr id="7413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Correttezza algoritmo di </a:t>
            </a:r>
            <a:r>
              <a:rPr lang="it-IT" dirty="0" err="1" smtClean="0"/>
              <a:t>Huffman</a:t>
            </a:r>
            <a:endParaRPr lang="it-IT" dirty="0"/>
          </a:p>
        </p:txBody>
      </p:sp>
      <p:sp>
        <p:nvSpPr>
          <p:cNvPr id="741381" name="Text Box 5"/>
          <p:cNvSpPr txBox="1">
            <a:spLocks noChangeArrowheads="1"/>
          </p:cNvSpPr>
          <p:nvPr/>
        </p:nvSpPr>
        <p:spPr bwMode="auto">
          <a:xfrm>
            <a:off x="827584" y="2132856"/>
            <a:ext cx="7295332" cy="3046984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35" tIns="45718" rIns="91435" bIns="45718">
            <a:spAutoFit/>
          </a:bodyPr>
          <a:lstStyle/>
          <a:p>
            <a:r>
              <a:rPr lang="it-IT" sz="2400" b="1" i="1"/>
              <a:t>Huffman</a:t>
            </a:r>
            <a:r>
              <a:rPr lang="it-IT" sz="2400" b="1"/>
              <a:t>(</a:t>
            </a:r>
            <a:r>
              <a:rPr lang="it-IT" sz="2400" b="1" i="1"/>
              <a:t>c</a:t>
            </a:r>
            <a:r>
              <a:rPr lang="it-IT" sz="2400" b="1"/>
              <a:t>, </a:t>
            </a:r>
            <a:r>
              <a:rPr lang="it-IT" sz="2400" b="1" i="1"/>
              <a:t>f</a:t>
            </a:r>
            <a:r>
              <a:rPr lang="it-IT" sz="2400" b="1"/>
              <a:t>, </a:t>
            </a:r>
            <a:r>
              <a:rPr lang="it-IT" sz="2400" b="1" i="1"/>
              <a:t>n</a:t>
            </a:r>
            <a:r>
              <a:rPr lang="it-IT" sz="2400" b="1"/>
              <a:t>)</a:t>
            </a:r>
          </a:p>
          <a:p>
            <a:r>
              <a:rPr lang="it-IT" sz="2400" b="1"/>
              <a:t>    </a:t>
            </a:r>
            <a:r>
              <a:rPr lang="it-IT" sz="2400" b="1" i="1"/>
              <a:t>Q</a:t>
            </a:r>
            <a:r>
              <a:rPr lang="it-IT" sz="2400" b="1"/>
              <a:t> </a:t>
            </a:r>
            <a:r>
              <a:rPr lang="it-IT" sz="2400" b="1">
                <a:sym typeface="Symbol" charset="0"/>
              </a:rPr>
              <a:t></a:t>
            </a:r>
            <a:r>
              <a:rPr lang="it-IT" sz="2400" b="1"/>
              <a:t> </a:t>
            </a:r>
            <a:r>
              <a:rPr lang="it-IT" sz="2400" b="1">
                <a:sym typeface="Symbol" charset="0"/>
              </a:rPr>
              <a:t>           	</a:t>
            </a:r>
            <a:r>
              <a:rPr lang="it-IT" sz="2400" b="1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400" b="1">
                <a:solidFill>
                  <a:srgbClr val="0000CC"/>
                </a:solidFill>
                <a:sym typeface="Symbol" charset="0"/>
              </a:rPr>
              <a:t> </a:t>
            </a:r>
            <a:r>
              <a:rPr lang="it-IT" sz="2400" b="1">
                <a:solidFill>
                  <a:srgbClr val="0000CC"/>
                </a:solidFill>
              </a:rPr>
              <a:t>coda con priorità</a:t>
            </a:r>
          </a:p>
          <a:p>
            <a:r>
              <a:rPr lang="it-IT" sz="2400" b="1"/>
              <a:t>    </a:t>
            </a:r>
            <a:r>
              <a:rPr lang="it-IT" sz="2400" b="1">
                <a:sym typeface="Symbol" charset="0"/>
              </a:rPr>
              <a:t>for </a:t>
            </a:r>
            <a:r>
              <a:rPr lang="it-IT" sz="2400" b="1" i="1">
                <a:sym typeface="Symbol" charset="0"/>
              </a:rPr>
              <a:t>i</a:t>
            </a:r>
            <a:r>
              <a:rPr lang="it-IT" sz="2400" b="1">
                <a:sym typeface="Symbol" charset="0"/>
              </a:rPr>
              <a:t>  1 to </a:t>
            </a:r>
            <a:r>
              <a:rPr lang="it-IT" sz="2400" b="1" i="1">
                <a:sym typeface="Symbol" charset="0"/>
              </a:rPr>
              <a:t>n</a:t>
            </a:r>
            <a:r>
              <a:rPr lang="it-IT" sz="2400" b="1">
                <a:sym typeface="Symbol" charset="0"/>
              </a:rPr>
              <a:t> do</a:t>
            </a:r>
          </a:p>
          <a:p>
            <a:r>
              <a:rPr lang="it-IT" sz="2400" b="1">
                <a:sym typeface="Symbol" charset="0"/>
              </a:rPr>
              <a:t>        </a:t>
            </a:r>
            <a:r>
              <a:rPr lang="it-IT" sz="2400" b="1" i="1">
                <a:sym typeface="Symbol" charset="0"/>
              </a:rPr>
              <a:t>Push</a:t>
            </a:r>
            <a:r>
              <a:rPr lang="it-IT" sz="2400" b="1">
                <a:sym typeface="Symbol" charset="0"/>
              </a:rPr>
              <a:t>(</a:t>
            </a:r>
            <a:r>
              <a:rPr lang="it-IT" sz="2400" b="1" i="1">
                <a:sym typeface="Symbol" charset="0"/>
              </a:rPr>
              <a:t>Q</a:t>
            </a:r>
            <a:r>
              <a:rPr lang="it-IT" sz="2400" b="1">
                <a:sym typeface="Symbol" charset="0"/>
              </a:rPr>
              <a:t>, </a:t>
            </a:r>
            <a:r>
              <a:rPr lang="it-IT" sz="2400" b="1" i="1">
                <a:sym typeface="Symbol" charset="0"/>
              </a:rPr>
              <a:t>nodo</a:t>
            </a:r>
            <a:r>
              <a:rPr lang="it-IT" sz="2400" b="1">
                <a:sym typeface="Symbol" charset="0"/>
              </a:rPr>
              <a:t>(</a:t>
            </a:r>
            <a:r>
              <a:rPr lang="it-IT" sz="2400" b="1" i="1">
                <a:sym typeface="Symbol" charset="0"/>
              </a:rPr>
              <a:t>f</a:t>
            </a:r>
            <a:r>
              <a:rPr lang="it-IT" sz="2400" b="1" i="1" baseline="-25000">
                <a:sym typeface="Symbol" charset="0"/>
              </a:rPr>
              <a:t>i</a:t>
            </a:r>
            <a:r>
              <a:rPr lang="it-IT" sz="2400" b="1">
                <a:sym typeface="Symbol" charset="0"/>
              </a:rPr>
              <a:t>, </a:t>
            </a:r>
            <a:r>
              <a:rPr lang="it-IT" sz="2400" b="1" i="1">
                <a:sym typeface="Symbol" charset="0"/>
              </a:rPr>
              <a:t>c</a:t>
            </a:r>
            <a:r>
              <a:rPr lang="it-IT" sz="2400" b="1" i="1" baseline="-25000">
                <a:sym typeface="Symbol" charset="0"/>
              </a:rPr>
              <a:t>i</a:t>
            </a:r>
            <a:r>
              <a:rPr lang="it-IT" sz="2400" b="1">
                <a:sym typeface="Symbol" charset="0"/>
              </a:rPr>
              <a:t>))</a:t>
            </a:r>
          </a:p>
          <a:p>
            <a:r>
              <a:rPr lang="it-IT" sz="2400" b="1">
                <a:sym typeface="Symbol" charset="0"/>
              </a:rPr>
              <a:t>    for </a:t>
            </a:r>
            <a:r>
              <a:rPr lang="it-IT" sz="2400" b="1" i="1">
                <a:sym typeface="Symbol" charset="0"/>
              </a:rPr>
              <a:t>j</a:t>
            </a:r>
            <a:r>
              <a:rPr lang="it-IT" sz="2400" b="1">
                <a:sym typeface="Symbol" charset="0"/>
              </a:rPr>
              <a:t>  </a:t>
            </a:r>
            <a:r>
              <a:rPr lang="it-IT" sz="2400" b="1" i="1">
                <a:sym typeface="Symbol" charset="0"/>
              </a:rPr>
              <a:t>n</a:t>
            </a:r>
            <a:r>
              <a:rPr lang="it-IT" sz="2400" b="1">
                <a:sym typeface="Symbol" charset="0"/>
              </a:rPr>
              <a:t> downto 2 do</a:t>
            </a:r>
          </a:p>
          <a:p>
            <a:r>
              <a:rPr lang="it-IT" sz="2400" b="1">
                <a:sym typeface="Symbol" charset="0"/>
              </a:rPr>
              <a:t>        </a:t>
            </a:r>
            <a:r>
              <a:rPr lang="it-IT" sz="2400" b="1" i="1">
                <a:sym typeface="Symbol" charset="0"/>
              </a:rPr>
              <a:t>x</a:t>
            </a:r>
            <a:r>
              <a:rPr lang="it-IT" sz="2400" b="1">
                <a:sym typeface="Symbol" charset="0"/>
              </a:rPr>
              <a:t>  </a:t>
            </a:r>
            <a:r>
              <a:rPr lang="it-IT" sz="2400" b="1" i="1">
                <a:sym typeface="Symbol" charset="0"/>
              </a:rPr>
              <a:t>ExtractMin</a:t>
            </a:r>
            <a:r>
              <a:rPr lang="it-IT" sz="2400" b="1">
                <a:sym typeface="Symbol" charset="0"/>
              </a:rPr>
              <a:t>(</a:t>
            </a:r>
            <a:r>
              <a:rPr lang="it-IT" sz="2400" b="1" i="1">
                <a:sym typeface="Symbol" charset="0"/>
              </a:rPr>
              <a:t>Q</a:t>
            </a:r>
            <a:r>
              <a:rPr lang="it-IT" sz="2400" b="1">
                <a:sym typeface="Symbol" charset="0"/>
              </a:rPr>
              <a:t>), </a:t>
            </a:r>
            <a:r>
              <a:rPr lang="it-IT" sz="2400" b="1" i="1">
                <a:sym typeface="Symbol" charset="0"/>
              </a:rPr>
              <a:t>y</a:t>
            </a:r>
            <a:r>
              <a:rPr lang="it-IT" sz="2400" b="1">
                <a:sym typeface="Symbol" charset="0"/>
              </a:rPr>
              <a:t>  </a:t>
            </a:r>
            <a:r>
              <a:rPr lang="it-IT" sz="2400" b="1" i="1">
                <a:sym typeface="Symbol" charset="0"/>
              </a:rPr>
              <a:t>ExtractMin</a:t>
            </a:r>
            <a:r>
              <a:rPr lang="it-IT" sz="2400" b="1">
                <a:sym typeface="Symbol" charset="0"/>
              </a:rPr>
              <a:t>(</a:t>
            </a:r>
            <a:r>
              <a:rPr lang="it-IT" sz="2400" b="1" i="1">
                <a:sym typeface="Symbol" charset="0"/>
              </a:rPr>
              <a:t>Q</a:t>
            </a:r>
            <a:r>
              <a:rPr lang="it-IT" sz="2400" b="1">
                <a:sym typeface="Symbol" charset="0"/>
              </a:rPr>
              <a:t>)</a:t>
            </a:r>
          </a:p>
          <a:p>
            <a:r>
              <a:rPr lang="it-IT" sz="2400" b="1">
                <a:sym typeface="Symbol" charset="0"/>
              </a:rPr>
              <a:t>        </a:t>
            </a:r>
            <a:r>
              <a:rPr lang="it-IT" sz="2400" b="1" i="1">
                <a:sym typeface="Symbol" charset="0"/>
              </a:rPr>
              <a:t>Insert</a:t>
            </a:r>
            <a:r>
              <a:rPr lang="it-IT" sz="2400" b="1">
                <a:sym typeface="Symbol" charset="0"/>
              </a:rPr>
              <a:t>(</a:t>
            </a:r>
            <a:r>
              <a:rPr lang="it-IT" sz="2400" b="1" i="1">
                <a:sym typeface="Symbol" charset="0"/>
              </a:rPr>
              <a:t>Q</a:t>
            </a:r>
            <a:r>
              <a:rPr lang="it-IT" sz="2400" b="1">
                <a:sym typeface="Symbol" charset="0"/>
              </a:rPr>
              <a:t>,</a:t>
            </a:r>
            <a:r>
              <a:rPr lang="it-IT" sz="2400" b="1" i="1">
                <a:sym typeface="Symbol" charset="0"/>
              </a:rPr>
              <a:t>nodo</a:t>
            </a:r>
            <a:r>
              <a:rPr lang="it-IT" sz="2400" b="1">
                <a:sym typeface="Symbol" charset="0"/>
              </a:rPr>
              <a:t>(</a:t>
            </a:r>
            <a:r>
              <a:rPr lang="it-IT" sz="2400" b="1" i="1">
                <a:sym typeface="Symbol" charset="0"/>
              </a:rPr>
              <a:t>x</a:t>
            </a:r>
            <a:r>
              <a:rPr lang="it-IT" sz="2400" b="1">
                <a:sym typeface="Symbol" charset="0"/>
              </a:rPr>
              <a:t>,</a:t>
            </a:r>
            <a:r>
              <a:rPr lang="it-IT" sz="2400" b="1" i="1">
                <a:sym typeface="Symbol" charset="0"/>
              </a:rPr>
              <a:t>y</a:t>
            </a:r>
            <a:r>
              <a:rPr lang="it-IT" sz="2400" b="1">
                <a:sym typeface="Symbol" charset="0"/>
              </a:rPr>
              <a:t>))</a:t>
            </a:r>
          </a:p>
          <a:p>
            <a:r>
              <a:rPr lang="it-IT" sz="2400" b="1"/>
              <a:t>    return </a:t>
            </a:r>
            <a:r>
              <a:rPr lang="it-IT" sz="2400" b="1" i="1"/>
              <a:t>ExtractMin</a:t>
            </a:r>
            <a:r>
              <a:rPr lang="it-IT" sz="2400" b="1"/>
              <a:t>(</a:t>
            </a:r>
            <a:r>
              <a:rPr lang="it-IT" sz="2400" b="1" i="1"/>
              <a:t>Q</a:t>
            </a:r>
            <a:r>
              <a:rPr lang="it-IT" sz="2400" b="1"/>
              <a:t>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498" name="Text Box 2"/>
          <p:cNvSpPr txBox="1">
            <a:spLocks noChangeArrowheads="1"/>
          </p:cNvSpPr>
          <p:nvPr/>
        </p:nvSpPr>
        <p:spPr bwMode="auto">
          <a:xfrm>
            <a:off x="467544" y="1772816"/>
            <a:ext cx="7696200" cy="120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Data una schedulazione diciamo che le attività che terminano in tempo sono </a:t>
            </a:r>
            <a:r>
              <a:rPr lang="it-IT" sz="2400" i="1" u="sng" dirty="0">
                <a:solidFill>
                  <a:srgbClr val="0000FF"/>
                </a:solidFill>
              </a:rPr>
              <a:t>in orario</a:t>
            </a:r>
            <a:r>
              <a:rPr lang="it-IT" sz="2400" dirty="0">
                <a:solidFill>
                  <a:srgbClr val="0000FF"/>
                </a:solidFill>
              </a:rPr>
              <a:t> mentre le altre sono </a:t>
            </a:r>
            <a:r>
              <a:rPr lang="it-IT" sz="2400" i="1" u="sng" dirty="0">
                <a:solidFill>
                  <a:srgbClr val="0000FF"/>
                </a:solidFill>
              </a:rPr>
              <a:t>in ritardo</a:t>
            </a:r>
            <a:r>
              <a:rPr lang="it-IT" sz="2400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746499" name="Text Box 3"/>
          <p:cNvSpPr txBox="1">
            <a:spLocks noChangeArrowheads="1"/>
          </p:cNvSpPr>
          <p:nvPr/>
        </p:nvSpPr>
        <p:spPr bwMode="auto">
          <a:xfrm>
            <a:off x="539552" y="3284984"/>
            <a:ext cx="7696200" cy="120032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FontTx/>
              <a:buAutoNum type="alphaLcParenR"/>
            </a:pPr>
            <a:r>
              <a:rPr lang="it-IT" dirty="0">
                <a:latin typeface="+mn-lt"/>
              </a:rPr>
              <a:t>Data una schedulazione qualsiasi ne esiste una equivalente in cui le attività in orario vengono eseguite prima di quelle in ritardo.</a:t>
            </a:r>
          </a:p>
        </p:txBody>
      </p:sp>
      <p:sp>
        <p:nvSpPr>
          <p:cNvPr id="746500" name="Text Box 4"/>
          <p:cNvSpPr txBox="1">
            <a:spLocks noChangeArrowheads="1"/>
          </p:cNvSpPr>
          <p:nvPr/>
        </p:nvSpPr>
        <p:spPr bwMode="auto">
          <a:xfrm>
            <a:off x="561975" y="4694238"/>
            <a:ext cx="7737475" cy="120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Infatti se </a:t>
            </a:r>
            <a:r>
              <a:rPr lang="it-IT" sz="2400" b="1" i="1" dirty="0">
                <a:solidFill>
                  <a:srgbClr val="FF0000"/>
                </a:solidFill>
              </a:rPr>
              <a:t>x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in ritardo precede </a:t>
            </a:r>
            <a:r>
              <a:rPr lang="it-IT" sz="2400" b="1" i="1" dirty="0">
                <a:solidFill>
                  <a:srgbClr val="FF0000"/>
                </a:solidFill>
              </a:rPr>
              <a:t>y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in orario, scambiandole di posto </a:t>
            </a:r>
            <a:r>
              <a:rPr lang="it-IT" sz="2400" b="1" i="1" dirty="0">
                <a:solidFill>
                  <a:srgbClr val="FF0000"/>
                </a:solidFill>
              </a:rPr>
              <a:t>x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rimane in ritardo ed </a:t>
            </a:r>
            <a:r>
              <a:rPr lang="it-IT" sz="2400" b="1" i="1" dirty="0">
                <a:solidFill>
                  <a:srgbClr val="FF0000"/>
                </a:solidFill>
              </a:rPr>
              <a:t>y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rimane in orario.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Schedulazione di </a:t>
            </a:r>
            <a:r>
              <a:rPr lang="it-IT" dirty="0" smtClean="0">
                <a:solidFill>
                  <a:srgbClr val="FF0000"/>
                </a:solidFill>
              </a:rPr>
              <a:t>attività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22" name="Text Box 2"/>
          <p:cNvSpPr txBox="1">
            <a:spLocks noChangeArrowheads="1"/>
          </p:cNvSpPr>
          <p:nvPr/>
        </p:nvSpPr>
        <p:spPr bwMode="auto">
          <a:xfrm>
            <a:off x="539552" y="1556792"/>
            <a:ext cx="7696200" cy="120032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FontTx/>
              <a:buAutoNum type="alphaLcParenR" startAt="2"/>
            </a:pPr>
            <a:r>
              <a:rPr lang="it-IT" dirty="0">
                <a:latin typeface="+mn-lt"/>
              </a:rPr>
              <a:t>Data una schedulazione qualsiasi ne esiste una equivalente in cui le attività in orario sono ordinate per scadenza.</a:t>
            </a:r>
          </a:p>
        </p:txBody>
      </p:sp>
      <p:sp>
        <p:nvSpPr>
          <p:cNvPr id="747523" name="Text Box 3"/>
          <p:cNvSpPr txBox="1">
            <a:spLocks noChangeArrowheads="1"/>
          </p:cNvSpPr>
          <p:nvPr/>
        </p:nvSpPr>
        <p:spPr bwMode="auto">
          <a:xfrm>
            <a:off x="539552" y="2780928"/>
            <a:ext cx="79248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Infatti, se </a:t>
            </a:r>
            <a:r>
              <a:rPr lang="it-IT" sz="2400" b="1" i="1" dirty="0">
                <a:solidFill>
                  <a:srgbClr val="FF0000"/>
                </a:solidFill>
              </a:rPr>
              <a:t>x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in orario precede </a:t>
            </a:r>
            <a:r>
              <a:rPr lang="it-IT" sz="2400" b="1" i="1" dirty="0">
                <a:solidFill>
                  <a:srgbClr val="FF0000"/>
                </a:solidFill>
              </a:rPr>
              <a:t>y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in orario e la scadenza di </a:t>
            </a:r>
            <a:r>
              <a:rPr lang="it-IT" sz="2400" b="1" i="1" dirty="0">
                <a:solidFill>
                  <a:srgbClr val="FF0000"/>
                </a:solidFill>
              </a:rPr>
              <a:t>x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è successiva alla scadenza di </a:t>
            </a:r>
            <a:r>
              <a:rPr lang="it-IT" sz="2400" b="1" i="1" dirty="0">
                <a:solidFill>
                  <a:srgbClr val="FF0000"/>
                </a:solidFill>
              </a:rPr>
              <a:t>y</a:t>
            </a:r>
            <a:r>
              <a:rPr lang="it-IT" sz="2400" dirty="0">
                <a:solidFill>
                  <a:srgbClr val="0000FF"/>
                </a:solidFill>
              </a:rPr>
              <a:t>, scambiandole di posto esse rimangono entrambe in orario.</a:t>
            </a:r>
          </a:p>
        </p:txBody>
      </p:sp>
      <p:sp>
        <p:nvSpPr>
          <p:cNvPr id="747524" name="Text Box 4"/>
          <p:cNvSpPr txBox="1">
            <a:spLocks noChangeArrowheads="1"/>
          </p:cNvSpPr>
          <p:nvPr/>
        </p:nvSpPr>
        <p:spPr bwMode="auto">
          <a:xfrm>
            <a:off x="539552" y="4868491"/>
            <a:ext cx="8153400" cy="120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>
                <a:solidFill>
                  <a:srgbClr val="0000FF"/>
                </a:solidFill>
              </a:rPr>
              <a:t>Non è quindi limitativo considerare solo </a:t>
            </a:r>
            <a:r>
              <a:rPr lang="it-IT" sz="2400" i="1" u="sng">
                <a:solidFill>
                  <a:srgbClr val="0000FF"/>
                </a:solidFill>
              </a:rPr>
              <a:t>schedulazioni canoniche</a:t>
            </a:r>
            <a:r>
              <a:rPr lang="it-IT" sz="2400">
                <a:solidFill>
                  <a:srgbClr val="0000FF"/>
                </a:solidFill>
              </a:rPr>
              <a:t> con attività in orario prima delle attività in ritardo e attività in orario ordinate per scadenza.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Schedulazione di attività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546" name="Text Box 2"/>
          <p:cNvSpPr txBox="1">
            <a:spLocks noChangeArrowheads="1"/>
          </p:cNvSpPr>
          <p:nvPr/>
        </p:nvSpPr>
        <p:spPr bwMode="auto">
          <a:xfrm>
            <a:off x="539552" y="1844824"/>
            <a:ext cx="8216900" cy="83099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FontTx/>
              <a:buAutoNum type="alphaLcParenR" startAt="3"/>
            </a:pPr>
            <a:r>
              <a:rPr lang="it-IT">
                <a:latin typeface="+mn-lt"/>
              </a:rPr>
              <a:t>Una schedulazione canonica ottima è determinata dall’insieme </a:t>
            </a:r>
            <a:r>
              <a:rPr lang="it-IT" b="1" i="1">
                <a:latin typeface="+mn-lt"/>
              </a:rPr>
              <a:t>A</a:t>
            </a:r>
            <a:r>
              <a:rPr lang="it-IT">
                <a:latin typeface="+mn-lt"/>
              </a:rPr>
              <a:t> delle sue attività in orario. </a:t>
            </a:r>
          </a:p>
        </p:txBody>
      </p:sp>
      <p:sp>
        <p:nvSpPr>
          <p:cNvPr id="748547" name="Text Box 3"/>
          <p:cNvSpPr txBox="1">
            <a:spLocks noChangeArrowheads="1"/>
          </p:cNvSpPr>
          <p:nvPr/>
        </p:nvSpPr>
        <p:spPr bwMode="auto">
          <a:xfrm>
            <a:off x="611560" y="4437112"/>
            <a:ext cx="8229600" cy="120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Diciamo che un insieme </a:t>
            </a:r>
            <a:r>
              <a:rPr lang="it-IT" sz="2400" b="1" i="1" dirty="0">
                <a:solidFill>
                  <a:srgbClr val="FF0000"/>
                </a:solidFill>
              </a:rPr>
              <a:t>A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di attività è </a:t>
            </a:r>
            <a:r>
              <a:rPr lang="it-IT" sz="2400" i="1" u="sng" dirty="0">
                <a:solidFill>
                  <a:srgbClr val="0000FF"/>
                </a:solidFill>
              </a:rPr>
              <a:t>indipendente</a:t>
            </a:r>
            <a:r>
              <a:rPr lang="it-IT" sz="2400" dirty="0">
                <a:solidFill>
                  <a:srgbClr val="0000FF"/>
                </a:solidFill>
              </a:rPr>
              <a:t> se esiste una schedulazione in cui le attività in </a:t>
            </a:r>
            <a:r>
              <a:rPr lang="it-IT" sz="2400" b="1" i="1" dirty="0">
                <a:solidFill>
                  <a:srgbClr val="FF0000"/>
                </a:solidFill>
              </a:rPr>
              <a:t>A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sono tutte in orario.</a:t>
            </a:r>
          </a:p>
        </p:txBody>
      </p:sp>
      <p:sp>
        <p:nvSpPr>
          <p:cNvPr id="748548" name="Text Box 4"/>
          <p:cNvSpPr txBox="1">
            <a:spLocks noChangeArrowheads="1"/>
          </p:cNvSpPr>
          <p:nvPr/>
        </p:nvSpPr>
        <p:spPr bwMode="auto">
          <a:xfrm>
            <a:off x="611560" y="3068960"/>
            <a:ext cx="7696200" cy="120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Dato </a:t>
            </a:r>
            <a:r>
              <a:rPr lang="it-IT" sz="2400" b="1" i="1" dirty="0">
                <a:solidFill>
                  <a:srgbClr val="FF0000"/>
                </a:solidFill>
              </a:rPr>
              <a:t>A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per trovare la schedulazione basta elencare le attività in </a:t>
            </a:r>
            <a:r>
              <a:rPr lang="it-IT" sz="2400" b="1" i="1" dirty="0">
                <a:solidFill>
                  <a:srgbClr val="FF0000"/>
                </a:solidFill>
              </a:rPr>
              <a:t>A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in ordine di scadenza e quindi aggiungere le attività in </a:t>
            </a:r>
            <a:r>
              <a:rPr lang="it-IT" sz="2400" b="1" i="1" dirty="0" err="1" smtClean="0">
                <a:solidFill>
                  <a:srgbClr val="FF0000"/>
                </a:solidFill>
              </a:rPr>
              <a:t>S</a:t>
            </a:r>
            <a:r>
              <a:rPr lang="it-IT" sz="2400" b="1" dirty="0" smtClean="0">
                <a:solidFill>
                  <a:srgbClr val="FF0000"/>
                </a:solidFill>
              </a:rPr>
              <a:t>\</a:t>
            </a:r>
            <a:r>
              <a:rPr lang="it-IT" sz="2400" b="1" i="1" dirty="0" smtClean="0">
                <a:solidFill>
                  <a:srgbClr val="FF0000"/>
                </a:solidFill>
              </a:rPr>
              <a:t>A</a:t>
            </a:r>
            <a:r>
              <a:rPr lang="it-IT" sz="2400" dirty="0" smtClean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in un ordine qualsiasi.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Schedulazione di attività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570" name="Text Box 2"/>
          <p:cNvSpPr txBox="1">
            <a:spLocks noChangeArrowheads="1"/>
          </p:cNvSpPr>
          <p:nvPr/>
        </p:nvSpPr>
        <p:spPr bwMode="auto">
          <a:xfrm>
            <a:off x="683568" y="1412776"/>
            <a:ext cx="7053682" cy="47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/>
              <a:t>Come si verifica l’indipendenza di </a:t>
            </a:r>
            <a:r>
              <a:rPr lang="it-IT" sz="2400" b="1" i="1" dirty="0">
                <a:solidFill>
                  <a:srgbClr val="FF0000"/>
                </a:solidFill>
              </a:rPr>
              <a:t>A</a:t>
            </a:r>
            <a:r>
              <a:rPr lang="it-IT" sz="2400" dirty="0"/>
              <a:t>?</a:t>
            </a:r>
          </a:p>
        </p:txBody>
      </p:sp>
      <p:grpSp>
        <p:nvGrpSpPr>
          <p:cNvPr id="749571" name="Group 3"/>
          <p:cNvGrpSpPr>
            <a:grpSpLocks/>
          </p:cNvGrpSpPr>
          <p:nvPr/>
        </p:nvGrpSpPr>
        <p:grpSpPr bwMode="auto">
          <a:xfrm>
            <a:off x="611560" y="1988840"/>
            <a:ext cx="8138864" cy="4141440"/>
            <a:chOff x="416" y="912"/>
            <a:chExt cx="5460" cy="2517"/>
          </a:xfrm>
        </p:grpSpPr>
        <p:sp>
          <p:nvSpPr>
            <p:cNvPr id="749572" name="Text Box 4"/>
            <p:cNvSpPr txBox="1">
              <a:spLocks noChangeArrowheads="1"/>
            </p:cNvSpPr>
            <p:nvPr/>
          </p:nvSpPr>
          <p:spPr bwMode="auto">
            <a:xfrm>
              <a:off x="468" y="912"/>
              <a:ext cx="5408" cy="8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sz="2400" dirty="0"/>
                <a:t>Per </a:t>
              </a:r>
              <a:r>
                <a:rPr lang="it-IT" sz="2400" b="1" i="1" dirty="0">
                  <a:solidFill>
                    <a:srgbClr val="FF0000"/>
                  </a:solidFill>
                </a:rPr>
                <a:t>t = </a:t>
              </a:r>
              <a:r>
                <a:rPr lang="it-IT" sz="2400" b="1" dirty="0">
                  <a:solidFill>
                    <a:srgbClr val="FF0000"/>
                  </a:solidFill>
                </a:rPr>
                <a:t>1, 2, ... , </a:t>
              </a:r>
              <a:r>
                <a:rPr lang="it-IT" sz="2400" b="1" i="1" dirty="0" err="1">
                  <a:solidFill>
                    <a:srgbClr val="FF0000"/>
                  </a:solidFill>
                </a:rPr>
                <a:t>n</a:t>
              </a:r>
              <a:r>
                <a:rPr lang="it-IT" sz="2400" dirty="0">
                  <a:solidFill>
                    <a:srgbClr val="FF0000"/>
                  </a:solidFill>
                </a:rPr>
                <a:t> </a:t>
              </a:r>
              <a:r>
                <a:rPr lang="it-IT" sz="2400" dirty="0"/>
                <a:t>sia </a:t>
              </a:r>
              <a:r>
                <a:rPr lang="it-IT" sz="2400" b="1" i="1" dirty="0" smtClean="0">
                  <a:solidFill>
                    <a:srgbClr val="FF0000"/>
                  </a:solidFill>
                </a:rPr>
                <a:t>N</a:t>
              </a:r>
              <a:r>
                <a:rPr lang="it-IT" sz="2400" b="1" i="1" baseline="-25000" dirty="0" smtClean="0">
                  <a:solidFill>
                    <a:srgbClr val="FF0000"/>
                  </a:solidFill>
                </a:rPr>
                <a:t>t</a:t>
              </a:r>
              <a:r>
                <a:rPr lang="it-IT" sz="2400" b="1" dirty="0" smtClean="0">
                  <a:solidFill>
                    <a:srgbClr val="FF0000"/>
                  </a:solidFill>
                </a:rPr>
                <a:t>(</a:t>
              </a:r>
              <a:r>
                <a:rPr lang="it-IT" sz="2400" b="1" i="1" dirty="0">
                  <a:solidFill>
                    <a:srgbClr val="FF0000"/>
                  </a:solidFill>
                </a:rPr>
                <a:t>A</a:t>
              </a:r>
              <a:r>
                <a:rPr lang="it-IT" sz="2400" b="1" dirty="0">
                  <a:solidFill>
                    <a:srgbClr val="FF0000"/>
                  </a:solidFill>
                </a:rPr>
                <a:t>)</a:t>
              </a:r>
              <a:r>
                <a:rPr lang="it-IT" sz="2400" dirty="0"/>
                <a:t> il numero di attività in </a:t>
              </a:r>
              <a:r>
                <a:rPr lang="it-IT" sz="2400" b="1" i="1" dirty="0">
                  <a:solidFill>
                    <a:srgbClr val="FF0000"/>
                  </a:solidFill>
                </a:rPr>
                <a:t>A</a:t>
              </a:r>
              <a:r>
                <a:rPr lang="it-IT" sz="2400" dirty="0">
                  <a:solidFill>
                    <a:srgbClr val="FF0000"/>
                  </a:solidFill>
                </a:rPr>
                <a:t> </a:t>
              </a:r>
              <a:r>
                <a:rPr lang="it-IT" sz="2400" dirty="0"/>
                <a:t>con scadenza minore o uguale a </a:t>
              </a:r>
              <a:r>
                <a:rPr lang="it-IT" sz="2400" b="1" i="1" dirty="0" smtClean="0">
                  <a:solidFill>
                    <a:srgbClr val="FF0000"/>
                  </a:solidFill>
                </a:rPr>
                <a:t>t</a:t>
              </a:r>
              <a:endParaRPr lang="it-IT" sz="2400" dirty="0">
                <a:solidFill>
                  <a:srgbClr val="FF0000"/>
                </a:solidFill>
              </a:endParaRPr>
            </a:p>
            <a:p>
              <a:pPr>
                <a:spcBef>
                  <a:spcPct val="50000"/>
                </a:spcBef>
              </a:pPr>
              <a:r>
                <a:rPr lang="it-IT" sz="2400" dirty="0"/>
                <a:t>Allora le seguenti asserzioni sono equivalenti:</a:t>
              </a:r>
            </a:p>
          </p:txBody>
        </p:sp>
        <p:sp>
          <p:nvSpPr>
            <p:cNvPr id="749573" name="Text Box 5"/>
            <p:cNvSpPr txBox="1">
              <a:spLocks noChangeArrowheads="1"/>
            </p:cNvSpPr>
            <p:nvPr/>
          </p:nvSpPr>
          <p:spPr bwMode="auto">
            <a:xfrm>
              <a:off x="416" y="2208"/>
              <a:ext cx="5408" cy="1221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7432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32004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6576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4114800" indent="-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AutoNum type="arabicPeriod"/>
              </a:pPr>
              <a:r>
                <a:rPr lang="it-IT" dirty="0">
                  <a:latin typeface="+mn-lt"/>
                </a:rPr>
                <a:t> </a:t>
              </a:r>
              <a:r>
                <a:rPr lang="it-IT" b="1" i="1" dirty="0">
                  <a:latin typeface="+mn-lt"/>
                </a:rPr>
                <a:t>A</a:t>
              </a:r>
              <a:r>
                <a:rPr lang="it-IT" dirty="0">
                  <a:latin typeface="+mn-lt"/>
                </a:rPr>
                <a:t> è </a:t>
              </a:r>
              <a:r>
                <a:rPr lang="it-IT" dirty="0" smtClean="0">
                  <a:latin typeface="+mn-lt"/>
                </a:rPr>
                <a:t>indipendente</a:t>
              </a:r>
              <a:endParaRPr lang="it-IT" dirty="0">
                <a:latin typeface="+mn-lt"/>
              </a:endParaRPr>
            </a:p>
            <a:p>
              <a:pPr>
                <a:spcBef>
                  <a:spcPct val="50000"/>
                </a:spcBef>
                <a:buFontTx/>
                <a:buAutoNum type="arabicPeriod"/>
              </a:pPr>
              <a:r>
                <a:rPr lang="it-IT" dirty="0">
                  <a:latin typeface="+mn-lt"/>
                </a:rPr>
                <a:t> </a:t>
              </a:r>
              <a:r>
                <a:rPr lang="it-IT" b="1" i="1" dirty="0">
                  <a:latin typeface="+mn-lt"/>
                </a:rPr>
                <a:t>N</a:t>
              </a:r>
              <a:r>
                <a:rPr lang="it-IT" b="1" i="1" baseline="-25000" dirty="0">
                  <a:latin typeface="+mn-lt"/>
                </a:rPr>
                <a:t>t </a:t>
              </a:r>
              <a:r>
                <a:rPr lang="it-IT" b="1" dirty="0">
                  <a:latin typeface="+mn-lt"/>
                </a:rPr>
                <a:t>(</a:t>
              </a:r>
              <a:r>
                <a:rPr lang="it-IT" b="1" i="1" dirty="0">
                  <a:latin typeface="+mn-lt"/>
                </a:rPr>
                <a:t>A</a:t>
              </a:r>
              <a:r>
                <a:rPr lang="it-IT" b="1" dirty="0">
                  <a:latin typeface="+mn-lt"/>
                </a:rPr>
                <a:t>) </a:t>
              </a:r>
              <a:r>
                <a:rPr lang="it-IT" b="1" dirty="0">
                  <a:latin typeface="+mn-lt"/>
                  <a:sym typeface="Symbol" charset="0"/>
                </a:rPr>
                <a:t></a:t>
              </a:r>
              <a:r>
                <a:rPr lang="it-IT" b="1" i="1" dirty="0">
                  <a:latin typeface="+mn-lt"/>
                  <a:sym typeface="Symbol" charset="0"/>
                </a:rPr>
                <a:t> t</a:t>
              </a:r>
              <a:r>
                <a:rPr lang="it-IT" dirty="0">
                  <a:latin typeface="+mn-lt"/>
                </a:rPr>
                <a:t>  per ogni </a:t>
              </a:r>
              <a:r>
                <a:rPr lang="it-IT" b="1" i="1" dirty="0">
                  <a:latin typeface="+mn-lt"/>
                </a:rPr>
                <a:t>t = </a:t>
              </a:r>
              <a:r>
                <a:rPr lang="it-IT" b="1" dirty="0">
                  <a:latin typeface="+mn-lt"/>
                </a:rPr>
                <a:t>1, 2, ... , </a:t>
              </a:r>
              <a:r>
                <a:rPr lang="it-IT" b="1" i="1" dirty="0" err="1" smtClean="0">
                  <a:latin typeface="+mn-lt"/>
                </a:rPr>
                <a:t>n</a:t>
              </a:r>
              <a:endParaRPr lang="it-IT" dirty="0">
                <a:latin typeface="+mn-lt"/>
              </a:endParaRPr>
            </a:p>
            <a:p>
              <a:pPr>
                <a:spcBef>
                  <a:spcPct val="50000"/>
                </a:spcBef>
                <a:buFontTx/>
                <a:buAutoNum type="arabicPeriod"/>
              </a:pPr>
              <a:r>
                <a:rPr lang="it-IT" dirty="0">
                  <a:latin typeface="+mn-lt"/>
                </a:rPr>
                <a:t>Se le attività in </a:t>
              </a:r>
              <a:r>
                <a:rPr lang="it-IT" b="1" i="1" dirty="0">
                  <a:latin typeface="+mn-lt"/>
                </a:rPr>
                <a:t>A</a:t>
              </a:r>
              <a:r>
                <a:rPr lang="it-IT" dirty="0">
                  <a:latin typeface="+mn-lt"/>
                </a:rPr>
                <a:t> sono schedulate in ordine di    scadenza nessuna di esse risulta in </a:t>
              </a:r>
              <a:r>
                <a:rPr lang="it-IT" dirty="0" smtClean="0">
                  <a:latin typeface="+mn-lt"/>
                </a:rPr>
                <a:t>ritardo</a:t>
              </a:r>
              <a:endParaRPr lang="it-IT" dirty="0">
                <a:latin typeface="+mn-lt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Schedulazione di attività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594" name="Text Box 2"/>
          <p:cNvSpPr txBox="1">
            <a:spLocks noChangeArrowheads="1"/>
          </p:cNvSpPr>
          <p:nvPr/>
        </p:nvSpPr>
        <p:spPr bwMode="auto">
          <a:xfrm>
            <a:off x="611560" y="1412776"/>
            <a:ext cx="7696200" cy="120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Se </a:t>
            </a:r>
            <a:r>
              <a:rPr lang="it-IT" sz="2400" b="1" i="1" dirty="0" smtClean="0">
                <a:solidFill>
                  <a:srgbClr val="FF0000"/>
                </a:solidFill>
              </a:rPr>
              <a:t>N</a:t>
            </a:r>
            <a:r>
              <a:rPr lang="it-IT" sz="2400" b="1" i="1" baseline="-25000" dirty="0" smtClean="0">
                <a:solidFill>
                  <a:srgbClr val="FF0000"/>
                </a:solidFill>
              </a:rPr>
              <a:t>t</a:t>
            </a:r>
            <a:r>
              <a:rPr lang="it-IT" sz="2400" b="1" dirty="0" smtClean="0">
                <a:solidFill>
                  <a:srgbClr val="FF0000"/>
                </a:solidFill>
              </a:rPr>
              <a:t>(</a:t>
            </a:r>
            <a:r>
              <a:rPr lang="it-IT" sz="2400" b="1" i="1" dirty="0">
                <a:solidFill>
                  <a:srgbClr val="FF0000"/>
                </a:solidFill>
              </a:rPr>
              <a:t>A</a:t>
            </a:r>
            <a:r>
              <a:rPr lang="it-IT" sz="2400" b="1" dirty="0">
                <a:solidFill>
                  <a:srgbClr val="FF0000"/>
                </a:solidFill>
              </a:rPr>
              <a:t>)</a:t>
            </a:r>
            <a:r>
              <a:rPr lang="it-IT" sz="2400" b="1" i="1" dirty="0">
                <a:solidFill>
                  <a:srgbClr val="FF0000"/>
                </a:solidFill>
              </a:rPr>
              <a:t> &gt; t </a:t>
            </a:r>
            <a:r>
              <a:rPr lang="it-IT" sz="2400" dirty="0">
                <a:solidFill>
                  <a:srgbClr val="0000FF"/>
                </a:solidFill>
              </a:rPr>
              <a:t>per qualche </a:t>
            </a:r>
            <a:r>
              <a:rPr lang="it-IT" sz="2400" b="1" i="1" dirty="0">
                <a:solidFill>
                  <a:srgbClr val="FF0000"/>
                </a:solidFill>
              </a:rPr>
              <a:t>t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allora non vi è modo di ordinare tali </a:t>
            </a:r>
            <a:r>
              <a:rPr lang="it-IT" sz="2400" b="1" i="1" dirty="0" smtClean="0">
                <a:solidFill>
                  <a:srgbClr val="FF0000"/>
                </a:solidFill>
              </a:rPr>
              <a:t>N</a:t>
            </a:r>
            <a:r>
              <a:rPr lang="it-IT" sz="2400" b="1" i="1" baseline="-25000" dirty="0" smtClean="0">
                <a:solidFill>
                  <a:srgbClr val="FF0000"/>
                </a:solidFill>
              </a:rPr>
              <a:t>t</a:t>
            </a:r>
            <a:r>
              <a:rPr lang="it-IT" sz="2400" b="1" dirty="0" smtClean="0">
                <a:solidFill>
                  <a:srgbClr val="FF0000"/>
                </a:solidFill>
              </a:rPr>
              <a:t>(</a:t>
            </a:r>
            <a:r>
              <a:rPr lang="it-IT" sz="2400" b="1" i="1" dirty="0">
                <a:solidFill>
                  <a:srgbClr val="FF0000"/>
                </a:solidFill>
              </a:rPr>
              <a:t>A</a:t>
            </a:r>
            <a:r>
              <a:rPr lang="it-IT" sz="2400" b="1" dirty="0">
                <a:solidFill>
                  <a:srgbClr val="FF0000"/>
                </a:solidFill>
              </a:rPr>
              <a:t>)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attività in modo che nessuna sia in ritardo. Quindi 1 implica 2. </a:t>
            </a:r>
          </a:p>
        </p:txBody>
      </p:sp>
      <p:sp>
        <p:nvSpPr>
          <p:cNvPr id="750595" name="Text Box 3"/>
          <p:cNvSpPr txBox="1">
            <a:spLocks noChangeArrowheads="1"/>
          </p:cNvSpPr>
          <p:nvPr/>
        </p:nvSpPr>
        <p:spPr bwMode="auto">
          <a:xfrm>
            <a:off x="611560" y="2780928"/>
            <a:ext cx="79248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400" dirty="0">
                <a:solidFill>
                  <a:srgbClr val="0000FF"/>
                </a:solidFill>
              </a:rPr>
              <a:t>Supponiamo valga la 2 e ordiniamo le attività in </a:t>
            </a:r>
            <a:r>
              <a:rPr lang="it-IT" sz="2400" b="1" i="1" dirty="0">
                <a:solidFill>
                  <a:srgbClr val="FF0000"/>
                </a:solidFill>
              </a:rPr>
              <a:t>A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per ordine di scadenza. </a:t>
            </a:r>
          </a:p>
          <a:p>
            <a:r>
              <a:rPr lang="it-IT" sz="2400" dirty="0">
                <a:solidFill>
                  <a:srgbClr val="0000FF"/>
                </a:solidFill>
              </a:rPr>
              <a:t>Sia </a:t>
            </a:r>
            <a:r>
              <a:rPr lang="it-IT" sz="2400" b="1" i="1" dirty="0">
                <a:solidFill>
                  <a:srgbClr val="FF0000"/>
                </a:solidFill>
              </a:rPr>
              <a:t>t = d</a:t>
            </a:r>
            <a:r>
              <a:rPr lang="it-IT" sz="2400" b="1" i="1" baseline="-25000" dirty="0">
                <a:solidFill>
                  <a:srgbClr val="FF0000"/>
                </a:solidFill>
              </a:rPr>
              <a:t>i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la scadenza della </a:t>
            </a:r>
            <a:r>
              <a:rPr lang="it-IT" sz="2400" b="1" i="1" dirty="0">
                <a:solidFill>
                  <a:srgbClr val="0000FF"/>
                </a:solidFill>
              </a:rPr>
              <a:t>i</a:t>
            </a:r>
            <a:r>
              <a:rPr lang="it-IT" sz="2400" dirty="0">
                <a:solidFill>
                  <a:srgbClr val="0000FF"/>
                </a:solidFill>
              </a:rPr>
              <a:t>-esima attività. </a:t>
            </a:r>
          </a:p>
          <a:p>
            <a:r>
              <a:rPr lang="it-IT" sz="2400" dirty="0">
                <a:solidFill>
                  <a:srgbClr val="0000FF"/>
                </a:solidFill>
              </a:rPr>
              <a:t>Siccome </a:t>
            </a:r>
            <a:r>
              <a:rPr lang="it-IT" sz="2400" b="1" i="1" dirty="0" smtClean="0">
                <a:solidFill>
                  <a:srgbClr val="FF0000"/>
                </a:solidFill>
              </a:rPr>
              <a:t>N</a:t>
            </a:r>
            <a:r>
              <a:rPr lang="it-IT" sz="2400" b="1" i="1" baseline="-25000" dirty="0" smtClean="0">
                <a:solidFill>
                  <a:srgbClr val="FF0000"/>
                </a:solidFill>
              </a:rPr>
              <a:t>t</a:t>
            </a:r>
            <a:r>
              <a:rPr lang="it-IT" sz="2400" b="1" dirty="0" smtClean="0">
                <a:solidFill>
                  <a:srgbClr val="FF0000"/>
                </a:solidFill>
              </a:rPr>
              <a:t>(</a:t>
            </a:r>
            <a:r>
              <a:rPr lang="it-IT" sz="2400" b="1" i="1" dirty="0">
                <a:solidFill>
                  <a:srgbClr val="FF0000"/>
                </a:solidFill>
              </a:rPr>
              <a:t>A</a:t>
            </a:r>
            <a:r>
              <a:rPr lang="it-IT" sz="2400" b="1" dirty="0">
                <a:solidFill>
                  <a:srgbClr val="FF0000"/>
                </a:solidFill>
              </a:rPr>
              <a:t>) </a:t>
            </a:r>
            <a:r>
              <a:rPr lang="it-IT" sz="2400" b="1" dirty="0">
                <a:solidFill>
                  <a:srgbClr val="FF0000"/>
                </a:solidFill>
                <a:sym typeface="Symbol" charset="0"/>
              </a:rPr>
              <a:t>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 t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>
                <a:solidFill>
                  <a:srgbClr val="0000FF"/>
                </a:solidFill>
              </a:rPr>
              <a:t>allora </a:t>
            </a:r>
            <a:r>
              <a:rPr lang="it-IT" sz="2400" b="1" i="1" dirty="0">
                <a:solidFill>
                  <a:srgbClr val="FF0000"/>
                </a:solidFill>
              </a:rPr>
              <a:t>i </a:t>
            </a:r>
            <a:r>
              <a:rPr lang="it-IT" sz="2400" b="1" dirty="0">
                <a:solidFill>
                  <a:srgbClr val="FF0000"/>
                </a:solidFill>
                <a:sym typeface="Symbol" charset="0"/>
              </a:rPr>
              <a:t></a:t>
            </a:r>
            <a:r>
              <a:rPr lang="it-IT" sz="2400" b="1" i="1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sz="2400" b="1" i="1" dirty="0">
                <a:solidFill>
                  <a:srgbClr val="0000FF"/>
                </a:solidFill>
                <a:sym typeface="Symbol" charset="0"/>
              </a:rPr>
              <a:t>t</a:t>
            </a:r>
            <a:r>
              <a:rPr lang="it-IT" sz="2400" dirty="0">
                <a:solidFill>
                  <a:srgbClr val="0000FF"/>
                </a:solidFill>
              </a:rPr>
              <a:t> e la attività </a:t>
            </a:r>
            <a:r>
              <a:rPr lang="it-IT" sz="2400" b="1" i="1" dirty="0">
                <a:solidFill>
                  <a:srgbClr val="0000FF"/>
                </a:solidFill>
              </a:rPr>
              <a:t>i</a:t>
            </a:r>
            <a:r>
              <a:rPr lang="it-IT" sz="2400" dirty="0">
                <a:solidFill>
                  <a:srgbClr val="0000FF"/>
                </a:solidFill>
              </a:rPr>
              <a:t>-esima è in orario. Quindi 2 implica 3.</a:t>
            </a:r>
          </a:p>
        </p:txBody>
      </p:sp>
      <p:sp>
        <p:nvSpPr>
          <p:cNvPr id="750596" name="Text Box 4"/>
          <p:cNvSpPr txBox="1">
            <a:spLocks noChangeArrowheads="1"/>
          </p:cNvSpPr>
          <p:nvPr/>
        </p:nvSpPr>
        <p:spPr bwMode="auto">
          <a:xfrm>
            <a:off x="609600" y="4724400"/>
            <a:ext cx="8153400" cy="120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>
                <a:solidFill>
                  <a:srgbClr val="0000FF"/>
                </a:solidFill>
              </a:rPr>
              <a:t>Se vale 3 in ogni schedulazione che inizi con le attività in </a:t>
            </a:r>
            <a:r>
              <a:rPr lang="it-IT" sz="2400" b="1" i="1">
                <a:solidFill>
                  <a:srgbClr val="0000FF"/>
                </a:solidFill>
              </a:rPr>
              <a:t>A</a:t>
            </a:r>
            <a:r>
              <a:rPr lang="it-IT" sz="2400">
                <a:solidFill>
                  <a:srgbClr val="0000FF"/>
                </a:solidFill>
              </a:rPr>
              <a:t> ordinate per scadenza nessuna attività in </a:t>
            </a:r>
            <a:r>
              <a:rPr lang="it-IT" sz="2400" b="1" i="1">
                <a:solidFill>
                  <a:srgbClr val="0000FF"/>
                </a:solidFill>
              </a:rPr>
              <a:t>A</a:t>
            </a:r>
            <a:r>
              <a:rPr lang="it-IT" sz="2400">
                <a:solidFill>
                  <a:srgbClr val="0000FF"/>
                </a:solidFill>
              </a:rPr>
              <a:t> è in ritardo. Quindi 3 implica 1.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Schedulazione di attività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618" name="Text Box 2"/>
          <p:cNvSpPr txBox="1">
            <a:spLocks noChangeArrowheads="1"/>
          </p:cNvSpPr>
          <p:nvPr/>
        </p:nvSpPr>
        <p:spPr bwMode="auto">
          <a:xfrm>
            <a:off x="323528" y="1700808"/>
            <a:ext cx="8540055" cy="452431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it-IT" sz="2400" b="1" i="1" dirty="0" err="1"/>
              <a:t>IndipTest</a:t>
            </a:r>
            <a:r>
              <a:rPr lang="it-IT" sz="2400" b="1" dirty="0"/>
              <a:t>(</a:t>
            </a:r>
            <a:r>
              <a:rPr lang="it-IT" sz="2400" b="1" i="1" dirty="0"/>
              <a:t>I</a:t>
            </a:r>
            <a:r>
              <a:rPr lang="it-IT" sz="2400" b="1" dirty="0"/>
              <a:t>, </a:t>
            </a:r>
            <a:r>
              <a:rPr lang="it-IT" sz="2400" b="1" i="1" dirty="0"/>
              <a:t>k</a:t>
            </a:r>
            <a:r>
              <a:rPr lang="it-IT" sz="2400" b="1" dirty="0"/>
              <a:t>, </a:t>
            </a:r>
            <a:r>
              <a:rPr lang="it-IT" sz="2400" b="1" i="1" dirty="0"/>
              <a:t>d</a:t>
            </a:r>
            <a:r>
              <a:rPr lang="it-IT" sz="2400" b="1" dirty="0"/>
              <a:t>)	</a:t>
            </a:r>
            <a:r>
              <a:rPr lang="it-IT" sz="2400" b="1" dirty="0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400" b="1" dirty="0">
                <a:solidFill>
                  <a:srgbClr val="0000CC"/>
                </a:solidFill>
                <a:sym typeface="Symbol" charset="0"/>
              </a:rPr>
              <a:t> </a:t>
            </a:r>
            <a:r>
              <a:rPr lang="it-IT" sz="2400" b="1" u="sng" dirty="0">
                <a:solidFill>
                  <a:srgbClr val="0000CC"/>
                </a:solidFill>
              </a:rPr>
              <a:t>PRE</a:t>
            </a:r>
            <a:r>
              <a:rPr lang="it-IT" sz="2400" b="1" dirty="0">
                <a:solidFill>
                  <a:srgbClr val="0000CC"/>
                </a:solidFill>
              </a:rPr>
              <a:t>: </a:t>
            </a:r>
            <a:r>
              <a:rPr lang="it-IT" sz="2400" b="1" i="1" dirty="0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sz="2400" b="1" dirty="0">
                <a:solidFill>
                  <a:srgbClr val="0000CC"/>
                </a:solidFill>
                <a:sym typeface="Symbol" charset="0"/>
              </a:rPr>
              <a:t>[1..</a:t>
            </a:r>
            <a:r>
              <a:rPr lang="it-IT" sz="2400" b="1" i="1" dirty="0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sz="2400" b="1" dirty="0">
                <a:solidFill>
                  <a:srgbClr val="0000CC"/>
                </a:solidFill>
                <a:sym typeface="Symbol" charset="0"/>
              </a:rPr>
              <a:t>] sono gli indici di </a:t>
            </a:r>
            <a:r>
              <a:rPr lang="it-IT" sz="2400" b="1" i="1" dirty="0" smtClean="0">
                <a:solidFill>
                  <a:srgbClr val="0000CC"/>
                </a:solidFill>
                <a:sym typeface="Symbol" charset="0"/>
              </a:rPr>
              <a:t>k</a:t>
            </a:r>
          </a:p>
          <a:p>
            <a:r>
              <a:rPr lang="it-IT" sz="2400" b="1" dirty="0" smtClean="0">
                <a:solidFill>
                  <a:srgbClr val="0000CC"/>
                </a:solidFill>
                <a:sym typeface="Symbol" charset="0"/>
              </a:rPr>
              <a:t>    			attività scelte </a:t>
            </a:r>
            <a:r>
              <a:rPr lang="it-IT" sz="2400" b="1" dirty="0">
                <a:solidFill>
                  <a:srgbClr val="0000CC"/>
                </a:solidFill>
                <a:sym typeface="Symbol" charset="0"/>
              </a:rPr>
              <a:t>tra le </a:t>
            </a:r>
            <a:r>
              <a:rPr lang="it-IT" sz="2400" dirty="0">
                <a:solidFill>
                  <a:srgbClr val="0000CC"/>
                </a:solidFill>
              </a:rPr>
              <a:t>{</a:t>
            </a:r>
            <a:r>
              <a:rPr lang="it-IT" sz="2400" b="1" i="1" dirty="0">
                <a:solidFill>
                  <a:srgbClr val="0000CC"/>
                </a:solidFill>
              </a:rPr>
              <a:t>a</a:t>
            </a:r>
            <a:r>
              <a:rPr lang="it-IT" sz="2400" b="1" i="1" baseline="-25000" dirty="0">
                <a:solidFill>
                  <a:srgbClr val="0000CC"/>
                </a:solidFill>
              </a:rPr>
              <a:t>1</a:t>
            </a:r>
            <a:r>
              <a:rPr lang="it-IT" sz="2400" dirty="0">
                <a:solidFill>
                  <a:srgbClr val="0000CC"/>
                </a:solidFill>
              </a:rPr>
              <a:t>, </a:t>
            </a:r>
            <a:r>
              <a:rPr lang="it-IT" sz="2400" b="1" i="1" dirty="0">
                <a:solidFill>
                  <a:srgbClr val="0000CC"/>
                </a:solidFill>
              </a:rPr>
              <a:t>a</a:t>
            </a:r>
            <a:r>
              <a:rPr lang="it-IT" sz="2400" b="1" i="1" baseline="-25000" dirty="0">
                <a:solidFill>
                  <a:srgbClr val="0000CC"/>
                </a:solidFill>
              </a:rPr>
              <a:t>2</a:t>
            </a:r>
            <a:r>
              <a:rPr lang="it-IT" sz="2400" dirty="0">
                <a:solidFill>
                  <a:srgbClr val="0000CC"/>
                </a:solidFill>
              </a:rPr>
              <a:t>,..., </a:t>
            </a:r>
            <a:r>
              <a:rPr lang="it-IT" sz="2400" b="1" i="1" dirty="0">
                <a:solidFill>
                  <a:srgbClr val="0000CC"/>
                </a:solidFill>
              </a:rPr>
              <a:t>a</a:t>
            </a:r>
            <a:r>
              <a:rPr lang="it-IT" sz="2400" b="1" i="1" baseline="-25000" dirty="0">
                <a:solidFill>
                  <a:srgbClr val="0000CC"/>
                </a:solidFill>
              </a:rPr>
              <a:t>n</a:t>
            </a:r>
            <a:r>
              <a:rPr lang="it-IT" sz="2400" dirty="0">
                <a:solidFill>
                  <a:srgbClr val="0000CC"/>
                </a:solidFill>
              </a:rPr>
              <a:t>}</a:t>
            </a:r>
            <a:r>
              <a:rPr lang="it-IT" sz="2400" dirty="0"/>
              <a:t> </a:t>
            </a:r>
            <a:endParaRPr lang="it-IT" sz="2400" b="1" dirty="0">
              <a:solidFill>
                <a:srgbClr val="0000CC"/>
              </a:solidFill>
            </a:endParaRPr>
          </a:p>
          <a:p>
            <a:r>
              <a:rPr lang="it-IT" sz="2400" b="1" dirty="0">
                <a:sym typeface="Symbol" charset="0"/>
              </a:rPr>
              <a:t>   for </a:t>
            </a:r>
            <a:r>
              <a:rPr lang="it-IT" sz="2400" b="1" i="1" dirty="0">
                <a:sym typeface="Symbol" charset="0"/>
              </a:rPr>
              <a:t>t</a:t>
            </a:r>
            <a:r>
              <a:rPr lang="it-IT" sz="2400" b="1" dirty="0">
                <a:sym typeface="Symbol" charset="0"/>
              </a:rPr>
              <a:t>  0 to </a:t>
            </a:r>
            <a:r>
              <a:rPr lang="it-IT" sz="2400" b="1" i="1" dirty="0">
                <a:sym typeface="Symbol" charset="0"/>
              </a:rPr>
              <a:t>k</a:t>
            </a:r>
            <a:r>
              <a:rPr lang="it-IT" sz="2400" b="1" dirty="0">
                <a:sym typeface="Symbol" charset="0"/>
              </a:rPr>
              <a:t> do </a:t>
            </a:r>
            <a:r>
              <a:rPr lang="it-IT" sz="2400" b="1" i="1" dirty="0">
                <a:sym typeface="Symbol" charset="0"/>
              </a:rPr>
              <a:t>N</a:t>
            </a:r>
            <a:r>
              <a:rPr lang="it-IT" sz="2400" b="1" i="1" baseline="-25000" dirty="0">
                <a:sym typeface="Symbol" charset="0"/>
              </a:rPr>
              <a:t>t</a:t>
            </a:r>
            <a:r>
              <a:rPr lang="it-IT" sz="2400" b="1" dirty="0">
                <a:sym typeface="Symbol" charset="0"/>
              </a:rPr>
              <a:t>  0</a:t>
            </a:r>
          </a:p>
          <a:p>
            <a:r>
              <a:rPr lang="it-IT" sz="2400" b="1" dirty="0">
                <a:sym typeface="Symbol" charset="0"/>
              </a:rPr>
              <a:t>   for </a:t>
            </a:r>
            <a:r>
              <a:rPr lang="it-IT" sz="2400" b="1" i="1" dirty="0" err="1">
                <a:sym typeface="Symbol" charset="0"/>
              </a:rPr>
              <a:t>j</a:t>
            </a:r>
            <a:r>
              <a:rPr lang="it-IT" sz="2400" b="1" dirty="0">
                <a:sym typeface="Symbol" charset="0"/>
              </a:rPr>
              <a:t>  1 to </a:t>
            </a:r>
            <a:r>
              <a:rPr lang="it-IT" sz="2400" b="1" i="1" dirty="0">
                <a:sym typeface="Symbol" charset="0"/>
              </a:rPr>
              <a:t>k</a:t>
            </a:r>
            <a:r>
              <a:rPr lang="it-IT" sz="2400" b="1" dirty="0">
                <a:sym typeface="Symbol" charset="0"/>
              </a:rPr>
              <a:t> do </a:t>
            </a:r>
          </a:p>
          <a:p>
            <a:r>
              <a:rPr lang="it-IT" sz="2400" b="1" dirty="0">
                <a:sym typeface="Symbol" charset="0"/>
              </a:rPr>
              <a:t>      </a:t>
            </a:r>
            <a:r>
              <a:rPr lang="it-IT" sz="2400" b="1" i="1" dirty="0">
                <a:sym typeface="Symbol" charset="0"/>
              </a:rPr>
              <a:t>d</a:t>
            </a:r>
            <a:r>
              <a:rPr lang="it-IT" sz="2400" b="1" dirty="0">
                <a:sym typeface="Symbol" charset="0"/>
              </a:rPr>
              <a:t>  </a:t>
            </a:r>
            <a:r>
              <a:rPr lang="it-IT" sz="2400" b="1" i="1" dirty="0" err="1">
                <a:sym typeface="Symbol" charset="0"/>
              </a:rPr>
              <a:t>d</a:t>
            </a:r>
            <a:r>
              <a:rPr lang="it-IT" sz="2400" b="1" i="1" baseline="-25000" dirty="0" err="1">
                <a:sym typeface="Symbol" charset="0"/>
              </a:rPr>
              <a:t>I</a:t>
            </a:r>
            <a:r>
              <a:rPr lang="it-IT" sz="2400" b="1" baseline="-25000" dirty="0">
                <a:sym typeface="Symbol" charset="0"/>
              </a:rPr>
              <a:t> [</a:t>
            </a:r>
            <a:r>
              <a:rPr lang="it-IT" sz="2400" b="1" i="1" baseline="-25000" dirty="0" err="1">
                <a:sym typeface="Symbol" charset="0"/>
              </a:rPr>
              <a:t>j</a:t>
            </a:r>
            <a:r>
              <a:rPr lang="it-IT" sz="2400" b="1" baseline="-25000" dirty="0">
                <a:sym typeface="Symbol" charset="0"/>
              </a:rPr>
              <a:t>]</a:t>
            </a:r>
            <a:r>
              <a:rPr lang="it-IT" sz="2400" b="1" dirty="0">
                <a:sym typeface="Symbol" charset="0"/>
              </a:rPr>
              <a:t> </a:t>
            </a:r>
          </a:p>
          <a:p>
            <a:r>
              <a:rPr lang="it-IT" sz="2400" b="1" dirty="0">
                <a:sym typeface="Symbol" charset="0"/>
              </a:rPr>
              <a:t>      </a:t>
            </a:r>
            <a:r>
              <a:rPr lang="it-IT" sz="2400" b="1" dirty="0" err="1">
                <a:sym typeface="Symbol" charset="0"/>
              </a:rPr>
              <a:t>if</a:t>
            </a:r>
            <a:r>
              <a:rPr lang="it-IT" sz="2400" b="1" dirty="0">
                <a:sym typeface="Symbol" charset="0"/>
              </a:rPr>
              <a:t> </a:t>
            </a:r>
            <a:r>
              <a:rPr lang="it-IT" sz="2400" b="1" i="1" dirty="0">
                <a:sym typeface="Symbol" charset="0"/>
              </a:rPr>
              <a:t>d</a:t>
            </a:r>
            <a:r>
              <a:rPr lang="it-IT" sz="2400" b="1" dirty="0">
                <a:sym typeface="Symbol" charset="0"/>
              </a:rPr>
              <a:t>  </a:t>
            </a:r>
            <a:r>
              <a:rPr lang="it-IT" sz="2400" b="1" i="1" dirty="0">
                <a:sym typeface="Symbol" charset="0"/>
              </a:rPr>
              <a:t>k</a:t>
            </a:r>
            <a:r>
              <a:rPr lang="it-IT" sz="2400" b="1" dirty="0">
                <a:sym typeface="Symbol" charset="0"/>
              </a:rPr>
              <a:t> </a:t>
            </a:r>
            <a:r>
              <a:rPr lang="it-IT" sz="2400" b="1" dirty="0" err="1">
                <a:sym typeface="Symbol" charset="0"/>
              </a:rPr>
              <a:t>then</a:t>
            </a:r>
            <a:r>
              <a:rPr lang="it-IT" sz="2400" b="1" dirty="0">
                <a:sym typeface="Symbol" charset="0"/>
              </a:rPr>
              <a:t> </a:t>
            </a:r>
            <a:r>
              <a:rPr lang="it-IT" sz="2400" b="1" i="1" dirty="0">
                <a:sym typeface="Symbol" charset="0"/>
              </a:rPr>
              <a:t>N</a:t>
            </a:r>
            <a:r>
              <a:rPr lang="it-IT" sz="2400" b="1" i="1" baseline="-25000" dirty="0">
                <a:sym typeface="Symbol" charset="0"/>
              </a:rPr>
              <a:t>d</a:t>
            </a:r>
            <a:r>
              <a:rPr lang="it-IT" sz="2400" b="1" dirty="0">
                <a:sym typeface="Symbol" charset="0"/>
              </a:rPr>
              <a:t>  </a:t>
            </a:r>
            <a:r>
              <a:rPr lang="it-IT" sz="2400" b="1" i="1" dirty="0">
                <a:sym typeface="Symbol" charset="0"/>
              </a:rPr>
              <a:t>N</a:t>
            </a:r>
            <a:r>
              <a:rPr lang="it-IT" sz="2400" b="1" i="1" baseline="-25000" dirty="0">
                <a:sym typeface="Symbol" charset="0"/>
              </a:rPr>
              <a:t>d</a:t>
            </a:r>
            <a:r>
              <a:rPr lang="it-IT" sz="2400" b="1" dirty="0">
                <a:sym typeface="Symbol" charset="0"/>
              </a:rPr>
              <a:t> + 1 </a:t>
            </a:r>
          </a:p>
          <a:p>
            <a:r>
              <a:rPr lang="it-IT" sz="2400" b="1" dirty="0">
                <a:solidFill>
                  <a:srgbClr val="0000CC"/>
                </a:solidFill>
                <a:sym typeface="Symbol" charset="0"/>
              </a:rPr>
              <a:t>   </a:t>
            </a:r>
            <a:r>
              <a:rPr lang="it-IT" sz="2400" b="1" dirty="0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400" b="1" dirty="0">
                <a:solidFill>
                  <a:srgbClr val="0000CC"/>
                </a:solidFill>
                <a:sym typeface="Symbol" charset="0"/>
              </a:rPr>
              <a:t> </a:t>
            </a:r>
            <a:r>
              <a:rPr lang="it-IT" sz="2400" b="1" i="1" dirty="0">
                <a:solidFill>
                  <a:srgbClr val="0000CC"/>
                </a:solidFill>
                <a:sym typeface="Symbol" charset="0"/>
              </a:rPr>
              <a:t>N</a:t>
            </a:r>
            <a:r>
              <a:rPr lang="it-IT" sz="2400" b="1" i="1" baseline="-25000" dirty="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sz="2400" b="1" dirty="0">
                <a:solidFill>
                  <a:srgbClr val="0000CC"/>
                </a:solidFill>
                <a:sym typeface="Symbol" charset="0"/>
              </a:rPr>
              <a:t> = numero attività in </a:t>
            </a:r>
            <a:r>
              <a:rPr lang="it-IT" sz="2400" b="1" i="1" dirty="0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sz="2400" b="1" dirty="0">
                <a:solidFill>
                  <a:srgbClr val="0000CC"/>
                </a:solidFill>
                <a:sym typeface="Symbol" charset="0"/>
              </a:rPr>
              <a:t>[1..</a:t>
            </a:r>
            <a:r>
              <a:rPr lang="it-IT" sz="2400" b="1" i="1" dirty="0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sz="2400" b="1" dirty="0">
                <a:solidFill>
                  <a:srgbClr val="0000CC"/>
                </a:solidFill>
                <a:sym typeface="Symbol" charset="0"/>
              </a:rPr>
              <a:t>] con scadenza = </a:t>
            </a:r>
            <a:r>
              <a:rPr lang="it-IT" sz="2400" b="1" i="1" dirty="0">
                <a:solidFill>
                  <a:srgbClr val="0000CC"/>
                </a:solidFill>
                <a:sym typeface="Symbol" charset="0"/>
              </a:rPr>
              <a:t>t</a:t>
            </a:r>
          </a:p>
          <a:p>
            <a:r>
              <a:rPr lang="it-IT" sz="2400" b="1" dirty="0">
                <a:sym typeface="Symbol" charset="0"/>
              </a:rPr>
              <a:t>   for </a:t>
            </a:r>
            <a:r>
              <a:rPr lang="it-IT" sz="2400" b="1" i="1" dirty="0">
                <a:sym typeface="Symbol" charset="0"/>
              </a:rPr>
              <a:t>t</a:t>
            </a:r>
            <a:r>
              <a:rPr lang="it-IT" sz="2400" b="1" dirty="0">
                <a:sym typeface="Symbol" charset="0"/>
              </a:rPr>
              <a:t>  1 to </a:t>
            </a:r>
            <a:r>
              <a:rPr lang="it-IT" sz="2400" b="1" i="1" dirty="0">
                <a:sym typeface="Symbol" charset="0"/>
              </a:rPr>
              <a:t>k</a:t>
            </a:r>
            <a:r>
              <a:rPr lang="it-IT" sz="2400" b="1" dirty="0">
                <a:sym typeface="Symbol" charset="0"/>
              </a:rPr>
              <a:t> do</a:t>
            </a:r>
          </a:p>
          <a:p>
            <a:r>
              <a:rPr lang="it-IT" sz="2400" b="1" dirty="0">
                <a:sym typeface="Symbol" charset="0"/>
              </a:rPr>
              <a:t>      </a:t>
            </a:r>
            <a:r>
              <a:rPr lang="it-IT" sz="2400" b="1" i="1" dirty="0">
                <a:sym typeface="Symbol" charset="0"/>
              </a:rPr>
              <a:t>N</a:t>
            </a:r>
            <a:r>
              <a:rPr lang="it-IT" sz="2400" b="1" i="1" baseline="-25000" dirty="0">
                <a:sym typeface="Symbol" charset="0"/>
              </a:rPr>
              <a:t>t</a:t>
            </a:r>
            <a:r>
              <a:rPr lang="it-IT" sz="2400" b="1" dirty="0">
                <a:sym typeface="Symbol" charset="0"/>
              </a:rPr>
              <a:t>  </a:t>
            </a:r>
            <a:r>
              <a:rPr lang="it-IT" sz="2400" b="1" i="1" dirty="0">
                <a:sym typeface="Symbol" charset="0"/>
              </a:rPr>
              <a:t>N</a:t>
            </a:r>
            <a:r>
              <a:rPr lang="it-IT" sz="2400" b="1" i="1" baseline="-25000" dirty="0">
                <a:sym typeface="Symbol" charset="0"/>
              </a:rPr>
              <a:t>t</a:t>
            </a:r>
            <a:r>
              <a:rPr lang="it-IT" sz="2400" b="1" dirty="0">
                <a:sym typeface="Symbol" charset="0"/>
              </a:rPr>
              <a:t> + </a:t>
            </a:r>
            <a:r>
              <a:rPr lang="it-IT" sz="2400" b="1" i="1" dirty="0">
                <a:sym typeface="Symbol" charset="0"/>
              </a:rPr>
              <a:t>N</a:t>
            </a:r>
            <a:r>
              <a:rPr lang="it-IT" sz="2400" b="1" i="1" baseline="-25000" dirty="0">
                <a:sym typeface="Symbol" charset="0"/>
              </a:rPr>
              <a:t>t</a:t>
            </a:r>
            <a:r>
              <a:rPr lang="it-IT" sz="2400" b="1" baseline="-25000" dirty="0">
                <a:sym typeface="Symbol" charset="0"/>
              </a:rPr>
              <a:t>-1</a:t>
            </a:r>
            <a:r>
              <a:rPr lang="it-IT" sz="2400" b="1" dirty="0">
                <a:sym typeface="Symbol" charset="0"/>
              </a:rPr>
              <a:t> </a:t>
            </a:r>
          </a:p>
          <a:p>
            <a:r>
              <a:rPr lang="it-IT" sz="2400" b="1" dirty="0">
                <a:solidFill>
                  <a:srgbClr val="0000CC"/>
                </a:solidFill>
                <a:sym typeface="Symbol" charset="0"/>
              </a:rPr>
              <a:t>      </a:t>
            </a:r>
            <a:r>
              <a:rPr lang="it-IT" sz="2400" b="1" dirty="0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400" b="1" dirty="0">
                <a:solidFill>
                  <a:srgbClr val="0000CC"/>
                </a:solidFill>
                <a:sym typeface="Symbol" charset="0"/>
              </a:rPr>
              <a:t> </a:t>
            </a:r>
            <a:r>
              <a:rPr lang="it-IT" sz="2400" b="1" i="1" dirty="0">
                <a:solidFill>
                  <a:srgbClr val="0000CC"/>
                </a:solidFill>
                <a:sym typeface="Symbol" charset="0"/>
              </a:rPr>
              <a:t>N</a:t>
            </a:r>
            <a:r>
              <a:rPr lang="it-IT" sz="2400" b="1" i="1" baseline="-25000" dirty="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sz="2400" b="1" dirty="0">
                <a:solidFill>
                  <a:srgbClr val="0000CC"/>
                </a:solidFill>
                <a:sym typeface="Symbol" charset="0"/>
              </a:rPr>
              <a:t> = numero attività in </a:t>
            </a:r>
            <a:r>
              <a:rPr lang="it-IT" sz="2400" b="1" i="1" dirty="0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sz="2400" b="1" dirty="0">
                <a:solidFill>
                  <a:srgbClr val="0000CC"/>
                </a:solidFill>
                <a:sym typeface="Symbol" charset="0"/>
              </a:rPr>
              <a:t>[1..</a:t>
            </a:r>
            <a:r>
              <a:rPr lang="it-IT" sz="2400" b="1" i="1" dirty="0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sz="2400" b="1" dirty="0">
                <a:solidFill>
                  <a:srgbClr val="0000CC"/>
                </a:solidFill>
                <a:sym typeface="Symbol" charset="0"/>
              </a:rPr>
              <a:t>] con scadenza  </a:t>
            </a:r>
            <a:r>
              <a:rPr lang="it-IT" sz="2400" b="1" i="1" dirty="0">
                <a:solidFill>
                  <a:srgbClr val="0000CC"/>
                </a:solidFill>
                <a:sym typeface="Symbol" charset="0"/>
              </a:rPr>
              <a:t>t</a:t>
            </a:r>
            <a:r>
              <a:rPr lang="it-IT" sz="2400" b="1" dirty="0">
                <a:solidFill>
                  <a:srgbClr val="0000CC"/>
                </a:solidFill>
                <a:sym typeface="Symbol" charset="0"/>
              </a:rPr>
              <a:t> </a:t>
            </a:r>
          </a:p>
          <a:p>
            <a:r>
              <a:rPr lang="it-IT" sz="2400" b="1" dirty="0">
                <a:sym typeface="Symbol" charset="0"/>
              </a:rPr>
              <a:t>      </a:t>
            </a:r>
            <a:r>
              <a:rPr lang="it-IT" sz="2400" b="1" dirty="0" err="1">
                <a:sym typeface="Symbol" charset="0"/>
              </a:rPr>
              <a:t>if</a:t>
            </a:r>
            <a:r>
              <a:rPr lang="it-IT" sz="2400" b="1" dirty="0">
                <a:sym typeface="Symbol" charset="0"/>
              </a:rPr>
              <a:t> </a:t>
            </a:r>
            <a:r>
              <a:rPr lang="it-IT" sz="2400" b="1" i="1" dirty="0">
                <a:sym typeface="Symbol" charset="0"/>
              </a:rPr>
              <a:t>N</a:t>
            </a:r>
            <a:r>
              <a:rPr lang="it-IT" sz="2400" b="1" i="1" baseline="-25000" dirty="0">
                <a:sym typeface="Symbol" charset="0"/>
              </a:rPr>
              <a:t>t</a:t>
            </a:r>
            <a:r>
              <a:rPr lang="it-IT" sz="2400" b="1" baseline="-25000" dirty="0">
                <a:sym typeface="Symbol" charset="0"/>
              </a:rPr>
              <a:t> </a:t>
            </a:r>
            <a:r>
              <a:rPr lang="it-IT" sz="2400" b="1" dirty="0">
                <a:sym typeface="Symbol" charset="0"/>
              </a:rPr>
              <a:t>&gt; </a:t>
            </a:r>
            <a:r>
              <a:rPr lang="it-IT" sz="2400" b="1" i="1" dirty="0">
                <a:sym typeface="Symbol" charset="0"/>
              </a:rPr>
              <a:t>t</a:t>
            </a:r>
            <a:r>
              <a:rPr lang="it-IT" sz="2400" b="1" dirty="0">
                <a:sym typeface="Symbol" charset="0"/>
              </a:rPr>
              <a:t> </a:t>
            </a:r>
            <a:r>
              <a:rPr lang="it-IT" sz="2400" b="1" dirty="0" err="1">
                <a:sym typeface="Symbol" charset="0"/>
              </a:rPr>
              <a:t>then</a:t>
            </a:r>
            <a:r>
              <a:rPr lang="it-IT" sz="2400" b="1" dirty="0">
                <a:sym typeface="Symbol" charset="0"/>
              </a:rPr>
              <a:t>  </a:t>
            </a:r>
            <a:r>
              <a:rPr lang="it-IT" sz="2400" b="1" dirty="0" err="1">
                <a:sym typeface="Symbol" charset="0"/>
              </a:rPr>
              <a:t>return</a:t>
            </a:r>
            <a:r>
              <a:rPr lang="it-IT" sz="2400" b="1" dirty="0">
                <a:sym typeface="Symbol" charset="0"/>
              </a:rPr>
              <a:t> </a:t>
            </a:r>
            <a:r>
              <a:rPr lang="it-IT" sz="2400" b="1" i="1" dirty="0">
                <a:sym typeface="Symbol" charset="0"/>
              </a:rPr>
              <a:t>false</a:t>
            </a:r>
          </a:p>
          <a:p>
            <a:r>
              <a:rPr lang="it-IT" sz="2400" b="1" dirty="0">
                <a:sym typeface="Symbol" charset="0"/>
              </a:rPr>
              <a:t>   </a:t>
            </a:r>
            <a:r>
              <a:rPr lang="it-IT" sz="2400" b="1" dirty="0" err="1">
                <a:sym typeface="Symbol" charset="0"/>
              </a:rPr>
              <a:t>return</a:t>
            </a:r>
            <a:r>
              <a:rPr lang="it-IT" sz="2400" b="1" dirty="0">
                <a:sym typeface="Symbol" charset="0"/>
              </a:rPr>
              <a:t> </a:t>
            </a:r>
            <a:r>
              <a:rPr lang="it-IT" sz="2400" b="1" i="1" dirty="0" err="1">
                <a:sym typeface="Symbol" charset="0"/>
              </a:rPr>
              <a:t>true</a:t>
            </a:r>
            <a:endParaRPr lang="it-IT" sz="2400" b="1" i="1" dirty="0">
              <a:sym typeface="Symbol" charset="0"/>
            </a:endParaRPr>
          </a:p>
        </p:txBody>
      </p:sp>
      <p:sp>
        <p:nvSpPr>
          <p:cNvPr id="751619" name="Text Box 3"/>
          <p:cNvSpPr txBox="1">
            <a:spLocks noChangeArrowheads="1"/>
          </p:cNvSpPr>
          <p:nvPr/>
        </p:nvSpPr>
        <p:spPr bwMode="auto">
          <a:xfrm>
            <a:off x="323528" y="1124744"/>
            <a:ext cx="7696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Test di indipendenza: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Schedulazione di attività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716" name="Text Box 4"/>
          <p:cNvSpPr txBox="1">
            <a:spLocks noChangeArrowheads="1"/>
          </p:cNvSpPr>
          <p:nvPr/>
        </p:nvSpPr>
        <p:spPr bwMode="auto">
          <a:xfrm>
            <a:off x="251520" y="1556792"/>
            <a:ext cx="8651875" cy="4401205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 sz="2000" b="1" i="1" dirty="0" err="1"/>
              <a:t>SelAttivita</a:t>
            </a:r>
            <a:r>
              <a:rPr lang="it-IT" sz="2000" b="1" dirty="0"/>
              <a:t>(</a:t>
            </a:r>
            <a:r>
              <a:rPr lang="it-IT" sz="2000" b="1" i="1" dirty="0" err="1"/>
              <a:t>d</a:t>
            </a:r>
            <a:r>
              <a:rPr lang="it-IT" sz="2000" b="1" dirty="0" err="1"/>
              <a:t>,</a:t>
            </a:r>
            <a:r>
              <a:rPr lang="it-IT" sz="2000" b="1" i="1" dirty="0" err="1"/>
              <a:t>w</a:t>
            </a:r>
            <a:r>
              <a:rPr lang="it-IT" sz="2000" b="1" dirty="0" err="1"/>
              <a:t>,</a:t>
            </a:r>
            <a:r>
              <a:rPr lang="it-IT" sz="2000" b="1" i="1" dirty="0" err="1"/>
              <a:t>n</a:t>
            </a:r>
            <a:r>
              <a:rPr lang="it-IT" sz="2000" b="1" dirty="0"/>
              <a:t>)  	</a:t>
            </a:r>
            <a:r>
              <a:rPr lang="it-IT" sz="2000" b="1" dirty="0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000" b="1" dirty="0"/>
              <a:t> </a:t>
            </a:r>
            <a:r>
              <a:rPr lang="it-IT" sz="2000" b="1" u="sng" dirty="0">
                <a:solidFill>
                  <a:srgbClr val="0000CC"/>
                </a:solidFill>
              </a:rPr>
              <a:t>PRE</a:t>
            </a:r>
            <a:r>
              <a:rPr lang="it-IT" sz="2000" b="1" dirty="0">
                <a:solidFill>
                  <a:srgbClr val="0000CC"/>
                </a:solidFill>
              </a:rPr>
              <a:t>: </a:t>
            </a:r>
            <a:r>
              <a:rPr lang="it-IT" sz="2000" b="1" i="1" dirty="0">
                <a:solidFill>
                  <a:srgbClr val="0000CC"/>
                </a:solidFill>
              </a:rPr>
              <a:t>w</a:t>
            </a:r>
            <a:r>
              <a:rPr lang="it-IT" sz="2000" b="1" baseline="-25000" dirty="0">
                <a:solidFill>
                  <a:srgbClr val="0000CC"/>
                </a:solidFill>
              </a:rPr>
              <a:t>1</a:t>
            </a:r>
            <a:r>
              <a:rPr lang="it-IT" sz="2000" b="1" dirty="0">
                <a:solidFill>
                  <a:srgbClr val="0000CC"/>
                </a:solidFill>
              </a:rPr>
              <a:t> </a:t>
            </a:r>
            <a:r>
              <a:rPr lang="it-IT" sz="2000" b="1" dirty="0">
                <a:solidFill>
                  <a:srgbClr val="0000CC"/>
                </a:solidFill>
                <a:sym typeface="Symbol" charset="0"/>
              </a:rPr>
              <a:t> </a:t>
            </a:r>
            <a:r>
              <a:rPr lang="it-IT" sz="2000" b="1" i="1" dirty="0">
                <a:solidFill>
                  <a:srgbClr val="0000CC"/>
                </a:solidFill>
              </a:rPr>
              <a:t>w</a:t>
            </a:r>
            <a:r>
              <a:rPr lang="it-IT" sz="2000" b="1" baseline="-25000" dirty="0">
                <a:solidFill>
                  <a:srgbClr val="0000CC"/>
                </a:solidFill>
              </a:rPr>
              <a:t>2</a:t>
            </a:r>
            <a:r>
              <a:rPr lang="it-IT" sz="2000" b="1" dirty="0">
                <a:solidFill>
                  <a:srgbClr val="0000CC"/>
                </a:solidFill>
              </a:rPr>
              <a:t> </a:t>
            </a:r>
            <a:r>
              <a:rPr lang="it-IT" sz="2000" b="1" dirty="0">
                <a:solidFill>
                  <a:srgbClr val="0000CC"/>
                </a:solidFill>
                <a:sym typeface="Symbol" charset="0"/>
              </a:rPr>
              <a:t> </a:t>
            </a:r>
            <a:r>
              <a:rPr lang="it-IT" sz="2000" b="1" dirty="0">
                <a:solidFill>
                  <a:srgbClr val="0000CC"/>
                </a:solidFill>
              </a:rPr>
              <a:t>... </a:t>
            </a:r>
            <a:r>
              <a:rPr lang="it-IT" sz="2000" b="1" dirty="0">
                <a:solidFill>
                  <a:srgbClr val="0000CC"/>
                </a:solidFill>
                <a:sym typeface="Symbol" charset="0"/>
              </a:rPr>
              <a:t> </a:t>
            </a:r>
            <a:r>
              <a:rPr lang="it-IT" sz="2000" b="1" i="1" dirty="0" err="1">
                <a:solidFill>
                  <a:srgbClr val="0000CC"/>
                </a:solidFill>
              </a:rPr>
              <a:t>w</a:t>
            </a:r>
            <a:r>
              <a:rPr lang="it-IT" sz="2000" b="1" i="1" baseline="-25000" dirty="0" err="1">
                <a:solidFill>
                  <a:srgbClr val="0000CC"/>
                </a:solidFill>
              </a:rPr>
              <a:t>n</a:t>
            </a:r>
            <a:endParaRPr lang="it-IT" sz="2000" b="1" i="1" dirty="0">
              <a:sym typeface="Symbol" charset="0"/>
            </a:endParaRPr>
          </a:p>
          <a:p>
            <a:r>
              <a:rPr lang="it-IT" sz="2000" b="1" dirty="0">
                <a:sym typeface="Symbol" charset="0"/>
              </a:rPr>
              <a:t>   </a:t>
            </a:r>
            <a:r>
              <a:rPr lang="it-IT" sz="2000" b="1" i="1" dirty="0">
                <a:sym typeface="Symbol" charset="0"/>
              </a:rPr>
              <a:t>k</a:t>
            </a:r>
            <a:r>
              <a:rPr lang="it-IT" sz="2000" b="1" dirty="0">
                <a:sym typeface="Symbol" charset="0"/>
              </a:rPr>
              <a:t>  0, </a:t>
            </a:r>
            <a:r>
              <a:rPr lang="it-IT" sz="2000" b="1" i="1" dirty="0">
                <a:sym typeface="Symbol" charset="0"/>
              </a:rPr>
              <a:t>h</a:t>
            </a:r>
            <a:r>
              <a:rPr lang="it-IT" sz="2000" b="1" dirty="0">
                <a:sym typeface="Symbol" charset="0"/>
              </a:rPr>
              <a:t>  </a:t>
            </a:r>
            <a:r>
              <a:rPr lang="it-IT" sz="2000" b="1" i="1" dirty="0">
                <a:sym typeface="Symbol" charset="0"/>
              </a:rPr>
              <a:t>n</a:t>
            </a:r>
            <a:r>
              <a:rPr lang="it-IT" sz="2000" b="1" dirty="0">
                <a:sym typeface="Symbol" charset="0"/>
              </a:rPr>
              <a:t>+1</a:t>
            </a:r>
          </a:p>
          <a:p>
            <a:r>
              <a:rPr lang="it-IT" sz="2000" b="1" dirty="0">
                <a:solidFill>
                  <a:srgbClr val="0000CC"/>
                </a:solidFill>
                <a:sym typeface="Symbol" charset="0"/>
              </a:rPr>
              <a:t>    </a:t>
            </a:r>
            <a:r>
              <a:rPr lang="it-IT" sz="2000" b="1" dirty="0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000" b="1" dirty="0">
                <a:solidFill>
                  <a:srgbClr val="0000CC"/>
                </a:solidFill>
                <a:sym typeface="Symbol" charset="0"/>
              </a:rPr>
              <a:t> </a:t>
            </a:r>
            <a:r>
              <a:rPr lang="it-IT" sz="2000" b="1" i="1" dirty="0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sz="2000" b="1" dirty="0">
                <a:solidFill>
                  <a:srgbClr val="0000CC"/>
                </a:solidFill>
                <a:sym typeface="Symbol" charset="0"/>
              </a:rPr>
              <a:t>[1..</a:t>
            </a:r>
            <a:r>
              <a:rPr lang="it-IT" sz="2000" b="1" i="1" dirty="0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sz="2000" b="1" dirty="0">
                <a:solidFill>
                  <a:srgbClr val="0000CC"/>
                </a:solidFill>
                <a:sym typeface="Symbol" charset="0"/>
              </a:rPr>
              <a:t>] indipendenti e </a:t>
            </a:r>
            <a:r>
              <a:rPr lang="it-IT" sz="2000" b="1" i="1" dirty="0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sz="2000" b="1" dirty="0">
                <a:solidFill>
                  <a:srgbClr val="0000CC"/>
                </a:solidFill>
                <a:sym typeface="Symbol" charset="0"/>
              </a:rPr>
              <a:t>[</a:t>
            </a:r>
            <a:r>
              <a:rPr lang="it-IT" sz="2000" b="1" i="1" dirty="0">
                <a:solidFill>
                  <a:srgbClr val="0000CC"/>
                </a:solidFill>
                <a:sym typeface="Symbol" charset="0"/>
              </a:rPr>
              <a:t>h</a:t>
            </a:r>
            <a:r>
              <a:rPr lang="it-IT" sz="2000" b="1" dirty="0">
                <a:solidFill>
                  <a:srgbClr val="0000CC"/>
                </a:solidFill>
                <a:sym typeface="Symbol" charset="0"/>
              </a:rPr>
              <a:t>..</a:t>
            </a:r>
            <a:r>
              <a:rPr lang="it-IT" sz="2000" b="1" i="1" dirty="0" err="1">
                <a:solidFill>
                  <a:srgbClr val="0000CC"/>
                </a:solidFill>
                <a:sym typeface="Symbol" charset="0"/>
              </a:rPr>
              <a:t>n</a:t>
            </a:r>
            <a:r>
              <a:rPr lang="it-IT" sz="2000" b="1" dirty="0">
                <a:solidFill>
                  <a:srgbClr val="0000CC"/>
                </a:solidFill>
                <a:sym typeface="Symbol" charset="0"/>
              </a:rPr>
              <a:t>] non indipendenti dalle </a:t>
            </a:r>
            <a:r>
              <a:rPr lang="it-IT" sz="2000" b="1" i="1" dirty="0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sz="2000" b="1" dirty="0">
                <a:solidFill>
                  <a:srgbClr val="0000CC"/>
                </a:solidFill>
                <a:sym typeface="Symbol" charset="0"/>
              </a:rPr>
              <a:t>[1..</a:t>
            </a:r>
            <a:r>
              <a:rPr lang="it-IT" sz="2000" b="1" i="1" dirty="0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sz="2000" b="1" dirty="0">
                <a:solidFill>
                  <a:srgbClr val="0000CC"/>
                </a:solidFill>
                <a:sym typeface="Symbol" charset="0"/>
              </a:rPr>
              <a:t>]</a:t>
            </a:r>
            <a:r>
              <a:rPr lang="it-IT" sz="2000" b="1" dirty="0">
                <a:sym typeface="Symbol" charset="0"/>
              </a:rPr>
              <a:t> </a:t>
            </a:r>
          </a:p>
          <a:p>
            <a:r>
              <a:rPr lang="it-IT" sz="2000" b="1" dirty="0">
                <a:sym typeface="Symbol" charset="0"/>
              </a:rPr>
              <a:t>   for </a:t>
            </a:r>
            <a:r>
              <a:rPr lang="it-IT" sz="2000" b="1" i="1" dirty="0">
                <a:sym typeface="Symbol" charset="0"/>
              </a:rPr>
              <a:t>i</a:t>
            </a:r>
            <a:r>
              <a:rPr lang="it-IT" sz="2000" b="1" dirty="0">
                <a:sym typeface="Symbol" charset="0"/>
              </a:rPr>
              <a:t>  1 to </a:t>
            </a:r>
            <a:r>
              <a:rPr lang="it-IT" sz="2000" b="1" i="1" dirty="0" err="1">
                <a:sym typeface="Symbol" charset="0"/>
              </a:rPr>
              <a:t>n</a:t>
            </a:r>
            <a:r>
              <a:rPr lang="it-IT" sz="2000" b="1" dirty="0">
                <a:sym typeface="Symbol" charset="0"/>
              </a:rPr>
              <a:t> do</a:t>
            </a:r>
          </a:p>
          <a:p>
            <a:r>
              <a:rPr lang="it-IT" sz="2000" b="1" dirty="0">
                <a:sym typeface="Symbol" charset="0"/>
              </a:rPr>
              <a:t>      </a:t>
            </a:r>
            <a:r>
              <a:rPr lang="it-IT" sz="2000" b="1" i="1" dirty="0">
                <a:sym typeface="Symbol" charset="0"/>
              </a:rPr>
              <a:t>I</a:t>
            </a:r>
            <a:r>
              <a:rPr lang="it-IT" sz="2000" b="1" dirty="0">
                <a:sym typeface="Symbol" charset="0"/>
              </a:rPr>
              <a:t>[</a:t>
            </a:r>
            <a:r>
              <a:rPr lang="it-IT" sz="2000" b="1" i="1" dirty="0">
                <a:sym typeface="Symbol" charset="0"/>
              </a:rPr>
              <a:t>k</a:t>
            </a:r>
            <a:r>
              <a:rPr lang="it-IT" sz="2000" b="1" dirty="0">
                <a:sym typeface="Symbol" charset="0"/>
              </a:rPr>
              <a:t>+1]  </a:t>
            </a:r>
            <a:r>
              <a:rPr lang="it-IT" sz="2000" b="1" i="1" dirty="0">
                <a:sym typeface="Symbol" charset="0"/>
              </a:rPr>
              <a:t>i</a:t>
            </a:r>
            <a:r>
              <a:rPr lang="it-IT" sz="2000" b="1" dirty="0">
                <a:sym typeface="Symbol" charset="0"/>
              </a:rPr>
              <a:t> 			</a:t>
            </a:r>
            <a:r>
              <a:rPr lang="it-IT" sz="2000" b="1" dirty="0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000" b="1" dirty="0">
                <a:solidFill>
                  <a:srgbClr val="0000CC"/>
                </a:solidFill>
                <a:sym typeface="Symbol" charset="0"/>
              </a:rPr>
              <a:t> provo ad aggiungere i a 						I[1..k] </a:t>
            </a:r>
          </a:p>
          <a:p>
            <a:r>
              <a:rPr lang="it-IT" sz="2000" b="1" dirty="0">
                <a:sym typeface="Symbol" charset="0"/>
              </a:rPr>
              <a:t>      </a:t>
            </a:r>
            <a:r>
              <a:rPr lang="it-IT" sz="2000" b="1" dirty="0" err="1">
                <a:sym typeface="Symbol" charset="0"/>
              </a:rPr>
              <a:t>if</a:t>
            </a:r>
            <a:r>
              <a:rPr lang="it-IT" sz="2000" b="1" dirty="0">
                <a:sym typeface="Symbol" charset="0"/>
              </a:rPr>
              <a:t> </a:t>
            </a:r>
            <a:r>
              <a:rPr lang="it-IT" sz="2000" b="1" i="1" dirty="0" err="1"/>
              <a:t>IndipTest</a:t>
            </a:r>
            <a:r>
              <a:rPr lang="it-IT" sz="2000" b="1" dirty="0">
                <a:sym typeface="Symbol" charset="0"/>
              </a:rPr>
              <a:t>(</a:t>
            </a:r>
            <a:r>
              <a:rPr lang="it-IT" sz="2000" b="1" i="1" dirty="0">
                <a:sym typeface="Symbol" charset="0"/>
              </a:rPr>
              <a:t>I</a:t>
            </a:r>
            <a:r>
              <a:rPr lang="it-IT" sz="2000" b="1" dirty="0">
                <a:sym typeface="Symbol" charset="0"/>
              </a:rPr>
              <a:t>,</a:t>
            </a:r>
            <a:r>
              <a:rPr lang="it-IT" sz="2000" b="1" i="1" dirty="0">
                <a:sym typeface="Symbol" charset="0"/>
              </a:rPr>
              <a:t>k</a:t>
            </a:r>
            <a:r>
              <a:rPr lang="it-IT" sz="2000" b="1" dirty="0">
                <a:sym typeface="Symbol" charset="0"/>
              </a:rPr>
              <a:t>+1,</a:t>
            </a:r>
            <a:r>
              <a:rPr lang="it-IT" sz="2000" b="1" i="1" dirty="0">
                <a:sym typeface="Symbol" charset="0"/>
              </a:rPr>
              <a:t>d</a:t>
            </a:r>
            <a:r>
              <a:rPr lang="it-IT" sz="2000" b="1" dirty="0">
                <a:sym typeface="Symbol" charset="0"/>
              </a:rPr>
              <a:t>) </a:t>
            </a:r>
            <a:r>
              <a:rPr lang="it-IT" sz="2000" b="1" dirty="0" err="1">
                <a:sym typeface="Symbol" charset="0"/>
              </a:rPr>
              <a:t>then</a:t>
            </a:r>
            <a:r>
              <a:rPr lang="it-IT" sz="2000" b="1" dirty="0">
                <a:sym typeface="Symbol" charset="0"/>
              </a:rPr>
              <a:t> 	</a:t>
            </a:r>
            <a:r>
              <a:rPr lang="it-IT" sz="2000" b="1" dirty="0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000" b="1" dirty="0">
                <a:solidFill>
                  <a:srgbClr val="0000CC"/>
                </a:solidFill>
                <a:sym typeface="Symbol" charset="0"/>
              </a:rPr>
              <a:t> se </a:t>
            </a:r>
            <a:r>
              <a:rPr lang="it-IT" sz="2000" b="1" i="1" dirty="0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sz="2000" b="1" dirty="0">
                <a:solidFill>
                  <a:srgbClr val="0000CC"/>
                </a:solidFill>
                <a:sym typeface="Symbol" charset="0"/>
              </a:rPr>
              <a:t>[1,</a:t>
            </a:r>
            <a:r>
              <a:rPr lang="it-IT" sz="2000" b="1" i="1" dirty="0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sz="2000" b="1" dirty="0">
                <a:solidFill>
                  <a:srgbClr val="0000CC"/>
                </a:solidFill>
                <a:sym typeface="Symbol" charset="0"/>
              </a:rPr>
              <a:t>+1] è indipendente 					OK</a:t>
            </a:r>
            <a:endParaRPr lang="it-IT" sz="2000" b="1" dirty="0">
              <a:sym typeface="Symbol" charset="0"/>
            </a:endParaRPr>
          </a:p>
          <a:p>
            <a:r>
              <a:rPr lang="it-IT" sz="2000" b="1" dirty="0">
                <a:sym typeface="Symbol" charset="0"/>
              </a:rPr>
              <a:t>          </a:t>
            </a:r>
            <a:r>
              <a:rPr lang="it-IT" sz="2000" b="1" i="1" dirty="0">
                <a:sym typeface="Symbol" charset="0"/>
              </a:rPr>
              <a:t>k</a:t>
            </a:r>
            <a:r>
              <a:rPr lang="it-IT" sz="2000" b="1" dirty="0">
                <a:sym typeface="Symbol" charset="0"/>
              </a:rPr>
              <a:t>  </a:t>
            </a:r>
            <a:r>
              <a:rPr lang="it-IT" sz="2000" b="1" i="1" dirty="0">
                <a:sym typeface="Symbol" charset="0"/>
              </a:rPr>
              <a:t>k</a:t>
            </a:r>
            <a:r>
              <a:rPr lang="it-IT" sz="2000" b="1" dirty="0">
                <a:sym typeface="Symbol" charset="0"/>
              </a:rPr>
              <a:t>+1</a:t>
            </a:r>
            <a:endParaRPr lang="it-IT" sz="2000" b="1" dirty="0">
              <a:solidFill>
                <a:srgbClr val="0000CC"/>
              </a:solidFill>
              <a:sym typeface="Symbol" charset="0"/>
            </a:endParaRPr>
          </a:p>
          <a:p>
            <a:r>
              <a:rPr lang="it-IT" sz="2000" b="1" dirty="0">
                <a:sym typeface="Symbol" charset="0"/>
              </a:rPr>
              <a:t>      else</a:t>
            </a:r>
            <a:r>
              <a:rPr lang="it-IT" sz="2000" b="1" dirty="0"/>
              <a:t> 			</a:t>
            </a:r>
            <a:r>
              <a:rPr lang="it-IT" sz="2000" b="1" dirty="0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000" b="1" dirty="0">
                <a:solidFill>
                  <a:srgbClr val="0000CC"/>
                </a:solidFill>
                <a:sym typeface="Symbol" charset="0"/>
              </a:rPr>
              <a:t> altrimenti metto l’attività </a:t>
            </a:r>
            <a:r>
              <a:rPr lang="it-IT" sz="2000" b="1" i="1" dirty="0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sz="2000" b="1" dirty="0">
                <a:solidFill>
                  <a:srgbClr val="0000CC"/>
                </a:solidFill>
                <a:sym typeface="Symbol" charset="0"/>
              </a:rPr>
              <a:t> in coda</a:t>
            </a:r>
            <a:endParaRPr lang="it-IT" sz="2000" b="1" dirty="0"/>
          </a:p>
          <a:p>
            <a:r>
              <a:rPr lang="it-IT" sz="2000" b="1" dirty="0"/>
              <a:t>          </a:t>
            </a:r>
            <a:r>
              <a:rPr lang="it-IT" sz="2000" b="1" i="1" dirty="0">
                <a:sym typeface="Symbol" charset="0"/>
              </a:rPr>
              <a:t>I</a:t>
            </a:r>
            <a:r>
              <a:rPr lang="it-IT" sz="2000" b="1" dirty="0">
                <a:sym typeface="Symbol" charset="0"/>
              </a:rPr>
              <a:t>[</a:t>
            </a:r>
            <a:r>
              <a:rPr lang="it-IT" sz="2000" b="1" i="1" dirty="0">
                <a:sym typeface="Symbol" charset="0"/>
              </a:rPr>
              <a:t>h</a:t>
            </a:r>
            <a:r>
              <a:rPr lang="it-IT" sz="2000" b="1" dirty="0">
                <a:sym typeface="Symbol" charset="0"/>
              </a:rPr>
              <a:t>-1]  </a:t>
            </a:r>
            <a:r>
              <a:rPr lang="it-IT" sz="2000" b="1" i="1" dirty="0">
                <a:sym typeface="Symbol" charset="0"/>
              </a:rPr>
              <a:t>i</a:t>
            </a:r>
            <a:r>
              <a:rPr lang="it-IT" sz="2000" b="1" dirty="0">
                <a:sym typeface="Symbol" charset="0"/>
              </a:rPr>
              <a:t>, </a:t>
            </a:r>
            <a:r>
              <a:rPr lang="it-IT" sz="2000" b="1" i="1" dirty="0">
                <a:sym typeface="Symbol" charset="0"/>
              </a:rPr>
              <a:t>h</a:t>
            </a:r>
            <a:r>
              <a:rPr lang="it-IT" sz="2000" b="1" dirty="0">
                <a:sym typeface="Symbol" charset="0"/>
              </a:rPr>
              <a:t>  </a:t>
            </a:r>
            <a:r>
              <a:rPr lang="it-IT" sz="2000" b="1" i="1" dirty="0">
                <a:sym typeface="Symbol" charset="0"/>
              </a:rPr>
              <a:t>h</a:t>
            </a:r>
            <a:r>
              <a:rPr lang="it-IT" sz="2000" b="1" dirty="0">
                <a:sym typeface="Symbol" charset="0"/>
              </a:rPr>
              <a:t>-1</a:t>
            </a:r>
          </a:p>
          <a:p>
            <a:r>
              <a:rPr lang="it-IT" sz="2000" b="1" dirty="0">
                <a:sym typeface="Symbol" charset="0"/>
              </a:rPr>
              <a:t>   </a:t>
            </a:r>
            <a:r>
              <a:rPr lang="it-IT" sz="2000" b="1" i="1" dirty="0" err="1">
                <a:sym typeface="Symbol" charset="0"/>
              </a:rPr>
              <a:t>Sort</a:t>
            </a:r>
            <a:r>
              <a:rPr lang="it-IT" sz="2000" b="1" dirty="0">
                <a:sym typeface="Symbol" charset="0"/>
              </a:rPr>
              <a:t>(</a:t>
            </a:r>
            <a:r>
              <a:rPr lang="it-IT" sz="2000" b="1" i="1" dirty="0" err="1">
                <a:sym typeface="Symbol" charset="0"/>
              </a:rPr>
              <a:t>I</a:t>
            </a:r>
            <a:r>
              <a:rPr lang="it-IT" sz="2000" b="1" dirty="0" err="1">
                <a:sym typeface="Symbol" charset="0"/>
              </a:rPr>
              <a:t>,</a:t>
            </a:r>
            <a:r>
              <a:rPr lang="it-IT" sz="2000" b="1" i="1" dirty="0" err="1">
                <a:sym typeface="Symbol" charset="0"/>
              </a:rPr>
              <a:t>k</a:t>
            </a:r>
            <a:r>
              <a:rPr lang="it-IT" sz="2000" b="1" dirty="0" err="1">
                <a:sym typeface="Symbol" charset="0"/>
              </a:rPr>
              <a:t>,</a:t>
            </a:r>
            <a:r>
              <a:rPr lang="it-IT" sz="2000" b="1" i="1" dirty="0" err="1">
                <a:sym typeface="Symbol" charset="0"/>
              </a:rPr>
              <a:t>d</a:t>
            </a:r>
            <a:r>
              <a:rPr lang="it-IT" sz="2000" b="1" dirty="0">
                <a:sym typeface="Symbol" charset="0"/>
              </a:rPr>
              <a:t>) 		</a:t>
            </a:r>
            <a:r>
              <a:rPr lang="it-IT" sz="2000" b="1" dirty="0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000" b="1" dirty="0">
                <a:solidFill>
                  <a:srgbClr val="0000CC"/>
                </a:solidFill>
                <a:sym typeface="Symbol" charset="0"/>
              </a:rPr>
              <a:t> ordina </a:t>
            </a:r>
            <a:r>
              <a:rPr lang="it-IT" sz="2000" b="1" i="1" dirty="0">
                <a:solidFill>
                  <a:srgbClr val="0000CC"/>
                </a:solidFill>
                <a:sym typeface="Symbol" charset="0"/>
              </a:rPr>
              <a:t>I</a:t>
            </a:r>
            <a:r>
              <a:rPr lang="it-IT" sz="2000" b="1" dirty="0">
                <a:solidFill>
                  <a:srgbClr val="0000CC"/>
                </a:solidFill>
                <a:sym typeface="Symbol" charset="0"/>
              </a:rPr>
              <a:t>[1,</a:t>
            </a:r>
            <a:r>
              <a:rPr lang="it-IT" sz="2000" b="1" i="1" dirty="0">
                <a:solidFill>
                  <a:srgbClr val="0000CC"/>
                </a:solidFill>
                <a:sym typeface="Symbol" charset="0"/>
              </a:rPr>
              <a:t>k</a:t>
            </a:r>
            <a:r>
              <a:rPr lang="it-IT" sz="2000" b="1" dirty="0">
                <a:solidFill>
                  <a:srgbClr val="0000CC"/>
                </a:solidFill>
                <a:sym typeface="Symbol" charset="0"/>
              </a:rPr>
              <a:t>] in ordine di scadenza</a:t>
            </a:r>
          </a:p>
          <a:p>
            <a:r>
              <a:rPr lang="it-IT" sz="2000" b="1" dirty="0">
                <a:solidFill>
                  <a:srgbClr val="0000CC"/>
                </a:solidFill>
              </a:rPr>
              <a:t>   </a:t>
            </a:r>
            <a:r>
              <a:rPr lang="it-IT" sz="2000" b="1" dirty="0" err="1"/>
              <a:t>return</a:t>
            </a:r>
            <a:r>
              <a:rPr lang="it-IT" sz="2000" b="1" dirty="0"/>
              <a:t> </a:t>
            </a:r>
            <a:r>
              <a:rPr lang="it-IT" sz="2000" b="1" i="1" dirty="0"/>
              <a:t>I</a:t>
            </a:r>
            <a:r>
              <a:rPr lang="it-IT" sz="2000" b="1" dirty="0">
                <a:solidFill>
                  <a:srgbClr val="0000CC"/>
                </a:solidFill>
              </a:rPr>
              <a:t> 		</a:t>
            </a:r>
            <a:r>
              <a:rPr lang="it-IT" sz="2000" b="1" dirty="0">
                <a:solidFill>
                  <a:srgbClr val="0000CC"/>
                </a:solidFill>
                <a:sym typeface="MT Extra" charset="0"/>
              </a:rPr>
              <a:t></a:t>
            </a:r>
            <a:r>
              <a:rPr lang="it-IT" sz="2000" b="1" dirty="0">
                <a:solidFill>
                  <a:srgbClr val="0000CC"/>
                </a:solidFill>
                <a:sym typeface="Symbol" charset="0"/>
              </a:rPr>
              <a:t> </a:t>
            </a:r>
            <a:r>
              <a:rPr lang="it-IT" sz="2000" b="1" u="sng" dirty="0">
                <a:solidFill>
                  <a:srgbClr val="0000CC"/>
                </a:solidFill>
              </a:rPr>
              <a:t>POST</a:t>
            </a:r>
            <a:r>
              <a:rPr lang="it-IT" sz="2000" b="1" dirty="0">
                <a:solidFill>
                  <a:srgbClr val="0000CC"/>
                </a:solidFill>
              </a:rPr>
              <a:t>: </a:t>
            </a:r>
            <a:r>
              <a:rPr lang="it-IT" sz="2000" b="1" i="1" dirty="0">
                <a:solidFill>
                  <a:srgbClr val="0000CC"/>
                </a:solidFill>
              </a:rPr>
              <a:t>I</a:t>
            </a:r>
            <a:r>
              <a:rPr lang="it-IT" sz="2000" b="1" dirty="0">
                <a:solidFill>
                  <a:srgbClr val="0000CC"/>
                </a:solidFill>
              </a:rPr>
              <a:t>[1..</a:t>
            </a:r>
            <a:r>
              <a:rPr lang="it-IT" sz="2000" b="1" i="1" dirty="0">
                <a:solidFill>
                  <a:srgbClr val="0000CC"/>
                </a:solidFill>
              </a:rPr>
              <a:t>n</a:t>
            </a:r>
            <a:r>
              <a:rPr lang="it-IT" sz="2000" b="1" dirty="0">
                <a:solidFill>
                  <a:srgbClr val="0000CC"/>
                </a:solidFill>
              </a:rPr>
              <a:t>]</a:t>
            </a:r>
            <a:r>
              <a:rPr lang="it-IT" sz="2000" b="1" dirty="0">
                <a:solidFill>
                  <a:srgbClr val="0000CC"/>
                </a:solidFill>
                <a:sym typeface="Symbol" charset="0"/>
              </a:rPr>
              <a:t> è una schedulazione 				</a:t>
            </a:r>
            <a:r>
              <a:rPr lang="it-IT" sz="2000" b="1" dirty="0" smtClean="0">
                <a:solidFill>
                  <a:srgbClr val="0000CC"/>
                </a:solidFill>
                <a:sym typeface="Symbol" charset="0"/>
              </a:rPr>
              <a:t>ottima</a:t>
            </a:r>
            <a:endParaRPr lang="it-IT" sz="2000" b="1" dirty="0">
              <a:solidFill>
                <a:srgbClr val="0000CC"/>
              </a:solidFill>
              <a:sym typeface="Symbo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188640"/>
            <a:ext cx="7535862" cy="685800"/>
          </a:xfrm>
        </p:spPr>
        <p:txBody>
          <a:bodyPr/>
          <a:lstStyle/>
          <a:p>
            <a:r>
              <a:rPr lang="it-IT" dirty="0"/>
              <a:t>Algoritmo di </a:t>
            </a:r>
            <a:r>
              <a:rPr lang="it-IT" dirty="0" err="1" smtClean="0"/>
              <a:t>scheduling</a:t>
            </a:r>
            <a:r>
              <a:rPr lang="it-IT" dirty="0" smtClean="0"/>
              <a:t> </a:t>
            </a:r>
            <a:r>
              <a:rPr lang="it-IT" dirty="0" err="1" smtClean="0"/>
              <a:t>greedy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642" name="Text Box 2"/>
          <p:cNvSpPr txBox="1">
            <a:spLocks noChangeArrowheads="1"/>
          </p:cNvSpPr>
          <p:nvPr/>
        </p:nvSpPr>
        <p:spPr bwMode="auto">
          <a:xfrm>
            <a:off x="650875" y="2060575"/>
            <a:ext cx="7696200" cy="2677656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buFontTx/>
              <a:buAutoNum type="alphaLcParenR"/>
            </a:pPr>
            <a:r>
              <a:rPr lang="it-IT" dirty="0">
                <a:latin typeface="+mn-lt"/>
              </a:rPr>
              <a:t>L’insieme vuoto </a:t>
            </a:r>
            <a:r>
              <a:rPr lang="it-IT" b="1" dirty="0">
                <a:latin typeface="+mn-lt"/>
                <a:sym typeface="Symbol" charset="0"/>
              </a:rPr>
              <a:t></a:t>
            </a:r>
            <a:r>
              <a:rPr lang="it-IT" dirty="0">
                <a:latin typeface="+mn-lt"/>
                <a:sym typeface="Symbol" charset="0"/>
              </a:rPr>
              <a:t> è indipendente.</a:t>
            </a:r>
          </a:p>
          <a:p>
            <a:pPr>
              <a:spcBef>
                <a:spcPct val="50000"/>
              </a:spcBef>
              <a:buFontTx/>
              <a:buAutoNum type="alphaLcParenR"/>
            </a:pPr>
            <a:r>
              <a:rPr lang="it-IT" dirty="0">
                <a:latin typeface="+mn-lt"/>
              </a:rPr>
              <a:t>Se </a:t>
            </a:r>
            <a:r>
              <a:rPr lang="it-IT" b="1" i="1" dirty="0">
                <a:latin typeface="+mn-lt"/>
              </a:rPr>
              <a:t>A </a:t>
            </a:r>
            <a:r>
              <a:rPr lang="it-IT" b="1" dirty="0">
                <a:latin typeface="+mn-lt"/>
                <a:sym typeface="Symbol" charset="0"/>
              </a:rPr>
              <a:t></a:t>
            </a:r>
            <a:r>
              <a:rPr lang="it-IT" b="1" i="1" dirty="0">
                <a:latin typeface="+mn-lt"/>
                <a:sym typeface="Symbol" charset="0"/>
              </a:rPr>
              <a:t> B</a:t>
            </a:r>
            <a:r>
              <a:rPr lang="it-IT" dirty="0">
                <a:latin typeface="+mn-lt"/>
                <a:sym typeface="Symbol" charset="0"/>
              </a:rPr>
              <a:t> e </a:t>
            </a:r>
            <a:r>
              <a:rPr lang="it-IT" b="1" i="1" dirty="0">
                <a:latin typeface="+mn-lt"/>
              </a:rPr>
              <a:t>B</a:t>
            </a:r>
            <a:r>
              <a:rPr lang="it-IT" dirty="0">
                <a:latin typeface="+mn-lt"/>
              </a:rPr>
              <a:t> è indipendente allora anche </a:t>
            </a:r>
            <a:r>
              <a:rPr lang="it-IT" b="1" i="1" dirty="0">
                <a:latin typeface="+mn-lt"/>
              </a:rPr>
              <a:t>A</a:t>
            </a:r>
            <a:r>
              <a:rPr lang="it-IT" dirty="0">
                <a:latin typeface="+mn-lt"/>
              </a:rPr>
              <a:t> è indipendente. </a:t>
            </a:r>
          </a:p>
          <a:p>
            <a:pPr>
              <a:spcBef>
                <a:spcPct val="50000"/>
              </a:spcBef>
              <a:buFontTx/>
              <a:buAutoNum type="alphaLcParenR"/>
            </a:pPr>
            <a:r>
              <a:rPr lang="it-IT" dirty="0">
                <a:latin typeface="+mn-lt"/>
              </a:rPr>
              <a:t>Se </a:t>
            </a:r>
            <a:r>
              <a:rPr lang="it-IT" b="1" i="1" dirty="0">
                <a:latin typeface="+mn-lt"/>
              </a:rPr>
              <a:t>A </a:t>
            </a:r>
            <a:r>
              <a:rPr lang="it-IT" dirty="0">
                <a:latin typeface="+mn-lt"/>
              </a:rPr>
              <a:t>e </a:t>
            </a:r>
            <a:r>
              <a:rPr lang="it-IT" b="1" i="1" dirty="0">
                <a:latin typeface="+mn-lt"/>
              </a:rPr>
              <a:t>B</a:t>
            </a:r>
            <a:r>
              <a:rPr lang="it-IT" dirty="0">
                <a:latin typeface="+mn-lt"/>
              </a:rPr>
              <a:t> sono indipendenti e </a:t>
            </a:r>
            <a:r>
              <a:rPr lang="it-IT" b="1" i="1" dirty="0">
                <a:latin typeface="+mn-lt"/>
              </a:rPr>
              <a:t>A</a:t>
            </a:r>
            <a:r>
              <a:rPr lang="it-IT" dirty="0">
                <a:latin typeface="+mn-lt"/>
              </a:rPr>
              <a:t> contiene meno attività di </a:t>
            </a:r>
            <a:r>
              <a:rPr lang="it-IT" b="1" i="1" dirty="0">
                <a:latin typeface="+mn-lt"/>
              </a:rPr>
              <a:t>B</a:t>
            </a:r>
            <a:r>
              <a:rPr lang="it-IT" dirty="0">
                <a:latin typeface="+mn-lt"/>
              </a:rPr>
              <a:t> allora esiste una attività </a:t>
            </a:r>
            <a:r>
              <a:rPr lang="it-IT" b="1" i="1" dirty="0">
                <a:latin typeface="+mn-lt"/>
              </a:rPr>
              <a:t>x </a:t>
            </a:r>
            <a:r>
              <a:rPr lang="it-IT" b="1" dirty="0">
                <a:latin typeface="+mn-lt"/>
                <a:sym typeface="Symbol" charset="0"/>
              </a:rPr>
              <a:t></a:t>
            </a:r>
            <a:r>
              <a:rPr lang="it-IT" b="1" i="1" dirty="0">
                <a:latin typeface="+mn-lt"/>
                <a:sym typeface="Symbol" charset="0"/>
              </a:rPr>
              <a:t> </a:t>
            </a:r>
            <a:r>
              <a:rPr lang="it-IT" b="1" i="1" dirty="0">
                <a:latin typeface="+mn-lt"/>
              </a:rPr>
              <a:t>B </a:t>
            </a:r>
            <a:r>
              <a:rPr lang="it-IT" b="1" dirty="0">
                <a:latin typeface="+mn-lt"/>
              </a:rPr>
              <a:t>\ </a:t>
            </a:r>
            <a:r>
              <a:rPr lang="it-IT" b="1" i="1" dirty="0">
                <a:latin typeface="+mn-lt"/>
              </a:rPr>
              <a:t>A</a:t>
            </a:r>
            <a:r>
              <a:rPr lang="it-IT" dirty="0">
                <a:latin typeface="+mn-lt"/>
              </a:rPr>
              <a:t> tale che </a:t>
            </a:r>
            <a:r>
              <a:rPr lang="it-IT" b="1" i="1" dirty="0">
                <a:latin typeface="+mn-lt"/>
              </a:rPr>
              <a:t>A' = A</a:t>
            </a:r>
            <a:r>
              <a:rPr lang="it-IT" b="1" dirty="0">
                <a:latin typeface="+mn-lt"/>
                <a:sym typeface="Symbol" charset="0"/>
              </a:rPr>
              <a:t></a:t>
            </a:r>
            <a:r>
              <a:rPr lang="it-IT" b="1" i="1" dirty="0">
                <a:latin typeface="+mn-lt"/>
                <a:sym typeface="Symbol" charset="0"/>
              </a:rPr>
              <a:t> </a:t>
            </a:r>
            <a:r>
              <a:rPr lang="it-IT" b="1" i="1" dirty="0">
                <a:latin typeface="+mn-lt"/>
              </a:rPr>
              <a:t>x</a:t>
            </a:r>
            <a:r>
              <a:rPr lang="it-IT" dirty="0">
                <a:latin typeface="+mn-lt"/>
              </a:rPr>
              <a:t> è indipendente. </a:t>
            </a:r>
          </a:p>
        </p:txBody>
      </p:sp>
      <p:sp>
        <p:nvSpPr>
          <p:cNvPr id="752643" name="Text Box 3"/>
          <p:cNvSpPr txBox="1">
            <a:spLocks noChangeArrowheads="1"/>
          </p:cNvSpPr>
          <p:nvPr/>
        </p:nvSpPr>
        <p:spPr bwMode="auto">
          <a:xfrm>
            <a:off x="611560" y="1268760"/>
            <a:ext cx="7696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Tre proprietà degli insiemi indipendenti: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Matroidi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Matroidi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Dato un qualsiasi insieme </a:t>
            </a:r>
            <a:r>
              <a:rPr lang="it-IT" b="1" i="1" dirty="0" err="1">
                <a:solidFill>
                  <a:srgbClr val="FF0000"/>
                </a:solidFill>
              </a:rPr>
              <a:t>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di </a:t>
            </a:r>
            <a:r>
              <a:rPr lang="it-IT" b="1" i="1" dirty="0" err="1">
                <a:solidFill>
                  <a:srgbClr val="FF0000"/>
                </a:solidFill>
              </a:rPr>
              <a:t>n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oggetti con pesi </a:t>
            </a:r>
            <a:r>
              <a:rPr lang="it-IT" b="1" i="1" dirty="0">
                <a:solidFill>
                  <a:srgbClr val="FF0000"/>
                </a:solidFill>
              </a:rPr>
              <a:t>w</a:t>
            </a:r>
            <a:r>
              <a:rPr lang="it-IT" b="1" i="1" baseline="-25000" dirty="0">
                <a:solidFill>
                  <a:srgbClr val="FF0000"/>
                </a:solidFill>
              </a:rPr>
              <a:t>0</a:t>
            </a:r>
            <a:r>
              <a:rPr lang="it-IT" b="1" i="1" dirty="0">
                <a:solidFill>
                  <a:srgbClr val="FF0000"/>
                </a:solidFill>
              </a:rPr>
              <a:t>,w</a:t>
            </a:r>
            <a:r>
              <a:rPr lang="it-IT" b="1" i="1" baseline="-25000" dirty="0">
                <a:solidFill>
                  <a:srgbClr val="FF0000"/>
                </a:solidFill>
              </a:rPr>
              <a:t>1</a:t>
            </a:r>
            <a:r>
              <a:rPr lang="it-IT" b="1" i="1" dirty="0">
                <a:solidFill>
                  <a:srgbClr val="FF0000"/>
                </a:solidFill>
              </a:rPr>
              <a:t>,...,w</a:t>
            </a:r>
            <a:r>
              <a:rPr lang="it-IT" b="1" i="1" baseline="-25000" dirty="0">
                <a:solidFill>
                  <a:srgbClr val="FF0000"/>
                </a:solidFill>
              </a:rPr>
              <a:t>n-1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ed una qualsiasi famiglia </a:t>
            </a:r>
            <a:r>
              <a:rPr lang="it-IT" i="1" dirty="0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it-IT" dirty="0"/>
              <a:t>  di sottoinsiemi di </a:t>
            </a:r>
            <a:r>
              <a:rPr lang="it-IT" b="1" i="1" dirty="0" err="1">
                <a:solidFill>
                  <a:srgbClr val="FF0000"/>
                </a:solidFill>
              </a:rPr>
              <a:t>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/>
              <a:t>(che chiameremo </a:t>
            </a:r>
            <a:r>
              <a:rPr lang="it-IT" i="1" u="sng" dirty="0"/>
              <a:t>indipendenti</a:t>
            </a:r>
            <a:r>
              <a:rPr lang="it-IT" dirty="0"/>
              <a:t>) che soddisfi tali tre proprietà, l’algoritmo generale trova un sottoinsieme </a:t>
            </a:r>
            <a:r>
              <a:rPr lang="it-IT" b="1" i="1" dirty="0">
                <a:solidFill>
                  <a:srgbClr val="FF0000"/>
                </a:solidFill>
              </a:rPr>
              <a:t>A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b="1" dirty="0">
                <a:solidFill>
                  <a:srgbClr val="FF0000"/>
                </a:solidFill>
                <a:sym typeface="Symbol" charset="0"/>
              </a:rPr>
              <a:t></a:t>
            </a:r>
            <a:r>
              <a:rPr lang="it-IT" b="1" i="1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it-IT" i="1" dirty="0">
                <a:solidFill>
                  <a:srgbClr val="FF0000"/>
                </a:solidFill>
                <a:latin typeface="Lucida Calligraphy" charset="0"/>
              </a:rPr>
              <a:t>M </a:t>
            </a:r>
            <a:r>
              <a:rPr lang="it-IT" dirty="0"/>
              <a:t>di peso massimo. </a:t>
            </a:r>
          </a:p>
          <a:p>
            <a:r>
              <a:rPr lang="it-IT" dirty="0"/>
              <a:t>Una famiglia </a:t>
            </a:r>
            <a:r>
              <a:rPr lang="it-IT" i="1" dirty="0">
                <a:solidFill>
                  <a:srgbClr val="FF0000"/>
                </a:solidFill>
                <a:latin typeface="Lucida Calligraphy" charset="0"/>
              </a:rPr>
              <a:t>M</a:t>
            </a:r>
            <a:r>
              <a:rPr lang="it-IT" dirty="0"/>
              <a:t>  di sottoinsiemi che soddisfa tali proprietà è nota con il nome di </a:t>
            </a:r>
            <a:r>
              <a:rPr lang="it-IT" i="1" u="sng" dirty="0" err="1" smtClean="0"/>
              <a:t>matroide</a:t>
            </a:r>
            <a:endParaRPr lang="it-IT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02" name="Text Box 2"/>
          <p:cNvSpPr txBox="1">
            <a:spLocks noChangeArrowheads="1"/>
          </p:cNvSpPr>
          <p:nvPr/>
        </p:nvSpPr>
        <p:spPr bwMode="auto">
          <a:xfrm>
            <a:off x="611560" y="1340768"/>
            <a:ext cx="80184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Talvolta i </a:t>
            </a:r>
            <a:r>
              <a:rPr lang="it-IT" sz="2400" dirty="0" err="1">
                <a:solidFill>
                  <a:srgbClr val="0000FF"/>
                </a:solidFill>
              </a:rPr>
              <a:t>matroidi</a:t>
            </a:r>
            <a:r>
              <a:rPr lang="it-IT" sz="2400" dirty="0">
                <a:solidFill>
                  <a:srgbClr val="0000FF"/>
                </a:solidFill>
              </a:rPr>
              <a:t> sono definiti con le proprietà:</a:t>
            </a:r>
          </a:p>
        </p:txBody>
      </p:sp>
      <p:sp>
        <p:nvSpPr>
          <p:cNvPr id="768003" name="Text Box 3"/>
          <p:cNvSpPr txBox="1">
            <a:spLocks noChangeArrowheads="1"/>
          </p:cNvSpPr>
          <p:nvPr/>
        </p:nvSpPr>
        <p:spPr bwMode="auto">
          <a:xfrm>
            <a:off x="611560" y="2420888"/>
            <a:ext cx="7843838" cy="2308324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buFontTx/>
              <a:buAutoNum type="alphaLcPeriod"/>
            </a:pPr>
            <a:r>
              <a:rPr lang="it-IT" dirty="0">
                <a:latin typeface="+mn-lt"/>
              </a:rPr>
              <a:t>Esiste almeno un insieme indipendente;</a:t>
            </a:r>
          </a:p>
          <a:p>
            <a:pPr>
              <a:buFontTx/>
              <a:buAutoNum type="alphaLcPeriod"/>
            </a:pPr>
            <a:r>
              <a:rPr lang="it-IT" dirty="0">
                <a:latin typeface="+mn-lt"/>
              </a:rPr>
              <a:t>Se </a:t>
            </a:r>
            <a:r>
              <a:rPr lang="it-IT" b="1" i="1" dirty="0">
                <a:latin typeface="+mn-lt"/>
              </a:rPr>
              <a:t>B</a:t>
            </a:r>
            <a:r>
              <a:rPr lang="it-IT" dirty="0">
                <a:latin typeface="+mn-lt"/>
              </a:rPr>
              <a:t> è indipendente ed </a:t>
            </a:r>
            <a:r>
              <a:rPr lang="it-IT" b="1" i="1" dirty="0">
                <a:latin typeface="+mn-lt"/>
              </a:rPr>
              <a:t>A </a:t>
            </a:r>
            <a:r>
              <a:rPr lang="it-IT" b="1" dirty="0">
                <a:latin typeface="+mn-lt"/>
                <a:sym typeface="Symbol" charset="0"/>
              </a:rPr>
              <a:t></a:t>
            </a:r>
            <a:r>
              <a:rPr lang="it-IT" b="1" i="1" dirty="0">
                <a:latin typeface="+mn-lt"/>
                <a:sym typeface="Symbol" charset="0"/>
              </a:rPr>
              <a:t> </a:t>
            </a:r>
            <a:r>
              <a:rPr lang="it-IT" b="1" i="1" dirty="0">
                <a:latin typeface="+mn-lt"/>
              </a:rPr>
              <a:t>B</a:t>
            </a:r>
            <a:r>
              <a:rPr lang="it-IT" dirty="0">
                <a:latin typeface="+mn-lt"/>
              </a:rPr>
              <a:t> allora anche </a:t>
            </a:r>
            <a:r>
              <a:rPr lang="it-IT" b="1" i="1" dirty="0">
                <a:latin typeface="+mn-lt"/>
              </a:rPr>
              <a:t>A</a:t>
            </a:r>
            <a:r>
              <a:rPr lang="it-IT" dirty="0">
                <a:latin typeface="+mn-lt"/>
              </a:rPr>
              <a:t> è indipendente;</a:t>
            </a:r>
          </a:p>
          <a:p>
            <a:pPr>
              <a:buFontTx/>
              <a:buAutoNum type="alphaLcPeriod"/>
            </a:pPr>
            <a:r>
              <a:rPr lang="it-IT" dirty="0">
                <a:latin typeface="+mn-lt"/>
              </a:rPr>
              <a:t>Per ogni sottoinsieme </a:t>
            </a:r>
            <a:r>
              <a:rPr lang="it-IT" b="1" i="1" dirty="0" err="1">
                <a:latin typeface="+mn-lt"/>
              </a:rPr>
              <a:t>R</a:t>
            </a:r>
            <a:r>
              <a:rPr lang="it-IT" dirty="0">
                <a:latin typeface="+mn-lt"/>
              </a:rPr>
              <a:t> di </a:t>
            </a:r>
            <a:r>
              <a:rPr lang="it-IT" b="1" i="1" dirty="0" err="1">
                <a:latin typeface="+mn-lt"/>
              </a:rPr>
              <a:t>S</a:t>
            </a:r>
            <a:r>
              <a:rPr lang="it-IT" dirty="0">
                <a:latin typeface="+mn-lt"/>
              </a:rPr>
              <a:t>, se </a:t>
            </a:r>
            <a:r>
              <a:rPr lang="it-IT" b="1" i="1" dirty="0">
                <a:latin typeface="+mn-lt"/>
              </a:rPr>
              <a:t>A</a:t>
            </a:r>
            <a:r>
              <a:rPr lang="it-IT" b="1" dirty="0">
                <a:latin typeface="+mn-lt"/>
              </a:rPr>
              <a:t> </a:t>
            </a:r>
            <a:r>
              <a:rPr lang="it-IT" dirty="0">
                <a:latin typeface="+mn-lt"/>
                <a:sym typeface="Symbol" charset="0"/>
              </a:rPr>
              <a:t>e</a:t>
            </a:r>
            <a:r>
              <a:rPr lang="it-IT" b="1" dirty="0">
                <a:latin typeface="+mn-lt"/>
                <a:sym typeface="Symbol" charset="0"/>
              </a:rPr>
              <a:t> </a:t>
            </a:r>
            <a:r>
              <a:rPr lang="it-IT" b="1" i="1" dirty="0">
                <a:latin typeface="+mn-lt"/>
              </a:rPr>
              <a:t>B</a:t>
            </a:r>
            <a:r>
              <a:rPr lang="it-IT" dirty="0">
                <a:latin typeface="+mn-lt"/>
              </a:rPr>
              <a:t> sono due sottoinsiemi di </a:t>
            </a:r>
            <a:r>
              <a:rPr lang="it-IT" b="1" i="1" dirty="0" err="1">
                <a:latin typeface="+mn-lt"/>
              </a:rPr>
              <a:t>R</a:t>
            </a:r>
            <a:r>
              <a:rPr lang="it-IT" dirty="0">
                <a:latin typeface="+mn-lt"/>
              </a:rPr>
              <a:t> indipendenti e massimali in </a:t>
            </a:r>
            <a:r>
              <a:rPr lang="it-IT" b="1" i="1" dirty="0" err="1">
                <a:latin typeface="+mn-lt"/>
              </a:rPr>
              <a:t>R</a:t>
            </a:r>
            <a:r>
              <a:rPr lang="it-IT" dirty="0">
                <a:latin typeface="+mn-lt"/>
              </a:rPr>
              <a:t> allora </a:t>
            </a:r>
            <a:r>
              <a:rPr lang="it-IT" b="1" dirty="0">
                <a:latin typeface="+mn-lt"/>
              </a:rPr>
              <a:t>|</a:t>
            </a:r>
            <a:r>
              <a:rPr lang="it-IT" b="1" i="1" dirty="0">
                <a:latin typeface="+mn-lt"/>
              </a:rPr>
              <a:t>A</a:t>
            </a:r>
            <a:r>
              <a:rPr lang="it-IT" b="1" dirty="0">
                <a:latin typeface="+mn-lt"/>
              </a:rPr>
              <a:t>| </a:t>
            </a:r>
            <a:r>
              <a:rPr lang="it-IT" b="1" dirty="0">
                <a:latin typeface="+mn-lt"/>
                <a:sym typeface="Symbol" charset="0"/>
              </a:rPr>
              <a:t>= </a:t>
            </a:r>
            <a:r>
              <a:rPr lang="it-IT" b="1" dirty="0">
                <a:latin typeface="+mn-lt"/>
              </a:rPr>
              <a:t>|</a:t>
            </a:r>
            <a:r>
              <a:rPr lang="it-IT" b="1" i="1" dirty="0">
                <a:latin typeface="+mn-lt"/>
              </a:rPr>
              <a:t>B</a:t>
            </a:r>
            <a:r>
              <a:rPr lang="it-IT" b="1" dirty="0">
                <a:latin typeface="+mn-lt"/>
              </a:rPr>
              <a:t>|</a:t>
            </a:r>
            <a:r>
              <a:rPr lang="it-IT" dirty="0">
                <a:latin typeface="+mn-lt"/>
              </a:rPr>
              <a:t>.</a:t>
            </a:r>
          </a:p>
        </p:txBody>
      </p:sp>
      <p:sp>
        <p:nvSpPr>
          <p:cNvPr id="768004" name="Text Box 4"/>
          <p:cNvSpPr txBox="1">
            <a:spLocks noChangeArrowheads="1"/>
          </p:cNvSpPr>
          <p:nvPr/>
        </p:nvSpPr>
        <p:spPr bwMode="auto">
          <a:xfrm>
            <a:off x="611560" y="5013176"/>
            <a:ext cx="7696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>
                <a:solidFill>
                  <a:srgbClr val="0000FF"/>
                </a:solidFill>
              </a:rPr>
              <a:t>invece che con le 1., 2. e 3.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Matroidi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zione">
  <a:themeElements>
    <a:clrScheme name="Presentazione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Presentazione">
      <a:majorFont>
        <a:latin typeface="Times New Roman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Presentazion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2004:Templates:My Templates:Presentazione.pot</Template>
  <TotalTime>2249</TotalTime>
  <Words>3940</Words>
  <Application>Microsoft Macintosh PowerPoint</Application>
  <PresentationFormat>On-screen Show (4:3)</PresentationFormat>
  <Paragraphs>696</Paragraphs>
  <Slides>57</Slides>
  <Notes>7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59" baseType="lpstr">
      <vt:lpstr>Presentazione</vt:lpstr>
      <vt:lpstr>Equation</vt:lpstr>
      <vt:lpstr>UNIVERSITA’ DI MILANO-BICOCCA CdL IN INFORMATICA</vt:lpstr>
      <vt:lpstr>Algoritmi golosi</vt:lpstr>
      <vt:lpstr>Problema di scelta ottima delle attività</vt:lpstr>
      <vt:lpstr>Algoritmo di scelta delle attività</vt:lpstr>
      <vt:lpstr>Algoritmo di scelta delle attività</vt:lpstr>
      <vt:lpstr>PowerPoint Presentation</vt:lpstr>
      <vt:lpstr>Analisi della soluzione</vt:lpstr>
      <vt:lpstr>PowerPoint Presentation</vt:lpstr>
      <vt:lpstr>Ottimalità della soluzione</vt:lpstr>
      <vt:lpstr>Ottimalità della soluzione</vt:lpstr>
      <vt:lpstr>Ottimalità della soluzione</vt:lpstr>
      <vt:lpstr>Ottimalità della soluzione</vt:lpstr>
      <vt:lpstr>Ottimalità della soluzione</vt:lpstr>
      <vt:lpstr>Ottimalità della soluzione</vt:lpstr>
      <vt:lpstr>Ottimalità della soluzione</vt:lpstr>
      <vt:lpstr>Ottimalità della soluzione</vt:lpstr>
      <vt:lpstr>Ottimalità della soluzione</vt:lpstr>
      <vt:lpstr>Ottimalità della soluzione</vt:lpstr>
      <vt:lpstr>Perché goloso?</vt:lpstr>
      <vt:lpstr>Elementi della strategia golosa</vt:lpstr>
      <vt:lpstr>ESEMPIO: Codici di Huffman</vt:lpstr>
      <vt:lpstr>ESEMPIO: Codici di Huffman</vt:lpstr>
      <vt:lpstr>ESEMPIO: Codici di Huffman</vt:lpstr>
      <vt:lpstr>Codici prefissi</vt:lpstr>
      <vt:lpstr>Codici prefissi</vt:lpstr>
      <vt:lpstr>Codici prefissi</vt:lpstr>
      <vt:lpstr>Codici prefissi</vt:lpstr>
      <vt:lpstr>Codici prefissi</vt:lpstr>
      <vt:lpstr>Codici prefissi</vt:lpstr>
      <vt:lpstr>B(T) prima forma</vt:lpstr>
      <vt:lpstr>B(T) seconda forma</vt:lpstr>
      <vt:lpstr>Algoritmo di Huffman</vt:lpstr>
      <vt:lpstr>Algoritmo di Huffman</vt:lpstr>
      <vt:lpstr>Algoritmo di Huffman</vt:lpstr>
      <vt:lpstr>Algoritmo di Huffman</vt:lpstr>
      <vt:lpstr>Algoritmo di Huffman</vt:lpstr>
      <vt:lpstr>Complessità algoritmo di Huffman</vt:lpstr>
      <vt:lpstr>Perché goloso?</vt:lpstr>
      <vt:lpstr>Lemma scelta golosa</vt:lpstr>
      <vt:lpstr>Lemma scelta golosa</vt:lpstr>
      <vt:lpstr>Lemma scelta golosa</vt:lpstr>
      <vt:lpstr>Lemma scelta golosa</vt:lpstr>
      <vt:lpstr>Lemma scelta golosa</vt:lpstr>
      <vt:lpstr>Lemma sottostruttura ottima</vt:lpstr>
      <vt:lpstr>Lemma sottostruttura ottima</vt:lpstr>
      <vt:lpstr>Lemma sottostruttura ottima</vt:lpstr>
      <vt:lpstr>Correttezza algoritmo di Huffman</vt:lpstr>
      <vt:lpstr>Schedulazione di attività</vt:lpstr>
      <vt:lpstr>Schedulazione di attività</vt:lpstr>
      <vt:lpstr>Schedulazione di attività</vt:lpstr>
      <vt:lpstr>Schedulazione di attività</vt:lpstr>
      <vt:lpstr>Schedulazione di attività</vt:lpstr>
      <vt:lpstr>Schedulazione di attività</vt:lpstr>
      <vt:lpstr>Algoritmo di scheduling greedy</vt:lpstr>
      <vt:lpstr>Matroidi</vt:lpstr>
      <vt:lpstr>Matroidi</vt:lpstr>
      <vt:lpstr>Matroidi</vt:lpstr>
    </vt:vector>
  </TitlesOfParts>
  <Company>DISCo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UNIVERSITA’ DI MILANO-BICOCCA CdL IN INFORMATICA</dc:title>
  <dc:subject>Bioinformatics</dc:subject>
  <dc:creator>Giancarlo Mauri</dc:creator>
  <cp:lastModifiedBy>Giancarlo Mauri</cp:lastModifiedBy>
  <cp:revision>136</cp:revision>
  <cp:lastPrinted>2002-02-01T12:39:25Z</cp:lastPrinted>
  <dcterms:created xsi:type="dcterms:W3CDTF">2010-03-03T07:29:28Z</dcterms:created>
  <dcterms:modified xsi:type="dcterms:W3CDTF">2016-10-27T11:54:38Z</dcterms:modified>
</cp:coreProperties>
</file>