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embeddings/oleObject1.bin" ContentType="application/vnd.openxmlformats-officedocument.oleObject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33"/>
  </p:notesMasterIdLst>
  <p:handoutMasterIdLst>
    <p:handoutMasterId r:id="rId34"/>
  </p:handoutMasterIdLst>
  <p:sldIdLst>
    <p:sldId id="485" r:id="rId2"/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83" r:id="rId31"/>
    <p:sldId id="484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33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interSettings" Target="printerSettings/printerSettings1.bin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7DCD3C-647B-EE4A-8EAD-C418693BEC87}" type="slidenum">
              <a:rPr lang="en-US"/>
              <a:pPr/>
              <a:t>3</a:t>
            </a:fld>
            <a:endParaRPr lang="en-US"/>
          </a:p>
        </p:txBody>
      </p:sp>
      <p:sp>
        <p:nvSpPr>
          <p:cNvPr id="54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8E3C57-F958-234E-9638-2AE9A5129D13}" type="slidenum">
              <a:rPr lang="en-US"/>
              <a:pPr/>
              <a:t>4</a:t>
            </a:fld>
            <a:endParaRPr lang="en-US"/>
          </a:p>
        </p:txBody>
      </p:sp>
      <p:sp>
        <p:nvSpPr>
          <p:cNvPr id="8192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9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685956-01EC-2049-B757-ED97DC8C91EC}" type="slidenum">
              <a:rPr lang="en-US"/>
              <a:pPr/>
              <a:t>5</a:t>
            </a:fld>
            <a:endParaRPr lang="en-US"/>
          </a:p>
        </p:txBody>
      </p:sp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EC5D0C-F21C-AD43-9EB7-8FA659DFF4E8}" type="slidenum">
              <a:rPr lang="en-US"/>
              <a:pPr/>
              <a:t>6</a:t>
            </a:fld>
            <a:endParaRPr lang="en-US"/>
          </a:p>
        </p:txBody>
      </p:sp>
      <p:sp>
        <p:nvSpPr>
          <p:cNvPr id="8212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21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7DD4F9-69C6-F44A-92D8-09434C577073}" type="slidenum">
              <a:rPr lang="en-US"/>
              <a:pPr/>
              <a:t>7</a:t>
            </a:fld>
            <a:endParaRPr lang="en-US"/>
          </a:p>
        </p:txBody>
      </p:sp>
      <p:sp>
        <p:nvSpPr>
          <p:cNvPr id="8232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23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F0577E-7049-C141-AC72-03A0978152C4}" type="slidenum">
              <a:rPr lang="en-US"/>
              <a:pPr/>
              <a:t>8</a:t>
            </a:fld>
            <a:endParaRPr lang="en-US"/>
          </a:p>
        </p:txBody>
      </p:sp>
      <p:sp>
        <p:nvSpPr>
          <p:cNvPr id="8335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4B3241-267F-7743-BB32-6C9E05B7F7FE}" type="slidenum">
              <a:rPr lang="en-US"/>
              <a:pPr/>
              <a:t>9</a:t>
            </a:fld>
            <a:endParaRPr lang="en-US"/>
          </a:p>
        </p:txBody>
      </p:sp>
      <p:sp>
        <p:nvSpPr>
          <p:cNvPr id="8355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5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CFFA98-C0E2-AC41-A75D-1F4C2140183B}" type="slidenum">
              <a:rPr lang="en-US"/>
              <a:pPr/>
              <a:t>10</a:t>
            </a:fld>
            <a:endParaRPr lang="en-US"/>
          </a:p>
        </p:txBody>
      </p:sp>
      <p:sp>
        <p:nvSpPr>
          <p:cNvPr id="8069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6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E8F169-9F1A-374D-8F16-E4500C2CBA20}" type="slidenum">
              <a:rPr lang="en-US"/>
              <a:pPr/>
              <a:t>11</a:t>
            </a:fld>
            <a:endParaRPr lang="en-US"/>
          </a:p>
        </p:txBody>
      </p:sp>
      <p:sp>
        <p:nvSpPr>
          <p:cNvPr id="8130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9A3561-24E2-EE4F-96FD-2AD4CD0D7F3E}" type="slidenum">
              <a:rPr lang="en-US"/>
              <a:pPr/>
              <a:t>12</a:t>
            </a:fld>
            <a:endParaRPr lang="en-US"/>
          </a:p>
        </p:txBody>
      </p:sp>
      <p:sp>
        <p:nvSpPr>
          <p:cNvPr id="8089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8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C7D5E9-44B3-6348-B52C-F3D16CB97880}" type="slidenum">
              <a:rPr lang="en-US"/>
              <a:pPr/>
              <a:t>13</a:t>
            </a:fld>
            <a:endParaRPr lang="en-US"/>
          </a:p>
        </p:txBody>
      </p:sp>
      <p:sp>
        <p:nvSpPr>
          <p:cNvPr id="8110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10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F1FE92-1759-2E45-9F71-6AB823B76A80}" type="slidenum">
              <a:rPr lang="en-US"/>
              <a:pPr/>
              <a:t>14</a:t>
            </a:fld>
            <a:endParaRPr lang="en-US"/>
          </a:p>
        </p:txBody>
      </p:sp>
      <p:sp>
        <p:nvSpPr>
          <p:cNvPr id="8253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0A2891-5048-4E42-922A-1F1ACD268E19}" type="slidenum">
              <a:rPr lang="en-US"/>
              <a:pPr/>
              <a:t>15</a:t>
            </a:fld>
            <a:endParaRPr lang="en-US"/>
          </a:p>
        </p:txBody>
      </p:sp>
      <p:sp>
        <p:nvSpPr>
          <p:cNvPr id="8273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45737C-B024-A042-81E0-91EC7CD1332B}" type="slidenum">
              <a:rPr lang="en-US"/>
              <a:pPr/>
              <a:t>16</a:t>
            </a:fld>
            <a:endParaRPr lang="en-US"/>
          </a:p>
        </p:txBody>
      </p:sp>
      <p:sp>
        <p:nvSpPr>
          <p:cNvPr id="8294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29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CF4214-EB66-E045-A4D9-A86016FE0548}" type="slidenum">
              <a:rPr lang="en-US"/>
              <a:pPr/>
              <a:t>17</a:t>
            </a:fld>
            <a:endParaRPr lang="en-US"/>
          </a:p>
        </p:txBody>
      </p:sp>
      <p:sp>
        <p:nvSpPr>
          <p:cNvPr id="8314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1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01A0CC-0ABD-FE4B-BAFB-DE5DA8ABF34E}" type="slidenum">
              <a:rPr lang="en-US"/>
              <a:pPr/>
              <a:t>18</a:t>
            </a:fld>
            <a:endParaRPr lang="en-US"/>
          </a:p>
        </p:txBody>
      </p:sp>
      <p:sp>
        <p:nvSpPr>
          <p:cNvPr id="7127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545997-1E71-234E-868C-DB83C3741FDD}" type="slidenum">
              <a:rPr lang="en-US"/>
              <a:pPr/>
              <a:t>19</a:t>
            </a:fld>
            <a:endParaRPr lang="en-US"/>
          </a:p>
        </p:txBody>
      </p:sp>
      <p:sp>
        <p:nvSpPr>
          <p:cNvPr id="714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0B2DA4-3232-B84E-A610-0B57FE97D4ED}" type="slidenum">
              <a:rPr lang="en-US"/>
              <a:pPr/>
              <a:t>20</a:t>
            </a:fld>
            <a:endParaRPr lang="en-US"/>
          </a:p>
        </p:txBody>
      </p:sp>
      <p:sp>
        <p:nvSpPr>
          <p:cNvPr id="7208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6E62B4-EB67-2044-B4D2-30859A5464A7}" type="slidenum">
              <a:rPr lang="en-US"/>
              <a:pPr/>
              <a:t>21</a:t>
            </a:fld>
            <a:endParaRPr lang="en-US"/>
          </a:p>
        </p:txBody>
      </p:sp>
      <p:sp>
        <p:nvSpPr>
          <p:cNvPr id="7229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7D224-6195-174F-9519-14C720432F8C}" type="slidenum">
              <a:rPr lang="en-US"/>
              <a:pPr/>
              <a:t>22</a:t>
            </a:fld>
            <a:endParaRPr lang="en-US"/>
          </a:p>
        </p:txBody>
      </p:sp>
      <p:sp>
        <p:nvSpPr>
          <p:cNvPr id="7249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641C93-35AB-344A-A4C1-7DE761EE460F}" type="slidenum">
              <a:rPr lang="en-US"/>
              <a:pPr/>
              <a:t>23</a:t>
            </a:fld>
            <a:endParaRPr lang="en-US"/>
          </a:p>
        </p:txBody>
      </p:sp>
      <p:sp>
        <p:nvSpPr>
          <p:cNvPr id="7270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9A11BF-3E91-0B4B-8C8A-0A88E1D6B908}" type="slidenum">
              <a:rPr lang="en-US"/>
              <a:pPr/>
              <a:t>24</a:t>
            </a:fld>
            <a:endParaRPr lang="en-US"/>
          </a:p>
        </p:txBody>
      </p:sp>
      <p:sp>
        <p:nvSpPr>
          <p:cNvPr id="77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FFA3BF-32B4-E44B-874F-A4F6920323D0}" type="slidenum">
              <a:rPr lang="en-US"/>
              <a:pPr/>
              <a:t>25</a:t>
            </a:fld>
            <a:endParaRPr lang="en-US"/>
          </a:p>
        </p:txBody>
      </p:sp>
      <p:sp>
        <p:nvSpPr>
          <p:cNvPr id="7290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85390A-5E7D-3C40-949B-E272B2801199}" type="slidenum">
              <a:rPr lang="en-US"/>
              <a:pPr/>
              <a:t>26</a:t>
            </a:fld>
            <a:endParaRPr lang="en-US"/>
          </a:p>
        </p:txBody>
      </p:sp>
      <p:sp>
        <p:nvSpPr>
          <p:cNvPr id="7311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FA1DD6-DB22-654C-8B0A-6ED190869363}" type="slidenum">
              <a:rPr lang="en-US"/>
              <a:pPr/>
              <a:t>27</a:t>
            </a:fld>
            <a:endParaRPr lang="en-US"/>
          </a:p>
        </p:txBody>
      </p:sp>
      <p:sp>
        <p:nvSpPr>
          <p:cNvPr id="7331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99E563-E826-2E4B-8A11-C568A916ED3E}" type="slidenum">
              <a:rPr lang="en-US"/>
              <a:pPr/>
              <a:t>28</a:t>
            </a:fld>
            <a:endParaRPr lang="en-US"/>
          </a:p>
        </p:txBody>
      </p:sp>
      <p:sp>
        <p:nvSpPr>
          <p:cNvPr id="7352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353C4E-4063-5E40-9D8C-5F0B8283A2E9}" type="slidenum">
              <a:rPr lang="en-US"/>
              <a:pPr/>
              <a:t>29</a:t>
            </a:fld>
            <a:endParaRPr lang="en-US"/>
          </a:p>
        </p:txBody>
      </p:sp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1F0E0E-3BD5-AE46-AC64-8CACC5CB154F}" type="slidenum">
              <a:rPr lang="en-US"/>
              <a:pPr/>
              <a:t>30</a:t>
            </a:fld>
            <a:endParaRPr lang="en-US"/>
          </a:p>
        </p:txBody>
      </p:sp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9B9A2E-E41C-BE41-870B-D41B49B0CAD3}" type="slidenum">
              <a:rPr lang="en-US"/>
              <a:pPr/>
              <a:t>31</a:t>
            </a:fld>
            <a:endParaRPr lang="en-US"/>
          </a:p>
        </p:txBody>
      </p:sp>
      <p:sp>
        <p:nvSpPr>
          <p:cNvPr id="80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#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16632"/>
            <a:ext cx="8556625" cy="1052513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188640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536" y="1340768"/>
            <a:ext cx="8424936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825D3086-A3E2-0F4F-A56A-FBDBC34D94C2}" type="slidenum">
              <a:rPr lang="en-US" smtClean="0"/>
              <a:t>‹#›</a:t>
            </a:fld>
            <a:endParaRPr lang="en-US" sz="1400" dirty="0"/>
          </a:p>
        </p:txBody>
      </p:sp>
      <p:pic>
        <p:nvPicPr>
          <p:cNvPr id="15" name="Picture 10" descr="6251-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16632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7"/>
          <p:cNvSpPr>
            <a:spLocks noChangeArrowheads="1"/>
          </p:cNvSpPr>
          <p:nvPr userDrawn="1"/>
        </p:nvSpPr>
        <p:spPr bwMode="auto">
          <a:xfrm>
            <a:off x="107504" y="6381328"/>
            <a:ext cx="8892480" cy="38735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1000" b="1" dirty="0"/>
              <a:t>Introduzione agli algoritmi e strutture dati 2/ed</a:t>
            </a:r>
            <a:r>
              <a:rPr lang="it-IT" sz="1000" dirty="0"/>
              <a:t/>
            </a:r>
            <a:br>
              <a:rPr lang="it-IT" sz="1000" dirty="0"/>
            </a:br>
            <a:r>
              <a:rPr lang="it-IT" sz="1000" dirty="0"/>
              <a:t>T. H. </a:t>
            </a:r>
            <a:r>
              <a:rPr lang="it-IT" sz="1000" dirty="0" err="1"/>
              <a:t>Cormen</a:t>
            </a:r>
            <a:r>
              <a:rPr lang="it-IT" sz="1000" dirty="0"/>
              <a:t>, C. E. </a:t>
            </a:r>
            <a:r>
              <a:rPr lang="it-IT" sz="1000" dirty="0" err="1"/>
              <a:t>Leiserson</a:t>
            </a:r>
            <a:r>
              <a:rPr lang="it-IT" sz="1000" dirty="0"/>
              <a:t>, </a:t>
            </a:r>
            <a:r>
              <a:rPr lang="it-IT" sz="1000" dirty="0" err="1"/>
              <a:t>R</a:t>
            </a:r>
            <a:r>
              <a:rPr lang="it-IT" sz="1000" dirty="0"/>
              <a:t>. L. </a:t>
            </a:r>
            <a:r>
              <a:rPr lang="it-IT" sz="1000" dirty="0" err="1"/>
              <a:t>Rivest</a:t>
            </a:r>
            <a:r>
              <a:rPr lang="it-IT" sz="1000" dirty="0"/>
              <a:t>, C. Stein</a:t>
            </a:r>
          </a:p>
        </p:txBody>
      </p:sp>
      <p:pic>
        <p:nvPicPr>
          <p:cNvPr id="17" name="Picture 9" descr="McGraw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6400315"/>
            <a:ext cx="4143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2" r:id="rId4"/>
    <p:sldLayoutId id="2147483723" r:id="rId5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9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</a:t>
            </a: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13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Grafi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035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</a:t>
            </a:r>
          </a:p>
        </p:txBody>
      </p:sp>
      <p:sp>
        <p:nvSpPr>
          <p:cNvPr id="8140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2286000"/>
            <a:ext cx="8382000" cy="2971800"/>
          </a:xfrm>
        </p:spPr>
        <p:txBody>
          <a:bodyPr/>
          <a:lstStyle/>
          <a:p>
            <a:r>
              <a:rPr lang="en-US" sz="2800" dirty="0"/>
              <a:t>I </a:t>
            </a:r>
            <a:r>
              <a:rPr lang="en-US" sz="2800" dirty="0" err="1"/>
              <a:t>grafi</a:t>
            </a:r>
            <a:r>
              <a:rPr lang="en-US" sz="2800" dirty="0"/>
              <a:t> </a:t>
            </a:r>
            <a:r>
              <a:rPr lang="en-US" sz="2800" dirty="0" err="1"/>
              <a:t>sono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struttura</a:t>
            </a:r>
            <a:r>
              <a:rPr lang="en-US" sz="2800" dirty="0"/>
              <a:t> </a:t>
            </a:r>
            <a:r>
              <a:rPr lang="en-US" sz="2800" dirty="0" err="1"/>
              <a:t>matematica</a:t>
            </a:r>
            <a:r>
              <a:rPr lang="en-US" sz="2800" dirty="0"/>
              <a:t> </a:t>
            </a:r>
            <a:r>
              <a:rPr lang="en-US" sz="2800" dirty="0" err="1"/>
              <a:t>fondamentale</a:t>
            </a:r>
            <a:r>
              <a:rPr lang="en-US" sz="2800" dirty="0"/>
              <a:t>, </a:t>
            </a:r>
            <a:r>
              <a:rPr lang="en-US" sz="2800" dirty="0" err="1"/>
              <a:t>utilizzata</a:t>
            </a:r>
            <a:r>
              <a:rPr lang="en-US" sz="2800" dirty="0"/>
              <a:t> per </a:t>
            </a:r>
            <a:r>
              <a:rPr lang="en-US" sz="2800" dirty="0" err="1"/>
              <a:t>modellare</a:t>
            </a:r>
            <a:r>
              <a:rPr lang="en-US" sz="2800" dirty="0"/>
              <a:t> </a:t>
            </a:r>
            <a:r>
              <a:rPr lang="en-US" sz="2800" dirty="0" err="1"/>
              <a:t>numerosissimi</a:t>
            </a:r>
            <a:r>
              <a:rPr lang="en-US" sz="2800" dirty="0"/>
              <a:t> </a:t>
            </a:r>
            <a:r>
              <a:rPr lang="en-US" sz="2800" dirty="0" err="1"/>
              <a:t>problemi</a:t>
            </a:r>
            <a:r>
              <a:rPr lang="en-US" sz="2800" dirty="0"/>
              <a:t>, </a:t>
            </a:r>
            <a:r>
              <a:rPr lang="en-US" sz="2800" dirty="0" err="1"/>
              <a:t>anche</a:t>
            </a:r>
            <a:r>
              <a:rPr lang="en-US" sz="2800" dirty="0"/>
              <a:t> di </a:t>
            </a:r>
            <a:r>
              <a:rPr lang="en-US" sz="2800" dirty="0" err="1"/>
              <a:t>grande</a:t>
            </a:r>
            <a:r>
              <a:rPr lang="en-US" sz="2800" dirty="0"/>
              <a:t> </a:t>
            </a:r>
            <a:r>
              <a:rPr lang="en-US" sz="2800" dirty="0" err="1"/>
              <a:t>interesse</a:t>
            </a:r>
            <a:r>
              <a:rPr lang="en-US" sz="2800" dirty="0"/>
              <a:t> </a:t>
            </a:r>
            <a:r>
              <a:rPr lang="en-US" sz="2800" dirty="0" err="1"/>
              <a:t>applicativo</a:t>
            </a:r>
            <a:r>
              <a:rPr lang="en-US" sz="28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Definizioni base</a:t>
            </a:r>
            <a:endParaRPr lang="it-IT" dirty="0"/>
          </a:p>
        </p:txBody>
      </p:sp>
      <p:sp>
        <p:nvSpPr>
          <p:cNvPr id="447499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424936" cy="5328592"/>
          </a:xfrm>
        </p:spPr>
        <p:txBody>
          <a:bodyPr/>
          <a:lstStyle/>
          <a:p>
            <a:r>
              <a:rPr lang="it-IT" dirty="0" smtClean="0"/>
              <a:t>Un </a:t>
            </a:r>
            <a:r>
              <a:rPr lang="it-IT" dirty="0" smtClean="0">
                <a:solidFill>
                  <a:srgbClr val="008000"/>
                </a:solidFill>
              </a:rPr>
              <a:t>grafo orientato </a:t>
            </a:r>
            <a:r>
              <a:rPr lang="it-IT" dirty="0" smtClean="0"/>
              <a:t>G = (V,E) è una coppia costituita da </a:t>
            </a:r>
          </a:p>
          <a:p>
            <a:pPr lvl="1"/>
            <a:r>
              <a:rPr lang="it-IT" dirty="0" smtClean="0"/>
              <a:t>  un insieme finito non vuoto V di </a:t>
            </a:r>
            <a:r>
              <a:rPr lang="it-IT" dirty="0" smtClean="0">
                <a:solidFill>
                  <a:srgbClr val="008000"/>
                </a:solidFill>
              </a:rPr>
              <a:t>nodi</a:t>
            </a:r>
            <a:r>
              <a:rPr lang="it-IT" dirty="0" smtClean="0"/>
              <a:t> o </a:t>
            </a:r>
            <a:r>
              <a:rPr lang="it-IT" dirty="0" smtClean="0">
                <a:solidFill>
                  <a:srgbClr val="008000"/>
                </a:solidFill>
              </a:rPr>
              <a:t>vertici</a:t>
            </a:r>
            <a:r>
              <a:rPr lang="it-IT" dirty="0" smtClean="0"/>
              <a:t> (sia |V|=n)</a:t>
            </a:r>
          </a:p>
          <a:p>
            <a:pPr lvl="1"/>
            <a:r>
              <a:rPr lang="it-IT" dirty="0" smtClean="0"/>
              <a:t>  un insieme di </a:t>
            </a:r>
            <a:r>
              <a:rPr lang="it-IT" dirty="0" smtClean="0">
                <a:solidFill>
                  <a:srgbClr val="008000"/>
                </a:solidFill>
              </a:rPr>
              <a:t>archi</a:t>
            </a:r>
            <a:r>
              <a:rPr lang="it-IT" dirty="0" smtClean="0"/>
              <a:t> E</a:t>
            </a:r>
            <a:r>
              <a:rPr lang="it-IT" dirty="0" smtClean="0">
                <a:sym typeface="Symbol" charset="0"/>
              </a:rPr>
              <a:t>V</a:t>
            </a:r>
            <a:r>
              <a:rPr lang="it-IT" baseline="30000" dirty="0" smtClean="0"/>
              <a:t>2</a:t>
            </a:r>
            <a:r>
              <a:rPr lang="it-IT" dirty="0" smtClean="0"/>
              <a:t> (ovvero una relazione binaria su V) </a:t>
            </a:r>
          </a:p>
          <a:p>
            <a:r>
              <a:rPr lang="it-IT" dirty="0" smtClean="0"/>
              <a:t>Ogni arco è una coppia ordinata di vertici, (u,v)</a:t>
            </a:r>
            <a:r>
              <a:rPr lang="it-IT" dirty="0" smtClean="0">
                <a:sym typeface="Symbol" charset="0"/>
              </a:rPr>
              <a:t>V</a:t>
            </a:r>
            <a:r>
              <a:rPr lang="it-IT" baseline="30000" dirty="0" smtClean="0"/>
              <a:t>2</a:t>
            </a:r>
            <a:r>
              <a:rPr lang="it-IT" dirty="0" smtClean="0">
                <a:sym typeface="Symbol" charset="0"/>
              </a:rPr>
              <a:t>  </a:t>
            </a:r>
            <a:r>
              <a:rPr lang="it-IT" dirty="0" smtClean="0"/>
              <a:t>detti </a:t>
            </a:r>
            <a:r>
              <a:rPr lang="it-IT" dirty="0" smtClean="0">
                <a:solidFill>
                  <a:srgbClr val="008000"/>
                </a:solidFill>
              </a:rPr>
              <a:t>estremi</a:t>
            </a:r>
            <a:r>
              <a:rPr lang="it-IT" dirty="0" smtClean="0"/>
              <a:t> dell’arco. Più precisamente, u si dice </a:t>
            </a:r>
            <a:r>
              <a:rPr lang="it-IT" dirty="0" smtClean="0">
                <a:solidFill>
                  <a:srgbClr val="008000"/>
                </a:solidFill>
              </a:rPr>
              <a:t>sorgente</a:t>
            </a:r>
            <a:r>
              <a:rPr lang="it-IT" dirty="0" smtClean="0"/>
              <a:t> o </a:t>
            </a:r>
            <a:r>
              <a:rPr lang="it-IT" dirty="0" smtClean="0">
                <a:solidFill>
                  <a:srgbClr val="008000"/>
                </a:solidFill>
              </a:rPr>
              <a:t>testa</a:t>
            </a:r>
            <a:r>
              <a:rPr lang="it-IT" dirty="0" smtClean="0"/>
              <a:t> e v </a:t>
            </a:r>
            <a:r>
              <a:rPr lang="it-IT" dirty="0" smtClean="0">
                <a:solidFill>
                  <a:srgbClr val="008000"/>
                </a:solidFill>
              </a:rPr>
              <a:t>bersaglio</a:t>
            </a:r>
            <a:r>
              <a:rPr lang="it-IT" dirty="0" smtClean="0"/>
              <a:t> o </a:t>
            </a:r>
            <a:r>
              <a:rPr lang="it-IT" dirty="0" smtClean="0">
                <a:solidFill>
                  <a:srgbClr val="008000"/>
                </a:solidFill>
              </a:rPr>
              <a:t>coda</a:t>
            </a:r>
          </a:p>
          <a:p>
            <a:r>
              <a:rPr lang="it-IT" dirty="0" smtClean="0"/>
              <a:t>Un </a:t>
            </a:r>
            <a:r>
              <a:rPr lang="it-IT" dirty="0" smtClean="0">
                <a:solidFill>
                  <a:srgbClr val="008000"/>
                </a:solidFill>
              </a:rPr>
              <a:t>cappio</a:t>
            </a:r>
            <a:r>
              <a:rPr lang="it-IT" dirty="0" smtClean="0"/>
              <a:t> è un arco i cui estremi coincidono</a:t>
            </a:r>
          </a:p>
          <a:p>
            <a:r>
              <a:rPr lang="it-IT" dirty="0" smtClean="0"/>
              <a:t>Un nodo è </a:t>
            </a:r>
            <a:r>
              <a:rPr lang="it-IT" dirty="0" smtClean="0">
                <a:solidFill>
                  <a:srgbClr val="008000"/>
                </a:solidFill>
              </a:rPr>
              <a:t>isolato</a:t>
            </a:r>
            <a:r>
              <a:rPr lang="it-IT" dirty="0" smtClean="0"/>
              <a:t> se non è estremo di nessun arco</a:t>
            </a:r>
          </a:p>
          <a:p>
            <a:r>
              <a:rPr lang="it-IT" dirty="0" smtClean="0"/>
              <a:t>Un grafo è </a:t>
            </a:r>
            <a:r>
              <a:rPr lang="it-IT" dirty="0" smtClean="0">
                <a:solidFill>
                  <a:srgbClr val="008000"/>
                </a:solidFill>
              </a:rPr>
              <a:t>non orientato </a:t>
            </a:r>
            <a:r>
              <a:rPr lang="it-IT" dirty="0" smtClean="0"/>
              <a:t>quando non è dato un ordinamento tra i due estremi degli archi (lati) o, equivalentemente, se (u,v)</a:t>
            </a:r>
            <a:r>
              <a:rPr lang="it-IT" dirty="0" smtClean="0">
                <a:sym typeface="Symbol" charset="0"/>
              </a:rPr>
              <a:t>E </a:t>
            </a:r>
            <a:r>
              <a:rPr lang="it-IT" dirty="0" smtClean="0"/>
              <a:t>implica (v,u</a:t>
            </a:r>
            <a:r>
              <a:rPr lang="it-IT" smtClean="0"/>
              <a:t>)</a:t>
            </a:r>
            <a:r>
              <a:rPr lang="it-IT" smtClean="0">
                <a:sym typeface="Symbol" charset="0"/>
              </a:rPr>
              <a:t>E</a:t>
            </a:r>
            <a:endParaRPr lang="it-IT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Esempio: grafo orientato</a:t>
            </a:r>
          </a:p>
        </p:txBody>
      </p:sp>
      <p:grpSp>
        <p:nvGrpSpPr>
          <p:cNvPr id="818179" name="Group 3"/>
          <p:cNvGrpSpPr>
            <a:grpSpLocks/>
          </p:cNvGrpSpPr>
          <p:nvPr/>
        </p:nvGrpSpPr>
        <p:grpSpPr bwMode="auto">
          <a:xfrm>
            <a:off x="2133600" y="1676400"/>
            <a:ext cx="4267200" cy="2362200"/>
            <a:chOff x="672" y="1344"/>
            <a:chExt cx="2688" cy="1488"/>
          </a:xfrm>
        </p:grpSpPr>
        <p:sp>
          <p:nvSpPr>
            <p:cNvPr id="818180" name="Oval 4"/>
            <p:cNvSpPr>
              <a:spLocks noChangeArrowheads="1"/>
            </p:cNvSpPr>
            <p:nvPr/>
          </p:nvSpPr>
          <p:spPr bwMode="auto">
            <a:xfrm>
              <a:off x="1632" y="1536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latin typeface="Times New Roman" charset="0"/>
                </a:rPr>
                <a:t>1</a:t>
              </a:r>
            </a:p>
          </p:txBody>
        </p:sp>
        <p:sp>
          <p:nvSpPr>
            <p:cNvPr id="818181" name="Oval 5"/>
            <p:cNvSpPr>
              <a:spLocks noChangeArrowheads="1"/>
            </p:cNvSpPr>
            <p:nvPr/>
          </p:nvSpPr>
          <p:spPr bwMode="auto">
            <a:xfrm>
              <a:off x="3072" y="134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latin typeface="Times New Roman" charset="0"/>
                </a:rPr>
                <a:t>2</a:t>
              </a:r>
            </a:p>
          </p:txBody>
        </p:sp>
        <p:sp>
          <p:nvSpPr>
            <p:cNvPr id="818182" name="Oval 6"/>
            <p:cNvSpPr>
              <a:spLocks noChangeArrowheads="1"/>
            </p:cNvSpPr>
            <p:nvPr/>
          </p:nvSpPr>
          <p:spPr bwMode="auto">
            <a:xfrm>
              <a:off x="2400" y="2352"/>
              <a:ext cx="336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latin typeface="Times New Roman" charset="0"/>
                </a:rPr>
                <a:t>3</a:t>
              </a:r>
            </a:p>
          </p:txBody>
        </p:sp>
        <p:sp>
          <p:nvSpPr>
            <p:cNvPr id="818183" name="Oval 7"/>
            <p:cNvSpPr>
              <a:spLocks noChangeArrowheads="1"/>
            </p:cNvSpPr>
            <p:nvPr/>
          </p:nvSpPr>
          <p:spPr bwMode="auto">
            <a:xfrm>
              <a:off x="960" y="2592"/>
              <a:ext cx="336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latin typeface="Times New Roman" charset="0"/>
                </a:rPr>
                <a:t>4</a:t>
              </a:r>
            </a:p>
          </p:txBody>
        </p:sp>
        <p:sp>
          <p:nvSpPr>
            <p:cNvPr id="818184" name="Line 8"/>
            <p:cNvSpPr>
              <a:spLocks noChangeShapeType="1"/>
            </p:cNvSpPr>
            <p:nvPr/>
          </p:nvSpPr>
          <p:spPr bwMode="auto">
            <a:xfrm flipH="1">
              <a:off x="1152" y="1824"/>
              <a:ext cx="52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8185" name="Line 9"/>
            <p:cNvSpPr>
              <a:spLocks noChangeShapeType="1"/>
            </p:cNvSpPr>
            <p:nvPr/>
          </p:nvSpPr>
          <p:spPr bwMode="auto">
            <a:xfrm flipV="1">
              <a:off x="1296" y="2544"/>
              <a:ext cx="110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8186" name="Line 10"/>
            <p:cNvSpPr>
              <a:spLocks noChangeShapeType="1"/>
            </p:cNvSpPr>
            <p:nvPr/>
          </p:nvSpPr>
          <p:spPr bwMode="auto">
            <a:xfrm flipV="1">
              <a:off x="1920" y="1536"/>
              <a:ext cx="115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8187" name="Line 11"/>
            <p:cNvSpPr>
              <a:spLocks noChangeShapeType="1"/>
            </p:cNvSpPr>
            <p:nvPr/>
          </p:nvSpPr>
          <p:spPr bwMode="auto">
            <a:xfrm flipH="1" flipV="1">
              <a:off x="1872" y="1824"/>
              <a:ext cx="62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8188" name="Line 12"/>
            <p:cNvSpPr>
              <a:spLocks noChangeShapeType="1"/>
            </p:cNvSpPr>
            <p:nvPr/>
          </p:nvSpPr>
          <p:spPr bwMode="auto">
            <a:xfrm>
              <a:off x="1920" y="1776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8189" name="Line 13"/>
            <p:cNvSpPr>
              <a:spLocks noChangeShapeType="1"/>
            </p:cNvSpPr>
            <p:nvPr/>
          </p:nvSpPr>
          <p:spPr bwMode="auto">
            <a:xfrm flipV="1">
              <a:off x="2736" y="1632"/>
              <a:ext cx="43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818190" name="AutoShape 14"/>
            <p:cNvCxnSpPr>
              <a:cxnSpLocks noChangeShapeType="1"/>
              <a:stCxn id="818181" idx="6"/>
              <a:endCxn id="818181" idx="0"/>
            </p:cNvCxnSpPr>
            <p:nvPr/>
          </p:nvCxnSpPr>
          <p:spPr bwMode="auto">
            <a:xfrm flipH="1" flipV="1">
              <a:off x="3216" y="1344"/>
              <a:ext cx="144" cy="144"/>
            </a:xfrm>
            <a:prstGeom prst="curvedConnector4">
              <a:avLst>
                <a:gd name="adj1" fmla="val -100000"/>
                <a:gd name="adj2" fmla="val 2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18191" name="AutoShape 15"/>
            <p:cNvCxnSpPr>
              <a:cxnSpLocks noChangeShapeType="1"/>
              <a:stCxn id="818181" idx="5"/>
              <a:endCxn id="818183" idx="5"/>
            </p:cNvCxnSpPr>
            <p:nvPr/>
          </p:nvCxnSpPr>
          <p:spPr bwMode="auto">
            <a:xfrm rot="5400000">
              <a:off x="1679" y="1158"/>
              <a:ext cx="1207" cy="2071"/>
            </a:xfrm>
            <a:prstGeom prst="curvedConnector3">
              <a:avLst>
                <a:gd name="adj1" fmla="val 11482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818192" name="Oval 16"/>
            <p:cNvSpPr>
              <a:spLocks noChangeArrowheads="1"/>
            </p:cNvSpPr>
            <p:nvPr/>
          </p:nvSpPr>
          <p:spPr bwMode="auto">
            <a:xfrm>
              <a:off x="672" y="148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400">
                  <a:latin typeface="Times New Roman" charset="0"/>
                </a:rPr>
                <a:t>5</a:t>
              </a:r>
            </a:p>
          </p:txBody>
        </p:sp>
        <p:sp>
          <p:nvSpPr>
            <p:cNvPr id="818193" name="Line 17"/>
            <p:cNvSpPr>
              <a:spLocks noChangeShapeType="1"/>
            </p:cNvSpPr>
            <p:nvPr/>
          </p:nvSpPr>
          <p:spPr bwMode="auto">
            <a:xfrm>
              <a:off x="864" y="1776"/>
              <a:ext cx="192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8195" name="Text Box 19"/>
          <p:cNvSpPr txBox="1">
            <a:spLocks noChangeArrowheads="1"/>
          </p:cNvSpPr>
          <p:nvPr/>
        </p:nvSpPr>
        <p:spPr bwMode="auto">
          <a:xfrm>
            <a:off x="914400" y="4495800"/>
            <a:ext cx="7848600" cy="1489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sz="2400" b="1">
                <a:solidFill>
                  <a:schemeClr val="hlink"/>
                </a:solidFill>
                <a:latin typeface="Times New Roman" charset="0"/>
              </a:rPr>
              <a:t>V</a:t>
            </a:r>
            <a:r>
              <a:rPr lang="en-US" sz="2400">
                <a:latin typeface="Times New Roman" charset="0"/>
              </a:rPr>
              <a:t> = {1,2,3,4,5}</a:t>
            </a:r>
          </a:p>
          <a:p>
            <a:pPr eaLnBrk="0" hangingPunct="0">
              <a:lnSpc>
                <a:spcPct val="130000"/>
              </a:lnSpc>
            </a:pPr>
            <a:r>
              <a:rPr lang="en-US" sz="2400" b="1">
                <a:solidFill>
                  <a:schemeClr val="hlink"/>
                </a:solidFill>
                <a:latin typeface="Times New Roman" charset="0"/>
              </a:rPr>
              <a:t>E</a:t>
            </a:r>
            <a:r>
              <a:rPr lang="en-US" sz="2400">
                <a:latin typeface="Times New Roman" charset="0"/>
              </a:rPr>
              <a:t> = {(1,2), (1,3), (1,4), (2,2), (2,4), (3,1), (3,2), (4,3), (5,4)}</a:t>
            </a:r>
          </a:p>
          <a:p>
            <a:pPr eaLnBrk="0" hangingPunct="0">
              <a:lnSpc>
                <a:spcPct val="130000"/>
              </a:lnSpc>
            </a:pPr>
            <a:r>
              <a:rPr lang="en-US" sz="2400">
                <a:latin typeface="Times New Roman" charset="0"/>
              </a:rPr>
              <a:t>Il grafo ha 5 vertici e 9 archi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Titolo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>
                <a:solidFill>
                  <a:srgbClr val="FF0000"/>
                </a:solidFill>
              </a:rPr>
              <a:t>Esempio: grafo non orientato</a:t>
            </a:r>
          </a:p>
        </p:txBody>
      </p:sp>
      <p:pic>
        <p:nvPicPr>
          <p:cNvPr id="640003" name="Segnaposto contenuto 5" descr="grafff.png"/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2057400"/>
            <a:ext cx="3659188" cy="3000375"/>
          </a:xfrm>
        </p:spPr>
      </p:pic>
      <p:sp>
        <p:nvSpPr>
          <p:cNvPr id="640004" name="Segnaposto contenuto 4"/>
          <p:cNvSpPr>
            <a:spLocks noGrp="1"/>
          </p:cNvSpPr>
          <p:nvPr>
            <p:ph sz="half" idx="4294967295"/>
          </p:nvPr>
        </p:nvSpPr>
        <p:spPr>
          <a:xfrm>
            <a:off x="4724400" y="2590800"/>
            <a:ext cx="4038600" cy="2438400"/>
          </a:xfrm>
        </p:spPr>
        <p:txBody>
          <a:bodyPr/>
          <a:lstStyle/>
          <a:p>
            <a:pPr marL="273050" indent="-273050"/>
            <a:r>
              <a:rPr lang="it-IT"/>
              <a:t>V = {A, B, C, D, E, F}</a:t>
            </a:r>
          </a:p>
          <a:p>
            <a:pPr marL="273050" indent="-273050"/>
            <a:r>
              <a:rPr lang="it-IT"/>
              <a:t>E = {{A, B}, {A, F}, {A, E}, </a:t>
            </a:r>
          </a:p>
          <a:p>
            <a:pPr marL="273050" indent="-273050">
              <a:buFont typeface="Wingdings" charset="0"/>
              <a:buNone/>
            </a:pPr>
            <a:r>
              <a:rPr lang="it-IT"/>
              <a:t>	{E, F}, {B, C}}</a:t>
            </a:r>
          </a:p>
          <a:p>
            <a:pPr marL="273050" indent="-273050"/>
            <a:r>
              <a:rPr lang="it-IT"/>
              <a:t>D è un </a:t>
            </a:r>
            <a:r>
              <a:rPr lang="it-IT">
                <a:solidFill>
                  <a:schemeClr val="hlink"/>
                </a:solidFill>
              </a:rPr>
              <a:t>vertice isolato</a:t>
            </a:r>
            <a:endParaRPr lang="it-IT"/>
          </a:p>
        </p:txBody>
      </p:sp>
      <p:sp>
        <p:nvSpPr>
          <p:cNvPr id="640005" name="Rectangle 5"/>
          <p:cNvSpPr>
            <a:spLocks noChangeArrowheads="1"/>
          </p:cNvSpPr>
          <p:nvPr/>
        </p:nvSpPr>
        <p:spPr bwMode="auto">
          <a:xfrm>
            <a:off x="609600" y="5430838"/>
            <a:ext cx="6858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>
                <a:solidFill>
                  <a:srgbClr val="98234C"/>
                </a:solidFill>
                <a:latin typeface="Comic Sans MS" charset="0"/>
              </a:rPr>
              <a:t>N. B.: il numero di archi può andare da 0 a n</a:t>
            </a:r>
            <a:r>
              <a:rPr lang="it-IT" sz="2400" baseline="30000">
                <a:solidFill>
                  <a:srgbClr val="98234C"/>
                </a:solidFill>
                <a:latin typeface="Comic Sans MS" charset="0"/>
              </a:rPr>
              <a:t>2</a:t>
            </a:r>
            <a:r>
              <a:rPr lang="it-IT" sz="2400">
                <a:solidFill>
                  <a:srgbClr val="98234C"/>
                </a:solidFill>
                <a:latin typeface="Comic Sans MS" charset="0"/>
              </a:rPr>
              <a:t> 		(grafo completo)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Grafi pesati</a:t>
            </a:r>
            <a:endParaRPr lang="it-IT"/>
          </a:p>
        </p:txBody>
      </p:sp>
      <p:sp>
        <p:nvSpPr>
          <p:cNvPr id="82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Sia nel caso orientato che in quello non orientato agli archi di un grafo  può essere associata un</a:t>
            </a:r>
            <a:r>
              <a:rPr lang="ja-JP" altLang="en-US"/>
              <a:t>’</a:t>
            </a:r>
            <a:r>
              <a:rPr lang="en-US"/>
              <a:t>informazione, sovente un valore numerico  detto </a:t>
            </a:r>
            <a:r>
              <a:rPr lang="en-US">
                <a:solidFill>
                  <a:schemeClr val="hlink"/>
                </a:solidFill>
              </a:rPr>
              <a:t>costo</a:t>
            </a:r>
            <a:r>
              <a:rPr lang="en-US"/>
              <a:t> o </a:t>
            </a:r>
            <a:r>
              <a:rPr lang="en-US">
                <a:solidFill>
                  <a:schemeClr val="hlink"/>
                </a:solidFill>
              </a:rPr>
              <a:t>peso</a:t>
            </a:r>
            <a:r>
              <a:rPr lang="en-US"/>
              <a:t>. </a:t>
            </a:r>
          </a:p>
          <a:p>
            <a:r>
              <a:rPr lang="en-US"/>
              <a:t>I grafi in cui gli archi hanno un peso sono detti </a:t>
            </a:r>
            <a:r>
              <a:rPr lang="en-US">
                <a:solidFill>
                  <a:schemeClr val="hlink"/>
                </a:solidFill>
              </a:rPr>
              <a:t>grafi pesati</a:t>
            </a:r>
            <a:r>
              <a:rPr lang="en-US"/>
              <a:t> </a:t>
            </a:r>
          </a:p>
          <a:p>
            <a:r>
              <a:rPr lang="en-US"/>
              <a:t>Un grafo pesato può essere indicato con G = (V, E, w) dove w: E </a:t>
            </a:r>
            <a:r>
              <a:rPr lang="en-US">
                <a:sym typeface="Symbol" charset="0"/>
              </a:rPr>
              <a:t> </a:t>
            </a:r>
            <a:r>
              <a:rPr lang="en-US"/>
              <a:t>R è la </a:t>
            </a:r>
            <a:r>
              <a:rPr lang="en-US">
                <a:solidFill>
                  <a:schemeClr val="hlink"/>
                </a:solidFill>
              </a:rPr>
              <a:t>funzione peso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4" name="Oval 2"/>
          <p:cNvSpPr>
            <a:spLocks noChangeArrowheads="1"/>
          </p:cNvSpPr>
          <p:nvPr/>
        </p:nvSpPr>
        <p:spPr bwMode="auto">
          <a:xfrm>
            <a:off x="3657600" y="19812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400">
                <a:latin typeface="Times New Roman" charset="0"/>
              </a:rPr>
              <a:t>1</a:t>
            </a:r>
          </a:p>
        </p:txBody>
      </p:sp>
      <p:sp>
        <p:nvSpPr>
          <p:cNvPr id="822275" name="Oval 3"/>
          <p:cNvSpPr>
            <a:spLocks noChangeArrowheads="1"/>
          </p:cNvSpPr>
          <p:nvPr/>
        </p:nvSpPr>
        <p:spPr bwMode="auto">
          <a:xfrm>
            <a:off x="5943600" y="1676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400">
                <a:latin typeface="Times New Roman" charset="0"/>
              </a:rPr>
              <a:t>2</a:t>
            </a:r>
          </a:p>
        </p:txBody>
      </p:sp>
      <p:sp>
        <p:nvSpPr>
          <p:cNvPr id="822276" name="Oval 4"/>
          <p:cNvSpPr>
            <a:spLocks noChangeArrowheads="1"/>
          </p:cNvSpPr>
          <p:nvPr/>
        </p:nvSpPr>
        <p:spPr bwMode="auto">
          <a:xfrm>
            <a:off x="4876800" y="32766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400">
                <a:latin typeface="Times New Roman" charset="0"/>
              </a:rPr>
              <a:t>3</a:t>
            </a:r>
          </a:p>
        </p:txBody>
      </p:sp>
      <p:sp>
        <p:nvSpPr>
          <p:cNvPr id="822277" name="Oval 5"/>
          <p:cNvSpPr>
            <a:spLocks noChangeArrowheads="1"/>
          </p:cNvSpPr>
          <p:nvPr/>
        </p:nvSpPr>
        <p:spPr bwMode="auto">
          <a:xfrm>
            <a:off x="2590800" y="3657600"/>
            <a:ext cx="5334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400">
                <a:latin typeface="Times New Roman" charset="0"/>
              </a:rPr>
              <a:t>4</a:t>
            </a:r>
          </a:p>
        </p:txBody>
      </p:sp>
      <p:sp>
        <p:nvSpPr>
          <p:cNvPr id="822278" name="Line 6"/>
          <p:cNvSpPr>
            <a:spLocks noChangeShapeType="1"/>
          </p:cNvSpPr>
          <p:nvPr/>
        </p:nvSpPr>
        <p:spPr bwMode="auto">
          <a:xfrm flipH="1">
            <a:off x="2895600" y="2438400"/>
            <a:ext cx="838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79" name="Line 7"/>
          <p:cNvSpPr>
            <a:spLocks noChangeShapeType="1"/>
          </p:cNvSpPr>
          <p:nvPr/>
        </p:nvSpPr>
        <p:spPr bwMode="auto">
          <a:xfrm flipV="1">
            <a:off x="3124200" y="3581400"/>
            <a:ext cx="1752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80" name="Line 8"/>
          <p:cNvSpPr>
            <a:spLocks noChangeShapeType="1"/>
          </p:cNvSpPr>
          <p:nvPr/>
        </p:nvSpPr>
        <p:spPr bwMode="auto">
          <a:xfrm flipV="1">
            <a:off x="4114800" y="1981200"/>
            <a:ext cx="1828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81" name="Line 9"/>
          <p:cNvSpPr>
            <a:spLocks noChangeShapeType="1"/>
          </p:cNvSpPr>
          <p:nvPr/>
        </p:nvSpPr>
        <p:spPr bwMode="auto">
          <a:xfrm flipH="1" flipV="1">
            <a:off x="4038600" y="24384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82" name="Line 10"/>
          <p:cNvSpPr>
            <a:spLocks noChangeShapeType="1"/>
          </p:cNvSpPr>
          <p:nvPr/>
        </p:nvSpPr>
        <p:spPr bwMode="auto">
          <a:xfrm flipV="1">
            <a:off x="5410200" y="2133600"/>
            <a:ext cx="685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83" name="Oval 11"/>
          <p:cNvSpPr>
            <a:spLocks noChangeArrowheads="1"/>
          </p:cNvSpPr>
          <p:nvPr/>
        </p:nvSpPr>
        <p:spPr bwMode="auto">
          <a:xfrm>
            <a:off x="2133600" y="1905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400">
                <a:latin typeface="Times New Roman" charset="0"/>
              </a:rPr>
              <a:t>5</a:t>
            </a:r>
          </a:p>
        </p:txBody>
      </p:sp>
      <p:sp>
        <p:nvSpPr>
          <p:cNvPr id="822284" name="Text Box 12"/>
          <p:cNvSpPr txBox="1">
            <a:spLocks noChangeArrowheads="1"/>
          </p:cNvSpPr>
          <p:nvPr/>
        </p:nvSpPr>
        <p:spPr bwMode="auto">
          <a:xfrm>
            <a:off x="914400" y="4495800"/>
            <a:ext cx="7848600" cy="1489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sz="2400" b="1">
                <a:solidFill>
                  <a:schemeClr val="hlink"/>
                </a:solidFill>
                <a:latin typeface="Times New Roman" charset="0"/>
              </a:rPr>
              <a:t>V</a:t>
            </a:r>
            <a:r>
              <a:rPr lang="en-US" sz="2400">
                <a:latin typeface="Times New Roman" charset="0"/>
              </a:rPr>
              <a:t> = {1,2,3,4,5}</a:t>
            </a:r>
          </a:p>
          <a:p>
            <a:pPr eaLnBrk="0" hangingPunct="0">
              <a:lnSpc>
                <a:spcPct val="130000"/>
              </a:lnSpc>
            </a:pPr>
            <a:r>
              <a:rPr lang="en-US" sz="2400" b="1">
                <a:solidFill>
                  <a:schemeClr val="hlink"/>
                </a:solidFill>
                <a:latin typeface="Times New Roman" charset="0"/>
              </a:rPr>
              <a:t>E</a:t>
            </a:r>
            <a:r>
              <a:rPr lang="en-US" sz="2400">
                <a:latin typeface="Times New Roman" charset="0"/>
              </a:rPr>
              <a:t> = {{1,2}, {1,3},{1,4},{2,3},{4,3},{5,4},{5,1}}</a:t>
            </a:r>
          </a:p>
          <a:p>
            <a:pPr eaLnBrk="0" hangingPunct="0">
              <a:lnSpc>
                <a:spcPct val="130000"/>
              </a:lnSpc>
            </a:pPr>
            <a:endParaRPr lang="en-US" sz="2400">
              <a:latin typeface="Times New Roman" charset="0"/>
            </a:endParaRPr>
          </a:p>
        </p:txBody>
      </p:sp>
      <p:sp>
        <p:nvSpPr>
          <p:cNvPr id="822285" name="Line 13"/>
          <p:cNvSpPr>
            <a:spLocks noChangeShapeType="1"/>
          </p:cNvSpPr>
          <p:nvPr/>
        </p:nvSpPr>
        <p:spPr bwMode="auto">
          <a:xfrm>
            <a:off x="2438400" y="2362200"/>
            <a:ext cx="304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86" name="Line 14"/>
          <p:cNvSpPr>
            <a:spLocks noChangeShapeType="1"/>
          </p:cNvSpPr>
          <p:nvPr/>
        </p:nvSpPr>
        <p:spPr bwMode="auto">
          <a:xfrm>
            <a:off x="2590800" y="2133600"/>
            <a:ext cx="1066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287" name="Text Box 15"/>
          <p:cNvSpPr txBox="1">
            <a:spLocks noChangeArrowheads="1"/>
          </p:cNvSpPr>
          <p:nvPr/>
        </p:nvSpPr>
        <p:spPr bwMode="auto">
          <a:xfrm>
            <a:off x="2955925" y="16764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charset="0"/>
              </a:rPr>
              <a:t>-4</a:t>
            </a:r>
          </a:p>
        </p:txBody>
      </p:sp>
      <p:sp>
        <p:nvSpPr>
          <p:cNvPr id="822288" name="Text Box 16"/>
          <p:cNvSpPr txBox="1">
            <a:spLocks noChangeArrowheads="1"/>
          </p:cNvSpPr>
          <p:nvPr/>
        </p:nvSpPr>
        <p:spPr bwMode="auto">
          <a:xfrm>
            <a:off x="4784725" y="16351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400">
                <a:latin typeface="Times New Roman" charset="0"/>
              </a:rPr>
              <a:t>2</a:t>
            </a:r>
          </a:p>
        </p:txBody>
      </p:sp>
      <p:sp>
        <p:nvSpPr>
          <p:cNvPr id="822289" name="Text Box 17"/>
          <p:cNvSpPr txBox="1">
            <a:spLocks noChangeArrowheads="1"/>
          </p:cNvSpPr>
          <p:nvPr/>
        </p:nvSpPr>
        <p:spPr bwMode="auto">
          <a:xfrm>
            <a:off x="2193925" y="2667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charset="0"/>
              </a:rPr>
              <a:t>7</a:t>
            </a:r>
          </a:p>
        </p:txBody>
      </p:sp>
      <p:sp>
        <p:nvSpPr>
          <p:cNvPr id="822290" name="Text Box 18"/>
          <p:cNvSpPr txBox="1">
            <a:spLocks noChangeArrowheads="1"/>
          </p:cNvSpPr>
          <p:nvPr/>
        </p:nvSpPr>
        <p:spPr bwMode="auto">
          <a:xfrm>
            <a:off x="5851525" y="25558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charset="0"/>
              </a:rPr>
              <a:t>5</a:t>
            </a:r>
          </a:p>
        </p:txBody>
      </p:sp>
      <p:sp>
        <p:nvSpPr>
          <p:cNvPr id="822291" name="Text Box 19"/>
          <p:cNvSpPr txBox="1">
            <a:spLocks noChangeArrowheads="1"/>
          </p:cNvSpPr>
          <p:nvPr/>
        </p:nvSpPr>
        <p:spPr bwMode="auto">
          <a:xfrm>
            <a:off x="4632325" y="2514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charset="0"/>
              </a:rPr>
              <a:t>-1</a:t>
            </a:r>
          </a:p>
        </p:txBody>
      </p:sp>
      <p:sp>
        <p:nvSpPr>
          <p:cNvPr id="822292" name="Text Box 20"/>
          <p:cNvSpPr txBox="1">
            <a:spLocks noChangeArrowheads="1"/>
          </p:cNvSpPr>
          <p:nvPr/>
        </p:nvSpPr>
        <p:spPr bwMode="auto">
          <a:xfrm>
            <a:off x="3413125" y="2708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charset="0"/>
              </a:rPr>
              <a:t>8</a:t>
            </a:r>
          </a:p>
        </p:txBody>
      </p:sp>
      <p:sp>
        <p:nvSpPr>
          <p:cNvPr id="822293" name="Text Box 21"/>
          <p:cNvSpPr txBox="1">
            <a:spLocks noChangeArrowheads="1"/>
          </p:cNvSpPr>
          <p:nvPr/>
        </p:nvSpPr>
        <p:spPr bwMode="auto">
          <a:xfrm>
            <a:off x="3962400" y="3657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latin typeface="Times New Roman" charset="0"/>
              </a:rPr>
              <a:t>43</a:t>
            </a:r>
          </a:p>
        </p:txBody>
      </p:sp>
      <p:sp>
        <p:nvSpPr>
          <p:cNvPr id="822294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Esempio: grafo pesato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Definizioni base</a:t>
            </a:r>
          </a:p>
        </p:txBody>
      </p:sp>
      <p:sp>
        <p:nvSpPr>
          <p:cNvPr id="832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4953000"/>
          </a:xfrm>
        </p:spPr>
        <p:txBody>
          <a:bodyPr/>
          <a:lstStyle/>
          <a:p>
            <a:r>
              <a:rPr lang="it-IT"/>
              <a:t>Un arco può essere identificato con la coppia dei suoi estremi: </a:t>
            </a:r>
          </a:p>
          <a:p>
            <a:pPr algn="ctr">
              <a:spcBef>
                <a:spcPct val="60000"/>
              </a:spcBef>
              <a:buFont typeface="Wingdings" charset="0"/>
              <a:buNone/>
            </a:pPr>
            <a:r>
              <a:rPr lang="it-IT"/>
              <a:t>e </a:t>
            </a:r>
            <a:r>
              <a:rPr lang="it-IT">
                <a:sym typeface="Symbol" charset="0"/>
              </a:rPr>
              <a:t>= </a:t>
            </a:r>
            <a:r>
              <a:rPr lang="it-IT"/>
              <a:t>uv </a:t>
            </a:r>
            <a:r>
              <a:rPr lang="it-IT">
                <a:sym typeface="Symbol" charset="0"/>
              </a:rPr>
              <a:t> </a:t>
            </a:r>
            <a:r>
              <a:rPr lang="it-IT"/>
              <a:t>E </a:t>
            </a:r>
            <a:r>
              <a:rPr lang="it-IT">
                <a:sym typeface="Symbol" charset="0"/>
              </a:rPr>
              <a:t> V</a:t>
            </a:r>
            <a:r>
              <a:rPr lang="it-IT" baseline="30000"/>
              <a:t>2</a:t>
            </a:r>
            <a:endParaRPr lang="it-IT"/>
          </a:p>
          <a:p>
            <a:r>
              <a:rPr lang="it-IT"/>
              <a:t>Se e </a:t>
            </a:r>
            <a:r>
              <a:rPr lang="it-IT">
                <a:sym typeface="Symbol" charset="0"/>
              </a:rPr>
              <a:t>= </a:t>
            </a:r>
            <a:r>
              <a:rPr lang="it-IT"/>
              <a:t>uv </a:t>
            </a:r>
            <a:r>
              <a:rPr lang="it-IT">
                <a:sym typeface="Symbol" charset="0"/>
              </a:rPr>
              <a:t> </a:t>
            </a:r>
            <a:r>
              <a:rPr lang="it-IT"/>
              <a:t>E diciamo che l’arco e è </a:t>
            </a:r>
            <a:r>
              <a:rPr lang="it-IT">
                <a:solidFill>
                  <a:schemeClr val="hlink"/>
                </a:solidFill>
              </a:rPr>
              <a:t>incidente</a:t>
            </a:r>
            <a:r>
              <a:rPr lang="it-IT"/>
              <a:t> in u e in v, e i vertici u e v si dicono </a:t>
            </a:r>
            <a:r>
              <a:rPr lang="it-IT">
                <a:solidFill>
                  <a:schemeClr val="hlink"/>
                </a:solidFill>
              </a:rPr>
              <a:t>adiacenti.</a:t>
            </a:r>
          </a:p>
          <a:p>
            <a:r>
              <a:rPr lang="it-IT"/>
              <a:t>Se il grafo non è orientato la relazione di adiacenza è simmetrica.</a:t>
            </a:r>
          </a:p>
          <a:p>
            <a:r>
              <a:rPr lang="it-IT"/>
              <a:t>Se il grafo è orientato la coppia uv è ordinata. In questo caso diciamo che l’arco e </a:t>
            </a:r>
            <a:r>
              <a:rPr lang="it-IT">
                <a:solidFill>
                  <a:schemeClr val="hlink"/>
                </a:solidFill>
              </a:rPr>
              <a:t>esce</a:t>
            </a:r>
            <a:r>
              <a:rPr lang="it-IT"/>
              <a:t> da u ed </a:t>
            </a:r>
            <a:r>
              <a:rPr lang="it-IT">
                <a:solidFill>
                  <a:schemeClr val="hlink"/>
                </a:solidFill>
              </a:rPr>
              <a:t>entra</a:t>
            </a:r>
            <a:r>
              <a:rPr lang="it-IT"/>
              <a:t> in v.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Definizioni base</a:t>
            </a:r>
          </a:p>
        </p:txBody>
      </p:sp>
      <p:sp>
        <p:nvSpPr>
          <p:cNvPr id="83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Il </a:t>
            </a:r>
            <a:r>
              <a:rPr lang="it-IT">
                <a:solidFill>
                  <a:schemeClr val="hlink"/>
                </a:solidFill>
              </a:rPr>
              <a:t>grado</a:t>
            </a:r>
            <a:r>
              <a:rPr lang="it-IT"/>
              <a:t> </a:t>
            </a:r>
            <a:r>
              <a:rPr lang="it-IT">
                <a:sym typeface="Symbol" charset="0"/>
              </a:rPr>
              <a:t></a:t>
            </a:r>
            <a:r>
              <a:rPr lang="it-IT"/>
              <a:t>(v) del vertice v è il numero di archi incidenti in v. Se il grafo è orientato </a:t>
            </a:r>
            <a:r>
              <a:rPr lang="it-IT">
                <a:sym typeface="Symbol" charset="0"/>
              </a:rPr>
              <a:t></a:t>
            </a:r>
            <a:r>
              <a:rPr lang="it-IT"/>
              <a:t>(v) si suddivide in un </a:t>
            </a:r>
            <a:r>
              <a:rPr lang="it-IT">
                <a:solidFill>
                  <a:schemeClr val="hlink"/>
                </a:solidFill>
              </a:rPr>
              <a:t>grado entrante</a:t>
            </a:r>
            <a:r>
              <a:rPr lang="it-IT"/>
              <a:t> </a:t>
            </a:r>
            <a:r>
              <a:rPr lang="it-IT">
                <a:sym typeface="Symbol" charset="0"/>
              </a:rPr>
              <a:t></a:t>
            </a:r>
            <a:r>
              <a:rPr lang="it-IT" baseline="30000"/>
              <a:t>-</a:t>
            </a:r>
            <a:r>
              <a:rPr lang="it-IT"/>
              <a:t>(v) che è il numero di archi entranti in v ed un </a:t>
            </a:r>
            <a:r>
              <a:rPr lang="it-IT">
                <a:solidFill>
                  <a:schemeClr val="hlink"/>
                </a:solidFill>
              </a:rPr>
              <a:t>grado uscente</a:t>
            </a:r>
            <a:r>
              <a:rPr lang="it-IT"/>
              <a:t> </a:t>
            </a:r>
            <a:r>
              <a:rPr lang="it-IT">
                <a:sym typeface="Symbol" charset="0"/>
              </a:rPr>
              <a:t></a:t>
            </a:r>
            <a:r>
              <a:rPr lang="it-IT" baseline="30000"/>
              <a:t>+</a:t>
            </a:r>
            <a:r>
              <a:rPr lang="it-IT"/>
              <a:t>(v) che è il numero di archi uscenti da v. </a:t>
            </a:r>
          </a:p>
          <a:p>
            <a:r>
              <a:rPr lang="it-IT"/>
              <a:t>Un grafo è </a:t>
            </a:r>
            <a:r>
              <a:rPr lang="it-IT">
                <a:solidFill>
                  <a:schemeClr val="hlink"/>
                </a:solidFill>
              </a:rPr>
              <a:t>sparso</a:t>
            </a:r>
            <a:r>
              <a:rPr lang="it-IT"/>
              <a:t> se |E| = O(n), </a:t>
            </a:r>
            <a:r>
              <a:rPr lang="it-IT">
                <a:solidFill>
                  <a:schemeClr val="hlink"/>
                </a:solidFill>
              </a:rPr>
              <a:t>completo</a:t>
            </a:r>
            <a:r>
              <a:rPr lang="it-IT"/>
              <a:t> se E = </a:t>
            </a:r>
            <a:r>
              <a:rPr lang="it-IT">
                <a:sym typeface="Symbol" charset="0"/>
              </a:rPr>
              <a:t>V</a:t>
            </a:r>
            <a:r>
              <a:rPr lang="it-IT" baseline="30000"/>
              <a:t>2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Cosa possono modellare i grafi?</a:t>
            </a:r>
            <a:endParaRPr lang="en-US"/>
          </a:p>
        </p:txBody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Reti e relativi problemi</a:t>
            </a:r>
          </a:p>
          <a:p>
            <a:pPr lvl="1"/>
            <a:r>
              <a:rPr lang="en-US" smtClean="0"/>
              <a:t>rete stradale, ferroviaria, aeroportuale</a:t>
            </a:r>
          </a:p>
          <a:p>
            <a:pPr lvl="1"/>
            <a:r>
              <a:rPr lang="en-US" smtClean="0"/>
              <a:t>reti telefoniche</a:t>
            </a:r>
          </a:p>
          <a:p>
            <a:pPr lvl="1"/>
            <a:r>
              <a:rPr lang="en-US" smtClean="0"/>
              <a:t>reti di computers (inclusa internet)</a:t>
            </a:r>
          </a:p>
          <a:p>
            <a:pPr lvl="1"/>
            <a:r>
              <a:rPr lang="en-US" smtClean="0"/>
              <a:t>Problemi: raggiungibilità, distanza minima, flusso o traffico. (grafi non-orientati)</a:t>
            </a:r>
          </a:p>
          <a:p>
            <a:r>
              <a:rPr lang="en-US" smtClean="0"/>
              <a:t>Navigazione in internet</a:t>
            </a:r>
          </a:p>
          <a:p>
            <a:pPr lvl="1"/>
            <a:r>
              <a:rPr lang="en-US" smtClean="0"/>
              <a:t>documenti ipertestuali e relativi hyperlinks (grafi orientati)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034" name="Picture 2" descr="animsh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620000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203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Cosa possono modellare i grafi?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Cosa possono modellare i grafi?</a:t>
            </a:r>
            <a:endParaRPr lang="it-IT"/>
          </a:p>
        </p:txBody>
      </p:sp>
      <p:sp>
        <p:nvSpPr>
          <p:cNvPr id="80794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956E"/>
                </a:solidFill>
              </a:rPr>
              <a:t>Progetti  o piani</a:t>
            </a:r>
            <a:r>
              <a:rPr lang="en-US"/>
              <a:t> articolati in fasi o sottoobiettivi</a:t>
            </a:r>
          </a:p>
          <a:p>
            <a:pPr lvl="1"/>
            <a:r>
              <a:rPr lang="en-US"/>
              <a:t>i sottobiettivi sono i vertici, le azioni per conseguirli sono gli archi  </a:t>
            </a:r>
            <a:r>
              <a:rPr lang="en-US">
                <a:solidFill>
                  <a:schemeClr val="hlink"/>
                </a:solidFill>
              </a:rPr>
              <a:t>(grafi orientati)</a:t>
            </a:r>
            <a:endParaRPr lang="en-US">
              <a:solidFill>
                <a:schemeClr val="accent2"/>
              </a:solidFill>
            </a:endParaRPr>
          </a:p>
          <a:p>
            <a:r>
              <a:rPr lang="en-US">
                <a:solidFill>
                  <a:srgbClr val="00956E"/>
                </a:solidFill>
              </a:rPr>
              <a:t>Vincoli di precedenza</a:t>
            </a:r>
            <a:r>
              <a:rPr lang="en-US"/>
              <a:t> o causali  tra eventi </a:t>
            </a:r>
            <a:r>
              <a:rPr lang="en-US">
                <a:solidFill>
                  <a:schemeClr val="hlink"/>
                </a:solidFill>
              </a:rPr>
              <a:t>(grafi orientati e senza cicli)</a:t>
            </a:r>
            <a:endParaRPr lang="en-US"/>
          </a:p>
          <a:p>
            <a:r>
              <a:rPr lang="en-US">
                <a:solidFill>
                  <a:srgbClr val="00956E"/>
                </a:solidFill>
              </a:rPr>
              <a:t>Relazioni</a:t>
            </a:r>
            <a:r>
              <a:rPr lang="en-US"/>
              <a:t> tra concetti</a:t>
            </a:r>
          </a:p>
          <a:p>
            <a:pPr lvl="1"/>
            <a:r>
              <a:rPr lang="en-US"/>
              <a:t>somiglianza, inclusione, tassonomie </a:t>
            </a:r>
            <a:r>
              <a:rPr lang="en-US">
                <a:solidFill>
                  <a:schemeClr val="hlink"/>
                </a:solidFill>
              </a:rPr>
              <a:t>(sia grafi orientati che non-orientati)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Cosa possono modellare i grafi?</a:t>
            </a:r>
            <a:endParaRPr lang="it-IT"/>
          </a:p>
        </p:txBody>
      </p:sp>
      <p:sp>
        <p:nvSpPr>
          <p:cNvPr id="80998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956E"/>
                </a:solidFill>
              </a:rPr>
              <a:t>Sistemi</a:t>
            </a:r>
            <a:r>
              <a:rPr lang="en-US" dirty="0"/>
              <a:t> </a:t>
            </a:r>
            <a:r>
              <a:rPr lang="en-US" dirty="0" err="1"/>
              <a:t>fatti</a:t>
            </a:r>
            <a:r>
              <a:rPr lang="en-US" dirty="0"/>
              <a:t> di </a:t>
            </a:r>
            <a:r>
              <a:rPr lang="en-US" dirty="0" err="1"/>
              <a:t>stati</a:t>
            </a:r>
            <a:r>
              <a:rPr lang="en-US" dirty="0"/>
              <a:t> e </a:t>
            </a:r>
            <a:r>
              <a:rPr lang="en-US" dirty="0" err="1"/>
              <a:t>transizioni</a:t>
            </a:r>
            <a:endParaRPr lang="en-US" dirty="0"/>
          </a:p>
          <a:p>
            <a:pPr lvl="1"/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vertici</a:t>
            </a:r>
            <a:r>
              <a:rPr lang="en-US" dirty="0"/>
              <a:t>,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archi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le </a:t>
            </a:r>
            <a:r>
              <a:rPr lang="en-US" dirty="0" err="1"/>
              <a:t>transizioni</a:t>
            </a:r>
            <a:endParaRPr lang="en-US" dirty="0"/>
          </a:p>
          <a:p>
            <a:r>
              <a:rPr lang="en-US" dirty="0"/>
              <a:t>Ad </a:t>
            </a:r>
            <a:r>
              <a:rPr lang="en-US" dirty="0" err="1"/>
              <a:t>esempio</a:t>
            </a:r>
            <a:r>
              <a:rPr lang="en-US" dirty="0"/>
              <a:t>: in un </a:t>
            </a:r>
            <a:r>
              <a:rPr lang="en-US" dirty="0" err="1"/>
              <a:t>gioco</a:t>
            </a:r>
            <a:r>
              <a:rPr lang="en-US" dirty="0"/>
              <a:t> a </a:t>
            </a:r>
            <a:r>
              <a:rPr lang="en-US" dirty="0" err="1"/>
              <a:t>scacchiera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vertici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le </a:t>
            </a:r>
            <a:r>
              <a:rPr lang="en-US" dirty="0" err="1"/>
              <a:t>configurazioni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scacchiera</a:t>
            </a:r>
            <a:r>
              <a:rPr lang="en-US" dirty="0"/>
              <a:t> le </a:t>
            </a:r>
            <a:r>
              <a:rPr lang="en-US" dirty="0" err="1"/>
              <a:t>transizioni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le </a:t>
            </a:r>
            <a:r>
              <a:rPr lang="en-US" dirty="0" err="1"/>
              <a:t>mosse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posso</a:t>
            </a:r>
            <a:r>
              <a:rPr lang="en-US" dirty="0"/>
              <a:t> fare per </a:t>
            </a:r>
            <a:r>
              <a:rPr lang="en-US" dirty="0" err="1"/>
              <a:t>passare</a:t>
            </a:r>
            <a:r>
              <a:rPr lang="en-US" dirty="0"/>
              <a:t> da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configurazione</a:t>
            </a:r>
            <a:r>
              <a:rPr lang="en-US" dirty="0"/>
              <a:t> ad  un</a:t>
            </a:r>
            <a:r>
              <a:rPr lang="ja-JP" altLang="en-US" dirty="0"/>
              <a:t>’</a:t>
            </a:r>
            <a:r>
              <a:rPr lang="en-US" dirty="0" err="1"/>
              <a:t>altra</a:t>
            </a:r>
            <a:r>
              <a:rPr lang="en-US" dirty="0"/>
              <a:t> (in </a:t>
            </a:r>
            <a:r>
              <a:rPr lang="en-US" dirty="0" err="1"/>
              <a:t>genere</a:t>
            </a:r>
            <a:r>
              <a:rPr lang="en-US" dirty="0"/>
              <a:t> </a:t>
            </a:r>
            <a:r>
              <a:rPr lang="en-US" dirty="0" err="1">
                <a:solidFill>
                  <a:schemeClr val="hlink"/>
                </a:solidFill>
              </a:rPr>
              <a:t>grafi</a:t>
            </a:r>
            <a:r>
              <a:rPr lang="en-US" dirty="0">
                <a:solidFill>
                  <a:schemeClr val="hlink"/>
                </a:solidFill>
              </a:rPr>
              <a:t> </a:t>
            </a:r>
            <a:r>
              <a:rPr lang="en-US" dirty="0" err="1">
                <a:solidFill>
                  <a:schemeClr val="hlink"/>
                </a:solidFill>
              </a:rPr>
              <a:t>orientati</a:t>
            </a:r>
            <a:r>
              <a:rPr lang="en-US" dirty="0"/>
              <a:t>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322" name="Picture 2" descr="oja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47800"/>
            <a:ext cx="6705600" cy="483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4323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Cosa possono modellare i grafi?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370" name="Picture 2" descr="usersguideimg2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1600"/>
            <a:ext cx="5029200" cy="528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637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Cosa possono modellare i grafi?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418" name="Picture 2" descr="mathma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752600"/>
            <a:ext cx="4724400" cy="324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841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Cosa possono modellare i grafi?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466" name="Picture 2" descr="logo_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913" y="1219200"/>
            <a:ext cx="4448175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046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Cosa possono modellare i grafi?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Multigrafi</a:t>
            </a:r>
          </a:p>
        </p:txBody>
      </p:sp>
      <p:sp>
        <p:nvSpPr>
          <p:cNvPr id="71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Un grafo (orientato o no) come sopra definito si dice </a:t>
            </a:r>
            <a:r>
              <a:rPr lang="it-IT">
                <a:solidFill>
                  <a:schemeClr val="hlink"/>
                </a:solidFill>
              </a:rPr>
              <a:t>grafo semplice</a:t>
            </a:r>
            <a:r>
              <a:rPr lang="it-IT"/>
              <a:t>; se ammettiamo più archi con gli stessi estremi si parla di </a:t>
            </a:r>
            <a:r>
              <a:rPr lang="it-IT">
                <a:solidFill>
                  <a:schemeClr val="hlink"/>
                </a:solidFill>
              </a:rPr>
              <a:t>multigrafo</a:t>
            </a:r>
            <a:endParaRPr lang="it-IT"/>
          </a:p>
          <a:p>
            <a:r>
              <a:rPr lang="it-IT"/>
              <a:t>Salvo indicazione contraria noi assumeremo sempre che un grafo sia semplice, ma anche i multigrafi hanno applicazioni importanti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730" name="Group 2"/>
          <p:cNvGrpSpPr>
            <a:grpSpLocks/>
          </p:cNvGrpSpPr>
          <p:nvPr/>
        </p:nvGrpSpPr>
        <p:grpSpPr bwMode="auto">
          <a:xfrm>
            <a:off x="762000" y="2638425"/>
            <a:ext cx="2133600" cy="1447800"/>
            <a:chOff x="480" y="942"/>
            <a:chExt cx="1344" cy="912"/>
          </a:xfrm>
        </p:grpSpPr>
        <p:sp>
          <p:nvSpPr>
            <p:cNvPr id="713731" name="Oval 3"/>
            <p:cNvSpPr>
              <a:spLocks noChangeArrowheads="1"/>
            </p:cNvSpPr>
            <p:nvPr/>
          </p:nvSpPr>
          <p:spPr bwMode="auto">
            <a:xfrm>
              <a:off x="480" y="94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2" name="Oval 4"/>
            <p:cNvSpPr>
              <a:spLocks noChangeArrowheads="1"/>
            </p:cNvSpPr>
            <p:nvPr/>
          </p:nvSpPr>
          <p:spPr bwMode="auto">
            <a:xfrm>
              <a:off x="768" y="127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3" name="Oval 5"/>
            <p:cNvSpPr>
              <a:spLocks noChangeArrowheads="1"/>
            </p:cNvSpPr>
            <p:nvPr/>
          </p:nvSpPr>
          <p:spPr bwMode="auto">
            <a:xfrm>
              <a:off x="912" y="166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4" name="Oval 6"/>
            <p:cNvSpPr>
              <a:spLocks noChangeArrowheads="1"/>
            </p:cNvSpPr>
            <p:nvPr/>
          </p:nvSpPr>
          <p:spPr bwMode="auto">
            <a:xfrm>
              <a:off x="1104" y="94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5" name="Oval 7"/>
            <p:cNvSpPr>
              <a:spLocks noChangeArrowheads="1"/>
            </p:cNvSpPr>
            <p:nvPr/>
          </p:nvSpPr>
          <p:spPr bwMode="auto">
            <a:xfrm>
              <a:off x="1440" y="151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6" name="Oval 8"/>
            <p:cNvSpPr>
              <a:spLocks noChangeArrowheads="1"/>
            </p:cNvSpPr>
            <p:nvPr/>
          </p:nvSpPr>
          <p:spPr bwMode="auto">
            <a:xfrm>
              <a:off x="1632" y="94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7" name="Line 9"/>
            <p:cNvSpPr>
              <a:spLocks noChangeShapeType="1"/>
            </p:cNvSpPr>
            <p:nvPr/>
          </p:nvSpPr>
          <p:spPr bwMode="auto">
            <a:xfrm>
              <a:off x="672" y="103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8" name="Line 10"/>
            <p:cNvSpPr>
              <a:spLocks noChangeShapeType="1"/>
            </p:cNvSpPr>
            <p:nvPr/>
          </p:nvSpPr>
          <p:spPr bwMode="auto">
            <a:xfrm flipH="1">
              <a:off x="1056" y="1134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39" name="Line 11"/>
            <p:cNvSpPr>
              <a:spLocks noChangeShapeType="1"/>
            </p:cNvSpPr>
            <p:nvPr/>
          </p:nvSpPr>
          <p:spPr bwMode="auto">
            <a:xfrm>
              <a:off x="624" y="113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0" name="Line 12"/>
            <p:cNvSpPr>
              <a:spLocks noChangeShapeType="1"/>
            </p:cNvSpPr>
            <p:nvPr/>
          </p:nvSpPr>
          <p:spPr bwMode="auto">
            <a:xfrm>
              <a:off x="960" y="1422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1" name="Line 13"/>
            <p:cNvSpPr>
              <a:spLocks noChangeShapeType="1"/>
            </p:cNvSpPr>
            <p:nvPr/>
          </p:nvSpPr>
          <p:spPr bwMode="auto">
            <a:xfrm flipV="1">
              <a:off x="1104" y="1614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2" name="Line 14"/>
            <p:cNvSpPr>
              <a:spLocks noChangeShapeType="1"/>
            </p:cNvSpPr>
            <p:nvPr/>
          </p:nvSpPr>
          <p:spPr bwMode="auto">
            <a:xfrm flipV="1">
              <a:off x="960" y="108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3743" name="Group 15"/>
          <p:cNvGrpSpPr>
            <a:grpSpLocks/>
          </p:cNvGrpSpPr>
          <p:nvPr/>
        </p:nvGrpSpPr>
        <p:grpSpPr bwMode="auto">
          <a:xfrm>
            <a:off x="4191000" y="2590800"/>
            <a:ext cx="2133600" cy="1447800"/>
            <a:chOff x="2640" y="912"/>
            <a:chExt cx="1344" cy="912"/>
          </a:xfrm>
        </p:grpSpPr>
        <p:sp>
          <p:nvSpPr>
            <p:cNvPr id="713744" name="Oval 16"/>
            <p:cNvSpPr>
              <a:spLocks noChangeArrowheads="1"/>
            </p:cNvSpPr>
            <p:nvPr/>
          </p:nvSpPr>
          <p:spPr bwMode="auto">
            <a:xfrm>
              <a:off x="2640" y="91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5" name="Oval 17"/>
            <p:cNvSpPr>
              <a:spLocks noChangeArrowheads="1"/>
            </p:cNvSpPr>
            <p:nvPr/>
          </p:nvSpPr>
          <p:spPr bwMode="auto">
            <a:xfrm>
              <a:off x="2928" y="124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6" name="Oval 18"/>
            <p:cNvSpPr>
              <a:spLocks noChangeArrowheads="1"/>
            </p:cNvSpPr>
            <p:nvPr/>
          </p:nvSpPr>
          <p:spPr bwMode="auto">
            <a:xfrm>
              <a:off x="3072" y="16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7" name="Oval 19"/>
            <p:cNvSpPr>
              <a:spLocks noChangeArrowheads="1"/>
            </p:cNvSpPr>
            <p:nvPr/>
          </p:nvSpPr>
          <p:spPr bwMode="auto">
            <a:xfrm>
              <a:off x="3264" y="91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8" name="Oval 20"/>
            <p:cNvSpPr>
              <a:spLocks noChangeArrowheads="1"/>
            </p:cNvSpPr>
            <p:nvPr/>
          </p:nvSpPr>
          <p:spPr bwMode="auto">
            <a:xfrm>
              <a:off x="3600" y="148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9" name="Oval 21"/>
            <p:cNvSpPr>
              <a:spLocks noChangeArrowheads="1"/>
            </p:cNvSpPr>
            <p:nvPr/>
          </p:nvSpPr>
          <p:spPr bwMode="auto">
            <a:xfrm>
              <a:off x="3792" y="91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0" name="Line 22"/>
            <p:cNvSpPr>
              <a:spLocks noChangeShapeType="1"/>
            </p:cNvSpPr>
            <p:nvPr/>
          </p:nvSpPr>
          <p:spPr bwMode="auto">
            <a:xfrm>
              <a:off x="2832" y="10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1" name="Line 23"/>
            <p:cNvSpPr>
              <a:spLocks noChangeShapeType="1"/>
            </p:cNvSpPr>
            <p:nvPr/>
          </p:nvSpPr>
          <p:spPr bwMode="auto">
            <a:xfrm flipH="1">
              <a:off x="3168" y="1104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2" name="Line 24"/>
            <p:cNvSpPr>
              <a:spLocks noChangeShapeType="1"/>
            </p:cNvSpPr>
            <p:nvPr/>
          </p:nvSpPr>
          <p:spPr bwMode="auto">
            <a:xfrm>
              <a:off x="2784" y="110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13753" name="AutoShape 25"/>
            <p:cNvCxnSpPr>
              <a:cxnSpLocks noChangeShapeType="1"/>
            </p:cNvCxnSpPr>
            <p:nvPr/>
          </p:nvCxnSpPr>
          <p:spPr bwMode="auto">
            <a:xfrm rot="5400000" flipV="1">
              <a:off x="3696" y="1488"/>
              <a:ext cx="96" cy="96"/>
            </a:xfrm>
            <a:prstGeom prst="curvedConnector4">
              <a:avLst>
                <a:gd name="adj1" fmla="val -150000"/>
                <a:gd name="adj2" fmla="val 2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13754" name="Line 26"/>
            <p:cNvSpPr>
              <a:spLocks noChangeShapeType="1"/>
            </p:cNvSpPr>
            <p:nvPr/>
          </p:nvSpPr>
          <p:spPr bwMode="auto">
            <a:xfrm flipV="1">
              <a:off x="3216" y="1104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5" name="Line 27"/>
            <p:cNvSpPr>
              <a:spLocks noChangeShapeType="1"/>
            </p:cNvSpPr>
            <p:nvPr/>
          </p:nvSpPr>
          <p:spPr bwMode="auto">
            <a:xfrm>
              <a:off x="3120" y="1392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6" name="Line 28"/>
            <p:cNvSpPr>
              <a:spLocks noChangeShapeType="1"/>
            </p:cNvSpPr>
            <p:nvPr/>
          </p:nvSpPr>
          <p:spPr bwMode="auto">
            <a:xfrm flipV="1">
              <a:off x="3264" y="1584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7" name="Line 29"/>
            <p:cNvSpPr>
              <a:spLocks noChangeShapeType="1"/>
            </p:cNvSpPr>
            <p:nvPr/>
          </p:nvSpPr>
          <p:spPr bwMode="auto">
            <a:xfrm flipV="1">
              <a:off x="3264" y="1632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8" name="Line 30"/>
            <p:cNvSpPr>
              <a:spLocks noChangeShapeType="1"/>
            </p:cNvSpPr>
            <p:nvPr/>
          </p:nvSpPr>
          <p:spPr bwMode="auto">
            <a:xfrm flipV="1">
              <a:off x="3120" y="1008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9" name="Line 31"/>
            <p:cNvSpPr>
              <a:spLocks noChangeShapeType="1"/>
            </p:cNvSpPr>
            <p:nvPr/>
          </p:nvSpPr>
          <p:spPr bwMode="auto">
            <a:xfrm flipV="1">
              <a:off x="3120" y="105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3760" name="Group 32"/>
          <p:cNvGrpSpPr>
            <a:grpSpLocks/>
          </p:cNvGrpSpPr>
          <p:nvPr/>
        </p:nvGrpSpPr>
        <p:grpSpPr bwMode="auto">
          <a:xfrm>
            <a:off x="762000" y="4543425"/>
            <a:ext cx="2133600" cy="1447800"/>
            <a:chOff x="480" y="2526"/>
            <a:chExt cx="1344" cy="912"/>
          </a:xfrm>
        </p:grpSpPr>
        <p:sp>
          <p:nvSpPr>
            <p:cNvPr id="713761" name="Oval 33"/>
            <p:cNvSpPr>
              <a:spLocks noChangeArrowheads="1"/>
            </p:cNvSpPr>
            <p:nvPr/>
          </p:nvSpPr>
          <p:spPr bwMode="auto">
            <a:xfrm>
              <a:off x="480" y="252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2" name="Oval 34"/>
            <p:cNvSpPr>
              <a:spLocks noChangeArrowheads="1"/>
            </p:cNvSpPr>
            <p:nvPr/>
          </p:nvSpPr>
          <p:spPr bwMode="auto">
            <a:xfrm>
              <a:off x="768" y="286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3" name="Oval 35"/>
            <p:cNvSpPr>
              <a:spLocks noChangeArrowheads="1"/>
            </p:cNvSpPr>
            <p:nvPr/>
          </p:nvSpPr>
          <p:spPr bwMode="auto">
            <a:xfrm>
              <a:off x="912" y="324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4" name="Oval 36"/>
            <p:cNvSpPr>
              <a:spLocks noChangeArrowheads="1"/>
            </p:cNvSpPr>
            <p:nvPr/>
          </p:nvSpPr>
          <p:spPr bwMode="auto">
            <a:xfrm>
              <a:off x="1104" y="252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5" name="Oval 37"/>
            <p:cNvSpPr>
              <a:spLocks noChangeArrowheads="1"/>
            </p:cNvSpPr>
            <p:nvPr/>
          </p:nvSpPr>
          <p:spPr bwMode="auto">
            <a:xfrm>
              <a:off x="1440" y="310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6" name="Oval 38"/>
            <p:cNvSpPr>
              <a:spLocks noChangeArrowheads="1"/>
            </p:cNvSpPr>
            <p:nvPr/>
          </p:nvSpPr>
          <p:spPr bwMode="auto">
            <a:xfrm>
              <a:off x="1632" y="252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7" name="Line 39"/>
            <p:cNvSpPr>
              <a:spLocks noChangeShapeType="1"/>
            </p:cNvSpPr>
            <p:nvPr/>
          </p:nvSpPr>
          <p:spPr bwMode="auto">
            <a:xfrm>
              <a:off x="672" y="262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8" name="Line 40"/>
            <p:cNvSpPr>
              <a:spLocks noChangeShapeType="1"/>
            </p:cNvSpPr>
            <p:nvPr/>
          </p:nvSpPr>
          <p:spPr bwMode="auto">
            <a:xfrm flipH="1">
              <a:off x="1008" y="2718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9" name="Line 41"/>
            <p:cNvSpPr>
              <a:spLocks noChangeShapeType="1"/>
            </p:cNvSpPr>
            <p:nvPr/>
          </p:nvSpPr>
          <p:spPr bwMode="auto">
            <a:xfrm>
              <a:off x="624" y="271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0" name="Line 42"/>
            <p:cNvSpPr>
              <a:spLocks noChangeShapeType="1"/>
            </p:cNvSpPr>
            <p:nvPr/>
          </p:nvSpPr>
          <p:spPr bwMode="auto">
            <a:xfrm flipV="1">
              <a:off x="1056" y="2718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1" name="Line 43"/>
            <p:cNvSpPr>
              <a:spLocks noChangeShapeType="1"/>
            </p:cNvSpPr>
            <p:nvPr/>
          </p:nvSpPr>
          <p:spPr bwMode="auto">
            <a:xfrm>
              <a:off x="960" y="3006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2" name="Line 44"/>
            <p:cNvSpPr>
              <a:spLocks noChangeShapeType="1"/>
            </p:cNvSpPr>
            <p:nvPr/>
          </p:nvSpPr>
          <p:spPr bwMode="auto">
            <a:xfrm flipV="1">
              <a:off x="1104" y="3198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3" name="Line 45"/>
            <p:cNvSpPr>
              <a:spLocks noChangeShapeType="1"/>
            </p:cNvSpPr>
            <p:nvPr/>
          </p:nvSpPr>
          <p:spPr bwMode="auto">
            <a:xfrm flipV="1">
              <a:off x="960" y="2670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13774" name="AutoShape 46"/>
            <p:cNvCxnSpPr>
              <a:cxnSpLocks noChangeShapeType="1"/>
            </p:cNvCxnSpPr>
            <p:nvPr/>
          </p:nvCxnSpPr>
          <p:spPr bwMode="auto">
            <a:xfrm rot="5400000" flipV="1">
              <a:off x="1536" y="3120"/>
              <a:ext cx="96" cy="96"/>
            </a:xfrm>
            <a:prstGeom prst="curvedConnector4">
              <a:avLst>
                <a:gd name="adj1" fmla="val -150000"/>
                <a:gd name="adj2" fmla="val 2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713775" name="Group 47"/>
          <p:cNvGrpSpPr>
            <a:grpSpLocks/>
          </p:cNvGrpSpPr>
          <p:nvPr/>
        </p:nvGrpSpPr>
        <p:grpSpPr bwMode="auto">
          <a:xfrm>
            <a:off x="4114800" y="4495800"/>
            <a:ext cx="2133600" cy="1447800"/>
            <a:chOff x="2592" y="2496"/>
            <a:chExt cx="1344" cy="912"/>
          </a:xfrm>
        </p:grpSpPr>
        <p:sp>
          <p:nvSpPr>
            <p:cNvPr id="713776" name="Oval 48"/>
            <p:cNvSpPr>
              <a:spLocks noChangeArrowheads="1"/>
            </p:cNvSpPr>
            <p:nvPr/>
          </p:nvSpPr>
          <p:spPr bwMode="auto">
            <a:xfrm>
              <a:off x="2592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7" name="Oval 49"/>
            <p:cNvSpPr>
              <a:spLocks noChangeArrowheads="1"/>
            </p:cNvSpPr>
            <p:nvPr/>
          </p:nvSpPr>
          <p:spPr bwMode="auto">
            <a:xfrm>
              <a:off x="2880" y="28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8" name="Oval 50"/>
            <p:cNvSpPr>
              <a:spLocks noChangeArrowheads="1"/>
            </p:cNvSpPr>
            <p:nvPr/>
          </p:nvSpPr>
          <p:spPr bwMode="auto">
            <a:xfrm>
              <a:off x="3024" y="321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9" name="Oval 51"/>
            <p:cNvSpPr>
              <a:spLocks noChangeArrowheads="1"/>
            </p:cNvSpPr>
            <p:nvPr/>
          </p:nvSpPr>
          <p:spPr bwMode="auto">
            <a:xfrm>
              <a:off x="3216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0" name="Oval 52"/>
            <p:cNvSpPr>
              <a:spLocks noChangeArrowheads="1"/>
            </p:cNvSpPr>
            <p:nvPr/>
          </p:nvSpPr>
          <p:spPr bwMode="auto">
            <a:xfrm>
              <a:off x="3552" y="30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1" name="Oval 53"/>
            <p:cNvSpPr>
              <a:spLocks noChangeArrowheads="1"/>
            </p:cNvSpPr>
            <p:nvPr/>
          </p:nvSpPr>
          <p:spPr bwMode="auto">
            <a:xfrm>
              <a:off x="3744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2" name="Line 54"/>
            <p:cNvSpPr>
              <a:spLocks noChangeShapeType="1"/>
            </p:cNvSpPr>
            <p:nvPr/>
          </p:nvSpPr>
          <p:spPr bwMode="auto">
            <a:xfrm>
              <a:off x="2784" y="25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3" name="Line 55"/>
            <p:cNvSpPr>
              <a:spLocks noChangeShapeType="1"/>
            </p:cNvSpPr>
            <p:nvPr/>
          </p:nvSpPr>
          <p:spPr bwMode="auto">
            <a:xfrm flipH="1">
              <a:off x="3120" y="2688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4" name="Line 56"/>
            <p:cNvSpPr>
              <a:spLocks noChangeShapeType="1"/>
            </p:cNvSpPr>
            <p:nvPr/>
          </p:nvSpPr>
          <p:spPr bwMode="auto">
            <a:xfrm>
              <a:off x="2736" y="268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5" name="Line 57"/>
            <p:cNvSpPr>
              <a:spLocks noChangeShapeType="1"/>
            </p:cNvSpPr>
            <p:nvPr/>
          </p:nvSpPr>
          <p:spPr bwMode="auto">
            <a:xfrm flipV="1">
              <a:off x="3168" y="2688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6" name="Line 58"/>
            <p:cNvSpPr>
              <a:spLocks noChangeShapeType="1"/>
            </p:cNvSpPr>
            <p:nvPr/>
          </p:nvSpPr>
          <p:spPr bwMode="auto">
            <a:xfrm>
              <a:off x="3072" y="2976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7" name="Line 59"/>
            <p:cNvSpPr>
              <a:spLocks noChangeShapeType="1"/>
            </p:cNvSpPr>
            <p:nvPr/>
          </p:nvSpPr>
          <p:spPr bwMode="auto">
            <a:xfrm flipV="1">
              <a:off x="3216" y="3168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8" name="Line 60"/>
            <p:cNvSpPr>
              <a:spLocks noChangeShapeType="1"/>
            </p:cNvSpPr>
            <p:nvPr/>
          </p:nvSpPr>
          <p:spPr bwMode="auto">
            <a:xfrm flipV="1">
              <a:off x="3072" y="2640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13789" name="AutoShape 61"/>
            <p:cNvCxnSpPr>
              <a:cxnSpLocks noChangeShapeType="1"/>
            </p:cNvCxnSpPr>
            <p:nvPr/>
          </p:nvCxnSpPr>
          <p:spPr bwMode="auto">
            <a:xfrm rot="5400000" flipV="1">
              <a:off x="3648" y="3072"/>
              <a:ext cx="96" cy="96"/>
            </a:xfrm>
            <a:prstGeom prst="curvedConnector4">
              <a:avLst>
                <a:gd name="adj1" fmla="val -150000"/>
                <a:gd name="adj2" fmla="val 2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13790" name="Line 62"/>
            <p:cNvSpPr>
              <a:spLocks noChangeShapeType="1"/>
            </p:cNvSpPr>
            <p:nvPr/>
          </p:nvSpPr>
          <p:spPr bwMode="auto">
            <a:xfrm flipV="1">
              <a:off x="3216" y="3216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91" name="Line 63"/>
            <p:cNvSpPr>
              <a:spLocks noChangeShapeType="1"/>
            </p:cNvSpPr>
            <p:nvPr/>
          </p:nvSpPr>
          <p:spPr bwMode="auto">
            <a:xfrm flipV="1">
              <a:off x="3024" y="2592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3792" name="Text Box 64"/>
          <p:cNvSpPr txBox="1">
            <a:spLocks noChangeArrowheads="1"/>
          </p:cNvSpPr>
          <p:nvPr/>
        </p:nvSpPr>
        <p:spPr bwMode="auto">
          <a:xfrm>
            <a:off x="762000" y="1600200"/>
            <a:ext cx="2587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>
                <a:latin typeface="Times New Roman" charset="0"/>
              </a:rPr>
              <a:t>grafo semplice</a:t>
            </a:r>
          </a:p>
        </p:txBody>
      </p:sp>
      <p:sp>
        <p:nvSpPr>
          <p:cNvPr id="713793" name="Text Box 65"/>
          <p:cNvSpPr txBox="1">
            <a:spLocks noChangeArrowheads="1"/>
          </p:cNvSpPr>
          <p:nvPr/>
        </p:nvSpPr>
        <p:spPr bwMode="auto">
          <a:xfrm>
            <a:off x="4267200" y="1600200"/>
            <a:ext cx="19002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>
                <a:latin typeface="Times New Roman" charset="0"/>
              </a:rPr>
              <a:t>multigrafo</a:t>
            </a:r>
          </a:p>
        </p:txBody>
      </p:sp>
      <p:sp>
        <p:nvSpPr>
          <p:cNvPr id="713794" name="Text Box 66"/>
          <p:cNvSpPr txBox="1">
            <a:spLocks noChangeArrowheads="1"/>
          </p:cNvSpPr>
          <p:nvPr/>
        </p:nvSpPr>
        <p:spPr bwMode="auto">
          <a:xfrm>
            <a:off x="7010400" y="4800600"/>
            <a:ext cx="16287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>
                <a:latin typeface="Times New Roman" charset="0"/>
              </a:rPr>
              <a:t>orientato</a:t>
            </a:r>
          </a:p>
        </p:txBody>
      </p:sp>
      <p:sp>
        <p:nvSpPr>
          <p:cNvPr id="713795" name="Text Box 67"/>
          <p:cNvSpPr txBox="1">
            <a:spLocks noChangeArrowheads="1"/>
          </p:cNvSpPr>
          <p:nvPr/>
        </p:nvSpPr>
        <p:spPr bwMode="auto">
          <a:xfrm>
            <a:off x="6934200" y="2667000"/>
            <a:ext cx="16287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>
                <a:latin typeface="Times New Roman" charset="0"/>
              </a:rPr>
              <a:t>non </a:t>
            </a:r>
          </a:p>
          <a:p>
            <a:pPr eaLnBrk="0" hangingPunct="0"/>
            <a:r>
              <a:rPr lang="it-IT">
                <a:latin typeface="Times New Roman" charset="0"/>
              </a:rPr>
              <a:t>orientato</a:t>
            </a:r>
          </a:p>
        </p:txBody>
      </p:sp>
      <p:sp>
        <p:nvSpPr>
          <p:cNvPr id="713796" name="Rectangle 6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>
                <a:solidFill>
                  <a:srgbClr val="FF0000"/>
                </a:solidFill>
              </a:rPr>
              <a:t>Esempio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Definizioni base</a:t>
            </a: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it-IT"/>
              <a:t>Un </a:t>
            </a:r>
            <a:r>
              <a:rPr lang="it-IT">
                <a:solidFill>
                  <a:schemeClr val="hlink"/>
                </a:solidFill>
              </a:rPr>
              <a:t>cammino</a:t>
            </a:r>
            <a:r>
              <a:rPr lang="it-IT"/>
              <a:t> </a:t>
            </a:r>
            <a:r>
              <a:rPr lang="it-IT">
                <a:sym typeface="Symbol" charset="0"/>
              </a:rPr>
              <a:t> </a:t>
            </a:r>
            <a:r>
              <a:rPr lang="it-IT"/>
              <a:t>di </a:t>
            </a:r>
            <a:r>
              <a:rPr lang="it-IT">
                <a:solidFill>
                  <a:schemeClr val="hlink"/>
                </a:solidFill>
              </a:rPr>
              <a:t>lunghezza</a:t>
            </a:r>
            <a:r>
              <a:rPr lang="it-IT"/>
              <a:t> k dal vertice u al vertice v in un grafo G = (V,E) è una sequenza di k+1 vertici </a:t>
            </a:r>
            <a:r>
              <a:rPr lang="it-IT">
                <a:sym typeface="Symbol" charset="0"/>
              </a:rPr>
              <a:t> = x</a:t>
            </a:r>
            <a:r>
              <a:rPr lang="it-IT" baseline="-25000"/>
              <a:t>0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1</a:t>
            </a:r>
            <a:r>
              <a:rPr lang="it-IT">
                <a:sym typeface="Symbol" charset="0"/>
              </a:rPr>
              <a:t>... x</a:t>
            </a:r>
            <a:r>
              <a:rPr lang="it-IT" baseline="-25000"/>
              <a:t>k</a:t>
            </a:r>
            <a:r>
              <a:rPr lang="it-IT">
                <a:sym typeface="Symbol" charset="0"/>
              </a:rPr>
              <a:t> </a:t>
            </a:r>
            <a:r>
              <a:rPr lang="it-IT"/>
              <a:t>tali che 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0</a:t>
            </a:r>
            <a:r>
              <a:rPr lang="it-IT">
                <a:sym typeface="Symbol" charset="0"/>
              </a:rPr>
              <a:t>= u</a:t>
            </a:r>
            <a:r>
              <a:rPr lang="it-IT"/>
              <a:t>, 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k</a:t>
            </a:r>
            <a:r>
              <a:rPr lang="it-IT">
                <a:sym typeface="Symbol" charset="0"/>
              </a:rPr>
              <a:t>= v</a:t>
            </a:r>
            <a:r>
              <a:rPr lang="it-IT"/>
              <a:t> e 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i-1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i</a:t>
            </a:r>
            <a:r>
              <a:rPr lang="it-IT">
                <a:sym typeface="Symbol" charset="0"/>
              </a:rPr>
              <a:t>  </a:t>
            </a:r>
            <a:r>
              <a:rPr lang="it-IT"/>
              <a:t>E</a:t>
            </a:r>
            <a:r>
              <a:rPr lang="it-IT">
                <a:sym typeface="Symbol" charset="0"/>
              </a:rPr>
              <a:t> </a:t>
            </a:r>
            <a:r>
              <a:rPr lang="it-IT"/>
              <a:t>per i = 1,...,k </a:t>
            </a:r>
          </a:p>
          <a:p>
            <a:pPr>
              <a:lnSpc>
                <a:spcPct val="90000"/>
              </a:lnSpc>
            </a:pPr>
            <a:r>
              <a:rPr lang="it-IT"/>
              <a:t>Il cammino </a:t>
            </a:r>
            <a:r>
              <a:rPr lang="it-IT">
                <a:sym typeface="Symbol" charset="0"/>
              </a:rPr>
              <a:t> = x</a:t>
            </a:r>
            <a:r>
              <a:rPr lang="it-IT" baseline="-25000"/>
              <a:t>0</a:t>
            </a:r>
            <a:r>
              <a:rPr lang="it-IT">
                <a:sym typeface="Symbol" charset="0"/>
              </a:rPr>
              <a:t> </a:t>
            </a:r>
            <a:r>
              <a:rPr lang="it-IT"/>
              <a:t>ha </a:t>
            </a:r>
            <a:r>
              <a:rPr lang="it-IT">
                <a:solidFill>
                  <a:schemeClr val="hlink"/>
                </a:solidFill>
              </a:rPr>
              <a:t>lunghezza</a:t>
            </a:r>
            <a:r>
              <a:rPr lang="it-IT"/>
              <a:t> k = 0</a:t>
            </a:r>
          </a:p>
          <a:p>
            <a:pPr>
              <a:lnSpc>
                <a:spcPct val="90000"/>
              </a:lnSpc>
            </a:pPr>
            <a:r>
              <a:rPr lang="it-IT"/>
              <a:t>Se k &gt; 0 e 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0</a:t>
            </a:r>
            <a:r>
              <a:rPr lang="it-IT">
                <a:sym typeface="Symbol" charset="0"/>
              </a:rPr>
              <a:t>= x</a:t>
            </a:r>
            <a:r>
              <a:rPr lang="it-IT" baseline="-25000"/>
              <a:t>k</a:t>
            </a:r>
            <a:r>
              <a:rPr lang="it-IT">
                <a:sym typeface="Symbol" charset="0"/>
              </a:rPr>
              <a:t> </a:t>
            </a:r>
            <a:r>
              <a:rPr lang="it-IT"/>
              <a:t>diciamo che il cammino è </a:t>
            </a:r>
            <a:r>
              <a:rPr lang="it-IT">
                <a:solidFill>
                  <a:schemeClr val="hlink"/>
                </a:solidFill>
              </a:rPr>
              <a:t>chiuso</a:t>
            </a:r>
            <a:r>
              <a:rPr lang="it-IT"/>
              <a:t> </a:t>
            </a:r>
          </a:p>
          <a:p>
            <a:pPr>
              <a:lnSpc>
                <a:spcPct val="90000"/>
              </a:lnSpc>
            </a:pPr>
            <a:r>
              <a:rPr lang="it-IT"/>
              <a:t>Un cammino </a:t>
            </a:r>
            <a:r>
              <a:rPr lang="it-IT">
                <a:solidFill>
                  <a:schemeClr val="hlink"/>
                </a:solidFill>
              </a:rPr>
              <a:t>semplice</a:t>
            </a:r>
            <a:r>
              <a:rPr lang="it-IT"/>
              <a:t> è un cammino i cui vertici 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0</a:t>
            </a:r>
            <a:r>
              <a:rPr lang="it-IT">
                <a:sym typeface="Symbol" charset="0"/>
              </a:rPr>
              <a:t>, x</a:t>
            </a:r>
            <a:r>
              <a:rPr lang="it-IT" baseline="-25000"/>
              <a:t>1</a:t>
            </a:r>
            <a:r>
              <a:rPr lang="it-IT">
                <a:sym typeface="Symbol" charset="0"/>
              </a:rPr>
              <a:t>,..., x</a:t>
            </a:r>
            <a:r>
              <a:rPr lang="it-IT" baseline="-25000"/>
              <a:t>k</a:t>
            </a:r>
            <a:r>
              <a:rPr lang="it-IT"/>
              <a:t> sono tutti distinti con la possibile eccezione di </a:t>
            </a:r>
            <a:r>
              <a:rPr lang="it-IT">
                <a:sym typeface="Symbol" charset="0"/>
              </a:rPr>
              <a:t>x</a:t>
            </a:r>
            <a:r>
              <a:rPr lang="it-IT" baseline="-25000"/>
              <a:t>0</a:t>
            </a:r>
            <a:r>
              <a:rPr lang="it-IT">
                <a:sym typeface="Symbol" charset="0"/>
              </a:rPr>
              <a:t> = x</a:t>
            </a:r>
            <a:r>
              <a:rPr lang="it-IT" baseline="-25000"/>
              <a:t>k</a:t>
            </a:r>
            <a:r>
              <a:rPr lang="it-IT">
                <a:sym typeface="Symbol" charset="0"/>
              </a:rPr>
              <a:t>,</a:t>
            </a:r>
            <a:r>
              <a:rPr lang="it-IT" baseline="-25000"/>
              <a:t> </a:t>
            </a:r>
            <a:r>
              <a:rPr lang="it-IT"/>
              <a:t>nel qual caso esso è un </a:t>
            </a:r>
            <a:r>
              <a:rPr lang="it-IT">
                <a:solidFill>
                  <a:schemeClr val="hlink"/>
                </a:solidFill>
              </a:rPr>
              <a:t>ciclo. </a:t>
            </a:r>
            <a:r>
              <a:rPr lang="en-US"/>
              <a:t>Il ciclo è </a:t>
            </a:r>
            <a:r>
              <a:rPr lang="en-US" i="1" u="sng">
                <a:solidFill>
                  <a:schemeClr val="hlink"/>
                </a:solidFill>
              </a:rPr>
              <a:t>semplice</a:t>
            </a:r>
            <a:r>
              <a:rPr lang="en-US"/>
              <a:t> se </a:t>
            </a:r>
            <a:r>
              <a:rPr lang="en-US" b="1">
                <a:solidFill>
                  <a:schemeClr val="tx2"/>
                </a:solidFill>
              </a:rPr>
              <a:t>v</a:t>
            </a:r>
            <a:r>
              <a:rPr lang="en-US" b="1" baseline="-25000">
                <a:solidFill>
                  <a:schemeClr val="tx2"/>
                </a:solidFill>
              </a:rPr>
              <a:t>1</a:t>
            </a:r>
            <a:r>
              <a:rPr lang="en-US">
                <a:solidFill>
                  <a:schemeClr val="tx2"/>
                </a:solidFill>
              </a:rPr>
              <a:t>,…,</a:t>
            </a:r>
            <a:r>
              <a:rPr lang="en-US" b="1">
                <a:solidFill>
                  <a:schemeClr val="tx2"/>
                </a:solidFill>
              </a:rPr>
              <a:t>v</a:t>
            </a:r>
            <a:r>
              <a:rPr lang="en-US" b="1" baseline="-25000">
                <a:solidFill>
                  <a:schemeClr val="tx2"/>
                </a:solidFill>
              </a:rPr>
              <a:t>k</a:t>
            </a:r>
            <a:r>
              <a:rPr lang="en-US"/>
              <a:t> sono distinti </a:t>
            </a:r>
            <a:endParaRPr lang="it-IT"/>
          </a:p>
          <a:p>
            <a:pPr>
              <a:lnSpc>
                <a:spcPct val="90000"/>
              </a:lnSpc>
            </a:pPr>
            <a:r>
              <a:rPr lang="it-IT"/>
              <a:t>Un ciclo di lunghezza k = 1 è un cappio. </a:t>
            </a:r>
            <a:r>
              <a:rPr lang="en-US"/>
              <a:t>	</a:t>
            </a:r>
          </a:p>
          <a:p>
            <a:pPr>
              <a:lnSpc>
                <a:spcPct val="90000"/>
              </a:lnSpc>
            </a:pPr>
            <a:r>
              <a:rPr lang="it-IT"/>
              <a:t>Un grafo </a:t>
            </a:r>
            <a:r>
              <a:rPr lang="it-IT">
                <a:solidFill>
                  <a:schemeClr val="hlink"/>
                </a:solidFill>
              </a:rPr>
              <a:t>aciclico</a:t>
            </a:r>
            <a:r>
              <a:rPr lang="it-IT"/>
              <a:t> è un grafo che non contiene cicli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Definizioni base</a:t>
            </a:r>
          </a:p>
        </p:txBody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Quando esiste almeno un cammino dal vertice u al vertice v diciamo che il vertice v è </a:t>
            </a:r>
            <a:r>
              <a:rPr lang="it-IT">
                <a:solidFill>
                  <a:schemeClr val="hlink"/>
                </a:solidFill>
              </a:rPr>
              <a:t>accessibile</a:t>
            </a:r>
            <a:r>
              <a:rPr lang="it-IT"/>
              <a:t> o </a:t>
            </a:r>
            <a:r>
              <a:rPr lang="it-IT">
                <a:solidFill>
                  <a:schemeClr val="hlink"/>
                </a:solidFill>
              </a:rPr>
              <a:t>raggiungibile</a:t>
            </a:r>
            <a:r>
              <a:rPr lang="it-IT"/>
              <a:t> da u</a:t>
            </a:r>
          </a:p>
          <a:p>
            <a:r>
              <a:rPr lang="it-IT"/>
              <a:t>Un grafo non orientato si dice </a:t>
            </a:r>
            <a:r>
              <a:rPr lang="it-IT">
                <a:solidFill>
                  <a:schemeClr val="hlink"/>
                </a:solidFill>
              </a:rPr>
              <a:t>connesso</a:t>
            </a:r>
            <a:r>
              <a:rPr lang="it-IT"/>
              <a:t> se esiste almeno un cammino tra ogni coppia di vertici</a:t>
            </a:r>
          </a:p>
          <a:p>
            <a:r>
              <a:rPr lang="it-IT"/>
              <a:t>Le </a:t>
            </a:r>
            <a:r>
              <a:rPr lang="it-IT">
                <a:solidFill>
                  <a:schemeClr val="hlink"/>
                </a:solidFill>
              </a:rPr>
              <a:t>componenti connesse</a:t>
            </a:r>
            <a:r>
              <a:rPr lang="it-IT"/>
              <a:t> di un grafo sono le classi di equivalenza dei suoi vertici rispetto alla relazione di accessibilità, ovvero </a:t>
            </a:r>
            <a:r>
              <a:rPr lang="en-US"/>
              <a:t>insiemi </a:t>
            </a:r>
            <a:r>
              <a:rPr lang="en-US" b="1" i="1"/>
              <a:t>massimali</a:t>
            </a:r>
            <a:r>
              <a:rPr lang="en-US"/>
              <a:t> di vertici mutuamente raggiungibili 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Definizioni base</a:t>
            </a:r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Un grafo orientato si dice </a:t>
            </a:r>
            <a:r>
              <a:rPr lang="it-IT">
                <a:solidFill>
                  <a:schemeClr val="hlink"/>
                </a:solidFill>
              </a:rPr>
              <a:t>fortemente connesso</a:t>
            </a:r>
            <a:r>
              <a:rPr lang="it-IT"/>
              <a:t> se esiste almeno un cammino da ogni vertice u ad ogni altro vertice v</a:t>
            </a:r>
          </a:p>
          <a:p>
            <a:r>
              <a:rPr lang="it-IT"/>
              <a:t>Le </a:t>
            </a:r>
            <a:r>
              <a:rPr lang="it-IT">
                <a:solidFill>
                  <a:schemeClr val="hlink"/>
                </a:solidFill>
              </a:rPr>
              <a:t>componenti fortemente connesse</a:t>
            </a:r>
            <a:r>
              <a:rPr lang="it-IT"/>
              <a:t> di un grafo orientato sono le classi di equivalenza dei suoi vertici rispetto alla relazione di mutua accessibilità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Definizioni base</a:t>
            </a:r>
          </a:p>
        </p:txBody>
      </p:sp>
      <p:sp>
        <p:nvSpPr>
          <p:cNvPr id="72602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Un </a:t>
            </a:r>
            <a:r>
              <a:rPr lang="it-IT">
                <a:solidFill>
                  <a:schemeClr val="hlink"/>
                </a:solidFill>
              </a:rPr>
              <a:t>sottografo</a:t>
            </a:r>
            <a:r>
              <a:rPr lang="it-IT"/>
              <a:t> del grafo G = (V,E) è un grafo                G' = (V',E') tale che V' </a:t>
            </a:r>
            <a:r>
              <a:rPr lang="it-IT">
                <a:sym typeface="Symbol" charset="0"/>
              </a:rPr>
              <a:t></a:t>
            </a:r>
            <a:r>
              <a:rPr lang="it-IT"/>
              <a:t> V e E' </a:t>
            </a:r>
            <a:r>
              <a:rPr lang="it-IT">
                <a:sym typeface="Symbol" charset="0"/>
              </a:rPr>
              <a:t></a:t>
            </a:r>
            <a:r>
              <a:rPr lang="it-IT"/>
              <a:t> E</a:t>
            </a:r>
            <a:r>
              <a:rPr lang="it-IT">
                <a:sym typeface="Symbol" charset="0"/>
              </a:rPr>
              <a:t></a:t>
            </a:r>
            <a:r>
              <a:rPr lang="it-IT"/>
              <a:t>V’</a:t>
            </a:r>
            <a:r>
              <a:rPr lang="it-IT" baseline="30000"/>
              <a:t>2</a:t>
            </a:r>
            <a:r>
              <a:rPr lang="it-IT" sz="3200"/>
              <a:t> </a:t>
            </a:r>
            <a:endParaRPr lang="it-IT"/>
          </a:p>
          <a:p>
            <a:r>
              <a:rPr lang="it-IT"/>
              <a:t>Il </a:t>
            </a:r>
            <a:r>
              <a:rPr lang="it-IT">
                <a:solidFill>
                  <a:schemeClr val="hlink"/>
                </a:solidFill>
              </a:rPr>
              <a:t>sottografo</a:t>
            </a:r>
            <a:r>
              <a:rPr lang="it-IT"/>
              <a:t> di G = (V,E) </a:t>
            </a:r>
            <a:r>
              <a:rPr lang="it-IT">
                <a:solidFill>
                  <a:schemeClr val="hlink"/>
                </a:solidFill>
              </a:rPr>
              <a:t>indotto</a:t>
            </a:r>
            <a:r>
              <a:rPr lang="it-IT"/>
              <a:t> da V' </a:t>
            </a:r>
            <a:r>
              <a:rPr lang="it-IT">
                <a:sym typeface="Symbol" charset="0"/>
              </a:rPr>
              <a:t></a:t>
            </a:r>
            <a:r>
              <a:rPr lang="it-IT"/>
              <a:t> V è il grafo G' = (V',E') tale che</a:t>
            </a:r>
          </a:p>
          <a:p>
            <a:pPr algn="ctr">
              <a:buFont typeface="Wingdings" charset="0"/>
              <a:buNone/>
            </a:pPr>
            <a:r>
              <a:rPr lang="it-IT"/>
              <a:t>E' </a:t>
            </a:r>
            <a:r>
              <a:rPr lang="it-IT">
                <a:sym typeface="Symbol" charset="0"/>
              </a:rPr>
              <a:t>= {uv :</a:t>
            </a:r>
            <a:r>
              <a:rPr lang="it-IT"/>
              <a:t> </a:t>
            </a:r>
            <a:r>
              <a:rPr lang="it-IT">
                <a:sym typeface="Symbol" charset="0"/>
              </a:rPr>
              <a:t>uv  </a:t>
            </a:r>
            <a:r>
              <a:rPr lang="it-IT"/>
              <a:t>E e </a:t>
            </a:r>
            <a:r>
              <a:rPr lang="it-IT">
                <a:sym typeface="Symbol" charset="0"/>
              </a:rPr>
              <a:t>u,v  </a:t>
            </a:r>
            <a:r>
              <a:rPr lang="it-IT"/>
              <a:t>V'} = E</a:t>
            </a:r>
            <a:r>
              <a:rPr lang="it-IT">
                <a:sym typeface="Symbol" charset="0"/>
              </a:rPr>
              <a:t></a:t>
            </a:r>
            <a:r>
              <a:rPr lang="it-IT"/>
              <a:t>V’</a:t>
            </a:r>
            <a:r>
              <a:rPr lang="it-IT" baseline="30000"/>
              <a:t>2</a:t>
            </a:r>
            <a:r>
              <a:rPr lang="it-IT" sz="320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Titolo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>
                <a:solidFill>
                  <a:srgbClr val="FF0000"/>
                </a:solidFill>
              </a:rPr>
              <a:t>Esempio</a:t>
            </a:r>
          </a:p>
        </p:txBody>
      </p:sp>
      <p:sp>
        <p:nvSpPr>
          <p:cNvPr id="741379" name="Segnaposto contenuto 4"/>
          <p:cNvSpPr>
            <a:spLocks noGrp="1"/>
          </p:cNvSpPr>
          <p:nvPr>
            <p:ph sz="half" idx="4294967295"/>
          </p:nvPr>
        </p:nvSpPr>
        <p:spPr>
          <a:xfrm>
            <a:off x="3810000" y="1371600"/>
            <a:ext cx="4876800" cy="5257800"/>
          </a:xfrm>
        </p:spPr>
        <p:txBody>
          <a:bodyPr/>
          <a:lstStyle/>
          <a:p>
            <a:pPr marL="0" indent="0">
              <a:buNone/>
            </a:pPr>
            <a:r>
              <a:rPr lang="it-IT" sz="2200" dirty="0"/>
              <a:t>V = {</a:t>
            </a:r>
            <a:r>
              <a:rPr lang="it-IT" sz="2200" dirty="0" err="1"/>
              <a:t>a,b,c,d,e</a:t>
            </a:r>
            <a:r>
              <a:rPr lang="it-IT" sz="2200" dirty="0"/>
              <a:t>}</a:t>
            </a:r>
          </a:p>
          <a:p>
            <a:pPr marL="0" indent="0">
              <a:buNone/>
            </a:pPr>
            <a:r>
              <a:rPr lang="it-IT" sz="2200" dirty="0"/>
              <a:t>E = {{</a:t>
            </a:r>
            <a:r>
              <a:rPr lang="it-IT" sz="2200" dirty="0" err="1"/>
              <a:t>a,b</a:t>
            </a:r>
            <a:r>
              <a:rPr lang="it-IT" sz="2200" dirty="0"/>
              <a:t>}, {</a:t>
            </a:r>
            <a:r>
              <a:rPr lang="it-IT" sz="2200" dirty="0" err="1"/>
              <a:t>b,c</a:t>
            </a:r>
            <a:r>
              <a:rPr lang="it-IT" sz="2200" dirty="0"/>
              <a:t>}, {</a:t>
            </a:r>
            <a:r>
              <a:rPr lang="it-IT" sz="2200" dirty="0" err="1"/>
              <a:t>c,d</a:t>
            </a:r>
            <a:r>
              <a:rPr lang="it-IT" sz="2200" dirty="0"/>
              <a:t>}, {</a:t>
            </a:r>
            <a:r>
              <a:rPr lang="it-IT" sz="2200" dirty="0" err="1"/>
              <a:t>d,e</a:t>
            </a:r>
            <a:r>
              <a:rPr lang="it-IT" sz="2200" dirty="0"/>
              <a:t>}, {</a:t>
            </a:r>
            <a:r>
              <a:rPr lang="it-IT" sz="2200" dirty="0" err="1"/>
              <a:t>e,a</a:t>
            </a:r>
            <a:r>
              <a:rPr lang="it-IT" sz="2200" dirty="0"/>
              <a:t>}}</a:t>
            </a:r>
          </a:p>
          <a:p>
            <a:pPr marL="0" indent="0">
              <a:buNone/>
            </a:pPr>
            <a:endParaRPr lang="it-IT" sz="2200" dirty="0"/>
          </a:p>
          <a:p>
            <a:pPr marL="0" indent="0">
              <a:buNone/>
            </a:pPr>
            <a:r>
              <a:rPr lang="it-IT" sz="2200" dirty="0"/>
              <a:t>V’ = {a, b, c, e} = V”</a:t>
            </a:r>
          </a:p>
          <a:p>
            <a:pPr marL="0" indent="0">
              <a:buNone/>
            </a:pPr>
            <a:r>
              <a:rPr lang="it-IT" sz="2200" dirty="0"/>
              <a:t>E’ = {{</a:t>
            </a:r>
            <a:r>
              <a:rPr lang="it-IT" sz="2200" dirty="0" err="1"/>
              <a:t>b,c</a:t>
            </a:r>
            <a:r>
              <a:rPr lang="it-IT" sz="2200" dirty="0"/>
              <a:t>}, {</a:t>
            </a:r>
            <a:r>
              <a:rPr lang="it-IT" sz="2200" dirty="0" err="1"/>
              <a:t>e,a</a:t>
            </a:r>
            <a:r>
              <a:rPr lang="it-IT" sz="2200" dirty="0"/>
              <a:t>}} </a:t>
            </a:r>
            <a:r>
              <a:rPr lang="it-IT" sz="2200" dirty="0">
                <a:sym typeface="Symbol" charset="0"/>
              </a:rPr>
              <a:t> </a:t>
            </a:r>
            <a:r>
              <a:rPr lang="it-IT" sz="2200" dirty="0"/>
              <a:t>E</a:t>
            </a:r>
            <a:r>
              <a:rPr lang="it-IT" sz="2200" dirty="0">
                <a:sym typeface="Symbol" charset="0"/>
              </a:rPr>
              <a:t></a:t>
            </a:r>
            <a:r>
              <a:rPr lang="it-IT" sz="2200" dirty="0"/>
              <a:t>V’</a:t>
            </a:r>
            <a:r>
              <a:rPr lang="it-IT" sz="2200" baseline="48000" dirty="0"/>
              <a:t>2</a:t>
            </a:r>
            <a:r>
              <a:rPr lang="it-IT" sz="2200" dirty="0"/>
              <a:t> </a:t>
            </a:r>
          </a:p>
          <a:p>
            <a:pPr marL="0" indent="0">
              <a:buNone/>
            </a:pPr>
            <a:r>
              <a:rPr lang="it-IT" sz="2200" dirty="0"/>
              <a:t>G’ è </a:t>
            </a:r>
            <a:r>
              <a:rPr lang="it-IT" sz="2200" dirty="0" err="1"/>
              <a:t>sottografo</a:t>
            </a:r>
            <a:r>
              <a:rPr lang="it-IT" sz="2200" dirty="0"/>
              <a:t> di G</a:t>
            </a:r>
          </a:p>
          <a:p>
            <a:pPr marL="0" indent="0">
              <a:buNone/>
            </a:pPr>
            <a:endParaRPr lang="it-IT" sz="2200" dirty="0"/>
          </a:p>
          <a:p>
            <a:pPr marL="0" indent="0">
              <a:buNone/>
            </a:pPr>
            <a:r>
              <a:rPr lang="it-IT" sz="2200" dirty="0"/>
              <a:t>E” = {{</a:t>
            </a:r>
            <a:r>
              <a:rPr lang="it-IT" sz="2200" dirty="0" err="1"/>
              <a:t>a,b</a:t>
            </a:r>
            <a:r>
              <a:rPr lang="it-IT" sz="2200" dirty="0"/>
              <a:t>}, {</a:t>
            </a:r>
            <a:r>
              <a:rPr lang="it-IT" sz="2200" dirty="0" err="1"/>
              <a:t>b,c</a:t>
            </a:r>
            <a:r>
              <a:rPr lang="it-IT" sz="2200" dirty="0"/>
              <a:t>}, {</a:t>
            </a:r>
            <a:r>
              <a:rPr lang="it-IT" sz="2200" dirty="0" err="1"/>
              <a:t>e,a</a:t>
            </a:r>
            <a:r>
              <a:rPr lang="it-IT" sz="2200" dirty="0"/>
              <a:t>}} </a:t>
            </a:r>
            <a:r>
              <a:rPr lang="it-IT" sz="2200" dirty="0">
                <a:sym typeface="Symbol" charset="0"/>
              </a:rPr>
              <a:t>= </a:t>
            </a:r>
            <a:r>
              <a:rPr lang="it-IT" sz="2200" dirty="0"/>
              <a:t>E</a:t>
            </a:r>
            <a:r>
              <a:rPr lang="it-IT" sz="2200" dirty="0">
                <a:sym typeface="Symbol" charset="0"/>
              </a:rPr>
              <a:t></a:t>
            </a:r>
            <a:r>
              <a:rPr lang="it-IT" sz="2200" dirty="0"/>
              <a:t>V’</a:t>
            </a:r>
            <a:r>
              <a:rPr lang="it-IT" sz="2200" baseline="48000" dirty="0"/>
              <a:t>2</a:t>
            </a:r>
            <a:r>
              <a:rPr lang="it-IT" sz="2200" dirty="0"/>
              <a:t> </a:t>
            </a:r>
          </a:p>
          <a:p>
            <a:pPr marL="0" indent="0">
              <a:buNone/>
            </a:pPr>
            <a:r>
              <a:rPr lang="it-IT" sz="2200" dirty="0"/>
              <a:t>G” è </a:t>
            </a:r>
            <a:r>
              <a:rPr lang="it-IT" sz="2200" dirty="0" err="1"/>
              <a:t>sottografo</a:t>
            </a:r>
            <a:r>
              <a:rPr lang="it-IT" sz="2200" dirty="0"/>
              <a:t> indotto</a:t>
            </a:r>
          </a:p>
        </p:txBody>
      </p:sp>
      <p:grpSp>
        <p:nvGrpSpPr>
          <p:cNvPr id="741394" name="Group 18"/>
          <p:cNvGrpSpPr>
            <a:grpSpLocks/>
          </p:cNvGrpSpPr>
          <p:nvPr/>
        </p:nvGrpSpPr>
        <p:grpSpPr bwMode="auto">
          <a:xfrm>
            <a:off x="533400" y="1219200"/>
            <a:ext cx="2314575" cy="1692275"/>
            <a:chOff x="336" y="960"/>
            <a:chExt cx="1458" cy="1066"/>
          </a:xfrm>
        </p:grpSpPr>
        <p:sp>
          <p:nvSpPr>
            <p:cNvPr id="741381" name="Line 5"/>
            <p:cNvSpPr>
              <a:spLocks noChangeShapeType="1"/>
            </p:cNvSpPr>
            <p:nvPr/>
          </p:nvSpPr>
          <p:spPr bwMode="auto">
            <a:xfrm rot="5400000">
              <a:off x="744" y="15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3" name="Line 7"/>
            <p:cNvSpPr>
              <a:spLocks noChangeShapeType="1"/>
            </p:cNvSpPr>
            <p:nvPr/>
          </p:nvSpPr>
          <p:spPr bwMode="auto">
            <a:xfrm>
              <a:off x="432" y="120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5" name="Line 9"/>
            <p:cNvSpPr>
              <a:spLocks noChangeShapeType="1"/>
            </p:cNvSpPr>
            <p:nvPr/>
          </p:nvSpPr>
          <p:spPr bwMode="auto">
            <a:xfrm rot="5400000">
              <a:off x="744" y="888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6" name="Line 10"/>
            <p:cNvSpPr>
              <a:spLocks noChangeShapeType="1"/>
            </p:cNvSpPr>
            <p:nvPr/>
          </p:nvSpPr>
          <p:spPr bwMode="auto">
            <a:xfrm rot="5400000">
              <a:off x="1176" y="1416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7" name="Line 11"/>
            <p:cNvSpPr>
              <a:spLocks noChangeShapeType="1"/>
            </p:cNvSpPr>
            <p:nvPr/>
          </p:nvSpPr>
          <p:spPr bwMode="auto">
            <a:xfrm rot="16200000" flipV="1">
              <a:off x="1152" y="1104"/>
              <a:ext cx="33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88" name="Text Box 12"/>
            <p:cNvSpPr txBox="1">
              <a:spLocks noChangeArrowheads="1"/>
            </p:cNvSpPr>
            <p:nvPr/>
          </p:nvSpPr>
          <p:spPr bwMode="auto">
            <a:xfrm>
              <a:off x="336" y="1776"/>
              <a:ext cx="1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a</a:t>
              </a:r>
            </a:p>
          </p:txBody>
        </p:sp>
        <p:sp>
          <p:nvSpPr>
            <p:cNvPr id="741389" name="Text Box 13"/>
            <p:cNvSpPr txBox="1">
              <a:spLocks noChangeArrowheads="1"/>
            </p:cNvSpPr>
            <p:nvPr/>
          </p:nvSpPr>
          <p:spPr bwMode="auto">
            <a:xfrm>
              <a:off x="1584" y="1392"/>
              <a:ext cx="2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d</a:t>
              </a:r>
            </a:p>
          </p:txBody>
        </p:sp>
        <p:sp>
          <p:nvSpPr>
            <p:cNvPr id="741390" name="Text Box 14"/>
            <p:cNvSpPr txBox="1">
              <a:spLocks noChangeArrowheads="1"/>
            </p:cNvSpPr>
            <p:nvPr/>
          </p:nvSpPr>
          <p:spPr bwMode="auto">
            <a:xfrm>
              <a:off x="960" y="960"/>
              <a:ext cx="1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c</a:t>
              </a:r>
            </a:p>
          </p:txBody>
        </p:sp>
        <p:sp>
          <p:nvSpPr>
            <p:cNvPr id="741391" name="Text Box 15"/>
            <p:cNvSpPr txBox="1">
              <a:spLocks noChangeArrowheads="1"/>
            </p:cNvSpPr>
            <p:nvPr/>
          </p:nvSpPr>
          <p:spPr bwMode="auto">
            <a:xfrm>
              <a:off x="336" y="960"/>
              <a:ext cx="2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b</a:t>
              </a:r>
            </a:p>
          </p:txBody>
        </p:sp>
        <p:sp>
          <p:nvSpPr>
            <p:cNvPr id="741392" name="Text Box 16"/>
            <p:cNvSpPr txBox="1">
              <a:spLocks noChangeArrowheads="1"/>
            </p:cNvSpPr>
            <p:nvPr/>
          </p:nvSpPr>
          <p:spPr bwMode="auto">
            <a:xfrm>
              <a:off x="960" y="1776"/>
              <a:ext cx="2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e</a:t>
              </a:r>
            </a:p>
          </p:txBody>
        </p:sp>
        <p:sp>
          <p:nvSpPr>
            <p:cNvPr id="741393" name="Text Box 17"/>
            <p:cNvSpPr txBox="1">
              <a:spLocks noChangeArrowheads="1"/>
            </p:cNvSpPr>
            <p:nvPr/>
          </p:nvSpPr>
          <p:spPr bwMode="auto">
            <a:xfrm>
              <a:off x="672" y="1392"/>
              <a:ext cx="2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G</a:t>
              </a:r>
            </a:p>
          </p:txBody>
        </p:sp>
      </p:grpSp>
      <p:grpSp>
        <p:nvGrpSpPr>
          <p:cNvPr id="741420" name="Group 44"/>
          <p:cNvGrpSpPr>
            <a:grpSpLocks/>
          </p:cNvGrpSpPr>
          <p:nvPr/>
        </p:nvGrpSpPr>
        <p:grpSpPr bwMode="auto">
          <a:xfrm>
            <a:off x="685800" y="4800600"/>
            <a:ext cx="1314450" cy="1692275"/>
            <a:chOff x="432" y="3024"/>
            <a:chExt cx="828" cy="1066"/>
          </a:xfrm>
        </p:grpSpPr>
        <p:sp>
          <p:nvSpPr>
            <p:cNvPr id="741396" name="Line 20"/>
            <p:cNvSpPr>
              <a:spLocks noChangeShapeType="1"/>
            </p:cNvSpPr>
            <p:nvPr/>
          </p:nvSpPr>
          <p:spPr bwMode="auto">
            <a:xfrm rot="5400000">
              <a:off x="840" y="357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97" name="Line 21"/>
            <p:cNvSpPr>
              <a:spLocks noChangeShapeType="1"/>
            </p:cNvSpPr>
            <p:nvPr/>
          </p:nvSpPr>
          <p:spPr bwMode="auto">
            <a:xfrm>
              <a:off x="528" y="3264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398" name="Line 22"/>
            <p:cNvSpPr>
              <a:spLocks noChangeShapeType="1"/>
            </p:cNvSpPr>
            <p:nvPr/>
          </p:nvSpPr>
          <p:spPr bwMode="auto">
            <a:xfrm rot="5400000">
              <a:off x="840" y="295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401" name="Text Box 25"/>
            <p:cNvSpPr txBox="1">
              <a:spLocks noChangeArrowheads="1"/>
            </p:cNvSpPr>
            <p:nvPr/>
          </p:nvSpPr>
          <p:spPr bwMode="auto">
            <a:xfrm>
              <a:off x="432" y="3840"/>
              <a:ext cx="1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a</a:t>
              </a:r>
            </a:p>
          </p:txBody>
        </p:sp>
        <p:sp>
          <p:nvSpPr>
            <p:cNvPr id="741403" name="Text Box 27"/>
            <p:cNvSpPr txBox="1">
              <a:spLocks noChangeArrowheads="1"/>
            </p:cNvSpPr>
            <p:nvPr/>
          </p:nvSpPr>
          <p:spPr bwMode="auto">
            <a:xfrm>
              <a:off x="1056" y="3024"/>
              <a:ext cx="1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c</a:t>
              </a:r>
            </a:p>
          </p:txBody>
        </p:sp>
        <p:sp>
          <p:nvSpPr>
            <p:cNvPr id="741404" name="Text Box 28"/>
            <p:cNvSpPr txBox="1">
              <a:spLocks noChangeArrowheads="1"/>
            </p:cNvSpPr>
            <p:nvPr/>
          </p:nvSpPr>
          <p:spPr bwMode="auto">
            <a:xfrm>
              <a:off x="432" y="3024"/>
              <a:ext cx="2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b</a:t>
              </a:r>
            </a:p>
          </p:txBody>
        </p:sp>
        <p:sp>
          <p:nvSpPr>
            <p:cNvPr id="741405" name="Text Box 29"/>
            <p:cNvSpPr txBox="1">
              <a:spLocks noChangeArrowheads="1"/>
            </p:cNvSpPr>
            <p:nvPr/>
          </p:nvSpPr>
          <p:spPr bwMode="auto">
            <a:xfrm>
              <a:off x="1056" y="3840"/>
              <a:ext cx="2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e</a:t>
              </a:r>
            </a:p>
          </p:txBody>
        </p:sp>
        <p:sp>
          <p:nvSpPr>
            <p:cNvPr id="741406" name="Text Box 30"/>
            <p:cNvSpPr txBox="1">
              <a:spLocks noChangeArrowheads="1"/>
            </p:cNvSpPr>
            <p:nvPr/>
          </p:nvSpPr>
          <p:spPr bwMode="auto">
            <a:xfrm>
              <a:off x="768" y="3456"/>
              <a:ext cx="2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G’’</a:t>
              </a:r>
            </a:p>
          </p:txBody>
        </p:sp>
      </p:grpSp>
      <p:grpSp>
        <p:nvGrpSpPr>
          <p:cNvPr id="741419" name="Group 43"/>
          <p:cNvGrpSpPr>
            <a:grpSpLocks/>
          </p:cNvGrpSpPr>
          <p:nvPr/>
        </p:nvGrpSpPr>
        <p:grpSpPr bwMode="auto">
          <a:xfrm>
            <a:off x="609600" y="3048000"/>
            <a:ext cx="1314450" cy="1692275"/>
            <a:chOff x="384" y="1968"/>
            <a:chExt cx="828" cy="1066"/>
          </a:xfrm>
        </p:grpSpPr>
        <p:sp>
          <p:nvSpPr>
            <p:cNvPr id="741408" name="Line 32"/>
            <p:cNvSpPr>
              <a:spLocks noChangeShapeType="1"/>
            </p:cNvSpPr>
            <p:nvPr/>
          </p:nvSpPr>
          <p:spPr bwMode="auto">
            <a:xfrm rot="5400000">
              <a:off x="792" y="252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410" name="Line 34"/>
            <p:cNvSpPr>
              <a:spLocks noChangeShapeType="1"/>
            </p:cNvSpPr>
            <p:nvPr/>
          </p:nvSpPr>
          <p:spPr bwMode="auto">
            <a:xfrm rot="5400000">
              <a:off x="792" y="189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1413" name="Text Box 37"/>
            <p:cNvSpPr txBox="1">
              <a:spLocks noChangeArrowheads="1"/>
            </p:cNvSpPr>
            <p:nvPr/>
          </p:nvSpPr>
          <p:spPr bwMode="auto">
            <a:xfrm>
              <a:off x="384" y="2784"/>
              <a:ext cx="1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a</a:t>
              </a:r>
            </a:p>
          </p:txBody>
        </p:sp>
        <p:sp>
          <p:nvSpPr>
            <p:cNvPr id="741415" name="Text Box 39"/>
            <p:cNvSpPr txBox="1">
              <a:spLocks noChangeArrowheads="1"/>
            </p:cNvSpPr>
            <p:nvPr/>
          </p:nvSpPr>
          <p:spPr bwMode="auto">
            <a:xfrm>
              <a:off x="1008" y="1968"/>
              <a:ext cx="19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c</a:t>
              </a:r>
            </a:p>
          </p:txBody>
        </p:sp>
        <p:sp>
          <p:nvSpPr>
            <p:cNvPr id="741416" name="Text Box 40"/>
            <p:cNvSpPr txBox="1">
              <a:spLocks noChangeArrowheads="1"/>
            </p:cNvSpPr>
            <p:nvPr/>
          </p:nvSpPr>
          <p:spPr bwMode="auto">
            <a:xfrm>
              <a:off x="384" y="1968"/>
              <a:ext cx="2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b</a:t>
              </a:r>
            </a:p>
          </p:txBody>
        </p:sp>
        <p:sp>
          <p:nvSpPr>
            <p:cNvPr id="741417" name="Text Box 41"/>
            <p:cNvSpPr txBox="1">
              <a:spLocks noChangeArrowheads="1"/>
            </p:cNvSpPr>
            <p:nvPr/>
          </p:nvSpPr>
          <p:spPr bwMode="auto">
            <a:xfrm>
              <a:off x="1008" y="2784"/>
              <a:ext cx="2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e</a:t>
              </a:r>
            </a:p>
          </p:txBody>
        </p:sp>
        <p:sp>
          <p:nvSpPr>
            <p:cNvPr id="741418" name="Text Box 42"/>
            <p:cNvSpPr txBox="1">
              <a:spLocks noChangeArrowheads="1"/>
            </p:cNvSpPr>
            <p:nvPr/>
          </p:nvSpPr>
          <p:spPr bwMode="auto">
            <a:xfrm>
              <a:off x="720" y="2400"/>
              <a:ext cx="25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000">
                  <a:latin typeface="Comic Sans MS" charset="0"/>
                </a:rPr>
                <a:t>G’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Rappresentazione dei grafi</a:t>
            </a:r>
          </a:p>
        </p:txBody>
      </p:sp>
      <p:sp>
        <p:nvSpPr>
          <p:cNvPr id="72807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Vi sono due modi standard per rappresentare un grafo G = (V,E):</a:t>
            </a:r>
          </a:p>
          <a:p>
            <a:pPr lvl="1"/>
            <a:r>
              <a:rPr lang="it-IT"/>
              <a:t>con le </a:t>
            </a:r>
            <a:r>
              <a:rPr lang="it-IT">
                <a:solidFill>
                  <a:schemeClr val="hlink"/>
                </a:solidFill>
              </a:rPr>
              <a:t>liste di adiacenza</a:t>
            </a:r>
            <a:r>
              <a:rPr lang="it-IT"/>
              <a:t> o </a:t>
            </a:r>
          </a:p>
          <a:p>
            <a:pPr lvl="1"/>
            <a:r>
              <a:rPr lang="it-IT"/>
              <a:t>con la </a:t>
            </a:r>
            <a:r>
              <a:rPr lang="it-IT">
                <a:solidFill>
                  <a:schemeClr val="hlink"/>
                </a:solidFill>
              </a:rPr>
              <a:t>matrice di adiacenza</a:t>
            </a:r>
            <a:endParaRPr lang="it-IT"/>
          </a:p>
          <a:p>
            <a:r>
              <a:rPr lang="it-IT"/>
              <a:t>La rappresentazione di G = (V,E) mediante liste di adiacenza è costituita da un array Adj di n puntatori, uno per ogni vertice </a:t>
            </a:r>
            <a:r>
              <a:rPr lang="it-IT">
                <a:sym typeface="Symbol" charset="0"/>
              </a:rPr>
              <a:t>u</a:t>
            </a:r>
            <a:r>
              <a:rPr lang="it-IT"/>
              <a:t>V, tale che Adj[u] punta ad una lista in cui sono memorizzati i vertici adiacenti al vertice u (ossia tutti i vertici v tali che uv </a:t>
            </a:r>
            <a:r>
              <a:rPr lang="it-IT">
                <a:sym typeface="Symbol" charset="0"/>
              </a:rPr>
              <a:t> </a:t>
            </a:r>
            <a:r>
              <a:rPr lang="it-IT"/>
              <a:t>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0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934346"/>
              </p:ext>
            </p:extLst>
          </p:nvPr>
        </p:nvGraphicFramePr>
        <p:xfrm>
          <a:off x="2699792" y="3429000"/>
          <a:ext cx="26162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9" name="Equation" r:id="rId4" imgW="1180984" imgH="406620" progId="Equation.3">
                  <p:embed/>
                </p:oleObj>
              </mc:Choice>
              <mc:Fallback>
                <p:oleObj name="Equation" r:id="rId4" imgW="1180984" imgH="4066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429000"/>
                        <a:ext cx="2616200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2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Rappresentazione dei grafi</a:t>
            </a:r>
          </a:p>
        </p:txBody>
      </p:sp>
      <p:sp>
        <p:nvSpPr>
          <p:cNvPr id="73012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Nella rappresentazione di G = (V,E) mediante matrice di adiacenza assumiamo che i vertici siano numerati da 1 a n=|V|. La rappresentazione è costituita da una matrice booleana A = (a</a:t>
            </a:r>
            <a:r>
              <a:rPr lang="it-IT" baseline="-25000"/>
              <a:t>i,j</a:t>
            </a:r>
            <a:r>
              <a:rPr lang="it-IT"/>
              <a:t>) tale che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Rappresentazione dei grafi</a:t>
            </a:r>
          </a:p>
        </p:txBody>
      </p:sp>
      <p:sp>
        <p:nvSpPr>
          <p:cNvPr id="73216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/>
              <a:t>La rappresentazione di </a:t>
            </a:r>
            <a:r>
              <a:rPr lang="it-IT">
                <a:solidFill>
                  <a:schemeClr val="hlink"/>
                </a:solidFill>
              </a:rPr>
              <a:t>G = (V,E)</a:t>
            </a:r>
            <a:r>
              <a:rPr lang="it-IT"/>
              <a:t> mediante liste di adiacenza richiede memoria per </a:t>
            </a:r>
            <a:r>
              <a:rPr lang="it-IT">
                <a:solidFill>
                  <a:schemeClr val="hlink"/>
                </a:solidFill>
              </a:rPr>
              <a:t>|V|</a:t>
            </a:r>
            <a:r>
              <a:rPr lang="it-IT"/>
              <a:t> puntatori alle liste </a:t>
            </a:r>
            <a:r>
              <a:rPr lang="it-IT">
                <a:solidFill>
                  <a:schemeClr val="hlink"/>
                </a:solidFill>
              </a:rPr>
              <a:t>Adj[u]</a:t>
            </a:r>
            <a:r>
              <a:rPr lang="it-IT"/>
              <a:t> e per un totale di </a:t>
            </a:r>
            <a:r>
              <a:rPr lang="it-IT">
                <a:solidFill>
                  <a:schemeClr val="hlink"/>
                </a:solidFill>
              </a:rPr>
              <a:t>|E|</a:t>
            </a:r>
            <a:r>
              <a:rPr lang="it-IT"/>
              <a:t> elementi delle liste se il grafo è orientato, e di </a:t>
            </a:r>
            <a:r>
              <a:rPr lang="it-IT">
                <a:solidFill>
                  <a:schemeClr val="hlink"/>
                </a:solidFill>
              </a:rPr>
              <a:t>2|E|</a:t>
            </a:r>
            <a:r>
              <a:rPr lang="it-IT"/>
              <a:t> elementi se è non orientato</a:t>
            </a:r>
          </a:p>
          <a:p>
            <a:pPr>
              <a:lnSpc>
                <a:spcPct val="90000"/>
              </a:lnSpc>
            </a:pPr>
            <a:r>
              <a:rPr lang="it-IT"/>
              <a:t>La rappresentazione di </a:t>
            </a:r>
            <a:r>
              <a:rPr lang="it-IT">
                <a:solidFill>
                  <a:schemeClr val="hlink"/>
                </a:solidFill>
              </a:rPr>
              <a:t>G = (V,E)</a:t>
            </a:r>
            <a:r>
              <a:rPr lang="it-IT"/>
              <a:t> mediante matrice di adiacenza richiede memoria per una matrice </a:t>
            </a:r>
            <a:r>
              <a:rPr lang="it-IT">
                <a:solidFill>
                  <a:schemeClr val="hlink"/>
                </a:solidFill>
              </a:rPr>
              <a:t>A</a:t>
            </a:r>
            <a:r>
              <a:rPr lang="it-IT"/>
              <a:t> di </a:t>
            </a:r>
            <a:r>
              <a:rPr lang="it-IT">
                <a:solidFill>
                  <a:schemeClr val="hlink"/>
                </a:solidFill>
              </a:rPr>
              <a:t>|V|</a:t>
            </a:r>
            <a:r>
              <a:rPr lang="it-IT">
                <a:solidFill>
                  <a:schemeClr val="hlink"/>
                </a:solidFill>
                <a:sym typeface="Symbol" charset="0"/>
              </a:rPr>
              <a:t></a:t>
            </a:r>
            <a:r>
              <a:rPr lang="it-IT">
                <a:solidFill>
                  <a:schemeClr val="hlink"/>
                </a:solidFill>
              </a:rPr>
              <a:t>|V|</a:t>
            </a:r>
            <a:r>
              <a:rPr lang="it-IT"/>
              <a:t> valori booleani</a:t>
            </a:r>
          </a:p>
          <a:p>
            <a:pPr>
              <a:lnSpc>
                <a:spcPct val="90000"/>
              </a:lnSpc>
            </a:pPr>
            <a:r>
              <a:rPr lang="it-IT"/>
              <a:t>Le liste sono vantaggiose per grafi sparsi (minor richiesta di memoria). Inoltre rendono facile aggiungere o rimuovere elementi, mentre complicano la ricerca di un elemento, in quanto può essere necessario controllare tutta lista prima di trovare l’elemento desiderato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210" name="Group 2"/>
          <p:cNvGrpSpPr>
            <a:grpSpLocks/>
          </p:cNvGrpSpPr>
          <p:nvPr/>
        </p:nvGrpSpPr>
        <p:grpSpPr bwMode="auto">
          <a:xfrm>
            <a:off x="304800" y="1676400"/>
            <a:ext cx="2209800" cy="1447800"/>
            <a:chOff x="144" y="672"/>
            <a:chExt cx="1392" cy="912"/>
          </a:xfrm>
        </p:grpSpPr>
        <p:sp>
          <p:nvSpPr>
            <p:cNvPr id="734211" name="Oval 3"/>
            <p:cNvSpPr>
              <a:spLocks noChangeArrowheads="1"/>
            </p:cNvSpPr>
            <p:nvPr/>
          </p:nvSpPr>
          <p:spPr bwMode="auto">
            <a:xfrm>
              <a:off x="144" y="6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1</a:t>
              </a:r>
            </a:p>
          </p:txBody>
        </p:sp>
        <p:sp>
          <p:nvSpPr>
            <p:cNvPr id="734212" name="Line 4"/>
            <p:cNvSpPr>
              <a:spLocks noChangeShapeType="1"/>
            </p:cNvSpPr>
            <p:nvPr/>
          </p:nvSpPr>
          <p:spPr bwMode="auto">
            <a:xfrm>
              <a:off x="336" y="76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3" name="Line 5"/>
            <p:cNvSpPr>
              <a:spLocks noChangeShapeType="1"/>
            </p:cNvSpPr>
            <p:nvPr/>
          </p:nvSpPr>
          <p:spPr bwMode="auto">
            <a:xfrm>
              <a:off x="288" y="864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4" name="Line 6"/>
            <p:cNvSpPr>
              <a:spLocks noChangeShapeType="1"/>
            </p:cNvSpPr>
            <p:nvPr/>
          </p:nvSpPr>
          <p:spPr bwMode="auto">
            <a:xfrm>
              <a:off x="624" y="1152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5" name="Line 7"/>
            <p:cNvSpPr>
              <a:spLocks noChangeShapeType="1"/>
            </p:cNvSpPr>
            <p:nvPr/>
          </p:nvSpPr>
          <p:spPr bwMode="auto">
            <a:xfrm flipV="1">
              <a:off x="768" y="1344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6" name="Line 8"/>
            <p:cNvSpPr>
              <a:spLocks noChangeShapeType="1"/>
            </p:cNvSpPr>
            <p:nvPr/>
          </p:nvSpPr>
          <p:spPr bwMode="auto">
            <a:xfrm flipV="1">
              <a:off x="624" y="816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17" name="Oval 9"/>
            <p:cNvSpPr>
              <a:spLocks noChangeArrowheads="1"/>
            </p:cNvSpPr>
            <p:nvPr/>
          </p:nvSpPr>
          <p:spPr bwMode="auto">
            <a:xfrm>
              <a:off x="432" y="1056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4</a:t>
              </a:r>
            </a:p>
          </p:txBody>
        </p:sp>
        <p:sp>
          <p:nvSpPr>
            <p:cNvPr id="734218" name="Oval 10"/>
            <p:cNvSpPr>
              <a:spLocks noChangeArrowheads="1"/>
            </p:cNvSpPr>
            <p:nvPr/>
          </p:nvSpPr>
          <p:spPr bwMode="auto">
            <a:xfrm>
              <a:off x="1344" y="6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3</a:t>
              </a:r>
            </a:p>
          </p:txBody>
        </p:sp>
        <p:sp>
          <p:nvSpPr>
            <p:cNvPr id="734219" name="Oval 11"/>
            <p:cNvSpPr>
              <a:spLocks noChangeArrowheads="1"/>
            </p:cNvSpPr>
            <p:nvPr/>
          </p:nvSpPr>
          <p:spPr bwMode="auto">
            <a:xfrm>
              <a:off x="768" y="67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734220" name="Oval 12"/>
            <p:cNvSpPr>
              <a:spLocks noChangeArrowheads="1"/>
            </p:cNvSpPr>
            <p:nvPr/>
          </p:nvSpPr>
          <p:spPr bwMode="auto">
            <a:xfrm>
              <a:off x="576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5</a:t>
              </a:r>
            </a:p>
          </p:txBody>
        </p:sp>
        <p:sp>
          <p:nvSpPr>
            <p:cNvPr id="734221" name="Oval 13"/>
            <p:cNvSpPr>
              <a:spLocks noChangeArrowheads="1"/>
            </p:cNvSpPr>
            <p:nvPr/>
          </p:nvSpPr>
          <p:spPr bwMode="auto">
            <a:xfrm>
              <a:off x="1104" y="124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6</a:t>
              </a:r>
            </a:p>
          </p:txBody>
        </p:sp>
      </p:grpSp>
      <p:sp>
        <p:nvSpPr>
          <p:cNvPr id="734222" name="Text Box 14"/>
          <p:cNvSpPr txBox="1">
            <a:spLocks noChangeArrowheads="1"/>
          </p:cNvSpPr>
          <p:nvPr/>
        </p:nvSpPr>
        <p:spPr bwMode="auto">
          <a:xfrm>
            <a:off x="7010400" y="1828800"/>
            <a:ext cx="1981200" cy="18510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0 1 0 1 0 0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1 0 0 0 0 0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0 0 0 1 0 0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1 0 1 0 0 1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0 0 0 0 0 1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0 0 0 1 1 0 </a:t>
            </a:r>
          </a:p>
        </p:txBody>
      </p:sp>
      <p:sp>
        <p:nvSpPr>
          <p:cNvPr id="734223" name="Rectangle 15"/>
          <p:cNvSpPr>
            <a:spLocks noChangeArrowheads="1"/>
          </p:cNvSpPr>
          <p:nvPr/>
        </p:nvSpPr>
        <p:spPr bwMode="auto">
          <a:xfrm>
            <a:off x="3171825" y="137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24" name="Rectangle 16"/>
          <p:cNvSpPr>
            <a:spLocks noChangeArrowheads="1"/>
          </p:cNvSpPr>
          <p:nvPr/>
        </p:nvSpPr>
        <p:spPr bwMode="auto">
          <a:xfrm>
            <a:off x="3171825" y="175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25" name="Rectangle 17"/>
          <p:cNvSpPr>
            <a:spLocks noChangeArrowheads="1"/>
          </p:cNvSpPr>
          <p:nvPr/>
        </p:nvSpPr>
        <p:spPr bwMode="auto">
          <a:xfrm>
            <a:off x="3171825" y="2133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26" name="Rectangle 18"/>
          <p:cNvSpPr>
            <a:spLocks noChangeArrowheads="1"/>
          </p:cNvSpPr>
          <p:nvPr/>
        </p:nvSpPr>
        <p:spPr bwMode="auto">
          <a:xfrm>
            <a:off x="3171825" y="2514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27" name="Rectangle 19"/>
          <p:cNvSpPr>
            <a:spLocks noChangeArrowheads="1"/>
          </p:cNvSpPr>
          <p:nvPr/>
        </p:nvSpPr>
        <p:spPr bwMode="auto">
          <a:xfrm>
            <a:off x="3171825" y="2895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28" name="Rectangle 20"/>
          <p:cNvSpPr>
            <a:spLocks noChangeArrowheads="1"/>
          </p:cNvSpPr>
          <p:nvPr/>
        </p:nvSpPr>
        <p:spPr bwMode="auto">
          <a:xfrm>
            <a:off x="3171825" y="3276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29" name="Rectangle 21"/>
          <p:cNvSpPr>
            <a:spLocks noChangeArrowheads="1"/>
          </p:cNvSpPr>
          <p:nvPr/>
        </p:nvSpPr>
        <p:spPr bwMode="auto">
          <a:xfrm>
            <a:off x="3775075" y="137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4</a:t>
            </a:r>
          </a:p>
        </p:txBody>
      </p:sp>
      <p:sp>
        <p:nvSpPr>
          <p:cNvPr id="734230" name="Rectangle 22"/>
          <p:cNvSpPr>
            <a:spLocks noChangeArrowheads="1"/>
          </p:cNvSpPr>
          <p:nvPr/>
        </p:nvSpPr>
        <p:spPr bwMode="auto">
          <a:xfrm>
            <a:off x="4156075" y="137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1" name="Rectangle 23"/>
          <p:cNvSpPr>
            <a:spLocks noChangeArrowheads="1"/>
          </p:cNvSpPr>
          <p:nvPr/>
        </p:nvSpPr>
        <p:spPr bwMode="auto">
          <a:xfrm>
            <a:off x="4156075" y="175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2" name="Rectangle 24"/>
          <p:cNvSpPr>
            <a:spLocks noChangeArrowheads="1"/>
          </p:cNvSpPr>
          <p:nvPr/>
        </p:nvSpPr>
        <p:spPr bwMode="auto">
          <a:xfrm>
            <a:off x="4156075" y="2133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3" name="Rectangle 25"/>
          <p:cNvSpPr>
            <a:spLocks noChangeArrowheads="1"/>
          </p:cNvSpPr>
          <p:nvPr/>
        </p:nvSpPr>
        <p:spPr bwMode="auto">
          <a:xfrm>
            <a:off x="4156075" y="2514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4" name="Rectangle 26"/>
          <p:cNvSpPr>
            <a:spLocks noChangeArrowheads="1"/>
          </p:cNvSpPr>
          <p:nvPr/>
        </p:nvSpPr>
        <p:spPr bwMode="auto">
          <a:xfrm>
            <a:off x="4156075" y="2895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5" name="Rectangle 27"/>
          <p:cNvSpPr>
            <a:spLocks noChangeArrowheads="1"/>
          </p:cNvSpPr>
          <p:nvPr/>
        </p:nvSpPr>
        <p:spPr bwMode="auto">
          <a:xfrm>
            <a:off x="4156075" y="3276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6" name="Rectangle 28"/>
          <p:cNvSpPr>
            <a:spLocks noChangeArrowheads="1"/>
          </p:cNvSpPr>
          <p:nvPr/>
        </p:nvSpPr>
        <p:spPr bwMode="auto">
          <a:xfrm>
            <a:off x="5070475" y="137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7" name="Rectangle 29"/>
          <p:cNvSpPr>
            <a:spLocks noChangeArrowheads="1"/>
          </p:cNvSpPr>
          <p:nvPr/>
        </p:nvSpPr>
        <p:spPr bwMode="auto">
          <a:xfrm>
            <a:off x="5070475" y="2514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8" name="Rectangle 30"/>
          <p:cNvSpPr>
            <a:spLocks noChangeArrowheads="1"/>
          </p:cNvSpPr>
          <p:nvPr/>
        </p:nvSpPr>
        <p:spPr bwMode="auto">
          <a:xfrm>
            <a:off x="5070475" y="3276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39" name="Rectangle 31"/>
          <p:cNvSpPr>
            <a:spLocks noChangeArrowheads="1"/>
          </p:cNvSpPr>
          <p:nvPr/>
        </p:nvSpPr>
        <p:spPr bwMode="auto">
          <a:xfrm>
            <a:off x="5984875" y="2514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40" name="Text Box 32"/>
          <p:cNvSpPr txBox="1">
            <a:spLocks noChangeArrowheads="1"/>
          </p:cNvSpPr>
          <p:nvPr/>
        </p:nvSpPr>
        <p:spPr bwMode="auto">
          <a:xfrm>
            <a:off x="2889250" y="1295400"/>
            <a:ext cx="381000" cy="239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1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2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3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4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5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6 </a:t>
            </a:r>
          </a:p>
        </p:txBody>
      </p:sp>
      <p:sp>
        <p:nvSpPr>
          <p:cNvPr id="734241" name="Text Box 33"/>
          <p:cNvSpPr txBox="1">
            <a:spLocks noChangeArrowheads="1"/>
          </p:cNvSpPr>
          <p:nvPr/>
        </p:nvSpPr>
        <p:spPr bwMode="auto">
          <a:xfrm>
            <a:off x="6705600" y="1828800"/>
            <a:ext cx="381000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1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2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3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4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5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6 </a:t>
            </a:r>
          </a:p>
        </p:txBody>
      </p:sp>
      <p:sp>
        <p:nvSpPr>
          <p:cNvPr id="734242" name="Text Box 34"/>
          <p:cNvSpPr txBox="1">
            <a:spLocks noChangeArrowheads="1"/>
          </p:cNvSpPr>
          <p:nvPr/>
        </p:nvSpPr>
        <p:spPr bwMode="auto">
          <a:xfrm>
            <a:off x="7010400" y="15240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1 2 3 4 5 6 </a:t>
            </a:r>
          </a:p>
        </p:txBody>
      </p:sp>
      <p:sp>
        <p:nvSpPr>
          <p:cNvPr id="734243" name="Line 35"/>
          <p:cNvSpPr>
            <a:spLocks noChangeShapeType="1"/>
          </p:cNvSpPr>
          <p:nvPr/>
        </p:nvSpPr>
        <p:spPr bwMode="auto">
          <a:xfrm>
            <a:off x="3470275" y="1524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44" name="Line 36"/>
          <p:cNvSpPr>
            <a:spLocks noChangeShapeType="1"/>
          </p:cNvSpPr>
          <p:nvPr/>
        </p:nvSpPr>
        <p:spPr bwMode="auto">
          <a:xfrm>
            <a:off x="3470275" y="1905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45" name="Line 37"/>
          <p:cNvSpPr>
            <a:spLocks noChangeShapeType="1"/>
          </p:cNvSpPr>
          <p:nvPr/>
        </p:nvSpPr>
        <p:spPr bwMode="auto">
          <a:xfrm>
            <a:off x="3470275" y="2286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46" name="Line 38"/>
          <p:cNvSpPr>
            <a:spLocks noChangeShapeType="1"/>
          </p:cNvSpPr>
          <p:nvPr/>
        </p:nvSpPr>
        <p:spPr bwMode="auto">
          <a:xfrm>
            <a:off x="3470275" y="3048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47" name="Line 39"/>
          <p:cNvSpPr>
            <a:spLocks noChangeShapeType="1"/>
          </p:cNvSpPr>
          <p:nvPr/>
        </p:nvSpPr>
        <p:spPr bwMode="auto">
          <a:xfrm>
            <a:off x="4384675" y="1524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48" name="Line 40"/>
          <p:cNvSpPr>
            <a:spLocks noChangeShapeType="1"/>
          </p:cNvSpPr>
          <p:nvPr/>
        </p:nvSpPr>
        <p:spPr bwMode="auto">
          <a:xfrm>
            <a:off x="4384675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49" name="Line 41"/>
          <p:cNvSpPr>
            <a:spLocks noChangeShapeType="1"/>
          </p:cNvSpPr>
          <p:nvPr/>
        </p:nvSpPr>
        <p:spPr bwMode="auto">
          <a:xfrm>
            <a:off x="3470275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50" name="Line 42"/>
          <p:cNvSpPr>
            <a:spLocks noChangeShapeType="1"/>
          </p:cNvSpPr>
          <p:nvPr/>
        </p:nvSpPr>
        <p:spPr bwMode="auto">
          <a:xfrm>
            <a:off x="5299075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51" name="Line 43"/>
          <p:cNvSpPr>
            <a:spLocks noChangeShapeType="1"/>
          </p:cNvSpPr>
          <p:nvPr/>
        </p:nvSpPr>
        <p:spPr bwMode="auto">
          <a:xfrm>
            <a:off x="3470275" y="3429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52" name="Line 44"/>
          <p:cNvSpPr>
            <a:spLocks noChangeShapeType="1"/>
          </p:cNvSpPr>
          <p:nvPr/>
        </p:nvSpPr>
        <p:spPr bwMode="auto">
          <a:xfrm>
            <a:off x="4384675" y="3429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53" name="Rectangle 45"/>
          <p:cNvSpPr>
            <a:spLocks noChangeArrowheads="1"/>
          </p:cNvSpPr>
          <p:nvPr/>
        </p:nvSpPr>
        <p:spPr bwMode="auto">
          <a:xfrm>
            <a:off x="4689475" y="3276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4</a:t>
            </a:r>
          </a:p>
        </p:txBody>
      </p:sp>
      <p:sp>
        <p:nvSpPr>
          <p:cNvPr id="734254" name="Rectangle 46"/>
          <p:cNvSpPr>
            <a:spLocks noChangeArrowheads="1"/>
          </p:cNvSpPr>
          <p:nvPr/>
        </p:nvSpPr>
        <p:spPr bwMode="auto">
          <a:xfrm>
            <a:off x="3775075" y="3276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5</a:t>
            </a:r>
          </a:p>
        </p:txBody>
      </p:sp>
      <p:sp>
        <p:nvSpPr>
          <p:cNvPr id="734255" name="Rectangle 47"/>
          <p:cNvSpPr>
            <a:spLocks noChangeArrowheads="1"/>
          </p:cNvSpPr>
          <p:nvPr/>
        </p:nvSpPr>
        <p:spPr bwMode="auto">
          <a:xfrm>
            <a:off x="3775075" y="2895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6</a:t>
            </a:r>
          </a:p>
        </p:txBody>
      </p:sp>
      <p:sp>
        <p:nvSpPr>
          <p:cNvPr id="734256" name="Rectangle 48"/>
          <p:cNvSpPr>
            <a:spLocks noChangeArrowheads="1"/>
          </p:cNvSpPr>
          <p:nvPr/>
        </p:nvSpPr>
        <p:spPr bwMode="auto">
          <a:xfrm>
            <a:off x="5603875" y="2514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6</a:t>
            </a:r>
          </a:p>
        </p:txBody>
      </p:sp>
      <p:sp>
        <p:nvSpPr>
          <p:cNvPr id="734257" name="Rectangle 49"/>
          <p:cNvSpPr>
            <a:spLocks noChangeArrowheads="1"/>
          </p:cNvSpPr>
          <p:nvPr/>
        </p:nvSpPr>
        <p:spPr bwMode="auto">
          <a:xfrm>
            <a:off x="4689475" y="2514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1</a:t>
            </a:r>
          </a:p>
        </p:txBody>
      </p:sp>
      <p:sp>
        <p:nvSpPr>
          <p:cNvPr id="734258" name="Rectangle 50"/>
          <p:cNvSpPr>
            <a:spLocks noChangeArrowheads="1"/>
          </p:cNvSpPr>
          <p:nvPr/>
        </p:nvSpPr>
        <p:spPr bwMode="auto">
          <a:xfrm>
            <a:off x="3775075" y="2514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3</a:t>
            </a:r>
          </a:p>
        </p:txBody>
      </p:sp>
      <p:sp>
        <p:nvSpPr>
          <p:cNvPr id="734259" name="Rectangle 51"/>
          <p:cNvSpPr>
            <a:spLocks noChangeArrowheads="1"/>
          </p:cNvSpPr>
          <p:nvPr/>
        </p:nvSpPr>
        <p:spPr bwMode="auto">
          <a:xfrm>
            <a:off x="3775075" y="2133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4</a:t>
            </a:r>
          </a:p>
        </p:txBody>
      </p:sp>
      <p:sp>
        <p:nvSpPr>
          <p:cNvPr id="734260" name="Rectangle 52"/>
          <p:cNvSpPr>
            <a:spLocks noChangeArrowheads="1"/>
          </p:cNvSpPr>
          <p:nvPr/>
        </p:nvSpPr>
        <p:spPr bwMode="auto">
          <a:xfrm>
            <a:off x="3775075" y="175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1</a:t>
            </a:r>
          </a:p>
        </p:txBody>
      </p:sp>
      <p:sp>
        <p:nvSpPr>
          <p:cNvPr id="734261" name="Rectangle 53"/>
          <p:cNvSpPr>
            <a:spLocks noChangeArrowheads="1"/>
          </p:cNvSpPr>
          <p:nvPr/>
        </p:nvSpPr>
        <p:spPr bwMode="auto">
          <a:xfrm>
            <a:off x="4689475" y="137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2</a:t>
            </a:r>
          </a:p>
        </p:txBody>
      </p:sp>
      <p:grpSp>
        <p:nvGrpSpPr>
          <p:cNvPr id="734262" name="Group 54"/>
          <p:cNvGrpSpPr>
            <a:grpSpLocks/>
          </p:cNvGrpSpPr>
          <p:nvPr/>
        </p:nvGrpSpPr>
        <p:grpSpPr bwMode="auto">
          <a:xfrm>
            <a:off x="339725" y="4343400"/>
            <a:ext cx="2209800" cy="1447800"/>
            <a:chOff x="144" y="2544"/>
            <a:chExt cx="1392" cy="912"/>
          </a:xfrm>
        </p:grpSpPr>
        <p:sp>
          <p:nvSpPr>
            <p:cNvPr id="734263" name="Line 55"/>
            <p:cNvSpPr>
              <a:spLocks noChangeShapeType="1"/>
            </p:cNvSpPr>
            <p:nvPr/>
          </p:nvSpPr>
          <p:spPr bwMode="auto">
            <a:xfrm>
              <a:off x="336" y="26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64" name="Line 56"/>
            <p:cNvSpPr>
              <a:spLocks noChangeShapeType="1"/>
            </p:cNvSpPr>
            <p:nvPr/>
          </p:nvSpPr>
          <p:spPr bwMode="auto">
            <a:xfrm flipH="1">
              <a:off x="672" y="2736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65" name="Line 57"/>
            <p:cNvSpPr>
              <a:spLocks noChangeShapeType="1"/>
            </p:cNvSpPr>
            <p:nvPr/>
          </p:nvSpPr>
          <p:spPr bwMode="auto">
            <a:xfrm>
              <a:off x="288" y="273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66" name="Line 58"/>
            <p:cNvSpPr>
              <a:spLocks noChangeShapeType="1"/>
            </p:cNvSpPr>
            <p:nvPr/>
          </p:nvSpPr>
          <p:spPr bwMode="auto">
            <a:xfrm flipV="1">
              <a:off x="720" y="2736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67" name="Line 59"/>
            <p:cNvSpPr>
              <a:spLocks noChangeShapeType="1"/>
            </p:cNvSpPr>
            <p:nvPr/>
          </p:nvSpPr>
          <p:spPr bwMode="auto">
            <a:xfrm>
              <a:off x="624" y="3024"/>
              <a:ext cx="48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68" name="Line 60"/>
            <p:cNvSpPr>
              <a:spLocks noChangeShapeType="1"/>
            </p:cNvSpPr>
            <p:nvPr/>
          </p:nvSpPr>
          <p:spPr bwMode="auto">
            <a:xfrm flipV="1">
              <a:off x="768" y="3216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4269" name="Line 61"/>
            <p:cNvSpPr>
              <a:spLocks noChangeShapeType="1"/>
            </p:cNvSpPr>
            <p:nvPr/>
          </p:nvSpPr>
          <p:spPr bwMode="auto">
            <a:xfrm flipV="1">
              <a:off x="624" y="2688"/>
              <a:ext cx="72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34270" name="AutoShape 62"/>
            <p:cNvCxnSpPr>
              <a:cxnSpLocks noChangeShapeType="1"/>
            </p:cNvCxnSpPr>
            <p:nvPr/>
          </p:nvCxnSpPr>
          <p:spPr bwMode="auto">
            <a:xfrm rot="5400000" flipV="1">
              <a:off x="1440" y="2544"/>
              <a:ext cx="96" cy="96"/>
            </a:xfrm>
            <a:prstGeom prst="curvedConnector4">
              <a:avLst>
                <a:gd name="adj1" fmla="val -150000"/>
                <a:gd name="adj2" fmla="val 2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34271" name="Oval 63"/>
            <p:cNvSpPr>
              <a:spLocks noChangeArrowheads="1"/>
            </p:cNvSpPr>
            <p:nvPr/>
          </p:nvSpPr>
          <p:spPr bwMode="auto">
            <a:xfrm>
              <a:off x="144" y="254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1</a:t>
              </a:r>
            </a:p>
          </p:txBody>
        </p:sp>
        <p:sp>
          <p:nvSpPr>
            <p:cNvPr id="734272" name="Oval 64"/>
            <p:cNvSpPr>
              <a:spLocks noChangeArrowheads="1"/>
            </p:cNvSpPr>
            <p:nvPr/>
          </p:nvSpPr>
          <p:spPr bwMode="auto">
            <a:xfrm>
              <a:off x="768" y="254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2</a:t>
              </a:r>
            </a:p>
          </p:txBody>
        </p:sp>
        <p:sp>
          <p:nvSpPr>
            <p:cNvPr id="734273" name="Oval 65"/>
            <p:cNvSpPr>
              <a:spLocks noChangeArrowheads="1"/>
            </p:cNvSpPr>
            <p:nvPr/>
          </p:nvSpPr>
          <p:spPr bwMode="auto">
            <a:xfrm>
              <a:off x="1344" y="254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3</a:t>
              </a:r>
            </a:p>
          </p:txBody>
        </p:sp>
        <p:sp>
          <p:nvSpPr>
            <p:cNvPr id="734274" name="Oval 66"/>
            <p:cNvSpPr>
              <a:spLocks noChangeArrowheads="1"/>
            </p:cNvSpPr>
            <p:nvPr/>
          </p:nvSpPr>
          <p:spPr bwMode="auto">
            <a:xfrm>
              <a:off x="432" y="292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4</a:t>
              </a:r>
            </a:p>
          </p:txBody>
        </p:sp>
        <p:sp>
          <p:nvSpPr>
            <p:cNvPr id="734275" name="Oval 67"/>
            <p:cNvSpPr>
              <a:spLocks noChangeArrowheads="1"/>
            </p:cNvSpPr>
            <p:nvPr/>
          </p:nvSpPr>
          <p:spPr bwMode="auto">
            <a:xfrm>
              <a:off x="576" y="326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5</a:t>
              </a:r>
            </a:p>
          </p:txBody>
        </p:sp>
        <p:sp>
          <p:nvSpPr>
            <p:cNvPr id="734276" name="Oval 68"/>
            <p:cNvSpPr>
              <a:spLocks noChangeArrowheads="1"/>
            </p:cNvSpPr>
            <p:nvPr/>
          </p:nvSpPr>
          <p:spPr bwMode="auto">
            <a:xfrm>
              <a:off x="1104" y="312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</a:rPr>
                <a:t>6</a:t>
              </a:r>
            </a:p>
          </p:txBody>
        </p:sp>
      </p:grpSp>
      <p:sp>
        <p:nvSpPr>
          <p:cNvPr id="734277" name="Rectangle 69"/>
          <p:cNvSpPr>
            <a:spLocks noChangeArrowheads="1"/>
          </p:cNvSpPr>
          <p:nvPr/>
        </p:nvSpPr>
        <p:spPr bwMode="auto">
          <a:xfrm>
            <a:off x="3206750" y="4038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78" name="Rectangle 70"/>
          <p:cNvSpPr>
            <a:spLocks noChangeArrowheads="1"/>
          </p:cNvSpPr>
          <p:nvPr/>
        </p:nvSpPr>
        <p:spPr bwMode="auto">
          <a:xfrm>
            <a:off x="3206750" y="4419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79" name="Rectangle 71"/>
          <p:cNvSpPr>
            <a:spLocks noChangeArrowheads="1"/>
          </p:cNvSpPr>
          <p:nvPr/>
        </p:nvSpPr>
        <p:spPr bwMode="auto">
          <a:xfrm>
            <a:off x="3206750" y="4800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0" name="Rectangle 72"/>
          <p:cNvSpPr>
            <a:spLocks noChangeArrowheads="1"/>
          </p:cNvSpPr>
          <p:nvPr/>
        </p:nvSpPr>
        <p:spPr bwMode="auto">
          <a:xfrm>
            <a:off x="3206750" y="518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1" name="Rectangle 73"/>
          <p:cNvSpPr>
            <a:spLocks noChangeArrowheads="1"/>
          </p:cNvSpPr>
          <p:nvPr/>
        </p:nvSpPr>
        <p:spPr bwMode="auto">
          <a:xfrm>
            <a:off x="3206750" y="556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2" name="Rectangle 74"/>
          <p:cNvSpPr>
            <a:spLocks noChangeArrowheads="1"/>
          </p:cNvSpPr>
          <p:nvPr/>
        </p:nvSpPr>
        <p:spPr bwMode="auto">
          <a:xfrm>
            <a:off x="3206750" y="5943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3" name="Rectangle 75"/>
          <p:cNvSpPr>
            <a:spLocks noChangeArrowheads="1"/>
          </p:cNvSpPr>
          <p:nvPr/>
        </p:nvSpPr>
        <p:spPr bwMode="auto">
          <a:xfrm>
            <a:off x="3810000" y="4038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4</a:t>
            </a:r>
          </a:p>
        </p:txBody>
      </p:sp>
      <p:sp>
        <p:nvSpPr>
          <p:cNvPr id="734284" name="Rectangle 76"/>
          <p:cNvSpPr>
            <a:spLocks noChangeArrowheads="1"/>
          </p:cNvSpPr>
          <p:nvPr/>
        </p:nvSpPr>
        <p:spPr bwMode="auto">
          <a:xfrm>
            <a:off x="4191000" y="4038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5" name="Rectangle 77"/>
          <p:cNvSpPr>
            <a:spLocks noChangeArrowheads="1"/>
          </p:cNvSpPr>
          <p:nvPr/>
        </p:nvSpPr>
        <p:spPr bwMode="auto">
          <a:xfrm>
            <a:off x="4191000" y="4419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6" name="Rectangle 78"/>
          <p:cNvSpPr>
            <a:spLocks noChangeArrowheads="1"/>
          </p:cNvSpPr>
          <p:nvPr/>
        </p:nvSpPr>
        <p:spPr bwMode="auto">
          <a:xfrm>
            <a:off x="4191000" y="4800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7" name="Rectangle 79"/>
          <p:cNvSpPr>
            <a:spLocks noChangeArrowheads="1"/>
          </p:cNvSpPr>
          <p:nvPr/>
        </p:nvSpPr>
        <p:spPr bwMode="auto">
          <a:xfrm>
            <a:off x="4191000" y="518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8" name="Rectangle 80"/>
          <p:cNvSpPr>
            <a:spLocks noChangeArrowheads="1"/>
          </p:cNvSpPr>
          <p:nvPr/>
        </p:nvSpPr>
        <p:spPr bwMode="auto">
          <a:xfrm>
            <a:off x="4191000" y="556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89" name="Rectangle 81"/>
          <p:cNvSpPr>
            <a:spLocks noChangeArrowheads="1"/>
          </p:cNvSpPr>
          <p:nvPr/>
        </p:nvSpPr>
        <p:spPr bwMode="auto">
          <a:xfrm>
            <a:off x="5105400" y="4038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0" name="Rectangle 82"/>
          <p:cNvSpPr>
            <a:spLocks noChangeArrowheads="1"/>
          </p:cNvSpPr>
          <p:nvPr/>
        </p:nvSpPr>
        <p:spPr bwMode="auto">
          <a:xfrm>
            <a:off x="5105400" y="518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1" name="Rectangle 83"/>
          <p:cNvSpPr>
            <a:spLocks noChangeArrowheads="1"/>
          </p:cNvSpPr>
          <p:nvPr/>
        </p:nvSpPr>
        <p:spPr bwMode="auto">
          <a:xfrm>
            <a:off x="5105400" y="556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2" name="Line 84"/>
          <p:cNvSpPr>
            <a:spLocks noChangeShapeType="1"/>
          </p:cNvSpPr>
          <p:nvPr/>
        </p:nvSpPr>
        <p:spPr bwMode="auto">
          <a:xfrm>
            <a:off x="3505200" y="4191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3" name="Line 85"/>
          <p:cNvSpPr>
            <a:spLocks noChangeShapeType="1"/>
          </p:cNvSpPr>
          <p:nvPr/>
        </p:nvSpPr>
        <p:spPr bwMode="auto">
          <a:xfrm>
            <a:off x="3505200" y="4572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4" name="Line 86"/>
          <p:cNvSpPr>
            <a:spLocks noChangeShapeType="1"/>
          </p:cNvSpPr>
          <p:nvPr/>
        </p:nvSpPr>
        <p:spPr bwMode="auto">
          <a:xfrm>
            <a:off x="3505200" y="4953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5" name="Line 87"/>
          <p:cNvSpPr>
            <a:spLocks noChangeShapeType="1"/>
          </p:cNvSpPr>
          <p:nvPr/>
        </p:nvSpPr>
        <p:spPr bwMode="auto">
          <a:xfrm>
            <a:off x="3505200" y="5715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6" name="Line 88"/>
          <p:cNvSpPr>
            <a:spLocks noChangeShapeType="1"/>
          </p:cNvSpPr>
          <p:nvPr/>
        </p:nvSpPr>
        <p:spPr bwMode="auto">
          <a:xfrm>
            <a:off x="4419600" y="4191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7" name="Line 89"/>
          <p:cNvSpPr>
            <a:spLocks noChangeShapeType="1"/>
          </p:cNvSpPr>
          <p:nvPr/>
        </p:nvSpPr>
        <p:spPr bwMode="auto">
          <a:xfrm>
            <a:off x="4419600" y="5334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8" name="Line 90"/>
          <p:cNvSpPr>
            <a:spLocks noChangeShapeType="1"/>
          </p:cNvSpPr>
          <p:nvPr/>
        </p:nvSpPr>
        <p:spPr bwMode="auto">
          <a:xfrm>
            <a:off x="3505200" y="5334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299" name="Line 91"/>
          <p:cNvSpPr>
            <a:spLocks noChangeShapeType="1"/>
          </p:cNvSpPr>
          <p:nvPr/>
        </p:nvSpPr>
        <p:spPr bwMode="auto">
          <a:xfrm>
            <a:off x="4419600" y="5715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4300" name="Rectangle 92"/>
          <p:cNvSpPr>
            <a:spLocks noChangeArrowheads="1"/>
          </p:cNvSpPr>
          <p:nvPr/>
        </p:nvSpPr>
        <p:spPr bwMode="auto">
          <a:xfrm>
            <a:off x="3810000" y="556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2</a:t>
            </a:r>
          </a:p>
        </p:txBody>
      </p:sp>
      <p:sp>
        <p:nvSpPr>
          <p:cNvPr id="734301" name="Rectangle 93"/>
          <p:cNvSpPr>
            <a:spLocks noChangeArrowheads="1"/>
          </p:cNvSpPr>
          <p:nvPr/>
        </p:nvSpPr>
        <p:spPr bwMode="auto">
          <a:xfrm>
            <a:off x="4724400" y="5562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6</a:t>
            </a:r>
          </a:p>
        </p:txBody>
      </p:sp>
      <p:sp>
        <p:nvSpPr>
          <p:cNvPr id="734302" name="Rectangle 94"/>
          <p:cNvSpPr>
            <a:spLocks noChangeArrowheads="1"/>
          </p:cNvSpPr>
          <p:nvPr/>
        </p:nvSpPr>
        <p:spPr bwMode="auto">
          <a:xfrm>
            <a:off x="4724400" y="518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3</a:t>
            </a:r>
          </a:p>
        </p:txBody>
      </p:sp>
      <p:sp>
        <p:nvSpPr>
          <p:cNvPr id="734303" name="Rectangle 95"/>
          <p:cNvSpPr>
            <a:spLocks noChangeArrowheads="1"/>
          </p:cNvSpPr>
          <p:nvPr/>
        </p:nvSpPr>
        <p:spPr bwMode="auto">
          <a:xfrm>
            <a:off x="3810000" y="5181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6</a:t>
            </a:r>
          </a:p>
        </p:txBody>
      </p:sp>
      <p:sp>
        <p:nvSpPr>
          <p:cNvPr id="734304" name="Rectangle 96"/>
          <p:cNvSpPr>
            <a:spLocks noChangeArrowheads="1"/>
          </p:cNvSpPr>
          <p:nvPr/>
        </p:nvSpPr>
        <p:spPr bwMode="auto">
          <a:xfrm>
            <a:off x="3810000" y="4800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3</a:t>
            </a:r>
          </a:p>
        </p:txBody>
      </p:sp>
      <p:sp>
        <p:nvSpPr>
          <p:cNvPr id="734305" name="Rectangle 97"/>
          <p:cNvSpPr>
            <a:spLocks noChangeArrowheads="1"/>
          </p:cNvSpPr>
          <p:nvPr/>
        </p:nvSpPr>
        <p:spPr bwMode="auto">
          <a:xfrm>
            <a:off x="3810000" y="4419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5</a:t>
            </a:r>
          </a:p>
        </p:txBody>
      </p:sp>
      <p:sp>
        <p:nvSpPr>
          <p:cNvPr id="734306" name="Rectangle 98"/>
          <p:cNvSpPr>
            <a:spLocks noChangeArrowheads="1"/>
          </p:cNvSpPr>
          <p:nvPr/>
        </p:nvSpPr>
        <p:spPr bwMode="auto">
          <a:xfrm>
            <a:off x="4724400" y="4038600"/>
            <a:ext cx="3810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>
                <a:latin typeface="Times New Roman" charset="0"/>
              </a:rPr>
              <a:t>2</a:t>
            </a:r>
          </a:p>
        </p:txBody>
      </p:sp>
      <p:sp>
        <p:nvSpPr>
          <p:cNvPr id="734307" name="Text Box 99"/>
          <p:cNvSpPr txBox="1">
            <a:spLocks noChangeArrowheads="1"/>
          </p:cNvSpPr>
          <p:nvPr/>
        </p:nvSpPr>
        <p:spPr bwMode="auto">
          <a:xfrm>
            <a:off x="7010400" y="4343400"/>
            <a:ext cx="1981200" cy="18510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0 1 0 1 0 0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0 0 0 0 1 0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0 0 1 0 0 0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0 0 1 0 0 1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0 1 0 0 0 1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0 0 0 0 0 0 </a:t>
            </a:r>
          </a:p>
        </p:txBody>
      </p:sp>
      <p:sp>
        <p:nvSpPr>
          <p:cNvPr id="734308" name="Text Box 100"/>
          <p:cNvSpPr txBox="1">
            <a:spLocks noChangeArrowheads="1"/>
          </p:cNvSpPr>
          <p:nvPr/>
        </p:nvSpPr>
        <p:spPr bwMode="auto">
          <a:xfrm>
            <a:off x="6705600" y="4343400"/>
            <a:ext cx="381000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1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2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3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4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5</a:t>
            </a:r>
          </a:p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6 </a:t>
            </a:r>
          </a:p>
        </p:txBody>
      </p:sp>
      <p:sp>
        <p:nvSpPr>
          <p:cNvPr id="734309" name="Text Box 101"/>
          <p:cNvSpPr txBox="1">
            <a:spLocks noChangeArrowheads="1"/>
          </p:cNvSpPr>
          <p:nvPr/>
        </p:nvSpPr>
        <p:spPr bwMode="auto">
          <a:xfrm>
            <a:off x="7010400" y="4038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5000"/>
              </a:lnSpc>
            </a:pPr>
            <a:r>
              <a:rPr lang="it-IT" sz="2000" b="1">
                <a:latin typeface="Courier New" charset="0"/>
                <a:sym typeface="Symbol" charset="0"/>
              </a:rPr>
              <a:t>1 2 3 4 5 6 </a:t>
            </a:r>
          </a:p>
        </p:txBody>
      </p:sp>
      <p:sp>
        <p:nvSpPr>
          <p:cNvPr id="734310" name="Text Box 102"/>
          <p:cNvSpPr txBox="1">
            <a:spLocks noChangeArrowheads="1"/>
          </p:cNvSpPr>
          <p:nvPr/>
        </p:nvSpPr>
        <p:spPr bwMode="auto">
          <a:xfrm>
            <a:off x="2924175" y="3962400"/>
            <a:ext cx="381000" cy="239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1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2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3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4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5</a:t>
            </a:r>
          </a:p>
          <a:p>
            <a:pPr eaLnBrk="0" hangingPunct="0">
              <a:lnSpc>
                <a:spcPct val="105000"/>
              </a:lnSpc>
            </a:pPr>
            <a:r>
              <a:rPr lang="it-IT" sz="2400" b="1">
                <a:latin typeface="Times New Roman" charset="0"/>
                <a:sym typeface="Symbol" charset="0"/>
              </a:rPr>
              <a:t>6 </a:t>
            </a:r>
          </a:p>
        </p:txBody>
      </p:sp>
      <p:sp>
        <p:nvSpPr>
          <p:cNvPr id="734311" name="Rectangle 10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Alberi</a:t>
            </a:r>
          </a:p>
        </p:txBody>
      </p:sp>
      <p:sp>
        <p:nvSpPr>
          <p:cNvPr id="7700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 grafo non orientato connesso è aciclico se e solo se </a:t>
            </a:r>
          </a:p>
          <a:p>
            <a:pPr lvl="1"/>
            <a:r>
              <a:rPr lang="en-US"/>
              <a:t>vi e</a:t>
            </a:r>
            <a:r>
              <a:rPr lang="ja-JP" altLang="en-US"/>
              <a:t>’</a:t>
            </a:r>
            <a:r>
              <a:rPr lang="en-US"/>
              <a:t> esattamente un cammino tra ogni coppia di vertici </a:t>
            </a:r>
          </a:p>
          <a:p>
            <a:pPr lvl="1"/>
            <a:r>
              <a:rPr lang="en-US"/>
              <a:t>ha esattamente |V| -1 archi dove |V| è il numero di vertici </a:t>
            </a:r>
          </a:p>
          <a:p>
            <a:r>
              <a:rPr lang="en-US"/>
              <a:t>Un grafo non orientato connesso e aciclico è chiamato albero (libero)</a:t>
            </a:r>
            <a:endParaRPr lang="it-IT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Titolo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>
                <a:solidFill>
                  <a:srgbClr val="FF0000"/>
                </a:solidFill>
              </a:rPr>
              <a:t>Alberi</a:t>
            </a:r>
          </a:p>
        </p:txBody>
      </p:sp>
      <p:sp>
        <p:nvSpPr>
          <p:cNvPr id="744451" name="Segnaposto contenuto 4"/>
          <p:cNvSpPr>
            <a:spLocks noGrp="1"/>
          </p:cNvSpPr>
          <p:nvPr>
            <p:ph sz="half" idx="4294967295"/>
          </p:nvPr>
        </p:nvSpPr>
        <p:spPr>
          <a:xfrm>
            <a:off x="301625" y="1371600"/>
            <a:ext cx="4038600" cy="4681538"/>
          </a:xfrm>
        </p:spPr>
        <p:txBody>
          <a:bodyPr/>
          <a:lstStyle/>
          <a:p>
            <a:pPr marL="273050" indent="-273050"/>
            <a:r>
              <a:rPr lang="it-IT" sz="1700" dirty="0"/>
              <a:t>Gli alberi possono essere considerati come un caso particolare di grafo non orientato, connesso e aciclico</a:t>
            </a:r>
          </a:p>
          <a:p>
            <a:pPr marL="273050" indent="-273050"/>
            <a:r>
              <a:rPr lang="it-IT" sz="1700" dirty="0"/>
              <a:t>Se non è connesso, si parla di foresta (formata cioè da tanti alberi) </a:t>
            </a:r>
          </a:p>
          <a:p>
            <a:pPr marL="273050" indent="-273050"/>
            <a:r>
              <a:rPr lang="it-IT" sz="1700" dirty="0"/>
              <a:t>I vertici di un albero si chiamano nodi, e anche per i nodi esiste il concetto di grado, dove per grado di un nodo si intende il numero dei suoi figli.</a:t>
            </a:r>
          </a:p>
          <a:p>
            <a:pPr marL="273050" indent="-273050"/>
            <a:r>
              <a:rPr lang="it-IT" sz="1700" dirty="0"/>
              <a:t>Se il grado di ogni nodo è </a:t>
            </a:r>
            <a:r>
              <a:rPr lang="it-IT" sz="1700" dirty="0" smtClean="0"/>
              <a:t>≤ 2</a:t>
            </a:r>
            <a:r>
              <a:rPr lang="it-IT" sz="1700" dirty="0"/>
              <a:t>, si parla di albero binario</a:t>
            </a:r>
          </a:p>
        </p:txBody>
      </p:sp>
      <p:sp>
        <p:nvSpPr>
          <p:cNvPr id="744452" name="Segnaposto contenuto 5"/>
          <p:cNvSpPr>
            <a:spLocks noGrp="1"/>
          </p:cNvSpPr>
          <p:nvPr>
            <p:ph sz="half" idx="4294967295"/>
          </p:nvPr>
        </p:nvSpPr>
        <p:spPr>
          <a:xfrm>
            <a:off x="4800600" y="1371600"/>
            <a:ext cx="4038600" cy="4986338"/>
          </a:xfrm>
        </p:spPr>
        <p:txBody>
          <a:bodyPr/>
          <a:lstStyle/>
          <a:p>
            <a:pPr marL="273050" indent="-273050"/>
            <a:r>
              <a:rPr lang="it-IT" sz="2200"/>
              <a:t>Un albero</a:t>
            </a:r>
          </a:p>
          <a:p>
            <a:pPr marL="273050" indent="-273050"/>
            <a:endParaRPr lang="it-IT" sz="2200"/>
          </a:p>
          <a:p>
            <a:pPr marL="273050" indent="-273050"/>
            <a:endParaRPr lang="it-IT" sz="2200"/>
          </a:p>
          <a:p>
            <a:pPr marL="273050" indent="-273050"/>
            <a:endParaRPr lang="it-IT" sz="2200"/>
          </a:p>
          <a:p>
            <a:pPr marL="273050" indent="-273050">
              <a:buFont typeface="Wingdings" charset="0"/>
              <a:buNone/>
            </a:pPr>
            <a:endParaRPr lang="it-IT" sz="2200"/>
          </a:p>
          <a:p>
            <a:pPr marL="273050" indent="-273050"/>
            <a:r>
              <a:rPr lang="it-IT" sz="2200"/>
              <a:t>Una foresta</a:t>
            </a:r>
          </a:p>
        </p:txBody>
      </p:sp>
      <p:pic>
        <p:nvPicPr>
          <p:cNvPr id="744453" name="Immagine 6" descr="foresta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143375"/>
            <a:ext cx="3786187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4454" name="Immagine 7" descr="albero.bmp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928813"/>
            <a:ext cx="3714750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4" name="Titolo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>
                <a:solidFill>
                  <a:srgbClr val="FF0000"/>
                </a:solidFill>
              </a:rPr>
              <a:t>Alberi</a:t>
            </a:r>
          </a:p>
        </p:txBody>
      </p:sp>
      <p:sp>
        <p:nvSpPr>
          <p:cNvPr id="745475" name="Segnaposto contenuto 4"/>
          <p:cNvSpPr>
            <a:spLocks noGrp="1"/>
          </p:cNvSpPr>
          <p:nvPr>
            <p:ph sz="quarter" idx="4294967295"/>
          </p:nvPr>
        </p:nvSpPr>
        <p:spPr>
          <a:xfrm>
            <a:off x="381000" y="1298575"/>
            <a:ext cx="8277225" cy="4848225"/>
          </a:xfrm>
        </p:spPr>
        <p:txBody>
          <a:bodyPr/>
          <a:lstStyle/>
          <a:p>
            <a:pPr marL="273050" indent="-273050"/>
            <a:r>
              <a:rPr lang="it-IT" sz="2000" dirty="0"/>
              <a:t>TEOREMA</a:t>
            </a:r>
          </a:p>
          <a:p>
            <a:pPr marL="273050" indent="-273050">
              <a:buFont typeface="Wingdings" charset="0"/>
              <a:buNone/>
            </a:pPr>
            <a:r>
              <a:rPr lang="it-IT" sz="2000" dirty="0"/>
              <a:t>	Sia </a:t>
            </a:r>
            <a:r>
              <a:rPr lang="it-IT" sz="2000" dirty="0" smtClean="0"/>
              <a:t>G = &lt;</a:t>
            </a:r>
            <a:r>
              <a:rPr lang="it-IT" sz="2000" dirty="0"/>
              <a:t>V,E&gt; un albero. Allora:</a:t>
            </a:r>
          </a:p>
          <a:p>
            <a:pPr lvl="1"/>
            <a:r>
              <a:rPr lang="it-IT" sz="2000" dirty="0">
                <a:cs typeface="Apple Symbols" charset="0"/>
              </a:rPr>
              <a:t>∀</a:t>
            </a:r>
            <a:r>
              <a:rPr lang="it-IT" sz="2000" dirty="0"/>
              <a:t> </a:t>
            </a:r>
            <a:r>
              <a:rPr lang="it-IT" sz="2000" dirty="0" err="1"/>
              <a:t>u,v</a:t>
            </a:r>
            <a:r>
              <a:rPr lang="it-IT" sz="2000" dirty="0"/>
              <a:t> </a:t>
            </a:r>
            <a:r>
              <a:rPr lang="it-IT" sz="2000" dirty="0">
                <a:cs typeface="Apple Symbols" charset="0"/>
              </a:rPr>
              <a:t>∈</a:t>
            </a:r>
            <a:r>
              <a:rPr lang="it-IT" sz="2000" dirty="0"/>
              <a:t> G, esiste un unico cammino semplice da u a v</a:t>
            </a:r>
          </a:p>
          <a:p>
            <a:pPr lvl="1"/>
            <a:r>
              <a:rPr lang="it-IT" sz="2000" dirty="0">
                <a:cs typeface="Apple Symbols" charset="0"/>
              </a:rPr>
              <a:t>∀</a:t>
            </a:r>
            <a:r>
              <a:rPr lang="it-IT" sz="2000" dirty="0"/>
              <a:t> e </a:t>
            </a:r>
            <a:r>
              <a:rPr lang="it-IT" sz="2000" dirty="0">
                <a:cs typeface="Apple Symbols" charset="0"/>
              </a:rPr>
              <a:t>∈</a:t>
            </a:r>
            <a:r>
              <a:rPr lang="it-IT" sz="2000" dirty="0"/>
              <a:t> E, G’ = &lt;V,E-{e}&gt; non è connesso</a:t>
            </a:r>
          </a:p>
          <a:p>
            <a:pPr lvl="1"/>
            <a:r>
              <a:rPr lang="it-IT" sz="2000" dirty="0"/>
              <a:t>|E| = |V|-1. Vale per ogni grafo connesso o aciclico</a:t>
            </a:r>
          </a:p>
          <a:p>
            <a:pPr lvl="1"/>
            <a:r>
              <a:rPr lang="it-IT" sz="2000" dirty="0">
                <a:cs typeface="Apple Symbols" charset="0"/>
              </a:rPr>
              <a:t>∀</a:t>
            </a:r>
            <a:r>
              <a:rPr lang="it-IT" sz="2000" dirty="0"/>
              <a:t> e </a:t>
            </a:r>
            <a:r>
              <a:rPr lang="it-IT" sz="2000" dirty="0">
                <a:latin typeface="Symbol" charset="0"/>
              </a:rPr>
              <a:t>∉</a:t>
            </a:r>
            <a:r>
              <a:rPr lang="it-IT" sz="2000" dirty="0"/>
              <a:t> E, G’ = V,E </a:t>
            </a:r>
            <a:r>
              <a:rPr lang="it-IT" sz="2000" dirty="0">
                <a:cs typeface="Apple Symbols" charset="0"/>
              </a:rPr>
              <a:t>⋃</a:t>
            </a:r>
            <a:r>
              <a:rPr lang="it-IT" sz="2000" dirty="0"/>
              <a:t>{e}&gt; non è aciclico</a:t>
            </a:r>
            <a:endParaRPr lang="it-IT" sz="23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#</a:t>
            </a:r>
            <a:endParaRPr lang="en-US" sz="14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1453</TotalTime>
  <Words>1976</Words>
  <Application>Microsoft Macintosh PowerPoint</Application>
  <PresentationFormat>On-screen Show (4:3)</PresentationFormat>
  <Paragraphs>298</Paragraphs>
  <Slides>31</Slides>
  <Notes>30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Presentazione</vt:lpstr>
      <vt:lpstr>Equation</vt:lpstr>
      <vt:lpstr>UNIVERSITA’ DI MILANO-BICOCCA CdL IN INFORMATICA</vt:lpstr>
      <vt:lpstr>Grafi</vt:lpstr>
      <vt:lpstr>Definizioni base</vt:lpstr>
      <vt:lpstr>Esempio: grafo orientato</vt:lpstr>
      <vt:lpstr>Esempio: grafo non orientato</vt:lpstr>
      <vt:lpstr>Grafi pesati</vt:lpstr>
      <vt:lpstr>Esempio: grafo pesato</vt:lpstr>
      <vt:lpstr>Definizioni base</vt:lpstr>
      <vt:lpstr>Definizioni base</vt:lpstr>
      <vt:lpstr>Cosa possono modellare i grafi?</vt:lpstr>
      <vt:lpstr>Cosa possono modellare i grafi?</vt:lpstr>
      <vt:lpstr>Cosa possono modellare i grafi?</vt:lpstr>
      <vt:lpstr>Cosa possono modellare i grafi?</vt:lpstr>
      <vt:lpstr>Cosa possono modellare i grafi?</vt:lpstr>
      <vt:lpstr>Cosa possono modellare i grafi?</vt:lpstr>
      <vt:lpstr>Cosa possono modellare i grafi?</vt:lpstr>
      <vt:lpstr>Cosa possono modellare i grafi?</vt:lpstr>
      <vt:lpstr>Multigrafi</vt:lpstr>
      <vt:lpstr>Esempio</vt:lpstr>
      <vt:lpstr>Definizioni base</vt:lpstr>
      <vt:lpstr>Definizioni base</vt:lpstr>
      <vt:lpstr>Definizioni base</vt:lpstr>
      <vt:lpstr>Definizioni base</vt:lpstr>
      <vt:lpstr>Esempio</vt:lpstr>
      <vt:lpstr>Rappresentazione dei grafi</vt:lpstr>
      <vt:lpstr>Rappresentazione dei grafi</vt:lpstr>
      <vt:lpstr>Rappresentazione dei grafi</vt:lpstr>
      <vt:lpstr>Esempio</vt:lpstr>
      <vt:lpstr>Alberi</vt:lpstr>
      <vt:lpstr>Alberi</vt:lpstr>
      <vt:lpstr>Alberi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42</cp:revision>
  <cp:lastPrinted>2002-02-01T12:39:25Z</cp:lastPrinted>
  <dcterms:created xsi:type="dcterms:W3CDTF">2010-03-03T07:29:28Z</dcterms:created>
  <dcterms:modified xsi:type="dcterms:W3CDTF">2015-11-06T09:01:49Z</dcterms:modified>
</cp:coreProperties>
</file>