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7" r:id="rId1"/>
  </p:sldMasterIdLst>
  <p:notesMasterIdLst>
    <p:notesMasterId r:id="rId19"/>
  </p:notesMasterIdLst>
  <p:handoutMasterIdLst>
    <p:handoutMasterId r:id="rId20"/>
  </p:handoutMasterIdLst>
  <p:sldIdLst>
    <p:sldId id="471" r:id="rId2"/>
    <p:sldId id="455" r:id="rId3"/>
    <p:sldId id="456" r:id="rId4"/>
    <p:sldId id="457" r:id="rId5"/>
    <p:sldId id="458" r:id="rId6"/>
    <p:sldId id="459" r:id="rId7"/>
    <p:sldId id="460" r:id="rId8"/>
    <p:sldId id="461" r:id="rId9"/>
    <p:sldId id="462" r:id="rId10"/>
    <p:sldId id="463" r:id="rId11"/>
    <p:sldId id="464" r:id="rId12"/>
    <p:sldId id="465" r:id="rId13"/>
    <p:sldId id="466" r:id="rId14"/>
    <p:sldId id="467" r:id="rId15"/>
    <p:sldId id="468" r:id="rId16"/>
    <p:sldId id="469" r:id="rId17"/>
    <p:sldId id="470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3200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9B0"/>
    <a:srgbClr val="004070"/>
    <a:srgbClr val="005FA6"/>
    <a:srgbClr val="F97407"/>
    <a:srgbClr val="013C69"/>
    <a:srgbClr val="60E6E1"/>
    <a:srgbClr val="201FF0"/>
    <a:srgbClr val="3D9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984" y="-1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handoutMaster" Target="handoutMasters/handoutMaster1.xml"/><Relationship Id="rId21" Type="http://schemas.openxmlformats.org/officeDocument/2006/relationships/printerSettings" Target="printerSettings/printerSettings1.bin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682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C0C0A947-1BBA-AD47-880C-8075A2EF1038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45189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74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74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pPr>
              <a:defRPr/>
            </a:pPr>
            <a:fld id="{69DC7B21-583F-CD44-B53F-C88A2417CA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08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1" hangingPunct="1"/>
            <a:fld id="{7D39BA04-5008-0745-BDA3-82A84C11E4B3}" type="slidenum">
              <a:rPr lang="en-US" sz="1200">
                <a:latin typeface="Tahoma" charset="0"/>
              </a:rPr>
              <a:pPr eaLnBrk="1" hangingPunct="1"/>
              <a:t>1</a:t>
            </a:fld>
            <a:endParaRPr lang="en-US" sz="1200">
              <a:latin typeface="Tahoma" charset="0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DABDF5-EBF8-1F48-98A1-035CBA6488D8}" type="slidenum">
              <a:rPr lang="en-US"/>
              <a:pPr/>
              <a:t>2</a:t>
            </a:fld>
            <a:endParaRPr lang="en-US"/>
          </a:p>
        </p:txBody>
      </p:sp>
      <p:sp>
        <p:nvSpPr>
          <p:cNvPr id="377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7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1C7893-B42A-7745-B57B-782A40C4E396}" type="slidenum">
              <a:rPr lang="en-US"/>
              <a:pPr/>
              <a:t>3</a:t>
            </a:fld>
            <a:endParaRPr lang="en-US"/>
          </a:p>
        </p:txBody>
      </p:sp>
      <p:sp>
        <p:nvSpPr>
          <p:cNvPr id="44544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fld id="{2F8C498A-7798-4945-9A19-952151A225B9}" type="slidenum">
              <a:rPr lang="en-US" sz="1200">
                <a:latin typeface="Tahoma" charset="0"/>
              </a:rPr>
              <a:pPr algn="r"/>
              <a:t>3</a:t>
            </a:fld>
            <a:endParaRPr lang="en-US" sz="1200">
              <a:latin typeface="Tahoma" charset="0"/>
            </a:endParaRPr>
          </a:p>
        </p:txBody>
      </p:sp>
      <p:sp>
        <p:nvSpPr>
          <p:cNvPr id="445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4544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1A208C-6137-6545-823F-EC850D13E8A8}" type="slidenum">
              <a:rPr lang="en-US"/>
              <a:pPr/>
              <a:t>4</a:t>
            </a:fld>
            <a:endParaRPr lang="en-US"/>
          </a:p>
        </p:txBody>
      </p:sp>
      <p:sp>
        <p:nvSpPr>
          <p:cNvPr id="42905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29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4343400"/>
            <a:ext cx="5791200" cy="419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A35F29-7C67-9D4F-8587-C7DE79CACCD2}" type="slidenum">
              <a:rPr lang="en-US"/>
              <a:pPr/>
              <a:t>5</a:t>
            </a:fld>
            <a:endParaRPr lang="en-US"/>
          </a:p>
        </p:txBody>
      </p:sp>
      <p:sp>
        <p:nvSpPr>
          <p:cNvPr id="379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9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D101C2-74D0-B04B-9A90-1C7BC0D0C44D}" type="slidenum">
              <a:rPr lang="en-US"/>
              <a:pPr/>
              <a:t>6</a:t>
            </a:fld>
            <a:endParaRPr lang="en-US"/>
          </a:p>
        </p:txBody>
      </p:sp>
      <p:sp>
        <p:nvSpPr>
          <p:cNvPr id="435202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4343400"/>
            <a:ext cx="5791200" cy="419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it-IT"/>
              <a:t>Calcoliamo D(n,m) risolvendo il problema più generale di calcolare D(i,j) per qualunque combinazione di valori di i e j.</a:t>
            </a:r>
          </a:p>
          <a:p>
            <a:r>
              <a:rPr lang="it-IT"/>
              <a:t>La progr din ha tre componenti: relaz di ricorrenza, calcolo tabulare, risalita.</a:t>
            </a:r>
          </a:p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F8CB6B-8A63-E948-B4A9-172ADF820BFE}" type="slidenum">
              <a:rPr lang="en-US"/>
              <a:pPr/>
              <a:t>7</a:t>
            </a:fld>
            <a:endParaRPr lang="en-US"/>
          </a:p>
        </p:txBody>
      </p:sp>
      <p:sp>
        <p:nvSpPr>
          <p:cNvPr id="443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43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B403FE-0CF5-0F4C-B20B-7AFD2E0D726B}" type="slidenum">
              <a:rPr lang="en-US"/>
              <a:pPr/>
              <a:t>8</a:t>
            </a:fld>
            <a:endParaRPr lang="en-US"/>
          </a:p>
        </p:txBody>
      </p:sp>
      <p:sp>
        <p:nvSpPr>
          <p:cNvPr id="390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A293B04-C924-9D48-9F39-FFE0E55A7E15}" type="slidenum">
              <a:rPr lang="en-US"/>
              <a:pPr/>
              <a:t>9</a:t>
            </a:fld>
            <a:endParaRPr lang="en-US"/>
          </a:p>
        </p:txBody>
      </p:sp>
      <p:sp>
        <p:nvSpPr>
          <p:cNvPr id="36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63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Calcoliamo D(n,m) risolvendo il problema più generale di calcolare D(i,j) per qualunque combinazione di valori di i e j.</a:t>
            </a:r>
          </a:p>
          <a:p>
            <a:r>
              <a:rPr lang="it-IT"/>
              <a:t>La progr din ha tre componenti: relaz di ricorrenza, calcolo tabulare, risalita.</a:t>
            </a:r>
          </a:p>
          <a:p>
            <a:endParaRPr lang="it-IT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900F7A-1DE1-9042-A99A-0198335302E2}" type="slidenum">
              <a:rPr lang="en-US"/>
              <a:pPr/>
              <a:t>10</a:t>
            </a:fld>
            <a:endParaRPr lang="en-US"/>
          </a:p>
        </p:txBody>
      </p:sp>
      <p:sp>
        <p:nvSpPr>
          <p:cNvPr id="43929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392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it-IT"/>
              <a:t>Calcoliamo D(n,m) risolvendo il problema più generale di calcolare D(i,j) per qualunque combinazione di valori di i e j.</a:t>
            </a:r>
          </a:p>
          <a:p>
            <a:r>
              <a:rPr lang="it-IT"/>
              <a:t>La progr din ha tre componenti: relaz di ricorrenza, calcolo tabulare, risalita.</a:t>
            </a:r>
          </a:p>
          <a:p>
            <a:endParaRPr 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7DCAF0-5741-2746-982E-D7AE2CB97E9B}" type="slidenum">
              <a:rPr lang="en-US"/>
              <a:pPr/>
              <a:t>11</a:t>
            </a:fld>
            <a:endParaRPr lang="en-US"/>
          </a:p>
        </p:txBody>
      </p:sp>
      <p:sp>
        <p:nvSpPr>
          <p:cNvPr id="392194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92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4343400"/>
            <a:ext cx="5791200" cy="4191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3171F8-B8C2-2149-A715-9B8CC58EE2A0}" type="slidenum">
              <a:rPr lang="en-US"/>
              <a:pPr/>
              <a:t>12</a:t>
            </a:fld>
            <a:endParaRPr lang="en-US"/>
          </a:p>
        </p:txBody>
      </p:sp>
      <p:sp>
        <p:nvSpPr>
          <p:cNvPr id="365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65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Calcoliamo D(n,m) risolvendo il problema più generale di calcolare D(i,j) per qualunque combinazione di valori di i e j.</a:t>
            </a:r>
          </a:p>
          <a:p>
            <a:r>
              <a:rPr lang="it-IT"/>
              <a:t>La progr din ha tre componenti: relaz di ricorrenza, calcolo tabulare, risalita.</a:t>
            </a:r>
          </a:p>
          <a:p>
            <a:endParaRPr 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A6542DE-546E-B845-9766-C4F3CBD72E1F}" type="slidenum">
              <a:rPr lang="en-US"/>
              <a:pPr/>
              <a:t>13</a:t>
            </a:fld>
            <a:endParaRPr lang="en-US"/>
          </a:p>
        </p:txBody>
      </p:sp>
      <p:sp>
        <p:nvSpPr>
          <p:cNvPr id="340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40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77596A-CF57-C645-B894-E676DF0518B7}" type="slidenum">
              <a:rPr lang="en-US"/>
              <a:pPr/>
              <a:t>14</a:t>
            </a:fld>
            <a:endParaRPr lang="en-US"/>
          </a:p>
        </p:txBody>
      </p:sp>
      <p:sp>
        <p:nvSpPr>
          <p:cNvPr id="44134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413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598E50-BBEB-D445-8488-B4A7E4576FBC}" type="slidenum">
              <a:rPr lang="en-US"/>
              <a:pPr/>
              <a:t>15</a:t>
            </a:fld>
            <a:endParaRPr lang="en-US"/>
          </a:p>
        </p:txBody>
      </p:sp>
      <p:sp>
        <p:nvSpPr>
          <p:cNvPr id="3737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3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Calcoliamo D(n,m) risolvendo il problema più generale di calcolare D(i,j) per qualunque combinazione di valori di i e j.</a:t>
            </a:r>
          </a:p>
          <a:p>
            <a:r>
              <a:rPr lang="it-IT"/>
              <a:t>La progr din ha tre componenti: relaz di ricorrenza, calcolo tabulare, risalita.</a:t>
            </a:r>
          </a:p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6731B-FEF2-2243-8437-D1670C17E8BA}" type="slidenum">
              <a:rPr lang="en-US"/>
              <a:pPr/>
              <a:t>16</a:t>
            </a:fld>
            <a:endParaRPr lang="en-US"/>
          </a:p>
        </p:txBody>
      </p:sp>
      <p:sp>
        <p:nvSpPr>
          <p:cNvPr id="371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1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A00741-5DFB-ED4E-9578-0A14BE8BF007}" type="slidenum">
              <a:rPr lang="en-US"/>
              <a:pPr/>
              <a:t>17</a:t>
            </a:fld>
            <a:endParaRPr lang="en-US"/>
          </a:p>
        </p:txBody>
      </p:sp>
      <p:sp>
        <p:nvSpPr>
          <p:cNvPr id="375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75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Calcoliamo D(n,m) risolvendo il problema più generale di calcolare D(i,j) per qualunque combinazione di valori di i e j.</a:t>
            </a:r>
          </a:p>
          <a:p>
            <a:r>
              <a:rPr lang="it-IT"/>
              <a:t>La progr din ha tre componenti: relaz di ricorrenza, calcolo tabulare, risalita.</a:t>
            </a:r>
          </a:p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9906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it-IT">
                  <a:latin typeface="Tahoma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>
                <a:latin typeface="Tahoma" charset="0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304800"/>
            <a:ext cx="7772400" cy="1143000"/>
          </a:xfrm>
        </p:spPr>
        <p:txBody>
          <a:bodyPr/>
          <a:lstStyle>
            <a:lvl1pPr algn="ctr">
              <a:defRPr sz="2800">
                <a:solidFill>
                  <a:schemeClr val="folHlink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2590800"/>
            <a:ext cx="7010400" cy="3352800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ct val="120000"/>
              </a:spcBef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3212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196752"/>
            <a:ext cx="8496944" cy="5184576"/>
          </a:xfrm>
        </p:spPr>
        <p:txBody>
          <a:bodyPr/>
          <a:lstStyle/>
          <a:p>
            <a:pPr lvl="0"/>
            <a:r>
              <a:rPr lang="it-IT" dirty="0" smtClean="0"/>
              <a:t>Click to </a:t>
            </a:r>
            <a:r>
              <a:rPr lang="it-IT" dirty="0" err="1" smtClean="0"/>
              <a:t>edit</a:t>
            </a:r>
            <a:r>
              <a:rPr lang="it-IT" dirty="0" smtClean="0"/>
              <a:t> Master text </a:t>
            </a:r>
            <a:r>
              <a:rPr lang="it-IT" dirty="0" err="1" smtClean="0"/>
              <a:t>styles</a:t>
            </a:r>
            <a:endParaRPr lang="it-IT" dirty="0" smtClean="0"/>
          </a:p>
          <a:p>
            <a:pPr lvl="1"/>
            <a:r>
              <a:rPr lang="it-IT" dirty="0" smtClean="0"/>
              <a:t>Second </a:t>
            </a:r>
            <a:r>
              <a:rPr lang="it-IT" dirty="0" err="1" smtClean="0"/>
              <a:t>level</a:t>
            </a:r>
            <a:endParaRPr lang="it-IT" dirty="0" smtClean="0"/>
          </a:p>
          <a:p>
            <a:pPr lvl="2"/>
            <a:r>
              <a:rPr lang="it-IT" dirty="0" smtClean="0"/>
              <a:t>Third </a:t>
            </a:r>
            <a:r>
              <a:rPr lang="it-IT" dirty="0" err="1" smtClean="0"/>
              <a:t>level</a:t>
            </a:r>
            <a:endParaRPr lang="it-IT" dirty="0" smtClean="0"/>
          </a:p>
          <a:p>
            <a:pPr lvl="3"/>
            <a:r>
              <a:rPr lang="it-IT" dirty="0" err="1" smtClean="0"/>
              <a:t>Fourth</a:t>
            </a:r>
            <a:r>
              <a:rPr lang="it-IT" dirty="0" smtClean="0"/>
              <a:t> </a:t>
            </a:r>
            <a:r>
              <a:rPr lang="it-IT" dirty="0" err="1" smtClean="0"/>
              <a:t>level</a:t>
            </a:r>
            <a:endParaRPr lang="it-IT" dirty="0" smtClean="0"/>
          </a:p>
          <a:p>
            <a:pPr lvl="4"/>
            <a:r>
              <a:rPr lang="it-IT" dirty="0" err="1" smtClean="0"/>
              <a:t>Fifth</a:t>
            </a:r>
            <a:r>
              <a:rPr lang="it-IT" dirty="0" smtClean="0"/>
              <a:t> </a:t>
            </a:r>
            <a:r>
              <a:rPr lang="it-IT" dirty="0" err="1" smtClean="0"/>
              <a:t>level</a:t>
            </a:r>
            <a:endParaRPr lang="it-IT" dirty="0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525344"/>
            <a:ext cx="720080" cy="272752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fld id="{A5CB7864-E48A-A24E-9D04-923EB4B530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416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6764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Click to edit Master text styles</a:t>
            </a:r>
          </a:p>
          <a:p>
            <a:pPr lvl="1"/>
            <a:r>
              <a:rPr lang="it-IT" smtClean="0"/>
              <a:t>Second level</a:t>
            </a:r>
          </a:p>
          <a:p>
            <a:pPr lvl="2"/>
            <a:r>
              <a:rPr lang="it-IT" smtClean="0"/>
              <a:t>Third level</a:t>
            </a:r>
          </a:p>
          <a:p>
            <a:pPr lvl="3"/>
            <a:r>
              <a:rPr lang="it-IT" smtClean="0"/>
              <a:t>Fourth level</a:t>
            </a:r>
          </a:p>
          <a:p>
            <a:pPr lvl="4"/>
            <a:r>
              <a:rPr lang="it-IT" smtClean="0"/>
              <a:t>Fifth level</a:t>
            </a:r>
            <a:endParaRPr lang="it-IT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244408" y="6480397"/>
            <a:ext cx="730424" cy="344760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Click to edit Master title style</a:t>
            </a:r>
            <a:endParaRPr lang="it-IT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72400" y="6381328"/>
            <a:ext cx="802432" cy="344760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dirty="0" smtClean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50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00392" y="6381328"/>
            <a:ext cx="802432" cy="344760"/>
          </a:xfrm>
          <a:prstGeom prst="rect">
            <a:avLst/>
          </a:prstGeom>
          <a:ln/>
        </p:spPr>
        <p:txBody>
          <a:bodyPr/>
          <a:lstStyle>
            <a:lvl1pPr algn="r">
              <a:defRPr sz="1200">
                <a:latin typeface="Arial"/>
                <a:cs typeface="Arial"/>
              </a:defRPr>
            </a:lvl1pPr>
          </a:lstStyle>
          <a:p>
            <a:pPr>
              <a:defRPr/>
            </a:pPr>
            <a:r>
              <a:rPr lang="en-US" smtClean="0"/>
              <a:t>#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7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>
            <a:off x="179512" y="188640"/>
            <a:ext cx="8617272" cy="959768"/>
            <a:chOff x="203200" y="381000"/>
            <a:chExt cx="8556625" cy="1052513"/>
          </a:xfrm>
        </p:grpSpPr>
        <p:sp>
          <p:nvSpPr>
            <p:cNvPr id="1026" name="Rectangle 2"/>
            <p:cNvSpPr>
              <a:spLocks noChangeArrowheads="1"/>
            </p:cNvSpPr>
            <p:nvPr/>
          </p:nvSpPr>
          <p:spPr bwMode="ltGray">
            <a:xfrm>
              <a:off x="493713" y="488950"/>
              <a:ext cx="438150" cy="4746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7" name="Rectangle 3"/>
            <p:cNvSpPr>
              <a:spLocks noChangeArrowheads="1"/>
            </p:cNvSpPr>
            <p:nvPr/>
          </p:nvSpPr>
          <p:spPr bwMode="ltGray">
            <a:xfrm>
              <a:off x="876300" y="488950"/>
              <a:ext cx="328613" cy="474663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8" name="Rectangle 4"/>
            <p:cNvSpPr>
              <a:spLocks noChangeArrowheads="1"/>
            </p:cNvSpPr>
            <p:nvPr/>
          </p:nvSpPr>
          <p:spPr bwMode="ltGray">
            <a:xfrm>
              <a:off x="617538" y="911225"/>
              <a:ext cx="422275" cy="474663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29" name="Rectangle 5"/>
            <p:cNvSpPr>
              <a:spLocks noChangeArrowheads="1"/>
            </p:cNvSpPr>
            <p:nvPr/>
          </p:nvSpPr>
          <p:spPr bwMode="ltGray">
            <a:xfrm>
              <a:off x="987425" y="911225"/>
              <a:ext cx="368300" cy="474663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0" name="Rectangle 6"/>
            <p:cNvSpPr>
              <a:spLocks noChangeArrowheads="1"/>
            </p:cNvSpPr>
            <p:nvPr/>
          </p:nvSpPr>
          <p:spPr bwMode="ltGray">
            <a:xfrm>
              <a:off x="203200" y="838200"/>
              <a:ext cx="560388" cy="422275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1" name="Rectangle 7"/>
            <p:cNvSpPr>
              <a:spLocks noChangeArrowheads="1"/>
            </p:cNvSpPr>
            <p:nvPr/>
          </p:nvSpPr>
          <p:spPr bwMode="gray">
            <a:xfrm>
              <a:off x="838200" y="381000"/>
              <a:ext cx="31750" cy="105251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  <p:sp>
          <p:nvSpPr>
            <p:cNvPr id="1032" name="Rectangle 8"/>
            <p:cNvSpPr>
              <a:spLocks noChangeArrowheads="1"/>
            </p:cNvSpPr>
            <p:nvPr/>
          </p:nvSpPr>
          <p:spPr bwMode="gray">
            <a:xfrm>
              <a:off x="533400" y="1143000"/>
              <a:ext cx="8226425" cy="3175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endParaRPr kumimoji="1" lang="it-IT" sz="2400">
                <a:latin typeface="Tahoma" charset="0"/>
              </a:endParaRPr>
            </a:p>
          </p:txBody>
        </p:sp>
      </p:grp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87624" y="260648"/>
            <a:ext cx="7535862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528" y="1196752"/>
            <a:ext cx="8424936" cy="4968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18" r:id="rId2"/>
    <p:sldLayoutId id="2147483720" r:id="rId3"/>
    <p:sldLayoutId id="2147483722" r:id="rId4"/>
    <p:sldLayoutId id="2147483723" r:id="rId5"/>
  </p:sldLayoutIdLst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2" grpId="0" build="p" bldLvl="3" autoUpdateAnimBg="0">
        <p:tmplLst>
          <p:tmpl lvl="1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xmlns:p14="http://schemas.microsoft.com/office/powerpoint/2010/main"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xmlns:p14="http://schemas.microsoft.com/office/powerpoint/2010/main"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499"/>
                          </p:stCondLst>
                        </p:cTn>
                        <p:tgtEl>
                          <p:spTgt spid="645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Arial"/>
          <a:ea typeface="ＭＳ Ｐゴシック" charset="-128"/>
          <a:cs typeface="Arial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hlink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lnSpc>
          <a:spcPct val="110000"/>
        </a:lnSpc>
        <a:spcBef>
          <a:spcPct val="50000"/>
        </a:spcBef>
        <a:spcAft>
          <a:spcPct val="0"/>
        </a:spcAft>
        <a:buClr>
          <a:schemeClr val="hlink"/>
        </a:buClr>
        <a:buFont typeface="Wingdings" charset="0"/>
        <a:buChar char="Ø"/>
        <a:defRPr sz="2400">
          <a:solidFill>
            <a:srgbClr val="201FF0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40000"/>
        </a:spcBef>
        <a:spcAft>
          <a:spcPct val="0"/>
        </a:spcAft>
        <a:buClr>
          <a:schemeClr val="folHlink"/>
        </a:buClr>
        <a:buSzPct val="95000"/>
        <a:buFont typeface="Wingdings" charset="0"/>
        <a:buChar char="ü"/>
        <a:defRPr sz="2000">
          <a:solidFill>
            <a:schemeClr val="hlink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0"/>
        <a:buChar char="n"/>
        <a:defRPr>
          <a:solidFill>
            <a:schemeClr val="tx1"/>
          </a:solidFill>
          <a:latin typeface="+mn-lt"/>
          <a:ea typeface="ＭＳ Ｐゴシック" charset="-128"/>
        </a:defRPr>
      </a:lvl5pPr>
      <a:lvl6pPr marL="2438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6pPr>
      <a:lvl7pPr marL="2895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7pPr>
      <a:lvl8pPr marL="3352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8pPr>
      <a:lvl9pPr marL="3810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8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it-IT">
                <a:ea typeface="ＭＳ Ｐゴシック" charset="0"/>
                <a:cs typeface="ＭＳ Ｐゴシック" charset="0"/>
              </a:rPr>
              <a:t>UNIVERSITA’ DI MILANO-BICOCCA</a:t>
            </a:r>
            <a:br>
              <a:rPr lang="it-IT">
                <a:ea typeface="ＭＳ Ｐゴシック" charset="0"/>
                <a:cs typeface="ＭＳ Ｐゴシック" charset="0"/>
              </a:rPr>
            </a:br>
            <a:r>
              <a:rPr lang="it-IT">
                <a:ea typeface="ＭＳ Ｐゴシック" charset="0"/>
                <a:cs typeface="ＭＳ Ｐゴシック" charset="0"/>
              </a:rPr>
              <a:t>CdL IN INFORMATICA</a:t>
            </a:r>
          </a:p>
        </p:txBody>
      </p:sp>
      <p:sp>
        <p:nvSpPr>
          <p:cNvPr id="15362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1043608" y="2204864"/>
            <a:ext cx="7086600" cy="3886200"/>
          </a:xfrm>
        </p:spPr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it-IT" dirty="0">
                <a:latin typeface="Comic Sans MS" charset="0"/>
                <a:ea typeface="ＭＳ Ｐゴシック" charset="0"/>
                <a:cs typeface="ＭＳ Ｐゴシック" charset="0"/>
              </a:rPr>
              <a:t>Corso di</a:t>
            </a:r>
          </a:p>
          <a:p>
            <a:pPr eaLnBrk="1" hangingPunct="1">
              <a:spcBef>
                <a:spcPts val="1200"/>
              </a:spcBef>
            </a:pPr>
            <a:r>
              <a:rPr lang="it-IT" sz="2800" b="1" dirty="0">
                <a:solidFill>
                  <a:srgbClr val="FF0000"/>
                </a:solidFill>
              </a:rPr>
              <a:t>ANALISI E PROGETTO DI </a:t>
            </a:r>
            <a:r>
              <a:rPr lang="it-IT" sz="2800" b="1" dirty="0" smtClean="0">
                <a:solidFill>
                  <a:srgbClr val="FF0000"/>
                </a:solidFill>
              </a:rPr>
              <a:t>ALGORITMI</a:t>
            </a:r>
            <a:endParaRPr lang="it-IT" sz="2800" dirty="0" smtClean="0">
              <a:solidFill>
                <a:srgbClr val="FF0000"/>
              </a:solidFill>
            </a:endParaRPr>
          </a:p>
          <a:p>
            <a:pPr eaLnBrk="1" hangingPunct="1"/>
            <a:r>
              <a:rPr lang="en-US" dirty="0">
                <a:latin typeface="Comic Sans MS" charset="0"/>
                <a:ea typeface="ＭＳ Ｐゴシック" charset="0"/>
              </a:rPr>
              <a:t>Prof. Giancarlo Mauri</a:t>
            </a:r>
            <a:endParaRPr lang="it-IT" dirty="0">
              <a:latin typeface="Comic Sans MS" charset="0"/>
              <a:ea typeface="ＭＳ Ｐゴシック" charset="0"/>
            </a:endParaRPr>
          </a:p>
          <a:p>
            <a:pPr eaLnBrk="1" hangingPunct="1">
              <a:buFont typeface="Wingdings" charset="0"/>
              <a:buNone/>
            </a:pPr>
            <a:r>
              <a:rPr lang="it-IT" dirty="0" smtClean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Lezione </a:t>
            </a:r>
            <a:r>
              <a:rPr lang="it-IT" dirty="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rPr>
              <a:t>5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r>
              <a:rPr lang="it-IT" dirty="0">
                <a:solidFill>
                  <a:srgbClr val="008000"/>
                </a:solidFill>
                <a:latin typeface="Comic Sans MS" charset="0"/>
              </a:rPr>
              <a:t>Distanza di </a:t>
            </a:r>
            <a:r>
              <a:rPr lang="it-IT" smtClean="0">
                <a:solidFill>
                  <a:srgbClr val="008000"/>
                </a:solidFill>
                <a:latin typeface="Comic Sans MS" charset="0"/>
              </a:rPr>
              <a:t>edit</a:t>
            </a: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  <a:p>
            <a:pPr eaLnBrk="1" hangingPunct="1">
              <a:spcBef>
                <a:spcPts val="0"/>
              </a:spcBef>
            </a:pPr>
            <a:endParaRPr lang="it-IT" dirty="0">
              <a:latin typeface="Comic Sans MS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6750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6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Confronto di sequenze</a:t>
            </a:r>
            <a:endParaRPr lang="it-IT"/>
          </a:p>
        </p:txBody>
      </p:sp>
      <p:sp>
        <p:nvSpPr>
          <p:cNvPr id="32666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smtClean="0"/>
              <a:t>Il confronto tra sequenze è fondamentale in campi come la biologia computazionale, l’analisi dei testi e molti altri.</a:t>
            </a:r>
          </a:p>
          <a:p>
            <a:r>
              <a:rPr lang="it-IT" dirty="0" smtClean="0"/>
              <a:t>Possibili obiettivi:</a:t>
            </a:r>
          </a:p>
          <a:p>
            <a:pPr lvl="1"/>
            <a:r>
              <a:rPr lang="it-IT" dirty="0" smtClean="0"/>
              <a:t> misurare la “similarità” tra le sequenze</a:t>
            </a:r>
          </a:p>
          <a:p>
            <a:pPr lvl="2"/>
            <a:r>
              <a:rPr lang="it-IT" dirty="0" smtClean="0"/>
              <a:t>allineamento</a:t>
            </a:r>
          </a:p>
          <a:p>
            <a:pPr lvl="1"/>
            <a:r>
              <a:rPr lang="it-IT" dirty="0" smtClean="0"/>
              <a:t> misurare la “diversità” tra le sequenze</a:t>
            </a:r>
          </a:p>
          <a:p>
            <a:pPr lvl="2"/>
            <a:r>
              <a:rPr lang="it-IT" dirty="0" smtClean="0"/>
              <a:t>distanza di </a:t>
            </a:r>
            <a:r>
              <a:rPr lang="it-IT" dirty="0" err="1" smtClean="0"/>
              <a:t>edit</a:t>
            </a:r>
            <a:endParaRPr lang="it-IT" dirty="0" smtClean="0"/>
          </a:p>
          <a:p>
            <a:pPr lvl="1"/>
            <a:r>
              <a:rPr lang="it-IT" dirty="0" smtClean="0"/>
              <a:t> trovare parti comuni alle sequenze</a:t>
            </a:r>
          </a:p>
          <a:p>
            <a:pPr lvl="2"/>
            <a:r>
              <a:rPr lang="it-IT" dirty="0" smtClean="0"/>
              <a:t>pattern </a:t>
            </a:r>
            <a:r>
              <a:rPr lang="it-IT" dirty="0" err="1" smtClean="0"/>
              <a:t>discovery</a:t>
            </a:r>
            <a:endParaRPr lang="it-IT" dirty="0" smtClean="0"/>
          </a:p>
          <a:p>
            <a:pPr lvl="2"/>
            <a:r>
              <a:rPr lang="it-IT" dirty="0" smtClean="0"/>
              <a:t>allineamento locale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72450" y="6524625"/>
            <a:ext cx="720725" cy="273050"/>
          </a:xfrm>
        </p:spPr>
        <p:txBody>
          <a:bodyPr/>
          <a:lstStyle/>
          <a:p>
            <a:fld id="{0258AC29-4ED5-2749-8753-81611C18C160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Slide Number Placeholder 3"/>
          <p:cNvSpPr txBox="1">
            <a:spLocks noGrp="1"/>
          </p:cNvSpPr>
          <p:nvPr/>
        </p:nvSpPr>
        <p:spPr bwMode="auto">
          <a:xfrm>
            <a:off x="6948264" y="6237312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/>
            <a:fld id="{74842765-173C-3949-8356-AA831012C710}" type="slidenum">
              <a:rPr lang="en-US" sz="1200">
                <a:latin typeface="Times New Roman" charset="0"/>
              </a:rPr>
              <a:pPr algn="r"/>
              <a:t>3</a:t>
            </a:fld>
            <a:endParaRPr lang="en-US" sz="1400" dirty="0">
              <a:latin typeface="Tahoma" charset="0"/>
            </a:endParaRPr>
          </a:p>
        </p:txBody>
      </p:sp>
      <p:sp>
        <p:nvSpPr>
          <p:cNvPr id="444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Distanza tra due sequenze</a:t>
            </a:r>
            <a:endParaRPr lang="it-IT"/>
          </a:p>
        </p:txBody>
      </p:sp>
      <p:sp>
        <p:nvSpPr>
          <p:cNvPr id="444420" name="Rectangle 5"/>
          <p:cNvSpPr>
            <a:spLocks noGrp="1" noChangeArrowheads="1"/>
          </p:cNvSpPr>
          <p:nvPr>
            <p:ph type="body" idx="4294967295"/>
          </p:nvPr>
        </p:nvSpPr>
        <p:spPr>
          <a:xfrm>
            <a:off x="251520" y="1628800"/>
            <a:ext cx="7848600" cy="1858963"/>
          </a:xfrm>
          <a:noFill/>
        </p:spPr>
        <p:txBody>
          <a:bodyPr/>
          <a:lstStyle/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it-IT" b="0" dirty="0"/>
              <a:t>Distanza di </a:t>
            </a:r>
            <a:r>
              <a:rPr lang="it-IT" b="0" dirty="0" err="1"/>
              <a:t>edit</a:t>
            </a:r>
            <a:r>
              <a:rPr lang="it-IT" b="0" dirty="0"/>
              <a:t> tra due sequenze </a:t>
            </a:r>
            <a:r>
              <a:rPr lang="it-IT" b="0" dirty="0" err="1"/>
              <a:t>S</a:t>
            </a:r>
            <a:r>
              <a:rPr lang="it-IT" b="0" dirty="0"/>
              <a:t> e T</a:t>
            </a:r>
            <a:r>
              <a:rPr lang="it-IT" b="0" baseline="-25000" dirty="0"/>
              <a:t> </a:t>
            </a:r>
            <a:r>
              <a:rPr lang="it-IT" dirty="0">
                <a:solidFill>
                  <a:schemeClr val="hlink"/>
                </a:solidFill>
              </a:rPr>
              <a:t>(</a:t>
            </a:r>
            <a:r>
              <a:rPr lang="it-IT" dirty="0" err="1">
                <a:solidFill>
                  <a:schemeClr val="hlink"/>
                </a:solidFill>
              </a:rPr>
              <a:t>Levenshtein</a:t>
            </a:r>
            <a:r>
              <a:rPr lang="it-IT" dirty="0">
                <a:solidFill>
                  <a:schemeClr val="hlink"/>
                </a:solidFill>
              </a:rPr>
              <a:t> 66):</a:t>
            </a:r>
            <a:endParaRPr lang="it-IT" b="0" u="sng" baseline="-25000" dirty="0"/>
          </a:p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it-IT" b="0" dirty="0"/>
              <a:t>  </a:t>
            </a:r>
            <a:r>
              <a:rPr lang="it-IT" b="0" dirty="0">
                <a:solidFill>
                  <a:srgbClr val="2B9D3B"/>
                </a:solidFill>
              </a:rPr>
              <a:t>numero minimo di </a:t>
            </a:r>
            <a:r>
              <a:rPr lang="it-IT" b="0" dirty="0">
                <a:solidFill>
                  <a:schemeClr val="hlink"/>
                </a:solidFill>
              </a:rPr>
              <a:t>“operazioni di modifica” </a:t>
            </a:r>
            <a:r>
              <a:rPr lang="it-IT" b="0" dirty="0">
                <a:solidFill>
                  <a:srgbClr val="2B9D3B"/>
                </a:solidFill>
              </a:rPr>
              <a:t>necessarie per trasformare </a:t>
            </a:r>
            <a:r>
              <a:rPr lang="it-IT" b="0" dirty="0" err="1">
                <a:solidFill>
                  <a:srgbClr val="2B9D3B"/>
                </a:solidFill>
              </a:rPr>
              <a:t>S</a:t>
            </a:r>
            <a:r>
              <a:rPr lang="it-IT" b="0" dirty="0">
                <a:solidFill>
                  <a:srgbClr val="2B9D3B"/>
                </a:solidFill>
              </a:rPr>
              <a:t> in T</a:t>
            </a:r>
          </a:p>
          <a:p>
            <a:pPr>
              <a:lnSpc>
                <a:spcPct val="90000"/>
              </a:lnSpc>
              <a:spcBef>
                <a:spcPct val="90000"/>
              </a:spcBef>
              <a:buFont typeface="Monotype Sorts" charset="0"/>
              <a:buNone/>
            </a:pPr>
            <a:r>
              <a:rPr lang="it-IT" b="0" dirty="0"/>
              <a:t>Esempio</a:t>
            </a:r>
            <a:endParaRPr lang="it-IT" dirty="0"/>
          </a:p>
        </p:txBody>
      </p:sp>
      <p:sp>
        <p:nvSpPr>
          <p:cNvPr id="352262" name="Rectangle 6"/>
          <p:cNvSpPr>
            <a:spLocks noChangeArrowheads="1"/>
          </p:cNvSpPr>
          <p:nvPr/>
        </p:nvSpPr>
        <p:spPr bwMode="auto">
          <a:xfrm>
            <a:off x="632520" y="39925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GATTO</a:t>
            </a:r>
            <a:endParaRPr lang="en-GB" sz="2800"/>
          </a:p>
        </p:txBody>
      </p:sp>
      <p:sp>
        <p:nvSpPr>
          <p:cNvPr id="352263" name="Rectangle 7"/>
          <p:cNvSpPr>
            <a:spLocks noChangeArrowheads="1"/>
          </p:cNvSpPr>
          <p:nvPr/>
        </p:nvSpPr>
        <p:spPr bwMode="auto">
          <a:xfrm>
            <a:off x="632520" y="39910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GETTO</a:t>
            </a:r>
            <a:endParaRPr lang="en-GB" sz="2800"/>
          </a:p>
        </p:txBody>
      </p:sp>
      <p:sp>
        <p:nvSpPr>
          <p:cNvPr id="352264" name="Rectangle 8"/>
          <p:cNvSpPr>
            <a:spLocks noChangeArrowheads="1"/>
          </p:cNvSpPr>
          <p:nvPr/>
        </p:nvSpPr>
        <p:spPr bwMode="auto">
          <a:xfrm>
            <a:off x="632520" y="45259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BARDO</a:t>
            </a:r>
            <a:endParaRPr lang="en-GB" sz="2800"/>
          </a:p>
        </p:txBody>
      </p:sp>
      <p:sp>
        <p:nvSpPr>
          <p:cNvPr id="352265" name="Rectangle 9"/>
          <p:cNvSpPr>
            <a:spLocks noChangeArrowheads="1"/>
          </p:cNvSpPr>
          <p:nvPr/>
        </p:nvSpPr>
        <p:spPr bwMode="auto">
          <a:xfrm>
            <a:off x="632520" y="45259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BRRDO</a:t>
            </a:r>
            <a:endParaRPr lang="en-GB" sz="2800"/>
          </a:p>
        </p:txBody>
      </p:sp>
      <p:sp>
        <p:nvSpPr>
          <p:cNvPr id="352266" name="Rectangle 10"/>
          <p:cNvSpPr>
            <a:spLocks noChangeArrowheads="1"/>
          </p:cNvSpPr>
          <p:nvPr/>
        </p:nvSpPr>
        <p:spPr bwMode="auto">
          <a:xfrm>
            <a:off x="632520" y="45259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BRODO</a:t>
            </a:r>
            <a:endParaRPr lang="en-GB" sz="2800"/>
          </a:p>
        </p:txBody>
      </p:sp>
      <p:sp>
        <p:nvSpPr>
          <p:cNvPr id="352269" name="Rectangle 13"/>
          <p:cNvSpPr>
            <a:spLocks noChangeArrowheads="1"/>
          </p:cNvSpPr>
          <p:nvPr/>
        </p:nvSpPr>
        <p:spPr bwMode="auto">
          <a:xfrm>
            <a:off x="2951312" y="3961656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1800" dirty="0" err="1"/>
              <a:t>una</a:t>
            </a:r>
            <a:r>
              <a:rPr lang="en-GB" sz="1800" dirty="0"/>
              <a:t> </a:t>
            </a:r>
            <a:r>
              <a:rPr lang="en-GB" sz="1800" dirty="0" err="1"/>
              <a:t>sostituzione</a:t>
            </a:r>
            <a:endParaRPr lang="en-GB" sz="1800" dirty="0"/>
          </a:p>
        </p:txBody>
      </p:sp>
      <p:sp>
        <p:nvSpPr>
          <p:cNvPr id="352270" name="Rectangle 14"/>
          <p:cNvSpPr>
            <a:spLocks noChangeArrowheads="1"/>
          </p:cNvSpPr>
          <p:nvPr/>
        </p:nvSpPr>
        <p:spPr bwMode="auto">
          <a:xfrm>
            <a:off x="3223320" y="4525988"/>
            <a:ext cx="5257800" cy="4556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1800"/>
              <a:t>due sostituzioni o un’inversione e una sostituzione</a:t>
            </a:r>
          </a:p>
        </p:txBody>
      </p:sp>
      <p:sp>
        <p:nvSpPr>
          <p:cNvPr id="352271" name="Rectangle 15"/>
          <p:cNvSpPr>
            <a:spLocks noChangeArrowheads="1"/>
          </p:cNvSpPr>
          <p:nvPr/>
        </p:nvSpPr>
        <p:spPr bwMode="auto">
          <a:xfrm>
            <a:off x="784920" y="50593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COLORE</a:t>
            </a:r>
            <a:endParaRPr lang="en-GB" sz="2800"/>
          </a:p>
        </p:txBody>
      </p:sp>
      <p:sp>
        <p:nvSpPr>
          <p:cNvPr id="352272" name="Rectangle 16"/>
          <p:cNvSpPr>
            <a:spLocks noChangeArrowheads="1"/>
          </p:cNvSpPr>
          <p:nvPr/>
        </p:nvSpPr>
        <p:spPr bwMode="auto">
          <a:xfrm>
            <a:off x="784920" y="50593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TOLORE</a:t>
            </a:r>
            <a:endParaRPr lang="en-GB" sz="2800"/>
          </a:p>
        </p:txBody>
      </p:sp>
      <p:sp>
        <p:nvSpPr>
          <p:cNvPr id="352273" name="Rectangle 17"/>
          <p:cNvSpPr>
            <a:spLocks noChangeArrowheads="1"/>
          </p:cNvSpPr>
          <p:nvPr/>
        </p:nvSpPr>
        <p:spPr bwMode="auto">
          <a:xfrm>
            <a:off x="784920" y="50593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TILORE</a:t>
            </a:r>
            <a:endParaRPr lang="en-GB" sz="2800"/>
          </a:p>
        </p:txBody>
      </p:sp>
      <p:sp>
        <p:nvSpPr>
          <p:cNvPr id="352274" name="Rectangle 18"/>
          <p:cNvSpPr>
            <a:spLocks noChangeArrowheads="1"/>
          </p:cNvSpPr>
          <p:nvPr/>
        </p:nvSpPr>
        <p:spPr bwMode="auto">
          <a:xfrm>
            <a:off x="784920" y="50593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TINORE</a:t>
            </a:r>
            <a:endParaRPr lang="en-GB" sz="2800"/>
          </a:p>
        </p:txBody>
      </p:sp>
      <p:sp>
        <p:nvSpPr>
          <p:cNvPr id="352275" name="Rectangle 19"/>
          <p:cNvSpPr>
            <a:spLocks noChangeArrowheads="1"/>
          </p:cNvSpPr>
          <p:nvPr/>
        </p:nvSpPr>
        <p:spPr bwMode="auto">
          <a:xfrm>
            <a:off x="784920" y="50593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TINTRE</a:t>
            </a:r>
            <a:endParaRPr lang="en-GB" sz="2800"/>
          </a:p>
        </p:txBody>
      </p:sp>
      <p:sp>
        <p:nvSpPr>
          <p:cNvPr id="352276" name="Rectangle 20"/>
          <p:cNvSpPr>
            <a:spLocks noChangeArrowheads="1"/>
          </p:cNvSpPr>
          <p:nvPr/>
        </p:nvSpPr>
        <p:spPr bwMode="auto">
          <a:xfrm>
            <a:off x="784920" y="5059388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TINTAE</a:t>
            </a:r>
            <a:endParaRPr lang="en-GB" sz="2800"/>
          </a:p>
        </p:txBody>
      </p:sp>
      <p:sp>
        <p:nvSpPr>
          <p:cNvPr id="352277" name="Rectangle 21"/>
          <p:cNvSpPr>
            <a:spLocks noChangeArrowheads="1"/>
          </p:cNvSpPr>
          <p:nvPr/>
        </p:nvSpPr>
        <p:spPr bwMode="auto">
          <a:xfrm>
            <a:off x="647056" y="5041776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 dirty="0">
                <a:latin typeface="Courier New" charset="0"/>
              </a:rPr>
              <a:t>TINTA</a:t>
            </a:r>
            <a:r>
              <a:rPr lang="en-GB" sz="2800" dirty="0"/>
              <a:t> </a:t>
            </a:r>
          </a:p>
        </p:txBody>
      </p:sp>
      <p:sp>
        <p:nvSpPr>
          <p:cNvPr id="352278" name="Rectangle 22"/>
          <p:cNvSpPr>
            <a:spLocks noChangeArrowheads="1"/>
          </p:cNvSpPr>
          <p:nvPr/>
        </p:nvSpPr>
        <p:spPr bwMode="auto">
          <a:xfrm>
            <a:off x="3223320" y="5057800"/>
            <a:ext cx="4038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1800"/>
              <a:t>cinque sostituzioni e una cancellazione</a:t>
            </a:r>
          </a:p>
        </p:txBody>
      </p:sp>
      <p:sp>
        <p:nvSpPr>
          <p:cNvPr id="352279" name="Rectangle 23"/>
          <p:cNvSpPr>
            <a:spLocks noChangeArrowheads="1"/>
          </p:cNvSpPr>
          <p:nvPr/>
        </p:nvSpPr>
        <p:spPr bwMode="auto">
          <a:xfrm>
            <a:off x="861120" y="55912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AGACCC</a:t>
            </a:r>
            <a:r>
              <a:rPr lang="en-GB" sz="2800"/>
              <a:t> </a:t>
            </a:r>
          </a:p>
        </p:txBody>
      </p:sp>
      <p:sp>
        <p:nvSpPr>
          <p:cNvPr id="352280" name="Rectangle 24"/>
          <p:cNvSpPr>
            <a:spLocks noChangeArrowheads="1"/>
          </p:cNvSpPr>
          <p:nvPr/>
        </p:nvSpPr>
        <p:spPr bwMode="auto">
          <a:xfrm>
            <a:off x="3167336" y="5617840"/>
            <a:ext cx="40386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1800" dirty="0" err="1"/>
              <a:t>complemento</a:t>
            </a:r>
            <a:r>
              <a:rPr lang="en-GB" sz="1800" dirty="0"/>
              <a:t> </a:t>
            </a:r>
            <a:r>
              <a:rPr lang="en-GB" sz="1800" dirty="0" err="1"/>
              <a:t>inverso</a:t>
            </a:r>
            <a:endParaRPr lang="en-GB" sz="1800" dirty="0"/>
          </a:p>
        </p:txBody>
      </p:sp>
      <p:sp>
        <p:nvSpPr>
          <p:cNvPr id="352292" name="Rectangle 36"/>
          <p:cNvSpPr>
            <a:spLocks noChangeArrowheads="1"/>
          </p:cNvSpPr>
          <p:nvPr/>
        </p:nvSpPr>
        <p:spPr bwMode="auto">
          <a:xfrm>
            <a:off x="861120" y="55912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TGACCC</a:t>
            </a:r>
            <a:r>
              <a:rPr lang="en-GB" sz="2800"/>
              <a:t> </a:t>
            </a:r>
          </a:p>
        </p:txBody>
      </p:sp>
      <p:sp>
        <p:nvSpPr>
          <p:cNvPr id="352293" name="Rectangle 37"/>
          <p:cNvSpPr>
            <a:spLocks noChangeArrowheads="1"/>
          </p:cNvSpPr>
          <p:nvPr/>
        </p:nvSpPr>
        <p:spPr bwMode="auto">
          <a:xfrm>
            <a:off x="861120" y="55912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TCACCC</a:t>
            </a:r>
            <a:r>
              <a:rPr lang="en-GB" sz="2800"/>
              <a:t> </a:t>
            </a:r>
          </a:p>
        </p:txBody>
      </p:sp>
      <p:sp>
        <p:nvSpPr>
          <p:cNvPr id="352294" name="Rectangle 38"/>
          <p:cNvSpPr>
            <a:spLocks noChangeArrowheads="1"/>
          </p:cNvSpPr>
          <p:nvPr/>
        </p:nvSpPr>
        <p:spPr bwMode="auto">
          <a:xfrm>
            <a:off x="861120" y="55912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TCTCCC</a:t>
            </a:r>
            <a:r>
              <a:rPr lang="en-GB" sz="2800"/>
              <a:t> </a:t>
            </a:r>
          </a:p>
        </p:txBody>
      </p:sp>
      <p:sp>
        <p:nvSpPr>
          <p:cNvPr id="352295" name="Rectangle 39"/>
          <p:cNvSpPr>
            <a:spLocks noChangeArrowheads="1"/>
          </p:cNvSpPr>
          <p:nvPr/>
        </p:nvSpPr>
        <p:spPr bwMode="auto">
          <a:xfrm>
            <a:off x="861120" y="55912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TCTGCC</a:t>
            </a:r>
            <a:r>
              <a:rPr lang="en-GB" sz="2800"/>
              <a:t> </a:t>
            </a:r>
          </a:p>
        </p:txBody>
      </p:sp>
      <p:sp>
        <p:nvSpPr>
          <p:cNvPr id="352296" name="Rectangle 40"/>
          <p:cNvSpPr>
            <a:spLocks noChangeArrowheads="1"/>
          </p:cNvSpPr>
          <p:nvPr/>
        </p:nvSpPr>
        <p:spPr bwMode="auto">
          <a:xfrm>
            <a:off x="861120" y="55912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TCTGGC</a:t>
            </a:r>
            <a:r>
              <a:rPr lang="en-GB" sz="2800"/>
              <a:t> </a:t>
            </a:r>
          </a:p>
        </p:txBody>
      </p:sp>
      <p:sp>
        <p:nvSpPr>
          <p:cNvPr id="352297" name="Rectangle 41"/>
          <p:cNvSpPr>
            <a:spLocks noChangeArrowheads="1"/>
          </p:cNvSpPr>
          <p:nvPr/>
        </p:nvSpPr>
        <p:spPr bwMode="auto">
          <a:xfrm>
            <a:off x="861120" y="559120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>
                <a:latin typeface="Courier New" charset="0"/>
              </a:rPr>
              <a:t>TCTGGG</a:t>
            </a:r>
            <a:r>
              <a:rPr lang="en-GB" sz="2800"/>
              <a:t> </a:t>
            </a:r>
          </a:p>
        </p:txBody>
      </p:sp>
      <p:sp>
        <p:nvSpPr>
          <p:cNvPr id="352298" name="Rectangle 42"/>
          <p:cNvSpPr>
            <a:spLocks noChangeArrowheads="1"/>
          </p:cNvSpPr>
          <p:nvPr/>
        </p:nvSpPr>
        <p:spPr bwMode="auto">
          <a:xfrm>
            <a:off x="719064" y="5617840"/>
            <a:ext cx="220980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lang="en-GB" sz="2800" b="1" dirty="0">
                <a:latin typeface="Courier New" charset="0"/>
              </a:rPr>
              <a:t>GGGTCT</a:t>
            </a:r>
            <a:r>
              <a:rPr lang="en-GB" sz="2800" dirty="0"/>
              <a:t>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5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35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35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62" grpId="0" animBg="1" autoUpdateAnimBg="0"/>
      <p:bldP spid="352263" grpId="0" animBg="1" autoUpdateAnimBg="0"/>
      <p:bldP spid="352264" grpId="0" animBg="1" autoUpdateAnimBg="0"/>
      <p:bldP spid="352265" grpId="0" animBg="1" autoUpdateAnimBg="0"/>
      <p:bldP spid="352266" grpId="0" animBg="1" autoUpdateAnimBg="0"/>
      <p:bldP spid="352269" grpId="0" animBg="1" autoUpdateAnimBg="0"/>
      <p:bldP spid="352270" grpId="0" animBg="1" autoUpdateAnimBg="0"/>
      <p:bldP spid="352271" grpId="0" animBg="1" autoUpdateAnimBg="0"/>
      <p:bldP spid="352272" grpId="0" animBg="1" autoUpdateAnimBg="0"/>
      <p:bldP spid="352273" grpId="0" animBg="1" autoUpdateAnimBg="0"/>
      <p:bldP spid="352274" grpId="0" animBg="1" autoUpdateAnimBg="0"/>
      <p:bldP spid="352275" grpId="0" animBg="1" autoUpdateAnimBg="0"/>
      <p:bldP spid="352276" grpId="0" animBg="1" autoUpdateAnimBg="0"/>
      <p:bldP spid="352277" grpId="0" animBg="1" autoUpdateAnimBg="0"/>
      <p:bldP spid="352278" grpId="0" animBg="1" autoUpdateAnimBg="0"/>
      <p:bldP spid="352279" grpId="0" animBg="1" autoUpdateAnimBg="0"/>
      <p:bldP spid="352280" grpId="0" animBg="1" autoUpdateAnimBg="0"/>
      <p:bldP spid="352292" grpId="0" animBg="1" autoUpdateAnimBg="0"/>
      <p:bldP spid="352293" grpId="0" animBg="1" autoUpdateAnimBg="0"/>
      <p:bldP spid="352294" grpId="0" animBg="1" autoUpdateAnimBg="0"/>
      <p:bldP spid="352295" grpId="0" animBg="1" autoUpdateAnimBg="0"/>
      <p:bldP spid="352296" grpId="0" animBg="1" autoUpdateAnimBg="0"/>
      <p:bldP spid="352297" grpId="0" animBg="1" autoUpdateAnimBg="0"/>
      <p:bldP spid="352298" grpId="0" animBg="1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Edit transcript</a:t>
            </a:r>
            <a:endParaRPr lang="it-IT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297906-EC8E-6441-B74F-C5565E501FA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2803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196752"/>
            <a:ext cx="8352928" cy="3816424"/>
          </a:xfrm>
        </p:spPr>
        <p:txBody>
          <a:bodyPr/>
          <a:lstStyle/>
          <a:p>
            <a:pPr>
              <a:buFont typeface="Monotype Sorts" charset="0"/>
              <a:buNone/>
            </a:pPr>
            <a:r>
              <a:rPr lang="it-IT" sz="2200" dirty="0"/>
              <a:t>I = inserisci</a:t>
            </a:r>
          </a:p>
          <a:p>
            <a:pPr>
              <a:buFont typeface="Monotype Sorts" charset="0"/>
              <a:buNone/>
            </a:pPr>
            <a:r>
              <a:rPr lang="it-IT" sz="2200" dirty="0"/>
              <a:t>C = cancella</a:t>
            </a:r>
          </a:p>
          <a:p>
            <a:pPr>
              <a:buFont typeface="Monotype Sorts" charset="0"/>
              <a:buNone/>
            </a:pPr>
            <a:r>
              <a:rPr lang="it-IT" sz="2200" dirty="0" err="1"/>
              <a:t>S</a:t>
            </a:r>
            <a:r>
              <a:rPr lang="it-IT" sz="2200" dirty="0"/>
              <a:t> = sostituisci</a:t>
            </a:r>
          </a:p>
          <a:p>
            <a:pPr>
              <a:buFont typeface="Monotype Sorts" charset="0"/>
              <a:buNone/>
            </a:pPr>
            <a:r>
              <a:rPr lang="it-IT" sz="2200" dirty="0" err="1"/>
              <a:t>N</a:t>
            </a:r>
            <a:r>
              <a:rPr lang="it-IT" sz="2200" dirty="0"/>
              <a:t> = lascia invariato</a:t>
            </a:r>
          </a:p>
          <a:p>
            <a:pPr>
              <a:buFont typeface="Monotype Sorts" charset="0"/>
              <a:buNone/>
            </a:pPr>
            <a:r>
              <a:rPr lang="it-IT" sz="2200" dirty="0">
                <a:latin typeface="Courier" charset="0"/>
              </a:rPr>
              <a:t>				</a:t>
            </a:r>
            <a:r>
              <a:rPr lang="it-IT" sz="2200" dirty="0">
                <a:solidFill>
                  <a:schemeClr val="hlink"/>
                </a:solidFill>
                <a:latin typeface="Courier" charset="0"/>
              </a:rPr>
              <a:t>SINCNCNNI</a:t>
            </a:r>
          </a:p>
          <a:p>
            <a:pPr>
              <a:buFont typeface="Monotype Sorts" charset="0"/>
              <a:buNone/>
            </a:pPr>
            <a:r>
              <a:rPr lang="it-IT" sz="2200" dirty="0">
                <a:solidFill>
                  <a:schemeClr val="hlink"/>
                </a:solidFill>
                <a:latin typeface="Courier" charset="0"/>
              </a:rPr>
              <a:t>				v </a:t>
            </a:r>
            <a:r>
              <a:rPr lang="it-IT" sz="2200" dirty="0" err="1">
                <a:solidFill>
                  <a:schemeClr val="hlink"/>
                </a:solidFill>
                <a:latin typeface="Courier" charset="0"/>
              </a:rPr>
              <a:t>intner</a:t>
            </a:r>
            <a:endParaRPr lang="it-IT" sz="2200" dirty="0">
              <a:solidFill>
                <a:schemeClr val="hlink"/>
              </a:solidFill>
              <a:latin typeface="Courier" charset="0"/>
            </a:endParaRPr>
          </a:p>
          <a:p>
            <a:pPr>
              <a:buFont typeface="Monotype Sorts" charset="0"/>
              <a:buNone/>
            </a:pPr>
            <a:r>
              <a:rPr lang="it-IT" sz="2200" dirty="0">
                <a:solidFill>
                  <a:schemeClr val="hlink"/>
                </a:solidFill>
                <a:latin typeface="Courier" charset="0"/>
              </a:rPr>
              <a:t>				</a:t>
            </a:r>
            <a:r>
              <a:rPr lang="it-IT" sz="2200" dirty="0" err="1">
                <a:solidFill>
                  <a:schemeClr val="hlink"/>
                </a:solidFill>
                <a:latin typeface="Courier" charset="0"/>
              </a:rPr>
              <a:t>wri</a:t>
            </a:r>
            <a:r>
              <a:rPr lang="it-IT" sz="2200" dirty="0">
                <a:solidFill>
                  <a:schemeClr val="hlink"/>
                </a:solidFill>
                <a:latin typeface="Courier" charset="0"/>
              </a:rPr>
              <a:t> t </a:t>
            </a:r>
            <a:r>
              <a:rPr lang="it-IT" sz="2200" dirty="0" err="1">
                <a:solidFill>
                  <a:schemeClr val="hlink"/>
                </a:solidFill>
                <a:latin typeface="Courier" charset="0"/>
              </a:rPr>
              <a:t>ers</a:t>
            </a:r>
            <a:r>
              <a:rPr lang="it-IT" sz="2200" dirty="0">
                <a:latin typeface="Courier" charset="0"/>
              </a:rPr>
              <a:t>  </a:t>
            </a:r>
            <a:endParaRPr lang="it-IT" sz="2200" dirty="0"/>
          </a:p>
        </p:txBody>
      </p:sp>
      <p:sp>
        <p:nvSpPr>
          <p:cNvPr id="428036" name="Text Box 4"/>
          <p:cNvSpPr txBox="1">
            <a:spLocks noChangeArrowheads="1"/>
          </p:cNvSpPr>
          <p:nvPr/>
        </p:nvSpPr>
        <p:spPr bwMode="auto">
          <a:xfrm>
            <a:off x="467544" y="5229200"/>
            <a:ext cx="815563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it-IT" sz="2000" dirty="0"/>
              <a:t>Rappresenta una particolare trasformazione di una stringa in un’altra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6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Distanza di edit: il problema</a:t>
            </a: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AC54761-FC50-594D-98BD-AB819A04E045}" type="slidenum">
              <a:rPr lang="en-US"/>
              <a:pPr/>
              <a:t>5</a:t>
            </a:fld>
            <a:endParaRPr lang="en-US" sz="1400">
              <a:latin typeface="Tahoma" charset="0"/>
            </a:endParaRPr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1628800"/>
            <a:ext cx="8050088" cy="2964160"/>
          </a:xfrm>
        </p:spPr>
        <p:txBody>
          <a:bodyPr/>
          <a:lstStyle/>
          <a:p>
            <a:pPr>
              <a:buFont typeface="Monotype Sorts" charset="0"/>
              <a:buNone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INPUT</a:t>
            </a:r>
            <a:endParaRPr lang="it-IT" dirty="0">
              <a:solidFill>
                <a:schemeClr val="tx1"/>
              </a:solidFill>
            </a:endParaRPr>
          </a:p>
          <a:p>
            <a:pPr>
              <a:buFont typeface="Monotype Sorts" charset="0"/>
              <a:buNone/>
            </a:pPr>
            <a:r>
              <a:rPr lang="it-IT" dirty="0"/>
              <a:t>	due sequenze </a:t>
            </a:r>
            <a:r>
              <a:rPr lang="it-IT" dirty="0" err="1"/>
              <a:t>S</a:t>
            </a:r>
            <a:r>
              <a:rPr lang="it-IT" dirty="0"/>
              <a:t> e T definite su un alfabeto </a:t>
            </a:r>
            <a:r>
              <a:rPr lang="it-IT" dirty="0" err="1">
                <a:latin typeface="Symbol" charset="0"/>
              </a:rPr>
              <a:t>S</a:t>
            </a:r>
            <a:endParaRPr lang="it-IT" dirty="0"/>
          </a:p>
          <a:p>
            <a:pPr>
              <a:spcBef>
                <a:spcPct val="110000"/>
              </a:spcBef>
              <a:buFont typeface="Monotype Sorts" charset="0"/>
              <a:buNone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DDDDDD"/>
                  </a:outerShdw>
                </a:effectLst>
              </a:rPr>
              <a:t>OUTPUT</a:t>
            </a:r>
            <a:endParaRPr lang="it-IT" dirty="0">
              <a:solidFill>
                <a:schemeClr val="tx1"/>
              </a:solidFill>
            </a:endParaRPr>
          </a:p>
          <a:p>
            <a:pPr>
              <a:buFont typeface="Monotype Sorts" charset="0"/>
              <a:buNone/>
            </a:pPr>
            <a:r>
              <a:rPr lang="it-IT" dirty="0"/>
              <a:t>	distanza di </a:t>
            </a:r>
            <a:r>
              <a:rPr lang="it-IT" dirty="0" err="1"/>
              <a:t>edit</a:t>
            </a:r>
            <a:r>
              <a:rPr lang="it-IT" dirty="0"/>
              <a:t> tra </a:t>
            </a:r>
            <a:r>
              <a:rPr lang="it-IT" dirty="0" err="1"/>
              <a:t>S</a:t>
            </a:r>
            <a:r>
              <a:rPr lang="it-IT" dirty="0"/>
              <a:t> e T e </a:t>
            </a:r>
            <a:r>
              <a:rPr lang="it-IT" dirty="0" err="1"/>
              <a:t>edit</a:t>
            </a:r>
            <a:r>
              <a:rPr lang="it-IT" dirty="0"/>
              <a:t> </a:t>
            </a:r>
            <a:r>
              <a:rPr lang="it-IT" dirty="0" err="1"/>
              <a:t>transcript</a:t>
            </a:r>
            <a:r>
              <a:rPr lang="it-IT" dirty="0"/>
              <a:t> ottimale che fornisce la trasformazione da </a:t>
            </a:r>
            <a:r>
              <a:rPr lang="it-IT" dirty="0" err="1"/>
              <a:t>S</a:t>
            </a:r>
            <a:r>
              <a:rPr lang="it-IT" dirty="0"/>
              <a:t> a T </a:t>
            </a:r>
          </a:p>
        </p:txBody>
      </p:sp>
      <p:sp>
        <p:nvSpPr>
          <p:cNvPr id="333828" name="Rectangle 4"/>
          <p:cNvSpPr>
            <a:spLocks noChangeArrowheads="1"/>
          </p:cNvSpPr>
          <p:nvPr/>
        </p:nvSpPr>
        <p:spPr bwMode="auto">
          <a:xfrm>
            <a:off x="685800" y="4953000"/>
            <a:ext cx="6705600" cy="6858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it-IT" sz="2000" b="1">
                <a:latin typeface="Arial" charset="0"/>
              </a:rPr>
              <a:t>TECNICA UTILIZZATA:</a:t>
            </a:r>
            <a:r>
              <a:rPr lang="it-IT" sz="2000">
                <a:latin typeface="Arial" charset="0"/>
              </a:rPr>
              <a:t> </a:t>
            </a:r>
            <a:r>
              <a:rPr lang="it-IT" sz="2000">
                <a:solidFill>
                  <a:schemeClr val="hlink"/>
                </a:solidFill>
                <a:latin typeface="Arial" charset="0"/>
              </a:rPr>
              <a:t>Programmazione Dinamica (PD)</a:t>
            </a:r>
            <a:endParaRPr lang="en-GB" sz="20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3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28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Calcolo della distanza di edit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1CDA7CC7-F1C7-0540-B416-B7E17834F4D7}" type="slidenum">
              <a:rPr lang="en-US"/>
              <a:pPr/>
              <a:t>6</a:t>
            </a:fld>
            <a:endParaRPr lang="en-US" sz="1400">
              <a:latin typeface="Tahoma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381000" y="1600200"/>
            <a:ext cx="8077200" cy="3657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charset="0"/>
              <a:buChar char="Ø"/>
              <a:defRPr sz="2400">
                <a:solidFill>
                  <a:srgbClr val="201FF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SzPct val="95000"/>
              <a:buFont typeface="Wingdings" charset="0"/>
              <a:buChar char="ü"/>
              <a:defRPr sz="2000">
                <a:solidFill>
                  <a:schemeClr val="hlink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Font typeface="Monotype Sorts" charset="0"/>
              <a:buNone/>
            </a:pPr>
            <a:r>
              <a:rPr lang="it-IT" sz="2200" b="1" dirty="0" smtClean="0"/>
              <a:t>Si considerino le sequenze</a:t>
            </a:r>
          </a:p>
          <a:p>
            <a:pPr>
              <a:spcBef>
                <a:spcPct val="90000"/>
              </a:spcBef>
              <a:buFont typeface="Monotype Sorts" charset="0"/>
              <a:buNone/>
            </a:pPr>
            <a:r>
              <a:rPr lang="it-IT" sz="2200" dirty="0" smtClean="0">
                <a:solidFill>
                  <a:srgbClr val="9933FF"/>
                </a:solidFill>
              </a:rPr>
              <a:t>       </a:t>
            </a:r>
            <a:r>
              <a:rPr lang="it-IT" sz="2200" dirty="0" err="1" smtClean="0">
                <a:solidFill>
                  <a:srgbClr val="9933FF"/>
                </a:solidFill>
              </a:rPr>
              <a:t>S</a:t>
            </a:r>
            <a:r>
              <a:rPr lang="it-IT" sz="2200" dirty="0" smtClean="0">
                <a:solidFill>
                  <a:srgbClr val="9933FF"/>
                </a:solidFill>
              </a:rPr>
              <a:t> = 		a</a:t>
            </a:r>
            <a:r>
              <a:rPr lang="it-IT" sz="2200" baseline="-25000" dirty="0" smtClean="0">
                <a:solidFill>
                  <a:srgbClr val="9933FF"/>
                </a:solidFill>
              </a:rPr>
              <a:t>1</a:t>
            </a:r>
            <a:r>
              <a:rPr lang="it-IT" sz="2200" dirty="0" smtClean="0">
                <a:solidFill>
                  <a:srgbClr val="9933FF"/>
                </a:solidFill>
              </a:rPr>
              <a:t> a</a:t>
            </a:r>
            <a:r>
              <a:rPr lang="it-IT" sz="2200" baseline="-25000" dirty="0" smtClean="0">
                <a:solidFill>
                  <a:srgbClr val="9933FF"/>
                </a:solidFill>
              </a:rPr>
              <a:t>2</a:t>
            </a:r>
            <a:r>
              <a:rPr lang="it-IT" sz="2200" dirty="0" smtClean="0">
                <a:solidFill>
                  <a:srgbClr val="9933FF"/>
                </a:solidFill>
              </a:rPr>
              <a:t> ... a</a:t>
            </a:r>
            <a:r>
              <a:rPr lang="it-IT" sz="2200" baseline="-25000" dirty="0" smtClean="0">
                <a:solidFill>
                  <a:srgbClr val="9933FF"/>
                </a:solidFill>
              </a:rPr>
              <a:t>i-1  </a:t>
            </a:r>
            <a:r>
              <a:rPr lang="it-IT" sz="2200" dirty="0" smtClean="0">
                <a:solidFill>
                  <a:srgbClr val="9933FF"/>
                </a:solidFill>
              </a:rPr>
              <a:t>a</a:t>
            </a:r>
            <a:r>
              <a:rPr lang="it-IT" sz="2200" baseline="-25000" dirty="0" smtClean="0">
                <a:solidFill>
                  <a:srgbClr val="9933FF"/>
                </a:solidFill>
              </a:rPr>
              <a:t>i</a:t>
            </a:r>
            <a:r>
              <a:rPr lang="it-IT" sz="2200" dirty="0" smtClean="0">
                <a:solidFill>
                  <a:srgbClr val="9933FF"/>
                </a:solidFill>
              </a:rPr>
              <a:t> a</a:t>
            </a:r>
            <a:r>
              <a:rPr lang="it-IT" sz="2200" baseline="-25000" dirty="0" smtClean="0">
                <a:solidFill>
                  <a:srgbClr val="9933FF"/>
                </a:solidFill>
              </a:rPr>
              <a:t>i+1</a:t>
            </a:r>
            <a:r>
              <a:rPr lang="it-IT" sz="2200" dirty="0" smtClean="0">
                <a:solidFill>
                  <a:srgbClr val="9933FF"/>
                </a:solidFill>
              </a:rPr>
              <a:t> ... a</a:t>
            </a:r>
            <a:r>
              <a:rPr lang="it-IT" sz="2200" baseline="-25000" dirty="0" smtClean="0">
                <a:solidFill>
                  <a:srgbClr val="9933FF"/>
                </a:solidFill>
              </a:rPr>
              <a:t>n</a:t>
            </a:r>
            <a:endParaRPr lang="it-IT" sz="2200" dirty="0" smtClean="0"/>
          </a:p>
          <a:p>
            <a:pPr>
              <a:buFont typeface="Monotype Sorts" charset="0"/>
              <a:buNone/>
            </a:pPr>
            <a:r>
              <a:rPr lang="it-IT" sz="2200" dirty="0" smtClean="0">
                <a:solidFill>
                  <a:srgbClr val="008000"/>
                </a:solidFill>
              </a:rPr>
              <a:t>       T = 		b</a:t>
            </a:r>
            <a:r>
              <a:rPr lang="it-IT" sz="2200" baseline="-25000" dirty="0" smtClean="0">
                <a:solidFill>
                  <a:srgbClr val="008000"/>
                </a:solidFill>
              </a:rPr>
              <a:t>1</a:t>
            </a:r>
            <a:r>
              <a:rPr lang="it-IT" sz="2200" dirty="0" smtClean="0">
                <a:solidFill>
                  <a:srgbClr val="008000"/>
                </a:solidFill>
              </a:rPr>
              <a:t> b</a:t>
            </a:r>
            <a:r>
              <a:rPr lang="it-IT" sz="2200" baseline="-25000" dirty="0" smtClean="0">
                <a:solidFill>
                  <a:srgbClr val="008000"/>
                </a:solidFill>
              </a:rPr>
              <a:t>2</a:t>
            </a:r>
            <a:r>
              <a:rPr lang="it-IT" sz="2200" dirty="0" smtClean="0">
                <a:solidFill>
                  <a:srgbClr val="008000"/>
                </a:solidFill>
              </a:rPr>
              <a:t> ...... b</a:t>
            </a:r>
            <a:r>
              <a:rPr lang="it-IT" sz="2200" baseline="-25000" dirty="0" smtClean="0">
                <a:solidFill>
                  <a:srgbClr val="008000"/>
                </a:solidFill>
              </a:rPr>
              <a:t>j-1</a:t>
            </a:r>
            <a:r>
              <a:rPr lang="it-IT" sz="2200" dirty="0" smtClean="0">
                <a:solidFill>
                  <a:srgbClr val="008000"/>
                </a:solidFill>
              </a:rPr>
              <a:t> </a:t>
            </a:r>
            <a:r>
              <a:rPr lang="it-IT" sz="2200" dirty="0" err="1" smtClean="0">
                <a:solidFill>
                  <a:srgbClr val="008000"/>
                </a:solidFill>
              </a:rPr>
              <a:t>b</a:t>
            </a:r>
            <a:r>
              <a:rPr lang="it-IT" sz="2200" baseline="-25000" dirty="0" err="1" smtClean="0">
                <a:solidFill>
                  <a:srgbClr val="008000"/>
                </a:solidFill>
              </a:rPr>
              <a:t>j</a:t>
            </a:r>
            <a:r>
              <a:rPr lang="it-IT" sz="2200" dirty="0" smtClean="0">
                <a:solidFill>
                  <a:srgbClr val="008000"/>
                </a:solidFill>
              </a:rPr>
              <a:t> b</a:t>
            </a:r>
            <a:r>
              <a:rPr lang="it-IT" sz="2200" baseline="-25000" dirty="0" smtClean="0">
                <a:solidFill>
                  <a:srgbClr val="008000"/>
                </a:solidFill>
              </a:rPr>
              <a:t>j+1</a:t>
            </a:r>
            <a:r>
              <a:rPr lang="it-IT" sz="2200" dirty="0" smtClean="0">
                <a:solidFill>
                  <a:srgbClr val="008000"/>
                </a:solidFill>
              </a:rPr>
              <a:t>... </a:t>
            </a:r>
            <a:r>
              <a:rPr lang="it-IT" sz="2200" dirty="0" err="1" smtClean="0">
                <a:solidFill>
                  <a:srgbClr val="008000"/>
                </a:solidFill>
              </a:rPr>
              <a:t>b</a:t>
            </a:r>
            <a:r>
              <a:rPr lang="it-IT" sz="2200" baseline="-25000" dirty="0" err="1" smtClean="0">
                <a:solidFill>
                  <a:srgbClr val="008000"/>
                </a:solidFill>
              </a:rPr>
              <a:t>m</a:t>
            </a:r>
            <a:endParaRPr lang="it-IT" sz="2200" baseline="-25000" dirty="0" smtClean="0">
              <a:solidFill>
                <a:srgbClr val="008000"/>
              </a:solidFill>
            </a:endParaRPr>
          </a:p>
          <a:p>
            <a:pPr>
              <a:spcBef>
                <a:spcPct val="120000"/>
              </a:spcBef>
              <a:buFont typeface="Monotype Sorts" charset="0"/>
              <a:buNone/>
            </a:pPr>
            <a:r>
              <a:rPr lang="it-IT" sz="2200" b="1" dirty="0" smtClean="0"/>
              <a:t>Costruiamo l’array</a:t>
            </a:r>
          </a:p>
          <a:p>
            <a:pPr>
              <a:lnSpc>
                <a:spcPct val="130000"/>
              </a:lnSpc>
              <a:spcBef>
                <a:spcPct val="100000"/>
              </a:spcBef>
              <a:buClrTx/>
              <a:buFontTx/>
              <a:buNone/>
            </a:pPr>
            <a:r>
              <a:rPr lang="it-IT" sz="2200" dirty="0" smtClean="0">
                <a:solidFill>
                  <a:schemeClr val="tx1"/>
                </a:solidFill>
              </a:rPr>
              <a:t>D(</a:t>
            </a:r>
            <a:r>
              <a:rPr lang="it-IT" sz="2200" dirty="0" err="1" smtClean="0">
                <a:solidFill>
                  <a:schemeClr val="tx1"/>
                </a:solidFill>
              </a:rPr>
              <a:t>i,j</a:t>
            </a:r>
            <a:r>
              <a:rPr lang="it-IT" sz="2200" dirty="0" smtClean="0">
                <a:solidFill>
                  <a:schemeClr val="tx1"/>
                </a:solidFill>
              </a:rPr>
              <a:t>) = distanza tra i prefissi</a:t>
            </a:r>
            <a:r>
              <a:rPr lang="it-IT" sz="2200" dirty="0" smtClean="0"/>
              <a:t> </a:t>
            </a:r>
            <a:r>
              <a:rPr lang="it-IT" sz="2200" dirty="0" smtClean="0">
                <a:solidFill>
                  <a:srgbClr val="9933FF"/>
                </a:solidFill>
              </a:rPr>
              <a:t>S</a:t>
            </a:r>
            <a:r>
              <a:rPr lang="it-IT" sz="2200" baseline="-25000" dirty="0" smtClean="0">
                <a:solidFill>
                  <a:srgbClr val="9933FF"/>
                </a:solidFill>
              </a:rPr>
              <a:t>i</a:t>
            </a:r>
            <a:r>
              <a:rPr lang="it-IT" sz="2200" dirty="0" smtClean="0">
                <a:solidFill>
                  <a:srgbClr val="9933FF"/>
                </a:solidFill>
              </a:rPr>
              <a:t> =</a:t>
            </a:r>
            <a:r>
              <a:rPr lang="it-IT" sz="2200" dirty="0" smtClean="0"/>
              <a:t> </a:t>
            </a:r>
            <a:r>
              <a:rPr lang="it-IT" sz="2200" dirty="0" smtClean="0">
                <a:solidFill>
                  <a:srgbClr val="9933FF"/>
                </a:solidFill>
              </a:rPr>
              <a:t>a</a:t>
            </a:r>
            <a:r>
              <a:rPr lang="it-IT" sz="2200" baseline="-25000" dirty="0" smtClean="0">
                <a:solidFill>
                  <a:srgbClr val="9933FF"/>
                </a:solidFill>
              </a:rPr>
              <a:t>1</a:t>
            </a:r>
            <a:r>
              <a:rPr lang="it-IT" sz="2200" dirty="0" smtClean="0">
                <a:solidFill>
                  <a:srgbClr val="9933FF"/>
                </a:solidFill>
              </a:rPr>
              <a:t> a</a:t>
            </a:r>
            <a:r>
              <a:rPr lang="it-IT" sz="2200" baseline="-25000" dirty="0" smtClean="0">
                <a:solidFill>
                  <a:srgbClr val="9933FF"/>
                </a:solidFill>
              </a:rPr>
              <a:t>2</a:t>
            </a:r>
            <a:r>
              <a:rPr lang="it-IT" sz="2200" dirty="0" smtClean="0">
                <a:solidFill>
                  <a:srgbClr val="9933FF"/>
                </a:solidFill>
              </a:rPr>
              <a:t> ...</a:t>
            </a:r>
            <a:r>
              <a:rPr lang="it-IT" sz="2200" baseline="-25000" dirty="0" smtClean="0">
                <a:solidFill>
                  <a:srgbClr val="9933FF"/>
                </a:solidFill>
              </a:rPr>
              <a:t>  </a:t>
            </a:r>
            <a:r>
              <a:rPr lang="it-IT" sz="2200" dirty="0" smtClean="0">
                <a:solidFill>
                  <a:srgbClr val="9933FF"/>
                </a:solidFill>
              </a:rPr>
              <a:t>a</a:t>
            </a:r>
            <a:r>
              <a:rPr lang="it-IT" sz="2200" baseline="-25000" dirty="0" smtClean="0">
                <a:solidFill>
                  <a:srgbClr val="9933FF"/>
                </a:solidFill>
              </a:rPr>
              <a:t>i</a:t>
            </a:r>
            <a:r>
              <a:rPr lang="it-IT" sz="2200" dirty="0" smtClean="0">
                <a:solidFill>
                  <a:srgbClr val="9933FF"/>
                </a:solidFill>
              </a:rPr>
              <a:t>    </a:t>
            </a:r>
            <a:r>
              <a:rPr lang="it-IT" sz="2200" dirty="0" smtClean="0"/>
              <a:t>e   				 	   </a:t>
            </a:r>
            <a:r>
              <a:rPr lang="it-IT" sz="2200" dirty="0" err="1" smtClean="0">
                <a:solidFill>
                  <a:srgbClr val="008000"/>
                </a:solidFill>
              </a:rPr>
              <a:t>T</a:t>
            </a:r>
            <a:r>
              <a:rPr lang="it-IT" sz="2200" baseline="-25000" dirty="0" err="1" smtClean="0">
                <a:solidFill>
                  <a:srgbClr val="008000"/>
                </a:solidFill>
              </a:rPr>
              <a:t>j</a:t>
            </a:r>
            <a:r>
              <a:rPr lang="it-IT" sz="2200" dirty="0" smtClean="0">
                <a:solidFill>
                  <a:srgbClr val="008000"/>
                </a:solidFill>
              </a:rPr>
              <a:t> = b</a:t>
            </a:r>
            <a:r>
              <a:rPr lang="it-IT" sz="2200" baseline="-25000" dirty="0" smtClean="0">
                <a:solidFill>
                  <a:srgbClr val="008000"/>
                </a:solidFill>
              </a:rPr>
              <a:t>1</a:t>
            </a:r>
            <a:r>
              <a:rPr lang="it-IT" sz="2200" dirty="0" smtClean="0">
                <a:solidFill>
                  <a:srgbClr val="008000"/>
                </a:solidFill>
              </a:rPr>
              <a:t> b</a:t>
            </a:r>
            <a:r>
              <a:rPr lang="it-IT" sz="2200" baseline="-25000" dirty="0" smtClean="0">
                <a:solidFill>
                  <a:srgbClr val="008000"/>
                </a:solidFill>
              </a:rPr>
              <a:t>2</a:t>
            </a:r>
            <a:r>
              <a:rPr lang="it-IT" sz="2200" dirty="0" smtClean="0">
                <a:solidFill>
                  <a:srgbClr val="008000"/>
                </a:solidFill>
              </a:rPr>
              <a:t> ... </a:t>
            </a:r>
            <a:r>
              <a:rPr lang="it-IT" sz="2200" dirty="0" err="1" smtClean="0">
                <a:solidFill>
                  <a:srgbClr val="008000"/>
                </a:solidFill>
              </a:rPr>
              <a:t>b</a:t>
            </a:r>
            <a:r>
              <a:rPr lang="it-IT" sz="2200" baseline="-25000" dirty="0" err="1" smtClean="0">
                <a:solidFill>
                  <a:srgbClr val="008000"/>
                </a:solidFill>
              </a:rPr>
              <a:t>j</a:t>
            </a:r>
            <a:r>
              <a:rPr lang="it-IT" sz="2200" dirty="0" smtClean="0">
                <a:solidFill>
                  <a:srgbClr val="008000"/>
                </a:solidFill>
              </a:rPr>
              <a:t> </a:t>
            </a:r>
            <a:endParaRPr lang="it-IT" sz="2200" dirty="0">
              <a:solidFill>
                <a:srgbClr val="008000"/>
              </a:solidFill>
            </a:endParaRPr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457200" y="5257800"/>
            <a:ext cx="64770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100000"/>
              </a:spcBef>
            </a:pPr>
            <a:r>
              <a:rPr lang="it-IT" sz="2200" b="1" dirty="0">
                <a:solidFill>
                  <a:schemeClr val="folHlink"/>
                </a:solidFill>
                <a:latin typeface="Comic Sans MS" charset="0"/>
              </a:rPr>
              <a:t>Il risultato cercato sarà:</a:t>
            </a:r>
          </a:p>
          <a:p>
            <a:pPr>
              <a:spcBef>
                <a:spcPct val="100000"/>
              </a:spcBef>
            </a:pPr>
            <a:r>
              <a:rPr lang="it-IT" sz="2200" dirty="0">
                <a:latin typeface="Comic Sans MS" charset="0"/>
              </a:rPr>
              <a:t>D(</a:t>
            </a:r>
            <a:r>
              <a:rPr lang="it-IT" sz="2200" dirty="0" err="1">
                <a:latin typeface="Comic Sans MS" charset="0"/>
              </a:rPr>
              <a:t>n,m</a:t>
            </a:r>
            <a:r>
              <a:rPr lang="it-IT" sz="2200" dirty="0">
                <a:latin typeface="Comic Sans MS" charset="0"/>
              </a:rPr>
              <a:t>) = distanza tra  a</a:t>
            </a:r>
            <a:r>
              <a:rPr lang="it-IT" sz="2200" baseline="-25000" dirty="0">
                <a:latin typeface="Comic Sans MS" charset="0"/>
              </a:rPr>
              <a:t>1</a:t>
            </a:r>
            <a:r>
              <a:rPr lang="it-IT" sz="2200" dirty="0">
                <a:latin typeface="Comic Sans MS" charset="0"/>
              </a:rPr>
              <a:t> a</a:t>
            </a:r>
            <a:r>
              <a:rPr lang="it-IT" sz="2200" baseline="-25000" dirty="0">
                <a:latin typeface="Comic Sans MS" charset="0"/>
              </a:rPr>
              <a:t>2</a:t>
            </a:r>
            <a:r>
              <a:rPr lang="it-IT" sz="2200" dirty="0">
                <a:latin typeface="Comic Sans MS" charset="0"/>
              </a:rPr>
              <a:t> ... a</a:t>
            </a:r>
            <a:r>
              <a:rPr lang="it-IT" sz="2200" baseline="-25000" dirty="0">
                <a:latin typeface="Comic Sans MS" charset="0"/>
              </a:rPr>
              <a:t>n   </a:t>
            </a:r>
            <a:r>
              <a:rPr lang="it-IT" sz="2200" dirty="0">
                <a:latin typeface="Comic Sans MS" charset="0"/>
              </a:rPr>
              <a:t>e  b</a:t>
            </a:r>
            <a:r>
              <a:rPr lang="it-IT" sz="2200" baseline="-25000" dirty="0">
                <a:latin typeface="Comic Sans MS" charset="0"/>
              </a:rPr>
              <a:t>1</a:t>
            </a:r>
            <a:r>
              <a:rPr lang="it-IT" sz="2200" dirty="0">
                <a:latin typeface="Comic Sans MS" charset="0"/>
              </a:rPr>
              <a:t> b</a:t>
            </a:r>
            <a:r>
              <a:rPr lang="it-IT" sz="2200" baseline="-25000" dirty="0">
                <a:latin typeface="Comic Sans MS" charset="0"/>
              </a:rPr>
              <a:t>2</a:t>
            </a:r>
            <a:r>
              <a:rPr lang="it-IT" sz="2200" dirty="0">
                <a:latin typeface="Comic Sans MS" charset="0"/>
              </a:rPr>
              <a:t> ...</a:t>
            </a:r>
            <a:r>
              <a:rPr lang="it-IT" sz="2200" dirty="0" err="1">
                <a:latin typeface="Comic Sans MS" charset="0"/>
              </a:rPr>
              <a:t>b</a:t>
            </a:r>
            <a:r>
              <a:rPr lang="it-IT" sz="2200" baseline="-25000" dirty="0" err="1">
                <a:latin typeface="Comic Sans MS" charset="0"/>
              </a:rPr>
              <a:t>m</a:t>
            </a:r>
            <a:endParaRPr lang="it-IT" sz="2200" baseline="-25000" dirty="0">
              <a:latin typeface="Comic Sans MS" charset="0"/>
            </a:endParaRPr>
          </a:p>
        </p:txBody>
      </p:sp>
      <p:grpSp>
        <p:nvGrpSpPr>
          <p:cNvPr id="14" name="Group 4"/>
          <p:cNvGrpSpPr>
            <a:grpSpLocks/>
          </p:cNvGrpSpPr>
          <p:nvPr/>
        </p:nvGrpSpPr>
        <p:grpSpPr bwMode="auto">
          <a:xfrm>
            <a:off x="4860032" y="2276872"/>
            <a:ext cx="381000" cy="990600"/>
            <a:chOff x="3120" y="1824"/>
            <a:chExt cx="240" cy="624"/>
          </a:xfrm>
        </p:grpSpPr>
        <p:sp>
          <p:nvSpPr>
            <p:cNvPr id="15" name="Line 5"/>
            <p:cNvSpPr>
              <a:spLocks noChangeShapeType="1"/>
            </p:cNvSpPr>
            <p:nvPr/>
          </p:nvSpPr>
          <p:spPr bwMode="auto">
            <a:xfrm>
              <a:off x="3120" y="1824"/>
              <a:ext cx="0" cy="336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3120" y="2160"/>
              <a:ext cx="240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>
              <a:off x="3360" y="2160"/>
              <a:ext cx="0" cy="288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Calcolo della distanza di 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77B94CB8-0421-5740-961D-15CD0BC6C47F}" type="slidenum">
              <a:rPr lang="en-US"/>
              <a:pPr/>
              <a:t>7</a:t>
            </a:fld>
            <a:endParaRPr lang="en-US" sz="1400">
              <a:latin typeface="Tahoma" charset="0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395536" y="1340768"/>
            <a:ext cx="8229600" cy="4953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charset="0"/>
              <a:buChar char="Ø"/>
              <a:defRPr sz="2400">
                <a:solidFill>
                  <a:srgbClr val="201FF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SzPct val="95000"/>
              <a:buFont typeface="Wingdings" charset="0"/>
              <a:buChar char="ü"/>
              <a:defRPr sz="2000">
                <a:solidFill>
                  <a:schemeClr val="hlink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buFont typeface="Monotype Sorts" charset="0"/>
              <a:buNone/>
            </a:pPr>
            <a:r>
              <a:rPr lang="it-IT" sz="2000" dirty="0" smtClean="0"/>
              <a:t>Abbiamo quattro possibilità per calcolare </a:t>
            </a:r>
            <a:r>
              <a:rPr lang="it-IT" sz="2000" dirty="0" smtClean="0">
                <a:solidFill>
                  <a:schemeClr val="tx1"/>
                </a:solidFill>
              </a:rPr>
              <a:t>D(</a:t>
            </a:r>
            <a:r>
              <a:rPr lang="it-IT" sz="2000" dirty="0" err="1" smtClean="0">
                <a:solidFill>
                  <a:schemeClr val="tx1"/>
                </a:solidFill>
              </a:rPr>
              <a:t>i,j</a:t>
            </a:r>
            <a:r>
              <a:rPr lang="it-IT" sz="2000" dirty="0" smtClean="0">
                <a:solidFill>
                  <a:schemeClr val="tx1"/>
                </a:solidFill>
              </a:rPr>
              <a:t>)</a:t>
            </a:r>
            <a:r>
              <a:rPr lang="it-IT" sz="2000" dirty="0" smtClean="0"/>
              <a:t>, noto </a:t>
            </a:r>
            <a:r>
              <a:rPr lang="it-IT" sz="2000" dirty="0" smtClean="0">
                <a:solidFill>
                  <a:schemeClr val="tx1"/>
                </a:solidFill>
              </a:rPr>
              <a:t>D(</a:t>
            </a:r>
            <a:r>
              <a:rPr lang="it-IT" sz="2000" dirty="0" err="1" smtClean="0">
                <a:solidFill>
                  <a:schemeClr val="tx1"/>
                </a:solidFill>
              </a:rPr>
              <a:t>k,l</a:t>
            </a:r>
            <a:r>
              <a:rPr lang="it-IT" sz="2000" dirty="0" smtClean="0">
                <a:solidFill>
                  <a:schemeClr val="tx1"/>
                </a:solidFill>
              </a:rPr>
              <a:t>)</a:t>
            </a:r>
            <a:r>
              <a:rPr lang="it-IT" sz="2000" dirty="0" smtClean="0"/>
              <a:t> per </a:t>
            </a:r>
            <a:r>
              <a:rPr lang="it-IT" sz="2000" dirty="0" smtClean="0">
                <a:solidFill>
                  <a:schemeClr val="tx1"/>
                </a:solidFill>
              </a:rPr>
              <a:t>(k&lt;i e </a:t>
            </a:r>
            <a:r>
              <a:rPr lang="it-IT" sz="2000" dirty="0" err="1" smtClean="0">
                <a:solidFill>
                  <a:schemeClr val="tx1"/>
                </a:solidFill>
              </a:rPr>
              <a:t>l≤j</a:t>
            </a:r>
            <a:r>
              <a:rPr lang="it-IT" sz="2000" dirty="0" smtClean="0">
                <a:solidFill>
                  <a:schemeClr val="tx1"/>
                </a:solidFill>
              </a:rPr>
              <a:t>) o (</a:t>
            </a:r>
            <a:r>
              <a:rPr lang="it-IT" sz="2000" dirty="0" err="1" smtClean="0">
                <a:solidFill>
                  <a:schemeClr val="tx1"/>
                </a:solidFill>
              </a:rPr>
              <a:t>k≤i</a:t>
            </a:r>
            <a:r>
              <a:rPr lang="it-IT" sz="2000" dirty="0" smtClean="0">
                <a:solidFill>
                  <a:schemeClr val="tx1"/>
                </a:solidFill>
              </a:rPr>
              <a:t> e l&lt;</a:t>
            </a:r>
            <a:r>
              <a:rPr lang="it-IT" sz="2000" dirty="0" err="1" smtClean="0">
                <a:solidFill>
                  <a:schemeClr val="tx1"/>
                </a:solidFill>
              </a:rPr>
              <a:t>j</a:t>
            </a:r>
            <a:r>
              <a:rPr lang="it-IT" sz="2000" dirty="0" smtClean="0">
                <a:solidFill>
                  <a:schemeClr val="tx1"/>
                </a:solidFill>
              </a:rPr>
              <a:t>) </a:t>
            </a:r>
            <a:r>
              <a:rPr lang="it-IT" sz="2000" dirty="0" smtClean="0"/>
              <a:t>:</a:t>
            </a:r>
            <a:endParaRPr lang="it-IT" sz="2000" dirty="0" smtClean="0">
              <a:solidFill>
                <a:schemeClr val="tx1"/>
              </a:solidFill>
            </a:endParaRPr>
          </a:p>
          <a:p>
            <a:r>
              <a:rPr lang="it-IT" sz="2000" dirty="0" smtClean="0"/>
              <a:t>se a</a:t>
            </a:r>
            <a:r>
              <a:rPr lang="it-IT" sz="2000" baseline="-25000" dirty="0" smtClean="0"/>
              <a:t>i</a:t>
            </a:r>
            <a:r>
              <a:rPr lang="it-IT" sz="2000" dirty="0" smtClean="0"/>
              <a:t> = </a:t>
            </a:r>
            <a:r>
              <a:rPr lang="it-IT" sz="2000" dirty="0" err="1" smtClean="0"/>
              <a:t>b</a:t>
            </a:r>
            <a:r>
              <a:rPr lang="it-IT" sz="2000" baseline="-25000" dirty="0" err="1" smtClean="0"/>
              <a:t>j</a:t>
            </a:r>
            <a:r>
              <a:rPr lang="it-IT" sz="2000" dirty="0" smtClean="0"/>
              <a:t> basta “allungare” sia </a:t>
            </a:r>
            <a:r>
              <a:rPr lang="it-IT" sz="2000" dirty="0" smtClean="0">
                <a:solidFill>
                  <a:srgbClr val="9933FF"/>
                </a:solidFill>
              </a:rPr>
              <a:t>S</a:t>
            </a:r>
            <a:r>
              <a:rPr lang="it-IT" sz="2000" baseline="-25000" dirty="0" smtClean="0">
                <a:solidFill>
                  <a:srgbClr val="9933FF"/>
                </a:solidFill>
              </a:rPr>
              <a:t>i-1</a:t>
            </a:r>
            <a:r>
              <a:rPr lang="it-IT" sz="2000" dirty="0" smtClean="0"/>
              <a:t> che </a:t>
            </a:r>
            <a:r>
              <a:rPr lang="it-IT" sz="2000" dirty="0" smtClean="0">
                <a:solidFill>
                  <a:srgbClr val="008000"/>
                </a:solidFill>
              </a:rPr>
              <a:t>T</a:t>
            </a:r>
            <a:r>
              <a:rPr lang="it-IT" sz="2000" baseline="-25000" dirty="0" smtClean="0">
                <a:solidFill>
                  <a:srgbClr val="008000"/>
                </a:solidFill>
              </a:rPr>
              <a:t>j-1</a:t>
            </a:r>
            <a:r>
              <a:rPr lang="it-IT" sz="2000" dirty="0" smtClean="0"/>
              <a:t> senza modifiche:</a:t>
            </a:r>
            <a:endParaRPr lang="it-IT" sz="2000" dirty="0" smtClean="0">
              <a:solidFill>
                <a:schemeClr val="tx1"/>
              </a:solidFill>
            </a:endParaRPr>
          </a:p>
          <a:p>
            <a:pPr lvl="1">
              <a:spcBef>
                <a:spcPct val="50000"/>
              </a:spcBef>
              <a:buFont typeface="Monotype Sorts" charset="0"/>
              <a:buNone/>
            </a:pPr>
            <a:r>
              <a:rPr lang="it-IT" dirty="0" smtClean="0"/>
              <a:t>				</a:t>
            </a:r>
            <a:r>
              <a:rPr lang="it-IT" b="1" dirty="0" smtClean="0"/>
              <a:t>D(</a:t>
            </a:r>
            <a:r>
              <a:rPr lang="it-IT" b="1" dirty="0" err="1" smtClean="0"/>
              <a:t>i,j</a:t>
            </a:r>
            <a:r>
              <a:rPr lang="it-IT" b="1" dirty="0" smtClean="0"/>
              <a:t>) = D(i-1,j-1)</a:t>
            </a:r>
            <a:endParaRPr lang="it-IT" dirty="0" smtClean="0"/>
          </a:p>
          <a:p>
            <a:r>
              <a:rPr lang="it-IT" sz="2000" dirty="0" smtClean="0">
                <a:solidFill>
                  <a:schemeClr val="tx1"/>
                </a:solidFill>
              </a:rPr>
              <a:t> </a:t>
            </a:r>
            <a:r>
              <a:rPr lang="it-IT" sz="2000" dirty="0" smtClean="0"/>
              <a:t>se a</a:t>
            </a:r>
            <a:r>
              <a:rPr lang="it-IT" sz="2000" baseline="-25000" dirty="0" smtClean="0"/>
              <a:t>i</a:t>
            </a:r>
            <a:r>
              <a:rPr lang="it-IT" sz="2000" dirty="0" smtClean="0"/>
              <a:t> ≠ </a:t>
            </a:r>
            <a:r>
              <a:rPr lang="it-IT" sz="2000" dirty="0" err="1" smtClean="0"/>
              <a:t>b</a:t>
            </a:r>
            <a:r>
              <a:rPr lang="it-IT" sz="2000" baseline="-25000" dirty="0" err="1" smtClean="0"/>
              <a:t>j</a:t>
            </a:r>
            <a:r>
              <a:rPr lang="it-IT" sz="2000" dirty="0" smtClean="0"/>
              <a:t> possiamo:</a:t>
            </a:r>
          </a:p>
          <a:p>
            <a:pPr lvl="1">
              <a:spcBef>
                <a:spcPct val="50000"/>
              </a:spcBef>
            </a:pPr>
            <a:r>
              <a:rPr lang="it-IT" dirty="0" smtClean="0"/>
              <a:t>Sostituire a</a:t>
            </a:r>
            <a:r>
              <a:rPr lang="it-IT" baseline="-25000" dirty="0" smtClean="0"/>
              <a:t>i</a:t>
            </a:r>
            <a:r>
              <a:rPr lang="it-IT" dirty="0" smtClean="0"/>
              <a:t> con b</a:t>
            </a:r>
            <a:r>
              <a:rPr lang="it-IT" baseline="-25000" dirty="0" smtClean="0"/>
              <a:t>i</a:t>
            </a:r>
            <a:r>
              <a:rPr lang="it-IT" dirty="0" smtClean="0"/>
              <a:t>:</a:t>
            </a:r>
          </a:p>
          <a:p>
            <a:pPr lvl="4">
              <a:spcBef>
                <a:spcPct val="50000"/>
              </a:spcBef>
              <a:buFont typeface="Monotype Sorts" charset="0"/>
              <a:buNone/>
            </a:pPr>
            <a:r>
              <a:rPr lang="it-IT" sz="2000" dirty="0" smtClean="0">
                <a:solidFill>
                  <a:schemeClr val="hlink"/>
                </a:solidFill>
              </a:rPr>
              <a:t>		</a:t>
            </a:r>
            <a:r>
              <a:rPr lang="it-IT" sz="2000" b="1" dirty="0" smtClean="0">
                <a:solidFill>
                  <a:schemeClr val="hlink"/>
                </a:solidFill>
              </a:rPr>
              <a:t>D(</a:t>
            </a:r>
            <a:r>
              <a:rPr lang="it-IT" sz="2000" b="1" dirty="0" err="1" smtClean="0">
                <a:solidFill>
                  <a:schemeClr val="hlink"/>
                </a:solidFill>
              </a:rPr>
              <a:t>i,j</a:t>
            </a:r>
            <a:r>
              <a:rPr lang="it-IT" sz="2000" b="1" dirty="0" smtClean="0">
                <a:solidFill>
                  <a:schemeClr val="hlink"/>
                </a:solidFill>
              </a:rPr>
              <a:t>) = D(i-1,j-1)</a:t>
            </a:r>
            <a:r>
              <a:rPr lang="it-IT" sz="2000" dirty="0" smtClean="0">
                <a:solidFill>
                  <a:schemeClr val="hlink"/>
                </a:solidFill>
              </a:rPr>
              <a:t>+1</a:t>
            </a:r>
          </a:p>
          <a:p>
            <a:pPr lvl="1">
              <a:spcBef>
                <a:spcPct val="50000"/>
              </a:spcBef>
            </a:pPr>
            <a:r>
              <a:rPr lang="it-IT" dirty="0" smtClean="0"/>
              <a:t>Cancellare a</a:t>
            </a:r>
            <a:r>
              <a:rPr lang="it-IT" baseline="-25000" dirty="0" smtClean="0"/>
              <a:t>i</a:t>
            </a:r>
            <a:r>
              <a:rPr lang="it-IT" dirty="0" smtClean="0"/>
              <a:t> :</a:t>
            </a:r>
          </a:p>
          <a:p>
            <a:pPr lvl="4">
              <a:spcBef>
                <a:spcPct val="50000"/>
              </a:spcBef>
              <a:buFont typeface="Monotype Sorts" charset="0"/>
              <a:buNone/>
            </a:pPr>
            <a:r>
              <a:rPr lang="it-IT" sz="2000" b="1" dirty="0" smtClean="0">
                <a:solidFill>
                  <a:schemeClr val="hlink"/>
                </a:solidFill>
              </a:rPr>
              <a:t>		D(</a:t>
            </a:r>
            <a:r>
              <a:rPr lang="it-IT" sz="2000" b="1" dirty="0" err="1" smtClean="0">
                <a:solidFill>
                  <a:schemeClr val="hlink"/>
                </a:solidFill>
              </a:rPr>
              <a:t>i,j</a:t>
            </a:r>
            <a:r>
              <a:rPr lang="it-IT" sz="2000" b="1" dirty="0" smtClean="0">
                <a:solidFill>
                  <a:schemeClr val="hlink"/>
                </a:solidFill>
              </a:rPr>
              <a:t>) = D(i-1,j)+1</a:t>
            </a:r>
          </a:p>
          <a:p>
            <a:pPr lvl="1">
              <a:spcBef>
                <a:spcPct val="50000"/>
              </a:spcBef>
            </a:pPr>
            <a:r>
              <a:rPr lang="it-IT" dirty="0" smtClean="0"/>
              <a:t>Inserire b</a:t>
            </a:r>
            <a:r>
              <a:rPr lang="it-IT" baseline="-25000" dirty="0" smtClean="0"/>
              <a:t>i</a:t>
            </a:r>
            <a:r>
              <a:rPr lang="it-IT" dirty="0" smtClean="0"/>
              <a:t> :</a:t>
            </a:r>
          </a:p>
          <a:p>
            <a:pPr lvl="4">
              <a:spcBef>
                <a:spcPct val="50000"/>
              </a:spcBef>
              <a:buFont typeface="Monotype Sorts" charset="0"/>
              <a:buNone/>
            </a:pPr>
            <a:r>
              <a:rPr lang="it-IT" sz="2000" dirty="0" smtClean="0">
                <a:solidFill>
                  <a:schemeClr val="hlink"/>
                </a:solidFill>
              </a:rPr>
              <a:t>		</a:t>
            </a:r>
            <a:r>
              <a:rPr lang="it-IT" sz="2000" b="1" dirty="0" smtClean="0">
                <a:solidFill>
                  <a:schemeClr val="hlink"/>
                </a:solidFill>
              </a:rPr>
              <a:t>D(</a:t>
            </a:r>
            <a:r>
              <a:rPr lang="it-IT" sz="2000" b="1" dirty="0" err="1" smtClean="0">
                <a:solidFill>
                  <a:schemeClr val="hlink"/>
                </a:solidFill>
              </a:rPr>
              <a:t>i,j</a:t>
            </a:r>
            <a:r>
              <a:rPr lang="it-IT" sz="2000" b="1" dirty="0" smtClean="0">
                <a:solidFill>
                  <a:schemeClr val="hlink"/>
                </a:solidFill>
              </a:rPr>
              <a:t>) = D(i,j-1)+1</a:t>
            </a:r>
            <a:endParaRPr lang="it-IT" sz="20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Calcolo della distanza di edit</a:t>
            </a:r>
          </a:p>
        </p:txBody>
      </p:sp>
      <p:sp>
        <p:nvSpPr>
          <p:cNvPr id="19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6368E50A-D7C7-DB48-A71E-160224E22D57}" type="slidenum">
              <a:rPr lang="en-US"/>
              <a:pPr/>
              <a:t>8</a:t>
            </a:fld>
            <a:endParaRPr lang="en-US" sz="1400">
              <a:latin typeface="Tahoma" charset="0"/>
            </a:endParaRPr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>
          <a:xfrm>
            <a:off x="381000" y="1600200"/>
            <a:ext cx="7543800" cy="609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lnSpc>
                <a:spcPct val="110000"/>
              </a:lnSpc>
              <a:spcBef>
                <a:spcPct val="50000"/>
              </a:spcBef>
              <a:spcAft>
                <a:spcPct val="0"/>
              </a:spcAft>
              <a:buClr>
                <a:schemeClr val="hlink"/>
              </a:buClr>
              <a:buFont typeface="Wingdings" charset="0"/>
              <a:buChar char="Ø"/>
              <a:defRPr sz="2400">
                <a:solidFill>
                  <a:srgbClr val="201FF0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40000"/>
              </a:spcBef>
              <a:spcAft>
                <a:spcPct val="0"/>
              </a:spcAft>
              <a:buClr>
                <a:schemeClr val="folHlink"/>
              </a:buClr>
              <a:buSzPct val="95000"/>
              <a:buFont typeface="Wingdings" charset="0"/>
              <a:buChar char="ü"/>
              <a:defRPr sz="2000">
                <a:solidFill>
                  <a:schemeClr val="hlink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5621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1981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0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438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895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352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10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it-IT" smtClean="0"/>
              <a:t>Si richiama quindi il calcolo di:</a:t>
            </a:r>
            <a:endParaRPr lang="it-IT"/>
          </a:p>
        </p:txBody>
      </p:sp>
      <p:grpSp>
        <p:nvGrpSpPr>
          <p:cNvPr id="21" name="Group 26"/>
          <p:cNvGrpSpPr>
            <a:grpSpLocks/>
          </p:cNvGrpSpPr>
          <p:nvPr/>
        </p:nvGrpSpPr>
        <p:grpSpPr bwMode="auto">
          <a:xfrm>
            <a:off x="6019800" y="2362200"/>
            <a:ext cx="457200" cy="990600"/>
            <a:chOff x="3792" y="1488"/>
            <a:chExt cx="288" cy="624"/>
          </a:xfrm>
        </p:grpSpPr>
        <p:sp>
          <p:nvSpPr>
            <p:cNvPr id="22" name="Line 5"/>
            <p:cNvSpPr>
              <a:spLocks noChangeShapeType="1"/>
            </p:cNvSpPr>
            <p:nvPr/>
          </p:nvSpPr>
          <p:spPr bwMode="auto">
            <a:xfrm>
              <a:off x="3792" y="1488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6"/>
            <p:cNvSpPr>
              <a:spLocks noChangeShapeType="1"/>
            </p:cNvSpPr>
            <p:nvPr/>
          </p:nvSpPr>
          <p:spPr bwMode="auto">
            <a:xfrm>
              <a:off x="3792" y="1824"/>
              <a:ext cx="2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7"/>
            <p:cNvSpPr>
              <a:spLocks noChangeShapeType="1"/>
            </p:cNvSpPr>
            <p:nvPr/>
          </p:nvSpPr>
          <p:spPr bwMode="auto">
            <a:xfrm>
              <a:off x="4080" y="1824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4191000" y="3733800"/>
            <a:ext cx="38862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Monotype Sorts" charset="0"/>
              <a:buNone/>
            </a:pP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2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i-1 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i+1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n</a:t>
            </a:r>
            <a:endParaRPr lang="it-IT" sz="2200" b="1">
              <a:solidFill>
                <a:schemeClr val="hlink"/>
              </a:solidFill>
              <a:latin typeface="Comic Sans MS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Monotype Sorts" charset="0"/>
              <a:buNone/>
            </a:pP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2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.....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j-1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j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m</a:t>
            </a:r>
            <a:endParaRPr lang="it-IT">
              <a:latin typeface="Comic Sans MS" charset="0"/>
            </a:endParaRPr>
          </a:p>
        </p:txBody>
      </p:sp>
      <p:sp>
        <p:nvSpPr>
          <p:cNvPr id="26" name="Text Box 10"/>
          <p:cNvSpPr txBox="1">
            <a:spLocks noChangeArrowheads="1"/>
          </p:cNvSpPr>
          <p:nvPr/>
        </p:nvSpPr>
        <p:spPr bwMode="auto">
          <a:xfrm>
            <a:off x="4267200" y="5029200"/>
            <a:ext cx="38100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Monotype Sorts" charset="0"/>
              <a:buNone/>
            </a:pP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2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i-1 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i+1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n</a:t>
            </a:r>
            <a:endParaRPr lang="it-IT" sz="2200" b="1">
              <a:solidFill>
                <a:schemeClr val="hlink"/>
              </a:solidFill>
              <a:latin typeface="Comic Sans MS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Monotype Sorts" charset="0"/>
              <a:buNone/>
            </a:pP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2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......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j-1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j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m</a:t>
            </a:r>
            <a:endParaRPr lang="it-IT">
              <a:latin typeface="Comic Sans MS" charset="0"/>
            </a:endParaRPr>
          </a:p>
        </p:txBody>
      </p:sp>
      <p:sp>
        <p:nvSpPr>
          <p:cNvPr id="27" name="Text Box 11"/>
          <p:cNvSpPr txBox="1">
            <a:spLocks noChangeArrowheads="1"/>
          </p:cNvSpPr>
          <p:nvPr/>
        </p:nvSpPr>
        <p:spPr bwMode="auto">
          <a:xfrm>
            <a:off x="4191000" y="2438400"/>
            <a:ext cx="39624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Monotype Sorts" charset="0"/>
              <a:buNone/>
            </a:pP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2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i-1 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i+1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a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n</a:t>
            </a:r>
            <a:endParaRPr lang="it-IT" sz="2200" b="1">
              <a:solidFill>
                <a:schemeClr val="hlink"/>
              </a:solidFill>
              <a:latin typeface="Comic Sans MS" charset="0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  <a:buSzPct val="80000"/>
              <a:buFont typeface="Monotype Sorts" charset="0"/>
              <a:buNone/>
            </a:pP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2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......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j-1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j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 ... b</a:t>
            </a:r>
            <a:r>
              <a:rPr lang="it-IT" sz="2200" b="1" baseline="-25000">
                <a:solidFill>
                  <a:schemeClr val="hlink"/>
                </a:solidFill>
                <a:latin typeface="Comic Sans MS" charset="0"/>
              </a:rPr>
              <a:t>m</a:t>
            </a:r>
            <a:endParaRPr lang="it-IT">
              <a:latin typeface="Comic Sans MS" charset="0"/>
            </a:endParaRPr>
          </a:p>
        </p:txBody>
      </p:sp>
      <p:sp>
        <p:nvSpPr>
          <p:cNvPr id="28" name="Text Box 12"/>
          <p:cNvSpPr txBox="1">
            <a:spLocks noChangeArrowheads="1"/>
          </p:cNvSpPr>
          <p:nvPr/>
        </p:nvSpPr>
        <p:spPr bwMode="auto">
          <a:xfrm>
            <a:off x="1219200" y="2665413"/>
            <a:ext cx="1706563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200" b="1">
                <a:latin typeface="Comic Sans MS" charset="0"/>
              </a:rPr>
              <a:t>D(i-1, j-1)</a:t>
            </a:r>
          </a:p>
        </p:txBody>
      </p:sp>
      <p:sp>
        <p:nvSpPr>
          <p:cNvPr id="29" name="Text Box 13"/>
          <p:cNvSpPr txBox="1">
            <a:spLocks noChangeArrowheads="1"/>
          </p:cNvSpPr>
          <p:nvPr/>
        </p:nvSpPr>
        <p:spPr bwMode="auto">
          <a:xfrm>
            <a:off x="1295400" y="3808413"/>
            <a:ext cx="13652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200" b="1">
                <a:latin typeface="Comic Sans MS" charset="0"/>
              </a:rPr>
              <a:t>D(i-1, j)</a:t>
            </a:r>
          </a:p>
        </p:txBody>
      </p:sp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1295400" y="5180013"/>
            <a:ext cx="136525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 sz="2200" b="1">
                <a:latin typeface="Comic Sans MS" charset="0"/>
              </a:rPr>
              <a:t>D(i, j-1)</a:t>
            </a:r>
          </a:p>
        </p:txBody>
      </p:sp>
      <p:grpSp>
        <p:nvGrpSpPr>
          <p:cNvPr id="31" name="Group 27"/>
          <p:cNvGrpSpPr>
            <a:grpSpLocks/>
          </p:cNvGrpSpPr>
          <p:nvPr/>
        </p:nvGrpSpPr>
        <p:grpSpPr bwMode="auto">
          <a:xfrm>
            <a:off x="6096000" y="3657600"/>
            <a:ext cx="685800" cy="990600"/>
            <a:chOff x="4560" y="912"/>
            <a:chExt cx="432" cy="624"/>
          </a:xfrm>
        </p:grpSpPr>
        <p:sp>
          <p:nvSpPr>
            <p:cNvPr id="32" name="Line 16"/>
            <p:cNvSpPr>
              <a:spLocks noChangeShapeType="1"/>
            </p:cNvSpPr>
            <p:nvPr/>
          </p:nvSpPr>
          <p:spPr bwMode="auto">
            <a:xfrm>
              <a:off x="4560" y="91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>
              <a:off x="4560" y="1248"/>
              <a:ext cx="4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8"/>
            <p:cNvSpPr>
              <a:spLocks noChangeShapeType="1"/>
            </p:cNvSpPr>
            <p:nvPr/>
          </p:nvSpPr>
          <p:spPr bwMode="auto">
            <a:xfrm>
              <a:off x="4992" y="124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5" name="Line 21"/>
          <p:cNvSpPr>
            <a:spLocks noChangeShapeType="1"/>
          </p:cNvSpPr>
          <p:nvPr/>
        </p:nvSpPr>
        <p:spPr bwMode="auto">
          <a:xfrm>
            <a:off x="6553200" y="5029200"/>
            <a:ext cx="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5" grpId="0"/>
      <p:bldP spid="26" grpId="0"/>
      <p:bldP spid="27" grpId="0"/>
      <p:bldP spid="28" grpId="0"/>
      <p:bldP spid="29" grpId="0"/>
      <p:bldP spid="30" grpId="0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Calcolo della distanza di edit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algn="r"/>
            <a:fld id="{E01FB083-2E88-B143-9859-BE0296ED686E}" type="slidenum">
              <a:rPr lang="en-US" sz="1200">
                <a:latin typeface="Arial"/>
                <a:cs typeface="Arial"/>
              </a:rPr>
              <a:pPr algn="r"/>
              <a:t>9</a:t>
            </a:fld>
            <a:endParaRPr lang="en-US" sz="1200" dirty="0">
              <a:latin typeface="Arial"/>
              <a:cs typeface="Arial"/>
            </a:endParaRPr>
          </a:p>
        </p:txBody>
      </p:sp>
      <p:sp>
        <p:nvSpPr>
          <p:cNvPr id="36249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484784"/>
            <a:ext cx="7924800" cy="762000"/>
          </a:xfrm>
        </p:spPr>
        <p:txBody>
          <a:bodyPr/>
          <a:lstStyle/>
          <a:p>
            <a:pPr marL="0" indent="0">
              <a:buFont typeface="Monotype Sorts" charset="0"/>
              <a:buNone/>
            </a:pPr>
            <a:r>
              <a:rPr lang="it-IT" sz="2200" b="1" dirty="0"/>
              <a:t>Dal momento che si vuole un valore minimo, si ottiene la ricorrenza </a:t>
            </a:r>
          </a:p>
        </p:txBody>
      </p:sp>
      <p:grpSp>
        <p:nvGrpSpPr>
          <p:cNvPr id="362505" name="Group 9"/>
          <p:cNvGrpSpPr>
            <a:grpSpLocks/>
          </p:cNvGrpSpPr>
          <p:nvPr/>
        </p:nvGrpSpPr>
        <p:grpSpPr bwMode="auto">
          <a:xfrm>
            <a:off x="1619672" y="2636912"/>
            <a:ext cx="5292824" cy="2210544"/>
            <a:chOff x="720" y="1536"/>
            <a:chExt cx="3408" cy="1536"/>
          </a:xfrm>
        </p:grpSpPr>
        <p:sp>
          <p:nvSpPr>
            <p:cNvPr id="362502" name="Rectangle 6"/>
            <p:cNvSpPr>
              <a:spLocks noChangeArrowheads="1"/>
            </p:cNvSpPr>
            <p:nvPr/>
          </p:nvSpPr>
          <p:spPr bwMode="auto">
            <a:xfrm>
              <a:off x="720" y="2016"/>
              <a:ext cx="1104" cy="5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 dirty="0"/>
                <a:t>D(</a:t>
              </a:r>
              <a:r>
                <a:rPr lang="en-GB" sz="2800" dirty="0" err="1"/>
                <a:t>i,j</a:t>
              </a:r>
              <a:r>
                <a:rPr lang="en-GB" sz="2800" dirty="0"/>
                <a:t>) = MIN</a:t>
              </a:r>
              <a:endParaRPr lang="en-GB" dirty="0"/>
            </a:p>
          </p:txBody>
        </p:sp>
        <p:grpSp>
          <p:nvGrpSpPr>
            <p:cNvPr id="362504" name="Group 8"/>
            <p:cNvGrpSpPr>
              <a:grpSpLocks/>
            </p:cNvGrpSpPr>
            <p:nvPr/>
          </p:nvGrpSpPr>
          <p:grpSpPr bwMode="auto">
            <a:xfrm>
              <a:off x="2064" y="1536"/>
              <a:ext cx="2064" cy="1536"/>
              <a:chOff x="1776" y="1584"/>
              <a:chExt cx="2064" cy="1536"/>
            </a:xfrm>
          </p:grpSpPr>
          <p:sp>
            <p:nvSpPr>
              <p:cNvPr id="362501" name="AutoShape 5"/>
              <p:cNvSpPr>
                <a:spLocks/>
              </p:cNvSpPr>
              <p:nvPr/>
            </p:nvSpPr>
            <p:spPr bwMode="auto">
              <a:xfrm>
                <a:off x="1776" y="1584"/>
                <a:ext cx="528" cy="1536"/>
              </a:xfrm>
              <a:prstGeom prst="leftBrace">
                <a:avLst>
                  <a:gd name="adj1" fmla="val 24242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2503" name="Rectangle 7"/>
              <p:cNvSpPr>
                <a:spLocks noChangeArrowheads="1"/>
              </p:cNvSpPr>
              <p:nvPr/>
            </p:nvSpPr>
            <p:spPr bwMode="auto">
              <a:xfrm>
                <a:off x="2304" y="1680"/>
                <a:ext cx="1536" cy="12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r>
                  <a:rPr lang="en-GB" sz="2600"/>
                  <a:t>D(i-1,j-1)+t(a</a:t>
                </a:r>
                <a:r>
                  <a:rPr lang="en-GB" sz="2600" baseline="-25000"/>
                  <a:t>i</a:t>
                </a:r>
                <a:r>
                  <a:rPr lang="en-GB" sz="2600"/>
                  <a:t>,b</a:t>
                </a:r>
                <a:r>
                  <a:rPr lang="en-GB" sz="2600" baseline="-25000"/>
                  <a:t>j</a:t>
                </a:r>
                <a:r>
                  <a:rPr lang="en-GB" sz="2600"/>
                  <a:t>)</a:t>
                </a:r>
              </a:p>
              <a:p>
                <a:endParaRPr lang="en-GB" sz="2600"/>
              </a:p>
              <a:p>
                <a:r>
                  <a:rPr lang="en-GB" sz="2600"/>
                  <a:t>D(i-1,j)+1</a:t>
                </a:r>
              </a:p>
              <a:p>
                <a:endParaRPr lang="en-GB" sz="2600"/>
              </a:p>
              <a:p>
                <a:r>
                  <a:rPr lang="en-GB" sz="2600"/>
                  <a:t>D(i,j-1)+1</a:t>
                </a:r>
                <a:endParaRPr lang="en-GB"/>
              </a:p>
            </p:txBody>
          </p:sp>
        </p:grpSp>
      </p:grpSp>
      <p:sp>
        <p:nvSpPr>
          <p:cNvPr id="362506" name="Rectangle 10"/>
          <p:cNvSpPr>
            <a:spLocks noChangeArrowheads="1"/>
          </p:cNvSpPr>
          <p:nvPr/>
        </p:nvSpPr>
        <p:spPr bwMode="auto">
          <a:xfrm>
            <a:off x="381000" y="5334000"/>
            <a:ext cx="7924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40000"/>
              </a:spcBef>
              <a:buClr>
                <a:schemeClr val="hlink"/>
              </a:buClr>
              <a:buSzPct val="80000"/>
              <a:buFont typeface="Monotype Sorts" charset="0"/>
              <a:buNone/>
            </a:pPr>
            <a:r>
              <a:rPr lang="it-IT" sz="2200" b="1">
                <a:solidFill>
                  <a:schemeClr val="folHlink"/>
                </a:solidFill>
                <a:latin typeface="Comic Sans MS" charset="0"/>
              </a:rPr>
              <a:t>che stabilisce un legame tra il generico sottoproblema 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D(i,j)</a:t>
            </a:r>
            <a:r>
              <a:rPr lang="it-IT" sz="2200" b="1">
                <a:solidFill>
                  <a:schemeClr val="folHlink"/>
                </a:solidFill>
                <a:latin typeface="Comic Sans MS" charset="0"/>
              </a:rPr>
              <a:t> e i sottoproblemi </a:t>
            </a:r>
            <a:r>
              <a:rPr lang="it-IT" sz="2200" b="1">
                <a:solidFill>
                  <a:schemeClr val="hlink"/>
                </a:solidFill>
                <a:latin typeface="Comic Sans MS" charset="0"/>
              </a:rPr>
              <a:t>D(i-1,j-1), D(i-1,j) e D(i,j-1)  </a:t>
            </a:r>
            <a:endParaRPr lang="it-IT" sz="2200" b="1">
              <a:solidFill>
                <a:schemeClr val="folHlink"/>
              </a:solidFill>
              <a:latin typeface="Comic Sans MS" charset="0"/>
            </a:endParaRPr>
          </a:p>
        </p:txBody>
      </p:sp>
      <p:sp>
        <p:nvSpPr>
          <p:cNvPr id="362507" name="AutoShape 11"/>
          <p:cNvSpPr>
            <a:spLocks noChangeArrowheads="1"/>
          </p:cNvSpPr>
          <p:nvPr/>
        </p:nvSpPr>
        <p:spPr bwMode="auto">
          <a:xfrm>
            <a:off x="5257800" y="908720"/>
            <a:ext cx="3886200" cy="838200"/>
          </a:xfrm>
          <a:prstGeom prst="wedgeRectCallout">
            <a:avLst>
              <a:gd name="adj1" fmla="val -25491"/>
              <a:gd name="adj2" fmla="val 164583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GB" sz="2000" b="1">
                <a:cs typeface="ＭＳ Ｐゴシック" charset="0"/>
              </a:rPr>
              <a:t>t(</a:t>
            </a:r>
            <a:r>
              <a:rPr lang="it-IT" sz="2000" b="1">
                <a:latin typeface="Arial" charset="0"/>
                <a:cs typeface="ＭＳ Ｐゴシック" charset="0"/>
              </a:rPr>
              <a:t>a</a:t>
            </a:r>
            <a:r>
              <a:rPr lang="it-IT" sz="2000" b="1" baseline="-25000">
                <a:latin typeface="Arial" charset="0"/>
                <a:cs typeface="ＭＳ Ｐゴシック" charset="0"/>
              </a:rPr>
              <a:t>i</a:t>
            </a:r>
            <a:r>
              <a:rPr lang="it-IT" sz="2000" b="1">
                <a:latin typeface="Arial" charset="0"/>
                <a:cs typeface="ＭＳ Ｐゴシック" charset="0"/>
              </a:rPr>
              <a:t>,b</a:t>
            </a:r>
            <a:r>
              <a:rPr lang="it-IT" sz="2000" b="1" baseline="-25000">
                <a:latin typeface="Arial" charset="0"/>
                <a:cs typeface="ＭＳ Ｐゴシック" charset="0"/>
              </a:rPr>
              <a:t>j</a:t>
            </a:r>
            <a:r>
              <a:rPr lang="en-GB" sz="2000" b="1">
                <a:cs typeface="ＭＳ Ｐゴシック" charset="0"/>
              </a:rPr>
              <a:t>)=1 se </a:t>
            </a:r>
            <a:r>
              <a:rPr lang="it-IT" sz="2000" b="1">
                <a:latin typeface="Arial" charset="0"/>
                <a:cs typeface="ＭＳ Ｐゴシック" charset="0"/>
              </a:rPr>
              <a:t>a</a:t>
            </a:r>
            <a:r>
              <a:rPr lang="it-IT" sz="2000" b="1" baseline="-25000">
                <a:latin typeface="Arial" charset="0"/>
                <a:cs typeface="ＭＳ Ｐゴシック" charset="0"/>
              </a:rPr>
              <a:t>i</a:t>
            </a:r>
            <a:r>
              <a:rPr lang="it-IT" sz="2000" b="1">
                <a:latin typeface="Arial" charset="0"/>
                <a:cs typeface="ＭＳ Ｐゴシック" charset="0"/>
              </a:rPr>
              <a:t> diverso da b</a:t>
            </a:r>
            <a:r>
              <a:rPr lang="it-IT" sz="2000" b="1" baseline="-25000">
                <a:latin typeface="Arial" charset="0"/>
                <a:cs typeface="ＭＳ Ｐゴシック" charset="0"/>
              </a:rPr>
              <a:t>j</a:t>
            </a:r>
            <a:r>
              <a:rPr lang="it-IT" sz="2000" b="1">
                <a:latin typeface="Arial" charset="0"/>
                <a:cs typeface="ＭＳ Ｐゴシック" charset="0"/>
              </a:rPr>
              <a:t>,</a:t>
            </a:r>
          </a:p>
          <a:p>
            <a:pPr algn="ctr" eaLnBrk="0" hangingPunct="0"/>
            <a:r>
              <a:rPr lang="it-IT" sz="2000" b="1">
                <a:latin typeface="Arial" charset="0"/>
                <a:cs typeface="ＭＳ Ｐゴシック" charset="0"/>
              </a:rPr>
              <a:t>altrimenti t(a</a:t>
            </a:r>
            <a:r>
              <a:rPr lang="it-IT" sz="2000" b="1" baseline="-25000">
                <a:latin typeface="Arial" charset="0"/>
                <a:cs typeface="ＭＳ Ｐゴシック" charset="0"/>
              </a:rPr>
              <a:t>i</a:t>
            </a:r>
            <a:r>
              <a:rPr lang="it-IT" sz="2000" b="1">
                <a:latin typeface="Arial" charset="0"/>
                <a:cs typeface="ＭＳ Ｐゴシック" charset="0"/>
              </a:rPr>
              <a:t>,b</a:t>
            </a:r>
            <a:r>
              <a:rPr lang="it-IT" sz="2000" b="1" baseline="-25000">
                <a:latin typeface="Arial" charset="0"/>
                <a:cs typeface="ＭＳ Ｐゴシック" charset="0"/>
              </a:rPr>
              <a:t>j</a:t>
            </a:r>
            <a:r>
              <a:rPr lang="it-IT" sz="2000" b="1">
                <a:latin typeface="Arial" charset="0"/>
                <a:cs typeface="ＭＳ Ｐゴシック" charset="0"/>
              </a:rPr>
              <a:t>)=0</a:t>
            </a:r>
            <a:endParaRPr lang="en-GB" sz="2000">
              <a:latin typeface="Arial" charset="0"/>
              <a:cs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2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625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62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2499" grpId="0" autoUpdateAnimBg="0"/>
      <p:bldP spid="362506" grpId="0" autoUpdateAnimBg="0"/>
      <p:bldP spid="362507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Calcolo della distanza di edit</a:t>
            </a:r>
            <a:endParaRPr lang="it-IT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6364C58-A5CE-A14B-83F6-C83840C102C2}" type="slidenum">
              <a:rPr lang="en-US"/>
              <a:pPr/>
              <a:t>10</a:t>
            </a:fld>
            <a:endParaRPr lang="en-US" sz="1400">
              <a:latin typeface="Tahoma" charset="0"/>
            </a:endParaRPr>
          </a:p>
        </p:txBody>
      </p:sp>
      <p:sp>
        <p:nvSpPr>
          <p:cNvPr id="4382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556792"/>
            <a:ext cx="7924800" cy="914400"/>
          </a:xfrm>
        </p:spPr>
        <p:txBody>
          <a:bodyPr/>
          <a:lstStyle/>
          <a:p>
            <a:pPr marL="0" indent="0">
              <a:buFont typeface="Monotype Sorts" charset="0"/>
              <a:buNone/>
            </a:pPr>
            <a:r>
              <a:rPr lang="it-IT" sz="2400" dirty="0"/>
              <a:t>I casi base, per i quali il valore di D è calcolabile immediatamente, sono:</a:t>
            </a:r>
          </a:p>
        </p:txBody>
      </p:sp>
      <p:sp>
        <p:nvSpPr>
          <p:cNvPr id="438276" name="Rectangle 4"/>
          <p:cNvSpPr>
            <a:spLocks noChangeArrowheads="1"/>
          </p:cNvSpPr>
          <p:nvPr/>
        </p:nvSpPr>
        <p:spPr bwMode="auto">
          <a:xfrm>
            <a:off x="1143000" y="2819400"/>
            <a:ext cx="5105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SzPct val="80000"/>
              <a:buFont typeface="Monotype Sorts" charset="0"/>
              <a:buChar char="4"/>
            </a:pPr>
            <a:r>
              <a:rPr lang="en-GB" sz="2400" dirty="0">
                <a:latin typeface="Comic Sans MS" charset="0"/>
              </a:rPr>
              <a:t> D(0,0) = 0</a:t>
            </a:r>
          </a:p>
          <a:p>
            <a:pPr>
              <a:spcBef>
                <a:spcPct val="100000"/>
              </a:spcBef>
              <a:buSzPct val="80000"/>
              <a:buFont typeface="Monotype Sorts" charset="0"/>
              <a:buChar char="4"/>
            </a:pPr>
            <a:r>
              <a:rPr lang="en-GB" sz="2400" dirty="0">
                <a:latin typeface="Comic Sans MS" charset="0"/>
              </a:rPr>
              <a:t> D(i,0) = </a:t>
            </a:r>
            <a:r>
              <a:rPr lang="en-GB" sz="2400" dirty="0" err="1">
                <a:latin typeface="Comic Sans MS" charset="0"/>
              </a:rPr>
              <a:t>i</a:t>
            </a:r>
            <a:r>
              <a:rPr lang="en-GB" sz="2400" dirty="0">
                <a:latin typeface="Comic Sans MS" charset="0"/>
              </a:rPr>
              <a:t>      (</a:t>
            </a:r>
            <a:r>
              <a:rPr lang="en-GB" sz="2400" dirty="0" err="1">
                <a:latin typeface="Comic Sans MS" charset="0"/>
              </a:rPr>
              <a:t>i</a:t>
            </a:r>
            <a:r>
              <a:rPr lang="en-GB" sz="2400" dirty="0">
                <a:latin typeface="Comic Sans MS" charset="0"/>
              </a:rPr>
              <a:t> </a:t>
            </a:r>
            <a:r>
              <a:rPr lang="en-GB" sz="2400" dirty="0" err="1">
                <a:latin typeface="Comic Sans MS" charset="0"/>
              </a:rPr>
              <a:t>cancellazioni</a:t>
            </a:r>
            <a:r>
              <a:rPr lang="en-GB" sz="2400" dirty="0">
                <a:latin typeface="Comic Sans MS" charset="0"/>
              </a:rPr>
              <a:t>)</a:t>
            </a:r>
          </a:p>
          <a:p>
            <a:pPr>
              <a:spcBef>
                <a:spcPct val="100000"/>
              </a:spcBef>
              <a:buSzPct val="80000"/>
              <a:buFont typeface="Monotype Sorts" charset="0"/>
              <a:buChar char="4"/>
            </a:pPr>
            <a:r>
              <a:rPr lang="en-GB" sz="2400" dirty="0">
                <a:latin typeface="Comic Sans MS" charset="0"/>
              </a:rPr>
              <a:t> D(0,j) = j     (j </a:t>
            </a:r>
            <a:r>
              <a:rPr lang="en-GB" sz="2400" dirty="0" err="1">
                <a:latin typeface="Comic Sans MS" charset="0"/>
              </a:rPr>
              <a:t>inserzioni</a:t>
            </a:r>
            <a:r>
              <a:rPr lang="en-GB" sz="2400" dirty="0">
                <a:latin typeface="Comic Sans MS" charset="0"/>
              </a:rPr>
              <a:t>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8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8275" grpId="0" autoUpdateAnimBg="0"/>
      <p:bldP spid="438276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Calcolo della distanza di edit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658AD0FD-6F63-914A-8169-F1DB81BEA293}" type="slidenum">
              <a:rPr lang="en-US"/>
              <a:pPr/>
              <a:t>11</a:t>
            </a:fld>
            <a:endParaRPr lang="en-US" sz="1400">
              <a:latin typeface="Tahoma" charset="0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600200"/>
            <a:ext cx="8534400" cy="4953000"/>
          </a:xfrm>
        </p:spPr>
        <p:txBody>
          <a:bodyPr/>
          <a:lstStyle/>
          <a:p>
            <a:pPr>
              <a:buFont typeface="Monotype Sorts" charset="0"/>
              <a:buNone/>
            </a:pPr>
            <a:r>
              <a:rPr lang="it-IT" sz="2400">
                <a:solidFill>
                  <a:schemeClr val="tx1"/>
                </a:solidFill>
              </a:rPr>
              <a:t>Ricorrenza:</a:t>
            </a:r>
          </a:p>
          <a:p>
            <a:pPr>
              <a:buFont typeface="Monotype Sorts" charset="0"/>
              <a:buNone/>
            </a:pPr>
            <a:r>
              <a:rPr lang="it-IT" sz="2400"/>
              <a:t>	stabilisce un legame ricorsivo tra il valore di D(i,j) e i valori per indici più piccoli, fino a un </a:t>
            </a:r>
            <a:r>
              <a:rPr lang="it-IT" sz="2400">
                <a:solidFill>
                  <a:schemeClr val="hlink"/>
                </a:solidFill>
              </a:rPr>
              <a:t>valore base.</a:t>
            </a:r>
          </a:p>
          <a:p>
            <a:pPr>
              <a:spcBef>
                <a:spcPct val="50000"/>
              </a:spcBef>
              <a:buFont typeface="Monotype Sorts" charset="0"/>
              <a:buNone/>
            </a:pPr>
            <a:r>
              <a:rPr lang="it-IT" sz="2400">
                <a:solidFill>
                  <a:schemeClr val="hlink"/>
                </a:solidFill>
              </a:rPr>
              <a:t>	BASE:	</a:t>
            </a:r>
          </a:p>
          <a:p>
            <a:pPr>
              <a:spcBef>
                <a:spcPct val="50000"/>
              </a:spcBef>
              <a:buFont typeface="Monotype Sorts" charset="0"/>
              <a:buNone/>
            </a:pPr>
            <a:r>
              <a:rPr lang="it-IT" sz="2400"/>
              <a:t>	D(i,0) = i		D(0,j) = j</a:t>
            </a:r>
          </a:p>
          <a:p>
            <a:pPr>
              <a:spcBef>
                <a:spcPct val="50000"/>
              </a:spcBef>
              <a:buFont typeface="Monotype Sorts" charset="0"/>
              <a:buNone/>
            </a:pPr>
            <a:r>
              <a:rPr lang="it-IT" sz="2400"/>
              <a:t> 	</a:t>
            </a:r>
            <a:r>
              <a:rPr lang="it-IT" sz="2400">
                <a:solidFill>
                  <a:schemeClr val="hlink"/>
                </a:solidFill>
              </a:rPr>
              <a:t>PASSO:	</a:t>
            </a:r>
          </a:p>
          <a:p>
            <a:pPr>
              <a:spcBef>
                <a:spcPct val="50000"/>
              </a:spcBef>
              <a:buFont typeface="Monotype Sorts" charset="0"/>
              <a:buNone/>
            </a:pPr>
            <a:r>
              <a:rPr lang="it-IT" sz="2400">
                <a:solidFill>
                  <a:schemeClr val="hlink"/>
                </a:solidFill>
              </a:rPr>
              <a:t>	</a:t>
            </a:r>
            <a:r>
              <a:rPr lang="it-IT" sz="2400"/>
              <a:t>D(i,j) = min{D(i-1,j)+1; D(i,j-1)+1; D(i-1,j-1)+t(i,j)}</a:t>
            </a:r>
          </a:p>
          <a:p>
            <a:pPr>
              <a:spcBef>
                <a:spcPct val="50000"/>
              </a:spcBef>
              <a:buFont typeface="Monotype Sorts" charset="0"/>
              <a:buNone/>
            </a:pPr>
            <a:r>
              <a:rPr lang="it-IT" sz="2400"/>
              <a:t> 			con t(i,j) = 1 se a</a:t>
            </a:r>
            <a:r>
              <a:rPr lang="it-IT" sz="2400" baseline="-25000"/>
              <a:t>i</a:t>
            </a:r>
            <a:r>
              <a:rPr lang="it-IT" sz="2400"/>
              <a:t> ≠ b</a:t>
            </a:r>
            <a:r>
              <a:rPr lang="it-IT" sz="2400" baseline="-25000"/>
              <a:t>j</a:t>
            </a:r>
            <a:endParaRPr lang="it-IT" sz="2400"/>
          </a:p>
          <a:p>
            <a:pPr>
              <a:spcBef>
                <a:spcPct val="50000"/>
              </a:spcBef>
              <a:buFont typeface="Monotype Sorts" charset="0"/>
              <a:buNone/>
            </a:pPr>
            <a:r>
              <a:rPr lang="it-IT" sz="2400"/>
              <a:t>				       0 altrimenti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Calcolo della distanza di edit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E226F524-5B99-A742-9385-8BF6CDEDDEE4}" type="slidenum">
              <a:rPr lang="en-US"/>
              <a:pPr/>
              <a:t>12</a:t>
            </a:fld>
            <a:endParaRPr lang="en-US" sz="1400">
              <a:latin typeface="Tahoma" charset="0"/>
            </a:endParaRPr>
          </a:p>
        </p:txBody>
      </p:sp>
      <p:sp>
        <p:nvSpPr>
          <p:cNvPr id="3645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556792"/>
            <a:ext cx="7924800" cy="4495800"/>
          </a:xfrm>
        </p:spPr>
        <p:txBody>
          <a:bodyPr/>
          <a:lstStyle/>
          <a:p>
            <a:pPr marL="293688" indent="-293688">
              <a:buFont typeface="Monotype Sorts" charset="0"/>
              <a:buNone/>
            </a:pPr>
            <a:r>
              <a:rPr lang="it-IT" sz="2600" dirty="0">
                <a:solidFill>
                  <a:schemeClr val="tx1"/>
                </a:solidFill>
              </a:rPr>
              <a:t>In particolare:</a:t>
            </a:r>
          </a:p>
          <a:p>
            <a:pPr marL="293688" indent="-293688">
              <a:spcBef>
                <a:spcPct val="80000"/>
              </a:spcBef>
            </a:pPr>
            <a:r>
              <a:rPr lang="it-IT" sz="2400" dirty="0"/>
              <a:t>per </a:t>
            </a:r>
            <a:r>
              <a:rPr lang="it-IT" sz="2400" dirty="0">
                <a:solidFill>
                  <a:schemeClr val="hlink"/>
                </a:solidFill>
              </a:rPr>
              <a:t>i=</a:t>
            </a:r>
            <a:r>
              <a:rPr lang="it-IT" sz="2400" dirty="0" err="1">
                <a:solidFill>
                  <a:schemeClr val="hlink"/>
                </a:solidFill>
              </a:rPr>
              <a:t>n</a:t>
            </a:r>
            <a:r>
              <a:rPr lang="it-IT" sz="2400" dirty="0">
                <a:solidFill>
                  <a:schemeClr val="hlink"/>
                </a:solidFill>
              </a:rPr>
              <a:t> </a:t>
            </a:r>
            <a:r>
              <a:rPr lang="it-IT" sz="2400" dirty="0"/>
              <a:t>e</a:t>
            </a:r>
            <a:r>
              <a:rPr lang="it-IT" sz="2400" dirty="0">
                <a:solidFill>
                  <a:schemeClr val="hlink"/>
                </a:solidFill>
              </a:rPr>
              <a:t> </a:t>
            </a:r>
            <a:r>
              <a:rPr lang="it-IT" sz="2400" dirty="0" err="1">
                <a:solidFill>
                  <a:schemeClr val="hlink"/>
                </a:solidFill>
              </a:rPr>
              <a:t>j</a:t>
            </a:r>
            <a:r>
              <a:rPr lang="it-IT" sz="2400" dirty="0">
                <a:solidFill>
                  <a:schemeClr val="hlink"/>
                </a:solidFill>
              </a:rPr>
              <a:t>=m</a:t>
            </a:r>
            <a:r>
              <a:rPr lang="it-IT" sz="2400" dirty="0"/>
              <a:t>, si ottiene la distanza di </a:t>
            </a:r>
            <a:r>
              <a:rPr lang="it-IT" sz="2400" dirty="0" err="1"/>
              <a:t>edit</a:t>
            </a:r>
            <a:r>
              <a:rPr lang="it-IT" sz="2400" dirty="0"/>
              <a:t> </a:t>
            </a:r>
            <a:r>
              <a:rPr lang="it-IT" sz="2400" dirty="0">
                <a:solidFill>
                  <a:schemeClr val="hlink"/>
                </a:solidFill>
              </a:rPr>
              <a:t>D(</a:t>
            </a:r>
            <a:r>
              <a:rPr lang="it-IT" sz="2400" dirty="0" err="1">
                <a:solidFill>
                  <a:schemeClr val="hlink"/>
                </a:solidFill>
              </a:rPr>
              <a:t>n,m</a:t>
            </a:r>
            <a:r>
              <a:rPr lang="it-IT" sz="2400" dirty="0">
                <a:solidFill>
                  <a:schemeClr val="hlink"/>
                </a:solidFill>
              </a:rPr>
              <a:t>)</a:t>
            </a:r>
            <a:r>
              <a:rPr lang="it-IT" sz="2400" dirty="0"/>
              <a:t> tra le sequenze </a:t>
            </a:r>
            <a:r>
              <a:rPr lang="it-IT" sz="2400" dirty="0" err="1">
                <a:solidFill>
                  <a:schemeClr val="hlink"/>
                </a:solidFill>
              </a:rPr>
              <a:t>S</a:t>
            </a:r>
            <a:r>
              <a:rPr lang="it-IT" sz="2400" dirty="0"/>
              <a:t> e </a:t>
            </a:r>
            <a:r>
              <a:rPr lang="it-IT" sz="2400" dirty="0">
                <a:solidFill>
                  <a:schemeClr val="hlink"/>
                </a:solidFill>
              </a:rPr>
              <a:t>T</a:t>
            </a:r>
            <a:endParaRPr lang="it-IT" sz="2400" dirty="0"/>
          </a:p>
          <a:p>
            <a:pPr marL="293688" indent="-293688">
              <a:spcBef>
                <a:spcPct val="80000"/>
              </a:spcBef>
            </a:pPr>
            <a:r>
              <a:rPr lang="it-IT" sz="2400" dirty="0"/>
              <a:t>per </a:t>
            </a:r>
            <a:r>
              <a:rPr lang="it-IT" sz="2400" dirty="0">
                <a:solidFill>
                  <a:schemeClr val="hlink"/>
                </a:solidFill>
              </a:rPr>
              <a:t>i=0 </a:t>
            </a:r>
            <a:r>
              <a:rPr lang="it-IT" sz="2400" dirty="0"/>
              <a:t>e</a:t>
            </a:r>
            <a:r>
              <a:rPr lang="it-IT" sz="2400" dirty="0">
                <a:solidFill>
                  <a:schemeClr val="hlink"/>
                </a:solidFill>
              </a:rPr>
              <a:t> </a:t>
            </a:r>
            <a:r>
              <a:rPr lang="it-IT" sz="2400" dirty="0" err="1">
                <a:solidFill>
                  <a:schemeClr val="hlink"/>
                </a:solidFill>
              </a:rPr>
              <a:t>j</a:t>
            </a:r>
            <a:r>
              <a:rPr lang="it-IT" sz="2400" dirty="0">
                <a:solidFill>
                  <a:schemeClr val="hlink"/>
                </a:solidFill>
              </a:rPr>
              <a:t>&gt;0</a:t>
            </a:r>
            <a:r>
              <a:rPr lang="it-IT" sz="2400" dirty="0"/>
              <a:t>, si ottiene la distanza di </a:t>
            </a:r>
            <a:r>
              <a:rPr lang="it-IT" sz="2400" dirty="0" err="1"/>
              <a:t>edit</a:t>
            </a:r>
            <a:r>
              <a:rPr lang="it-IT" sz="2400" dirty="0"/>
              <a:t> </a:t>
            </a:r>
            <a:r>
              <a:rPr lang="it-IT" sz="2400" dirty="0">
                <a:solidFill>
                  <a:schemeClr val="hlink"/>
                </a:solidFill>
              </a:rPr>
              <a:t>D(0,j)</a:t>
            </a:r>
            <a:r>
              <a:rPr lang="it-IT" sz="2400" dirty="0"/>
              <a:t> tra la parola vuota </a:t>
            </a:r>
            <a:r>
              <a:rPr lang="it-IT" sz="2400" dirty="0">
                <a:solidFill>
                  <a:schemeClr val="hlink"/>
                </a:solidFill>
                <a:latin typeface="Symbol" charset="0"/>
              </a:rPr>
              <a:t>e</a:t>
            </a:r>
            <a:r>
              <a:rPr lang="it-IT" sz="2400" dirty="0"/>
              <a:t> e il prefisso </a:t>
            </a:r>
            <a:r>
              <a:rPr lang="it-IT" sz="2400" dirty="0">
                <a:solidFill>
                  <a:schemeClr val="hlink"/>
                </a:solidFill>
              </a:rPr>
              <a:t>b</a:t>
            </a:r>
            <a:r>
              <a:rPr lang="it-IT" sz="2400" baseline="-25000" dirty="0">
                <a:solidFill>
                  <a:schemeClr val="hlink"/>
                </a:solidFill>
              </a:rPr>
              <a:t>1</a:t>
            </a:r>
            <a:r>
              <a:rPr lang="it-IT" sz="2400" dirty="0">
                <a:solidFill>
                  <a:schemeClr val="hlink"/>
                </a:solidFill>
              </a:rPr>
              <a:t>b</a:t>
            </a:r>
            <a:r>
              <a:rPr lang="it-IT" sz="2400" baseline="-25000" dirty="0">
                <a:solidFill>
                  <a:schemeClr val="hlink"/>
                </a:solidFill>
              </a:rPr>
              <a:t>2</a:t>
            </a:r>
            <a:r>
              <a:rPr lang="it-IT" sz="2400" dirty="0">
                <a:solidFill>
                  <a:schemeClr val="hlink"/>
                </a:solidFill>
              </a:rPr>
              <a:t>…</a:t>
            </a:r>
            <a:r>
              <a:rPr lang="it-IT" sz="2400" dirty="0" err="1">
                <a:solidFill>
                  <a:schemeClr val="hlink"/>
                </a:solidFill>
              </a:rPr>
              <a:t>b</a:t>
            </a:r>
            <a:r>
              <a:rPr lang="it-IT" sz="2400" baseline="-25000" dirty="0" err="1">
                <a:solidFill>
                  <a:schemeClr val="hlink"/>
                </a:solidFill>
              </a:rPr>
              <a:t>j</a:t>
            </a:r>
            <a:r>
              <a:rPr lang="it-IT" sz="2400" dirty="0">
                <a:solidFill>
                  <a:schemeClr val="hlink"/>
                </a:solidFill>
              </a:rPr>
              <a:t> (D(0,j)=</a:t>
            </a:r>
            <a:r>
              <a:rPr lang="it-IT" sz="2400" dirty="0" err="1">
                <a:solidFill>
                  <a:schemeClr val="hlink"/>
                </a:solidFill>
              </a:rPr>
              <a:t>j</a:t>
            </a:r>
            <a:r>
              <a:rPr lang="it-IT" sz="2400" dirty="0">
                <a:solidFill>
                  <a:schemeClr val="hlink"/>
                </a:solidFill>
              </a:rPr>
              <a:t>)</a:t>
            </a:r>
            <a:endParaRPr lang="it-IT" sz="2400" dirty="0"/>
          </a:p>
          <a:p>
            <a:pPr marL="293688" indent="-293688">
              <a:spcBef>
                <a:spcPct val="80000"/>
              </a:spcBef>
            </a:pPr>
            <a:r>
              <a:rPr lang="it-IT" sz="2400" dirty="0"/>
              <a:t>per </a:t>
            </a:r>
            <a:r>
              <a:rPr lang="it-IT" sz="2400" dirty="0">
                <a:solidFill>
                  <a:schemeClr val="hlink"/>
                </a:solidFill>
              </a:rPr>
              <a:t>i&gt;0</a:t>
            </a:r>
            <a:r>
              <a:rPr lang="it-IT" sz="2400" dirty="0"/>
              <a:t> e </a:t>
            </a:r>
            <a:r>
              <a:rPr lang="it-IT" sz="2400" dirty="0" err="1">
                <a:solidFill>
                  <a:schemeClr val="hlink"/>
                </a:solidFill>
              </a:rPr>
              <a:t>j</a:t>
            </a:r>
            <a:r>
              <a:rPr lang="it-IT" sz="2400" dirty="0">
                <a:solidFill>
                  <a:schemeClr val="hlink"/>
                </a:solidFill>
              </a:rPr>
              <a:t>=0</a:t>
            </a:r>
            <a:r>
              <a:rPr lang="it-IT" sz="2400" dirty="0"/>
              <a:t>, si ottiene la distanza di </a:t>
            </a:r>
            <a:r>
              <a:rPr lang="it-IT" sz="2400" dirty="0" err="1"/>
              <a:t>edit</a:t>
            </a:r>
            <a:r>
              <a:rPr lang="it-IT" sz="2400" dirty="0"/>
              <a:t> </a:t>
            </a:r>
            <a:r>
              <a:rPr lang="it-IT" sz="2400" dirty="0">
                <a:solidFill>
                  <a:schemeClr val="hlink"/>
                </a:solidFill>
              </a:rPr>
              <a:t>D(i,0)</a:t>
            </a:r>
            <a:r>
              <a:rPr lang="it-IT" sz="2400" dirty="0"/>
              <a:t> tra il prefisso </a:t>
            </a:r>
            <a:r>
              <a:rPr lang="it-IT" sz="2400" dirty="0">
                <a:solidFill>
                  <a:schemeClr val="hlink"/>
                </a:solidFill>
              </a:rPr>
              <a:t>a</a:t>
            </a:r>
            <a:r>
              <a:rPr lang="it-IT" sz="2400" baseline="-25000" dirty="0">
                <a:solidFill>
                  <a:schemeClr val="hlink"/>
                </a:solidFill>
              </a:rPr>
              <a:t>1</a:t>
            </a:r>
            <a:r>
              <a:rPr lang="it-IT" sz="2400" dirty="0">
                <a:solidFill>
                  <a:schemeClr val="hlink"/>
                </a:solidFill>
              </a:rPr>
              <a:t>a</a:t>
            </a:r>
            <a:r>
              <a:rPr lang="it-IT" sz="2400" baseline="-25000" dirty="0">
                <a:solidFill>
                  <a:schemeClr val="hlink"/>
                </a:solidFill>
              </a:rPr>
              <a:t>2</a:t>
            </a:r>
            <a:r>
              <a:rPr lang="it-IT" sz="2400" dirty="0">
                <a:solidFill>
                  <a:schemeClr val="hlink"/>
                </a:solidFill>
              </a:rPr>
              <a:t>…a</a:t>
            </a:r>
            <a:r>
              <a:rPr lang="it-IT" sz="2400" baseline="-25000" dirty="0">
                <a:solidFill>
                  <a:schemeClr val="hlink"/>
                </a:solidFill>
              </a:rPr>
              <a:t>i</a:t>
            </a:r>
            <a:r>
              <a:rPr lang="it-IT" sz="2400" dirty="0"/>
              <a:t> e la parola vuota </a:t>
            </a:r>
            <a:r>
              <a:rPr lang="it-IT" sz="2400" dirty="0">
                <a:solidFill>
                  <a:schemeClr val="hlink"/>
                </a:solidFill>
                <a:latin typeface="Symbol" charset="0"/>
              </a:rPr>
              <a:t>e</a:t>
            </a:r>
            <a:r>
              <a:rPr lang="it-IT" sz="2400" dirty="0"/>
              <a:t> </a:t>
            </a:r>
            <a:r>
              <a:rPr lang="it-IT" sz="2400" dirty="0">
                <a:solidFill>
                  <a:schemeClr val="hlink"/>
                </a:solidFill>
              </a:rPr>
              <a:t>(D(i,0)=i)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47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Calcolo della distanza di edit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45D4A32-1431-7B4D-B6E9-A1B808148CA0}" type="slidenum">
              <a:rPr lang="en-US"/>
              <a:pPr/>
              <a:t>13</a:t>
            </a:fld>
            <a:endParaRPr lang="en-US" sz="1400">
              <a:latin typeface="Tahoma" charset="0"/>
            </a:endParaRPr>
          </a:p>
        </p:txBody>
      </p:sp>
      <p:sp>
        <p:nvSpPr>
          <p:cNvPr id="33997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412776"/>
            <a:ext cx="8208912" cy="4968552"/>
          </a:xfrm>
        </p:spPr>
        <p:txBody>
          <a:bodyPr/>
          <a:lstStyle/>
          <a:p>
            <a:pPr marL="419100" indent="-419100">
              <a:buFont typeface="Monotype Sorts" charset="0"/>
              <a:buNone/>
            </a:pPr>
            <a:r>
              <a:rPr lang="it-IT" dirty="0">
                <a:solidFill>
                  <a:srgbClr val="008000"/>
                </a:solidFill>
              </a:rPr>
              <a:t>Correttezza</a:t>
            </a:r>
            <a:endParaRPr lang="it-IT" sz="2400" dirty="0"/>
          </a:p>
          <a:p>
            <a:pPr marL="419100" indent="-419100">
              <a:spcBef>
                <a:spcPct val="100000"/>
              </a:spcBef>
              <a:buFont typeface="Arial" charset="0"/>
              <a:buAutoNum type="arabicPeriod"/>
            </a:pPr>
            <a:r>
              <a:rPr lang="it-IT" sz="2000" dirty="0"/>
              <a:t>D(</a:t>
            </a:r>
            <a:r>
              <a:rPr lang="it-IT" sz="2000" dirty="0" err="1"/>
              <a:t>i,j</a:t>
            </a:r>
            <a:r>
              <a:rPr lang="it-IT" sz="2000" dirty="0"/>
              <a:t>) = D(i-1,j)+1, D(i,j-1)+1 oppure  D(i-1,j-1)+t(</a:t>
            </a:r>
            <a:r>
              <a:rPr lang="it-IT" sz="2000" dirty="0" err="1"/>
              <a:t>a</a:t>
            </a:r>
            <a:r>
              <a:rPr lang="it-IT" sz="2000" baseline="-25000" dirty="0" err="1"/>
              <a:t>i</a:t>
            </a:r>
            <a:r>
              <a:rPr lang="it-IT" sz="2000" dirty="0" err="1"/>
              <a:t>,b</a:t>
            </a:r>
            <a:r>
              <a:rPr lang="it-IT" sz="2000" baseline="-25000" dirty="0" err="1"/>
              <a:t>j</a:t>
            </a:r>
            <a:r>
              <a:rPr lang="it-IT" sz="2000" dirty="0"/>
              <a:t>) </a:t>
            </a:r>
            <a:endParaRPr lang="it-IT" dirty="0"/>
          </a:p>
          <a:p>
            <a:pPr marL="419100" indent="-419100">
              <a:spcBef>
                <a:spcPct val="100000"/>
              </a:spcBef>
              <a:buFont typeface="Arial" charset="0"/>
              <a:buNone/>
            </a:pPr>
            <a:r>
              <a:rPr lang="it-IT" sz="2000" dirty="0"/>
              <a:t>	</a:t>
            </a:r>
            <a:r>
              <a:rPr lang="it-IT" sz="2000" dirty="0">
                <a:solidFill>
                  <a:schemeClr val="hlink"/>
                </a:solidFill>
              </a:rPr>
              <a:t>Non ci sono altre possibilità</a:t>
            </a:r>
            <a:endParaRPr lang="it-IT" sz="2000" dirty="0"/>
          </a:p>
          <a:p>
            <a:pPr marL="419100" indent="-419100">
              <a:buFont typeface="Monotype Sorts" charset="0"/>
              <a:buNone/>
            </a:pPr>
            <a:r>
              <a:rPr lang="it-IT" sz="2000" dirty="0"/>
              <a:t>	</a:t>
            </a:r>
            <a:r>
              <a:rPr lang="it-IT" sz="1800" dirty="0">
                <a:solidFill>
                  <a:schemeClr val="hlink"/>
                </a:solidFill>
              </a:rPr>
              <a:t>1.1</a:t>
            </a:r>
            <a:r>
              <a:rPr lang="it-IT" sz="2000" dirty="0"/>
              <a:t> - Sia I l’ultima operazione per ottenere S</a:t>
            </a:r>
            <a:r>
              <a:rPr lang="it-IT" sz="2000" baseline="-25000" dirty="0"/>
              <a:t>2</a:t>
            </a:r>
            <a:r>
              <a:rPr lang="it-IT" sz="2000" dirty="0"/>
              <a:t> da S</a:t>
            </a:r>
            <a:r>
              <a:rPr lang="it-IT" sz="2000" baseline="-25000" dirty="0"/>
              <a:t>1</a:t>
            </a:r>
            <a:endParaRPr lang="it-IT" sz="2000" dirty="0"/>
          </a:p>
          <a:p>
            <a:pPr marL="419100" indent="-419100">
              <a:buFont typeface="Monotype Sorts" charset="0"/>
              <a:buNone/>
            </a:pPr>
            <a:r>
              <a:rPr lang="it-IT" sz="2000" dirty="0"/>
              <a:t>		 Allora D(</a:t>
            </a:r>
            <a:r>
              <a:rPr lang="it-IT" sz="2000" dirty="0" err="1"/>
              <a:t>i,j</a:t>
            </a:r>
            <a:r>
              <a:rPr lang="it-IT" sz="2000" dirty="0"/>
              <a:t>) = D(i,j-1)+1</a:t>
            </a:r>
          </a:p>
          <a:p>
            <a:pPr marL="419100" indent="-419100">
              <a:buFont typeface="Monotype Sorts" charset="0"/>
              <a:buNone/>
            </a:pPr>
            <a:r>
              <a:rPr lang="it-IT" sz="2000" dirty="0"/>
              <a:t>	</a:t>
            </a:r>
            <a:r>
              <a:rPr lang="it-IT" sz="1800" dirty="0">
                <a:solidFill>
                  <a:schemeClr val="hlink"/>
                </a:solidFill>
              </a:rPr>
              <a:t>1.2</a:t>
            </a:r>
            <a:r>
              <a:rPr lang="it-IT" sz="2000" dirty="0"/>
              <a:t> - Sia C l’ultima operazione per ottenere S</a:t>
            </a:r>
            <a:r>
              <a:rPr lang="it-IT" sz="2000" baseline="-25000" dirty="0"/>
              <a:t>2</a:t>
            </a:r>
            <a:r>
              <a:rPr lang="it-IT" sz="2000" dirty="0"/>
              <a:t> da S</a:t>
            </a:r>
            <a:r>
              <a:rPr lang="it-IT" sz="2000" baseline="-25000" dirty="0"/>
              <a:t>1</a:t>
            </a:r>
            <a:endParaRPr lang="it-IT" sz="2000" dirty="0"/>
          </a:p>
          <a:p>
            <a:pPr marL="419100" indent="-419100">
              <a:buFont typeface="Monotype Sorts" charset="0"/>
              <a:buNone/>
            </a:pPr>
            <a:r>
              <a:rPr lang="it-IT" sz="2000" dirty="0"/>
              <a:t>		 Allora D(</a:t>
            </a:r>
            <a:r>
              <a:rPr lang="it-IT" sz="2000" dirty="0" err="1"/>
              <a:t>i,j</a:t>
            </a:r>
            <a:r>
              <a:rPr lang="it-IT" sz="2000" dirty="0"/>
              <a:t>) = D(i-1,j)+1</a:t>
            </a:r>
          </a:p>
          <a:p>
            <a:pPr marL="419100" indent="-419100">
              <a:buFont typeface="Monotype Sorts" charset="0"/>
              <a:buNone/>
            </a:pPr>
            <a:r>
              <a:rPr lang="it-IT" sz="2000" dirty="0"/>
              <a:t>……</a:t>
            </a:r>
          </a:p>
          <a:p>
            <a:pPr marL="419100" indent="-419100">
              <a:buFont typeface="Monotype Sorts" charset="0"/>
              <a:buNone/>
            </a:pPr>
            <a:r>
              <a:rPr lang="it-IT" sz="1800" dirty="0">
                <a:solidFill>
                  <a:schemeClr val="hlink"/>
                </a:solidFill>
              </a:rPr>
              <a:t>2.</a:t>
            </a:r>
            <a:r>
              <a:rPr lang="it-IT" sz="2000" dirty="0"/>
              <a:t> D(</a:t>
            </a:r>
            <a:r>
              <a:rPr lang="it-IT" sz="2000" dirty="0" err="1"/>
              <a:t>i,j</a:t>
            </a:r>
            <a:r>
              <a:rPr lang="it-IT" sz="2000" dirty="0"/>
              <a:t>) ≤ </a:t>
            </a:r>
            <a:r>
              <a:rPr lang="it-IT" sz="2000" dirty="0" err="1"/>
              <a:t>min</a:t>
            </a:r>
            <a:r>
              <a:rPr lang="it-IT" sz="2000" dirty="0"/>
              <a:t> {D(i-1,j)+1, D(i,j-1)+1, D(i-1,j-1)+t(</a:t>
            </a:r>
            <a:r>
              <a:rPr lang="it-IT" sz="2000" dirty="0" err="1"/>
              <a:t>i,j</a:t>
            </a:r>
            <a:r>
              <a:rPr lang="it-IT" sz="2000" dirty="0"/>
              <a:t>)}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Calcolo della distanza di edit</a:t>
            </a:r>
            <a:endParaRPr lang="it-IT"/>
          </a:p>
        </p:txBody>
      </p:sp>
      <p:sp>
        <p:nvSpPr>
          <p:cNvPr id="147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25CC65AD-B218-274B-9B07-D240014B67F0}" type="slidenum">
              <a:rPr lang="en-US"/>
              <a:pPr/>
              <a:t>14</a:t>
            </a:fld>
            <a:endParaRPr lang="en-US" sz="1400">
              <a:latin typeface="Tahoma" charset="0"/>
            </a:endParaRPr>
          </a:p>
        </p:txBody>
      </p:sp>
      <p:sp>
        <p:nvSpPr>
          <p:cNvPr id="4403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23528" y="1340768"/>
            <a:ext cx="8305800" cy="7620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it-IT" sz="2000" dirty="0">
                <a:solidFill>
                  <a:srgbClr val="228030"/>
                </a:solidFill>
              </a:rPr>
              <a:t>Esempio:</a:t>
            </a:r>
            <a:r>
              <a:rPr lang="it-IT" sz="2000" dirty="0"/>
              <a:t> calcolo della distanza di </a:t>
            </a:r>
            <a:r>
              <a:rPr lang="it-IT" sz="2000" dirty="0" err="1"/>
              <a:t>edit</a:t>
            </a:r>
            <a:r>
              <a:rPr lang="it-IT" sz="2000" dirty="0"/>
              <a:t> per </a:t>
            </a:r>
            <a:r>
              <a:rPr lang="it-IT" sz="2000" dirty="0" err="1"/>
              <a:t>S</a:t>
            </a:r>
            <a:r>
              <a:rPr lang="it-IT" sz="2000" dirty="0"/>
              <a:t>=“</a:t>
            </a:r>
            <a:r>
              <a:rPr lang="it-IT" sz="2000" dirty="0" err="1"/>
              <a:t>winter</a:t>
            </a:r>
            <a:r>
              <a:rPr lang="it-IT" sz="2000" dirty="0"/>
              <a:t>” (</a:t>
            </a:r>
            <a:r>
              <a:rPr lang="it-IT" sz="2000" dirty="0" err="1"/>
              <a:t>n</a:t>
            </a:r>
            <a:r>
              <a:rPr lang="it-IT" sz="2000" dirty="0"/>
              <a:t>=6) e 	   T=“</a:t>
            </a:r>
            <a:r>
              <a:rPr lang="it-IT" sz="2000" dirty="0" err="1"/>
              <a:t>writers</a:t>
            </a:r>
            <a:r>
              <a:rPr lang="it-IT" sz="2000" dirty="0"/>
              <a:t>” (m=7)</a:t>
            </a:r>
          </a:p>
        </p:txBody>
      </p:sp>
      <p:grpSp>
        <p:nvGrpSpPr>
          <p:cNvPr id="440324" name="Group 4"/>
          <p:cNvGrpSpPr>
            <a:grpSpLocks/>
          </p:cNvGrpSpPr>
          <p:nvPr/>
        </p:nvGrpSpPr>
        <p:grpSpPr bwMode="auto">
          <a:xfrm>
            <a:off x="3194050" y="2057400"/>
            <a:ext cx="4883150" cy="4318000"/>
            <a:chOff x="2012" y="1296"/>
            <a:chExt cx="3076" cy="2720"/>
          </a:xfrm>
        </p:grpSpPr>
        <p:sp>
          <p:nvSpPr>
            <p:cNvPr id="440325" name="Rectangle 5"/>
            <p:cNvSpPr>
              <a:spLocks noChangeArrowheads="1"/>
            </p:cNvSpPr>
            <p:nvPr/>
          </p:nvSpPr>
          <p:spPr bwMode="auto">
            <a:xfrm>
              <a:off x="2367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26" name="Rectangle 6"/>
            <p:cNvSpPr>
              <a:spLocks noChangeArrowheads="1"/>
            </p:cNvSpPr>
            <p:nvPr/>
          </p:nvSpPr>
          <p:spPr bwMode="auto">
            <a:xfrm>
              <a:off x="2707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27" name="Rectangle 7"/>
            <p:cNvSpPr>
              <a:spLocks noChangeArrowheads="1"/>
            </p:cNvSpPr>
            <p:nvPr/>
          </p:nvSpPr>
          <p:spPr bwMode="auto">
            <a:xfrm>
              <a:off x="3047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28" name="Rectangle 8"/>
            <p:cNvSpPr>
              <a:spLocks noChangeArrowheads="1"/>
            </p:cNvSpPr>
            <p:nvPr/>
          </p:nvSpPr>
          <p:spPr bwMode="auto">
            <a:xfrm>
              <a:off x="3387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29" name="Rectangle 9"/>
            <p:cNvSpPr>
              <a:spLocks noChangeArrowheads="1"/>
            </p:cNvSpPr>
            <p:nvPr/>
          </p:nvSpPr>
          <p:spPr bwMode="auto">
            <a:xfrm>
              <a:off x="3726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30" name="Rectangle 10"/>
            <p:cNvSpPr>
              <a:spLocks noChangeArrowheads="1"/>
            </p:cNvSpPr>
            <p:nvPr/>
          </p:nvSpPr>
          <p:spPr bwMode="auto">
            <a:xfrm>
              <a:off x="4066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31" name="Rectangle 11"/>
            <p:cNvSpPr>
              <a:spLocks noChangeArrowheads="1"/>
            </p:cNvSpPr>
            <p:nvPr/>
          </p:nvSpPr>
          <p:spPr bwMode="auto">
            <a:xfrm>
              <a:off x="4406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32" name="Rectangle 12"/>
            <p:cNvSpPr>
              <a:spLocks noChangeArrowheads="1"/>
            </p:cNvSpPr>
            <p:nvPr/>
          </p:nvSpPr>
          <p:spPr bwMode="auto">
            <a:xfrm>
              <a:off x="4746" y="1638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33" name="Rectangle 13"/>
            <p:cNvSpPr>
              <a:spLocks noChangeArrowheads="1"/>
            </p:cNvSpPr>
            <p:nvPr/>
          </p:nvSpPr>
          <p:spPr bwMode="auto">
            <a:xfrm>
              <a:off x="2370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34" name="Rectangle 14"/>
            <p:cNvSpPr>
              <a:spLocks noChangeArrowheads="1"/>
            </p:cNvSpPr>
            <p:nvPr/>
          </p:nvSpPr>
          <p:spPr bwMode="auto">
            <a:xfrm>
              <a:off x="2710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w</a:t>
              </a:r>
              <a:endParaRPr lang="en-GB"/>
            </a:p>
          </p:txBody>
        </p:sp>
        <p:sp>
          <p:nvSpPr>
            <p:cNvPr id="440335" name="Rectangle 15"/>
            <p:cNvSpPr>
              <a:spLocks noChangeArrowheads="1"/>
            </p:cNvSpPr>
            <p:nvPr/>
          </p:nvSpPr>
          <p:spPr bwMode="auto">
            <a:xfrm>
              <a:off x="3050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r</a:t>
              </a:r>
              <a:endParaRPr lang="en-GB"/>
            </a:p>
          </p:txBody>
        </p:sp>
        <p:sp>
          <p:nvSpPr>
            <p:cNvPr id="440336" name="Rectangle 16"/>
            <p:cNvSpPr>
              <a:spLocks noChangeArrowheads="1"/>
            </p:cNvSpPr>
            <p:nvPr/>
          </p:nvSpPr>
          <p:spPr bwMode="auto">
            <a:xfrm>
              <a:off x="3390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i</a:t>
              </a:r>
              <a:endParaRPr lang="en-GB"/>
            </a:p>
          </p:txBody>
        </p:sp>
        <p:sp>
          <p:nvSpPr>
            <p:cNvPr id="440337" name="Rectangle 17"/>
            <p:cNvSpPr>
              <a:spLocks noChangeArrowheads="1"/>
            </p:cNvSpPr>
            <p:nvPr/>
          </p:nvSpPr>
          <p:spPr bwMode="auto">
            <a:xfrm>
              <a:off x="3728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t</a:t>
              </a:r>
              <a:endParaRPr lang="en-GB"/>
            </a:p>
          </p:txBody>
        </p:sp>
        <p:sp>
          <p:nvSpPr>
            <p:cNvPr id="440338" name="Rectangle 18"/>
            <p:cNvSpPr>
              <a:spLocks noChangeArrowheads="1"/>
            </p:cNvSpPr>
            <p:nvPr/>
          </p:nvSpPr>
          <p:spPr bwMode="auto">
            <a:xfrm>
              <a:off x="4068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e</a:t>
              </a:r>
              <a:endParaRPr lang="en-GB"/>
            </a:p>
          </p:txBody>
        </p:sp>
        <p:sp>
          <p:nvSpPr>
            <p:cNvPr id="440339" name="Rectangle 19"/>
            <p:cNvSpPr>
              <a:spLocks noChangeArrowheads="1"/>
            </p:cNvSpPr>
            <p:nvPr/>
          </p:nvSpPr>
          <p:spPr bwMode="auto">
            <a:xfrm>
              <a:off x="4408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r</a:t>
              </a:r>
              <a:endParaRPr lang="en-GB"/>
            </a:p>
          </p:txBody>
        </p:sp>
        <p:sp>
          <p:nvSpPr>
            <p:cNvPr id="440340" name="Rectangle 20"/>
            <p:cNvSpPr>
              <a:spLocks noChangeArrowheads="1"/>
            </p:cNvSpPr>
            <p:nvPr/>
          </p:nvSpPr>
          <p:spPr bwMode="auto">
            <a:xfrm>
              <a:off x="4748" y="129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s</a:t>
              </a:r>
              <a:endParaRPr lang="en-GB"/>
            </a:p>
          </p:txBody>
        </p:sp>
        <p:sp>
          <p:nvSpPr>
            <p:cNvPr id="440341" name="Rectangle 21"/>
            <p:cNvSpPr>
              <a:spLocks noChangeArrowheads="1"/>
            </p:cNvSpPr>
            <p:nvPr/>
          </p:nvSpPr>
          <p:spPr bwMode="auto">
            <a:xfrm>
              <a:off x="2367" y="1976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42" name="Rectangle 22"/>
            <p:cNvSpPr>
              <a:spLocks noChangeArrowheads="1"/>
            </p:cNvSpPr>
            <p:nvPr/>
          </p:nvSpPr>
          <p:spPr bwMode="auto">
            <a:xfrm>
              <a:off x="2707" y="1976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43" name="Rectangle 23"/>
            <p:cNvSpPr>
              <a:spLocks noChangeArrowheads="1"/>
            </p:cNvSpPr>
            <p:nvPr/>
          </p:nvSpPr>
          <p:spPr bwMode="auto">
            <a:xfrm>
              <a:off x="3047" y="1976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344" name="Rectangle 24"/>
            <p:cNvSpPr>
              <a:spLocks noChangeArrowheads="1"/>
            </p:cNvSpPr>
            <p:nvPr/>
          </p:nvSpPr>
          <p:spPr bwMode="auto">
            <a:xfrm>
              <a:off x="3387" y="1976"/>
              <a:ext cx="340" cy="3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40345" name="Group 25"/>
            <p:cNvGrpSpPr>
              <a:grpSpLocks/>
            </p:cNvGrpSpPr>
            <p:nvPr/>
          </p:nvGrpSpPr>
          <p:grpSpPr bwMode="auto">
            <a:xfrm>
              <a:off x="3726" y="1976"/>
              <a:ext cx="1360" cy="340"/>
              <a:chOff x="3725" y="1976"/>
              <a:chExt cx="1360" cy="340"/>
            </a:xfrm>
          </p:grpSpPr>
          <p:sp>
            <p:nvSpPr>
              <p:cNvPr id="440346" name="Rectangle 26"/>
              <p:cNvSpPr>
                <a:spLocks noChangeArrowheads="1"/>
              </p:cNvSpPr>
              <p:nvPr/>
            </p:nvSpPr>
            <p:spPr bwMode="auto">
              <a:xfrm>
                <a:off x="3725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47" name="Rectangle 27"/>
              <p:cNvSpPr>
                <a:spLocks noChangeArrowheads="1"/>
              </p:cNvSpPr>
              <p:nvPr/>
            </p:nvSpPr>
            <p:spPr bwMode="auto">
              <a:xfrm>
                <a:off x="4065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48" name="Rectangle 28"/>
              <p:cNvSpPr>
                <a:spLocks noChangeArrowheads="1"/>
              </p:cNvSpPr>
              <p:nvPr/>
            </p:nvSpPr>
            <p:spPr bwMode="auto">
              <a:xfrm>
                <a:off x="4405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49" name="Rectangle 29"/>
              <p:cNvSpPr>
                <a:spLocks noChangeArrowheads="1"/>
              </p:cNvSpPr>
              <p:nvPr/>
            </p:nvSpPr>
            <p:spPr bwMode="auto">
              <a:xfrm>
                <a:off x="4745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40350" name="Group 30"/>
            <p:cNvGrpSpPr>
              <a:grpSpLocks/>
            </p:cNvGrpSpPr>
            <p:nvPr/>
          </p:nvGrpSpPr>
          <p:grpSpPr bwMode="auto">
            <a:xfrm>
              <a:off x="2367" y="2316"/>
              <a:ext cx="2719" cy="340"/>
              <a:chOff x="2034" y="2828"/>
              <a:chExt cx="2719" cy="340"/>
            </a:xfrm>
          </p:grpSpPr>
          <p:sp>
            <p:nvSpPr>
              <p:cNvPr id="440351" name="Rectangle 31"/>
              <p:cNvSpPr>
                <a:spLocks noChangeArrowheads="1"/>
              </p:cNvSpPr>
              <p:nvPr/>
            </p:nvSpPr>
            <p:spPr bwMode="auto">
              <a:xfrm>
                <a:off x="203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52" name="Rectangle 32"/>
              <p:cNvSpPr>
                <a:spLocks noChangeArrowheads="1"/>
              </p:cNvSpPr>
              <p:nvPr/>
            </p:nvSpPr>
            <p:spPr bwMode="auto">
              <a:xfrm>
                <a:off x="237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53" name="Rectangle 33"/>
              <p:cNvSpPr>
                <a:spLocks noChangeArrowheads="1"/>
              </p:cNvSpPr>
              <p:nvPr/>
            </p:nvSpPr>
            <p:spPr bwMode="auto">
              <a:xfrm>
                <a:off x="271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54" name="Rectangle 34"/>
              <p:cNvSpPr>
                <a:spLocks noChangeArrowheads="1"/>
              </p:cNvSpPr>
              <p:nvPr/>
            </p:nvSpPr>
            <p:spPr bwMode="auto">
              <a:xfrm>
                <a:off x="305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55" name="Rectangle 35"/>
              <p:cNvSpPr>
                <a:spLocks noChangeArrowheads="1"/>
              </p:cNvSpPr>
              <p:nvPr/>
            </p:nvSpPr>
            <p:spPr bwMode="auto">
              <a:xfrm>
                <a:off x="339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56" name="Rectangle 36"/>
              <p:cNvSpPr>
                <a:spLocks noChangeArrowheads="1"/>
              </p:cNvSpPr>
              <p:nvPr/>
            </p:nvSpPr>
            <p:spPr bwMode="auto">
              <a:xfrm>
                <a:off x="373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57" name="Rectangle 37"/>
              <p:cNvSpPr>
                <a:spLocks noChangeArrowheads="1"/>
              </p:cNvSpPr>
              <p:nvPr/>
            </p:nvSpPr>
            <p:spPr bwMode="auto">
              <a:xfrm>
                <a:off x="407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58" name="Rectangle 38"/>
              <p:cNvSpPr>
                <a:spLocks noChangeArrowheads="1"/>
              </p:cNvSpPr>
              <p:nvPr/>
            </p:nvSpPr>
            <p:spPr bwMode="auto">
              <a:xfrm>
                <a:off x="441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40359" name="Group 39"/>
            <p:cNvGrpSpPr>
              <a:grpSpLocks/>
            </p:cNvGrpSpPr>
            <p:nvPr/>
          </p:nvGrpSpPr>
          <p:grpSpPr bwMode="auto">
            <a:xfrm>
              <a:off x="2367" y="2656"/>
              <a:ext cx="2719" cy="340"/>
              <a:chOff x="2034" y="2828"/>
              <a:chExt cx="2719" cy="340"/>
            </a:xfrm>
          </p:grpSpPr>
          <p:sp>
            <p:nvSpPr>
              <p:cNvPr id="440360" name="Rectangle 40"/>
              <p:cNvSpPr>
                <a:spLocks noChangeArrowheads="1"/>
              </p:cNvSpPr>
              <p:nvPr/>
            </p:nvSpPr>
            <p:spPr bwMode="auto">
              <a:xfrm>
                <a:off x="203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61" name="Rectangle 41"/>
              <p:cNvSpPr>
                <a:spLocks noChangeArrowheads="1"/>
              </p:cNvSpPr>
              <p:nvPr/>
            </p:nvSpPr>
            <p:spPr bwMode="auto">
              <a:xfrm>
                <a:off x="237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62" name="Rectangle 42"/>
              <p:cNvSpPr>
                <a:spLocks noChangeArrowheads="1"/>
              </p:cNvSpPr>
              <p:nvPr/>
            </p:nvSpPr>
            <p:spPr bwMode="auto">
              <a:xfrm>
                <a:off x="271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63" name="Rectangle 43"/>
              <p:cNvSpPr>
                <a:spLocks noChangeArrowheads="1"/>
              </p:cNvSpPr>
              <p:nvPr/>
            </p:nvSpPr>
            <p:spPr bwMode="auto">
              <a:xfrm>
                <a:off x="305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64" name="Rectangle 44"/>
              <p:cNvSpPr>
                <a:spLocks noChangeArrowheads="1"/>
              </p:cNvSpPr>
              <p:nvPr/>
            </p:nvSpPr>
            <p:spPr bwMode="auto">
              <a:xfrm>
                <a:off x="339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65" name="Rectangle 45"/>
              <p:cNvSpPr>
                <a:spLocks noChangeArrowheads="1"/>
              </p:cNvSpPr>
              <p:nvPr/>
            </p:nvSpPr>
            <p:spPr bwMode="auto">
              <a:xfrm>
                <a:off x="373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66" name="Rectangle 46"/>
              <p:cNvSpPr>
                <a:spLocks noChangeArrowheads="1"/>
              </p:cNvSpPr>
              <p:nvPr/>
            </p:nvSpPr>
            <p:spPr bwMode="auto">
              <a:xfrm>
                <a:off x="407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67" name="Rectangle 47"/>
              <p:cNvSpPr>
                <a:spLocks noChangeArrowheads="1"/>
              </p:cNvSpPr>
              <p:nvPr/>
            </p:nvSpPr>
            <p:spPr bwMode="auto">
              <a:xfrm>
                <a:off x="441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40368" name="Group 48"/>
            <p:cNvGrpSpPr>
              <a:grpSpLocks/>
            </p:cNvGrpSpPr>
            <p:nvPr/>
          </p:nvGrpSpPr>
          <p:grpSpPr bwMode="auto">
            <a:xfrm>
              <a:off x="2367" y="2996"/>
              <a:ext cx="2719" cy="340"/>
              <a:chOff x="2034" y="2828"/>
              <a:chExt cx="2719" cy="340"/>
            </a:xfrm>
          </p:grpSpPr>
          <p:sp>
            <p:nvSpPr>
              <p:cNvPr id="440369" name="Rectangle 49"/>
              <p:cNvSpPr>
                <a:spLocks noChangeArrowheads="1"/>
              </p:cNvSpPr>
              <p:nvPr/>
            </p:nvSpPr>
            <p:spPr bwMode="auto">
              <a:xfrm>
                <a:off x="203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0" name="Rectangle 50"/>
              <p:cNvSpPr>
                <a:spLocks noChangeArrowheads="1"/>
              </p:cNvSpPr>
              <p:nvPr/>
            </p:nvSpPr>
            <p:spPr bwMode="auto">
              <a:xfrm>
                <a:off x="237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1" name="Rectangle 51"/>
              <p:cNvSpPr>
                <a:spLocks noChangeArrowheads="1"/>
              </p:cNvSpPr>
              <p:nvPr/>
            </p:nvSpPr>
            <p:spPr bwMode="auto">
              <a:xfrm>
                <a:off x="271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2" name="Rectangle 52"/>
              <p:cNvSpPr>
                <a:spLocks noChangeArrowheads="1"/>
              </p:cNvSpPr>
              <p:nvPr/>
            </p:nvSpPr>
            <p:spPr bwMode="auto">
              <a:xfrm>
                <a:off x="305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3" name="Rectangle 53"/>
              <p:cNvSpPr>
                <a:spLocks noChangeArrowheads="1"/>
              </p:cNvSpPr>
              <p:nvPr/>
            </p:nvSpPr>
            <p:spPr bwMode="auto">
              <a:xfrm>
                <a:off x="339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4" name="Rectangle 54"/>
              <p:cNvSpPr>
                <a:spLocks noChangeArrowheads="1"/>
              </p:cNvSpPr>
              <p:nvPr/>
            </p:nvSpPr>
            <p:spPr bwMode="auto">
              <a:xfrm>
                <a:off x="373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5" name="Rectangle 55"/>
              <p:cNvSpPr>
                <a:spLocks noChangeArrowheads="1"/>
              </p:cNvSpPr>
              <p:nvPr/>
            </p:nvSpPr>
            <p:spPr bwMode="auto">
              <a:xfrm>
                <a:off x="407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6" name="Rectangle 56"/>
              <p:cNvSpPr>
                <a:spLocks noChangeArrowheads="1"/>
              </p:cNvSpPr>
              <p:nvPr/>
            </p:nvSpPr>
            <p:spPr bwMode="auto">
              <a:xfrm>
                <a:off x="441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40377" name="Group 57"/>
            <p:cNvGrpSpPr>
              <a:grpSpLocks/>
            </p:cNvGrpSpPr>
            <p:nvPr/>
          </p:nvGrpSpPr>
          <p:grpSpPr bwMode="auto">
            <a:xfrm>
              <a:off x="2367" y="3336"/>
              <a:ext cx="2719" cy="340"/>
              <a:chOff x="2034" y="2828"/>
              <a:chExt cx="2719" cy="340"/>
            </a:xfrm>
          </p:grpSpPr>
          <p:sp>
            <p:nvSpPr>
              <p:cNvPr id="440378" name="Rectangle 58"/>
              <p:cNvSpPr>
                <a:spLocks noChangeArrowheads="1"/>
              </p:cNvSpPr>
              <p:nvPr/>
            </p:nvSpPr>
            <p:spPr bwMode="auto">
              <a:xfrm>
                <a:off x="203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79" name="Rectangle 59"/>
              <p:cNvSpPr>
                <a:spLocks noChangeArrowheads="1"/>
              </p:cNvSpPr>
              <p:nvPr/>
            </p:nvSpPr>
            <p:spPr bwMode="auto">
              <a:xfrm>
                <a:off x="237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0" name="Rectangle 60"/>
              <p:cNvSpPr>
                <a:spLocks noChangeArrowheads="1"/>
              </p:cNvSpPr>
              <p:nvPr/>
            </p:nvSpPr>
            <p:spPr bwMode="auto">
              <a:xfrm>
                <a:off x="271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1" name="Rectangle 61"/>
              <p:cNvSpPr>
                <a:spLocks noChangeArrowheads="1"/>
              </p:cNvSpPr>
              <p:nvPr/>
            </p:nvSpPr>
            <p:spPr bwMode="auto">
              <a:xfrm>
                <a:off x="305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2" name="Rectangle 62"/>
              <p:cNvSpPr>
                <a:spLocks noChangeArrowheads="1"/>
              </p:cNvSpPr>
              <p:nvPr/>
            </p:nvSpPr>
            <p:spPr bwMode="auto">
              <a:xfrm>
                <a:off x="339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3" name="Rectangle 63"/>
              <p:cNvSpPr>
                <a:spLocks noChangeArrowheads="1"/>
              </p:cNvSpPr>
              <p:nvPr/>
            </p:nvSpPr>
            <p:spPr bwMode="auto">
              <a:xfrm>
                <a:off x="373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4" name="Rectangle 64"/>
              <p:cNvSpPr>
                <a:spLocks noChangeArrowheads="1"/>
              </p:cNvSpPr>
              <p:nvPr/>
            </p:nvSpPr>
            <p:spPr bwMode="auto">
              <a:xfrm>
                <a:off x="407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5" name="Rectangle 65"/>
              <p:cNvSpPr>
                <a:spLocks noChangeArrowheads="1"/>
              </p:cNvSpPr>
              <p:nvPr/>
            </p:nvSpPr>
            <p:spPr bwMode="auto">
              <a:xfrm>
                <a:off x="441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40386" name="Group 66"/>
            <p:cNvGrpSpPr>
              <a:grpSpLocks/>
            </p:cNvGrpSpPr>
            <p:nvPr/>
          </p:nvGrpSpPr>
          <p:grpSpPr bwMode="auto">
            <a:xfrm>
              <a:off x="2367" y="3676"/>
              <a:ext cx="2719" cy="340"/>
              <a:chOff x="2034" y="2828"/>
              <a:chExt cx="2719" cy="340"/>
            </a:xfrm>
          </p:grpSpPr>
          <p:sp>
            <p:nvSpPr>
              <p:cNvPr id="440387" name="Rectangle 67"/>
              <p:cNvSpPr>
                <a:spLocks noChangeArrowheads="1"/>
              </p:cNvSpPr>
              <p:nvPr/>
            </p:nvSpPr>
            <p:spPr bwMode="auto">
              <a:xfrm>
                <a:off x="203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8" name="Rectangle 68"/>
              <p:cNvSpPr>
                <a:spLocks noChangeArrowheads="1"/>
              </p:cNvSpPr>
              <p:nvPr/>
            </p:nvSpPr>
            <p:spPr bwMode="auto">
              <a:xfrm>
                <a:off x="237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89" name="Rectangle 69"/>
              <p:cNvSpPr>
                <a:spLocks noChangeArrowheads="1"/>
              </p:cNvSpPr>
              <p:nvPr/>
            </p:nvSpPr>
            <p:spPr bwMode="auto">
              <a:xfrm>
                <a:off x="271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90" name="Rectangle 70"/>
              <p:cNvSpPr>
                <a:spLocks noChangeArrowheads="1"/>
              </p:cNvSpPr>
              <p:nvPr/>
            </p:nvSpPr>
            <p:spPr bwMode="auto">
              <a:xfrm>
                <a:off x="3054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91" name="Rectangle 71"/>
              <p:cNvSpPr>
                <a:spLocks noChangeArrowheads="1"/>
              </p:cNvSpPr>
              <p:nvPr/>
            </p:nvSpPr>
            <p:spPr bwMode="auto">
              <a:xfrm>
                <a:off x="339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92" name="Rectangle 72"/>
              <p:cNvSpPr>
                <a:spLocks noChangeArrowheads="1"/>
              </p:cNvSpPr>
              <p:nvPr/>
            </p:nvSpPr>
            <p:spPr bwMode="auto">
              <a:xfrm>
                <a:off x="373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93" name="Rectangle 73"/>
              <p:cNvSpPr>
                <a:spLocks noChangeArrowheads="1"/>
              </p:cNvSpPr>
              <p:nvPr/>
            </p:nvSpPr>
            <p:spPr bwMode="auto">
              <a:xfrm>
                <a:off x="407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0394" name="Rectangle 74"/>
              <p:cNvSpPr>
                <a:spLocks noChangeArrowheads="1"/>
              </p:cNvSpPr>
              <p:nvPr/>
            </p:nvSpPr>
            <p:spPr bwMode="auto">
              <a:xfrm>
                <a:off x="4413" y="282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40395" name="Rectangle 75"/>
            <p:cNvSpPr>
              <a:spLocks noChangeArrowheads="1"/>
            </p:cNvSpPr>
            <p:nvPr/>
          </p:nvSpPr>
          <p:spPr bwMode="auto">
            <a:xfrm>
              <a:off x="2012" y="1964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w</a:t>
              </a:r>
              <a:endParaRPr lang="en-GB"/>
            </a:p>
          </p:txBody>
        </p:sp>
        <p:sp>
          <p:nvSpPr>
            <p:cNvPr id="440396" name="Rectangle 76"/>
            <p:cNvSpPr>
              <a:spLocks noChangeArrowheads="1"/>
            </p:cNvSpPr>
            <p:nvPr/>
          </p:nvSpPr>
          <p:spPr bwMode="auto">
            <a:xfrm>
              <a:off x="2012" y="2640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n</a:t>
              </a:r>
              <a:endParaRPr lang="en-GB"/>
            </a:p>
          </p:txBody>
        </p:sp>
        <p:sp>
          <p:nvSpPr>
            <p:cNvPr id="440397" name="Rectangle 77"/>
            <p:cNvSpPr>
              <a:spLocks noChangeArrowheads="1"/>
            </p:cNvSpPr>
            <p:nvPr/>
          </p:nvSpPr>
          <p:spPr bwMode="auto">
            <a:xfrm>
              <a:off x="2016" y="2976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t</a:t>
              </a:r>
              <a:endParaRPr lang="en-GB"/>
            </a:p>
          </p:txBody>
        </p:sp>
        <p:sp>
          <p:nvSpPr>
            <p:cNvPr id="440398" name="Rectangle 78"/>
            <p:cNvSpPr>
              <a:spLocks noChangeArrowheads="1"/>
            </p:cNvSpPr>
            <p:nvPr/>
          </p:nvSpPr>
          <p:spPr bwMode="auto">
            <a:xfrm>
              <a:off x="2016" y="2304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i</a:t>
              </a:r>
              <a:endParaRPr lang="en-GB"/>
            </a:p>
          </p:txBody>
        </p:sp>
        <p:sp>
          <p:nvSpPr>
            <p:cNvPr id="440399" name="Rectangle 79"/>
            <p:cNvSpPr>
              <a:spLocks noChangeArrowheads="1"/>
            </p:cNvSpPr>
            <p:nvPr/>
          </p:nvSpPr>
          <p:spPr bwMode="auto">
            <a:xfrm>
              <a:off x="2016" y="3312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e</a:t>
              </a:r>
              <a:endParaRPr lang="en-GB"/>
            </a:p>
          </p:txBody>
        </p:sp>
        <p:sp>
          <p:nvSpPr>
            <p:cNvPr id="440400" name="Rectangle 80"/>
            <p:cNvSpPr>
              <a:spLocks noChangeArrowheads="1"/>
            </p:cNvSpPr>
            <p:nvPr/>
          </p:nvSpPr>
          <p:spPr bwMode="auto">
            <a:xfrm>
              <a:off x="2016" y="3648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600"/>
                <a:t>r</a:t>
              </a:r>
              <a:endParaRPr lang="en-GB"/>
            </a:p>
          </p:txBody>
        </p:sp>
      </p:grpSp>
      <p:sp>
        <p:nvSpPr>
          <p:cNvPr id="440401" name="Rectangle 81"/>
          <p:cNvSpPr>
            <a:spLocks noChangeArrowheads="1"/>
          </p:cNvSpPr>
          <p:nvPr/>
        </p:nvSpPr>
        <p:spPr bwMode="auto">
          <a:xfrm>
            <a:off x="533400" y="2438400"/>
            <a:ext cx="2514600" cy="38100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Si costruisca la</a:t>
            </a:r>
          </a:p>
          <a:p>
            <a:r>
              <a:rPr lang="en-GB" sz="2000" b="1">
                <a:latin typeface="Arial" charset="0"/>
              </a:rPr>
              <a:t>matrice D di n+1</a:t>
            </a:r>
          </a:p>
          <a:p>
            <a:r>
              <a:rPr lang="en-GB" sz="2000" b="1">
                <a:latin typeface="Arial" charset="0"/>
              </a:rPr>
              <a:t>(6+1) righe e m+1</a:t>
            </a:r>
          </a:p>
          <a:p>
            <a:r>
              <a:rPr lang="en-GB" sz="2000" b="1">
                <a:latin typeface="Arial" charset="0"/>
              </a:rPr>
              <a:t>(7+1) colonne</a:t>
            </a:r>
          </a:p>
        </p:txBody>
      </p:sp>
      <p:sp>
        <p:nvSpPr>
          <p:cNvPr id="440402" name="Rectangle 82"/>
          <p:cNvSpPr>
            <a:spLocks noChangeArrowheads="1"/>
          </p:cNvSpPr>
          <p:nvPr/>
        </p:nvSpPr>
        <p:spPr bwMode="auto">
          <a:xfrm>
            <a:off x="531813" y="2439988"/>
            <a:ext cx="2514600" cy="38100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Si riempiano le</a:t>
            </a:r>
          </a:p>
          <a:p>
            <a:r>
              <a:rPr lang="en-GB" sz="2000" b="1">
                <a:latin typeface="Arial" charset="0"/>
              </a:rPr>
              <a:t>celle D(0,j) e D(i,0)</a:t>
            </a:r>
          </a:p>
          <a:p>
            <a:r>
              <a:rPr lang="en-GB" sz="2000" b="1">
                <a:latin typeface="Arial" charset="0"/>
              </a:rPr>
              <a:t>con i rispettivi</a:t>
            </a:r>
          </a:p>
          <a:p>
            <a:r>
              <a:rPr lang="en-GB" sz="2000" b="1">
                <a:latin typeface="Arial" charset="0"/>
              </a:rPr>
              <a:t>valori dei casi base</a:t>
            </a:r>
          </a:p>
          <a:p>
            <a:r>
              <a:rPr lang="en-GB" sz="2000" b="1">
                <a:latin typeface="Arial" charset="0"/>
              </a:rPr>
              <a:t>j e i</a:t>
            </a:r>
          </a:p>
        </p:txBody>
      </p:sp>
      <p:sp>
        <p:nvSpPr>
          <p:cNvPr id="440403" name="Rectangle 83"/>
          <p:cNvSpPr>
            <a:spLocks noChangeArrowheads="1"/>
          </p:cNvSpPr>
          <p:nvPr/>
        </p:nvSpPr>
        <p:spPr bwMode="auto">
          <a:xfrm>
            <a:off x="3756025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0</a:t>
            </a:r>
            <a:endParaRPr lang="en-GB"/>
          </a:p>
        </p:txBody>
      </p:sp>
      <p:sp>
        <p:nvSpPr>
          <p:cNvPr id="440404" name="Rectangle 84"/>
          <p:cNvSpPr>
            <a:spLocks noChangeArrowheads="1"/>
          </p:cNvSpPr>
          <p:nvPr/>
        </p:nvSpPr>
        <p:spPr bwMode="auto">
          <a:xfrm>
            <a:off x="4295775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1</a:t>
            </a:r>
            <a:endParaRPr lang="en-GB"/>
          </a:p>
        </p:txBody>
      </p:sp>
      <p:sp>
        <p:nvSpPr>
          <p:cNvPr id="440405" name="Rectangle 85"/>
          <p:cNvSpPr>
            <a:spLocks noChangeArrowheads="1"/>
          </p:cNvSpPr>
          <p:nvPr/>
        </p:nvSpPr>
        <p:spPr bwMode="auto">
          <a:xfrm>
            <a:off x="9248775" y="2057400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06" name="Rectangle 86"/>
          <p:cNvSpPr>
            <a:spLocks noChangeArrowheads="1"/>
          </p:cNvSpPr>
          <p:nvPr/>
        </p:nvSpPr>
        <p:spPr bwMode="auto">
          <a:xfrm>
            <a:off x="4835525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07" name="Rectangle 87"/>
          <p:cNvSpPr>
            <a:spLocks noChangeArrowheads="1"/>
          </p:cNvSpPr>
          <p:nvPr/>
        </p:nvSpPr>
        <p:spPr bwMode="auto">
          <a:xfrm>
            <a:off x="5375275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08" name="Rectangle 88"/>
          <p:cNvSpPr>
            <a:spLocks noChangeArrowheads="1"/>
          </p:cNvSpPr>
          <p:nvPr/>
        </p:nvSpPr>
        <p:spPr bwMode="auto">
          <a:xfrm>
            <a:off x="5915025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09" name="Rectangle 89"/>
          <p:cNvSpPr>
            <a:spLocks noChangeArrowheads="1"/>
          </p:cNvSpPr>
          <p:nvPr/>
        </p:nvSpPr>
        <p:spPr bwMode="auto">
          <a:xfrm>
            <a:off x="6456363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10" name="Rectangle 90"/>
          <p:cNvSpPr>
            <a:spLocks noChangeArrowheads="1"/>
          </p:cNvSpPr>
          <p:nvPr/>
        </p:nvSpPr>
        <p:spPr bwMode="auto">
          <a:xfrm>
            <a:off x="6996113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6</a:t>
            </a:r>
            <a:endParaRPr lang="en-GB"/>
          </a:p>
        </p:txBody>
      </p:sp>
      <p:sp>
        <p:nvSpPr>
          <p:cNvPr id="440411" name="Rectangle 91"/>
          <p:cNvSpPr>
            <a:spLocks noChangeArrowheads="1"/>
          </p:cNvSpPr>
          <p:nvPr/>
        </p:nvSpPr>
        <p:spPr bwMode="auto">
          <a:xfrm>
            <a:off x="7535863" y="2601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7</a:t>
            </a:r>
            <a:endParaRPr lang="en-GB"/>
          </a:p>
        </p:txBody>
      </p:sp>
      <p:sp>
        <p:nvSpPr>
          <p:cNvPr id="440412" name="Rectangle 92"/>
          <p:cNvSpPr>
            <a:spLocks noChangeArrowheads="1"/>
          </p:cNvSpPr>
          <p:nvPr/>
        </p:nvSpPr>
        <p:spPr bwMode="auto">
          <a:xfrm>
            <a:off x="3756025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1</a:t>
            </a:r>
            <a:endParaRPr lang="en-GB"/>
          </a:p>
        </p:txBody>
      </p:sp>
      <p:sp>
        <p:nvSpPr>
          <p:cNvPr id="440413" name="Rectangle 93"/>
          <p:cNvSpPr>
            <a:spLocks noChangeArrowheads="1"/>
          </p:cNvSpPr>
          <p:nvPr/>
        </p:nvSpPr>
        <p:spPr bwMode="auto">
          <a:xfrm>
            <a:off x="3756025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14" name="Rectangle 94"/>
          <p:cNvSpPr>
            <a:spLocks noChangeArrowheads="1"/>
          </p:cNvSpPr>
          <p:nvPr/>
        </p:nvSpPr>
        <p:spPr bwMode="auto">
          <a:xfrm>
            <a:off x="3756025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15" name="Rectangle 95"/>
          <p:cNvSpPr>
            <a:spLocks noChangeArrowheads="1"/>
          </p:cNvSpPr>
          <p:nvPr/>
        </p:nvSpPr>
        <p:spPr bwMode="auto">
          <a:xfrm>
            <a:off x="3756025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16" name="Rectangle 96"/>
          <p:cNvSpPr>
            <a:spLocks noChangeArrowheads="1"/>
          </p:cNvSpPr>
          <p:nvPr/>
        </p:nvSpPr>
        <p:spPr bwMode="auto">
          <a:xfrm>
            <a:off x="3756025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17" name="Rectangle 97"/>
          <p:cNvSpPr>
            <a:spLocks noChangeArrowheads="1"/>
          </p:cNvSpPr>
          <p:nvPr/>
        </p:nvSpPr>
        <p:spPr bwMode="auto">
          <a:xfrm>
            <a:off x="3756025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6</a:t>
            </a:r>
            <a:endParaRPr lang="en-GB"/>
          </a:p>
        </p:txBody>
      </p:sp>
      <p:sp>
        <p:nvSpPr>
          <p:cNvPr id="440418" name="Rectangle 98"/>
          <p:cNvSpPr>
            <a:spLocks noChangeArrowheads="1"/>
          </p:cNvSpPr>
          <p:nvPr/>
        </p:nvSpPr>
        <p:spPr bwMode="auto">
          <a:xfrm>
            <a:off x="531813" y="2439988"/>
            <a:ext cx="2514600" cy="38100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La cella (1,1) avrà</a:t>
            </a:r>
          </a:p>
          <a:p>
            <a:r>
              <a:rPr lang="en-GB" sz="2000" b="1">
                <a:latin typeface="Arial" charset="0"/>
              </a:rPr>
              <a:t>valore D(1,1) dato</a:t>
            </a:r>
          </a:p>
          <a:p>
            <a:r>
              <a:rPr lang="en-GB" sz="2000" b="1">
                <a:latin typeface="Arial" charset="0"/>
              </a:rPr>
              <a:t>dal minimo tra:</a:t>
            </a:r>
          </a:p>
          <a:p>
            <a:r>
              <a:rPr lang="en-GB" sz="2000" b="1">
                <a:latin typeface="Arial" charset="0"/>
              </a:rPr>
              <a:t>- D(0,0)+t(w,w)=0</a:t>
            </a:r>
          </a:p>
          <a:p>
            <a:r>
              <a:rPr lang="en-GB" sz="2000" b="1">
                <a:latin typeface="Arial" charset="0"/>
              </a:rPr>
              <a:t>- D(0,1)+1=2</a:t>
            </a:r>
          </a:p>
          <a:p>
            <a:r>
              <a:rPr lang="en-GB" sz="2000" b="1">
                <a:latin typeface="Arial" charset="0"/>
              </a:rPr>
              <a:t>- D(1,0)+1=2</a:t>
            </a:r>
          </a:p>
          <a:p>
            <a:r>
              <a:rPr lang="en-GB" sz="2000" b="1">
                <a:latin typeface="Arial" charset="0"/>
              </a:rPr>
              <a:t>Quindi:</a:t>
            </a:r>
          </a:p>
          <a:p>
            <a:r>
              <a:rPr lang="en-GB" sz="2000" b="1">
                <a:latin typeface="Arial" charset="0"/>
              </a:rPr>
              <a:t>D(1,1)=0</a:t>
            </a:r>
          </a:p>
          <a:p>
            <a:r>
              <a:rPr lang="en-GB" sz="2000" b="1">
                <a:latin typeface="Arial" charset="0"/>
              </a:rPr>
              <a:t> </a:t>
            </a:r>
          </a:p>
          <a:p>
            <a:endParaRPr lang="en-GB" sz="2000" b="1">
              <a:latin typeface="Arial" charset="0"/>
            </a:endParaRPr>
          </a:p>
        </p:txBody>
      </p:sp>
      <p:sp>
        <p:nvSpPr>
          <p:cNvPr id="440419" name="Rectangle 99"/>
          <p:cNvSpPr>
            <a:spLocks noChangeArrowheads="1"/>
          </p:cNvSpPr>
          <p:nvPr/>
        </p:nvSpPr>
        <p:spPr bwMode="auto">
          <a:xfrm>
            <a:off x="4295775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0</a:t>
            </a:r>
            <a:endParaRPr lang="en-GB"/>
          </a:p>
        </p:txBody>
      </p:sp>
      <p:sp>
        <p:nvSpPr>
          <p:cNvPr id="440420" name="Rectangle 100"/>
          <p:cNvSpPr>
            <a:spLocks noChangeArrowheads="1"/>
          </p:cNvSpPr>
          <p:nvPr/>
        </p:nvSpPr>
        <p:spPr bwMode="auto">
          <a:xfrm>
            <a:off x="531813" y="2439988"/>
            <a:ext cx="2514600" cy="38100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La cella (1,2) avrà</a:t>
            </a:r>
          </a:p>
          <a:p>
            <a:r>
              <a:rPr lang="en-GB" sz="2000" b="1">
                <a:latin typeface="Arial" charset="0"/>
              </a:rPr>
              <a:t>valore D(1,2) dato</a:t>
            </a:r>
          </a:p>
          <a:p>
            <a:r>
              <a:rPr lang="en-GB" sz="2000" b="1">
                <a:latin typeface="Arial" charset="0"/>
              </a:rPr>
              <a:t>dal minimo tra:</a:t>
            </a:r>
          </a:p>
          <a:p>
            <a:r>
              <a:rPr lang="en-GB" sz="2000" b="1">
                <a:latin typeface="Arial" charset="0"/>
              </a:rPr>
              <a:t>- D(0,1)+t(w,r)=2</a:t>
            </a:r>
          </a:p>
          <a:p>
            <a:r>
              <a:rPr lang="en-GB" sz="2000" b="1">
                <a:latin typeface="Arial" charset="0"/>
              </a:rPr>
              <a:t>- D(0,2)+1=3</a:t>
            </a:r>
          </a:p>
          <a:p>
            <a:r>
              <a:rPr lang="en-GB" sz="2000" b="1">
                <a:latin typeface="Arial" charset="0"/>
              </a:rPr>
              <a:t>- D(1,1)+1=1</a:t>
            </a:r>
          </a:p>
          <a:p>
            <a:r>
              <a:rPr lang="en-GB" sz="2000" b="1">
                <a:latin typeface="Arial" charset="0"/>
              </a:rPr>
              <a:t>Quindi:</a:t>
            </a:r>
          </a:p>
          <a:p>
            <a:r>
              <a:rPr lang="en-GB" sz="2000" b="1">
                <a:latin typeface="Arial" charset="0"/>
              </a:rPr>
              <a:t>D(1,2)=1</a:t>
            </a:r>
          </a:p>
          <a:p>
            <a:r>
              <a:rPr lang="en-GB" sz="2000" b="1">
                <a:latin typeface="Arial" charset="0"/>
              </a:rPr>
              <a:t> </a:t>
            </a:r>
          </a:p>
          <a:p>
            <a:endParaRPr lang="en-GB" sz="2000" b="1">
              <a:latin typeface="Arial" charset="0"/>
            </a:endParaRPr>
          </a:p>
        </p:txBody>
      </p:sp>
      <p:sp>
        <p:nvSpPr>
          <p:cNvPr id="440421" name="Rectangle 101"/>
          <p:cNvSpPr>
            <a:spLocks noChangeArrowheads="1"/>
          </p:cNvSpPr>
          <p:nvPr/>
        </p:nvSpPr>
        <p:spPr bwMode="auto">
          <a:xfrm>
            <a:off x="4835525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1</a:t>
            </a:r>
            <a:endParaRPr lang="en-GB"/>
          </a:p>
        </p:txBody>
      </p:sp>
      <p:sp>
        <p:nvSpPr>
          <p:cNvPr id="440422" name="Rectangle 102"/>
          <p:cNvSpPr>
            <a:spLocks noChangeArrowheads="1"/>
          </p:cNvSpPr>
          <p:nvPr/>
        </p:nvSpPr>
        <p:spPr bwMode="auto">
          <a:xfrm>
            <a:off x="531813" y="2439988"/>
            <a:ext cx="2514600" cy="38100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…e così di seguito</a:t>
            </a:r>
          </a:p>
          <a:p>
            <a:r>
              <a:rPr lang="en-GB" sz="2000" b="1">
                <a:latin typeface="Arial" charset="0"/>
              </a:rPr>
              <a:t> </a:t>
            </a:r>
          </a:p>
          <a:p>
            <a:endParaRPr lang="en-GB" sz="2000" b="1">
              <a:latin typeface="Arial" charset="0"/>
            </a:endParaRPr>
          </a:p>
        </p:txBody>
      </p:sp>
      <p:sp>
        <p:nvSpPr>
          <p:cNvPr id="440423" name="Rectangle 103"/>
          <p:cNvSpPr>
            <a:spLocks noChangeArrowheads="1"/>
          </p:cNvSpPr>
          <p:nvPr/>
        </p:nvSpPr>
        <p:spPr bwMode="auto">
          <a:xfrm>
            <a:off x="5375275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24" name="Rectangle 104"/>
          <p:cNvSpPr>
            <a:spLocks noChangeArrowheads="1"/>
          </p:cNvSpPr>
          <p:nvPr/>
        </p:nvSpPr>
        <p:spPr bwMode="auto">
          <a:xfrm>
            <a:off x="5915025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25" name="Rectangle 105"/>
          <p:cNvSpPr>
            <a:spLocks noChangeArrowheads="1"/>
          </p:cNvSpPr>
          <p:nvPr/>
        </p:nvSpPr>
        <p:spPr bwMode="auto">
          <a:xfrm>
            <a:off x="6456363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26" name="Rectangle 106"/>
          <p:cNvSpPr>
            <a:spLocks noChangeArrowheads="1"/>
          </p:cNvSpPr>
          <p:nvPr/>
        </p:nvSpPr>
        <p:spPr bwMode="auto">
          <a:xfrm>
            <a:off x="6996113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27" name="Rectangle 107"/>
          <p:cNvSpPr>
            <a:spLocks noChangeArrowheads="1"/>
          </p:cNvSpPr>
          <p:nvPr/>
        </p:nvSpPr>
        <p:spPr bwMode="auto">
          <a:xfrm>
            <a:off x="7535863" y="3141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6</a:t>
            </a:r>
            <a:endParaRPr lang="en-GB"/>
          </a:p>
        </p:txBody>
      </p:sp>
      <p:sp>
        <p:nvSpPr>
          <p:cNvPr id="440428" name="Rectangle 108"/>
          <p:cNvSpPr>
            <a:spLocks noChangeArrowheads="1"/>
          </p:cNvSpPr>
          <p:nvPr/>
        </p:nvSpPr>
        <p:spPr bwMode="auto">
          <a:xfrm>
            <a:off x="4295775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1</a:t>
            </a:r>
            <a:endParaRPr lang="en-GB"/>
          </a:p>
        </p:txBody>
      </p:sp>
      <p:sp>
        <p:nvSpPr>
          <p:cNvPr id="440429" name="Rectangle 109"/>
          <p:cNvSpPr>
            <a:spLocks noChangeArrowheads="1"/>
          </p:cNvSpPr>
          <p:nvPr/>
        </p:nvSpPr>
        <p:spPr bwMode="auto">
          <a:xfrm>
            <a:off x="4835525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1</a:t>
            </a:r>
            <a:endParaRPr lang="en-GB"/>
          </a:p>
        </p:txBody>
      </p:sp>
      <p:sp>
        <p:nvSpPr>
          <p:cNvPr id="440430" name="Rectangle 110"/>
          <p:cNvSpPr>
            <a:spLocks noChangeArrowheads="1"/>
          </p:cNvSpPr>
          <p:nvPr/>
        </p:nvSpPr>
        <p:spPr bwMode="auto">
          <a:xfrm>
            <a:off x="5375275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1</a:t>
            </a:r>
            <a:endParaRPr lang="en-GB"/>
          </a:p>
        </p:txBody>
      </p:sp>
      <p:sp>
        <p:nvSpPr>
          <p:cNvPr id="440431" name="Rectangle 111"/>
          <p:cNvSpPr>
            <a:spLocks noChangeArrowheads="1"/>
          </p:cNvSpPr>
          <p:nvPr/>
        </p:nvSpPr>
        <p:spPr bwMode="auto">
          <a:xfrm>
            <a:off x="5915025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32" name="Rectangle 112"/>
          <p:cNvSpPr>
            <a:spLocks noChangeArrowheads="1"/>
          </p:cNvSpPr>
          <p:nvPr/>
        </p:nvSpPr>
        <p:spPr bwMode="auto">
          <a:xfrm>
            <a:off x="6456363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33" name="Rectangle 113"/>
          <p:cNvSpPr>
            <a:spLocks noChangeArrowheads="1"/>
          </p:cNvSpPr>
          <p:nvPr/>
        </p:nvSpPr>
        <p:spPr bwMode="auto">
          <a:xfrm>
            <a:off x="6996113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34" name="Rectangle 114"/>
          <p:cNvSpPr>
            <a:spLocks noChangeArrowheads="1"/>
          </p:cNvSpPr>
          <p:nvPr/>
        </p:nvSpPr>
        <p:spPr bwMode="auto">
          <a:xfrm>
            <a:off x="7535863" y="3681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35" name="Rectangle 115"/>
          <p:cNvSpPr>
            <a:spLocks noChangeArrowheads="1"/>
          </p:cNvSpPr>
          <p:nvPr/>
        </p:nvSpPr>
        <p:spPr bwMode="auto">
          <a:xfrm>
            <a:off x="4295775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36" name="Rectangle 116"/>
          <p:cNvSpPr>
            <a:spLocks noChangeArrowheads="1"/>
          </p:cNvSpPr>
          <p:nvPr/>
        </p:nvSpPr>
        <p:spPr bwMode="auto">
          <a:xfrm>
            <a:off x="4835525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37" name="Rectangle 117"/>
          <p:cNvSpPr>
            <a:spLocks noChangeArrowheads="1"/>
          </p:cNvSpPr>
          <p:nvPr/>
        </p:nvSpPr>
        <p:spPr bwMode="auto">
          <a:xfrm>
            <a:off x="5375275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38" name="Rectangle 118"/>
          <p:cNvSpPr>
            <a:spLocks noChangeArrowheads="1"/>
          </p:cNvSpPr>
          <p:nvPr/>
        </p:nvSpPr>
        <p:spPr bwMode="auto">
          <a:xfrm>
            <a:off x="5915025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39" name="Rectangle 119"/>
          <p:cNvSpPr>
            <a:spLocks noChangeArrowheads="1"/>
          </p:cNvSpPr>
          <p:nvPr/>
        </p:nvSpPr>
        <p:spPr bwMode="auto">
          <a:xfrm>
            <a:off x="6456363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40" name="Rectangle 120"/>
          <p:cNvSpPr>
            <a:spLocks noChangeArrowheads="1"/>
          </p:cNvSpPr>
          <p:nvPr/>
        </p:nvSpPr>
        <p:spPr bwMode="auto">
          <a:xfrm>
            <a:off x="6996113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41" name="Rectangle 121"/>
          <p:cNvSpPr>
            <a:spLocks noChangeArrowheads="1"/>
          </p:cNvSpPr>
          <p:nvPr/>
        </p:nvSpPr>
        <p:spPr bwMode="auto">
          <a:xfrm>
            <a:off x="7535863" y="42211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42" name="Rectangle 122"/>
          <p:cNvSpPr>
            <a:spLocks noChangeArrowheads="1"/>
          </p:cNvSpPr>
          <p:nvPr/>
        </p:nvSpPr>
        <p:spPr bwMode="auto">
          <a:xfrm>
            <a:off x="4295775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43" name="Rectangle 123"/>
          <p:cNvSpPr>
            <a:spLocks noChangeArrowheads="1"/>
          </p:cNvSpPr>
          <p:nvPr/>
        </p:nvSpPr>
        <p:spPr bwMode="auto">
          <a:xfrm>
            <a:off x="4835525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44" name="Rectangle 124"/>
          <p:cNvSpPr>
            <a:spLocks noChangeArrowheads="1"/>
          </p:cNvSpPr>
          <p:nvPr/>
        </p:nvSpPr>
        <p:spPr bwMode="auto">
          <a:xfrm>
            <a:off x="5375275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45" name="Rectangle 125"/>
          <p:cNvSpPr>
            <a:spLocks noChangeArrowheads="1"/>
          </p:cNvSpPr>
          <p:nvPr/>
        </p:nvSpPr>
        <p:spPr bwMode="auto">
          <a:xfrm>
            <a:off x="5915025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46" name="Rectangle 126"/>
          <p:cNvSpPr>
            <a:spLocks noChangeArrowheads="1"/>
          </p:cNvSpPr>
          <p:nvPr/>
        </p:nvSpPr>
        <p:spPr bwMode="auto">
          <a:xfrm>
            <a:off x="6456363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47" name="Rectangle 127"/>
          <p:cNvSpPr>
            <a:spLocks noChangeArrowheads="1"/>
          </p:cNvSpPr>
          <p:nvPr/>
        </p:nvSpPr>
        <p:spPr bwMode="auto">
          <a:xfrm>
            <a:off x="6996113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48" name="Rectangle 128"/>
          <p:cNvSpPr>
            <a:spLocks noChangeArrowheads="1"/>
          </p:cNvSpPr>
          <p:nvPr/>
        </p:nvSpPr>
        <p:spPr bwMode="auto">
          <a:xfrm>
            <a:off x="7535863" y="47609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49" name="Rectangle 129"/>
          <p:cNvSpPr>
            <a:spLocks noChangeArrowheads="1"/>
          </p:cNvSpPr>
          <p:nvPr/>
        </p:nvSpPr>
        <p:spPr bwMode="auto">
          <a:xfrm>
            <a:off x="4295775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50" name="Rectangle 130"/>
          <p:cNvSpPr>
            <a:spLocks noChangeArrowheads="1"/>
          </p:cNvSpPr>
          <p:nvPr/>
        </p:nvSpPr>
        <p:spPr bwMode="auto">
          <a:xfrm>
            <a:off x="4835525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51" name="Rectangle 131"/>
          <p:cNvSpPr>
            <a:spLocks noChangeArrowheads="1"/>
          </p:cNvSpPr>
          <p:nvPr/>
        </p:nvSpPr>
        <p:spPr bwMode="auto">
          <a:xfrm>
            <a:off x="5375275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52" name="Rectangle 132"/>
          <p:cNvSpPr>
            <a:spLocks noChangeArrowheads="1"/>
          </p:cNvSpPr>
          <p:nvPr/>
        </p:nvSpPr>
        <p:spPr bwMode="auto">
          <a:xfrm>
            <a:off x="5915025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53" name="Rectangle 133"/>
          <p:cNvSpPr>
            <a:spLocks noChangeArrowheads="1"/>
          </p:cNvSpPr>
          <p:nvPr/>
        </p:nvSpPr>
        <p:spPr bwMode="auto">
          <a:xfrm>
            <a:off x="6456363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54" name="Rectangle 134"/>
          <p:cNvSpPr>
            <a:spLocks noChangeArrowheads="1"/>
          </p:cNvSpPr>
          <p:nvPr/>
        </p:nvSpPr>
        <p:spPr bwMode="auto">
          <a:xfrm>
            <a:off x="6996113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55" name="Rectangle 135"/>
          <p:cNvSpPr>
            <a:spLocks noChangeArrowheads="1"/>
          </p:cNvSpPr>
          <p:nvPr/>
        </p:nvSpPr>
        <p:spPr bwMode="auto">
          <a:xfrm>
            <a:off x="7535863" y="530066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56" name="Rectangle 136"/>
          <p:cNvSpPr>
            <a:spLocks noChangeArrowheads="1"/>
          </p:cNvSpPr>
          <p:nvPr/>
        </p:nvSpPr>
        <p:spPr bwMode="auto">
          <a:xfrm>
            <a:off x="4295775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57" name="Rectangle 137"/>
          <p:cNvSpPr>
            <a:spLocks noChangeArrowheads="1"/>
          </p:cNvSpPr>
          <p:nvPr/>
        </p:nvSpPr>
        <p:spPr bwMode="auto">
          <a:xfrm>
            <a:off x="4835525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58" name="Rectangle 138"/>
          <p:cNvSpPr>
            <a:spLocks noChangeArrowheads="1"/>
          </p:cNvSpPr>
          <p:nvPr/>
        </p:nvSpPr>
        <p:spPr bwMode="auto">
          <a:xfrm>
            <a:off x="5375275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5</a:t>
            </a:r>
            <a:endParaRPr lang="en-GB"/>
          </a:p>
        </p:txBody>
      </p:sp>
      <p:sp>
        <p:nvSpPr>
          <p:cNvPr id="440459" name="Rectangle 139"/>
          <p:cNvSpPr>
            <a:spLocks noChangeArrowheads="1"/>
          </p:cNvSpPr>
          <p:nvPr/>
        </p:nvSpPr>
        <p:spPr bwMode="auto">
          <a:xfrm>
            <a:off x="5915025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4</a:t>
            </a:r>
            <a:endParaRPr lang="en-GB"/>
          </a:p>
        </p:txBody>
      </p:sp>
      <p:sp>
        <p:nvSpPr>
          <p:cNvPr id="440460" name="Rectangle 140"/>
          <p:cNvSpPr>
            <a:spLocks noChangeArrowheads="1"/>
          </p:cNvSpPr>
          <p:nvPr/>
        </p:nvSpPr>
        <p:spPr bwMode="auto">
          <a:xfrm>
            <a:off x="6456363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61" name="Rectangle 141"/>
          <p:cNvSpPr>
            <a:spLocks noChangeArrowheads="1"/>
          </p:cNvSpPr>
          <p:nvPr/>
        </p:nvSpPr>
        <p:spPr bwMode="auto">
          <a:xfrm>
            <a:off x="6996113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2</a:t>
            </a:r>
            <a:endParaRPr lang="en-GB"/>
          </a:p>
        </p:txBody>
      </p:sp>
      <p:sp>
        <p:nvSpPr>
          <p:cNvPr id="440462" name="Rectangle 142"/>
          <p:cNvSpPr>
            <a:spLocks noChangeArrowheads="1"/>
          </p:cNvSpPr>
          <p:nvPr/>
        </p:nvSpPr>
        <p:spPr bwMode="auto">
          <a:xfrm>
            <a:off x="7535863" y="5840413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/>
              <a:t>3</a:t>
            </a:r>
            <a:endParaRPr lang="en-GB"/>
          </a:p>
        </p:txBody>
      </p:sp>
      <p:sp>
        <p:nvSpPr>
          <p:cNvPr id="440463" name="Rectangle 143"/>
          <p:cNvSpPr>
            <a:spLocks noChangeArrowheads="1"/>
          </p:cNvSpPr>
          <p:nvPr/>
        </p:nvSpPr>
        <p:spPr bwMode="auto">
          <a:xfrm>
            <a:off x="531813" y="2439988"/>
            <a:ext cx="2514600" cy="38100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Nella cella D(6, 7)</a:t>
            </a:r>
          </a:p>
          <a:p>
            <a:r>
              <a:rPr lang="en-GB" sz="2000" b="1">
                <a:latin typeface="Arial" charset="0"/>
              </a:rPr>
              <a:t>è memorizzata</a:t>
            </a:r>
          </a:p>
          <a:p>
            <a:r>
              <a:rPr lang="en-GB" sz="2000" b="1">
                <a:latin typeface="Arial" charset="0"/>
              </a:rPr>
              <a:t>la distanza di edit</a:t>
            </a:r>
          </a:p>
          <a:p>
            <a:r>
              <a:rPr lang="en-GB" sz="2000" b="1">
                <a:latin typeface="Arial" charset="0"/>
              </a:rPr>
              <a:t>tra S e T</a:t>
            </a:r>
          </a:p>
          <a:p>
            <a:r>
              <a:rPr lang="en-GB" sz="2000" b="1">
                <a:latin typeface="Arial" charset="0"/>
              </a:rPr>
              <a:t> </a:t>
            </a:r>
          </a:p>
          <a:p>
            <a:endParaRPr lang="en-GB" sz="2000" b="1">
              <a:latin typeface="Arial" charset="0"/>
            </a:endParaRPr>
          </a:p>
        </p:txBody>
      </p:sp>
      <p:sp>
        <p:nvSpPr>
          <p:cNvPr id="440464" name="Rectangle 144"/>
          <p:cNvSpPr>
            <a:spLocks noChangeArrowheads="1"/>
          </p:cNvSpPr>
          <p:nvPr/>
        </p:nvSpPr>
        <p:spPr bwMode="auto">
          <a:xfrm>
            <a:off x="7535863" y="5840413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3</a:t>
            </a:r>
            <a:endParaRPr lang="en-GB"/>
          </a:p>
        </p:txBody>
      </p:sp>
      <p:sp>
        <p:nvSpPr>
          <p:cNvPr id="440465" name="Text Box 145"/>
          <p:cNvSpPr txBox="1">
            <a:spLocks noChangeArrowheads="1"/>
          </p:cNvSpPr>
          <p:nvPr/>
        </p:nvSpPr>
        <p:spPr bwMode="auto">
          <a:xfrm>
            <a:off x="3276600" y="2590800"/>
            <a:ext cx="3619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it-IT">
                <a:sym typeface="Symbol" charset="0"/>
              </a:rPr>
              <a:t></a:t>
            </a:r>
            <a:endParaRPr lang="it-IT"/>
          </a:p>
        </p:txBody>
      </p:sp>
      <p:sp>
        <p:nvSpPr>
          <p:cNvPr id="440466" name="Text Box 146"/>
          <p:cNvSpPr txBox="1">
            <a:spLocks noChangeArrowheads="1"/>
          </p:cNvSpPr>
          <p:nvPr/>
        </p:nvSpPr>
        <p:spPr bwMode="auto">
          <a:xfrm>
            <a:off x="3886200" y="2057400"/>
            <a:ext cx="381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it-IT">
                <a:sym typeface="Symbol" charset="0"/>
              </a:rPr>
              <a:t></a:t>
            </a:r>
            <a:endParaRPr lang="it-IT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47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3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9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71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77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83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44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4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41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47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3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9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71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77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83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89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1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07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13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19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31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37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43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49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61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167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173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179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1910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197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203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20900"/>
                            </p:stCondLst>
                            <p:childTnLst>
                              <p:par>
                                <p:cTn id="18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9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2210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 nodeType="afterGroup">
                            <p:stCondLst>
                              <p:cond delay="22700"/>
                            </p:stCondLst>
                            <p:childTnLst>
                              <p:par>
                                <p:cTn id="19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 nodeType="afterGroup">
                            <p:stCondLst>
                              <p:cond delay="23300"/>
                            </p:stCondLst>
                            <p:childTnLst>
                              <p:par>
                                <p:cTn id="20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23900"/>
                            </p:stCondLst>
                            <p:childTnLst>
                              <p:par>
                                <p:cTn id="204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 nodeType="clickPar">
                      <p:stCondLst>
                        <p:cond delay="indefinite"/>
                      </p:stCondLst>
                      <p:childTnLst>
                        <p:par>
                          <p:cTn id="2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0" dur="500"/>
                                        <p:tgtEl>
                                          <p:spTgt spid="440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1" grpId="0" animBg="1" autoUpdateAnimBg="0"/>
      <p:bldP spid="440402" grpId="0" animBg="1" autoUpdateAnimBg="0"/>
      <p:bldP spid="440403" grpId="0" autoUpdateAnimBg="0"/>
      <p:bldP spid="440404" grpId="0" autoUpdateAnimBg="0"/>
      <p:bldP spid="440406" grpId="0" autoUpdateAnimBg="0"/>
      <p:bldP spid="440407" grpId="0" autoUpdateAnimBg="0"/>
      <p:bldP spid="440408" grpId="0" autoUpdateAnimBg="0"/>
      <p:bldP spid="440409" grpId="0" autoUpdateAnimBg="0"/>
      <p:bldP spid="440410" grpId="0" autoUpdateAnimBg="0"/>
      <p:bldP spid="440411" grpId="0" autoUpdateAnimBg="0"/>
      <p:bldP spid="440412" grpId="0" autoUpdateAnimBg="0"/>
      <p:bldP spid="440413" grpId="0" autoUpdateAnimBg="0"/>
      <p:bldP spid="440414" grpId="0" autoUpdateAnimBg="0"/>
      <p:bldP spid="440415" grpId="0" autoUpdateAnimBg="0"/>
      <p:bldP spid="440416" grpId="0" autoUpdateAnimBg="0"/>
      <p:bldP spid="440417" grpId="0" autoUpdateAnimBg="0"/>
      <p:bldP spid="440418" grpId="0" animBg="1" autoUpdateAnimBg="0"/>
      <p:bldP spid="440419" grpId="0" autoUpdateAnimBg="0"/>
      <p:bldP spid="440420" grpId="0" animBg="1" autoUpdateAnimBg="0"/>
      <p:bldP spid="440421" grpId="0" autoUpdateAnimBg="0"/>
      <p:bldP spid="440422" grpId="0" animBg="1" autoUpdateAnimBg="0"/>
      <p:bldP spid="440423" grpId="0" autoUpdateAnimBg="0"/>
      <p:bldP spid="440424" grpId="0" autoUpdateAnimBg="0"/>
      <p:bldP spid="440425" grpId="0" autoUpdateAnimBg="0"/>
      <p:bldP spid="440426" grpId="0" autoUpdateAnimBg="0"/>
      <p:bldP spid="440427" grpId="0" autoUpdateAnimBg="0"/>
      <p:bldP spid="440428" grpId="0" autoUpdateAnimBg="0"/>
      <p:bldP spid="440429" grpId="0" autoUpdateAnimBg="0"/>
      <p:bldP spid="440430" grpId="0" autoUpdateAnimBg="0"/>
      <p:bldP spid="440431" grpId="0" autoUpdateAnimBg="0"/>
      <p:bldP spid="440432" grpId="0" autoUpdateAnimBg="0"/>
      <p:bldP spid="440433" grpId="0" autoUpdateAnimBg="0"/>
      <p:bldP spid="440434" grpId="0" autoUpdateAnimBg="0"/>
      <p:bldP spid="440435" grpId="0" autoUpdateAnimBg="0"/>
      <p:bldP spid="440436" grpId="0" autoUpdateAnimBg="0"/>
      <p:bldP spid="440437" grpId="0" autoUpdateAnimBg="0"/>
      <p:bldP spid="440438" grpId="0" autoUpdateAnimBg="0"/>
      <p:bldP spid="440439" grpId="0" autoUpdateAnimBg="0"/>
      <p:bldP spid="440440" grpId="0" autoUpdateAnimBg="0"/>
      <p:bldP spid="440441" grpId="0" autoUpdateAnimBg="0"/>
      <p:bldP spid="440442" grpId="0" autoUpdateAnimBg="0"/>
      <p:bldP spid="440443" grpId="0" autoUpdateAnimBg="0"/>
      <p:bldP spid="440444" grpId="0" autoUpdateAnimBg="0"/>
      <p:bldP spid="440445" grpId="0" autoUpdateAnimBg="0"/>
      <p:bldP spid="440446" grpId="0" autoUpdateAnimBg="0"/>
      <p:bldP spid="440447" grpId="0" autoUpdateAnimBg="0"/>
      <p:bldP spid="440448" grpId="0" autoUpdateAnimBg="0"/>
      <p:bldP spid="440449" grpId="0" autoUpdateAnimBg="0"/>
      <p:bldP spid="440450" grpId="0" autoUpdateAnimBg="0"/>
      <p:bldP spid="440451" grpId="0" autoUpdateAnimBg="0"/>
      <p:bldP spid="440452" grpId="0" autoUpdateAnimBg="0"/>
      <p:bldP spid="440453" grpId="0" autoUpdateAnimBg="0"/>
      <p:bldP spid="440454" grpId="0" autoUpdateAnimBg="0"/>
      <p:bldP spid="440455" grpId="0" autoUpdateAnimBg="0"/>
      <p:bldP spid="440456" grpId="0" autoUpdateAnimBg="0"/>
      <p:bldP spid="440457" grpId="0" autoUpdateAnimBg="0"/>
      <p:bldP spid="440458" grpId="0" autoUpdateAnimBg="0"/>
      <p:bldP spid="440459" grpId="0" autoUpdateAnimBg="0"/>
      <p:bldP spid="440460" grpId="0" autoUpdateAnimBg="0"/>
      <p:bldP spid="440461" grpId="0" autoUpdateAnimBg="0"/>
      <p:bldP spid="440462" grpId="0" autoUpdateAnimBg="0"/>
      <p:bldP spid="440463" grpId="0" animBg="1" autoUpdateAnimBg="0"/>
      <p:bldP spid="440464" grpId="0" animBg="1" autoUpdateAnimBg="0"/>
      <p:bldP spid="440465" grpId="0"/>
      <p:bldP spid="44046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Calcolo della distanza di edit</a:t>
            </a:r>
            <a:endParaRPr lang="it-IT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B67AAECB-DCAC-0E4F-9A7E-3EA8C3387E79}" type="slidenum">
              <a:rPr lang="en-US"/>
              <a:pPr/>
              <a:t>15</a:t>
            </a:fld>
            <a:endParaRPr lang="en-US" sz="1400">
              <a:latin typeface="Tahoma" charset="0"/>
            </a:endParaRPr>
          </a:p>
        </p:txBody>
      </p:sp>
      <p:sp>
        <p:nvSpPr>
          <p:cNvPr id="3727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1412776"/>
            <a:ext cx="7924800" cy="4495800"/>
          </a:xfrm>
        </p:spPr>
        <p:txBody>
          <a:bodyPr/>
          <a:lstStyle/>
          <a:p>
            <a:pPr marL="293688" indent="-293688">
              <a:buFont typeface="Monotype Sorts" charset="0"/>
              <a:buNone/>
            </a:pPr>
            <a:r>
              <a:rPr lang="it-IT" dirty="0"/>
              <a:t>La trasformazione da </a:t>
            </a:r>
            <a:r>
              <a:rPr lang="it-IT" dirty="0" err="1"/>
              <a:t>S</a:t>
            </a:r>
            <a:r>
              <a:rPr lang="it-IT" dirty="0"/>
              <a:t> a T relativa alla cella (</a:t>
            </a:r>
            <a:r>
              <a:rPr lang="it-IT" dirty="0" err="1"/>
              <a:t>i,j</a:t>
            </a:r>
            <a:r>
              <a:rPr lang="it-IT" dirty="0"/>
              <a:t>) è di</a:t>
            </a:r>
          </a:p>
          <a:p>
            <a:pPr marL="293688" indent="-293688">
              <a:buFont typeface="Monotype Sorts" charset="0"/>
              <a:buNone/>
            </a:pPr>
            <a:endParaRPr lang="it-IT" dirty="0"/>
          </a:p>
          <a:p>
            <a:pPr marL="293688" indent="-293688"/>
            <a:r>
              <a:rPr lang="it-IT" sz="2000" dirty="0"/>
              <a:t>sostituzione del carattere a</a:t>
            </a:r>
            <a:r>
              <a:rPr lang="it-IT" sz="2000" baseline="-25000" dirty="0"/>
              <a:t>i</a:t>
            </a:r>
            <a:r>
              <a:rPr lang="it-IT" sz="2000" dirty="0"/>
              <a:t> con il carattere </a:t>
            </a:r>
            <a:r>
              <a:rPr lang="it-IT" sz="2000" dirty="0" err="1"/>
              <a:t>b</a:t>
            </a:r>
            <a:r>
              <a:rPr lang="it-IT" sz="2000" baseline="-25000" dirty="0" err="1"/>
              <a:t>j</a:t>
            </a:r>
            <a:r>
              <a:rPr lang="it-IT" sz="2000" dirty="0"/>
              <a:t> se</a:t>
            </a:r>
          </a:p>
          <a:p>
            <a:pPr marL="1379538" lvl="2">
              <a:buFont typeface="Monotype Sorts" charset="0"/>
              <a:buNone/>
            </a:pPr>
            <a:r>
              <a:rPr lang="it-IT" sz="1900" dirty="0"/>
              <a:t>D(i, </a:t>
            </a:r>
            <a:r>
              <a:rPr lang="it-IT" sz="1900" dirty="0" err="1"/>
              <a:t>j</a:t>
            </a:r>
            <a:r>
              <a:rPr lang="it-IT" sz="1900" dirty="0"/>
              <a:t>) = D(i-1, j-1)+t(a</a:t>
            </a:r>
            <a:r>
              <a:rPr lang="it-IT" sz="1900" baseline="-25000" dirty="0"/>
              <a:t>i</a:t>
            </a:r>
            <a:r>
              <a:rPr lang="it-IT" sz="1900" dirty="0"/>
              <a:t>, </a:t>
            </a:r>
            <a:r>
              <a:rPr lang="it-IT" sz="1900" dirty="0" err="1"/>
              <a:t>b</a:t>
            </a:r>
            <a:r>
              <a:rPr lang="it-IT" sz="1900" baseline="-25000" dirty="0" err="1"/>
              <a:t>j</a:t>
            </a:r>
            <a:r>
              <a:rPr lang="it-IT" sz="1900" dirty="0"/>
              <a:t>)</a:t>
            </a:r>
          </a:p>
          <a:p>
            <a:pPr marL="293688" indent="-293688"/>
            <a:endParaRPr lang="it-IT" sz="2000" dirty="0"/>
          </a:p>
          <a:p>
            <a:pPr marL="293688" indent="-293688"/>
            <a:r>
              <a:rPr lang="it-IT" sz="2000" dirty="0"/>
              <a:t>cancellazione del carattere a</a:t>
            </a:r>
            <a:r>
              <a:rPr lang="it-IT" sz="2000" baseline="-25000" dirty="0"/>
              <a:t>i</a:t>
            </a:r>
            <a:r>
              <a:rPr lang="it-IT" sz="2000" dirty="0"/>
              <a:t> se</a:t>
            </a:r>
          </a:p>
          <a:p>
            <a:pPr marL="1379538" lvl="2">
              <a:buFont typeface="Monotype Sorts" charset="0"/>
              <a:buNone/>
            </a:pPr>
            <a:r>
              <a:rPr lang="it-IT" sz="1900" dirty="0"/>
              <a:t>D(i, </a:t>
            </a:r>
            <a:r>
              <a:rPr lang="it-IT" sz="1900" dirty="0" err="1"/>
              <a:t>j</a:t>
            </a:r>
            <a:r>
              <a:rPr lang="it-IT" sz="1900" dirty="0"/>
              <a:t>) = D(i-1, </a:t>
            </a:r>
            <a:r>
              <a:rPr lang="it-IT" sz="1900" dirty="0" err="1"/>
              <a:t>j</a:t>
            </a:r>
            <a:r>
              <a:rPr lang="it-IT" sz="1900" dirty="0"/>
              <a:t>)+1</a:t>
            </a:r>
          </a:p>
          <a:p>
            <a:pPr marL="1379538" lvl="2">
              <a:buFont typeface="Monotype Sorts" charset="0"/>
              <a:buChar char="4"/>
            </a:pPr>
            <a:endParaRPr lang="it-IT" sz="1900" dirty="0"/>
          </a:p>
          <a:p>
            <a:pPr marL="293688" indent="-293688"/>
            <a:r>
              <a:rPr lang="it-IT" sz="2000" dirty="0"/>
              <a:t>inserimento del carattere </a:t>
            </a:r>
            <a:r>
              <a:rPr lang="it-IT" sz="2000" dirty="0" err="1"/>
              <a:t>b</a:t>
            </a:r>
            <a:r>
              <a:rPr lang="it-IT" sz="2000" baseline="-25000" dirty="0" err="1"/>
              <a:t>j</a:t>
            </a:r>
            <a:r>
              <a:rPr lang="it-IT" sz="2000" dirty="0"/>
              <a:t> se</a:t>
            </a:r>
          </a:p>
          <a:p>
            <a:pPr marL="1379538" lvl="2">
              <a:buFont typeface="Monotype Sorts" charset="0"/>
              <a:buNone/>
            </a:pPr>
            <a:r>
              <a:rPr lang="it-IT" sz="1900" dirty="0"/>
              <a:t>D(i, </a:t>
            </a:r>
            <a:r>
              <a:rPr lang="it-IT" sz="1900" dirty="0" err="1"/>
              <a:t>j</a:t>
            </a:r>
            <a:r>
              <a:rPr lang="it-IT" sz="1900" dirty="0"/>
              <a:t>) = D(i, j-1)+1</a:t>
            </a:r>
          </a:p>
          <a:p>
            <a:pPr marL="293688" indent="-293688">
              <a:buFont typeface="Monotype Sorts" charset="0"/>
              <a:buNone/>
            </a:pPr>
            <a:endParaRPr lang="it-IT" sz="2000" dirty="0"/>
          </a:p>
        </p:txBody>
      </p:sp>
      <p:sp>
        <p:nvSpPr>
          <p:cNvPr id="372740" name="AutoShape 4"/>
          <p:cNvSpPr>
            <a:spLocks noChangeArrowheads="1"/>
          </p:cNvSpPr>
          <p:nvPr/>
        </p:nvSpPr>
        <p:spPr bwMode="auto">
          <a:xfrm>
            <a:off x="4038600" y="1981200"/>
            <a:ext cx="3886200" cy="838200"/>
          </a:xfrm>
          <a:prstGeom prst="wedgeRectCallout">
            <a:avLst>
              <a:gd name="adj1" fmla="val -44486"/>
              <a:gd name="adj2" fmla="val 86366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000" b="1"/>
              <a:t>Se </a:t>
            </a:r>
            <a:r>
              <a:rPr lang="it-IT" sz="2000" b="1">
                <a:latin typeface="Arial" charset="0"/>
              </a:rPr>
              <a:t>a</a:t>
            </a:r>
            <a:r>
              <a:rPr lang="it-IT" sz="2000" b="1" baseline="-25000">
                <a:latin typeface="Arial" charset="0"/>
              </a:rPr>
              <a:t>i</a:t>
            </a:r>
            <a:r>
              <a:rPr lang="it-IT" sz="2000" b="1">
                <a:latin typeface="Arial" charset="0"/>
              </a:rPr>
              <a:t> è uguale a b</a:t>
            </a:r>
            <a:r>
              <a:rPr lang="it-IT" sz="2000" b="1" baseline="-25000">
                <a:latin typeface="Arial" charset="0"/>
              </a:rPr>
              <a:t>j</a:t>
            </a:r>
            <a:r>
              <a:rPr lang="it-IT" sz="2000" b="1">
                <a:latin typeface="Arial" charset="0"/>
              </a:rPr>
              <a:t>, l’operazione</a:t>
            </a:r>
          </a:p>
          <a:p>
            <a:pPr algn="ctr"/>
            <a:r>
              <a:rPr lang="it-IT" sz="2000" b="1">
                <a:latin typeface="Arial" charset="0"/>
              </a:rPr>
              <a:t>di sostituzione è nulla</a:t>
            </a:r>
          </a:p>
        </p:txBody>
      </p:sp>
      <p:sp>
        <p:nvSpPr>
          <p:cNvPr id="372741" name="Rectangle 5"/>
          <p:cNvSpPr>
            <a:spLocks noChangeArrowheads="1"/>
          </p:cNvSpPr>
          <p:nvPr/>
        </p:nvSpPr>
        <p:spPr bwMode="auto">
          <a:xfrm>
            <a:off x="3733800" y="5715000"/>
            <a:ext cx="5105400" cy="685800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it-IT" sz="2000" b="1">
                <a:latin typeface="Arial" charset="0"/>
              </a:rPr>
              <a:t>NB:</a:t>
            </a:r>
            <a:r>
              <a:rPr lang="it-IT" sz="2000">
                <a:latin typeface="Arial" charset="0"/>
              </a:rPr>
              <a:t> può esistere più di una trasformazione</a:t>
            </a:r>
          </a:p>
          <a:p>
            <a:r>
              <a:rPr lang="it-IT" sz="2000">
                <a:latin typeface="Arial" charset="0"/>
              </a:rPr>
              <a:t>relativa alla cella (i,j)</a:t>
            </a:r>
            <a:endParaRPr lang="en-GB" sz="2000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727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72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72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 autoUpdateAnimBg="0"/>
      <p:bldP spid="372740" grpId="0" animBg="1" autoUpdateAnimBg="0"/>
      <p:bldP spid="372741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Calcolo della distanza di edit</a:t>
            </a:r>
            <a:endParaRPr lang="it-IT"/>
          </a:p>
        </p:txBody>
      </p:sp>
      <p:sp>
        <p:nvSpPr>
          <p:cNvPr id="163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D6BD50D-865D-1B47-97B2-05503E16E298}" type="slidenum">
              <a:rPr lang="en-US"/>
              <a:pPr/>
              <a:t>16</a:t>
            </a:fld>
            <a:endParaRPr lang="en-US" sz="1400">
              <a:latin typeface="Tahoma" charset="0"/>
            </a:endParaRPr>
          </a:p>
        </p:txBody>
      </p:sp>
      <p:sp>
        <p:nvSpPr>
          <p:cNvPr id="37069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340768"/>
            <a:ext cx="8229600" cy="7620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charset="0"/>
              <a:buNone/>
            </a:pPr>
            <a:r>
              <a:rPr lang="it-IT" sz="2000" dirty="0">
                <a:solidFill>
                  <a:srgbClr val="228030"/>
                </a:solidFill>
              </a:rPr>
              <a:t>Esempio:</a:t>
            </a:r>
            <a:r>
              <a:rPr lang="it-IT" sz="2000" dirty="0"/>
              <a:t> ricostruzione della trasformazione da </a:t>
            </a:r>
            <a:r>
              <a:rPr lang="it-IT" sz="2000" dirty="0" err="1"/>
              <a:t>S</a:t>
            </a:r>
            <a:r>
              <a:rPr lang="it-IT" sz="2000" dirty="0"/>
              <a:t> = “</a:t>
            </a:r>
            <a:r>
              <a:rPr lang="it-IT" sz="2000" dirty="0" err="1"/>
              <a:t>winter</a:t>
            </a:r>
            <a:r>
              <a:rPr lang="it-IT" sz="2000" dirty="0"/>
              <a:t>” a 	  T = “</a:t>
            </a:r>
            <a:r>
              <a:rPr lang="it-IT" sz="2000" dirty="0" err="1"/>
              <a:t>writers</a:t>
            </a:r>
            <a:r>
              <a:rPr lang="it-IT" sz="2000" dirty="0"/>
              <a:t>”</a:t>
            </a:r>
          </a:p>
        </p:txBody>
      </p:sp>
      <p:sp>
        <p:nvSpPr>
          <p:cNvPr id="370773" name="Rectangle 85"/>
          <p:cNvSpPr>
            <a:spLocks noChangeArrowheads="1"/>
          </p:cNvSpPr>
          <p:nvPr/>
        </p:nvSpPr>
        <p:spPr bwMode="auto">
          <a:xfrm>
            <a:off x="9248775" y="2057400"/>
            <a:ext cx="53975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70839" name="Group 151"/>
          <p:cNvGrpSpPr>
            <a:grpSpLocks/>
          </p:cNvGrpSpPr>
          <p:nvPr/>
        </p:nvGrpSpPr>
        <p:grpSpPr bwMode="auto">
          <a:xfrm>
            <a:off x="3194050" y="2057400"/>
            <a:ext cx="4883150" cy="4322763"/>
            <a:chOff x="2012" y="1296"/>
            <a:chExt cx="3076" cy="2723"/>
          </a:xfrm>
        </p:grpSpPr>
        <p:grpSp>
          <p:nvGrpSpPr>
            <p:cNvPr id="370692" name="Group 4"/>
            <p:cNvGrpSpPr>
              <a:grpSpLocks/>
            </p:cNvGrpSpPr>
            <p:nvPr/>
          </p:nvGrpSpPr>
          <p:grpSpPr bwMode="auto">
            <a:xfrm>
              <a:off x="2012" y="1296"/>
              <a:ext cx="3076" cy="2720"/>
              <a:chOff x="2012" y="1296"/>
              <a:chExt cx="3076" cy="2720"/>
            </a:xfrm>
          </p:grpSpPr>
          <p:sp>
            <p:nvSpPr>
              <p:cNvPr id="370693" name="Rectangle 5"/>
              <p:cNvSpPr>
                <a:spLocks noChangeArrowheads="1"/>
              </p:cNvSpPr>
              <p:nvPr/>
            </p:nvSpPr>
            <p:spPr bwMode="auto">
              <a:xfrm>
                <a:off x="2367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694" name="Rectangle 6"/>
              <p:cNvSpPr>
                <a:spLocks noChangeArrowheads="1"/>
              </p:cNvSpPr>
              <p:nvPr/>
            </p:nvSpPr>
            <p:spPr bwMode="auto">
              <a:xfrm>
                <a:off x="2707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695" name="Rectangle 7"/>
              <p:cNvSpPr>
                <a:spLocks noChangeArrowheads="1"/>
              </p:cNvSpPr>
              <p:nvPr/>
            </p:nvSpPr>
            <p:spPr bwMode="auto">
              <a:xfrm>
                <a:off x="3047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696" name="Rectangle 8"/>
              <p:cNvSpPr>
                <a:spLocks noChangeArrowheads="1"/>
              </p:cNvSpPr>
              <p:nvPr/>
            </p:nvSpPr>
            <p:spPr bwMode="auto">
              <a:xfrm>
                <a:off x="3387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697" name="Rectangle 9"/>
              <p:cNvSpPr>
                <a:spLocks noChangeArrowheads="1"/>
              </p:cNvSpPr>
              <p:nvPr/>
            </p:nvSpPr>
            <p:spPr bwMode="auto">
              <a:xfrm>
                <a:off x="3726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698" name="Rectangle 10"/>
              <p:cNvSpPr>
                <a:spLocks noChangeArrowheads="1"/>
              </p:cNvSpPr>
              <p:nvPr/>
            </p:nvSpPr>
            <p:spPr bwMode="auto">
              <a:xfrm>
                <a:off x="4066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699" name="Rectangle 11"/>
              <p:cNvSpPr>
                <a:spLocks noChangeArrowheads="1"/>
              </p:cNvSpPr>
              <p:nvPr/>
            </p:nvSpPr>
            <p:spPr bwMode="auto">
              <a:xfrm>
                <a:off x="4406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700" name="Rectangle 12"/>
              <p:cNvSpPr>
                <a:spLocks noChangeArrowheads="1"/>
              </p:cNvSpPr>
              <p:nvPr/>
            </p:nvSpPr>
            <p:spPr bwMode="auto">
              <a:xfrm>
                <a:off x="4746" y="1638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701" name="Rectangle 13"/>
              <p:cNvSpPr>
                <a:spLocks noChangeArrowheads="1"/>
              </p:cNvSpPr>
              <p:nvPr/>
            </p:nvSpPr>
            <p:spPr bwMode="auto">
              <a:xfrm>
                <a:off x="2370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702" name="Rectangle 14"/>
              <p:cNvSpPr>
                <a:spLocks noChangeArrowheads="1"/>
              </p:cNvSpPr>
              <p:nvPr/>
            </p:nvSpPr>
            <p:spPr bwMode="auto">
              <a:xfrm>
                <a:off x="2710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w</a:t>
                </a:r>
                <a:endParaRPr lang="en-GB"/>
              </a:p>
            </p:txBody>
          </p:sp>
          <p:sp>
            <p:nvSpPr>
              <p:cNvPr id="370703" name="Rectangle 15"/>
              <p:cNvSpPr>
                <a:spLocks noChangeArrowheads="1"/>
              </p:cNvSpPr>
              <p:nvPr/>
            </p:nvSpPr>
            <p:spPr bwMode="auto">
              <a:xfrm>
                <a:off x="3050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r</a:t>
                </a:r>
                <a:endParaRPr lang="en-GB"/>
              </a:p>
            </p:txBody>
          </p:sp>
          <p:sp>
            <p:nvSpPr>
              <p:cNvPr id="370704" name="Rectangle 16"/>
              <p:cNvSpPr>
                <a:spLocks noChangeArrowheads="1"/>
              </p:cNvSpPr>
              <p:nvPr/>
            </p:nvSpPr>
            <p:spPr bwMode="auto">
              <a:xfrm>
                <a:off x="3390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i</a:t>
                </a:r>
                <a:endParaRPr lang="en-GB"/>
              </a:p>
            </p:txBody>
          </p:sp>
          <p:sp>
            <p:nvSpPr>
              <p:cNvPr id="370705" name="Rectangle 17"/>
              <p:cNvSpPr>
                <a:spLocks noChangeArrowheads="1"/>
              </p:cNvSpPr>
              <p:nvPr/>
            </p:nvSpPr>
            <p:spPr bwMode="auto">
              <a:xfrm>
                <a:off x="3728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t</a:t>
                </a:r>
                <a:endParaRPr lang="en-GB"/>
              </a:p>
            </p:txBody>
          </p:sp>
          <p:sp>
            <p:nvSpPr>
              <p:cNvPr id="370706" name="Rectangle 18"/>
              <p:cNvSpPr>
                <a:spLocks noChangeArrowheads="1"/>
              </p:cNvSpPr>
              <p:nvPr/>
            </p:nvSpPr>
            <p:spPr bwMode="auto">
              <a:xfrm>
                <a:off x="4068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e</a:t>
                </a:r>
                <a:endParaRPr lang="en-GB"/>
              </a:p>
            </p:txBody>
          </p:sp>
          <p:sp>
            <p:nvSpPr>
              <p:cNvPr id="370707" name="Rectangle 19"/>
              <p:cNvSpPr>
                <a:spLocks noChangeArrowheads="1"/>
              </p:cNvSpPr>
              <p:nvPr/>
            </p:nvSpPr>
            <p:spPr bwMode="auto">
              <a:xfrm>
                <a:off x="4408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r</a:t>
                </a:r>
                <a:endParaRPr lang="en-GB"/>
              </a:p>
            </p:txBody>
          </p:sp>
          <p:sp>
            <p:nvSpPr>
              <p:cNvPr id="370708" name="Rectangle 20"/>
              <p:cNvSpPr>
                <a:spLocks noChangeArrowheads="1"/>
              </p:cNvSpPr>
              <p:nvPr/>
            </p:nvSpPr>
            <p:spPr bwMode="auto">
              <a:xfrm>
                <a:off x="4748" y="129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s</a:t>
                </a:r>
                <a:endParaRPr lang="en-GB"/>
              </a:p>
            </p:txBody>
          </p:sp>
          <p:sp>
            <p:nvSpPr>
              <p:cNvPr id="370709" name="Rectangle 21"/>
              <p:cNvSpPr>
                <a:spLocks noChangeArrowheads="1"/>
              </p:cNvSpPr>
              <p:nvPr/>
            </p:nvSpPr>
            <p:spPr bwMode="auto">
              <a:xfrm>
                <a:off x="2367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710" name="Rectangle 22"/>
              <p:cNvSpPr>
                <a:spLocks noChangeArrowheads="1"/>
              </p:cNvSpPr>
              <p:nvPr/>
            </p:nvSpPr>
            <p:spPr bwMode="auto">
              <a:xfrm>
                <a:off x="2707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711" name="Rectangle 23"/>
              <p:cNvSpPr>
                <a:spLocks noChangeArrowheads="1"/>
              </p:cNvSpPr>
              <p:nvPr/>
            </p:nvSpPr>
            <p:spPr bwMode="auto">
              <a:xfrm>
                <a:off x="3047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0712" name="Rectangle 24"/>
              <p:cNvSpPr>
                <a:spLocks noChangeArrowheads="1"/>
              </p:cNvSpPr>
              <p:nvPr/>
            </p:nvSpPr>
            <p:spPr bwMode="auto">
              <a:xfrm>
                <a:off x="3387" y="1976"/>
                <a:ext cx="340" cy="34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70713" name="Group 25"/>
              <p:cNvGrpSpPr>
                <a:grpSpLocks/>
              </p:cNvGrpSpPr>
              <p:nvPr/>
            </p:nvGrpSpPr>
            <p:grpSpPr bwMode="auto">
              <a:xfrm>
                <a:off x="3726" y="1976"/>
                <a:ext cx="1360" cy="340"/>
                <a:chOff x="3725" y="1976"/>
                <a:chExt cx="1360" cy="340"/>
              </a:xfrm>
            </p:grpSpPr>
            <p:sp>
              <p:nvSpPr>
                <p:cNvPr id="370714" name="Rectangle 26"/>
                <p:cNvSpPr>
                  <a:spLocks noChangeArrowheads="1"/>
                </p:cNvSpPr>
                <p:nvPr/>
              </p:nvSpPr>
              <p:spPr bwMode="auto">
                <a:xfrm>
                  <a:off x="3725" y="1976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15" name="Rectangle 27"/>
                <p:cNvSpPr>
                  <a:spLocks noChangeArrowheads="1"/>
                </p:cNvSpPr>
                <p:nvPr/>
              </p:nvSpPr>
              <p:spPr bwMode="auto">
                <a:xfrm>
                  <a:off x="4065" y="1976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16" name="Rectangle 28"/>
                <p:cNvSpPr>
                  <a:spLocks noChangeArrowheads="1"/>
                </p:cNvSpPr>
                <p:nvPr/>
              </p:nvSpPr>
              <p:spPr bwMode="auto">
                <a:xfrm>
                  <a:off x="4405" y="1976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17" name="Rectangle 29"/>
                <p:cNvSpPr>
                  <a:spLocks noChangeArrowheads="1"/>
                </p:cNvSpPr>
                <p:nvPr/>
              </p:nvSpPr>
              <p:spPr bwMode="auto">
                <a:xfrm>
                  <a:off x="4745" y="1976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0718" name="Group 30"/>
              <p:cNvGrpSpPr>
                <a:grpSpLocks/>
              </p:cNvGrpSpPr>
              <p:nvPr/>
            </p:nvGrpSpPr>
            <p:grpSpPr bwMode="auto">
              <a:xfrm>
                <a:off x="2367" y="2316"/>
                <a:ext cx="2719" cy="340"/>
                <a:chOff x="2034" y="2828"/>
                <a:chExt cx="2719" cy="340"/>
              </a:xfrm>
            </p:grpSpPr>
            <p:sp>
              <p:nvSpPr>
                <p:cNvPr id="370719" name="Rectangle 31"/>
                <p:cNvSpPr>
                  <a:spLocks noChangeArrowheads="1"/>
                </p:cNvSpPr>
                <p:nvPr/>
              </p:nvSpPr>
              <p:spPr bwMode="auto">
                <a:xfrm>
                  <a:off x="203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0" name="Rectangle 32"/>
                <p:cNvSpPr>
                  <a:spLocks noChangeArrowheads="1"/>
                </p:cNvSpPr>
                <p:nvPr/>
              </p:nvSpPr>
              <p:spPr bwMode="auto">
                <a:xfrm>
                  <a:off x="237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1" name="Rectangle 33"/>
                <p:cNvSpPr>
                  <a:spLocks noChangeArrowheads="1"/>
                </p:cNvSpPr>
                <p:nvPr/>
              </p:nvSpPr>
              <p:spPr bwMode="auto">
                <a:xfrm>
                  <a:off x="271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2" name="Rectangle 34"/>
                <p:cNvSpPr>
                  <a:spLocks noChangeArrowheads="1"/>
                </p:cNvSpPr>
                <p:nvPr/>
              </p:nvSpPr>
              <p:spPr bwMode="auto">
                <a:xfrm>
                  <a:off x="305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3" name="Rectangle 35"/>
                <p:cNvSpPr>
                  <a:spLocks noChangeArrowheads="1"/>
                </p:cNvSpPr>
                <p:nvPr/>
              </p:nvSpPr>
              <p:spPr bwMode="auto">
                <a:xfrm>
                  <a:off x="339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4" name="Rectangle 36"/>
                <p:cNvSpPr>
                  <a:spLocks noChangeArrowheads="1"/>
                </p:cNvSpPr>
                <p:nvPr/>
              </p:nvSpPr>
              <p:spPr bwMode="auto">
                <a:xfrm>
                  <a:off x="373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5" name="Rectangle 37"/>
                <p:cNvSpPr>
                  <a:spLocks noChangeArrowheads="1"/>
                </p:cNvSpPr>
                <p:nvPr/>
              </p:nvSpPr>
              <p:spPr bwMode="auto">
                <a:xfrm>
                  <a:off x="407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6" name="Rectangle 38"/>
                <p:cNvSpPr>
                  <a:spLocks noChangeArrowheads="1"/>
                </p:cNvSpPr>
                <p:nvPr/>
              </p:nvSpPr>
              <p:spPr bwMode="auto">
                <a:xfrm>
                  <a:off x="441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0727" name="Group 39"/>
              <p:cNvGrpSpPr>
                <a:grpSpLocks/>
              </p:cNvGrpSpPr>
              <p:nvPr/>
            </p:nvGrpSpPr>
            <p:grpSpPr bwMode="auto">
              <a:xfrm>
                <a:off x="2367" y="2656"/>
                <a:ext cx="2719" cy="340"/>
                <a:chOff x="2034" y="2828"/>
                <a:chExt cx="2719" cy="340"/>
              </a:xfrm>
            </p:grpSpPr>
            <p:sp>
              <p:nvSpPr>
                <p:cNvPr id="370728" name="Rectangle 40"/>
                <p:cNvSpPr>
                  <a:spLocks noChangeArrowheads="1"/>
                </p:cNvSpPr>
                <p:nvPr/>
              </p:nvSpPr>
              <p:spPr bwMode="auto">
                <a:xfrm>
                  <a:off x="203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29" name="Rectangle 41"/>
                <p:cNvSpPr>
                  <a:spLocks noChangeArrowheads="1"/>
                </p:cNvSpPr>
                <p:nvPr/>
              </p:nvSpPr>
              <p:spPr bwMode="auto">
                <a:xfrm>
                  <a:off x="237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0" name="Rectangle 42"/>
                <p:cNvSpPr>
                  <a:spLocks noChangeArrowheads="1"/>
                </p:cNvSpPr>
                <p:nvPr/>
              </p:nvSpPr>
              <p:spPr bwMode="auto">
                <a:xfrm>
                  <a:off x="271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1" name="Rectangle 43"/>
                <p:cNvSpPr>
                  <a:spLocks noChangeArrowheads="1"/>
                </p:cNvSpPr>
                <p:nvPr/>
              </p:nvSpPr>
              <p:spPr bwMode="auto">
                <a:xfrm>
                  <a:off x="305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2" name="Rectangle 44"/>
                <p:cNvSpPr>
                  <a:spLocks noChangeArrowheads="1"/>
                </p:cNvSpPr>
                <p:nvPr/>
              </p:nvSpPr>
              <p:spPr bwMode="auto">
                <a:xfrm>
                  <a:off x="339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3" name="Rectangle 45"/>
                <p:cNvSpPr>
                  <a:spLocks noChangeArrowheads="1"/>
                </p:cNvSpPr>
                <p:nvPr/>
              </p:nvSpPr>
              <p:spPr bwMode="auto">
                <a:xfrm>
                  <a:off x="373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4" name="Rectangle 46"/>
                <p:cNvSpPr>
                  <a:spLocks noChangeArrowheads="1"/>
                </p:cNvSpPr>
                <p:nvPr/>
              </p:nvSpPr>
              <p:spPr bwMode="auto">
                <a:xfrm>
                  <a:off x="407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5" name="Rectangle 47"/>
                <p:cNvSpPr>
                  <a:spLocks noChangeArrowheads="1"/>
                </p:cNvSpPr>
                <p:nvPr/>
              </p:nvSpPr>
              <p:spPr bwMode="auto">
                <a:xfrm>
                  <a:off x="441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0736" name="Group 48"/>
              <p:cNvGrpSpPr>
                <a:grpSpLocks/>
              </p:cNvGrpSpPr>
              <p:nvPr/>
            </p:nvGrpSpPr>
            <p:grpSpPr bwMode="auto">
              <a:xfrm>
                <a:off x="2367" y="2996"/>
                <a:ext cx="2719" cy="340"/>
                <a:chOff x="2034" y="2828"/>
                <a:chExt cx="2719" cy="340"/>
              </a:xfrm>
            </p:grpSpPr>
            <p:sp>
              <p:nvSpPr>
                <p:cNvPr id="370737" name="Rectangle 49"/>
                <p:cNvSpPr>
                  <a:spLocks noChangeArrowheads="1"/>
                </p:cNvSpPr>
                <p:nvPr/>
              </p:nvSpPr>
              <p:spPr bwMode="auto">
                <a:xfrm>
                  <a:off x="203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8" name="Rectangle 50"/>
                <p:cNvSpPr>
                  <a:spLocks noChangeArrowheads="1"/>
                </p:cNvSpPr>
                <p:nvPr/>
              </p:nvSpPr>
              <p:spPr bwMode="auto">
                <a:xfrm>
                  <a:off x="237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39" name="Rectangle 51"/>
                <p:cNvSpPr>
                  <a:spLocks noChangeArrowheads="1"/>
                </p:cNvSpPr>
                <p:nvPr/>
              </p:nvSpPr>
              <p:spPr bwMode="auto">
                <a:xfrm>
                  <a:off x="271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0" name="Rectangle 52"/>
                <p:cNvSpPr>
                  <a:spLocks noChangeArrowheads="1"/>
                </p:cNvSpPr>
                <p:nvPr/>
              </p:nvSpPr>
              <p:spPr bwMode="auto">
                <a:xfrm>
                  <a:off x="305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1" name="Rectangle 53"/>
                <p:cNvSpPr>
                  <a:spLocks noChangeArrowheads="1"/>
                </p:cNvSpPr>
                <p:nvPr/>
              </p:nvSpPr>
              <p:spPr bwMode="auto">
                <a:xfrm>
                  <a:off x="339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2" name="Rectangle 54"/>
                <p:cNvSpPr>
                  <a:spLocks noChangeArrowheads="1"/>
                </p:cNvSpPr>
                <p:nvPr/>
              </p:nvSpPr>
              <p:spPr bwMode="auto">
                <a:xfrm>
                  <a:off x="373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3" name="Rectangle 55"/>
                <p:cNvSpPr>
                  <a:spLocks noChangeArrowheads="1"/>
                </p:cNvSpPr>
                <p:nvPr/>
              </p:nvSpPr>
              <p:spPr bwMode="auto">
                <a:xfrm>
                  <a:off x="407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4" name="Rectangle 56"/>
                <p:cNvSpPr>
                  <a:spLocks noChangeArrowheads="1"/>
                </p:cNvSpPr>
                <p:nvPr/>
              </p:nvSpPr>
              <p:spPr bwMode="auto">
                <a:xfrm>
                  <a:off x="441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0745" name="Group 57"/>
              <p:cNvGrpSpPr>
                <a:grpSpLocks/>
              </p:cNvGrpSpPr>
              <p:nvPr/>
            </p:nvGrpSpPr>
            <p:grpSpPr bwMode="auto">
              <a:xfrm>
                <a:off x="2367" y="3336"/>
                <a:ext cx="2719" cy="340"/>
                <a:chOff x="2034" y="2828"/>
                <a:chExt cx="2719" cy="340"/>
              </a:xfrm>
            </p:grpSpPr>
            <p:sp>
              <p:nvSpPr>
                <p:cNvPr id="370746" name="Rectangle 58"/>
                <p:cNvSpPr>
                  <a:spLocks noChangeArrowheads="1"/>
                </p:cNvSpPr>
                <p:nvPr/>
              </p:nvSpPr>
              <p:spPr bwMode="auto">
                <a:xfrm>
                  <a:off x="203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7" name="Rectangle 59"/>
                <p:cNvSpPr>
                  <a:spLocks noChangeArrowheads="1"/>
                </p:cNvSpPr>
                <p:nvPr/>
              </p:nvSpPr>
              <p:spPr bwMode="auto">
                <a:xfrm>
                  <a:off x="237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8" name="Rectangle 60"/>
                <p:cNvSpPr>
                  <a:spLocks noChangeArrowheads="1"/>
                </p:cNvSpPr>
                <p:nvPr/>
              </p:nvSpPr>
              <p:spPr bwMode="auto">
                <a:xfrm>
                  <a:off x="271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49" name="Rectangle 61"/>
                <p:cNvSpPr>
                  <a:spLocks noChangeArrowheads="1"/>
                </p:cNvSpPr>
                <p:nvPr/>
              </p:nvSpPr>
              <p:spPr bwMode="auto">
                <a:xfrm>
                  <a:off x="305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0" name="Rectangle 62"/>
                <p:cNvSpPr>
                  <a:spLocks noChangeArrowheads="1"/>
                </p:cNvSpPr>
                <p:nvPr/>
              </p:nvSpPr>
              <p:spPr bwMode="auto">
                <a:xfrm>
                  <a:off x="339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1" name="Rectangle 63"/>
                <p:cNvSpPr>
                  <a:spLocks noChangeArrowheads="1"/>
                </p:cNvSpPr>
                <p:nvPr/>
              </p:nvSpPr>
              <p:spPr bwMode="auto">
                <a:xfrm>
                  <a:off x="373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2" name="Rectangle 64"/>
                <p:cNvSpPr>
                  <a:spLocks noChangeArrowheads="1"/>
                </p:cNvSpPr>
                <p:nvPr/>
              </p:nvSpPr>
              <p:spPr bwMode="auto">
                <a:xfrm>
                  <a:off x="407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3" name="Rectangle 65"/>
                <p:cNvSpPr>
                  <a:spLocks noChangeArrowheads="1"/>
                </p:cNvSpPr>
                <p:nvPr/>
              </p:nvSpPr>
              <p:spPr bwMode="auto">
                <a:xfrm>
                  <a:off x="441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370754" name="Group 66"/>
              <p:cNvGrpSpPr>
                <a:grpSpLocks/>
              </p:cNvGrpSpPr>
              <p:nvPr/>
            </p:nvGrpSpPr>
            <p:grpSpPr bwMode="auto">
              <a:xfrm>
                <a:off x="2367" y="3676"/>
                <a:ext cx="2719" cy="340"/>
                <a:chOff x="2034" y="2828"/>
                <a:chExt cx="2719" cy="340"/>
              </a:xfrm>
            </p:grpSpPr>
            <p:sp>
              <p:nvSpPr>
                <p:cNvPr id="370755" name="Rectangle 67"/>
                <p:cNvSpPr>
                  <a:spLocks noChangeArrowheads="1"/>
                </p:cNvSpPr>
                <p:nvPr/>
              </p:nvSpPr>
              <p:spPr bwMode="auto">
                <a:xfrm>
                  <a:off x="203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6" name="Rectangle 68"/>
                <p:cNvSpPr>
                  <a:spLocks noChangeArrowheads="1"/>
                </p:cNvSpPr>
                <p:nvPr/>
              </p:nvSpPr>
              <p:spPr bwMode="auto">
                <a:xfrm>
                  <a:off x="237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7" name="Rectangle 69"/>
                <p:cNvSpPr>
                  <a:spLocks noChangeArrowheads="1"/>
                </p:cNvSpPr>
                <p:nvPr/>
              </p:nvSpPr>
              <p:spPr bwMode="auto">
                <a:xfrm>
                  <a:off x="271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8" name="Rectangle 70"/>
                <p:cNvSpPr>
                  <a:spLocks noChangeArrowheads="1"/>
                </p:cNvSpPr>
                <p:nvPr/>
              </p:nvSpPr>
              <p:spPr bwMode="auto">
                <a:xfrm>
                  <a:off x="3054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59" name="Rectangle 71"/>
                <p:cNvSpPr>
                  <a:spLocks noChangeArrowheads="1"/>
                </p:cNvSpPr>
                <p:nvPr/>
              </p:nvSpPr>
              <p:spPr bwMode="auto">
                <a:xfrm>
                  <a:off x="339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60" name="Rectangle 72"/>
                <p:cNvSpPr>
                  <a:spLocks noChangeArrowheads="1"/>
                </p:cNvSpPr>
                <p:nvPr/>
              </p:nvSpPr>
              <p:spPr bwMode="auto">
                <a:xfrm>
                  <a:off x="373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61" name="Rectangle 73"/>
                <p:cNvSpPr>
                  <a:spLocks noChangeArrowheads="1"/>
                </p:cNvSpPr>
                <p:nvPr/>
              </p:nvSpPr>
              <p:spPr bwMode="auto">
                <a:xfrm>
                  <a:off x="407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0762" name="Rectangle 74"/>
                <p:cNvSpPr>
                  <a:spLocks noChangeArrowheads="1"/>
                </p:cNvSpPr>
                <p:nvPr/>
              </p:nvSpPr>
              <p:spPr bwMode="auto">
                <a:xfrm>
                  <a:off x="4413" y="2828"/>
                  <a:ext cx="340" cy="34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70763" name="Rectangle 75"/>
              <p:cNvSpPr>
                <a:spLocks noChangeArrowheads="1"/>
              </p:cNvSpPr>
              <p:nvPr/>
            </p:nvSpPr>
            <p:spPr bwMode="auto">
              <a:xfrm>
                <a:off x="2012" y="1964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w</a:t>
                </a:r>
                <a:endParaRPr lang="en-GB"/>
              </a:p>
            </p:txBody>
          </p:sp>
          <p:sp>
            <p:nvSpPr>
              <p:cNvPr id="370764" name="Rectangle 76"/>
              <p:cNvSpPr>
                <a:spLocks noChangeArrowheads="1"/>
              </p:cNvSpPr>
              <p:nvPr/>
            </p:nvSpPr>
            <p:spPr bwMode="auto">
              <a:xfrm>
                <a:off x="2012" y="2640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n</a:t>
                </a:r>
                <a:endParaRPr lang="en-GB"/>
              </a:p>
            </p:txBody>
          </p:sp>
          <p:sp>
            <p:nvSpPr>
              <p:cNvPr id="370765" name="Rectangle 77"/>
              <p:cNvSpPr>
                <a:spLocks noChangeArrowheads="1"/>
              </p:cNvSpPr>
              <p:nvPr/>
            </p:nvSpPr>
            <p:spPr bwMode="auto">
              <a:xfrm>
                <a:off x="2016" y="2976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t</a:t>
                </a:r>
                <a:endParaRPr lang="en-GB"/>
              </a:p>
            </p:txBody>
          </p:sp>
          <p:sp>
            <p:nvSpPr>
              <p:cNvPr id="370766" name="Rectangle 78"/>
              <p:cNvSpPr>
                <a:spLocks noChangeArrowheads="1"/>
              </p:cNvSpPr>
              <p:nvPr/>
            </p:nvSpPr>
            <p:spPr bwMode="auto">
              <a:xfrm>
                <a:off x="2016" y="2304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i</a:t>
                </a:r>
                <a:endParaRPr lang="en-GB"/>
              </a:p>
            </p:txBody>
          </p:sp>
          <p:sp>
            <p:nvSpPr>
              <p:cNvPr id="370767" name="Rectangle 79"/>
              <p:cNvSpPr>
                <a:spLocks noChangeArrowheads="1"/>
              </p:cNvSpPr>
              <p:nvPr/>
            </p:nvSpPr>
            <p:spPr bwMode="auto">
              <a:xfrm>
                <a:off x="2016" y="3312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e</a:t>
                </a:r>
                <a:endParaRPr lang="en-GB"/>
              </a:p>
            </p:txBody>
          </p:sp>
          <p:sp>
            <p:nvSpPr>
              <p:cNvPr id="370768" name="Rectangle 80"/>
              <p:cNvSpPr>
                <a:spLocks noChangeArrowheads="1"/>
              </p:cNvSpPr>
              <p:nvPr/>
            </p:nvSpPr>
            <p:spPr bwMode="auto">
              <a:xfrm>
                <a:off x="2016" y="3648"/>
                <a:ext cx="340" cy="3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GB" sz="2600"/>
                  <a:t>r</a:t>
                </a:r>
                <a:endParaRPr lang="en-GB"/>
              </a:p>
            </p:txBody>
          </p:sp>
        </p:grpSp>
        <p:sp>
          <p:nvSpPr>
            <p:cNvPr id="370771" name="Rectangle 83"/>
            <p:cNvSpPr>
              <a:spLocks noChangeArrowheads="1"/>
            </p:cNvSpPr>
            <p:nvPr/>
          </p:nvSpPr>
          <p:spPr bwMode="auto">
            <a:xfrm>
              <a:off x="2366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0</a:t>
              </a:r>
              <a:endParaRPr lang="en-GB"/>
            </a:p>
          </p:txBody>
        </p:sp>
        <p:sp>
          <p:nvSpPr>
            <p:cNvPr id="370772" name="Rectangle 84"/>
            <p:cNvSpPr>
              <a:spLocks noChangeArrowheads="1"/>
            </p:cNvSpPr>
            <p:nvPr/>
          </p:nvSpPr>
          <p:spPr bwMode="auto">
            <a:xfrm>
              <a:off x="2706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1</a:t>
              </a:r>
              <a:endParaRPr lang="en-GB"/>
            </a:p>
          </p:txBody>
        </p:sp>
        <p:sp>
          <p:nvSpPr>
            <p:cNvPr id="370774" name="Rectangle 86"/>
            <p:cNvSpPr>
              <a:spLocks noChangeArrowheads="1"/>
            </p:cNvSpPr>
            <p:nvPr/>
          </p:nvSpPr>
          <p:spPr bwMode="auto">
            <a:xfrm>
              <a:off x="3046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775" name="Rectangle 87"/>
            <p:cNvSpPr>
              <a:spLocks noChangeArrowheads="1"/>
            </p:cNvSpPr>
            <p:nvPr/>
          </p:nvSpPr>
          <p:spPr bwMode="auto">
            <a:xfrm>
              <a:off x="3386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776" name="Rectangle 88"/>
            <p:cNvSpPr>
              <a:spLocks noChangeArrowheads="1"/>
            </p:cNvSpPr>
            <p:nvPr/>
          </p:nvSpPr>
          <p:spPr bwMode="auto">
            <a:xfrm>
              <a:off x="3726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777" name="Rectangle 89"/>
            <p:cNvSpPr>
              <a:spLocks noChangeArrowheads="1"/>
            </p:cNvSpPr>
            <p:nvPr/>
          </p:nvSpPr>
          <p:spPr bwMode="auto">
            <a:xfrm>
              <a:off x="4067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778" name="Rectangle 90"/>
            <p:cNvSpPr>
              <a:spLocks noChangeArrowheads="1"/>
            </p:cNvSpPr>
            <p:nvPr/>
          </p:nvSpPr>
          <p:spPr bwMode="auto">
            <a:xfrm>
              <a:off x="4407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6</a:t>
              </a:r>
              <a:endParaRPr lang="en-GB"/>
            </a:p>
          </p:txBody>
        </p:sp>
        <p:sp>
          <p:nvSpPr>
            <p:cNvPr id="370779" name="Rectangle 91"/>
            <p:cNvSpPr>
              <a:spLocks noChangeArrowheads="1"/>
            </p:cNvSpPr>
            <p:nvPr/>
          </p:nvSpPr>
          <p:spPr bwMode="auto">
            <a:xfrm>
              <a:off x="4747" y="16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7</a:t>
              </a:r>
              <a:endParaRPr lang="en-GB"/>
            </a:p>
          </p:txBody>
        </p:sp>
        <p:sp>
          <p:nvSpPr>
            <p:cNvPr id="370780" name="Rectangle 92"/>
            <p:cNvSpPr>
              <a:spLocks noChangeArrowheads="1"/>
            </p:cNvSpPr>
            <p:nvPr/>
          </p:nvSpPr>
          <p:spPr bwMode="auto">
            <a:xfrm>
              <a:off x="2366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1</a:t>
              </a:r>
              <a:endParaRPr lang="en-GB"/>
            </a:p>
          </p:txBody>
        </p:sp>
        <p:sp>
          <p:nvSpPr>
            <p:cNvPr id="370781" name="Rectangle 93"/>
            <p:cNvSpPr>
              <a:spLocks noChangeArrowheads="1"/>
            </p:cNvSpPr>
            <p:nvPr/>
          </p:nvSpPr>
          <p:spPr bwMode="auto">
            <a:xfrm>
              <a:off x="2366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782" name="Rectangle 94"/>
            <p:cNvSpPr>
              <a:spLocks noChangeArrowheads="1"/>
            </p:cNvSpPr>
            <p:nvPr/>
          </p:nvSpPr>
          <p:spPr bwMode="auto">
            <a:xfrm>
              <a:off x="2366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783" name="Rectangle 95"/>
            <p:cNvSpPr>
              <a:spLocks noChangeArrowheads="1"/>
            </p:cNvSpPr>
            <p:nvPr/>
          </p:nvSpPr>
          <p:spPr bwMode="auto">
            <a:xfrm>
              <a:off x="2366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784" name="Rectangle 96"/>
            <p:cNvSpPr>
              <a:spLocks noChangeArrowheads="1"/>
            </p:cNvSpPr>
            <p:nvPr/>
          </p:nvSpPr>
          <p:spPr bwMode="auto">
            <a:xfrm>
              <a:off x="2366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785" name="Rectangle 97"/>
            <p:cNvSpPr>
              <a:spLocks noChangeArrowheads="1"/>
            </p:cNvSpPr>
            <p:nvPr/>
          </p:nvSpPr>
          <p:spPr bwMode="auto">
            <a:xfrm>
              <a:off x="2366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6</a:t>
              </a:r>
              <a:endParaRPr lang="en-GB"/>
            </a:p>
          </p:txBody>
        </p:sp>
        <p:sp>
          <p:nvSpPr>
            <p:cNvPr id="370787" name="Rectangle 99"/>
            <p:cNvSpPr>
              <a:spLocks noChangeArrowheads="1"/>
            </p:cNvSpPr>
            <p:nvPr/>
          </p:nvSpPr>
          <p:spPr bwMode="auto">
            <a:xfrm>
              <a:off x="2706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0</a:t>
              </a:r>
              <a:endParaRPr lang="en-GB"/>
            </a:p>
          </p:txBody>
        </p:sp>
        <p:sp>
          <p:nvSpPr>
            <p:cNvPr id="370789" name="Rectangle 101"/>
            <p:cNvSpPr>
              <a:spLocks noChangeArrowheads="1"/>
            </p:cNvSpPr>
            <p:nvPr/>
          </p:nvSpPr>
          <p:spPr bwMode="auto">
            <a:xfrm>
              <a:off x="3046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1</a:t>
              </a:r>
              <a:endParaRPr lang="en-GB"/>
            </a:p>
          </p:txBody>
        </p:sp>
        <p:sp>
          <p:nvSpPr>
            <p:cNvPr id="370791" name="Rectangle 103"/>
            <p:cNvSpPr>
              <a:spLocks noChangeArrowheads="1"/>
            </p:cNvSpPr>
            <p:nvPr/>
          </p:nvSpPr>
          <p:spPr bwMode="auto">
            <a:xfrm>
              <a:off x="3386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792" name="Rectangle 104"/>
            <p:cNvSpPr>
              <a:spLocks noChangeArrowheads="1"/>
            </p:cNvSpPr>
            <p:nvPr/>
          </p:nvSpPr>
          <p:spPr bwMode="auto">
            <a:xfrm>
              <a:off x="3726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793" name="Rectangle 105"/>
            <p:cNvSpPr>
              <a:spLocks noChangeArrowheads="1"/>
            </p:cNvSpPr>
            <p:nvPr/>
          </p:nvSpPr>
          <p:spPr bwMode="auto">
            <a:xfrm>
              <a:off x="4067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794" name="Rectangle 106"/>
            <p:cNvSpPr>
              <a:spLocks noChangeArrowheads="1"/>
            </p:cNvSpPr>
            <p:nvPr/>
          </p:nvSpPr>
          <p:spPr bwMode="auto">
            <a:xfrm>
              <a:off x="4407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795" name="Rectangle 107"/>
            <p:cNvSpPr>
              <a:spLocks noChangeArrowheads="1"/>
            </p:cNvSpPr>
            <p:nvPr/>
          </p:nvSpPr>
          <p:spPr bwMode="auto">
            <a:xfrm>
              <a:off x="4747" y="19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6</a:t>
              </a:r>
              <a:endParaRPr lang="en-GB"/>
            </a:p>
          </p:txBody>
        </p:sp>
        <p:sp>
          <p:nvSpPr>
            <p:cNvPr id="370796" name="Rectangle 108"/>
            <p:cNvSpPr>
              <a:spLocks noChangeArrowheads="1"/>
            </p:cNvSpPr>
            <p:nvPr/>
          </p:nvSpPr>
          <p:spPr bwMode="auto">
            <a:xfrm>
              <a:off x="2706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1</a:t>
              </a:r>
              <a:endParaRPr lang="en-GB"/>
            </a:p>
          </p:txBody>
        </p:sp>
        <p:sp>
          <p:nvSpPr>
            <p:cNvPr id="370797" name="Rectangle 109"/>
            <p:cNvSpPr>
              <a:spLocks noChangeArrowheads="1"/>
            </p:cNvSpPr>
            <p:nvPr/>
          </p:nvSpPr>
          <p:spPr bwMode="auto">
            <a:xfrm>
              <a:off x="3046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1</a:t>
              </a:r>
              <a:endParaRPr lang="en-GB"/>
            </a:p>
          </p:txBody>
        </p:sp>
        <p:sp>
          <p:nvSpPr>
            <p:cNvPr id="370798" name="Rectangle 110"/>
            <p:cNvSpPr>
              <a:spLocks noChangeArrowheads="1"/>
            </p:cNvSpPr>
            <p:nvPr/>
          </p:nvSpPr>
          <p:spPr bwMode="auto">
            <a:xfrm>
              <a:off x="3386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1</a:t>
              </a:r>
              <a:endParaRPr lang="en-GB"/>
            </a:p>
          </p:txBody>
        </p:sp>
        <p:sp>
          <p:nvSpPr>
            <p:cNvPr id="370799" name="Rectangle 111"/>
            <p:cNvSpPr>
              <a:spLocks noChangeArrowheads="1"/>
            </p:cNvSpPr>
            <p:nvPr/>
          </p:nvSpPr>
          <p:spPr bwMode="auto">
            <a:xfrm>
              <a:off x="3726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00" name="Rectangle 112"/>
            <p:cNvSpPr>
              <a:spLocks noChangeArrowheads="1"/>
            </p:cNvSpPr>
            <p:nvPr/>
          </p:nvSpPr>
          <p:spPr bwMode="auto">
            <a:xfrm>
              <a:off x="4067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01" name="Rectangle 113"/>
            <p:cNvSpPr>
              <a:spLocks noChangeArrowheads="1"/>
            </p:cNvSpPr>
            <p:nvPr/>
          </p:nvSpPr>
          <p:spPr bwMode="auto">
            <a:xfrm>
              <a:off x="4407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02" name="Rectangle 114"/>
            <p:cNvSpPr>
              <a:spLocks noChangeArrowheads="1"/>
            </p:cNvSpPr>
            <p:nvPr/>
          </p:nvSpPr>
          <p:spPr bwMode="auto">
            <a:xfrm>
              <a:off x="4747" y="231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803" name="Rectangle 115"/>
            <p:cNvSpPr>
              <a:spLocks noChangeArrowheads="1"/>
            </p:cNvSpPr>
            <p:nvPr/>
          </p:nvSpPr>
          <p:spPr bwMode="auto">
            <a:xfrm>
              <a:off x="2706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04" name="Rectangle 116"/>
            <p:cNvSpPr>
              <a:spLocks noChangeArrowheads="1"/>
            </p:cNvSpPr>
            <p:nvPr/>
          </p:nvSpPr>
          <p:spPr bwMode="auto">
            <a:xfrm>
              <a:off x="3046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05" name="Rectangle 117"/>
            <p:cNvSpPr>
              <a:spLocks noChangeArrowheads="1"/>
            </p:cNvSpPr>
            <p:nvPr/>
          </p:nvSpPr>
          <p:spPr bwMode="auto">
            <a:xfrm>
              <a:off x="3386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06" name="Rectangle 118"/>
            <p:cNvSpPr>
              <a:spLocks noChangeArrowheads="1"/>
            </p:cNvSpPr>
            <p:nvPr/>
          </p:nvSpPr>
          <p:spPr bwMode="auto">
            <a:xfrm>
              <a:off x="3726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07" name="Rectangle 119"/>
            <p:cNvSpPr>
              <a:spLocks noChangeArrowheads="1"/>
            </p:cNvSpPr>
            <p:nvPr/>
          </p:nvSpPr>
          <p:spPr bwMode="auto">
            <a:xfrm>
              <a:off x="4067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08" name="Rectangle 120"/>
            <p:cNvSpPr>
              <a:spLocks noChangeArrowheads="1"/>
            </p:cNvSpPr>
            <p:nvPr/>
          </p:nvSpPr>
          <p:spPr bwMode="auto">
            <a:xfrm>
              <a:off x="4407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09" name="Rectangle 121"/>
            <p:cNvSpPr>
              <a:spLocks noChangeArrowheads="1"/>
            </p:cNvSpPr>
            <p:nvPr/>
          </p:nvSpPr>
          <p:spPr bwMode="auto">
            <a:xfrm>
              <a:off x="4747" y="265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810" name="Rectangle 122"/>
            <p:cNvSpPr>
              <a:spLocks noChangeArrowheads="1"/>
            </p:cNvSpPr>
            <p:nvPr/>
          </p:nvSpPr>
          <p:spPr bwMode="auto">
            <a:xfrm>
              <a:off x="2706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11" name="Rectangle 123"/>
            <p:cNvSpPr>
              <a:spLocks noChangeArrowheads="1"/>
            </p:cNvSpPr>
            <p:nvPr/>
          </p:nvSpPr>
          <p:spPr bwMode="auto">
            <a:xfrm>
              <a:off x="3046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12" name="Rectangle 124"/>
            <p:cNvSpPr>
              <a:spLocks noChangeArrowheads="1"/>
            </p:cNvSpPr>
            <p:nvPr/>
          </p:nvSpPr>
          <p:spPr bwMode="auto">
            <a:xfrm>
              <a:off x="3386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13" name="Rectangle 125"/>
            <p:cNvSpPr>
              <a:spLocks noChangeArrowheads="1"/>
            </p:cNvSpPr>
            <p:nvPr/>
          </p:nvSpPr>
          <p:spPr bwMode="auto">
            <a:xfrm>
              <a:off x="3726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14" name="Rectangle 126"/>
            <p:cNvSpPr>
              <a:spLocks noChangeArrowheads="1"/>
            </p:cNvSpPr>
            <p:nvPr/>
          </p:nvSpPr>
          <p:spPr bwMode="auto">
            <a:xfrm>
              <a:off x="4067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15" name="Rectangle 127"/>
            <p:cNvSpPr>
              <a:spLocks noChangeArrowheads="1"/>
            </p:cNvSpPr>
            <p:nvPr/>
          </p:nvSpPr>
          <p:spPr bwMode="auto">
            <a:xfrm>
              <a:off x="4407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16" name="Rectangle 128"/>
            <p:cNvSpPr>
              <a:spLocks noChangeArrowheads="1"/>
            </p:cNvSpPr>
            <p:nvPr/>
          </p:nvSpPr>
          <p:spPr bwMode="auto">
            <a:xfrm>
              <a:off x="4747" y="299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817" name="Rectangle 129"/>
            <p:cNvSpPr>
              <a:spLocks noChangeArrowheads="1"/>
            </p:cNvSpPr>
            <p:nvPr/>
          </p:nvSpPr>
          <p:spPr bwMode="auto">
            <a:xfrm>
              <a:off x="2706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18" name="Rectangle 130"/>
            <p:cNvSpPr>
              <a:spLocks noChangeArrowheads="1"/>
            </p:cNvSpPr>
            <p:nvPr/>
          </p:nvSpPr>
          <p:spPr bwMode="auto">
            <a:xfrm>
              <a:off x="3046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19" name="Rectangle 131"/>
            <p:cNvSpPr>
              <a:spLocks noChangeArrowheads="1"/>
            </p:cNvSpPr>
            <p:nvPr/>
          </p:nvSpPr>
          <p:spPr bwMode="auto">
            <a:xfrm>
              <a:off x="3386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20" name="Rectangle 132"/>
            <p:cNvSpPr>
              <a:spLocks noChangeArrowheads="1"/>
            </p:cNvSpPr>
            <p:nvPr/>
          </p:nvSpPr>
          <p:spPr bwMode="auto">
            <a:xfrm>
              <a:off x="3726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21" name="Rectangle 133"/>
            <p:cNvSpPr>
              <a:spLocks noChangeArrowheads="1"/>
            </p:cNvSpPr>
            <p:nvPr/>
          </p:nvSpPr>
          <p:spPr bwMode="auto">
            <a:xfrm>
              <a:off x="4067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22" name="Rectangle 134"/>
            <p:cNvSpPr>
              <a:spLocks noChangeArrowheads="1"/>
            </p:cNvSpPr>
            <p:nvPr/>
          </p:nvSpPr>
          <p:spPr bwMode="auto">
            <a:xfrm>
              <a:off x="4407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23" name="Rectangle 135"/>
            <p:cNvSpPr>
              <a:spLocks noChangeArrowheads="1"/>
            </p:cNvSpPr>
            <p:nvPr/>
          </p:nvSpPr>
          <p:spPr bwMode="auto">
            <a:xfrm>
              <a:off x="4747" y="333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24" name="Rectangle 136"/>
            <p:cNvSpPr>
              <a:spLocks noChangeArrowheads="1"/>
            </p:cNvSpPr>
            <p:nvPr/>
          </p:nvSpPr>
          <p:spPr bwMode="auto">
            <a:xfrm>
              <a:off x="2706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825" name="Rectangle 137"/>
            <p:cNvSpPr>
              <a:spLocks noChangeArrowheads="1"/>
            </p:cNvSpPr>
            <p:nvPr/>
          </p:nvSpPr>
          <p:spPr bwMode="auto">
            <a:xfrm>
              <a:off x="3046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26" name="Rectangle 138"/>
            <p:cNvSpPr>
              <a:spLocks noChangeArrowheads="1"/>
            </p:cNvSpPr>
            <p:nvPr/>
          </p:nvSpPr>
          <p:spPr bwMode="auto">
            <a:xfrm>
              <a:off x="3386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5</a:t>
              </a:r>
              <a:endParaRPr lang="en-GB"/>
            </a:p>
          </p:txBody>
        </p:sp>
        <p:sp>
          <p:nvSpPr>
            <p:cNvPr id="370827" name="Rectangle 139"/>
            <p:cNvSpPr>
              <a:spLocks noChangeArrowheads="1"/>
            </p:cNvSpPr>
            <p:nvPr/>
          </p:nvSpPr>
          <p:spPr bwMode="auto">
            <a:xfrm>
              <a:off x="3726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4</a:t>
              </a:r>
              <a:endParaRPr lang="en-GB"/>
            </a:p>
          </p:txBody>
        </p:sp>
        <p:sp>
          <p:nvSpPr>
            <p:cNvPr id="370828" name="Rectangle 140"/>
            <p:cNvSpPr>
              <a:spLocks noChangeArrowheads="1"/>
            </p:cNvSpPr>
            <p:nvPr/>
          </p:nvSpPr>
          <p:spPr bwMode="auto">
            <a:xfrm>
              <a:off x="4067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29" name="Rectangle 141"/>
            <p:cNvSpPr>
              <a:spLocks noChangeArrowheads="1"/>
            </p:cNvSpPr>
            <p:nvPr/>
          </p:nvSpPr>
          <p:spPr bwMode="auto">
            <a:xfrm>
              <a:off x="4407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2</a:t>
              </a:r>
              <a:endParaRPr lang="en-GB"/>
            </a:p>
          </p:txBody>
        </p:sp>
        <p:sp>
          <p:nvSpPr>
            <p:cNvPr id="370830" name="Rectangle 142"/>
            <p:cNvSpPr>
              <a:spLocks noChangeArrowheads="1"/>
            </p:cNvSpPr>
            <p:nvPr/>
          </p:nvSpPr>
          <p:spPr bwMode="auto">
            <a:xfrm>
              <a:off x="4747" y="3679"/>
              <a:ext cx="340" cy="3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/>
                <a:t>3</a:t>
              </a:r>
              <a:endParaRPr lang="en-GB"/>
            </a:p>
          </p:txBody>
        </p:sp>
        <p:sp>
          <p:nvSpPr>
            <p:cNvPr id="370832" name="Rectangle 144"/>
            <p:cNvSpPr>
              <a:spLocks noChangeArrowheads="1"/>
            </p:cNvSpPr>
            <p:nvPr/>
          </p:nvSpPr>
          <p:spPr bwMode="auto">
            <a:xfrm>
              <a:off x="4747" y="3677"/>
              <a:ext cx="340" cy="340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GB" sz="2800" b="1"/>
                <a:t>3</a:t>
              </a:r>
              <a:endParaRPr lang="en-GB"/>
            </a:p>
          </p:txBody>
        </p:sp>
      </p:grpSp>
      <p:sp>
        <p:nvSpPr>
          <p:cNvPr id="370834" name="Rectangle 146"/>
          <p:cNvSpPr>
            <a:spLocks noChangeArrowheads="1"/>
          </p:cNvSpPr>
          <p:nvPr/>
        </p:nvSpPr>
        <p:spPr bwMode="auto">
          <a:xfrm>
            <a:off x="531813" y="2439988"/>
            <a:ext cx="2514600" cy="1217612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La cella (6,7) è stata</a:t>
            </a:r>
          </a:p>
          <a:p>
            <a:r>
              <a:rPr lang="en-GB" sz="2000" b="1">
                <a:latin typeface="Arial" charset="0"/>
              </a:rPr>
              <a:t>prodotta a partire</a:t>
            </a:r>
          </a:p>
          <a:p>
            <a:r>
              <a:rPr lang="en-GB" sz="2000" b="1">
                <a:latin typeface="Arial" charset="0"/>
              </a:rPr>
              <a:t>dalla cella (6,6)</a:t>
            </a:r>
          </a:p>
        </p:txBody>
      </p:sp>
      <p:sp>
        <p:nvSpPr>
          <p:cNvPr id="370836" name="Rectangle 148"/>
          <p:cNvSpPr>
            <a:spLocks noChangeArrowheads="1"/>
          </p:cNvSpPr>
          <p:nvPr/>
        </p:nvSpPr>
        <p:spPr bwMode="auto">
          <a:xfrm>
            <a:off x="609600" y="4038600"/>
            <a:ext cx="2286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latin typeface="Courier New" charset="0"/>
              </a:rPr>
              <a:t>winter</a:t>
            </a:r>
            <a:endParaRPr lang="en-GB"/>
          </a:p>
        </p:txBody>
      </p:sp>
      <p:sp>
        <p:nvSpPr>
          <p:cNvPr id="370837" name="Rectangle 149"/>
          <p:cNvSpPr>
            <a:spLocks noChangeArrowheads="1"/>
          </p:cNvSpPr>
          <p:nvPr/>
        </p:nvSpPr>
        <p:spPr bwMode="auto">
          <a:xfrm>
            <a:off x="6996113" y="5837238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2</a:t>
            </a:r>
            <a:endParaRPr lang="en-GB"/>
          </a:p>
        </p:txBody>
      </p:sp>
      <p:sp>
        <p:nvSpPr>
          <p:cNvPr id="370840" name="Rectangle 152"/>
          <p:cNvSpPr>
            <a:spLocks noChangeArrowheads="1"/>
          </p:cNvSpPr>
          <p:nvPr/>
        </p:nvSpPr>
        <p:spPr bwMode="auto">
          <a:xfrm>
            <a:off x="609600" y="4038600"/>
            <a:ext cx="2286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latin typeface="Courier New" charset="0"/>
              </a:rPr>
              <a:t>winter</a:t>
            </a:r>
            <a:r>
              <a:rPr lang="en-GB" sz="3400" b="1">
                <a:solidFill>
                  <a:schemeClr val="hlink"/>
                </a:solidFill>
                <a:latin typeface="Courier New" charset="0"/>
              </a:rPr>
              <a:t>s</a:t>
            </a:r>
            <a:endParaRPr lang="en-GB"/>
          </a:p>
        </p:txBody>
      </p:sp>
      <p:sp>
        <p:nvSpPr>
          <p:cNvPr id="370841" name="Rectangle 153"/>
          <p:cNvSpPr>
            <a:spLocks noChangeArrowheads="1"/>
          </p:cNvSpPr>
          <p:nvPr/>
        </p:nvSpPr>
        <p:spPr bwMode="auto">
          <a:xfrm>
            <a:off x="6451600" y="5292725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2</a:t>
            </a:r>
            <a:endParaRPr lang="en-GB"/>
          </a:p>
        </p:txBody>
      </p:sp>
      <p:sp>
        <p:nvSpPr>
          <p:cNvPr id="370842" name="Rectangle 154"/>
          <p:cNvSpPr>
            <a:spLocks noChangeArrowheads="1"/>
          </p:cNvSpPr>
          <p:nvPr/>
        </p:nvSpPr>
        <p:spPr bwMode="auto">
          <a:xfrm>
            <a:off x="533400" y="2438400"/>
            <a:ext cx="2514600" cy="1217613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La cella (6,6) è stata</a:t>
            </a:r>
          </a:p>
          <a:p>
            <a:r>
              <a:rPr lang="en-GB" sz="2000" b="1">
                <a:latin typeface="Arial" charset="0"/>
              </a:rPr>
              <a:t>prodotta a partire</a:t>
            </a:r>
          </a:p>
          <a:p>
            <a:r>
              <a:rPr lang="en-GB" sz="2000" b="1">
                <a:latin typeface="Arial" charset="0"/>
              </a:rPr>
              <a:t>dalla cella (5,5)</a:t>
            </a:r>
          </a:p>
        </p:txBody>
      </p:sp>
      <p:sp>
        <p:nvSpPr>
          <p:cNvPr id="370843" name="Rectangle 155"/>
          <p:cNvSpPr>
            <a:spLocks noChangeArrowheads="1"/>
          </p:cNvSpPr>
          <p:nvPr/>
        </p:nvSpPr>
        <p:spPr bwMode="auto">
          <a:xfrm>
            <a:off x="608013" y="4038600"/>
            <a:ext cx="2286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latin typeface="Courier New" charset="0"/>
              </a:rPr>
              <a:t>winte</a:t>
            </a:r>
            <a:r>
              <a:rPr lang="en-GB" sz="3400" b="1">
                <a:solidFill>
                  <a:schemeClr val="hlink"/>
                </a:solidFill>
                <a:latin typeface="Courier New" charset="0"/>
              </a:rPr>
              <a:t>rs</a:t>
            </a:r>
            <a:endParaRPr lang="en-GB"/>
          </a:p>
        </p:txBody>
      </p:sp>
      <p:sp>
        <p:nvSpPr>
          <p:cNvPr id="370844" name="Rectangle 156"/>
          <p:cNvSpPr>
            <a:spLocks noChangeArrowheads="1"/>
          </p:cNvSpPr>
          <p:nvPr/>
        </p:nvSpPr>
        <p:spPr bwMode="auto">
          <a:xfrm>
            <a:off x="5915025" y="4756150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2</a:t>
            </a:r>
            <a:endParaRPr lang="en-GB"/>
          </a:p>
        </p:txBody>
      </p:sp>
      <p:sp>
        <p:nvSpPr>
          <p:cNvPr id="370845" name="Rectangle 157"/>
          <p:cNvSpPr>
            <a:spLocks noChangeArrowheads="1"/>
          </p:cNvSpPr>
          <p:nvPr/>
        </p:nvSpPr>
        <p:spPr bwMode="auto">
          <a:xfrm>
            <a:off x="531813" y="2439988"/>
            <a:ext cx="2514600" cy="1217612"/>
          </a:xfrm>
          <a:prstGeom prst="rect">
            <a:avLst/>
          </a:prstGeom>
          <a:solidFill>
            <a:srgbClr val="CCFFFF"/>
          </a:solidFill>
          <a:ln>
            <a:noFill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GB" sz="2000" b="1">
                <a:latin typeface="Arial" charset="0"/>
              </a:rPr>
              <a:t>…e così di seguito</a:t>
            </a:r>
          </a:p>
        </p:txBody>
      </p:sp>
      <p:sp>
        <p:nvSpPr>
          <p:cNvPr id="370846" name="Rectangle 158"/>
          <p:cNvSpPr>
            <a:spLocks noChangeArrowheads="1"/>
          </p:cNvSpPr>
          <p:nvPr/>
        </p:nvSpPr>
        <p:spPr bwMode="auto">
          <a:xfrm>
            <a:off x="608013" y="4038600"/>
            <a:ext cx="2286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latin typeface="Courier New" charset="0"/>
              </a:rPr>
              <a:t>wint</a:t>
            </a:r>
            <a:r>
              <a:rPr lang="en-GB" sz="3400" b="1">
                <a:solidFill>
                  <a:schemeClr val="hlink"/>
                </a:solidFill>
                <a:latin typeface="Courier New" charset="0"/>
              </a:rPr>
              <a:t>ers</a:t>
            </a:r>
            <a:endParaRPr lang="en-GB"/>
          </a:p>
        </p:txBody>
      </p:sp>
      <p:sp>
        <p:nvSpPr>
          <p:cNvPr id="370847" name="Rectangle 159"/>
          <p:cNvSpPr>
            <a:spLocks noChangeArrowheads="1"/>
          </p:cNvSpPr>
          <p:nvPr/>
        </p:nvSpPr>
        <p:spPr bwMode="auto">
          <a:xfrm>
            <a:off x="5375275" y="4216400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2</a:t>
            </a:r>
            <a:endParaRPr lang="en-GB"/>
          </a:p>
        </p:txBody>
      </p:sp>
      <p:sp>
        <p:nvSpPr>
          <p:cNvPr id="370848" name="Rectangle 160"/>
          <p:cNvSpPr>
            <a:spLocks noChangeArrowheads="1"/>
          </p:cNvSpPr>
          <p:nvPr/>
        </p:nvSpPr>
        <p:spPr bwMode="auto">
          <a:xfrm>
            <a:off x="608013" y="4038600"/>
            <a:ext cx="2286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latin typeface="Courier New" charset="0"/>
              </a:rPr>
              <a:t>win</a:t>
            </a:r>
            <a:r>
              <a:rPr lang="en-GB" sz="3400" b="1">
                <a:solidFill>
                  <a:schemeClr val="hlink"/>
                </a:solidFill>
                <a:latin typeface="Courier New" charset="0"/>
              </a:rPr>
              <a:t>ters</a:t>
            </a:r>
            <a:endParaRPr lang="en-GB"/>
          </a:p>
        </p:txBody>
      </p:sp>
      <p:sp>
        <p:nvSpPr>
          <p:cNvPr id="370849" name="Rectangle 161"/>
          <p:cNvSpPr>
            <a:spLocks noChangeArrowheads="1"/>
          </p:cNvSpPr>
          <p:nvPr/>
        </p:nvSpPr>
        <p:spPr bwMode="auto">
          <a:xfrm>
            <a:off x="4840288" y="3676650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1</a:t>
            </a:r>
            <a:endParaRPr lang="en-GB"/>
          </a:p>
        </p:txBody>
      </p:sp>
      <p:sp>
        <p:nvSpPr>
          <p:cNvPr id="370850" name="Rectangle 162"/>
          <p:cNvSpPr>
            <a:spLocks noChangeArrowheads="1"/>
          </p:cNvSpPr>
          <p:nvPr/>
        </p:nvSpPr>
        <p:spPr bwMode="auto">
          <a:xfrm>
            <a:off x="608013" y="4038600"/>
            <a:ext cx="2286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latin typeface="Courier New" charset="0"/>
              </a:rPr>
              <a:t>wi</a:t>
            </a:r>
            <a:r>
              <a:rPr lang="en-GB" sz="3400" b="1">
                <a:solidFill>
                  <a:schemeClr val="hlink"/>
                </a:solidFill>
                <a:latin typeface="Courier New" charset="0"/>
              </a:rPr>
              <a:t>iters</a:t>
            </a:r>
            <a:endParaRPr lang="en-GB"/>
          </a:p>
        </p:txBody>
      </p:sp>
      <p:sp>
        <p:nvSpPr>
          <p:cNvPr id="370851" name="Rectangle 163"/>
          <p:cNvSpPr>
            <a:spLocks noChangeArrowheads="1"/>
          </p:cNvSpPr>
          <p:nvPr/>
        </p:nvSpPr>
        <p:spPr bwMode="auto">
          <a:xfrm>
            <a:off x="4295775" y="3136900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0</a:t>
            </a:r>
            <a:endParaRPr lang="en-GB"/>
          </a:p>
        </p:txBody>
      </p:sp>
      <p:sp>
        <p:nvSpPr>
          <p:cNvPr id="370852" name="Rectangle 164"/>
          <p:cNvSpPr>
            <a:spLocks noChangeArrowheads="1"/>
          </p:cNvSpPr>
          <p:nvPr/>
        </p:nvSpPr>
        <p:spPr bwMode="auto">
          <a:xfrm>
            <a:off x="608013" y="4038600"/>
            <a:ext cx="2286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latin typeface="Courier New" charset="0"/>
              </a:rPr>
              <a:t>w</a:t>
            </a:r>
            <a:r>
              <a:rPr lang="en-GB" sz="3400" b="1">
                <a:solidFill>
                  <a:schemeClr val="hlink"/>
                </a:solidFill>
                <a:latin typeface="Courier New" charset="0"/>
              </a:rPr>
              <a:t>riters</a:t>
            </a:r>
            <a:endParaRPr lang="en-GB"/>
          </a:p>
        </p:txBody>
      </p:sp>
      <p:sp>
        <p:nvSpPr>
          <p:cNvPr id="370853" name="Rectangle 165"/>
          <p:cNvSpPr>
            <a:spLocks noChangeArrowheads="1"/>
          </p:cNvSpPr>
          <p:nvPr/>
        </p:nvSpPr>
        <p:spPr bwMode="auto">
          <a:xfrm>
            <a:off x="3756025" y="2597150"/>
            <a:ext cx="539750" cy="53975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GB" sz="2800" b="1"/>
              <a:t>0</a:t>
            </a:r>
            <a:endParaRPr lang="en-GB"/>
          </a:p>
        </p:txBody>
      </p:sp>
      <p:sp>
        <p:nvSpPr>
          <p:cNvPr id="370854" name="Rectangle 166"/>
          <p:cNvSpPr>
            <a:spLocks noChangeArrowheads="1"/>
          </p:cNvSpPr>
          <p:nvPr/>
        </p:nvSpPr>
        <p:spPr bwMode="auto">
          <a:xfrm>
            <a:off x="608013" y="4038600"/>
            <a:ext cx="2286000" cy="60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3400" b="1">
                <a:solidFill>
                  <a:schemeClr val="hlink"/>
                </a:solidFill>
                <a:latin typeface="Courier New" charset="0"/>
              </a:rPr>
              <a:t>writers</a:t>
            </a:r>
            <a:endParaRPr lang="en-GB"/>
          </a:p>
        </p:txBody>
      </p:sp>
      <p:sp>
        <p:nvSpPr>
          <p:cNvPr id="370855" name="Rectangle 167"/>
          <p:cNvSpPr>
            <a:spLocks noChangeArrowheads="1"/>
          </p:cNvSpPr>
          <p:nvPr/>
        </p:nvSpPr>
        <p:spPr bwMode="auto">
          <a:xfrm>
            <a:off x="609600" y="4802188"/>
            <a:ext cx="2057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2200"/>
              <a:t>Operazioni: ?</a:t>
            </a:r>
          </a:p>
        </p:txBody>
      </p:sp>
      <p:sp>
        <p:nvSpPr>
          <p:cNvPr id="370856" name="Rectangle 168"/>
          <p:cNvSpPr>
            <a:spLocks noChangeArrowheads="1"/>
          </p:cNvSpPr>
          <p:nvPr/>
        </p:nvSpPr>
        <p:spPr bwMode="auto">
          <a:xfrm>
            <a:off x="609600" y="5259388"/>
            <a:ext cx="20574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1600"/>
              <a:t>- inserimento di </a:t>
            </a:r>
            <a:r>
              <a:rPr lang="en-GB" sz="1600" b="1"/>
              <a:t>s</a:t>
            </a:r>
            <a:endParaRPr lang="en-GB" sz="1600"/>
          </a:p>
        </p:txBody>
      </p:sp>
      <p:sp>
        <p:nvSpPr>
          <p:cNvPr id="370857" name="Rectangle 169"/>
          <p:cNvSpPr>
            <a:spLocks noChangeArrowheads="1"/>
          </p:cNvSpPr>
          <p:nvPr/>
        </p:nvSpPr>
        <p:spPr bwMode="auto">
          <a:xfrm>
            <a:off x="608013" y="4800600"/>
            <a:ext cx="2057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2200"/>
              <a:t>Operazioni:</a:t>
            </a:r>
          </a:p>
        </p:txBody>
      </p:sp>
      <p:sp>
        <p:nvSpPr>
          <p:cNvPr id="370859" name="Rectangle 171"/>
          <p:cNvSpPr>
            <a:spLocks noChangeArrowheads="1"/>
          </p:cNvSpPr>
          <p:nvPr/>
        </p:nvSpPr>
        <p:spPr bwMode="auto">
          <a:xfrm>
            <a:off x="609600" y="5562600"/>
            <a:ext cx="2209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1600"/>
              <a:t>- sostituzione </a:t>
            </a:r>
            <a:r>
              <a:rPr lang="en-GB" sz="1600" b="1"/>
              <a:t>n </a:t>
            </a:r>
            <a:r>
              <a:rPr lang="en-GB" sz="1600" b="1">
                <a:sym typeface="Symbol" charset="0"/>
              </a:rPr>
              <a:t> </a:t>
            </a:r>
            <a:r>
              <a:rPr lang="en-GB" sz="1600" b="1"/>
              <a:t>i</a:t>
            </a:r>
          </a:p>
        </p:txBody>
      </p:sp>
      <p:sp>
        <p:nvSpPr>
          <p:cNvPr id="370860" name="Rectangle 172"/>
          <p:cNvSpPr>
            <a:spLocks noChangeArrowheads="1"/>
          </p:cNvSpPr>
          <p:nvPr/>
        </p:nvSpPr>
        <p:spPr bwMode="auto">
          <a:xfrm>
            <a:off x="609600" y="5867400"/>
            <a:ext cx="22098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GB" sz="1600"/>
              <a:t>- sostituzione </a:t>
            </a:r>
            <a:r>
              <a:rPr lang="en-GB" sz="1600" b="1"/>
              <a:t>i </a:t>
            </a:r>
            <a:r>
              <a:rPr lang="en-GB" sz="1600" b="1">
                <a:sym typeface="Symbol" charset="0"/>
              </a:rPr>
              <a:t> </a:t>
            </a:r>
            <a:r>
              <a:rPr lang="en-GB" sz="1600" b="1"/>
              <a:t>r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7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7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834" grpId="0" animBg="1" autoUpdateAnimBg="0"/>
      <p:bldP spid="370836" grpId="0" autoUpdateAnimBg="0"/>
      <p:bldP spid="370837" grpId="0" animBg="1" autoUpdateAnimBg="0"/>
      <p:bldP spid="370840" grpId="0" animBg="1" autoUpdateAnimBg="0"/>
      <p:bldP spid="370841" grpId="0" animBg="1" autoUpdateAnimBg="0"/>
      <p:bldP spid="370842" grpId="0" animBg="1" autoUpdateAnimBg="0"/>
      <p:bldP spid="370843" grpId="0" animBg="1" autoUpdateAnimBg="0"/>
      <p:bldP spid="370844" grpId="0" animBg="1" autoUpdateAnimBg="0"/>
      <p:bldP spid="370845" grpId="0" animBg="1" autoUpdateAnimBg="0"/>
      <p:bldP spid="370846" grpId="0" animBg="1" autoUpdateAnimBg="0"/>
      <p:bldP spid="370847" grpId="0" animBg="1" autoUpdateAnimBg="0"/>
      <p:bldP spid="370848" grpId="0" animBg="1" autoUpdateAnimBg="0"/>
      <p:bldP spid="370849" grpId="0" animBg="1" autoUpdateAnimBg="0"/>
      <p:bldP spid="370850" grpId="0" animBg="1" autoUpdateAnimBg="0"/>
      <p:bldP spid="370851" grpId="0" animBg="1" autoUpdateAnimBg="0"/>
      <p:bldP spid="370852" grpId="0" animBg="1" autoUpdateAnimBg="0"/>
      <p:bldP spid="370853" grpId="0" animBg="1" autoUpdateAnimBg="0"/>
      <p:bldP spid="370854" grpId="0" animBg="1" autoUpdateAnimBg="0"/>
      <p:bldP spid="370855" grpId="0" animBg="1" autoUpdateAnimBg="0"/>
      <p:bldP spid="370856" grpId="0" autoUpdateAnimBg="0"/>
      <p:bldP spid="370857" grpId="0" animBg="1" autoUpdateAnimBg="0"/>
      <p:bldP spid="370859" grpId="0" autoUpdateAnimBg="0"/>
      <p:bldP spid="37086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sz="3600"/>
              <a:t>Calcolo della distanza di edit</a:t>
            </a:r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D43D488F-7AC8-5E43-A8AE-F29CF713E077}" type="slidenum">
              <a:rPr lang="en-US"/>
              <a:pPr/>
              <a:t>17</a:t>
            </a:fld>
            <a:endParaRPr lang="en-US" sz="1400">
              <a:latin typeface="Tahoma" charset="0"/>
            </a:endParaRPr>
          </a:p>
        </p:txBody>
      </p:sp>
      <p:sp>
        <p:nvSpPr>
          <p:cNvPr id="3747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11560" y="1916832"/>
            <a:ext cx="7920880" cy="3456384"/>
          </a:xfrm>
        </p:spPr>
        <p:txBody>
          <a:bodyPr/>
          <a:lstStyle/>
          <a:p>
            <a:pPr marL="293688" indent="-293688">
              <a:lnSpc>
                <a:spcPct val="90000"/>
              </a:lnSpc>
              <a:buFont typeface="Monotype Sorts" charset="0"/>
              <a:buNone/>
            </a:pPr>
            <a:r>
              <a:rPr lang="it-IT" sz="2400" dirty="0"/>
              <a:t>La complessità in tempo dell’algoritmo è</a:t>
            </a:r>
          </a:p>
          <a:p>
            <a:pPr marL="293688" indent="-293688">
              <a:lnSpc>
                <a:spcPct val="90000"/>
              </a:lnSpc>
              <a:buFont typeface="Monotype Sorts" charset="0"/>
              <a:buNone/>
            </a:pPr>
            <a:endParaRPr lang="it-IT" sz="2400" dirty="0"/>
          </a:p>
          <a:p>
            <a:pPr marL="293688" indent="-293688">
              <a:lnSpc>
                <a:spcPct val="90000"/>
              </a:lnSpc>
            </a:pPr>
            <a:r>
              <a:rPr lang="it-IT" dirty="0">
                <a:solidFill>
                  <a:srgbClr val="228030"/>
                </a:solidFill>
              </a:rPr>
              <a:t>O(nm)</a:t>
            </a:r>
            <a:r>
              <a:rPr lang="it-IT" dirty="0"/>
              <a:t> per il riempimento della matrice di calcolo della distanza di </a:t>
            </a:r>
            <a:r>
              <a:rPr lang="it-IT" dirty="0" err="1"/>
              <a:t>edit</a:t>
            </a:r>
            <a:endParaRPr lang="it-IT" dirty="0"/>
          </a:p>
          <a:p>
            <a:pPr marL="293688" indent="-293688">
              <a:lnSpc>
                <a:spcPct val="90000"/>
              </a:lnSpc>
            </a:pPr>
            <a:endParaRPr lang="it-IT" dirty="0"/>
          </a:p>
          <a:p>
            <a:pPr marL="293688" indent="-293688">
              <a:lnSpc>
                <a:spcPct val="90000"/>
              </a:lnSpc>
            </a:pPr>
            <a:r>
              <a:rPr lang="it-IT" dirty="0">
                <a:solidFill>
                  <a:srgbClr val="228030"/>
                </a:solidFill>
              </a:rPr>
              <a:t>O(</a:t>
            </a:r>
            <a:r>
              <a:rPr lang="it-IT" dirty="0" err="1">
                <a:solidFill>
                  <a:srgbClr val="228030"/>
                </a:solidFill>
              </a:rPr>
              <a:t>n+m</a:t>
            </a:r>
            <a:r>
              <a:rPr lang="it-IT" dirty="0">
                <a:solidFill>
                  <a:srgbClr val="228030"/>
                </a:solidFill>
              </a:rPr>
              <a:t>)</a:t>
            </a:r>
            <a:r>
              <a:rPr lang="it-IT" dirty="0"/>
              <a:t> per la ricostruzione della trasformazione da </a:t>
            </a:r>
            <a:r>
              <a:rPr lang="it-IT" dirty="0" err="1"/>
              <a:t>S</a:t>
            </a:r>
            <a:r>
              <a:rPr lang="it-IT" dirty="0"/>
              <a:t> a T</a:t>
            </a:r>
            <a:endParaRPr lang="it-IT" baseline="-250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4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7" grpId="0" build="p" autoUpdateAnimBg="0"/>
    </p:bldLst>
  </p:timing>
</p:sld>
</file>

<file path=ppt/theme/theme1.xml><?xml version="1.0" encoding="utf-8"?>
<a:theme xmlns:a="http://schemas.openxmlformats.org/drawingml/2006/main" name="Presentazione">
  <a:themeElements>
    <a:clrScheme name="Presentazione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Presentazione">
      <a:majorFont>
        <a:latin typeface="Times New Roman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ahoma" charset="0"/>
          </a:defRPr>
        </a:defPPr>
      </a:lstStyle>
    </a:lnDef>
  </a:objectDefaults>
  <a:extraClrSchemeLst>
    <a:extraClrScheme>
      <a:clrScheme name="Presentazion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zion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zion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2004:Templates:My Templates:Presentazione.pot</Template>
  <TotalTime>1041</TotalTime>
  <Words>1709</Words>
  <Application>Microsoft Macintosh PowerPoint</Application>
  <PresentationFormat>On-screen Show (4:3)</PresentationFormat>
  <Paragraphs>403</Paragraphs>
  <Slides>17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Presentazione</vt:lpstr>
      <vt:lpstr>UNIVERSITA’ DI MILANO-BICOCCA CdL IN INFORMATICA</vt:lpstr>
      <vt:lpstr>Confronto di sequenze</vt:lpstr>
      <vt:lpstr>Distanza tra due sequenze</vt:lpstr>
      <vt:lpstr>Edit transcript</vt:lpstr>
      <vt:lpstr>Distanza di edit: il problema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  <vt:lpstr>Calcolo della distanza di edit</vt:lpstr>
    </vt:vector>
  </TitlesOfParts>
  <Company>DISCo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UNIVERSITA’ DI MILANO-BICOCCA CdL IN INFORMATICA</dc:title>
  <dc:subject>Bioinformatics</dc:subject>
  <dc:creator>Giancarlo Mauri</dc:creator>
  <cp:lastModifiedBy>Giancarlo Mauri</cp:lastModifiedBy>
  <cp:revision>40</cp:revision>
  <cp:lastPrinted>2002-02-01T12:39:25Z</cp:lastPrinted>
  <dcterms:created xsi:type="dcterms:W3CDTF">2010-03-03T07:29:28Z</dcterms:created>
  <dcterms:modified xsi:type="dcterms:W3CDTF">2013-10-13T08:53:01Z</dcterms:modified>
</cp:coreProperties>
</file>