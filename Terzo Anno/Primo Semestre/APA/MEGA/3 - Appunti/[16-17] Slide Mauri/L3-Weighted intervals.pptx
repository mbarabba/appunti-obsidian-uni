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vml" ContentType="application/vnd.openxmlformats-officedocument.vmlDrawi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embeddings/oleObject1.bin" ContentType="application/vnd.openxmlformats-officedocument.oleObject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23"/>
  </p:notesMasterIdLst>
  <p:handoutMasterIdLst>
    <p:handoutMasterId r:id="rId24"/>
  </p:handoutMasterIdLst>
  <p:sldIdLst>
    <p:sldId id="465" r:id="rId2"/>
    <p:sldId id="489" r:id="rId3"/>
    <p:sldId id="482" r:id="rId4"/>
    <p:sldId id="483" r:id="rId5"/>
    <p:sldId id="484" r:id="rId6"/>
    <p:sldId id="485" r:id="rId7"/>
    <p:sldId id="486" r:id="rId8"/>
    <p:sldId id="487" r:id="rId9"/>
    <p:sldId id="468" r:id="rId10"/>
    <p:sldId id="469" r:id="rId11"/>
    <p:sldId id="471" r:id="rId12"/>
    <p:sldId id="472" r:id="rId13"/>
    <p:sldId id="473" r:id="rId14"/>
    <p:sldId id="474" r:id="rId15"/>
    <p:sldId id="475" r:id="rId16"/>
    <p:sldId id="476" r:id="rId17"/>
    <p:sldId id="477" r:id="rId18"/>
    <p:sldId id="478" r:id="rId19"/>
    <p:sldId id="479" r:id="rId20"/>
    <p:sldId id="480" r:id="rId21"/>
    <p:sldId id="481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536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76942CC-C775-CB45-8142-6BDC85CE03BD}" type="slidenum">
              <a:rPr lang="en-US" sz="1200" b="0"/>
              <a:pPr eaLnBrk="1" hangingPunct="1"/>
              <a:t>3</a:t>
            </a:fld>
            <a:endParaRPr lang="en-US" sz="1200" b="0"/>
          </a:p>
        </p:txBody>
      </p:sp>
      <p:sp>
        <p:nvSpPr>
          <p:cNvPr id="1945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it-IT" sz="3200">
              <a:latin typeface="Tahoma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A4598AC-0B3F-574D-B881-91F8EBC136F3}" type="slidenum">
              <a:rPr lang="en-US" sz="1200" b="0"/>
              <a:pPr eaLnBrk="1" hangingPunct="1"/>
              <a:t>4</a:t>
            </a:fld>
            <a:endParaRPr lang="en-US" sz="1200" b="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kumimoji="0" lang="it-IT" sz="3200">
              <a:latin typeface="Tahoma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9F7DC59A-6E90-7B46-99E3-88C20F5F77A9}" type="slidenum">
              <a:rPr lang="en-US" sz="1200" smtClean="0"/>
              <a:pPr eaLnBrk="1" hangingPunct="1">
                <a:defRPr/>
              </a:pPr>
              <a:t>6</a:t>
            </a:fld>
            <a:endParaRPr lang="en-US" sz="1200" smtClean="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623B0CA0-CE8C-DF4B-8C35-55C51438089C}" type="slidenum">
              <a:rPr lang="en-US" sz="1200" smtClean="0"/>
              <a:pPr eaLnBrk="1" hangingPunct="1">
                <a:defRPr/>
              </a:pPr>
              <a:t>7</a:t>
            </a:fld>
            <a:endParaRPr lang="en-US" sz="1200" smtClean="0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defRPr/>
            </a:pPr>
            <a:endParaRPr kumimoji="0" lang="it-IT" sz="3200" smtClean="0">
              <a:latin typeface="Tahoma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8AE4A255-CE22-DE44-9C50-D3A552D57EB1}" type="slidenum">
              <a:rPr lang="en-US" sz="1200" smtClean="0"/>
              <a:pPr eaLnBrk="1" hangingPunct="1">
                <a:defRPr/>
              </a:pPr>
              <a:t>8</a:t>
            </a:fld>
            <a:endParaRPr lang="en-US" sz="1200" smtClean="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defRPr/>
            </a:pPr>
            <a:endParaRPr kumimoji="0" lang="it-IT" sz="3200" smtClean="0">
              <a:latin typeface="Tahoma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/>
              <a:t>A. compiler's job is easier in pure functional languages since no side effects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4014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1" r:id="rId4"/>
    <p:sldLayoutId id="2147483722" r:id="rId5"/>
    <p:sldLayoutId id="2147483723" r:id="rId6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5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demo-activity-selection.ppt%23-1,1,Activity%20Selection%20(Interval%20Scheduling)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>
                <a:ea typeface="ＭＳ Ｐゴシック" charset="0"/>
                <a:cs typeface="ＭＳ Ｐゴシック" charset="0"/>
              </a:rPr>
            </a:br>
            <a:r>
              <a:rPr lang="it-IT">
                <a:ea typeface="ＭＳ Ｐゴシック" charset="0"/>
                <a:cs typeface="ＭＳ Ｐゴシック" charset="0"/>
              </a:rPr>
              <a:t>CdL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Lezione 3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it-IT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Weighted</a:t>
            </a:r>
            <a:r>
              <a:rPr lang="it-IT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interval</a:t>
            </a:r>
            <a:r>
              <a:rPr lang="it-IT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scheduling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7111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Algorithmic Paradigms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Greedy</a:t>
            </a:r>
          </a:p>
          <a:p>
            <a:pPr lvl="1"/>
            <a:r>
              <a:rPr lang="en-US" dirty="0" smtClean="0"/>
              <a:t>Build up a solution incrementally, myopically optimizing some local criterion</a:t>
            </a:r>
          </a:p>
          <a:p>
            <a:r>
              <a:rPr lang="en-US" dirty="0" smtClean="0"/>
              <a:t>Divide-and-conquer</a:t>
            </a:r>
          </a:p>
          <a:p>
            <a:pPr lvl="1"/>
            <a:r>
              <a:rPr lang="en-US" dirty="0" smtClean="0"/>
              <a:t>Break up a problem into two sub-problems, solve each sub-problem independently, and combine solution to sub-problems to form solution to original problem</a:t>
            </a:r>
          </a:p>
          <a:p>
            <a:r>
              <a:rPr lang="en-US" dirty="0" smtClean="0"/>
              <a:t>Dynamic programming</a:t>
            </a:r>
          </a:p>
          <a:p>
            <a:pPr lvl="1"/>
            <a:r>
              <a:rPr lang="en-US" dirty="0" smtClean="0"/>
              <a:t>Break up a problem into a series of overlapping sub-problems, and build up solutions to larger and larger sub-problems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7864-E48A-A24E-9D04-923EB4B5302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416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E3DA673-D0E3-5740-98E3-6E3795F88BD7}" type="slidenum">
              <a:rPr lang="en-US" sz="1200" b="0">
                <a:latin typeface="Times New Roman" charset="0"/>
              </a:rPr>
              <a:pPr eaLnBrk="1" hangingPunct="1"/>
              <a:t>3</a:t>
            </a:fld>
            <a:endParaRPr lang="en-US" sz="1400" b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Programmazione Dinamica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9144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Perché si usa la Programmazione Dinamica?</a:t>
            </a:r>
          </a:p>
          <a:p>
            <a:pPr eaLnBrk="1" hangingPunct="1">
              <a:buFont typeface="Wingdings" charset="0"/>
              <a:buNone/>
            </a:pPr>
            <a:r>
              <a:rPr lang="it-IT" sz="2000" b="1">
                <a:latin typeface="Comic Sans MS" charset="0"/>
                <a:ea typeface="ＭＳ Ｐゴシック" charset="0"/>
                <a:cs typeface="ＭＳ Ｐゴシック" charset="0"/>
              </a:rPr>
              <a:t>	Per rendere efficiente l’implementazione di  procedure ricorsive</a:t>
            </a:r>
          </a:p>
        </p:txBody>
      </p:sp>
      <p:sp>
        <p:nvSpPr>
          <p:cNvPr id="393220" name="Rectangle 4"/>
          <p:cNvSpPr>
            <a:spLocks noChangeArrowheads="1"/>
          </p:cNvSpPr>
          <p:nvPr/>
        </p:nvSpPr>
        <p:spPr bwMode="auto">
          <a:xfrm>
            <a:off x="457200" y="2438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chemeClr val="hlink"/>
              </a:buClr>
              <a:buFont typeface="Wingdings" charset="0"/>
              <a:buNone/>
            </a:pPr>
            <a:r>
              <a:rPr lang="it-IT" sz="2000">
                <a:latin typeface="Comic Sans MS" charset="0"/>
              </a:rPr>
              <a:t>Esempio: </a:t>
            </a:r>
            <a:r>
              <a:rPr lang="it-IT" sz="2000">
                <a:solidFill>
                  <a:schemeClr val="hlink"/>
                </a:solidFill>
                <a:latin typeface="Comic Sans MS" charset="0"/>
              </a:rPr>
              <a:t>procedura ricorsiva per il calcolo della somma dei numeri da 1 a n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09600" y="3429000"/>
            <a:ext cx="4191000" cy="3124200"/>
            <a:chOff x="432" y="2352"/>
            <a:chExt cx="2640" cy="1872"/>
          </a:xfrm>
        </p:grpSpPr>
        <p:sp>
          <p:nvSpPr>
            <p:cNvPr id="18459" name="AutoShape 6"/>
            <p:cNvSpPr>
              <a:spLocks noChangeArrowheads="1"/>
            </p:cNvSpPr>
            <p:nvPr/>
          </p:nvSpPr>
          <p:spPr bwMode="auto">
            <a:xfrm>
              <a:off x="432" y="2352"/>
              <a:ext cx="2592" cy="1872"/>
            </a:xfrm>
            <a:prstGeom prst="flowChartDocumen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0FF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 b="0"/>
            </a:p>
          </p:txBody>
        </p:sp>
        <p:sp>
          <p:nvSpPr>
            <p:cNvPr id="18460" name="Text Box 7"/>
            <p:cNvSpPr txBox="1">
              <a:spLocks noChangeArrowheads="1"/>
            </p:cNvSpPr>
            <p:nvPr/>
          </p:nvSpPr>
          <p:spPr bwMode="auto">
            <a:xfrm>
              <a:off x="772" y="2430"/>
              <a:ext cx="1769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2000">
                  <a:latin typeface="Arial" charset="0"/>
                </a:rPr>
                <a:t>Procedura SOMMA(n)</a:t>
              </a:r>
              <a:endParaRPr lang="it-IT" sz="2000" baseline="30000">
                <a:solidFill>
                  <a:srgbClr val="FF00FF"/>
                </a:solidFill>
                <a:latin typeface="Arial" charset="0"/>
              </a:endParaRPr>
            </a:p>
          </p:txBody>
        </p:sp>
        <p:sp>
          <p:nvSpPr>
            <p:cNvPr id="18461" name="Rectangle 8"/>
            <p:cNvSpPr>
              <a:spLocks noChangeArrowheads="1"/>
            </p:cNvSpPr>
            <p:nvPr/>
          </p:nvSpPr>
          <p:spPr bwMode="auto">
            <a:xfrm>
              <a:off x="624" y="2736"/>
              <a:ext cx="2448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800">
                  <a:latin typeface="Courier New" charset="0"/>
                </a:rPr>
                <a:t>begin</a:t>
              </a:r>
              <a:endParaRPr lang="it-IT" sz="1800" b="0">
                <a:latin typeface="Courier New" charset="0"/>
              </a:endParaRP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800" b="0">
                  <a:latin typeface="Courier New" charset="0"/>
                </a:rPr>
                <a:t>	</a:t>
              </a:r>
              <a:r>
                <a:rPr lang="it-IT" sz="1800">
                  <a:latin typeface="Courier New" charset="0"/>
                </a:rPr>
                <a:t>if</a:t>
              </a:r>
              <a:r>
                <a:rPr lang="it-IT" sz="1800" b="0">
                  <a:latin typeface="Courier New" charset="0"/>
                </a:rPr>
                <a:t> n=1 </a:t>
              </a:r>
              <a:r>
                <a:rPr lang="it-IT" sz="1800">
                  <a:latin typeface="Courier New" charset="0"/>
                </a:rPr>
                <a:t>then</a:t>
              </a:r>
              <a:endParaRPr lang="it-IT" sz="1800" b="0">
                <a:latin typeface="Courier New" charset="0"/>
              </a:endParaRP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800" b="0">
                  <a:latin typeface="Courier New" charset="0"/>
                </a:rPr>
                <a:t>		somma:=n;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800" b="0">
                  <a:latin typeface="Courier New" charset="0"/>
                </a:rPr>
                <a:t>	</a:t>
              </a:r>
              <a:r>
                <a:rPr lang="it-IT" sz="1800">
                  <a:latin typeface="Courier New" charset="0"/>
                </a:rPr>
                <a:t>else</a:t>
              </a:r>
              <a:endParaRPr lang="it-IT" sz="1800" b="0">
                <a:latin typeface="Courier New" charset="0"/>
              </a:endParaRP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800" b="0">
                  <a:latin typeface="Courier New" charset="0"/>
                </a:rPr>
                <a:t>		somma:=SOMMA(n-1)+n;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800" b="0">
                  <a:latin typeface="Courier New" charset="0"/>
                </a:rPr>
                <a:t>	</a:t>
              </a:r>
              <a:r>
                <a:rPr lang="it-IT" sz="1800">
                  <a:latin typeface="Courier New" charset="0"/>
                </a:rPr>
                <a:t>return</a:t>
              </a:r>
              <a:r>
                <a:rPr lang="it-IT" sz="1800" b="0">
                  <a:latin typeface="Courier New" charset="0"/>
                </a:rPr>
                <a:t> somma;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800">
                  <a:latin typeface="Courier New" charset="0"/>
                </a:rPr>
                <a:t>end</a:t>
              </a:r>
            </a:p>
          </p:txBody>
        </p:sp>
      </p:grpSp>
      <p:sp>
        <p:nvSpPr>
          <p:cNvPr id="393225" name="Rectangle 9"/>
          <p:cNvSpPr>
            <a:spLocks noChangeArrowheads="1"/>
          </p:cNvSpPr>
          <p:nvPr/>
        </p:nvSpPr>
        <p:spPr bwMode="auto">
          <a:xfrm>
            <a:off x="5105400" y="3429000"/>
            <a:ext cx="3733800" cy="30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GB" b="0">
              <a:ea typeface="+mn-ea"/>
              <a:cs typeface="+mn-cs"/>
            </a:endParaRPr>
          </a:p>
        </p:txBody>
      </p:sp>
      <p:sp>
        <p:nvSpPr>
          <p:cNvPr id="393226" name="Rectangle 10"/>
          <p:cNvSpPr>
            <a:spLocks noChangeArrowheads="1"/>
          </p:cNvSpPr>
          <p:nvPr/>
        </p:nvSpPr>
        <p:spPr bwMode="auto">
          <a:xfrm>
            <a:off x="5105400" y="3581400"/>
            <a:ext cx="2362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1700"/>
              <a:t>Esempio di chiamata SOMMA(4)</a:t>
            </a:r>
          </a:p>
        </p:txBody>
      </p:sp>
      <p:sp>
        <p:nvSpPr>
          <p:cNvPr id="393227" name="Rectangle 11"/>
          <p:cNvSpPr>
            <a:spLocks noChangeArrowheads="1"/>
          </p:cNvSpPr>
          <p:nvPr/>
        </p:nvSpPr>
        <p:spPr bwMode="auto">
          <a:xfrm>
            <a:off x="5334000" y="4038600"/>
            <a:ext cx="1295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GB" sz="1600"/>
              <a:t>SOMMA(4)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410200" y="4419600"/>
            <a:ext cx="2232025" cy="609600"/>
            <a:chOff x="3408" y="2784"/>
            <a:chExt cx="1406" cy="384"/>
          </a:xfrm>
        </p:grpSpPr>
        <p:grpSp>
          <p:nvGrpSpPr>
            <p:cNvPr id="18454" name="Group 13"/>
            <p:cNvGrpSpPr>
              <a:grpSpLocks/>
            </p:cNvGrpSpPr>
            <p:nvPr/>
          </p:nvGrpSpPr>
          <p:grpSpPr bwMode="auto">
            <a:xfrm>
              <a:off x="3408" y="2784"/>
              <a:ext cx="288" cy="288"/>
              <a:chOff x="3504" y="2304"/>
              <a:chExt cx="192" cy="192"/>
            </a:xfrm>
          </p:grpSpPr>
          <p:sp>
            <p:nvSpPr>
              <p:cNvPr id="18457" name="Line 14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8" name="Line 15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55" name="Rectangle 16"/>
            <p:cNvSpPr>
              <a:spLocks noChangeArrowheads="1"/>
            </p:cNvSpPr>
            <p:nvPr/>
          </p:nvSpPr>
          <p:spPr bwMode="auto">
            <a:xfrm>
              <a:off x="3696" y="2928"/>
              <a:ext cx="81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SOMMA(3)</a:t>
              </a:r>
            </a:p>
          </p:txBody>
        </p:sp>
        <p:sp>
          <p:nvSpPr>
            <p:cNvPr id="18456" name="Text Box 17"/>
            <p:cNvSpPr txBox="1">
              <a:spLocks noChangeArrowheads="1"/>
            </p:cNvSpPr>
            <p:nvPr/>
          </p:nvSpPr>
          <p:spPr bwMode="auto">
            <a:xfrm>
              <a:off x="4512" y="2928"/>
              <a:ext cx="3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1600"/>
                <a:t>+4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5943600" y="5029200"/>
            <a:ext cx="2232025" cy="685800"/>
            <a:chOff x="3744" y="3168"/>
            <a:chExt cx="1406" cy="432"/>
          </a:xfrm>
        </p:grpSpPr>
        <p:grpSp>
          <p:nvGrpSpPr>
            <p:cNvPr id="18449" name="Group 19"/>
            <p:cNvGrpSpPr>
              <a:grpSpLocks/>
            </p:cNvGrpSpPr>
            <p:nvPr/>
          </p:nvGrpSpPr>
          <p:grpSpPr bwMode="auto">
            <a:xfrm>
              <a:off x="3744" y="3168"/>
              <a:ext cx="288" cy="288"/>
              <a:chOff x="3504" y="2304"/>
              <a:chExt cx="192" cy="192"/>
            </a:xfrm>
          </p:grpSpPr>
          <p:sp>
            <p:nvSpPr>
              <p:cNvPr id="18452" name="Line 20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3" name="Line 21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50" name="Rectangle 22"/>
            <p:cNvSpPr>
              <a:spLocks noChangeArrowheads="1"/>
            </p:cNvSpPr>
            <p:nvPr/>
          </p:nvSpPr>
          <p:spPr bwMode="auto">
            <a:xfrm>
              <a:off x="4032" y="3360"/>
              <a:ext cx="81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SOMMA(2)</a:t>
              </a:r>
            </a:p>
          </p:txBody>
        </p:sp>
        <p:sp>
          <p:nvSpPr>
            <p:cNvPr id="18451" name="Text Box 23"/>
            <p:cNvSpPr txBox="1">
              <a:spLocks noChangeArrowheads="1"/>
            </p:cNvSpPr>
            <p:nvPr/>
          </p:nvSpPr>
          <p:spPr bwMode="auto">
            <a:xfrm>
              <a:off x="4848" y="3360"/>
              <a:ext cx="3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1600"/>
                <a:t>+3</a:t>
              </a:r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6553200" y="5715000"/>
            <a:ext cx="2232025" cy="609600"/>
            <a:chOff x="4128" y="3600"/>
            <a:chExt cx="1406" cy="384"/>
          </a:xfrm>
        </p:grpSpPr>
        <p:grpSp>
          <p:nvGrpSpPr>
            <p:cNvPr id="18444" name="Group 25"/>
            <p:cNvGrpSpPr>
              <a:grpSpLocks/>
            </p:cNvGrpSpPr>
            <p:nvPr/>
          </p:nvGrpSpPr>
          <p:grpSpPr bwMode="auto">
            <a:xfrm>
              <a:off x="4128" y="3600"/>
              <a:ext cx="288" cy="288"/>
              <a:chOff x="3504" y="2304"/>
              <a:chExt cx="192" cy="192"/>
            </a:xfrm>
          </p:grpSpPr>
          <p:sp>
            <p:nvSpPr>
              <p:cNvPr id="18447" name="Line 26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48" name="Line 27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45" name="Rectangle 28"/>
            <p:cNvSpPr>
              <a:spLocks noChangeArrowheads="1"/>
            </p:cNvSpPr>
            <p:nvPr/>
          </p:nvSpPr>
          <p:spPr bwMode="auto">
            <a:xfrm>
              <a:off x="4416" y="3744"/>
              <a:ext cx="81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SOMMA(1)</a:t>
              </a:r>
            </a:p>
          </p:txBody>
        </p:sp>
        <p:sp>
          <p:nvSpPr>
            <p:cNvPr id="18446" name="Text Box 29"/>
            <p:cNvSpPr txBox="1">
              <a:spLocks noChangeArrowheads="1"/>
            </p:cNvSpPr>
            <p:nvPr/>
          </p:nvSpPr>
          <p:spPr bwMode="auto">
            <a:xfrm>
              <a:off x="5232" y="3744"/>
              <a:ext cx="30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1600"/>
                <a:t>+2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65476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0" grpId="0" autoUpdateAnimBg="0"/>
      <p:bldP spid="3932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Programmazione Dinamica</a:t>
            </a:r>
            <a:endParaRPr lang="it-IT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mtClean="0"/>
              <a:t>Quali sono le procedure ricorsive da sostituire con un algoritmo di PD?</a:t>
            </a:r>
          </a:p>
          <a:p>
            <a:pPr lvl="1"/>
            <a:r>
              <a:rPr lang="it-IT" smtClean="0"/>
              <a:t>Quelle in cui si presentano sottoproblemi ripetuti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764154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Numeri di Fibonacci</a:t>
            </a:r>
          </a:p>
        </p:txBody>
      </p:sp>
      <p:sp>
        <p:nvSpPr>
          <p:cNvPr id="447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536" y="1412776"/>
            <a:ext cx="8305800" cy="48006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it-IT" sz="2000" dirty="0" smtClean="0">
                <a:cs typeface="+mn-cs"/>
              </a:rPr>
              <a:t>Obiettivo</a:t>
            </a:r>
          </a:p>
          <a:p>
            <a:pPr lvl="1" eaLnBrk="1" hangingPunct="1">
              <a:defRPr/>
            </a:pPr>
            <a:r>
              <a:rPr lang="it-IT" sz="1800" dirty="0" smtClean="0"/>
              <a:t>dare un modello matematico della crescita di una popolazione di conigli</a:t>
            </a:r>
          </a:p>
          <a:p>
            <a:pPr eaLnBrk="1" hangingPunct="1">
              <a:lnSpc>
                <a:spcPct val="100000"/>
              </a:lnSpc>
              <a:spcBef>
                <a:spcPts val="1800"/>
              </a:spcBef>
              <a:defRPr/>
            </a:pPr>
            <a:r>
              <a:rPr lang="it-IT" sz="2000" dirty="0" smtClean="0">
                <a:cs typeface="+mn-cs"/>
              </a:rPr>
              <a:t>Assunzioni:</a:t>
            </a:r>
          </a:p>
          <a:p>
            <a:pPr lvl="1" eaLnBrk="1" hangingPunct="1">
              <a:defRPr/>
            </a:pPr>
            <a:r>
              <a:rPr lang="it-IT" sz="1800" dirty="0" smtClean="0"/>
              <a:t>Si parte (tempo 0) con una coppia di conigli neonati</a:t>
            </a:r>
          </a:p>
          <a:p>
            <a:pPr lvl="1" eaLnBrk="1" hangingPunct="1">
              <a:defRPr/>
            </a:pPr>
            <a:r>
              <a:rPr lang="it-IT" sz="1800" dirty="0" smtClean="0"/>
              <a:t>Ogni coppia genera una nuova coppia ad ogni unità di tempo, a partire dalla seconda unità dopo la nascita</a:t>
            </a:r>
          </a:p>
          <a:p>
            <a:pPr lvl="1" eaLnBrk="1" hangingPunct="1">
              <a:defRPr/>
            </a:pPr>
            <a:r>
              <a:rPr lang="it-IT" sz="1800" dirty="0" smtClean="0"/>
              <a:t>I conigli non muoiono mai</a:t>
            </a:r>
          </a:p>
          <a:p>
            <a:pPr algn="ctr" eaLnBrk="1" hangingPunct="1">
              <a:lnSpc>
                <a:spcPct val="100000"/>
              </a:lnSpc>
              <a:spcBef>
                <a:spcPts val="1800"/>
              </a:spcBef>
              <a:buFont typeface="Wingdings" charset="0"/>
              <a:buNone/>
              <a:defRPr/>
            </a:pPr>
            <a:r>
              <a:rPr lang="it-IT" sz="2000" dirty="0" smtClean="0">
                <a:cs typeface="+mn-cs"/>
              </a:rPr>
              <a:t>NUMERO DI COPPIE AL TEMPO </a:t>
            </a:r>
            <a:r>
              <a:rPr lang="it-IT" sz="2000" dirty="0" err="1" smtClean="0">
                <a:cs typeface="+mn-cs"/>
              </a:rPr>
              <a:t>n</a:t>
            </a:r>
            <a:r>
              <a:rPr lang="it-IT" sz="2000" dirty="0" smtClean="0">
                <a:cs typeface="+mn-cs"/>
              </a:rPr>
              <a:t> ?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it-IT" sz="2000" dirty="0" smtClean="0">
                <a:cs typeface="+mn-cs"/>
              </a:rPr>
              <a:t>Modello matematico: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defRPr/>
            </a:pPr>
            <a:r>
              <a:rPr lang="it-IT" sz="2000" dirty="0" smtClean="0">
                <a:cs typeface="+mn-cs"/>
              </a:rPr>
              <a:t>		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F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(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n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) := 	se (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n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=0) o (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n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=1),  allora 1 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it-IT" sz="1800" dirty="0" smtClean="0">
                <a:solidFill>
                  <a:schemeClr val="hlink"/>
                </a:solidFill>
                <a:cs typeface="+mn-cs"/>
              </a:rPr>
              <a:t>					altrimenti 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F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(n-1)+</a:t>
            </a:r>
            <a:r>
              <a:rPr lang="it-IT" sz="1800" dirty="0" err="1" smtClean="0">
                <a:solidFill>
                  <a:schemeClr val="hlink"/>
                </a:solidFill>
                <a:cs typeface="+mn-cs"/>
              </a:rPr>
              <a:t>F</a:t>
            </a:r>
            <a:r>
              <a:rPr lang="it-IT" sz="1800" dirty="0" smtClean="0">
                <a:solidFill>
                  <a:schemeClr val="hlink"/>
                </a:solidFill>
                <a:cs typeface="+mn-cs"/>
              </a:rPr>
              <a:t>(n-2)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237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" y="632460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fld id="{98F2DF35-6024-9341-ABBF-DF28476BC35E}" type="slidenum">
              <a:rPr lang="en-US" sz="1200" smtClean="0">
                <a:latin typeface="Times New Roman" charset="0"/>
              </a:rPr>
              <a:pPr algn="l" eaLnBrk="1" hangingPunct="1">
                <a:defRPr/>
              </a:pPr>
              <a:t>6</a:t>
            </a:fld>
            <a:endParaRPr lang="en-US" sz="1400" smtClean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ea typeface="ＭＳ Ｐゴシック" charset="0"/>
              </a:rPr>
              <a:t>Programmazione Dinamica</a:t>
            </a:r>
          </a:p>
        </p:txBody>
      </p:sp>
      <p:sp>
        <p:nvSpPr>
          <p:cNvPr id="358404" name="Rectangle 4"/>
          <p:cNvSpPr>
            <a:spLocks noChangeArrowheads="1"/>
          </p:cNvSpPr>
          <p:nvPr/>
        </p:nvSpPr>
        <p:spPr bwMode="auto">
          <a:xfrm>
            <a:off x="395536" y="1556792"/>
            <a:ext cx="4392488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chemeClr val="hlink"/>
              </a:buClr>
              <a:buFont typeface="Wingdings" charset="0"/>
              <a:buNone/>
            </a:pPr>
            <a:r>
              <a:rPr lang="it-IT" sz="2200" u="sng" dirty="0">
                <a:latin typeface="Comic Sans MS" charset="0"/>
              </a:rPr>
              <a:t>Esempio</a:t>
            </a:r>
            <a:r>
              <a:rPr lang="it-IT" sz="2200" dirty="0">
                <a:latin typeface="Comic Sans MS" charset="0"/>
              </a:rPr>
              <a:t>: </a:t>
            </a:r>
            <a:r>
              <a:rPr lang="it-IT" sz="2200" dirty="0">
                <a:solidFill>
                  <a:schemeClr val="folHlink"/>
                </a:solidFill>
                <a:latin typeface="Comic Sans MS" charset="0"/>
              </a:rPr>
              <a:t>procedura ricorsiva per il calcolo dei numeri di Fibonacci</a:t>
            </a:r>
            <a:endParaRPr lang="it-IT" sz="2400" dirty="0">
              <a:latin typeface="Comic Sans MS" charset="0"/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457200" y="2895600"/>
            <a:ext cx="4114800" cy="3581400"/>
            <a:chOff x="288" y="1824"/>
            <a:chExt cx="2592" cy="2256"/>
          </a:xfrm>
        </p:grpSpPr>
        <p:sp>
          <p:nvSpPr>
            <p:cNvPr id="8291" name="AutoShape 5"/>
            <p:cNvSpPr>
              <a:spLocks noChangeArrowheads="1"/>
            </p:cNvSpPr>
            <p:nvPr/>
          </p:nvSpPr>
          <p:spPr bwMode="auto">
            <a:xfrm>
              <a:off x="288" y="1824"/>
              <a:ext cx="2592" cy="2256"/>
            </a:xfrm>
            <a:prstGeom prst="flowChartDocumen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0FF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292" name="Text Box 6"/>
            <p:cNvSpPr txBox="1">
              <a:spLocks noChangeArrowheads="1"/>
            </p:cNvSpPr>
            <p:nvPr/>
          </p:nvSpPr>
          <p:spPr bwMode="auto">
            <a:xfrm>
              <a:off x="628" y="1920"/>
              <a:ext cx="12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1800">
                  <a:latin typeface="Arial" charset="0"/>
                </a:rPr>
                <a:t>Procedura FIB(n)</a:t>
              </a:r>
              <a:endParaRPr lang="it-IT" sz="1800" baseline="30000">
                <a:solidFill>
                  <a:srgbClr val="FF00FF"/>
                </a:solidFill>
                <a:latin typeface="Arial" charset="0"/>
              </a:endParaRPr>
            </a:p>
          </p:txBody>
        </p:sp>
        <p:sp>
          <p:nvSpPr>
            <p:cNvPr id="8293" name="Rectangle 7"/>
            <p:cNvSpPr>
              <a:spLocks noChangeArrowheads="1"/>
            </p:cNvSpPr>
            <p:nvPr/>
          </p:nvSpPr>
          <p:spPr bwMode="auto">
            <a:xfrm>
              <a:off x="480" y="2112"/>
              <a:ext cx="2256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begin 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if n=0 or n=1 then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	return </a:t>
              </a:r>
              <a:r>
                <a:rPr lang="it-IT" sz="1600">
                  <a:solidFill>
                    <a:schemeClr val="folHlink"/>
                  </a:solidFill>
                  <a:latin typeface="Courier New" charset="0"/>
                </a:rPr>
                <a:t>1</a:t>
              </a:r>
              <a:r>
                <a:rPr lang="it-IT" sz="1600">
                  <a:latin typeface="Courier New" charset="0"/>
                </a:rPr>
                <a:t>;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	a:=n-1;b:=n-2;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f1:=FIBONACCI(a);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f2:=FIBONACCI(b);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	return f1+f2;	</a:t>
              </a:r>
            </a:p>
            <a:p>
              <a:pPr marL="342900" indent="-342900">
                <a:spcBef>
                  <a:spcPct val="5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600">
                  <a:latin typeface="Courier New" charset="0"/>
                </a:rPr>
                <a:t>end</a:t>
              </a:r>
            </a:p>
          </p:txBody>
        </p:sp>
      </p:grpSp>
      <p:sp>
        <p:nvSpPr>
          <p:cNvPr id="358409" name="Rectangle 9"/>
          <p:cNvSpPr>
            <a:spLocks noChangeArrowheads="1"/>
          </p:cNvSpPr>
          <p:nvPr/>
        </p:nvSpPr>
        <p:spPr bwMode="auto">
          <a:xfrm>
            <a:off x="4953000" y="1371600"/>
            <a:ext cx="3352800" cy="502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GB">
              <a:ea typeface="+mn-ea"/>
              <a:cs typeface="+mn-cs"/>
            </a:endParaRPr>
          </a:p>
        </p:txBody>
      </p:sp>
      <p:sp>
        <p:nvSpPr>
          <p:cNvPr id="358411" name="Rectangle 11"/>
          <p:cNvSpPr>
            <a:spLocks noChangeArrowheads="1"/>
          </p:cNvSpPr>
          <p:nvPr/>
        </p:nvSpPr>
        <p:spPr bwMode="auto">
          <a:xfrm>
            <a:off x="5029200" y="1524000"/>
            <a:ext cx="2362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1700"/>
              <a:t>Esempio di chiamata FIB(4)</a:t>
            </a:r>
          </a:p>
        </p:txBody>
      </p:sp>
      <p:grpSp>
        <p:nvGrpSpPr>
          <p:cNvPr id="3" name="Group 121"/>
          <p:cNvGrpSpPr>
            <a:grpSpLocks/>
          </p:cNvGrpSpPr>
          <p:nvPr/>
        </p:nvGrpSpPr>
        <p:grpSpPr bwMode="auto">
          <a:xfrm>
            <a:off x="5181600" y="1981200"/>
            <a:ext cx="1524000" cy="3200400"/>
            <a:chOff x="3264" y="1248"/>
            <a:chExt cx="960" cy="2016"/>
          </a:xfrm>
        </p:grpSpPr>
        <p:grpSp>
          <p:nvGrpSpPr>
            <p:cNvPr id="8282" name="Group 29"/>
            <p:cNvGrpSpPr>
              <a:grpSpLocks/>
            </p:cNvGrpSpPr>
            <p:nvPr/>
          </p:nvGrpSpPr>
          <p:grpSpPr bwMode="auto">
            <a:xfrm>
              <a:off x="3408" y="1488"/>
              <a:ext cx="288" cy="192"/>
              <a:chOff x="3504" y="2304"/>
              <a:chExt cx="192" cy="192"/>
            </a:xfrm>
          </p:grpSpPr>
          <p:sp>
            <p:nvSpPr>
              <p:cNvPr id="8289" name="Line 30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90" name="Line 31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83" name="Group 44"/>
            <p:cNvGrpSpPr>
              <a:grpSpLocks/>
            </p:cNvGrpSpPr>
            <p:nvPr/>
          </p:nvGrpSpPr>
          <p:grpSpPr bwMode="auto">
            <a:xfrm>
              <a:off x="3408" y="1680"/>
              <a:ext cx="288" cy="1488"/>
              <a:chOff x="3504" y="2304"/>
              <a:chExt cx="192" cy="192"/>
            </a:xfrm>
          </p:grpSpPr>
          <p:sp>
            <p:nvSpPr>
              <p:cNvPr id="8287" name="Line 45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88" name="Line 46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84" name="Rectangle 47"/>
            <p:cNvSpPr>
              <a:spLocks noChangeArrowheads="1"/>
            </p:cNvSpPr>
            <p:nvPr/>
          </p:nvSpPr>
          <p:spPr bwMode="auto">
            <a:xfrm>
              <a:off x="3696" y="15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FIB(3)</a:t>
              </a:r>
            </a:p>
          </p:txBody>
        </p:sp>
        <p:sp>
          <p:nvSpPr>
            <p:cNvPr id="8285" name="Rectangle 48"/>
            <p:cNvSpPr>
              <a:spLocks noChangeArrowheads="1"/>
            </p:cNvSpPr>
            <p:nvPr/>
          </p:nvSpPr>
          <p:spPr bwMode="auto">
            <a:xfrm>
              <a:off x="3696" y="30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sp>
          <p:nvSpPr>
            <p:cNvPr id="8286" name="Rectangle 62"/>
            <p:cNvSpPr>
              <a:spLocks noChangeArrowheads="1"/>
            </p:cNvSpPr>
            <p:nvPr/>
          </p:nvSpPr>
          <p:spPr bwMode="auto">
            <a:xfrm>
              <a:off x="3264" y="1248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FIB(4)</a:t>
              </a:r>
            </a:p>
          </p:txBody>
        </p:sp>
      </p:grpSp>
      <p:grpSp>
        <p:nvGrpSpPr>
          <p:cNvPr id="6" name="Group 156"/>
          <p:cNvGrpSpPr>
            <a:grpSpLocks/>
          </p:cNvGrpSpPr>
          <p:nvPr/>
        </p:nvGrpSpPr>
        <p:grpSpPr bwMode="auto">
          <a:xfrm>
            <a:off x="5181600" y="1981200"/>
            <a:ext cx="2209800" cy="3200400"/>
            <a:chOff x="4512" y="1248"/>
            <a:chExt cx="1392" cy="2016"/>
          </a:xfrm>
        </p:grpSpPr>
        <p:grpSp>
          <p:nvGrpSpPr>
            <p:cNvPr id="8265" name="Group 88"/>
            <p:cNvGrpSpPr>
              <a:grpSpLocks/>
            </p:cNvGrpSpPr>
            <p:nvPr/>
          </p:nvGrpSpPr>
          <p:grpSpPr bwMode="auto">
            <a:xfrm>
              <a:off x="4656" y="1488"/>
              <a:ext cx="288" cy="192"/>
              <a:chOff x="3504" y="2304"/>
              <a:chExt cx="192" cy="192"/>
            </a:xfrm>
          </p:grpSpPr>
          <p:sp>
            <p:nvSpPr>
              <p:cNvPr id="8280" name="Line 89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81" name="Line 90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66" name="Group 91"/>
            <p:cNvGrpSpPr>
              <a:grpSpLocks/>
            </p:cNvGrpSpPr>
            <p:nvPr/>
          </p:nvGrpSpPr>
          <p:grpSpPr bwMode="auto">
            <a:xfrm>
              <a:off x="4656" y="1680"/>
              <a:ext cx="288" cy="1488"/>
              <a:chOff x="3504" y="2304"/>
              <a:chExt cx="192" cy="192"/>
            </a:xfrm>
          </p:grpSpPr>
          <p:sp>
            <p:nvSpPr>
              <p:cNvPr id="8278" name="Line 92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79" name="Line 93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67" name="Rectangle 94"/>
            <p:cNvSpPr>
              <a:spLocks noChangeArrowheads="1"/>
            </p:cNvSpPr>
            <p:nvPr/>
          </p:nvSpPr>
          <p:spPr bwMode="auto">
            <a:xfrm>
              <a:off x="4944" y="15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FIB(3)</a:t>
              </a:r>
            </a:p>
          </p:txBody>
        </p:sp>
        <p:sp>
          <p:nvSpPr>
            <p:cNvPr id="8268" name="Rectangle 95"/>
            <p:cNvSpPr>
              <a:spLocks noChangeArrowheads="1"/>
            </p:cNvSpPr>
            <p:nvPr/>
          </p:nvSpPr>
          <p:spPr bwMode="auto">
            <a:xfrm>
              <a:off x="4944" y="30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grpSp>
          <p:nvGrpSpPr>
            <p:cNvPr id="8269" name="Group 96"/>
            <p:cNvGrpSpPr>
              <a:grpSpLocks/>
            </p:cNvGrpSpPr>
            <p:nvPr/>
          </p:nvGrpSpPr>
          <p:grpSpPr bwMode="auto">
            <a:xfrm>
              <a:off x="5088" y="1776"/>
              <a:ext cx="288" cy="192"/>
              <a:chOff x="3504" y="2304"/>
              <a:chExt cx="192" cy="192"/>
            </a:xfrm>
          </p:grpSpPr>
          <p:sp>
            <p:nvSpPr>
              <p:cNvPr id="8276" name="Line 97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77" name="Line 98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70" name="Rectangle 99"/>
            <p:cNvSpPr>
              <a:spLocks noChangeArrowheads="1"/>
            </p:cNvSpPr>
            <p:nvPr/>
          </p:nvSpPr>
          <p:spPr bwMode="auto">
            <a:xfrm>
              <a:off x="5376" y="18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sp>
          <p:nvSpPr>
            <p:cNvPr id="8271" name="Rectangle 106"/>
            <p:cNvSpPr>
              <a:spLocks noChangeArrowheads="1"/>
            </p:cNvSpPr>
            <p:nvPr/>
          </p:nvSpPr>
          <p:spPr bwMode="auto">
            <a:xfrm>
              <a:off x="4512" y="1248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FIB(4)</a:t>
              </a:r>
            </a:p>
          </p:txBody>
        </p:sp>
        <p:grpSp>
          <p:nvGrpSpPr>
            <p:cNvPr id="8272" name="Group 109"/>
            <p:cNvGrpSpPr>
              <a:grpSpLocks/>
            </p:cNvGrpSpPr>
            <p:nvPr/>
          </p:nvGrpSpPr>
          <p:grpSpPr bwMode="auto">
            <a:xfrm>
              <a:off x="5088" y="1968"/>
              <a:ext cx="288" cy="912"/>
              <a:chOff x="3504" y="2304"/>
              <a:chExt cx="192" cy="192"/>
            </a:xfrm>
          </p:grpSpPr>
          <p:sp>
            <p:nvSpPr>
              <p:cNvPr id="8274" name="Line 110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75" name="Line 111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73" name="Rectangle 112"/>
            <p:cNvSpPr>
              <a:spLocks noChangeArrowheads="1"/>
            </p:cNvSpPr>
            <p:nvPr/>
          </p:nvSpPr>
          <p:spPr bwMode="auto">
            <a:xfrm>
              <a:off x="5376" y="27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</p:grpSp>
      <p:grpSp>
        <p:nvGrpSpPr>
          <p:cNvPr id="11" name="Group 192"/>
          <p:cNvGrpSpPr>
            <a:grpSpLocks/>
          </p:cNvGrpSpPr>
          <p:nvPr/>
        </p:nvGrpSpPr>
        <p:grpSpPr bwMode="auto">
          <a:xfrm>
            <a:off x="5181600" y="1981200"/>
            <a:ext cx="2209800" cy="4114800"/>
            <a:chOff x="4896" y="1248"/>
            <a:chExt cx="1392" cy="2592"/>
          </a:xfrm>
        </p:grpSpPr>
        <p:grpSp>
          <p:nvGrpSpPr>
            <p:cNvPr id="8240" name="Group 123"/>
            <p:cNvGrpSpPr>
              <a:grpSpLocks/>
            </p:cNvGrpSpPr>
            <p:nvPr/>
          </p:nvGrpSpPr>
          <p:grpSpPr bwMode="auto">
            <a:xfrm>
              <a:off x="5040" y="1488"/>
              <a:ext cx="288" cy="192"/>
              <a:chOff x="3504" y="2304"/>
              <a:chExt cx="192" cy="192"/>
            </a:xfrm>
          </p:grpSpPr>
          <p:sp>
            <p:nvSpPr>
              <p:cNvPr id="8263" name="Line 124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4" name="Line 125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41" name="Group 126"/>
            <p:cNvGrpSpPr>
              <a:grpSpLocks/>
            </p:cNvGrpSpPr>
            <p:nvPr/>
          </p:nvGrpSpPr>
          <p:grpSpPr bwMode="auto">
            <a:xfrm>
              <a:off x="5040" y="1680"/>
              <a:ext cx="288" cy="1488"/>
              <a:chOff x="3504" y="2304"/>
              <a:chExt cx="192" cy="192"/>
            </a:xfrm>
          </p:grpSpPr>
          <p:sp>
            <p:nvSpPr>
              <p:cNvPr id="8261" name="Line 127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2" name="Line 128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42" name="Rectangle 129"/>
            <p:cNvSpPr>
              <a:spLocks noChangeArrowheads="1"/>
            </p:cNvSpPr>
            <p:nvPr/>
          </p:nvSpPr>
          <p:spPr bwMode="auto">
            <a:xfrm>
              <a:off x="5328" y="15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FIB(3)</a:t>
              </a:r>
            </a:p>
          </p:txBody>
        </p:sp>
        <p:sp>
          <p:nvSpPr>
            <p:cNvPr id="8243" name="Rectangle 130"/>
            <p:cNvSpPr>
              <a:spLocks noChangeArrowheads="1"/>
            </p:cNvSpPr>
            <p:nvPr/>
          </p:nvSpPr>
          <p:spPr bwMode="auto">
            <a:xfrm>
              <a:off x="5328" y="30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grpSp>
          <p:nvGrpSpPr>
            <p:cNvPr id="8244" name="Group 131"/>
            <p:cNvGrpSpPr>
              <a:grpSpLocks/>
            </p:cNvGrpSpPr>
            <p:nvPr/>
          </p:nvGrpSpPr>
          <p:grpSpPr bwMode="auto">
            <a:xfrm>
              <a:off x="5472" y="1776"/>
              <a:ext cx="288" cy="192"/>
              <a:chOff x="3504" y="2304"/>
              <a:chExt cx="192" cy="192"/>
            </a:xfrm>
          </p:grpSpPr>
          <p:sp>
            <p:nvSpPr>
              <p:cNvPr id="8259" name="Line 132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60" name="Line 133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45" name="Rectangle 134"/>
            <p:cNvSpPr>
              <a:spLocks noChangeArrowheads="1"/>
            </p:cNvSpPr>
            <p:nvPr/>
          </p:nvSpPr>
          <p:spPr bwMode="auto">
            <a:xfrm>
              <a:off x="5760" y="18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sp>
          <p:nvSpPr>
            <p:cNvPr id="8246" name="Rectangle 141"/>
            <p:cNvSpPr>
              <a:spLocks noChangeArrowheads="1"/>
            </p:cNvSpPr>
            <p:nvPr/>
          </p:nvSpPr>
          <p:spPr bwMode="auto">
            <a:xfrm>
              <a:off x="4896" y="1248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FIB(4)</a:t>
              </a:r>
            </a:p>
          </p:txBody>
        </p:sp>
        <p:grpSp>
          <p:nvGrpSpPr>
            <p:cNvPr id="8247" name="Group 144"/>
            <p:cNvGrpSpPr>
              <a:grpSpLocks/>
            </p:cNvGrpSpPr>
            <p:nvPr/>
          </p:nvGrpSpPr>
          <p:grpSpPr bwMode="auto">
            <a:xfrm>
              <a:off x="5472" y="1968"/>
              <a:ext cx="288" cy="912"/>
              <a:chOff x="3504" y="2304"/>
              <a:chExt cx="192" cy="192"/>
            </a:xfrm>
          </p:grpSpPr>
          <p:sp>
            <p:nvSpPr>
              <p:cNvPr id="8257" name="Line 145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8" name="Line 146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48" name="Rectangle 147"/>
            <p:cNvSpPr>
              <a:spLocks noChangeArrowheads="1"/>
            </p:cNvSpPr>
            <p:nvPr/>
          </p:nvSpPr>
          <p:spPr bwMode="auto">
            <a:xfrm>
              <a:off x="5760" y="27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grpSp>
          <p:nvGrpSpPr>
            <p:cNvPr id="8249" name="Group 148"/>
            <p:cNvGrpSpPr>
              <a:grpSpLocks/>
            </p:cNvGrpSpPr>
            <p:nvPr/>
          </p:nvGrpSpPr>
          <p:grpSpPr bwMode="auto">
            <a:xfrm>
              <a:off x="5472" y="3264"/>
              <a:ext cx="288" cy="192"/>
              <a:chOff x="3504" y="2304"/>
              <a:chExt cx="192" cy="192"/>
            </a:xfrm>
          </p:grpSpPr>
          <p:sp>
            <p:nvSpPr>
              <p:cNvPr id="8255" name="Line 149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6" name="Line 150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50" name="Group 151"/>
            <p:cNvGrpSpPr>
              <a:grpSpLocks/>
            </p:cNvGrpSpPr>
            <p:nvPr/>
          </p:nvGrpSpPr>
          <p:grpSpPr bwMode="auto">
            <a:xfrm>
              <a:off x="5472" y="3456"/>
              <a:ext cx="288" cy="288"/>
              <a:chOff x="3504" y="2304"/>
              <a:chExt cx="192" cy="192"/>
            </a:xfrm>
          </p:grpSpPr>
          <p:sp>
            <p:nvSpPr>
              <p:cNvPr id="8253" name="Line 152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4" name="Line 153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51" name="Rectangle 154"/>
            <p:cNvSpPr>
              <a:spLocks noChangeArrowheads="1"/>
            </p:cNvSpPr>
            <p:nvPr/>
          </p:nvSpPr>
          <p:spPr bwMode="auto">
            <a:xfrm>
              <a:off x="5760" y="3312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sp>
          <p:nvSpPr>
            <p:cNvPr id="8252" name="Rectangle 155"/>
            <p:cNvSpPr>
              <a:spLocks noChangeArrowheads="1"/>
            </p:cNvSpPr>
            <p:nvPr/>
          </p:nvSpPr>
          <p:spPr bwMode="auto">
            <a:xfrm>
              <a:off x="5760" y="3600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FIB(0)</a:t>
              </a:r>
            </a:p>
          </p:txBody>
        </p:sp>
      </p:grpSp>
      <p:grpSp>
        <p:nvGrpSpPr>
          <p:cNvPr id="18" name="Group 157"/>
          <p:cNvGrpSpPr>
            <a:grpSpLocks/>
          </p:cNvGrpSpPr>
          <p:nvPr/>
        </p:nvGrpSpPr>
        <p:grpSpPr bwMode="auto">
          <a:xfrm>
            <a:off x="5181600" y="1981200"/>
            <a:ext cx="2895600" cy="4114800"/>
            <a:chOff x="3168" y="1248"/>
            <a:chExt cx="1824" cy="2592"/>
          </a:xfrm>
        </p:grpSpPr>
        <p:grpSp>
          <p:nvGrpSpPr>
            <p:cNvPr id="8207" name="Group 158"/>
            <p:cNvGrpSpPr>
              <a:grpSpLocks/>
            </p:cNvGrpSpPr>
            <p:nvPr/>
          </p:nvGrpSpPr>
          <p:grpSpPr bwMode="auto">
            <a:xfrm>
              <a:off x="3312" y="1488"/>
              <a:ext cx="288" cy="192"/>
              <a:chOff x="3504" y="2304"/>
              <a:chExt cx="192" cy="192"/>
            </a:xfrm>
          </p:grpSpPr>
          <p:sp>
            <p:nvSpPr>
              <p:cNvPr id="8238" name="Line 159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9" name="Line 160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08" name="Group 161"/>
            <p:cNvGrpSpPr>
              <a:grpSpLocks/>
            </p:cNvGrpSpPr>
            <p:nvPr/>
          </p:nvGrpSpPr>
          <p:grpSpPr bwMode="auto">
            <a:xfrm>
              <a:off x="3312" y="1680"/>
              <a:ext cx="288" cy="1488"/>
              <a:chOff x="3504" y="2304"/>
              <a:chExt cx="192" cy="192"/>
            </a:xfrm>
          </p:grpSpPr>
          <p:sp>
            <p:nvSpPr>
              <p:cNvPr id="8236" name="Line 162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7" name="Line 163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09" name="Rectangle 164"/>
            <p:cNvSpPr>
              <a:spLocks noChangeArrowheads="1"/>
            </p:cNvSpPr>
            <p:nvPr/>
          </p:nvSpPr>
          <p:spPr bwMode="auto">
            <a:xfrm>
              <a:off x="3600" y="15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FIB(3)</a:t>
              </a:r>
            </a:p>
          </p:txBody>
        </p:sp>
        <p:sp>
          <p:nvSpPr>
            <p:cNvPr id="8210" name="Rectangle 165"/>
            <p:cNvSpPr>
              <a:spLocks noChangeArrowheads="1"/>
            </p:cNvSpPr>
            <p:nvPr/>
          </p:nvSpPr>
          <p:spPr bwMode="auto">
            <a:xfrm>
              <a:off x="3600" y="30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grpSp>
          <p:nvGrpSpPr>
            <p:cNvPr id="8211" name="Group 166"/>
            <p:cNvGrpSpPr>
              <a:grpSpLocks/>
            </p:cNvGrpSpPr>
            <p:nvPr/>
          </p:nvGrpSpPr>
          <p:grpSpPr bwMode="auto">
            <a:xfrm>
              <a:off x="3744" y="1776"/>
              <a:ext cx="288" cy="192"/>
              <a:chOff x="3504" y="2304"/>
              <a:chExt cx="192" cy="192"/>
            </a:xfrm>
          </p:grpSpPr>
          <p:sp>
            <p:nvSpPr>
              <p:cNvPr id="8234" name="Line 167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5" name="Line 168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12" name="Rectangle 169"/>
            <p:cNvSpPr>
              <a:spLocks noChangeArrowheads="1"/>
            </p:cNvSpPr>
            <p:nvPr/>
          </p:nvSpPr>
          <p:spPr bwMode="auto">
            <a:xfrm>
              <a:off x="4032" y="1824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FIB(2)</a:t>
              </a:r>
            </a:p>
          </p:txBody>
        </p:sp>
        <p:grpSp>
          <p:nvGrpSpPr>
            <p:cNvPr id="8213" name="Group 170"/>
            <p:cNvGrpSpPr>
              <a:grpSpLocks/>
            </p:cNvGrpSpPr>
            <p:nvPr/>
          </p:nvGrpSpPr>
          <p:grpSpPr bwMode="auto">
            <a:xfrm>
              <a:off x="4176" y="2064"/>
              <a:ext cx="288" cy="192"/>
              <a:chOff x="3504" y="2304"/>
              <a:chExt cx="192" cy="192"/>
            </a:xfrm>
          </p:grpSpPr>
          <p:sp>
            <p:nvSpPr>
              <p:cNvPr id="8232" name="Line 171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3" name="Line 172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4" name="Group 173"/>
            <p:cNvGrpSpPr>
              <a:grpSpLocks/>
            </p:cNvGrpSpPr>
            <p:nvPr/>
          </p:nvGrpSpPr>
          <p:grpSpPr bwMode="auto">
            <a:xfrm>
              <a:off x="4176" y="2256"/>
              <a:ext cx="288" cy="288"/>
              <a:chOff x="3504" y="2304"/>
              <a:chExt cx="192" cy="192"/>
            </a:xfrm>
          </p:grpSpPr>
          <p:sp>
            <p:nvSpPr>
              <p:cNvPr id="8230" name="Line 174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31" name="Line 175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15" name="Rectangle 176"/>
            <p:cNvSpPr>
              <a:spLocks noChangeArrowheads="1"/>
            </p:cNvSpPr>
            <p:nvPr/>
          </p:nvSpPr>
          <p:spPr bwMode="auto">
            <a:xfrm>
              <a:off x="3168" y="1248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FIB(4)</a:t>
              </a:r>
            </a:p>
          </p:txBody>
        </p:sp>
        <p:sp>
          <p:nvSpPr>
            <p:cNvPr id="8216" name="Rectangle 177"/>
            <p:cNvSpPr>
              <a:spLocks noChangeArrowheads="1"/>
            </p:cNvSpPr>
            <p:nvPr/>
          </p:nvSpPr>
          <p:spPr bwMode="auto">
            <a:xfrm>
              <a:off x="4464" y="2112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sp>
          <p:nvSpPr>
            <p:cNvPr id="8217" name="Rectangle 178"/>
            <p:cNvSpPr>
              <a:spLocks noChangeArrowheads="1"/>
            </p:cNvSpPr>
            <p:nvPr/>
          </p:nvSpPr>
          <p:spPr bwMode="auto">
            <a:xfrm>
              <a:off x="4464" y="2400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FIB(0)</a:t>
              </a:r>
            </a:p>
          </p:txBody>
        </p:sp>
        <p:grpSp>
          <p:nvGrpSpPr>
            <p:cNvPr id="8218" name="Group 179"/>
            <p:cNvGrpSpPr>
              <a:grpSpLocks/>
            </p:cNvGrpSpPr>
            <p:nvPr/>
          </p:nvGrpSpPr>
          <p:grpSpPr bwMode="auto">
            <a:xfrm>
              <a:off x="3744" y="1968"/>
              <a:ext cx="288" cy="912"/>
              <a:chOff x="3504" y="2304"/>
              <a:chExt cx="192" cy="192"/>
            </a:xfrm>
          </p:grpSpPr>
          <p:sp>
            <p:nvSpPr>
              <p:cNvPr id="8228" name="Line 180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9" name="Line 181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19" name="Rectangle 182"/>
            <p:cNvSpPr>
              <a:spLocks noChangeArrowheads="1"/>
            </p:cNvSpPr>
            <p:nvPr/>
          </p:nvSpPr>
          <p:spPr bwMode="auto">
            <a:xfrm>
              <a:off x="4032" y="273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grpSp>
          <p:nvGrpSpPr>
            <p:cNvPr id="8220" name="Group 183"/>
            <p:cNvGrpSpPr>
              <a:grpSpLocks/>
            </p:cNvGrpSpPr>
            <p:nvPr/>
          </p:nvGrpSpPr>
          <p:grpSpPr bwMode="auto">
            <a:xfrm>
              <a:off x="3744" y="3264"/>
              <a:ext cx="288" cy="192"/>
              <a:chOff x="3504" y="2304"/>
              <a:chExt cx="192" cy="192"/>
            </a:xfrm>
          </p:grpSpPr>
          <p:sp>
            <p:nvSpPr>
              <p:cNvPr id="8226" name="Line 184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7" name="Line 185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1" name="Group 186"/>
            <p:cNvGrpSpPr>
              <a:grpSpLocks/>
            </p:cNvGrpSpPr>
            <p:nvPr/>
          </p:nvGrpSpPr>
          <p:grpSpPr bwMode="auto">
            <a:xfrm>
              <a:off x="3744" y="3456"/>
              <a:ext cx="288" cy="288"/>
              <a:chOff x="3504" y="2304"/>
              <a:chExt cx="192" cy="192"/>
            </a:xfrm>
          </p:grpSpPr>
          <p:sp>
            <p:nvSpPr>
              <p:cNvPr id="8224" name="Line 187"/>
              <p:cNvSpPr>
                <a:spLocks noChangeShapeType="1"/>
              </p:cNvSpPr>
              <p:nvPr/>
            </p:nvSpPr>
            <p:spPr bwMode="auto">
              <a:xfrm>
                <a:off x="3504" y="23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5" name="Line 188"/>
              <p:cNvSpPr>
                <a:spLocks noChangeShapeType="1"/>
              </p:cNvSpPr>
              <p:nvPr/>
            </p:nvSpPr>
            <p:spPr bwMode="auto">
              <a:xfrm>
                <a:off x="3504" y="249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22" name="Rectangle 189"/>
            <p:cNvSpPr>
              <a:spLocks noChangeArrowheads="1"/>
            </p:cNvSpPr>
            <p:nvPr/>
          </p:nvSpPr>
          <p:spPr bwMode="auto">
            <a:xfrm>
              <a:off x="4032" y="3312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FIB(1)</a:t>
              </a:r>
            </a:p>
          </p:txBody>
        </p:sp>
        <p:sp>
          <p:nvSpPr>
            <p:cNvPr id="8223" name="Rectangle 190"/>
            <p:cNvSpPr>
              <a:spLocks noChangeArrowheads="1"/>
            </p:cNvSpPr>
            <p:nvPr/>
          </p:nvSpPr>
          <p:spPr bwMode="auto">
            <a:xfrm>
              <a:off x="4032" y="3600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GB" sz="1600"/>
                <a:t>FIB(0)</a:t>
              </a:r>
            </a:p>
          </p:txBody>
        </p:sp>
      </p:grpSp>
      <p:grpSp>
        <p:nvGrpSpPr>
          <p:cNvPr id="27" name="Group 199"/>
          <p:cNvGrpSpPr>
            <a:grpSpLocks/>
          </p:cNvGrpSpPr>
          <p:nvPr/>
        </p:nvGrpSpPr>
        <p:grpSpPr bwMode="auto">
          <a:xfrm>
            <a:off x="304800" y="2841625"/>
            <a:ext cx="7924800" cy="3482975"/>
            <a:chOff x="192" y="1790"/>
            <a:chExt cx="4992" cy="2194"/>
          </a:xfrm>
        </p:grpSpPr>
        <p:sp>
          <p:nvSpPr>
            <p:cNvPr id="8204" name="Rectangle 193"/>
            <p:cNvSpPr>
              <a:spLocks noChangeArrowheads="1"/>
            </p:cNvSpPr>
            <p:nvPr/>
          </p:nvSpPr>
          <p:spPr bwMode="auto">
            <a:xfrm>
              <a:off x="4032" y="1790"/>
              <a:ext cx="1152" cy="912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205" name="Rectangle 194"/>
            <p:cNvSpPr>
              <a:spLocks noChangeArrowheads="1"/>
            </p:cNvSpPr>
            <p:nvPr/>
          </p:nvSpPr>
          <p:spPr bwMode="auto">
            <a:xfrm>
              <a:off x="3600" y="2992"/>
              <a:ext cx="1152" cy="912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58598" name="Rectangle 198"/>
            <p:cNvSpPr>
              <a:spLocks noChangeArrowheads="1"/>
            </p:cNvSpPr>
            <p:nvPr/>
          </p:nvSpPr>
          <p:spPr bwMode="auto">
            <a:xfrm>
              <a:off x="192" y="3552"/>
              <a:ext cx="3216" cy="432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NB: nella chiamata FIB(4), il numero di</a:t>
              </a:r>
            </a:p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Fibonacci per n=2 viene calcolato 2 volte</a:t>
              </a:r>
              <a:endParaRPr lang="en-GB" sz="2000">
                <a:latin typeface="Arial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76360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4" grpId="0" autoUpdateAnimBg="0"/>
      <p:bldP spid="358409" grpId="0" animBg="1" autoUpdateAnimBg="0"/>
      <p:bldP spid="358411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" y="632460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fld id="{EFBB890D-F42A-EB4E-8A56-5129527DB2CA}" type="slidenum">
              <a:rPr lang="en-US" sz="1200" smtClean="0">
                <a:latin typeface="Times New Roman" charset="0"/>
              </a:rPr>
              <a:pPr algn="l" eaLnBrk="1" hangingPunct="1">
                <a:defRPr/>
              </a:pPr>
              <a:t>7</a:t>
            </a:fld>
            <a:endParaRPr lang="en-US" sz="1400" smtClean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ea typeface="ＭＳ Ｐゴシック" charset="0"/>
              </a:rPr>
              <a:t>Programmazione Dinamica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9600" cy="533400"/>
          </a:xfrm>
        </p:spPr>
        <p:txBody>
          <a:bodyPr/>
          <a:lstStyle/>
          <a:p>
            <a:pPr eaLnBrk="1" hangingPunct="1">
              <a:buFont typeface="Wingdings" charset="0"/>
              <a:buNone/>
              <a:defRPr/>
            </a:pPr>
            <a:r>
              <a:rPr lang="it-IT" b="1" smtClean="0">
                <a:latin typeface="Comic Sans MS" charset="0"/>
                <a:ea typeface="ＭＳ Ｐゴシック" charset="0"/>
              </a:rPr>
              <a:t>Algoritmo alternativo a FIB(n)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57200" y="1905000"/>
            <a:ext cx="7086600" cy="4572000"/>
            <a:chOff x="288" y="1200"/>
            <a:chExt cx="4464" cy="2880"/>
          </a:xfrm>
        </p:grpSpPr>
        <p:sp>
          <p:nvSpPr>
            <p:cNvPr id="10246" name="AutoShape 7"/>
            <p:cNvSpPr>
              <a:spLocks noChangeArrowheads="1"/>
            </p:cNvSpPr>
            <p:nvPr/>
          </p:nvSpPr>
          <p:spPr bwMode="auto">
            <a:xfrm>
              <a:off x="288" y="1200"/>
              <a:ext cx="4464" cy="2880"/>
            </a:xfrm>
            <a:prstGeom prst="flowChartDocumen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0FF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0247" name="Text Box 8"/>
            <p:cNvSpPr txBox="1">
              <a:spLocks noChangeArrowheads="1"/>
            </p:cNvSpPr>
            <p:nvPr/>
          </p:nvSpPr>
          <p:spPr bwMode="auto">
            <a:xfrm>
              <a:off x="874" y="1296"/>
              <a:ext cx="129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1700">
                  <a:latin typeface="Arial" charset="0"/>
                </a:rPr>
                <a:t>Procedura FIB2(n)</a:t>
              </a:r>
              <a:endParaRPr lang="it-IT" sz="1700" baseline="30000">
                <a:solidFill>
                  <a:srgbClr val="FF00FF"/>
                </a:solidFill>
                <a:latin typeface="Arial" charset="0"/>
              </a:endParaRPr>
            </a:p>
          </p:txBody>
        </p:sp>
        <p:sp>
          <p:nvSpPr>
            <p:cNvPr id="10248" name="Rectangle 9"/>
            <p:cNvSpPr>
              <a:spLocks noChangeArrowheads="1"/>
            </p:cNvSpPr>
            <p:nvPr/>
          </p:nvSpPr>
          <p:spPr bwMode="auto">
            <a:xfrm>
              <a:off x="619" y="1536"/>
              <a:ext cx="3885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begin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for i=0 to n do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begin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 if i=0 or i=1 then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	F[i]:=1;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 else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	F[i]:=F[i-1]+F[i-2];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	end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	return F(n);	</a:t>
              </a:r>
            </a:p>
            <a:p>
              <a:pPr marL="342900" indent="-342900">
                <a:spcBef>
                  <a:spcPct val="20000"/>
                </a:spcBef>
                <a:buClr>
                  <a:schemeClr val="hlink"/>
                </a:buClr>
                <a:buFont typeface="Wingdings" charset="0"/>
                <a:buNone/>
              </a:pPr>
              <a:r>
                <a:rPr lang="it-IT" sz="1500">
                  <a:latin typeface="Courier New" charset="0"/>
                </a:rPr>
                <a:t>end</a:t>
              </a:r>
            </a:p>
          </p:txBody>
        </p:sp>
      </p:grpSp>
      <p:sp>
        <p:nvSpPr>
          <p:cNvPr id="334865" name="Rectangle 17"/>
          <p:cNvSpPr>
            <a:spLocks noChangeArrowheads="1"/>
          </p:cNvSpPr>
          <p:nvPr/>
        </p:nvSpPr>
        <p:spPr bwMode="auto">
          <a:xfrm>
            <a:off x="3505200" y="5638800"/>
            <a:ext cx="5105400" cy="6858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it-IT" sz="2000">
                <a:latin typeface="Arial" charset="0"/>
                <a:cs typeface="+mn-cs"/>
              </a:rPr>
              <a:t>NB: nella chiamata FIB2(4), il valore F[2]</a:t>
            </a:r>
          </a:p>
          <a:p>
            <a:pPr>
              <a:defRPr/>
            </a:pPr>
            <a:r>
              <a:rPr lang="it-IT" sz="2000">
                <a:latin typeface="Arial" charset="0"/>
                <a:cs typeface="+mn-cs"/>
              </a:rPr>
              <a:t>viene sfruttato 2 volte ma calcolato 1 volta</a:t>
            </a:r>
            <a:endParaRPr lang="en-GB" sz="200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6543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4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65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" y="632460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l" eaLnBrk="1" hangingPunct="1">
              <a:defRPr/>
            </a:pPr>
            <a:fld id="{00832DDC-7018-704A-B043-4DADE222397A}" type="slidenum">
              <a:rPr lang="en-US" sz="1200" smtClean="0">
                <a:latin typeface="Times New Roman" charset="0"/>
              </a:rPr>
              <a:pPr algn="l" eaLnBrk="1" hangingPunct="1">
                <a:defRPr/>
              </a:pPr>
              <a:t>8</a:t>
            </a:fld>
            <a:endParaRPr lang="en-US" sz="1400" smtClean="0"/>
          </a:p>
        </p:txBody>
      </p:sp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ea typeface="ＭＳ Ｐゴシック" charset="0"/>
              </a:rPr>
              <a:t>Programmazione Dinamica</a:t>
            </a:r>
          </a:p>
        </p:txBody>
      </p:sp>
      <p:sp>
        <p:nvSpPr>
          <p:cNvPr id="2662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smtClean="0">
                <a:latin typeface="Comic Sans MS" charset="0"/>
                <a:ea typeface="ＭＳ Ｐゴシック" charset="0"/>
              </a:rPr>
              <a:t>Passi fondamentali della Programmazione Dinamica</a:t>
            </a:r>
          </a:p>
          <a:p>
            <a:pPr lvl="1" eaLnBrk="1" hangingPunct="1">
              <a:spcBef>
                <a:spcPct val="80000"/>
              </a:spcBef>
              <a:defRPr/>
            </a:pPr>
            <a:r>
              <a:rPr lang="it-IT" dirty="0" smtClean="0">
                <a:latin typeface="Comic Sans MS" charset="0"/>
                <a:ea typeface="ＭＳ Ｐゴシック" charset="0"/>
              </a:rPr>
              <a:t>Riduzione del problema in </a:t>
            </a:r>
            <a:r>
              <a:rPr lang="it-IT" dirty="0" err="1" smtClean="0">
                <a:latin typeface="Comic Sans MS" charset="0"/>
                <a:ea typeface="ＭＳ Ｐゴシック" charset="0"/>
              </a:rPr>
              <a:t>sottoproblemi</a:t>
            </a:r>
            <a:endParaRPr lang="it-IT" dirty="0" smtClean="0">
              <a:latin typeface="Comic Sans MS" charset="0"/>
              <a:ea typeface="ＭＳ Ｐゴシック" charset="0"/>
            </a:endParaRPr>
          </a:p>
          <a:p>
            <a:pPr lvl="1" eaLnBrk="1" hangingPunct="1">
              <a:spcBef>
                <a:spcPct val="80000"/>
              </a:spcBef>
              <a:defRPr/>
            </a:pPr>
            <a:r>
              <a:rPr lang="it-IT" dirty="0" smtClean="0">
                <a:latin typeface="Comic Sans MS" charset="0"/>
                <a:ea typeface="ＭＳ Ｐゴシック" charset="0"/>
              </a:rPr>
              <a:t>Risoluzione di tutti i </a:t>
            </a:r>
            <a:r>
              <a:rPr lang="it-IT" dirty="0" err="1" smtClean="0">
                <a:latin typeface="Comic Sans MS" charset="0"/>
                <a:ea typeface="ＭＳ Ｐゴシック" charset="0"/>
              </a:rPr>
              <a:t>sottoproblemi</a:t>
            </a:r>
            <a:r>
              <a:rPr lang="it-IT" dirty="0" smtClean="0">
                <a:latin typeface="Comic Sans MS" charset="0"/>
                <a:ea typeface="ＭＳ Ｐゴシック" charset="0"/>
              </a:rPr>
              <a:t> possibili</a:t>
            </a:r>
          </a:p>
          <a:p>
            <a:pPr lvl="1" eaLnBrk="1" hangingPunct="1">
              <a:spcBef>
                <a:spcPct val="80000"/>
              </a:spcBef>
              <a:defRPr/>
            </a:pPr>
            <a:r>
              <a:rPr lang="it-IT" dirty="0" smtClean="0">
                <a:latin typeface="Comic Sans MS" charset="0"/>
                <a:ea typeface="ＭＳ Ｐゴシック" charset="0"/>
              </a:rPr>
              <a:t>Risoluzione del problema originale tramite l’utilizzo delle soluzioni dei suoi </a:t>
            </a:r>
            <a:r>
              <a:rPr lang="it-IT" dirty="0" err="1" smtClean="0">
                <a:latin typeface="Comic Sans MS" charset="0"/>
                <a:ea typeface="ＭＳ Ｐゴシック" charset="0"/>
              </a:rPr>
              <a:t>sottoproblemi</a:t>
            </a:r>
            <a:endParaRPr lang="it-IT" dirty="0" smtClean="0">
              <a:latin typeface="Comic Sans M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245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Dynamic Programming History</a:t>
            </a:r>
            <a:endParaRPr lang="en-US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Bellman</a:t>
            </a:r>
          </a:p>
          <a:p>
            <a:pPr lvl="1"/>
            <a:r>
              <a:rPr lang="en-US" smtClean="0"/>
              <a:t>Pioneered the systematic study of dynamic programming in the 1950s</a:t>
            </a:r>
          </a:p>
          <a:p>
            <a:r>
              <a:rPr lang="en-US" smtClean="0"/>
              <a:t>Etymology</a:t>
            </a:r>
          </a:p>
          <a:p>
            <a:pPr lvl="1"/>
            <a:r>
              <a:rPr lang="en-US" smtClean="0"/>
              <a:t>Dynamic programming = planning over time</a:t>
            </a:r>
          </a:p>
          <a:p>
            <a:pPr lvl="1"/>
            <a:r>
              <a:rPr lang="en-US" smtClean="0"/>
              <a:t>Secretary of Defense was hostile to mathematical research</a:t>
            </a:r>
          </a:p>
          <a:p>
            <a:pPr lvl="1"/>
            <a:r>
              <a:rPr lang="en-US" smtClean="0"/>
              <a:t>Bellman sought an impressive name to avoid confrontation</a:t>
            </a:r>
          </a:p>
          <a:p>
            <a:pPr lvl="2"/>
            <a:r>
              <a:rPr lang="en-US" smtClean="0"/>
              <a:t>"it's impossible to use dynamic in a pejorative sense"</a:t>
            </a:r>
          </a:p>
          <a:p>
            <a:pPr lvl="2"/>
            <a:r>
              <a:rPr lang="en-US" smtClean="0"/>
              <a:t>"something not even a Congressman could object to"</a:t>
            </a:r>
            <a:endParaRPr lang="en-US" dirty="0"/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683568" y="5733256"/>
            <a:ext cx="5793390" cy="308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</a:rPr>
              <a:t>Reference:  Bellman, R. E. </a:t>
            </a:r>
            <a:r>
              <a:rPr lang="en-US" sz="1400" i="1" dirty="0">
                <a:solidFill>
                  <a:srgbClr val="008000"/>
                </a:solidFill>
              </a:rPr>
              <a:t>Eye of the Hurricane, An </a:t>
            </a:r>
            <a:r>
              <a:rPr lang="en-US" sz="1400" i="1" dirty="0" smtClean="0">
                <a:solidFill>
                  <a:srgbClr val="008000"/>
                </a:solidFill>
              </a:rPr>
              <a:t>Autobiography</a:t>
            </a:r>
            <a:endParaRPr lang="en-US" sz="14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Applications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 smtClean="0">
                <a:latin typeface="Comic Sans MS" charset="0"/>
              </a:rPr>
              <a:t>Areas</a:t>
            </a:r>
            <a:endParaRPr lang="en-US" dirty="0">
              <a:latin typeface="Comic Sans MS" charset="0"/>
            </a:endParaRPr>
          </a:p>
          <a:p>
            <a:pPr lvl="1"/>
            <a:r>
              <a:rPr lang="en-US" dirty="0" smtClean="0">
                <a:latin typeface="Comic Sans MS" charset="0"/>
                <a:ea typeface="ＭＳ Ｐゴシック" charset="0"/>
              </a:rPr>
              <a:t>Bioinformatics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Control </a:t>
            </a:r>
            <a:r>
              <a:rPr lang="en-US" dirty="0" smtClean="0">
                <a:latin typeface="Comic Sans MS" charset="0"/>
                <a:ea typeface="ＭＳ Ｐゴシック" charset="0"/>
              </a:rPr>
              <a:t>theory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Information </a:t>
            </a:r>
            <a:r>
              <a:rPr lang="en-US" dirty="0" smtClean="0">
                <a:latin typeface="Comic Sans MS" charset="0"/>
                <a:ea typeface="ＭＳ Ｐゴシック" charset="0"/>
              </a:rPr>
              <a:t>theory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Operations </a:t>
            </a:r>
            <a:r>
              <a:rPr lang="en-US" dirty="0" smtClean="0">
                <a:latin typeface="Comic Sans MS" charset="0"/>
                <a:ea typeface="ＭＳ Ｐゴシック" charset="0"/>
              </a:rPr>
              <a:t>research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Computer science:  theory, graphics, AI, systems, …</a:t>
            </a:r>
            <a:r>
              <a:rPr lang="en-US" dirty="0" smtClean="0">
                <a:latin typeface="Comic Sans MS" charset="0"/>
                <a:ea typeface="ＭＳ Ｐゴシック" charset="0"/>
              </a:rPr>
              <a:t>.</a:t>
            </a:r>
            <a:endParaRPr lang="en-US" dirty="0">
              <a:latin typeface="Comic Sans MS" charset="0"/>
            </a:endParaRPr>
          </a:p>
          <a:p>
            <a:pPr marL="0" indent="0"/>
            <a:r>
              <a:rPr lang="en-US" dirty="0">
                <a:latin typeface="Comic Sans MS" charset="0"/>
              </a:rPr>
              <a:t>Some famous dynamic programming </a:t>
            </a:r>
            <a:r>
              <a:rPr lang="en-US" dirty="0" smtClean="0">
                <a:latin typeface="Comic Sans MS" charset="0"/>
              </a:rPr>
              <a:t>algorithms</a:t>
            </a:r>
            <a:endParaRPr lang="en-US" dirty="0">
              <a:latin typeface="Comic Sans MS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Viterbi for hidden Markov </a:t>
            </a:r>
            <a:r>
              <a:rPr lang="en-US" dirty="0" smtClean="0">
                <a:latin typeface="Comic Sans MS" charset="0"/>
                <a:ea typeface="ＭＳ Ｐゴシック" charset="0"/>
              </a:rPr>
              <a:t>models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Unix diff for comparing two </a:t>
            </a:r>
            <a:r>
              <a:rPr lang="en-US" dirty="0" smtClean="0">
                <a:latin typeface="Comic Sans MS" charset="0"/>
                <a:ea typeface="ＭＳ Ｐゴシック" charset="0"/>
              </a:rPr>
              <a:t>files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Smith-Waterman for sequence </a:t>
            </a:r>
            <a:r>
              <a:rPr lang="en-US" dirty="0" smtClean="0">
                <a:latin typeface="Comic Sans MS" charset="0"/>
                <a:ea typeface="ＭＳ Ｐゴシック" charset="0"/>
              </a:rPr>
              <a:t>alignment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Bellman-Ford for shortest path routing in </a:t>
            </a:r>
            <a:r>
              <a:rPr lang="en-US" dirty="0" smtClean="0">
                <a:latin typeface="Comic Sans MS" charset="0"/>
                <a:ea typeface="ＭＳ Ｐゴシック" charset="0"/>
              </a:rPr>
              <a:t>networks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 err="1">
                <a:latin typeface="Comic Sans MS" charset="0"/>
                <a:ea typeface="ＭＳ Ｐゴシック" charset="0"/>
              </a:rPr>
              <a:t>Cocke</a:t>
            </a:r>
            <a:r>
              <a:rPr lang="en-US" dirty="0">
                <a:latin typeface="Comic Sans MS" charset="0"/>
                <a:ea typeface="ＭＳ Ｐゴシック" charset="0"/>
              </a:rPr>
              <a:t>-</a:t>
            </a:r>
            <a:r>
              <a:rPr lang="en-US" dirty="0" err="1">
                <a:latin typeface="Comic Sans MS" charset="0"/>
                <a:ea typeface="ＭＳ Ｐゴシック" charset="0"/>
              </a:rPr>
              <a:t>Kasami</a:t>
            </a:r>
            <a:r>
              <a:rPr lang="en-US" dirty="0">
                <a:latin typeface="Comic Sans MS" charset="0"/>
                <a:ea typeface="ＭＳ Ｐゴシック" charset="0"/>
              </a:rPr>
              <a:t>-Younger for parsing context free </a:t>
            </a:r>
            <a:r>
              <a:rPr lang="en-US" dirty="0" smtClean="0">
                <a:latin typeface="Comic Sans MS" charset="0"/>
                <a:ea typeface="ＭＳ Ｐゴシック" charset="0"/>
              </a:rPr>
              <a:t>grammars</a:t>
            </a:r>
            <a:endParaRPr lang="en-US" dirty="0">
              <a:latin typeface="Comic Sans M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Interval Scheduling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96944" cy="1800200"/>
          </a:xfrm>
        </p:spPr>
        <p:txBody>
          <a:bodyPr/>
          <a:lstStyle/>
          <a:p>
            <a:pPr marL="0" indent="0"/>
            <a:r>
              <a:rPr lang="en-US" dirty="0">
                <a:latin typeface="Comic Sans MS" charset="0"/>
              </a:rPr>
              <a:t>Weighted interval scheduling </a:t>
            </a:r>
            <a:r>
              <a:rPr lang="en-US" dirty="0" smtClean="0">
                <a:latin typeface="Comic Sans MS" charset="0"/>
              </a:rPr>
              <a:t>problem</a:t>
            </a:r>
            <a:endParaRPr lang="en-US" dirty="0">
              <a:latin typeface="Comic Sans MS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Job j starts at </a:t>
            </a:r>
            <a:r>
              <a:rPr lang="en-US" dirty="0" err="1">
                <a:latin typeface="Comic Sans MS" charset="0"/>
                <a:ea typeface="ＭＳ Ｐゴシック" charset="0"/>
              </a:rPr>
              <a:t>s</a:t>
            </a:r>
            <a:r>
              <a:rPr lang="en-US" sz="2000" baseline="-25000" dirty="0" err="1">
                <a:latin typeface="Comic Sans MS" charset="0"/>
                <a:ea typeface="ＭＳ Ｐゴシック" charset="0"/>
              </a:rPr>
              <a:t>j</a:t>
            </a:r>
            <a:r>
              <a:rPr lang="en-US" dirty="0">
                <a:latin typeface="Comic Sans MS" charset="0"/>
                <a:ea typeface="ＭＳ Ｐゴシック" charset="0"/>
              </a:rPr>
              <a:t>, finishes at </a:t>
            </a:r>
            <a:r>
              <a:rPr lang="en-US" dirty="0" err="1">
                <a:latin typeface="Comic Sans MS" charset="0"/>
                <a:ea typeface="ＭＳ Ｐゴシック" charset="0"/>
              </a:rPr>
              <a:t>f</a:t>
            </a:r>
            <a:r>
              <a:rPr lang="en-US" sz="2000" baseline="-25000" dirty="0" err="1">
                <a:latin typeface="Comic Sans MS" charset="0"/>
                <a:ea typeface="ＭＳ Ｐゴシック" charset="0"/>
              </a:rPr>
              <a:t>j</a:t>
            </a:r>
            <a:r>
              <a:rPr lang="en-US" dirty="0">
                <a:latin typeface="Comic Sans MS" charset="0"/>
                <a:ea typeface="ＭＳ Ｐゴシック" charset="0"/>
              </a:rPr>
              <a:t>, and has weight or value </a:t>
            </a:r>
            <a:r>
              <a:rPr lang="en-US" dirty="0" err="1" smtClean="0">
                <a:latin typeface="Comic Sans MS" charset="0"/>
                <a:ea typeface="ＭＳ Ｐゴシック" charset="0"/>
              </a:rPr>
              <a:t>v</a:t>
            </a:r>
            <a:r>
              <a:rPr lang="en-US" sz="2000" baseline="-25000" dirty="0" err="1" smtClean="0">
                <a:latin typeface="Comic Sans MS" charset="0"/>
                <a:ea typeface="ＭＳ Ｐゴシック" charset="0"/>
              </a:rPr>
              <a:t>j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Two jobs </a:t>
            </a:r>
            <a:r>
              <a:rPr lang="en-US" dirty="0">
                <a:solidFill>
                  <a:srgbClr val="008000"/>
                </a:solidFill>
                <a:latin typeface="Comic Sans MS" charset="0"/>
                <a:ea typeface="ＭＳ Ｐゴシック" charset="0"/>
              </a:rPr>
              <a:t>compatible</a:t>
            </a:r>
            <a:r>
              <a:rPr lang="en-US" dirty="0">
                <a:solidFill>
                  <a:schemeClr val="accent1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en-US" dirty="0">
                <a:latin typeface="Comic Sans MS" charset="0"/>
                <a:ea typeface="ＭＳ Ｐゴシック" charset="0"/>
              </a:rPr>
              <a:t>if they don't </a:t>
            </a:r>
            <a:r>
              <a:rPr lang="en-US" dirty="0" smtClean="0">
                <a:latin typeface="Comic Sans MS" charset="0"/>
                <a:ea typeface="ＭＳ Ｐゴシック" charset="0"/>
              </a:rPr>
              <a:t>overlap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Goal:  find maximum </a:t>
            </a:r>
            <a:r>
              <a:rPr lang="en-US" dirty="0">
                <a:solidFill>
                  <a:srgbClr val="008000"/>
                </a:solidFill>
                <a:latin typeface="Comic Sans MS" charset="0"/>
                <a:ea typeface="ＭＳ Ｐゴシック" charset="0"/>
              </a:rPr>
              <a:t>weight </a:t>
            </a:r>
            <a:r>
              <a:rPr lang="en-US" dirty="0">
                <a:latin typeface="Comic Sans MS" charset="0"/>
                <a:ea typeface="ＭＳ Ｐゴシック" charset="0"/>
              </a:rPr>
              <a:t>subset of mutually compatible </a:t>
            </a:r>
            <a:r>
              <a:rPr lang="en-US" dirty="0" smtClean="0">
                <a:latin typeface="Comic Sans MS" charset="0"/>
                <a:ea typeface="ＭＳ Ｐゴシック" charset="0"/>
              </a:rPr>
              <a:t>jobs</a:t>
            </a:r>
            <a:endParaRPr lang="en-US" dirty="0">
              <a:latin typeface="Comic Sans MS" charset="0"/>
              <a:ea typeface="ＭＳ Ｐゴシック" charset="0"/>
            </a:endParaRPr>
          </a:p>
        </p:txBody>
      </p:sp>
      <p:sp>
        <p:nvSpPr>
          <p:cNvPr id="25606" name="Text Box 68"/>
          <p:cNvSpPr txBox="1">
            <a:spLocks noChangeArrowheads="1"/>
          </p:cNvSpPr>
          <p:nvPr/>
        </p:nvSpPr>
        <p:spPr bwMode="auto">
          <a:xfrm>
            <a:off x="3856038" y="6313488"/>
            <a:ext cx="15922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endParaRPr lang="it-IT" sz="1400"/>
          </a:p>
        </p:txBody>
      </p:sp>
      <p:grpSp>
        <p:nvGrpSpPr>
          <p:cNvPr id="2" name="Group 1"/>
          <p:cNvGrpSpPr/>
          <p:nvPr/>
        </p:nvGrpSpPr>
        <p:grpSpPr>
          <a:xfrm>
            <a:off x="1295400" y="3048000"/>
            <a:ext cx="6781800" cy="3524250"/>
            <a:chOff x="1295400" y="3048000"/>
            <a:chExt cx="6781800" cy="3524250"/>
          </a:xfrm>
        </p:grpSpPr>
        <p:sp>
          <p:nvSpPr>
            <p:cNvPr id="25605" name="Line 67"/>
            <p:cNvSpPr>
              <a:spLocks noChangeShapeType="1"/>
            </p:cNvSpPr>
            <p:nvPr/>
          </p:nvSpPr>
          <p:spPr bwMode="auto">
            <a:xfrm>
              <a:off x="1433513" y="6232525"/>
              <a:ext cx="588168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07" name="Text Box 69"/>
            <p:cNvSpPr txBox="1">
              <a:spLocks noChangeArrowheads="1"/>
            </p:cNvSpPr>
            <p:nvPr/>
          </p:nvSpPr>
          <p:spPr bwMode="auto">
            <a:xfrm>
              <a:off x="7315200" y="6024563"/>
              <a:ext cx="76200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sp>
          <p:nvSpPr>
            <p:cNvPr id="25608" name="Line 70"/>
            <p:cNvSpPr>
              <a:spLocks noChangeShapeType="1"/>
            </p:cNvSpPr>
            <p:nvPr/>
          </p:nvSpPr>
          <p:spPr bwMode="auto">
            <a:xfrm>
              <a:off x="6554788" y="6232525"/>
              <a:ext cx="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09" name="Text Box 71"/>
            <p:cNvSpPr txBox="1">
              <a:spLocks noChangeArrowheads="1"/>
            </p:cNvSpPr>
            <p:nvPr/>
          </p:nvSpPr>
          <p:spPr bwMode="auto">
            <a:xfrm>
              <a:off x="1295400" y="6232525"/>
              <a:ext cx="4159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0</a:t>
              </a:r>
            </a:p>
          </p:txBody>
        </p:sp>
        <p:sp>
          <p:nvSpPr>
            <p:cNvPr id="25610" name="Line 72"/>
            <p:cNvSpPr>
              <a:spLocks noChangeShapeType="1"/>
            </p:cNvSpPr>
            <p:nvPr/>
          </p:nvSpPr>
          <p:spPr bwMode="auto">
            <a:xfrm rot="-5400000">
              <a:off x="325437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11" name="Line 73"/>
            <p:cNvSpPr>
              <a:spLocks noChangeShapeType="1"/>
            </p:cNvSpPr>
            <p:nvPr/>
          </p:nvSpPr>
          <p:spPr bwMode="auto">
            <a:xfrm rot="-5400000">
              <a:off x="-158750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12" name="Line 74"/>
            <p:cNvSpPr>
              <a:spLocks noChangeShapeType="1"/>
            </p:cNvSpPr>
            <p:nvPr/>
          </p:nvSpPr>
          <p:spPr bwMode="auto">
            <a:xfrm rot="-5400000">
              <a:off x="1295400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13" name="Line 75"/>
            <p:cNvSpPr>
              <a:spLocks noChangeShapeType="1"/>
            </p:cNvSpPr>
            <p:nvPr/>
          </p:nvSpPr>
          <p:spPr bwMode="auto">
            <a:xfrm rot="-5400000">
              <a:off x="809625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14" name="Line 76"/>
            <p:cNvSpPr>
              <a:spLocks noChangeShapeType="1"/>
            </p:cNvSpPr>
            <p:nvPr/>
          </p:nvSpPr>
          <p:spPr bwMode="auto">
            <a:xfrm rot="-5400000">
              <a:off x="1779587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15" name="Line 77"/>
            <p:cNvSpPr>
              <a:spLocks noChangeShapeType="1"/>
            </p:cNvSpPr>
            <p:nvPr/>
          </p:nvSpPr>
          <p:spPr bwMode="auto">
            <a:xfrm rot="-5400000">
              <a:off x="3232150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16" name="Line 78"/>
            <p:cNvSpPr>
              <a:spLocks noChangeShapeType="1"/>
            </p:cNvSpPr>
            <p:nvPr/>
          </p:nvSpPr>
          <p:spPr bwMode="auto">
            <a:xfrm rot="-5400000">
              <a:off x="2747962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17" name="Line 79"/>
            <p:cNvSpPr>
              <a:spLocks noChangeShapeType="1"/>
            </p:cNvSpPr>
            <p:nvPr/>
          </p:nvSpPr>
          <p:spPr bwMode="auto">
            <a:xfrm rot="-5400000">
              <a:off x="4200525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18" name="Line 80"/>
            <p:cNvSpPr>
              <a:spLocks noChangeShapeType="1"/>
            </p:cNvSpPr>
            <p:nvPr/>
          </p:nvSpPr>
          <p:spPr bwMode="auto">
            <a:xfrm rot="-5400000">
              <a:off x="3716337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19" name="Line 81"/>
            <p:cNvSpPr>
              <a:spLocks noChangeShapeType="1"/>
            </p:cNvSpPr>
            <p:nvPr/>
          </p:nvSpPr>
          <p:spPr bwMode="auto">
            <a:xfrm rot="-5400000">
              <a:off x="5170487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20" name="Line 82"/>
            <p:cNvSpPr>
              <a:spLocks noChangeShapeType="1"/>
            </p:cNvSpPr>
            <p:nvPr/>
          </p:nvSpPr>
          <p:spPr bwMode="auto">
            <a:xfrm rot="-5400000">
              <a:off x="4686300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21" name="Text Box 83"/>
            <p:cNvSpPr txBox="1">
              <a:spLocks noChangeArrowheads="1"/>
            </p:cNvSpPr>
            <p:nvPr/>
          </p:nvSpPr>
          <p:spPr bwMode="auto">
            <a:xfrm>
              <a:off x="1779588" y="6232525"/>
              <a:ext cx="4159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1</a:t>
              </a:r>
            </a:p>
          </p:txBody>
        </p:sp>
        <p:sp>
          <p:nvSpPr>
            <p:cNvPr id="25622" name="Text Box 84"/>
            <p:cNvSpPr txBox="1">
              <a:spLocks noChangeArrowheads="1"/>
            </p:cNvSpPr>
            <p:nvPr/>
          </p:nvSpPr>
          <p:spPr bwMode="auto">
            <a:xfrm>
              <a:off x="2263775" y="6232525"/>
              <a:ext cx="4159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2</a:t>
              </a:r>
            </a:p>
          </p:txBody>
        </p:sp>
        <p:sp>
          <p:nvSpPr>
            <p:cNvPr id="25623" name="Text Box 85"/>
            <p:cNvSpPr txBox="1">
              <a:spLocks noChangeArrowheads="1"/>
            </p:cNvSpPr>
            <p:nvPr/>
          </p:nvSpPr>
          <p:spPr bwMode="auto">
            <a:xfrm>
              <a:off x="2747963" y="6232525"/>
              <a:ext cx="4159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3</a:t>
              </a:r>
            </a:p>
          </p:txBody>
        </p:sp>
        <p:sp>
          <p:nvSpPr>
            <p:cNvPr id="25624" name="Text Box 86"/>
            <p:cNvSpPr txBox="1">
              <a:spLocks noChangeArrowheads="1"/>
            </p:cNvSpPr>
            <p:nvPr/>
          </p:nvSpPr>
          <p:spPr bwMode="auto">
            <a:xfrm>
              <a:off x="3233738" y="6232525"/>
              <a:ext cx="41433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4</a:t>
              </a:r>
            </a:p>
          </p:txBody>
        </p:sp>
        <p:sp>
          <p:nvSpPr>
            <p:cNvPr id="25625" name="Text Box 87"/>
            <p:cNvSpPr txBox="1">
              <a:spLocks noChangeArrowheads="1"/>
            </p:cNvSpPr>
            <p:nvPr/>
          </p:nvSpPr>
          <p:spPr bwMode="auto">
            <a:xfrm>
              <a:off x="3717925" y="6232525"/>
              <a:ext cx="41433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5</a:t>
              </a:r>
            </a:p>
          </p:txBody>
        </p:sp>
        <p:sp>
          <p:nvSpPr>
            <p:cNvPr id="25626" name="Text Box 88"/>
            <p:cNvSpPr txBox="1">
              <a:spLocks noChangeArrowheads="1"/>
            </p:cNvSpPr>
            <p:nvPr/>
          </p:nvSpPr>
          <p:spPr bwMode="auto">
            <a:xfrm>
              <a:off x="4202113" y="6232525"/>
              <a:ext cx="41433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6</a:t>
              </a:r>
            </a:p>
          </p:txBody>
        </p:sp>
        <p:sp>
          <p:nvSpPr>
            <p:cNvPr id="25627" name="Text Box 89"/>
            <p:cNvSpPr txBox="1">
              <a:spLocks noChangeArrowheads="1"/>
            </p:cNvSpPr>
            <p:nvPr/>
          </p:nvSpPr>
          <p:spPr bwMode="auto">
            <a:xfrm>
              <a:off x="4686300" y="6232525"/>
              <a:ext cx="4159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7</a:t>
              </a:r>
            </a:p>
          </p:txBody>
        </p:sp>
        <p:sp>
          <p:nvSpPr>
            <p:cNvPr id="25628" name="Text Box 90"/>
            <p:cNvSpPr txBox="1">
              <a:spLocks noChangeArrowheads="1"/>
            </p:cNvSpPr>
            <p:nvPr/>
          </p:nvSpPr>
          <p:spPr bwMode="auto">
            <a:xfrm>
              <a:off x="5170488" y="6232525"/>
              <a:ext cx="4159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8</a:t>
              </a:r>
            </a:p>
          </p:txBody>
        </p:sp>
        <p:sp>
          <p:nvSpPr>
            <p:cNvPr id="25629" name="Text Box 91"/>
            <p:cNvSpPr txBox="1">
              <a:spLocks noChangeArrowheads="1"/>
            </p:cNvSpPr>
            <p:nvPr/>
          </p:nvSpPr>
          <p:spPr bwMode="auto">
            <a:xfrm>
              <a:off x="5654675" y="6232525"/>
              <a:ext cx="4159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9</a:t>
              </a:r>
            </a:p>
          </p:txBody>
        </p:sp>
        <p:sp>
          <p:nvSpPr>
            <p:cNvPr id="25630" name="Text Box 92"/>
            <p:cNvSpPr txBox="1">
              <a:spLocks noChangeArrowheads="1"/>
            </p:cNvSpPr>
            <p:nvPr/>
          </p:nvSpPr>
          <p:spPr bwMode="auto">
            <a:xfrm>
              <a:off x="6070600" y="6232525"/>
              <a:ext cx="41433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10</a:t>
              </a:r>
            </a:p>
          </p:txBody>
        </p:sp>
        <p:sp>
          <p:nvSpPr>
            <p:cNvPr id="25631" name="Text Box 93"/>
            <p:cNvSpPr txBox="1">
              <a:spLocks noChangeArrowheads="1"/>
            </p:cNvSpPr>
            <p:nvPr/>
          </p:nvSpPr>
          <p:spPr bwMode="auto">
            <a:xfrm>
              <a:off x="6624638" y="6232525"/>
              <a:ext cx="41433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11</a:t>
              </a:r>
            </a:p>
          </p:txBody>
        </p:sp>
        <p:sp>
          <p:nvSpPr>
            <p:cNvPr id="25632" name="Rectangle 94"/>
            <p:cNvSpPr>
              <a:spLocks noChangeArrowheads="1"/>
            </p:cNvSpPr>
            <p:nvPr/>
          </p:nvSpPr>
          <p:spPr bwMode="auto">
            <a:xfrm>
              <a:off x="3856038" y="5124450"/>
              <a:ext cx="1936750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600"/>
                <a:t>f</a:t>
              </a:r>
            </a:p>
          </p:txBody>
        </p:sp>
        <p:sp>
          <p:nvSpPr>
            <p:cNvPr id="25633" name="Rectangle 95"/>
            <p:cNvSpPr>
              <a:spLocks noChangeArrowheads="1"/>
            </p:cNvSpPr>
            <p:nvPr/>
          </p:nvSpPr>
          <p:spPr bwMode="auto">
            <a:xfrm>
              <a:off x="4340225" y="5540375"/>
              <a:ext cx="1938338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600"/>
                <a:t>g</a:t>
              </a:r>
            </a:p>
          </p:txBody>
        </p:sp>
        <p:sp>
          <p:nvSpPr>
            <p:cNvPr id="25634" name="Line 96"/>
            <p:cNvSpPr>
              <a:spLocks noChangeShapeType="1"/>
            </p:cNvSpPr>
            <p:nvPr/>
          </p:nvSpPr>
          <p:spPr bwMode="auto">
            <a:xfrm rot="-5400000">
              <a:off x="2263775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 sz="1600"/>
            </a:p>
          </p:txBody>
        </p:sp>
        <p:sp>
          <p:nvSpPr>
            <p:cNvPr id="25635" name="Rectangle 97"/>
            <p:cNvSpPr>
              <a:spLocks noChangeArrowheads="1"/>
            </p:cNvSpPr>
            <p:nvPr/>
          </p:nvSpPr>
          <p:spPr bwMode="auto">
            <a:xfrm>
              <a:off x="5308600" y="5953125"/>
              <a:ext cx="1454150" cy="27781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600"/>
                <a:t>h</a:t>
              </a:r>
            </a:p>
          </p:txBody>
        </p:sp>
        <p:sp>
          <p:nvSpPr>
            <p:cNvPr id="25636" name="Rectangle 98"/>
            <p:cNvSpPr>
              <a:spLocks noChangeArrowheads="1"/>
            </p:cNvSpPr>
            <p:nvPr/>
          </p:nvSpPr>
          <p:spPr bwMode="auto">
            <a:xfrm>
              <a:off x="3371850" y="4708525"/>
              <a:ext cx="1452563" cy="27781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600"/>
                <a:t>e</a:t>
              </a:r>
            </a:p>
          </p:txBody>
        </p:sp>
        <p:sp>
          <p:nvSpPr>
            <p:cNvPr id="25637" name="Rectangle 99"/>
            <p:cNvSpPr>
              <a:spLocks noChangeArrowheads="1"/>
            </p:cNvSpPr>
            <p:nvPr/>
          </p:nvSpPr>
          <p:spPr bwMode="auto">
            <a:xfrm>
              <a:off x="1433513" y="3048000"/>
              <a:ext cx="2906712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600" dirty="0"/>
                <a:t>a</a:t>
              </a:r>
            </a:p>
          </p:txBody>
        </p:sp>
        <p:sp>
          <p:nvSpPr>
            <p:cNvPr id="25638" name="Rectangle 100"/>
            <p:cNvSpPr>
              <a:spLocks noChangeArrowheads="1"/>
            </p:cNvSpPr>
            <p:nvPr/>
          </p:nvSpPr>
          <p:spPr bwMode="auto">
            <a:xfrm>
              <a:off x="1917700" y="3463925"/>
              <a:ext cx="1454150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600"/>
                <a:t>b</a:t>
              </a:r>
            </a:p>
          </p:txBody>
        </p:sp>
        <p:sp>
          <p:nvSpPr>
            <p:cNvPr id="25639" name="Rectangle 101"/>
            <p:cNvSpPr>
              <a:spLocks noChangeArrowheads="1"/>
            </p:cNvSpPr>
            <p:nvPr/>
          </p:nvSpPr>
          <p:spPr bwMode="auto">
            <a:xfrm>
              <a:off x="2887663" y="3878263"/>
              <a:ext cx="968375" cy="2778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600"/>
                <a:t>c</a:t>
              </a:r>
            </a:p>
          </p:txBody>
        </p:sp>
        <p:sp>
          <p:nvSpPr>
            <p:cNvPr id="25640" name="Rectangle 102"/>
            <p:cNvSpPr>
              <a:spLocks noChangeArrowheads="1"/>
            </p:cNvSpPr>
            <p:nvPr/>
          </p:nvSpPr>
          <p:spPr bwMode="auto">
            <a:xfrm>
              <a:off x="2887663" y="4294188"/>
              <a:ext cx="2420937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600"/>
                <a:t>d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46"/>
          <p:cNvSpPr>
            <a:spLocks noGrp="1" noChangeArrowheads="1"/>
          </p:cNvSpPr>
          <p:nvPr>
            <p:ph type="title"/>
          </p:nvPr>
        </p:nvSpPr>
        <p:spPr>
          <a:xfrm>
            <a:off x="1187624" y="188640"/>
            <a:ext cx="7535862" cy="685800"/>
          </a:xfrm>
        </p:spPr>
        <p:txBody>
          <a:bodyPr/>
          <a:lstStyle/>
          <a:p>
            <a:r>
              <a:rPr lang="en-US" sz="2800" dirty="0" err="1"/>
              <a:t>Unweighted</a:t>
            </a:r>
            <a:r>
              <a:rPr lang="en-US" sz="2800" dirty="0"/>
              <a:t> Interval Scheduling Review</a:t>
            </a:r>
          </a:p>
        </p:txBody>
      </p:sp>
      <p:sp>
        <p:nvSpPr>
          <p:cNvPr id="27652" name="Rectangle 47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568952" cy="2880320"/>
          </a:xfrm>
        </p:spPr>
        <p:txBody>
          <a:bodyPr/>
          <a:lstStyle/>
          <a:p>
            <a:pPr marL="0" indent="0"/>
            <a:r>
              <a:rPr lang="en-US" dirty="0">
                <a:latin typeface="Comic Sans MS" charset="0"/>
              </a:rPr>
              <a:t>Recall.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Greedy algorithm works if all weights are 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</a:rPr>
              <a:t>1</a:t>
            </a:r>
            <a:endParaRPr lang="en-US" dirty="0">
              <a:solidFill>
                <a:schemeClr val="tx1"/>
              </a:solidFill>
              <a:latin typeface="Comic Sans MS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Consider jobs in ascending order of finish </a:t>
            </a:r>
            <a:r>
              <a:rPr lang="en-US" dirty="0" smtClean="0">
                <a:latin typeface="Comic Sans MS" charset="0"/>
                <a:ea typeface="ＭＳ Ｐゴシック" charset="0"/>
              </a:rPr>
              <a:t>time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Add job to subset if it is compatible with previously chosen </a:t>
            </a:r>
            <a:r>
              <a:rPr lang="en-US" dirty="0" smtClean="0">
                <a:latin typeface="Comic Sans MS" charset="0"/>
                <a:ea typeface="ＭＳ Ｐゴシック" charset="0"/>
              </a:rPr>
              <a:t>jobs</a:t>
            </a:r>
            <a:endParaRPr lang="en-US" dirty="0">
              <a:solidFill>
                <a:schemeClr val="tx1"/>
              </a:solidFill>
              <a:latin typeface="Comic Sans MS" charset="0"/>
            </a:endParaRPr>
          </a:p>
          <a:p>
            <a:pPr marL="0" indent="0"/>
            <a:endParaRPr lang="en-US" dirty="0">
              <a:solidFill>
                <a:schemeClr val="tx1"/>
              </a:solidFill>
              <a:latin typeface="Comic Sans MS" charset="0"/>
            </a:endParaRPr>
          </a:p>
          <a:p>
            <a:pPr marL="0" indent="0"/>
            <a:r>
              <a:rPr lang="en-US" dirty="0">
                <a:latin typeface="Comic Sans MS" charset="0"/>
              </a:rPr>
              <a:t>Observation.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Greedy algorithm can fail spectacularly if arbitrary weights are 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</a:rPr>
              <a:t>allowed</a:t>
            </a:r>
            <a:endParaRPr lang="en-US" dirty="0">
              <a:solidFill>
                <a:schemeClr val="tx1"/>
              </a:solidFill>
              <a:latin typeface="Comic Sans MS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86482" y="4729931"/>
            <a:ext cx="8116292" cy="1727200"/>
            <a:chOff x="186482" y="4729931"/>
            <a:chExt cx="8116292" cy="1727200"/>
          </a:xfrm>
        </p:grpSpPr>
        <p:sp>
          <p:nvSpPr>
            <p:cNvPr id="27656" name="Text Box 55"/>
            <p:cNvSpPr txBox="1">
              <a:spLocks noChangeArrowheads="1"/>
            </p:cNvSpPr>
            <p:nvPr/>
          </p:nvSpPr>
          <p:spPr bwMode="auto">
            <a:xfrm>
              <a:off x="1259632" y="6021288"/>
              <a:ext cx="4159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655912" y="4729931"/>
              <a:ext cx="6646862" cy="1727200"/>
              <a:chOff x="1430338" y="4926013"/>
              <a:chExt cx="6646862" cy="1727200"/>
            </a:xfrm>
          </p:grpSpPr>
          <p:sp>
            <p:nvSpPr>
              <p:cNvPr id="27653" name="Line 51"/>
              <p:cNvSpPr>
                <a:spLocks noChangeShapeType="1"/>
              </p:cNvSpPr>
              <p:nvPr/>
            </p:nvSpPr>
            <p:spPr bwMode="auto">
              <a:xfrm>
                <a:off x="1433513" y="6232525"/>
                <a:ext cx="5881687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54" name="Text Box 52"/>
              <p:cNvSpPr txBox="1">
                <a:spLocks noChangeArrowheads="1"/>
              </p:cNvSpPr>
              <p:nvPr/>
            </p:nvSpPr>
            <p:spPr bwMode="auto">
              <a:xfrm>
                <a:off x="3856038" y="6313488"/>
                <a:ext cx="1592262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it-IT"/>
              </a:p>
            </p:txBody>
          </p:sp>
          <p:sp>
            <p:nvSpPr>
              <p:cNvPr id="27655" name="Text Box 53"/>
              <p:cNvSpPr txBox="1">
                <a:spLocks noChangeArrowheads="1"/>
              </p:cNvSpPr>
              <p:nvPr/>
            </p:nvSpPr>
            <p:spPr bwMode="auto">
              <a:xfrm>
                <a:off x="7315200" y="6024563"/>
                <a:ext cx="762000" cy="339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Time</a:t>
                </a:r>
              </a:p>
            </p:txBody>
          </p:sp>
          <p:sp>
            <p:nvSpPr>
              <p:cNvPr id="27657" name="Text Box 67"/>
              <p:cNvSpPr txBox="1">
                <a:spLocks noChangeArrowheads="1"/>
              </p:cNvSpPr>
              <p:nvPr/>
            </p:nvSpPr>
            <p:spPr bwMode="auto">
              <a:xfrm>
                <a:off x="1779588" y="6232525"/>
                <a:ext cx="415925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27658" name="Text Box 68"/>
              <p:cNvSpPr txBox="1">
                <a:spLocks noChangeArrowheads="1"/>
              </p:cNvSpPr>
              <p:nvPr/>
            </p:nvSpPr>
            <p:spPr bwMode="auto">
              <a:xfrm>
                <a:off x="2263775" y="6232525"/>
                <a:ext cx="415925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2</a:t>
                </a:r>
              </a:p>
            </p:txBody>
          </p:sp>
          <p:sp>
            <p:nvSpPr>
              <p:cNvPr id="27659" name="Text Box 69"/>
              <p:cNvSpPr txBox="1">
                <a:spLocks noChangeArrowheads="1"/>
              </p:cNvSpPr>
              <p:nvPr/>
            </p:nvSpPr>
            <p:spPr bwMode="auto">
              <a:xfrm>
                <a:off x="2747963" y="6232525"/>
                <a:ext cx="415925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3</a:t>
                </a:r>
              </a:p>
            </p:txBody>
          </p:sp>
          <p:sp>
            <p:nvSpPr>
              <p:cNvPr id="27660" name="Text Box 70"/>
              <p:cNvSpPr txBox="1">
                <a:spLocks noChangeArrowheads="1"/>
              </p:cNvSpPr>
              <p:nvPr/>
            </p:nvSpPr>
            <p:spPr bwMode="auto">
              <a:xfrm>
                <a:off x="3233738" y="6232525"/>
                <a:ext cx="414337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4</a:t>
                </a:r>
              </a:p>
            </p:txBody>
          </p:sp>
          <p:sp>
            <p:nvSpPr>
              <p:cNvPr id="27661" name="Text Box 71"/>
              <p:cNvSpPr txBox="1">
                <a:spLocks noChangeArrowheads="1"/>
              </p:cNvSpPr>
              <p:nvPr/>
            </p:nvSpPr>
            <p:spPr bwMode="auto">
              <a:xfrm>
                <a:off x="3717925" y="6232525"/>
                <a:ext cx="414338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5</a:t>
                </a:r>
              </a:p>
            </p:txBody>
          </p:sp>
          <p:sp>
            <p:nvSpPr>
              <p:cNvPr id="27662" name="Text Box 72"/>
              <p:cNvSpPr txBox="1">
                <a:spLocks noChangeArrowheads="1"/>
              </p:cNvSpPr>
              <p:nvPr/>
            </p:nvSpPr>
            <p:spPr bwMode="auto">
              <a:xfrm>
                <a:off x="4202113" y="6232525"/>
                <a:ext cx="414337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6</a:t>
                </a:r>
              </a:p>
            </p:txBody>
          </p:sp>
          <p:sp>
            <p:nvSpPr>
              <p:cNvPr id="27663" name="Text Box 73"/>
              <p:cNvSpPr txBox="1">
                <a:spLocks noChangeArrowheads="1"/>
              </p:cNvSpPr>
              <p:nvPr/>
            </p:nvSpPr>
            <p:spPr bwMode="auto">
              <a:xfrm>
                <a:off x="4686300" y="6232525"/>
                <a:ext cx="415925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7</a:t>
                </a:r>
              </a:p>
            </p:txBody>
          </p:sp>
          <p:sp>
            <p:nvSpPr>
              <p:cNvPr id="27664" name="Text Box 74"/>
              <p:cNvSpPr txBox="1">
                <a:spLocks noChangeArrowheads="1"/>
              </p:cNvSpPr>
              <p:nvPr/>
            </p:nvSpPr>
            <p:spPr bwMode="auto">
              <a:xfrm>
                <a:off x="5170488" y="6232525"/>
                <a:ext cx="415925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8</a:t>
                </a:r>
              </a:p>
            </p:txBody>
          </p:sp>
          <p:sp>
            <p:nvSpPr>
              <p:cNvPr id="27665" name="Text Box 75"/>
              <p:cNvSpPr txBox="1">
                <a:spLocks noChangeArrowheads="1"/>
              </p:cNvSpPr>
              <p:nvPr/>
            </p:nvSpPr>
            <p:spPr bwMode="auto">
              <a:xfrm>
                <a:off x="5654675" y="6232525"/>
                <a:ext cx="415925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9</a:t>
                </a:r>
              </a:p>
            </p:txBody>
          </p:sp>
          <p:sp>
            <p:nvSpPr>
              <p:cNvPr id="27666" name="Text Box 76"/>
              <p:cNvSpPr txBox="1">
                <a:spLocks noChangeArrowheads="1"/>
              </p:cNvSpPr>
              <p:nvPr/>
            </p:nvSpPr>
            <p:spPr bwMode="auto">
              <a:xfrm>
                <a:off x="6070600" y="6232525"/>
                <a:ext cx="414338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10</a:t>
                </a:r>
              </a:p>
            </p:txBody>
          </p:sp>
          <p:sp>
            <p:nvSpPr>
              <p:cNvPr id="27667" name="Text Box 77"/>
              <p:cNvSpPr txBox="1">
                <a:spLocks noChangeArrowheads="1"/>
              </p:cNvSpPr>
              <p:nvPr/>
            </p:nvSpPr>
            <p:spPr bwMode="auto">
              <a:xfrm>
                <a:off x="6624638" y="6232525"/>
                <a:ext cx="414337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/>
                  <a:t>11</a:t>
                </a:r>
              </a:p>
            </p:txBody>
          </p:sp>
          <p:sp>
            <p:nvSpPr>
              <p:cNvPr id="27668" name="Rectangle 78"/>
              <p:cNvSpPr>
                <a:spLocks noChangeArrowheads="1"/>
              </p:cNvSpPr>
              <p:nvPr/>
            </p:nvSpPr>
            <p:spPr bwMode="auto">
              <a:xfrm>
                <a:off x="1430338" y="5216525"/>
                <a:ext cx="4860925" cy="27622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sz="1600"/>
                  <a:t>b</a:t>
                </a:r>
              </a:p>
            </p:txBody>
          </p:sp>
          <p:sp>
            <p:nvSpPr>
              <p:cNvPr id="27669" name="Line 54"/>
              <p:cNvSpPr>
                <a:spLocks noChangeShapeType="1"/>
              </p:cNvSpPr>
              <p:nvPr/>
            </p:nvSpPr>
            <p:spPr bwMode="auto">
              <a:xfrm>
                <a:off x="6554788" y="6232525"/>
                <a:ext cx="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0" name="Line 56"/>
              <p:cNvSpPr>
                <a:spLocks noChangeShapeType="1"/>
              </p:cNvSpPr>
              <p:nvPr/>
            </p:nvSpPr>
            <p:spPr bwMode="auto">
              <a:xfrm rot="-5400000">
                <a:off x="1264444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1" name="Line 57"/>
              <p:cNvSpPr>
                <a:spLocks noChangeShapeType="1"/>
              </p:cNvSpPr>
              <p:nvPr/>
            </p:nvSpPr>
            <p:spPr bwMode="auto">
              <a:xfrm rot="-5400000">
                <a:off x="780257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2" name="Line 58"/>
              <p:cNvSpPr>
                <a:spLocks noChangeShapeType="1"/>
              </p:cNvSpPr>
              <p:nvPr/>
            </p:nvSpPr>
            <p:spPr bwMode="auto">
              <a:xfrm rot="-5400000">
                <a:off x="2234407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3" name="Line 59"/>
              <p:cNvSpPr>
                <a:spLocks noChangeShapeType="1"/>
              </p:cNvSpPr>
              <p:nvPr/>
            </p:nvSpPr>
            <p:spPr bwMode="auto">
              <a:xfrm rot="-5400000">
                <a:off x="1748632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4" name="Line 60"/>
              <p:cNvSpPr>
                <a:spLocks noChangeShapeType="1"/>
              </p:cNvSpPr>
              <p:nvPr/>
            </p:nvSpPr>
            <p:spPr bwMode="auto">
              <a:xfrm rot="-5400000">
                <a:off x="2718594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5" name="Line 61"/>
              <p:cNvSpPr>
                <a:spLocks noChangeShapeType="1"/>
              </p:cNvSpPr>
              <p:nvPr/>
            </p:nvSpPr>
            <p:spPr bwMode="auto">
              <a:xfrm rot="-5400000">
                <a:off x="4171157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6" name="Line 62"/>
              <p:cNvSpPr>
                <a:spLocks noChangeShapeType="1"/>
              </p:cNvSpPr>
              <p:nvPr/>
            </p:nvSpPr>
            <p:spPr bwMode="auto">
              <a:xfrm rot="-5400000">
                <a:off x="3686969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7" name="Line 63"/>
              <p:cNvSpPr>
                <a:spLocks noChangeShapeType="1"/>
              </p:cNvSpPr>
              <p:nvPr/>
            </p:nvSpPr>
            <p:spPr bwMode="auto">
              <a:xfrm rot="-5400000">
                <a:off x="5139532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8" name="Line 64"/>
              <p:cNvSpPr>
                <a:spLocks noChangeShapeType="1"/>
              </p:cNvSpPr>
              <p:nvPr/>
            </p:nvSpPr>
            <p:spPr bwMode="auto">
              <a:xfrm rot="-5400000">
                <a:off x="4655344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79" name="Line 65"/>
              <p:cNvSpPr>
                <a:spLocks noChangeShapeType="1"/>
              </p:cNvSpPr>
              <p:nvPr/>
            </p:nvSpPr>
            <p:spPr bwMode="auto">
              <a:xfrm rot="-5400000">
                <a:off x="6109494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80" name="Line 66"/>
              <p:cNvSpPr>
                <a:spLocks noChangeShapeType="1"/>
              </p:cNvSpPr>
              <p:nvPr/>
            </p:nvSpPr>
            <p:spPr bwMode="auto">
              <a:xfrm rot="-5400000">
                <a:off x="5625307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81" name="Line 80"/>
              <p:cNvSpPr>
                <a:spLocks noChangeShapeType="1"/>
              </p:cNvSpPr>
              <p:nvPr/>
            </p:nvSpPr>
            <p:spPr bwMode="auto">
              <a:xfrm rot="-5400000">
                <a:off x="3202782" y="5579269"/>
                <a:ext cx="13065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 sz="1600"/>
              </a:p>
            </p:txBody>
          </p:sp>
          <p:sp>
            <p:nvSpPr>
              <p:cNvPr id="27682" name="Rectangle 82"/>
              <p:cNvSpPr>
                <a:spLocks noChangeArrowheads="1"/>
              </p:cNvSpPr>
              <p:nvPr/>
            </p:nvSpPr>
            <p:spPr bwMode="auto">
              <a:xfrm>
                <a:off x="1431925" y="5708650"/>
                <a:ext cx="1452563" cy="277813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sz="1600"/>
                  <a:t>a</a:t>
                </a:r>
              </a:p>
            </p:txBody>
          </p:sp>
        </p:grpSp>
        <p:sp>
          <p:nvSpPr>
            <p:cNvPr id="27683" name="Rectangle 88"/>
            <p:cNvSpPr>
              <a:spLocks noChangeArrowheads="1"/>
            </p:cNvSpPr>
            <p:nvPr/>
          </p:nvSpPr>
          <p:spPr bwMode="auto">
            <a:xfrm>
              <a:off x="186482" y="4992588"/>
              <a:ext cx="1423366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/>
                <a:t>weight = 999</a:t>
              </a:r>
            </a:p>
          </p:txBody>
        </p:sp>
        <p:sp>
          <p:nvSpPr>
            <p:cNvPr id="27684" name="Rectangle 89"/>
            <p:cNvSpPr>
              <a:spLocks noChangeArrowheads="1"/>
            </p:cNvSpPr>
            <p:nvPr/>
          </p:nvSpPr>
          <p:spPr bwMode="auto">
            <a:xfrm>
              <a:off x="188070" y="5478363"/>
              <a:ext cx="1140036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/>
                <a:t>weight = 1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Interval Scheduling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96944" cy="3600400"/>
          </a:xfrm>
        </p:spPr>
        <p:txBody>
          <a:bodyPr/>
          <a:lstStyle/>
          <a:p>
            <a:pPr marL="0" indent="0">
              <a:buClrTx/>
              <a:buSzTx/>
              <a:buFontTx/>
              <a:buNone/>
            </a:pPr>
            <a:r>
              <a:rPr lang="en-US" dirty="0">
                <a:latin typeface="Comic Sans MS" charset="0"/>
              </a:rPr>
              <a:t>Notation</a:t>
            </a:r>
            <a:r>
              <a:rPr lang="en-US" sz="2000" dirty="0">
                <a:latin typeface="Comic Sans MS" charset="0"/>
              </a:rPr>
              <a:t>.  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</a:rPr>
              <a:t>Label jobs by finishing time:  f</a:t>
            </a:r>
            <a:r>
              <a:rPr lang="en-US" sz="2000" baseline="-25000" dirty="0">
                <a:solidFill>
                  <a:schemeClr val="tx1"/>
                </a:solidFill>
                <a:latin typeface="Comic Sans MS" charset="0"/>
              </a:rPr>
              <a:t>1  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  <a:sym typeface="Symbol" charset="0"/>
              </a:rPr>
              <a:t>  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</a:rPr>
              <a:t>f</a:t>
            </a:r>
            <a:r>
              <a:rPr lang="en-US" sz="2000" baseline="-25000" dirty="0">
                <a:solidFill>
                  <a:schemeClr val="tx1"/>
                </a:solidFill>
                <a:latin typeface="Comic Sans MS" charset="0"/>
              </a:rPr>
              <a:t>2  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  <a:sym typeface="Symbol" charset="0"/>
              </a:rPr>
              <a:t> . . . 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Comic Sans MS" charset="0"/>
              </a:rPr>
              <a:t>f</a:t>
            </a:r>
            <a:r>
              <a:rPr lang="en-US" sz="2000" baseline="-25000" dirty="0" err="1" smtClean="0">
                <a:solidFill>
                  <a:schemeClr val="tx1"/>
                </a:solidFill>
                <a:latin typeface="Comic Sans MS" charset="0"/>
              </a:rPr>
              <a:t>n</a:t>
            </a:r>
            <a:endParaRPr lang="en-US" sz="2000" baseline="-25000" dirty="0">
              <a:solidFill>
                <a:schemeClr val="tx1"/>
              </a:solidFill>
              <a:latin typeface="Comic Sans MS" charset="0"/>
            </a:endParaRPr>
          </a:p>
          <a:p>
            <a:pPr marL="0" indent="0">
              <a:buClrTx/>
              <a:buSzTx/>
              <a:buFontTx/>
              <a:buNone/>
            </a:pPr>
            <a:r>
              <a:rPr lang="en-US" dirty="0">
                <a:latin typeface="Comic Sans MS" charset="0"/>
              </a:rPr>
              <a:t>Def.  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</a:rPr>
              <a:t>p(j) = largest index </a:t>
            </a:r>
            <a:r>
              <a:rPr lang="en-US" sz="2000" dirty="0" err="1">
                <a:solidFill>
                  <a:schemeClr val="tx1"/>
                </a:solidFill>
                <a:latin typeface="Comic Sans MS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</a:rPr>
              <a:t> &lt; j such that job </a:t>
            </a:r>
            <a:r>
              <a:rPr lang="en-US" sz="2000" dirty="0" err="1">
                <a:solidFill>
                  <a:schemeClr val="tx1"/>
                </a:solidFill>
                <a:latin typeface="Comic Sans MS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</a:rPr>
              <a:t> is compatible with </a:t>
            </a:r>
            <a:r>
              <a:rPr lang="en-US" sz="2000" dirty="0" smtClean="0">
                <a:solidFill>
                  <a:schemeClr val="tx1"/>
                </a:solidFill>
                <a:latin typeface="Comic Sans MS" charset="0"/>
              </a:rPr>
              <a:t>j</a:t>
            </a:r>
            <a:endParaRPr lang="en-US" dirty="0">
              <a:latin typeface="Comic Sans MS" charset="0"/>
            </a:endParaRPr>
          </a:p>
          <a:p>
            <a:pPr marL="0" indent="0">
              <a:buClrTx/>
              <a:buSzTx/>
              <a:buFontTx/>
              <a:buNone/>
            </a:pPr>
            <a:r>
              <a:rPr lang="en-US" dirty="0">
                <a:latin typeface="Comic Sans MS" charset="0"/>
              </a:rPr>
              <a:t>Ex:  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</a:rPr>
              <a:t>p(8) = 5, p(7) = 3, p(2) = </a:t>
            </a:r>
            <a:r>
              <a:rPr lang="en-US" sz="2000" dirty="0" smtClean="0">
                <a:solidFill>
                  <a:schemeClr val="tx1"/>
                </a:solidFill>
                <a:latin typeface="Comic Sans MS" charset="0"/>
              </a:rPr>
              <a:t>0</a:t>
            </a:r>
            <a:endParaRPr lang="en-US" sz="2000" dirty="0">
              <a:solidFill>
                <a:schemeClr val="tx1"/>
              </a:solidFill>
              <a:latin typeface="Comic Sans MS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295400" y="3048000"/>
            <a:ext cx="6781800" cy="3571875"/>
            <a:chOff x="1295400" y="3048000"/>
            <a:chExt cx="6781800" cy="3571875"/>
          </a:xfrm>
        </p:grpSpPr>
        <p:sp>
          <p:nvSpPr>
            <p:cNvPr id="29701" name="Line 74"/>
            <p:cNvSpPr>
              <a:spLocks noChangeShapeType="1"/>
            </p:cNvSpPr>
            <p:nvPr/>
          </p:nvSpPr>
          <p:spPr bwMode="auto">
            <a:xfrm>
              <a:off x="1433513" y="6232525"/>
              <a:ext cx="588168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02" name="Text Box 75"/>
            <p:cNvSpPr txBox="1">
              <a:spLocks noChangeArrowheads="1"/>
            </p:cNvSpPr>
            <p:nvPr/>
          </p:nvSpPr>
          <p:spPr bwMode="auto">
            <a:xfrm>
              <a:off x="3856038" y="6313488"/>
              <a:ext cx="1592262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it-IT" sz="1200"/>
            </a:p>
          </p:txBody>
        </p:sp>
        <p:sp>
          <p:nvSpPr>
            <p:cNvPr id="29703" name="Text Box 76"/>
            <p:cNvSpPr txBox="1">
              <a:spLocks noChangeArrowheads="1"/>
            </p:cNvSpPr>
            <p:nvPr/>
          </p:nvSpPr>
          <p:spPr bwMode="auto">
            <a:xfrm>
              <a:off x="7315200" y="6024563"/>
              <a:ext cx="76200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400"/>
                <a:t>Time</a:t>
              </a:r>
            </a:p>
          </p:txBody>
        </p:sp>
        <p:sp>
          <p:nvSpPr>
            <p:cNvPr id="29704" name="Line 77"/>
            <p:cNvSpPr>
              <a:spLocks noChangeShapeType="1"/>
            </p:cNvSpPr>
            <p:nvPr/>
          </p:nvSpPr>
          <p:spPr bwMode="auto">
            <a:xfrm>
              <a:off x="6554788" y="6232525"/>
              <a:ext cx="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05" name="Text Box 78"/>
            <p:cNvSpPr txBox="1">
              <a:spLocks noChangeArrowheads="1"/>
            </p:cNvSpPr>
            <p:nvPr/>
          </p:nvSpPr>
          <p:spPr bwMode="auto">
            <a:xfrm>
              <a:off x="1295400" y="6232525"/>
              <a:ext cx="4159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0</a:t>
              </a:r>
            </a:p>
          </p:txBody>
        </p:sp>
        <p:sp>
          <p:nvSpPr>
            <p:cNvPr id="29706" name="Line 79"/>
            <p:cNvSpPr>
              <a:spLocks noChangeShapeType="1"/>
            </p:cNvSpPr>
            <p:nvPr/>
          </p:nvSpPr>
          <p:spPr bwMode="auto">
            <a:xfrm rot="-5400000">
              <a:off x="325437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07" name="Line 80"/>
            <p:cNvSpPr>
              <a:spLocks noChangeShapeType="1"/>
            </p:cNvSpPr>
            <p:nvPr/>
          </p:nvSpPr>
          <p:spPr bwMode="auto">
            <a:xfrm rot="-5400000">
              <a:off x="-158750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08" name="Line 81"/>
            <p:cNvSpPr>
              <a:spLocks noChangeShapeType="1"/>
            </p:cNvSpPr>
            <p:nvPr/>
          </p:nvSpPr>
          <p:spPr bwMode="auto">
            <a:xfrm rot="-5400000">
              <a:off x="1295400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09" name="Line 82"/>
            <p:cNvSpPr>
              <a:spLocks noChangeShapeType="1"/>
            </p:cNvSpPr>
            <p:nvPr/>
          </p:nvSpPr>
          <p:spPr bwMode="auto">
            <a:xfrm rot="-5400000">
              <a:off x="809625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10" name="Line 83"/>
            <p:cNvSpPr>
              <a:spLocks noChangeShapeType="1"/>
            </p:cNvSpPr>
            <p:nvPr/>
          </p:nvSpPr>
          <p:spPr bwMode="auto">
            <a:xfrm rot="-5400000">
              <a:off x="1779587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11" name="Line 84"/>
            <p:cNvSpPr>
              <a:spLocks noChangeShapeType="1"/>
            </p:cNvSpPr>
            <p:nvPr/>
          </p:nvSpPr>
          <p:spPr bwMode="auto">
            <a:xfrm rot="-5400000">
              <a:off x="3232150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12" name="Line 85"/>
            <p:cNvSpPr>
              <a:spLocks noChangeShapeType="1"/>
            </p:cNvSpPr>
            <p:nvPr/>
          </p:nvSpPr>
          <p:spPr bwMode="auto">
            <a:xfrm rot="-5400000">
              <a:off x="2747962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13" name="Line 86"/>
            <p:cNvSpPr>
              <a:spLocks noChangeShapeType="1"/>
            </p:cNvSpPr>
            <p:nvPr/>
          </p:nvSpPr>
          <p:spPr bwMode="auto">
            <a:xfrm rot="-5400000">
              <a:off x="4200525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14" name="Line 87"/>
            <p:cNvSpPr>
              <a:spLocks noChangeShapeType="1"/>
            </p:cNvSpPr>
            <p:nvPr/>
          </p:nvSpPr>
          <p:spPr bwMode="auto">
            <a:xfrm rot="-5400000">
              <a:off x="3716337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15" name="Line 88"/>
            <p:cNvSpPr>
              <a:spLocks noChangeShapeType="1"/>
            </p:cNvSpPr>
            <p:nvPr/>
          </p:nvSpPr>
          <p:spPr bwMode="auto">
            <a:xfrm rot="-5400000">
              <a:off x="5170487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16" name="Line 89"/>
            <p:cNvSpPr>
              <a:spLocks noChangeShapeType="1"/>
            </p:cNvSpPr>
            <p:nvPr/>
          </p:nvSpPr>
          <p:spPr bwMode="auto">
            <a:xfrm rot="-5400000">
              <a:off x="4686300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17" name="Text Box 90"/>
            <p:cNvSpPr txBox="1">
              <a:spLocks noChangeArrowheads="1"/>
            </p:cNvSpPr>
            <p:nvPr/>
          </p:nvSpPr>
          <p:spPr bwMode="auto">
            <a:xfrm>
              <a:off x="1779588" y="6232525"/>
              <a:ext cx="4159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1</a:t>
              </a:r>
            </a:p>
          </p:txBody>
        </p:sp>
        <p:sp>
          <p:nvSpPr>
            <p:cNvPr id="29718" name="Text Box 91"/>
            <p:cNvSpPr txBox="1">
              <a:spLocks noChangeArrowheads="1"/>
            </p:cNvSpPr>
            <p:nvPr/>
          </p:nvSpPr>
          <p:spPr bwMode="auto">
            <a:xfrm>
              <a:off x="2263775" y="6232525"/>
              <a:ext cx="4159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2</a:t>
              </a:r>
            </a:p>
          </p:txBody>
        </p:sp>
        <p:sp>
          <p:nvSpPr>
            <p:cNvPr id="29719" name="Text Box 92"/>
            <p:cNvSpPr txBox="1">
              <a:spLocks noChangeArrowheads="1"/>
            </p:cNvSpPr>
            <p:nvPr/>
          </p:nvSpPr>
          <p:spPr bwMode="auto">
            <a:xfrm>
              <a:off x="2747963" y="6232525"/>
              <a:ext cx="4159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3</a:t>
              </a:r>
            </a:p>
          </p:txBody>
        </p:sp>
        <p:sp>
          <p:nvSpPr>
            <p:cNvPr id="29720" name="Text Box 93"/>
            <p:cNvSpPr txBox="1">
              <a:spLocks noChangeArrowheads="1"/>
            </p:cNvSpPr>
            <p:nvPr/>
          </p:nvSpPr>
          <p:spPr bwMode="auto">
            <a:xfrm>
              <a:off x="3233738" y="6232525"/>
              <a:ext cx="414337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4</a:t>
              </a:r>
            </a:p>
          </p:txBody>
        </p:sp>
        <p:sp>
          <p:nvSpPr>
            <p:cNvPr id="29721" name="Text Box 94"/>
            <p:cNvSpPr txBox="1">
              <a:spLocks noChangeArrowheads="1"/>
            </p:cNvSpPr>
            <p:nvPr/>
          </p:nvSpPr>
          <p:spPr bwMode="auto">
            <a:xfrm>
              <a:off x="3717925" y="6232525"/>
              <a:ext cx="414338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5</a:t>
              </a:r>
            </a:p>
          </p:txBody>
        </p:sp>
        <p:sp>
          <p:nvSpPr>
            <p:cNvPr id="29722" name="Text Box 95"/>
            <p:cNvSpPr txBox="1">
              <a:spLocks noChangeArrowheads="1"/>
            </p:cNvSpPr>
            <p:nvPr/>
          </p:nvSpPr>
          <p:spPr bwMode="auto">
            <a:xfrm>
              <a:off x="4202113" y="6232525"/>
              <a:ext cx="414337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6</a:t>
              </a:r>
            </a:p>
          </p:txBody>
        </p:sp>
        <p:sp>
          <p:nvSpPr>
            <p:cNvPr id="29723" name="Text Box 96"/>
            <p:cNvSpPr txBox="1">
              <a:spLocks noChangeArrowheads="1"/>
            </p:cNvSpPr>
            <p:nvPr/>
          </p:nvSpPr>
          <p:spPr bwMode="auto">
            <a:xfrm>
              <a:off x="4686300" y="6232525"/>
              <a:ext cx="4159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7</a:t>
              </a:r>
            </a:p>
          </p:txBody>
        </p:sp>
        <p:sp>
          <p:nvSpPr>
            <p:cNvPr id="29724" name="Text Box 97"/>
            <p:cNvSpPr txBox="1">
              <a:spLocks noChangeArrowheads="1"/>
            </p:cNvSpPr>
            <p:nvPr/>
          </p:nvSpPr>
          <p:spPr bwMode="auto">
            <a:xfrm>
              <a:off x="5170488" y="6232525"/>
              <a:ext cx="4159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8</a:t>
              </a:r>
            </a:p>
          </p:txBody>
        </p:sp>
        <p:sp>
          <p:nvSpPr>
            <p:cNvPr id="29725" name="Text Box 98"/>
            <p:cNvSpPr txBox="1">
              <a:spLocks noChangeArrowheads="1"/>
            </p:cNvSpPr>
            <p:nvPr/>
          </p:nvSpPr>
          <p:spPr bwMode="auto">
            <a:xfrm>
              <a:off x="5654675" y="6232525"/>
              <a:ext cx="415925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9</a:t>
              </a:r>
            </a:p>
          </p:txBody>
        </p:sp>
        <p:sp>
          <p:nvSpPr>
            <p:cNvPr id="29726" name="Text Box 99"/>
            <p:cNvSpPr txBox="1">
              <a:spLocks noChangeArrowheads="1"/>
            </p:cNvSpPr>
            <p:nvPr/>
          </p:nvSpPr>
          <p:spPr bwMode="auto">
            <a:xfrm>
              <a:off x="6070600" y="6232525"/>
              <a:ext cx="414338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10</a:t>
              </a:r>
            </a:p>
          </p:txBody>
        </p:sp>
        <p:sp>
          <p:nvSpPr>
            <p:cNvPr id="29727" name="Text Box 100"/>
            <p:cNvSpPr txBox="1">
              <a:spLocks noChangeArrowheads="1"/>
            </p:cNvSpPr>
            <p:nvPr/>
          </p:nvSpPr>
          <p:spPr bwMode="auto">
            <a:xfrm>
              <a:off x="6624638" y="6232525"/>
              <a:ext cx="414337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200"/>
                <a:t>11</a:t>
              </a:r>
            </a:p>
          </p:txBody>
        </p:sp>
        <p:sp>
          <p:nvSpPr>
            <p:cNvPr id="29728" name="Rectangle 101"/>
            <p:cNvSpPr>
              <a:spLocks noChangeArrowheads="1"/>
            </p:cNvSpPr>
            <p:nvPr/>
          </p:nvSpPr>
          <p:spPr bwMode="auto">
            <a:xfrm>
              <a:off x="3856038" y="5124450"/>
              <a:ext cx="1936750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/>
                <a:t>6</a:t>
              </a:r>
            </a:p>
          </p:txBody>
        </p:sp>
        <p:sp>
          <p:nvSpPr>
            <p:cNvPr id="29729" name="Rectangle 102"/>
            <p:cNvSpPr>
              <a:spLocks noChangeArrowheads="1"/>
            </p:cNvSpPr>
            <p:nvPr/>
          </p:nvSpPr>
          <p:spPr bwMode="auto">
            <a:xfrm>
              <a:off x="4340225" y="5540375"/>
              <a:ext cx="1938338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/>
                <a:t>7</a:t>
              </a:r>
            </a:p>
          </p:txBody>
        </p:sp>
        <p:sp>
          <p:nvSpPr>
            <p:cNvPr id="29730" name="Line 103"/>
            <p:cNvSpPr>
              <a:spLocks noChangeShapeType="1"/>
            </p:cNvSpPr>
            <p:nvPr/>
          </p:nvSpPr>
          <p:spPr bwMode="auto">
            <a:xfrm rot="-5400000">
              <a:off x="2263775" y="4640263"/>
              <a:ext cx="3184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29731" name="Rectangle 104"/>
            <p:cNvSpPr>
              <a:spLocks noChangeArrowheads="1"/>
            </p:cNvSpPr>
            <p:nvPr/>
          </p:nvSpPr>
          <p:spPr bwMode="auto">
            <a:xfrm>
              <a:off x="5308600" y="5943600"/>
              <a:ext cx="1454150" cy="27781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/>
                <a:t>8</a:t>
              </a:r>
            </a:p>
          </p:txBody>
        </p:sp>
        <p:sp>
          <p:nvSpPr>
            <p:cNvPr id="29732" name="Rectangle 105"/>
            <p:cNvSpPr>
              <a:spLocks noChangeArrowheads="1"/>
            </p:cNvSpPr>
            <p:nvPr/>
          </p:nvSpPr>
          <p:spPr bwMode="auto">
            <a:xfrm>
              <a:off x="3371850" y="4343400"/>
              <a:ext cx="1452563" cy="27781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/>
                <a:t>4</a:t>
              </a:r>
            </a:p>
          </p:txBody>
        </p:sp>
        <p:sp>
          <p:nvSpPr>
            <p:cNvPr id="29733" name="Rectangle 106"/>
            <p:cNvSpPr>
              <a:spLocks noChangeArrowheads="1"/>
            </p:cNvSpPr>
            <p:nvPr/>
          </p:nvSpPr>
          <p:spPr bwMode="auto">
            <a:xfrm>
              <a:off x="1433513" y="3914775"/>
              <a:ext cx="2906712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/>
                <a:t>3</a:t>
              </a:r>
            </a:p>
          </p:txBody>
        </p:sp>
        <p:sp>
          <p:nvSpPr>
            <p:cNvPr id="29734" name="Rectangle 107"/>
            <p:cNvSpPr>
              <a:spLocks noChangeArrowheads="1"/>
            </p:cNvSpPr>
            <p:nvPr/>
          </p:nvSpPr>
          <p:spPr bwMode="auto">
            <a:xfrm>
              <a:off x="1917700" y="3049588"/>
              <a:ext cx="1454150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/>
                <a:t>1</a:t>
              </a:r>
            </a:p>
          </p:txBody>
        </p:sp>
        <p:sp>
          <p:nvSpPr>
            <p:cNvPr id="29735" name="Rectangle 108"/>
            <p:cNvSpPr>
              <a:spLocks noChangeArrowheads="1"/>
            </p:cNvSpPr>
            <p:nvPr/>
          </p:nvSpPr>
          <p:spPr bwMode="auto">
            <a:xfrm>
              <a:off x="2887663" y="3505200"/>
              <a:ext cx="968375" cy="27781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/>
                <a:t>2</a:t>
              </a:r>
            </a:p>
          </p:txBody>
        </p:sp>
        <p:sp>
          <p:nvSpPr>
            <p:cNvPr id="29736" name="Rectangle 109"/>
            <p:cNvSpPr>
              <a:spLocks noChangeArrowheads="1"/>
            </p:cNvSpPr>
            <p:nvPr/>
          </p:nvSpPr>
          <p:spPr bwMode="auto">
            <a:xfrm>
              <a:off x="2887663" y="4752975"/>
              <a:ext cx="2420937" cy="27622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/>
                <a:t>5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88640"/>
            <a:ext cx="7535862" cy="685800"/>
          </a:xfrm>
        </p:spPr>
        <p:txBody>
          <a:bodyPr/>
          <a:lstStyle/>
          <a:p>
            <a:r>
              <a:rPr lang="en-US" sz="2800" dirty="0"/>
              <a:t>Dynamic Programming:  Binary Choice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>
                <a:latin typeface="Comic Sans MS" charset="0"/>
              </a:rPr>
              <a:t>Notation.  </a:t>
            </a:r>
            <a:r>
              <a:rPr lang="en-US" sz="2000" dirty="0">
                <a:solidFill>
                  <a:schemeClr val="tx1"/>
                </a:solidFill>
                <a:latin typeface="Comic Sans MS" charset="0"/>
              </a:rPr>
              <a:t>OPT(j) = value of optimal solution to the problem consisting of job requests 1, 2, ..., </a:t>
            </a:r>
            <a:r>
              <a:rPr lang="en-US" sz="2000" dirty="0" smtClean="0">
                <a:solidFill>
                  <a:schemeClr val="tx1"/>
                </a:solidFill>
                <a:latin typeface="Comic Sans MS" charset="0"/>
              </a:rPr>
              <a:t>j</a:t>
            </a:r>
            <a:endParaRPr lang="en-US" sz="2000" dirty="0">
              <a:solidFill>
                <a:schemeClr val="tx1"/>
              </a:solidFill>
              <a:latin typeface="Comic Sans MS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Case 1:  OPT selects job </a:t>
            </a:r>
            <a:r>
              <a:rPr lang="en-US" dirty="0" smtClean="0">
                <a:latin typeface="Comic Sans MS" charset="0"/>
                <a:ea typeface="ＭＳ Ｐゴシック" charset="0"/>
              </a:rPr>
              <a:t>j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2"/>
            <a:r>
              <a:rPr lang="en-US" dirty="0">
                <a:latin typeface="Comic Sans MS" charset="0"/>
                <a:ea typeface="ＭＳ Ｐゴシック" charset="0"/>
              </a:rPr>
              <a:t>can't use incompatible jobs { p(j) + 1, p(j) + 2, ..., j - 1 }</a:t>
            </a:r>
          </a:p>
          <a:p>
            <a:pPr lvl="2"/>
            <a:r>
              <a:rPr lang="en-US" dirty="0">
                <a:latin typeface="Comic Sans MS" charset="0"/>
                <a:ea typeface="ＭＳ Ｐゴシック" charset="0"/>
              </a:rPr>
              <a:t>must include optimal solution to problem consisting of remaining compatible jobs 1, 2, ...,  p(j)</a:t>
            </a:r>
          </a:p>
          <a:p>
            <a:pPr marL="914400" lvl="2" indent="0">
              <a:buNone/>
            </a:pP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Case 2:  OPT does not select job </a:t>
            </a:r>
            <a:r>
              <a:rPr lang="en-US" dirty="0" smtClean="0">
                <a:latin typeface="Comic Sans MS" charset="0"/>
                <a:ea typeface="ＭＳ Ｐゴシック" charset="0"/>
              </a:rPr>
              <a:t>j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2"/>
            <a:r>
              <a:rPr lang="en-US" dirty="0">
                <a:latin typeface="Comic Sans MS" charset="0"/>
                <a:ea typeface="ＭＳ Ｐゴシック" charset="0"/>
              </a:rPr>
              <a:t>must include optimal solution to problem consisting of remaining compatible jobs 1, 2, ...,  j-1</a:t>
            </a:r>
          </a:p>
          <a:p>
            <a:pPr lvl="2"/>
            <a:endParaRPr lang="en-US" dirty="0">
              <a:latin typeface="Comic Sans MS" charset="0"/>
              <a:ea typeface="ＭＳ Ｐゴシック" charset="0"/>
            </a:endParaRPr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1585913" y="5113338"/>
          <a:ext cx="587533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4" imgW="5588000" imgH="660400" progId="Equation.3">
                  <p:embed/>
                </p:oleObj>
              </mc:Choice>
              <mc:Fallback>
                <p:oleObj name="Equation" r:id="rId4" imgW="55880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621" t="-21611" r="-2621" b="-21611"/>
                      <a:stretch>
                        <a:fillRect/>
                      </a:stretch>
                    </p:blipFill>
                    <p:spPr bwMode="auto">
                      <a:xfrm>
                        <a:off x="1585913" y="5113338"/>
                        <a:ext cx="5875337" cy="9398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6372200" y="3356991"/>
            <a:ext cx="2549642" cy="936105"/>
            <a:chOff x="6372200" y="3356991"/>
            <a:chExt cx="2549642" cy="936105"/>
          </a:xfrm>
        </p:grpSpPr>
        <p:sp>
          <p:nvSpPr>
            <p:cNvPr id="31750" name="Rectangle 8"/>
            <p:cNvSpPr>
              <a:spLocks noChangeArrowheads="1"/>
            </p:cNvSpPr>
            <p:nvPr/>
          </p:nvSpPr>
          <p:spPr bwMode="auto">
            <a:xfrm>
              <a:off x="6592809" y="3663418"/>
              <a:ext cx="2329033" cy="382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>
                  <a:solidFill>
                    <a:srgbClr val="008000"/>
                  </a:solidFill>
                </a:rPr>
                <a:t>optimal substructure</a:t>
              </a:r>
            </a:p>
          </p:txBody>
        </p:sp>
        <p:sp>
          <p:nvSpPr>
            <p:cNvPr id="31751" name="Line 9"/>
            <p:cNvSpPr>
              <a:spLocks noChangeShapeType="1"/>
            </p:cNvSpPr>
            <p:nvPr/>
          </p:nvSpPr>
          <p:spPr bwMode="auto">
            <a:xfrm flipH="1" flipV="1">
              <a:off x="6372200" y="3356991"/>
              <a:ext cx="311186" cy="321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31752" name="Line 10"/>
            <p:cNvSpPr>
              <a:spLocks noChangeShapeType="1"/>
            </p:cNvSpPr>
            <p:nvPr/>
          </p:nvSpPr>
          <p:spPr bwMode="auto">
            <a:xfrm flipH="1">
              <a:off x="6372200" y="3959313"/>
              <a:ext cx="324694" cy="3337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AutoShape 7">
            <a:hlinkClick r:id="rId3" action="ppaction://hlinkpres?slideindex=1&amp;slidetitle=Activity Selection (Interval Scheduling)" highlightClick="1"/>
          </p:cNvPr>
          <p:cNvSpPr>
            <a:spLocks noChangeArrowheads="1"/>
          </p:cNvSpPr>
          <p:nvPr/>
        </p:nvSpPr>
        <p:spPr bwMode="auto">
          <a:xfrm>
            <a:off x="6503988" y="3119438"/>
            <a:ext cx="569912" cy="414337"/>
          </a:xfrm>
          <a:prstGeom prst="actionButtonForwardNext">
            <a:avLst/>
          </a:prstGeom>
          <a:solidFill>
            <a:srgbClr val="C0C0C0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it-IT"/>
          </a:p>
        </p:txBody>
      </p:sp>
      <p:sp>
        <p:nvSpPr>
          <p:cNvPr id="33796" name="Text Box 8"/>
          <p:cNvSpPr txBox="1">
            <a:spLocks noChangeArrowheads="1"/>
          </p:cNvSpPr>
          <p:nvPr/>
        </p:nvSpPr>
        <p:spPr bwMode="auto">
          <a:xfrm>
            <a:off x="1043608" y="2348880"/>
            <a:ext cx="7391400" cy="3785652"/>
          </a:xfrm>
          <a:prstGeom prst="rect">
            <a:avLst/>
          </a:prstGeom>
          <a:solidFill>
            <a:srgbClr val="3366FF"/>
          </a:solidFill>
          <a:ln>
            <a:noFill/>
          </a:ln>
          <a:extLst/>
        </p:spPr>
        <p:txBody>
          <a:bodyPr lIns="182880" tIns="91440" rIns="137160" bIns="9144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Courier New" charset="0"/>
              </a:rPr>
              <a:t>Input</a:t>
            </a:r>
            <a:r>
              <a:rPr lang="en-US" sz="1800" b="1" dirty="0">
                <a:latin typeface="Courier New" charset="0"/>
              </a:rPr>
              <a:t>: n, s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,…,</a:t>
            </a:r>
            <a:r>
              <a:rPr lang="en-US" sz="1800" b="1" dirty="0" err="1">
                <a:latin typeface="Courier New" charset="0"/>
              </a:rPr>
              <a:t>s</a:t>
            </a:r>
            <a:r>
              <a:rPr lang="en-US" sz="1800" b="1" baseline="-25000" dirty="0" err="1">
                <a:latin typeface="Courier New" charset="0"/>
              </a:rPr>
              <a:t>n</a:t>
            </a:r>
            <a:r>
              <a:rPr lang="en-US" sz="1800" b="1" baseline="-25000" dirty="0">
                <a:latin typeface="Courier New" charset="0"/>
              </a:rPr>
              <a:t> , </a:t>
            </a:r>
            <a:r>
              <a:rPr lang="en-US" sz="1800" b="1" dirty="0">
                <a:latin typeface="Courier New" charset="0"/>
              </a:rPr>
              <a:t>f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,…,</a:t>
            </a:r>
            <a:r>
              <a:rPr lang="en-US" sz="1800" b="1" dirty="0" err="1">
                <a:latin typeface="Courier New" charset="0"/>
              </a:rPr>
              <a:t>f</a:t>
            </a:r>
            <a:r>
              <a:rPr lang="en-US" sz="1800" b="1" baseline="-25000" dirty="0" err="1">
                <a:latin typeface="Courier New" charset="0"/>
              </a:rPr>
              <a:t>n</a:t>
            </a:r>
            <a:r>
              <a:rPr lang="en-US" sz="1800" b="1" baseline="-25000" dirty="0">
                <a:latin typeface="Courier New" charset="0"/>
              </a:rPr>
              <a:t> , </a:t>
            </a:r>
            <a:r>
              <a:rPr lang="en-US" sz="1800" b="1" dirty="0">
                <a:latin typeface="Courier New" charset="0"/>
              </a:rPr>
              <a:t>v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,…,</a:t>
            </a:r>
            <a:r>
              <a:rPr lang="en-US" sz="1800" b="1" dirty="0" err="1">
                <a:latin typeface="Courier New" charset="0"/>
              </a:rPr>
              <a:t>v</a:t>
            </a:r>
            <a:r>
              <a:rPr lang="en-US" sz="1800" b="1" baseline="-25000" dirty="0" err="1">
                <a:latin typeface="Courier New" charset="0"/>
              </a:rPr>
              <a:t>n</a:t>
            </a:r>
            <a:endParaRPr lang="en-US" sz="1800" b="1" dirty="0">
              <a:latin typeface="Courier New" charset="0"/>
            </a:endParaRPr>
          </a:p>
          <a:p>
            <a:endParaRPr lang="en-US" sz="1800" b="1" dirty="0">
              <a:latin typeface="Courier New" charset="0"/>
            </a:endParaRPr>
          </a:p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Sort </a:t>
            </a:r>
            <a:r>
              <a:rPr lang="en-US" sz="1800" b="1" dirty="0">
                <a:latin typeface="Courier New" charset="0"/>
              </a:rPr>
              <a:t>jobs by finish times so that f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 </a:t>
            </a:r>
            <a:r>
              <a:rPr lang="en-US" sz="1800" b="1" dirty="0">
                <a:latin typeface="Courier New" charset="0"/>
                <a:sym typeface="Symbol" charset="0"/>
              </a:rPr>
              <a:t></a:t>
            </a:r>
            <a:r>
              <a:rPr lang="en-US" sz="1800" b="1" dirty="0">
                <a:latin typeface="Courier New" charset="0"/>
              </a:rPr>
              <a:t> f</a:t>
            </a:r>
            <a:r>
              <a:rPr lang="en-US" sz="1800" b="1" baseline="-25000" dirty="0">
                <a:latin typeface="Courier New" charset="0"/>
              </a:rPr>
              <a:t>2</a:t>
            </a:r>
            <a:r>
              <a:rPr lang="en-US" sz="1800" b="1" dirty="0">
                <a:latin typeface="Courier New" charset="0"/>
              </a:rPr>
              <a:t> </a:t>
            </a:r>
            <a:r>
              <a:rPr lang="en-US" sz="1800" b="1" dirty="0">
                <a:latin typeface="Courier New" charset="0"/>
                <a:sym typeface="Symbol" charset="0"/>
              </a:rPr>
              <a:t></a:t>
            </a:r>
            <a:r>
              <a:rPr lang="en-US" sz="1800" b="1" dirty="0">
                <a:latin typeface="Courier New" charset="0"/>
              </a:rPr>
              <a:t> ... </a:t>
            </a:r>
            <a:r>
              <a:rPr lang="en-US" sz="1800" b="1" dirty="0">
                <a:latin typeface="Courier New" charset="0"/>
                <a:sym typeface="Symbol" charset="0"/>
              </a:rPr>
              <a:t></a:t>
            </a:r>
            <a:r>
              <a:rPr lang="en-US" sz="1800" b="1" dirty="0">
                <a:latin typeface="Courier New" charset="0"/>
              </a:rPr>
              <a:t> </a:t>
            </a:r>
            <a:r>
              <a:rPr lang="en-US" sz="1800" b="1" dirty="0" err="1" smtClean="0">
                <a:latin typeface="Courier New" charset="0"/>
              </a:rPr>
              <a:t>f</a:t>
            </a:r>
            <a:r>
              <a:rPr lang="en-US" sz="1800" b="1" baseline="-25000" dirty="0" err="1" smtClean="0">
                <a:latin typeface="Courier New" charset="0"/>
              </a:rPr>
              <a:t>n</a:t>
            </a:r>
            <a:endParaRPr lang="en-US" sz="1800" b="1" dirty="0">
              <a:latin typeface="Courier New" charset="0"/>
            </a:endParaRPr>
          </a:p>
          <a:p>
            <a:endParaRPr lang="en-US" sz="1800" b="1" dirty="0">
              <a:solidFill>
                <a:srgbClr val="003399"/>
              </a:solidFill>
              <a:latin typeface="Courier New" charset="0"/>
            </a:endParaRPr>
          </a:p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Compute </a:t>
            </a:r>
            <a:r>
              <a:rPr lang="en-US" sz="1800" b="1" dirty="0">
                <a:latin typeface="Courier New" charset="0"/>
              </a:rPr>
              <a:t>p(1), p(2), …, p(n)</a:t>
            </a:r>
          </a:p>
          <a:p>
            <a:endParaRPr lang="en-US" sz="1800" b="1" dirty="0">
              <a:latin typeface="Courier New" charset="0"/>
            </a:endParaRPr>
          </a:p>
          <a:p>
            <a:r>
              <a:rPr lang="en-US" sz="1800" b="1" dirty="0">
                <a:latin typeface="Courier New" charset="0"/>
              </a:rPr>
              <a:t>Compute-Opt(j) {</a:t>
            </a:r>
          </a:p>
          <a:p>
            <a:r>
              <a:rPr lang="en-US" sz="1800" b="1" dirty="0">
                <a:latin typeface="Courier New" charset="0"/>
              </a:rPr>
              <a:t>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if </a:t>
            </a:r>
            <a:r>
              <a:rPr lang="en-US" sz="1800" b="1" dirty="0">
                <a:latin typeface="Courier New" charset="0"/>
              </a:rPr>
              <a:t>(j = 0)</a:t>
            </a:r>
          </a:p>
          <a:p>
            <a:r>
              <a:rPr lang="en-US" sz="1800" b="1" dirty="0">
                <a:latin typeface="Courier New" charset="0"/>
              </a:rPr>
              <a:t>   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return </a:t>
            </a:r>
            <a:r>
              <a:rPr lang="en-US" sz="1800" b="1" dirty="0">
                <a:latin typeface="Courier New" charset="0"/>
              </a:rPr>
              <a:t>0</a:t>
            </a:r>
          </a:p>
          <a:p>
            <a:r>
              <a:rPr lang="en-US" sz="1800" b="1" dirty="0">
                <a:latin typeface="Courier New" charset="0"/>
              </a:rPr>
              <a:t>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else</a:t>
            </a:r>
          </a:p>
          <a:p>
            <a:r>
              <a:rPr lang="en-US" sz="1800" b="1" dirty="0">
                <a:latin typeface="Courier New" charset="0"/>
              </a:rPr>
              <a:t>   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return </a:t>
            </a:r>
            <a:r>
              <a:rPr lang="en-US" sz="1800" b="1" dirty="0">
                <a:latin typeface="Courier New" charset="0"/>
              </a:rPr>
              <a:t>max(</a:t>
            </a:r>
            <a:r>
              <a:rPr lang="en-US" sz="1800" b="1" dirty="0" err="1">
                <a:latin typeface="Courier New" charset="0"/>
              </a:rPr>
              <a:t>v</a:t>
            </a:r>
            <a:r>
              <a:rPr lang="en-US" sz="1800" b="1" baseline="-25000" dirty="0" err="1">
                <a:latin typeface="Courier New" charset="0"/>
              </a:rPr>
              <a:t>j</a:t>
            </a:r>
            <a:r>
              <a:rPr lang="en-US" sz="1800" b="1" dirty="0">
                <a:latin typeface="Courier New" charset="0"/>
              </a:rPr>
              <a:t> + Compute-Opt(p(j)), Compute-Opt(j-1))</a:t>
            </a:r>
          </a:p>
          <a:p>
            <a:r>
              <a:rPr lang="en-US" sz="1800" b="1" dirty="0">
                <a:latin typeface="Courier New" charset="0"/>
              </a:rPr>
              <a:t>}</a:t>
            </a:r>
          </a:p>
        </p:txBody>
      </p:sp>
      <p:sp>
        <p:nvSpPr>
          <p:cNvPr id="33797" name="Rectangle 11"/>
          <p:cNvSpPr>
            <a:spLocks noGrp="1" noChangeArrowheads="1"/>
          </p:cNvSpPr>
          <p:nvPr>
            <p:ph type="title"/>
          </p:nvPr>
        </p:nvSpPr>
        <p:spPr>
          <a:xfrm>
            <a:off x="1187624" y="116632"/>
            <a:ext cx="7535862" cy="685800"/>
          </a:xfrm>
        </p:spPr>
        <p:txBody>
          <a:bodyPr/>
          <a:lstStyle/>
          <a:p>
            <a:r>
              <a:rPr lang="en-US" sz="2800" dirty="0"/>
              <a:t>Weighted Interval </a:t>
            </a:r>
            <a:r>
              <a:rPr lang="en-US" sz="2800" dirty="0" smtClean="0"/>
              <a:t>Scheduling</a:t>
            </a:r>
            <a:endParaRPr lang="en-US" sz="2800" dirty="0"/>
          </a:p>
        </p:txBody>
      </p:sp>
      <p:sp>
        <p:nvSpPr>
          <p:cNvPr id="33798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96944" cy="720080"/>
          </a:xfrm>
        </p:spPr>
        <p:txBody>
          <a:bodyPr/>
          <a:lstStyle/>
          <a:p>
            <a:pPr marL="0" indent="0"/>
            <a:r>
              <a:rPr lang="en-US" dirty="0" smtClean="0">
                <a:latin typeface="Comic Sans MS" charset="0"/>
              </a:rPr>
              <a:t> Brute </a:t>
            </a:r>
            <a:r>
              <a:rPr lang="en-US" dirty="0">
                <a:latin typeface="Comic Sans MS" charset="0"/>
              </a:rPr>
              <a:t>force </a:t>
            </a:r>
            <a:r>
              <a:rPr lang="en-US" dirty="0" smtClean="0">
                <a:latin typeface="Comic Sans MS" charset="0"/>
              </a:rPr>
              <a:t>algorithm</a:t>
            </a:r>
            <a:endParaRPr lang="en-US" dirty="0">
              <a:solidFill>
                <a:schemeClr val="tx1"/>
              </a:solidFill>
              <a:latin typeface="Comic Sans MS" charset="0"/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4"/>
          <p:cNvSpPr>
            <a:spLocks noGrp="1" noChangeArrowheads="1"/>
          </p:cNvSpPr>
          <p:nvPr>
            <p:ph type="title"/>
          </p:nvPr>
        </p:nvSpPr>
        <p:spPr>
          <a:xfrm>
            <a:off x="1187624" y="188640"/>
            <a:ext cx="7535862" cy="685800"/>
          </a:xfrm>
        </p:spPr>
        <p:txBody>
          <a:bodyPr/>
          <a:lstStyle/>
          <a:p>
            <a:r>
              <a:rPr lang="en-US" sz="2800" dirty="0"/>
              <a:t>Weighted Interval Scheduling:  Brute Force</a:t>
            </a:r>
          </a:p>
        </p:txBody>
      </p:sp>
      <p:sp>
        <p:nvSpPr>
          <p:cNvPr id="3584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96944" cy="3168352"/>
          </a:xfrm>
        </p:spPr>
        <p:txBody>
          <a:bodyPr/>
          <a:lstStyle/>
          <a:p>
            <a:pPr marL="0" indent="0"/>
            <a:r>
              <a:rPr lang="en-US" dirty="0" smtClean="0">
                <a:latin typeface="Comic Sans MS" charset="0"/>
              </a:rPr>
              <a:t> Observation</a:t>
            </a:r>
            <a:r>
              <a:rPr lang="en-US" dirty="0">
                <a:latin typeface="Comic Sans MS" charset="0"/>
              </a:rPr>
              <a:t>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Recursive algorithm fails spectacularly because of redundant sub-problems  </a:t>
            </a:r>
            <a:r>
              <a:rPr lang="en-US" dirty="0">
                <a:solidFill>
                  <a:schemeClr val="tx1"/>
                </a:solidFill>
                <a:latin typeface="Comic Sans MS" charset="0"/>
                <a:sym typeface="Symbol" charset="0"/>
              </a:rPr>
              <a:t>  exponential 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  <a:sym typeface="Symbol" charset="0"/>
              </a:rPr>
              <a:t>algorithms</a:t>
            </a:r>
            <a:endParaRPr lang="en-US" dirty="0">
              <a:latin typeface="Comic Sans MS" charset="0"/>
            </a:endParaRPr>
          </a:p>
          <a:p>
            <a:pPr marL="0" indent="0"/>
            <a:r>
              <a:rPr lang="en-US" dirty="0" smtClean="0">
                <a:latin typeface="Comic Sans MS" charset="0"/>
              </a:rPr>
              <a:t> Ex</a:t>
            </a:r>
            <a:r>
              <a:rPr lang="en-US" dirty="0">
                <a:latin typeface="Comic Sans MS" charset="0"/>
              </a:rPr>
              <a:t>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Number of recursive calls for family of "layered" instances grows like Fibonacci 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</a:rPr>
              <a:t>sequence</a:t>
            </a:r>
            <a:endParaRPr lang="en-US" dirty="0">
              <a:latin typeface="Comic Sans MS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55576" y="4077072"/>
            <a:ext cx="4057650" cy="2055813"/>
            <a:chOff x="1108075" y="3346450"/>
            <a:chExt cx="4057650" cy="2055813"/>
          </a:xfrm>
        </p:grpSpPr>
        <p:sp>
          <p:nvSpPr>
            <p:cNvPr id="35845" name="Line 6"/>
            <p:cNvSpPr>
              <a:spLocks noChangeShapeType="1"/>
            </p:cNvSpPr>
            <p:nvPr/>
          </p:nvSpPr>
          <p:spPr bwMode="auto">
            <a:xfrm>
              <a:off x="1108075" y="4916488"/>
              <a:ext cx="4057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5846" name="Rectangle 33"/>
            <p:cNvSpPr>
              <a:spLocks noChangeArrowheads="1"/>
            </p:cNvSpPr>
            <p:nvPr/>
          </p:nvSpPr>
          <p:spPr bwMode="auto">
            <a:xfrm>
              <a:off x="2489200" y="4086225"/>
              <a:ext cx="1041400" cy="2047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35847" name="Rectangle 34"/>
            <p:cNvSpPr>
              <a:spLocks noChangeArrowheads="1"/>
            </p:cNvSpPr>
            <p:nvPr/>
          </p:nvSpPr>
          <p:spPr bwMode="auto">
            <a:xfrm>
              <a:off x="3184525" y="4395788"/>
              <a:ext cx="1038225" cy="20796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</a:rPr>
                <a:t>4</a:t>
              </a:r>
            </a:p>
          </p:txBody>
        </p:sp>
        <p:grpSp>
          <p:nvGrpSpPr>
            <p:cNvPr id="35848" name="Group 42"/>
            <p:cNvGrpSpPr>
              <a:grpSpLocks/>
            </p:cNvGrpSpPr>
            <p:nvPr/>
          </p:nvGrpSpPr>
          <p:grpSpPr bwMode="auto">
            <a:xfrm>
              <a:off x="1108075" y="3346450"/>
              <a:ext cx="3802063" cy="1570038"/>
              <a:chOff x="903" y="1920"/>
              <a:chExt cx="3357" cy="2006"/>
            </a:xfrm>
          </p:grpSpPr>
          <p:sp>
            <p:nvSpPr>
              <p:cNvPr id="35883" name="Line 11"/>
              <p:cNvSpPr>
                <a:spLocks noChangeShapeType="1"/>
              </p:cNvSpPr>
              <p:nvPr/>
            </p:nvSpPr>
            <p:spPr bwMode="auto">
              <a:xfrm rot="-5400000">
                <a:off x="205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84" name="Line 12"/>
              <p:cNvSpPr>
                <a:spLocks noChangeShapeType="1"/>
              </p:cNvSpPr>
              <p:nvPr/>
            </p:nvSpPr>
            <p:spPr bwMode="auto">
              <a:xfrm rot="-5400000">
                <a:off x="-100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85" name="Line 13"/>
              <p:cNvSpPr>
                <a:spLocks noChangeShapeType="1"/>
              </p:cNvSpPr>
              <p:nvPr/>
            </p:nvSpPr>
            <p:spPr bwMode="auto">
              <a:xfrm rot="-5400000">
                <a:off x="816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86" name="Line 14"/>
              <p:cNvSpPr>
                <a:spLocks noChangeShapeType="1"/>
              </p:cNvSpPr>
              <p:nvPr/>
            </p:nvSpPr>
            <p:spPr bwMode="auto">
              <a:xfrm rot="-5400000">
                <a:off x="510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87" name="Line 15"/>
              <p:cNvSpPr>
                <a:spLocks noChangeShapeType="1"/>
              </p:cNvSpPr>
              <p:nvPr/>
            </p:nvSpPr>
            <p:spPr bwMode="auto">
              <a:xfrm rot="-5400000">
                <a:off x="1121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88" name="Line 16"/>
              <p:cNvSpPr>
                <a:spLocks noChangeShapeType="1"/>
              </p:cNvSpPr>
              <p:nvPr/>
            </p:nvSpPr>
            <p:spPr bwMode="auto">
              <a:xfrm rot="-5400000">
                <a:off x="2036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89" name="Line 17"/>
              <p:cNvSpPr>
                <a:spLocks noChangeShapeType="1"/>
              </p:cNvSpPr>
              <p:nvPr/>
            </p:nvSpPr>
            <p:spPr bwMode="auto">
              <a:xfrm rot="-5400000">
                <a:off x="1731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90" name="Line 18"/>
              <p:cNvSpPr>
                <a:spLocks noChangeShapeType="1"/>
              </p:cNvSpPr>
              <p:nvPr/>
            </p:nvSpPr>
            <p:spPr bwMode="auto">
              <a:xfrm rot="-5400000">
                <a:off x="2646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91" name="Line 19"/>
              <p:cNvSpPr>
                <a:spLocks noChangeShapeType="1"/>
              </p:cNvSpPr>
              <p:nvPr/>
            </p:nvSpPr>
            <p:spPr bwMode="auto">
              <a:xfrm rot="-5400000">
                <a:off x="2341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92" name="Line 20"/>
              <p:cNvSpPr>
                <a:spLocks noChangeShapeType="1"/>
              </p:cNvSpPr>
              <p:nvPr/>
            </p:nvSpPr>
            <p:spPr bwMode="auto">
              <a:xfrm rot="-5400000">
                <a:off x="3257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93" name="Line 21"/>
              <p:cNvSpPr>
                <a:spLocks noChangeShapeType="1"/>
              </p:cNvSpPr>
              <p:nvPr/>
            </p:nvSpPr>
            <p:spPr bwMode="auto">
              <a:xfrm rot="-5400000">
                <a:off x="2952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  <p:sp>
            <p:nvSpPr>
              <p:cNvPr id="35894" name="Line 35"/>
              <p:cNvSpPr>
                <a:spLocks noChangeShapeType="1"/>
              </p:cNvSpPr>
              <p:nvPr/>
            </p:nvSpPr>
            <p:spPr bwMode="auto">
              <a:xfrm rot="-5400000">
                <a:off x="1426" y="2923"/>
                <a:ext cx="200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en-US"/>
              </a:p>
            </p:txBody>
          </p:sp>
        </p:grpSp>
        <p:sp>
          <p:nvSpPr>
            <p:cNvPr id="35849" name="Rectangle 36"/>
            <p:cNvSpPr>
              <a:spLocks noChangeArrowheads="1"/>
            </p:cNvSpPr>
            <p:nvPr/>
          </p:nvSpPr>
          <p:spPr bwMode="auto">
            <a:xfrm>
              <a:off x="3873500" y="4705350"/>
              <a:ext cx="1036638" cy="2079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35850" name="Rectangle 37"/>
            <p:cNvSpPr>
              <a:spLocks noChangeArrowheads="1"/>
            </p:cNvSpPr>
            <p:nvPr/>
          </p:nvSpPr>
          <p:spPr bwMode="auto">
            <a:xfrm>
              <a:off x="1112838" y="3498850"/>
              <a:ext cx="1036637" cy="20955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5851" name="Rectangle 41"/>
            <p:cNvSpPr>
              <a:spLocks noChangeArrowheads="1"/>
            </p:cNvSpPr>
            <p:nvPr/>
          </p:nvSpPr>
          <p:spPr bwMode="auto">
            <a:xfrm>
              <a:off x="1801813" y="3805238"/>
              <a:ext cx="1035050" cy="20796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35852" name="Rectangle 43"/>
            <p:cNvSpPr>
              <a:spLocks noChangeArrowheads="1"/>
            </p:cNvSpPr>
            <p:nvPr/>
          </p:nvSpPr>
          <p:spPr bwMode="auto">
            <a:xfrm>
              <a:off x="2336800" y="5062538"/>
              <a:ext cx="164623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400"/>
                <a:t>p(1) = 0, p(j) = j-2</a:t>
              </a:r>
            </a:p>
          </p:txBody>
        </p:sp>
      </p:grpSp>
      <p:grpSp>
        <p:nvGrpSpPr>
          <p:cNvPr id="35853" name="Group 79"/>
          <p:cNvGrpSpPr>
            <a:grpSpLocks/>
          </p:cNvGrpSpPr>
          <p:nvPr/>
        </p:nvGrpSpPr>
        <p:grpSpPr bwMode="auto">
          <a:xfrm>
            <a:off x="5580112" y="3501008"/>
            <a:ext cx="3124200" cy="2362200"/>
            <a:chOff x="384" y="1344"/>
            <a:chExt cx="1968" cy="1488"/>
          </a:xfrm>
        </p:grpSpPr>
        <p:sp>
          <p:nvSpPr>
            <p:cNvPr id="35854" name="Oval 45"/>
            <p:cNvSpPr>
              <a:spLocks noChangeArrowheads="1"/>
            </p:cNvSpPr>
            <p:nvPr/>
          </p:nvSpPr>
          <p:spPr bwMode="auto">
            <a:xfrm>
              <a:off x="1536" y="134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35855" name="Oval 46"/>
            <p:cNvSpPr>
              <a:spLocks noChangeArrowheads="1"/>
            </p:cNvSpPr>
            <p:nvPr/>
          </p:nvSpPr>
          <p:spPr bwMode="auto">
            <a:xfrm>
              <a:off x="960" y="1680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4</a:t>
              </a:r>
            </a:p>
          </p:txBody>
        </p:sp>
        <p:cxnSp>
          <p:nvCxnSpPr>
            <p:cNvPr id="35856" name="AutoShape 47"/>
            <p:cNvCxnSpPr>
              <a:cxnSpLocks noChangeShapeType="1"/>
              <a:stCxn id="35854" idx="3"/>
              <a:endCxn id="35855" idx="7"/>
            </p:cNvCxnSpPr>
            <p:nvPr/>
          </p:nvCxnSpPr>
          <p:spPr bwMode="auto">
            <a:xfrm flipH="1">
              <a:off x="1083" y="1467"/>
              <a:ext cx="474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57" name="Oval 48"/>
            <p:cNvSpPr>
              <a:spLocks noChangeArrowheads="1"/>
            </p:cNvSpPr>
            <p:nvPr/>
          </p:nvSpPr>
          <p:spPr bwMode="auto">
            <a:xfrm>
              <a:off x="2016" y="1680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3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58" name="AutoShape 49"/>
            <p:cNvCxnSpPr>
              <a:cxnSpLocks noChangeShapeType="1"/>
              <a:stCxn id="35854" idx="5"/>
              <a:endCxn id="35857" idx="1"/>
            </p:cNvCxnSpPr>
            <p:nvPr/>
          </p:nvCxnSpPr>
          <p:spPr bwMode="auto">
            <a:xfrm>
              <a:off x="1659" y="1467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59" name="Oval 50"/>
            <p:cNvSpPr>
              <a:spLocks noChangeArrowheads="1"/>
            </p:cNvSpPr>
            <p:nvPr/>
          </p:nvSpPr>
          <p:spPr bwMode="auto">
            <a:xfrm>
              <a:off x="672" y="2016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3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60" name="AutoShape 51"/>
            <p:cNvCxnSpPr>
              <a:cxnSpLocks noChangeShapeType="1"/>
              <a:stCxn id="35855" idx="3"/>
              <a:endCxn id="35859" idx="0"/>
            </p:cNvCxnSpPr>
            <p:nvPr/>
          </p:nvCxnSpPr>
          <p:spPr bwMode="auto">
            <a:xfrm flipH="1">
              <a:off x="744" y="1803"/>
              <a:ext cx="237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1" name="Oval 52"/>
            <p:cNvSpPr>
              <a:spLocks noChangeArrowheads="1"/>
            </p:cNvSpPr>
            <p:nvPr/>
          </p:nvSpPr>
          <p:spPr bwMode="auto">
            <a:xfrm>
              <a:off x="1248" y="2016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2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62" name="AutoShape 53"/>
            <p:cNvCxnSpPr>
              <a:cxnSpLocks noChangeShapeType="1"/>
              <a:stCxn id="35855" idx="5"/>
              <a:endCxn id="35861" idx="0"/>
            </p:cNvCxnSpPr>
            <p:nvPr/>
          </p:nvCxnSpPr>
          <p:spPr bwMode="auto">
            <a:xfrm>
              <a:off x="1083" y="1803"/>
              <a:ext cx="237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3" name="Oval 54"/>
            <p:cNvSpPr>
              <a:spLocks noChangeArrowheads="1"/>
            </p:cNvSpPr>
            <p:nvPr/>
          </p:nvSpPr>
          <p:spPr bwMode="auto">
            <a:xfrm>
              <a:off x="1824" y="2016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2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64" name="AutoShape 55"/>
            <p:cNvCxnSpPr>
              <a:cxnSpLocks noChangeShapeType="1"/>
              <a:stCxn id="35857" idx="3"/>
              <a:endCxn id="35863" idx="0"/>
            </p:cNvCxnSpPr>
            <p:nvPr/>
          </p:nvCxnSpPr>
          <p:spPr bwMode="auto">
            <a:xfrm flipH="1">
              <a:off x="1896" y="1803"/>
              <a:ext cx="141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5" name="Oval 56"/>
            <p:cNvSpPr>
              <a:spLocks noChangeArrowheads="1"/>
            </p:cNvSpPr>
            <p:nvPr/>
          </p:nvSpPr>
          <p:spPr bwMode="auto">
            <a:xfrm>
              <a:off x="2208" y="2016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1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66" name="AutoShape 57"/>
            <p:cNvCxnSpPr>
              <a:cxnSpLocks noChangeShapeType="1"/>
              <a:stCxn id="35857" idx="5"/>
              <a:endCxn id="35865" idx="0"/>
            </p:cNvCxnSpPr>
            <p:nvPr/>
          </p:nvCxnSpPr>
          <p:spPr bwMode="auto">
            <a:xfrm>
              <a:off x="2139" y="1803"/>
              <a:ext cx="141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7" name="Oval 58"/>
            <p:cNvSpPr>
              <a:spLocks noChangeArrowheads="1"/>
            </p:cNvSpPr>
            <p:nvPr/>
          </p:nvSpPr>
          <p:spPr bwMode="auto">
            <a:xfrm>
              <a:off x="528" y="2352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2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68" name="AutoShape 59"/>
            <p:cNvCxnSpPr>
              <a:cxnSpLocks noChangeShapeType="1"/>
              <a:stCxn id="35859" idx="3"/>
              <a:endCxn id="35867" idx="0"/>
            </p:cNvCxnSpPr>
            <p:nvPr/>
          </p:nvCxnSpPr>
          <p:spPr bwMode="auto">
            <a:xfrm flipH="1">
              <a:off x="600" y="2139"/>
              <a:ext cx="93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9" name="Oval 60"/>
            <p:cNvSpPr>
              <a:spLocks noChangeArrowheads="1"/>
            </p:cNvSpPr>
            <p:nvPr/>
          </p:nvSpPr>
          <p:spPr bwMode="auto">
            <a:xfrm>
              <a:off x="816" y="2352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1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70" name="AutoShape 61"/>
            <p:cNvCxnSpPr>
              <a:cxnSpLocks noChangeShapeType="1"/>
              <a:stCxn id="35859" idx="5"/>
              <a:endCxn id="35869" idx="0"/>
            </p:cNvCxnSpPr>
            <p:nvPr/>
          </p:nvCxnSpPr>
          <p:spPr bwMode="auto">
            <a:xfrm>
              <a:off x="795" y="2139"/>
              <a:ext cx="93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71" name="Oval 62"/>
            <p:cNvSpPr>
              <a:spLocks noChangeArrowheads="1"/>
            </p:cNvSpPr>
            <p:nvPr/>
          </p:nvSpPr>
          <p:spPr bwMode="auto">
            <a:xfrm>
              <a:off x="384" y="2688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1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72" name="AutoShape 63"/>
            <p:cNvCxnSpPr>
              <a:cxnSpLocks noChangeShapeType="1"/>
              <a:stCxn id="35867" idx="3"/>
              <a:endCxn id="35871" idx="0"/>
            </p:cNvCxnSpPr>
            <p:nvPr/>
          </p:nvCxnSpPr>
          <p:spPr bwMode="auto">
            <a:xfrm flipH="1">
              <a:off x="456" y="2475"/>
              <a:ext cx="93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73" name="Oval 64"/>
            <p:cNvSpPr>
              <a:spLocks noChangeArrowheads="1"/>
            </p:cNvSpPr>
            <p:nvPr/>
          </p:nvSpPr>
          <p:spPr bwMode="auto">
            <a:xfrm>
              <a:off x="672" y="2688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0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74" name="AutoShape 65"/>
            <p:cNvCxnSpPr>
              <a:cxnSpLocks noChangeShapeType="1"/>
              <a:stCxn id="35867" idx="5"/>
              <a:endCxn id="35873" idx="0"/>
            </p:cNvCxnSpPr>
            <p:nvPr/>
          </p:nvCxnSpPr>
          <p:spPr bwMode="auto">
            <a:xfrm>
              <a:off x="651" y="2475"/>
              <a:ext cx="93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75" name="Oval 70"/>
            <p:cNvSpPr>
              <a:spLocks noChangeArrowheads="1"/>
            </p:cNvSpPr>
            <p:nvPr/>
          </p:nvSpPr>
          <p:spPr bwMode="auto">
            <a:xfrm>
              <a:off x="1104" y="2352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1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76" name="AutoShape 71"/>
            <p:cNvCxnSpPr>
              <a:cxnSpLocks noChangeShapeType="1"/>
              <a:stCxn id="35861" idx="3"/>
              <a:endCxn id="35875" idx="0"/>
            </p:cNvCxnSpPr>
            <p:nvPr/>
          </p:nvCxnSpPr>
          <p:spPr bwMode="auto">
            <a:xfrm flipH="1">
              <a:off x="1176" y="2139"/>
              <a:ext cx="93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77" name="Oval 72"/>
            <p:cNvSpPr>
              <a:spLocks noChangeArrowheads="1"/>
            </p:cNvSpPr>
            <p:nvPr/>
          </p:nvSpPr>
          <p:spPr bwMode="auto">
            <a:xfrm>
              <a:off x="1392" y="2352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0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78" name="AutoShape 73"/>
            <p:cNvCxnSpPr>
              <a:cxnSpLocks noChangeShapeType="1"/>
              <a:stCxn id="35861" idx="5"/>
              <a:endCxn id="35877" idx="0"/>
            </p:cNvCxnSpPr>
            <p:nvPr/>
          </p:nvCxnSpPr>
          <p:spPr bwMode="auto">
            <a:xfrm>
              <a:off x="1371" y="2139"/>
              <a:ext cx="93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79" name="Oval 74"/>
            <p:cNvSpPr>
              <a:spLocks noChangeArrowheads="1"/>
            </p:cNvSpPr>
            <p:nvPr/>
          </p:nvSpPr>
          <p:spPr bwMode="auto">
            <a:xfrm>
              <a:off x="1680" y="2352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1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80" name="AutoShape 75"/>
            <p:cNvCxnSpPr>
              <a:cxnSpLocks noChangeShapeType="1"/>
              <a:stCxn id="35863" idx="3"/>
              <a:endCxn id="35879" idx="0"/>
            </p:cNvCxnSpPr>
            <p:nvPr/>
          </p:nvCxnSpPr>
          <p:spPr bwMode="auto">
            <a:xfrm flipH="1">
              <a:off x="1752" y="2139"/>
              <a:ext cx="93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81" name="Oval 76"/>
            <p:cNvSpPr>
              <a:spLocks noChangeArrowheads="1"/>
            </p:cNvSpPr>
            <p:nvPr/>
          </p:nvSpPr>
          <p:spPr bwMode="auto">
            <a:xfrm>
              <a:off x="1968" y="2352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0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cxnSp>
          <p:nvCxnSpPr>
            <p:cNvPr id="35882" name="AutoShape 77"/>
            <p:cNvCxnSpPr>
              <a:cxnSpLocks noChangeShapeType="1"/>
              <a:stCxn id="35863" idx="5"/>
              <a:endCxn id="35881" idx="0"/>
            </p:cNvCxnSpPr>
            <p:nvPr/>
          </p:nvCxnSpPr>
          <p:spPr bwMode="auto">
            <a:xfrm>
              <a:off x="1947" y="2139"/>
              <a:ext cx="93" cy="2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683568" y="2276872"/>
            <a:ext cx="8001000" cy="4062651"/>
          </a:xfrm>
          <a:prstGeom prst="rect">
            <a:avLst/>
          </a:prstGeom>
          <a:solidFill>
            <a:srgbClr val="3366FF"/>
          </a:solidFill>
          <a:ln>
            <a:noFill/>
          </a:ln>
          <a:extLst/>
        </p:spPr>
        <p:txBody>
          <a:bodyPr lIns="182880" tIns="91440" rIns="137160" bIns="9144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Input</a:t>
            </a:r>
            <a:r>
              <a:rPr lang="en-US" sz="1800" b="1" dirty="0">
                <a:latin typeface="Courier New" charset="0"/>
              </a:rPr>
              <a:t>: n, s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,…,</a:t>
            </a:r>
            <a:r>
              <a:rPr lang="en-US" sz="1800" b="1" dirty="0" err="1">
                <a:latin typeface="Courier New" charset="0"/>
              </a:rPr>
              <a:t>s</a:t>
            </a:r>
            <a:r>
              <a:rPr lang="en-US" sz="1800" b="1" baseline="-25000" dirty="0" err="1">
                <a:latin typeface="Courier New" charset="0"/>
              </a:rPr>
              <a:t>n</a:t>
            </a:r>
            <a:r>
              <a:rPr lang="en-US" sz="1800" b="1" baseline="-25000" dirty="0">
                <a:latin typeface="Courier New" charset="0"/>
              </a:rPr>
              <a:t> , </a:t>
            </a:r>
            <a:r>
              <a:rPr lang="en-US" sz="1800" b="1" dirty="0">
                <a:latin typeface="Courier New" charset="0"/>
              </a:rPr>
              <a:t>f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,…,</a:t>
            </a:r>
            <a:r>
              <a:rPr lang="en-US" sz="1800" b="1" dirty="0" err="1">
                <a:latin typeface="Courier New" charset="0"/>
              </a:rPr>
              <a:t>f</a:t>
            </a:r>
            <a:r>
              <a:rPr lang="en-US" sz="1800" b="1" baseline="-25000" dirty="0" err="1">
                <a:latin typeface="Courier New" charset="0"/>
              </a:rPr>
              <a:t>n</a:t>
            </a:r>
            <a:r>
              <a:rPr lang="en-US" sz="1800" b="1" baseline="-25000" dirty="0">
                <a:latin typeface="Courier New" charset="0"/>
              </a:rPr>
              <a:t> , </a:t>
            </a:r>
            <a:r>
              <a:rPr lang="en-US" sz="1800" b="1" dirty="0">
                <a:latin typeface="Courier New" charset="0"/>
              </a:rPr>
              <a:t>v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,…,</a:t>
            </a:r>
            <a:r>
              <a:rPr lang="en-US" sz="1800" b="1" dirty="0" err="1">
                <a:latin typeface="Courier New" charset="0"/>
              </a:rPr>
              <a:t>v</a:t>
            </a:r>
            <a:r>
              <a:rPr lang="en-US" sz="1800" b="1" baseline="-25000" dirty="0" err="1">
                <a:latin typeface="Courier New" charset="0"/>
              </a:rPr>
              <a:t>n</a:t>
            </a:r>
            <a:endParaRPr lang="en-US" sz="1800" b="1" dirty="0">
              <a:latin typeface="Courier New" charset="0"/>
            </a:endParaRPr>
          </a:p>
          <a:p>
            <a:endParaRPr lang="en-US" sz="1800" b="1" dirty="0">
              <a:latin typeface="Courier New" charset="0"/>
            </a:endParaRPr>
          </a:p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Sort </a:t>
            </a:r>
            <a:r>
              <a:rPr lang="en-US" sz="1800" b="1" dirty="0">
                <a:latin typeface="Courier New" charset="0"/>
              </a:rPr>
              <a:t>jobs by finish times so that f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 </a:t>
            </a:r>
            <a:r>
              <a:rPr lang="en-US" sz="1800" b="1" dirty="0">
                <a:latin typeface="Courier New" charset="0"/>
                <a:sym typeface="Symbol" charset="0"/>
              </a:rPr>
              <a:t></a:t>
            </a:r>
            <a:r>
              <a:rPr lang="en-US" sz="1800" b="1" dirty="0">
                <a:latin typeface="Courier New" charset="0"/>
              </a:rPr>
              <a:t> f</a:t>
            </a:r>
            <a:r>
              <a:rPr lang="en-US" sz="1800" b="1" baseline="-25000" dirty="0">
                <a:latin typeface="Courier New" charset="0"/>
              </a:rPr>
              <a:t>2</a:t>
            </a:r>
            <a:r>
              <a:rPr lang="en-US" sz="1800" b="1" dirty="0">
                <a:latin typeface="Courier New" charset="0"/>
              </a:rPr>
              <a:t> </a:t>
            </a:r>
            <a:r>
              <a:rPr lang="en-US" sz="1800" b="1" dirty="0">
                <a:latin typeface="Courier New" charset="0"/>
                <a:sym typeface="Symbol" charset="0"/>
              </a:rPr>
              <a:t></a:t>
            </a:r>
            <a:r>
              <a:rPr lang="en-US" sz="1800" b="1" dirty="0">
                <a:latin typeface="Courier New" charset="0"/>
              </a:rPr>
              <a:t> ... </a:t>
            </a:r>
            <a:r>
              <a:rPr lang="en-US" sz="1800" b="1" dirty="0">
                <a:latin typeface="Courier New" charset="0"/>
                <a:sym typeface="Symbol" charset="0"/>
              </a:rPr>
              <a:t></a:t>
            </a:r>
            <a:r>
              <a:rPr lang="en-US" sz="1800" b="1" dirty="0">
                <a:latin typeface="Courier New" charset="0"/>
              </a:rPr>
              <a:t> f</a:t>
            </a:r>
            <a:r>
              <a:rPr lang="en-US" sz="1800" b="1" baseline="-25000" dirty="0">
                <a:latin typeface="Courier New" charset="0"/>
              </a:rPr>
              <a:t>n</a:t>
            </a:r>
            <a:r>
              <a:rPr lang="en-US" sz="1800" b="1" dirty="0">
                <a:latin typeface="Courier New" charset="0"/>
              </a:rPr>
              <a:t>.</a:t>
            </a:r>
          </a:p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Compute </a:t>
            </a:r>
            <a:r>
              <a:rPr lang="en-US" sz="1800" b="1" dirty="0">
                <a:latin typeface="Courier New" charset="0"/>
              </a:rPr>
              <a:t>p(1), p(2), …, p(n)</a:t>
            </a:r>
          </a:p>
          <a:p>
            <a:endParaRPr lang="en-US" sz="1800" b="1" dirty="0">
              <a:latin typeface="Courier New" charset="0"/>
            </a:endParaRPr>
          </a:p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for </a:t>
            </a:r>
            <a:r>
              <a:rPr lang="en-US" sz="1800" b="1" dirty="0" err="1" smtClean="0">
                <a:latin typeface="Courier New" charset="0"/>
              </a:rPr>
              <a:t>i</a:t>
            </a:r>
            <a:r>
              <a:rPr lang="en-US" sz="1800" b="1" dirty="0" smtClean="0">
                <a:latin typeface="Courier New" charset="0"/>
              </a:rPr>
              <a:t> </a:t>
            </a:r>
            <a:r>
              <a:rPr lang="en-US" sz="1800" b="1" dirty="0">
                <a:latin typeface="Courier New" charset="0"/>
              </a:rPr>
              <a:t>= 1 to n</a:t>
            </a:r>
          </a:p>
          <a:p>
            <a:r>
              <a:rPr lang="en-US" sz="1800" b="1" dirty="0">
                <a:latin typeface="Courier New" charset="0"/>
              </a:rPr>
              <a:t>   M</a:t>
            </a:r>
            <a:r>
              <a:rPr lang="en-US" sz="1800" b="1" dirty="0" smtClean="0">
                <a:latin typeface="Courier New" charset="0"/>
              </a:rPr>
              <a:t>[</a:t>
            </a:r>
            <a:r>
              <a:rPr lang="en-US" sz="1800" b="1" dirty="0" err="1" smtClean="0">
                <a:latin typeface="Courier New" charset="0"/>
              </a:rPr>
              <a:t>i</a:t>
            </a:r>
            <a:r>
              <a:rPr lang="en-US" sz="1800" b="1" dirty="0" smtClean="0">
                <a:latin typeface="Courier New" charset="0"/>
              </a:rPr>
              <a:t>] </a:t>
            </a:r>
            <a:r>
              <a:rPr lang="en-US" sz="1800" b="1" dirty="0">
                <a:latin typeface="Courier New" charset="0"/>
              </a:rPr>
              <a:t>= empty</a:t>
            </a:r>
          </a:p>
          <a:p>
            <a:endParaRPr lang="en-US" sz="1800" b="1" dirty="0">
              <a:latin typeface="Courier New" charset="0"/>
            </a:endParaRPr>
          </a:p>
          <a:p>
            <a:r>
              <a:rPr lang="en-US" sz="1800" b="1" dirty="0">
                <a:latin typeface="Courier New" charset="0"/>
              </a:rPr>
              <a:t>M-Compute-Opt(j) {</a:t>
            </a:r>
          </a:p>
          <a:p>
            <a:r>
              <a:rPr lang="en-US" sz="1800" b="1" dirty="0">
                <a:latin typeface="Courier New" charset="0"/>
              </a:rPr>
              <a:t>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if</a:t>
            </a:r>
            <a:r>
              <a:rPr lang="en-US" sz="1800" b="1" dirty="0">
                <a:solidFill>
                  <a:srgbClr val="003399"/>
                </a:solidFill>
                <a:latin typeface="Courier New" charset="0"/>
              </a:rPr>
              <a:t> </a:t>
            </a:r>
            <a:r>
              <a:rPr lang="en-US" sz="1800" b="1" dirty="0">
                <a:latin typeface="Courier New" charset="0"/>
              </a:rPr>
              <a:t>(M[j] is empty)</a:t>
            </a:r>
          </a:p>
          <a:p>
            <a:r>
              <a:rPr lang="en-US" sz="1800" b="1" dirty="0">
                <a:latin typeface="Courier New" charset="0"/>
              </a:rPr>
              <a:t>      M[j] = max</a:t>
            </a:r>
            <a:r>
              <a:rPr lang="en-US" sz="1800" b="1" dirty="0" smtClean="0">
                <a:latin typeface="Courier New" charset="0"/>
              </a:rPr>
              <a:t>(</a:t>
            </a:r>
            <a:r>
              <a:rPr lang="en-US" sz="1800" b="1" dirty="0" err="1">
                <a:latin typeface="Courier New" charset="0"/>
              </a:rPr>
              <a:t>v</a:t>
            </a:r>
            <a:r>
              <a:rPr lang="en-US" sz="1800" b="1" baseline="-25000" dirty="0" err="1" smtClean="0">
                <a:latin typeface="Courier New" charset="0"/>
              </a:rPr>
              <a:t>j</a:t>
            </a:r>
            <a:r>
              <a:rPr lang="en-US" sz="1800" b="1" dirty="0" smtClean="0">
                <a:latin typeface="Courier New" charset="0"/>
              </a:rPr>
              <a:t> </a:t>
            </a:r>
            <a:r>
              <a:rPr lang="en-US" sz="1800" b="1" dirty="0">
                <a:latin typeface="Courier New" charset="0"/>
              </a:rPr>
              <a:t>+ M-Compute-Opt(p(j)), M-Compute-Opt(j-1))</a:t>
            </a:r>
          </a:p>
          <a:p>
            <a:r>
              <a:rPr lang="en-US" sz="1800" b="1" dirty="0">
                <a:latin typeface="Courier New" charset="0"/>
              </a:rPr>
              <a:t>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return </a:t>
            </a:r>
            <a:r>
              <a:rPr lang="en-US" sz="1800" b="1" dirty="0">
                <a:latin typeface="Courier New" charset="0"/>
              </a:rPr>
              <a:t>M[j]</a:t>
            </a:r>
          </a:p>
          <a:p>
            <a:r>
              <a:rPr lang="en-US" sz="1800" b="1" dirty="0">
                <a:latin typeface="Courier New" charset="0"/>
              </a:rPr>
              <a:t>}</a:t>
            </a:r>
          </a:p>
        </p:txBody>
      </p:sp>
      <p:sp>
        <p:nvSpPr>
          <p:cNvPr id="37892" name="Text Box 5"/>
          <p:cNvSpPr txBox="1">
            <a:spLocks noChangeArrowheads="1"/>
          </p:cNvSpPr>
          <p:nvPr/>
        </p:nvSpPr>
        <p:spPr bwMode="auto">
          <a:xfrm>
            <a:off x="3282950" y="3662363"/>
            <a:ext cx="8382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19175"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37931725" indent="-37474525" defTabSz="1019175"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/>
              <a:t>global array</a:t>
            </a:r>
            <a:endParaRPr lang="en-US" sz="1200">
              <a:sym typeface="Symbol" charset="0"/>
            </a:endParaRPr>
          </a:p>
        </p:txBody>
      </p:sp>
      <p:sp>
        <p:nvSpPr>
          <p:cNvPr id="37893" name="Line 6"/>
          <p:cNvSpPr>
            <a:spLocks noChangeShapeType="1"/>
          </p:cNvSpPr>
          <p:nvPr/>
        </p:nvSpPr>
        <p:spPr bwMode="auto">
          <a:xfrm flipH="1">
            <a:off x="2954338" y="3776663"/>
            <a:ext cx="212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37894" name="Rectangle 7"/>
          <p:cNvSpPr>
            <a:spLocks noGrp="1" noChangeArrowheads="1"/>
          </p:cNvSpPr>
          <p:nvPr>
            <p:ph type="title"/>
          </p:nvPr>
        </p:nvSpPr>
        <p:spPr>
          <a:xfrm>
            <a:off x="1187624" y="260648"/>
            <a:ext cx="7704856" cy="648072"/>
          </a:xfrm>
        </p:spPr>
        <p:txBody>
          <a:bodyPr/>
          <a:lstStyle/>
          <a:p>
            <a:r>
              <a:rPr lang="en-US" sz="2800" dirty="0"/>
              <a:t>Weighted Interval Scheduling:  </a:t>
            </a:r>
            <a:r>
              <a:rPr lang="en-US" sz="2800" dirty="0" err="1"/>
              <a:t>Memoization</a:t>
            </a:r>
            <a:endParaRPr lang="en-US" sz="2800" dirty="0"/>
          </a:p>
        </p:txBody>
      </p:sp>
      <p:sp>
        <p:nvSpPr>
          <p:cNvPr id="3789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352928" cy="936104"/>
          </a:xfrm>
        </p:spPr>
        <p:txBody>
          <a:bodyPr/>
          <a:lstStyle/>
          <a:p>
            <a:pPr marL="0" indent="0"/>
            <a:r>
              <a:rPr lang="en-US" dirty="0" err="1">
                <a:latin typeface="Comic Sans MS" charset="0"/>
              </a:rPr>
              <a:t>Memoization</a:t>
            </a:r>
            <a:r>
              <a:rPr lang="en-US" dirty="0">
                <a:latin typeface="Comic Sans MS" charset="0"/>
              </a:rPr>
              <a:t>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Store results of each sub-problem in a cache; lookup as 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</a:rPr>
              <a:t>needed</a:t>
            </a:r>
            <a:endParaRPr lang="en-US" dirty="0">
              <a:solidFill>
                <a:schemeClr val="tx1"/>
              </a:solidFill>
              <a:latin typeface="Comic Sans MS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260648"/>
            <a:ext cx="7848872" cy="648072"/>
          </a:xfrm>
        </p:spPr>
        <p:txBody>
          <a:bodyPr/>
          <a:lstStyle/>
          <a:p>
            <a:r>
              <a:rPr lang="en-US" sz="2800" dirty="0"/>
              <a:t>Weighted Interval Scheduling:  Running Time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>
                <a:latin typeface="Comic Sans MS" charset="0"/>
              </a:rPr>
              <a:t>Claim.  </a:t>
            </a:r>
            <a:r>
              <a:rPr lang="en-US" dirty="0" err="1">
                <a:solidFill>
                  <a:schemeClr val="tx1"/>
                </a:solidFill>
                <a:latin typeface="Comic Sans MS" charset="0"/>
              </a:rPr>
              <a:t>Memoized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 version of algorithm takes O(n log n) 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</a:rPr>
              <a:t>time</a:t>
            </a:r>
            <a:endParaRPr lang="en-US" dirty="0">
              <a:solidFill>
                <a:schemeClr val="tx1"/>
              </a:solidFill>
              <a:latin typeface="Comic Sans MS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Sort by finish time:  O(n log n</a:t>
            </a:r>
            <a:r>
              <a:rPr lang="en-US" dirty="0" smtClean="0">
                <a:latin typeface="Comic Sans MS" charset="0"/>
                <a:ea typeface="ＭＳ Ｐゴシック" charset="0"/>
              </a:rPr>
              <a:t>)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Computing p(</a:t>
            </a:r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</a:t>
            </a:r>
            <a:r>
              <a:rPr lang="en-US" dirty="0">
                <a:latin typeface="Comic Sans MS" charset="0"/>
                <a:ea typeface="ＭＳ Ｐゴシック" charset="0"/>
              </a:rPr>
              <a:t>)</a:t>
            </a:r>
            <a:r>
              <a:rPr lang="en-US" sz="2000" baseline="-25000" dirty="0">
                <a:latin typeface="Comic Sans MS" charset="0"/>
                <a:ea typeface="ＭＳ Ｐゴシック" charset="0"/>
              </a:rPr>
              <a:t> </a:t>
            </a:r>
            <a:r>
              <a:rPr lang="en-US" dirty="0">
                <a:latin typeface="Comic Sans MS" charset="0"/>
                <a:ea typeface="ＭＳ Ｐゴシック" charset="0"/>
              </a:rPr>
              <a:t>:  O(n) after sorting by start </a:t>
            </a:r>
            <a:r>
              <a:rPr lang="en-US" dirty="0" smtClean="0">
                <a:latin typeface="Comic Sans MS" charset="0"/>
                <a:ea typeface="ＭＳ Ｐゴシック" charset="0"/>
              </a:rPr>
              <a:t>time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ea typeface="ＭＳ Ｐゴシック" charset="0"/>
              </a:rPr>
              <a:t>M-Compute-Opt(j):  </a:t>
            </a:r>
            <a:r>
              <a:rPr lang="en-US" dirty="0">
                <a:latin typeface="Comic Sans MS" charset="0"/>
                <a:ea typeface="ＭＳ Ｐゴシック" charset="0"/>
              </a:rPr>
              <a:t>each invocation takes O(1) time and either</a:t>
            </a:r>
          </a:p>
          <a:p>
            <a:pPr lvl="2"/>
            <a:r>
              <a:rPr lang="en-US" dirty="0">
                <a:latin typeface="Comic Sans MS" charset="0"/>
                <a:ea typeface="ＭＳ Ｐゴシック" charset="0"/>
              </a:rPr>
              <a:t>(</a:t>
            </a:r>
            <a:r>
              <a:rPr lang="en-US" dirty="0" err="1">
                <a:latin typeface="Comic Sans MS" charset="0"/>
                <a:ea typeface="ＭＳ Ｐゴシック" charset="0"/>
              </a:rPr>
              <a:t>i</a:t>
            </a:r>
            <a:r>
              <a:rPr lang="en-US" dirty="0">
                <a:latin typeface="Comic Sans MS" charset="0"/>
                <a:ea typeface="ＭＳ Ｐゴシック" charset="0"/>
              </a:rPr>
              <a:t>)  returns an existing value</a:t>
            </a:r>
            <a:r>
              <a:rPr lang="en-US" sz="1800" dirty="0">
                <a:latin typeface="Comic Sans MS" charset="0"/>
                <a:ea typeface="ＭＳ Ｐゴシック" charset="0"/>
              </a:rPr>
              <a:t> </a:t>
            </a:r>
            <a:r>
              <a:rPr lang="en-US" dirty="0">
                <a:ea typeface="ＭＳ Ｐゴシック" charset="0"/>
              </a:rPr>
              <a:t>M[j]</a:t>
            </a:r>
          </a:p>
          <a:p>
            <a:pPr lvl="2"/>
            <a:r>
              <a:rPr lang="en-US" dirty="0">
                <a:latin typeface="Comic Sans MS" charset="0"/>
                <a:ea typeface="ＭＳ Ｐゴシック" charset="0"/>
              </a:rPr>
              <a:t>(ii) fills in one new entry </a:t>
            </a:r>
            <a:r>
              <a:rPr lang="en-US" dirty="0">
                <a:ea typeface="ＭＳ Ｐゴシック" charset="0"/>
              </a:rPr>
              <a:t>M[j] </a:t>
            </a:r>
            <a:r>
              <a:rPr lang="en-US" dirty="0">
                <a:latin typeface="Comic Sans MS" charset="0"/>
                <a:ea typeface="ＭＳ Ｐゴシック" charset="0"/>
              </a:rPr>
              <a:t>and makes two recursive </a:t>
            </a:r>
            <a:r>
              <a:rPr lang="en-US" dirty="0" smtClean="0">
                <a:latin typeface="Comic Sans MS" charset="0"/>
                <a:ea typeface="ＭＳ Ｐゴシック" charset="0"/>
              </a:rPr>
              <a:t>calls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Progress measure </a:t>
            </a:r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</a:t>
            </a:r>
            <a:r>
              <a:rPr lang="en-US" dirty="0">
                <a:latin typeface="Comic Sans MS" charset="0"/>
                <a:ea typeface="ＭＳ Ｐゴシック" charset="0"/>
              </a:rPr>
              <a:t> = # nonempty entries of</a:t>
            </a:r>
            <a:r>
              <a:rPr lang="en-US" sz="1800" dirty="0">
                <a:latin typeface="Comic Sans MS" charset="0"/>
                <a:ea typeface="ＭＳ Ｐゴシック" charset="0"/>
              </a:rPr>
              <a:t> </a:t>
            </a:r>
            <a:r>
              <a:rPr lang="en-US" dirty="0">
                <a:ea typeface="ＭＳ Ｐゴシック" charset="0"/>
              </a:rPr>
              <a:t>M[</a:t>
            </a:r>
            <a:r>
              <a:rPr lang="en-US" dirty="0" smtClean="0">
                <a:ea typeface="ＭＳ Ｐゴシック" charset="0"/>
              </a:rPr>
              <a:t>]</a:t>
            </a:r>
            <a:endParaRPr lang="en-US" dirty="0">
              <a:ea typeface="ＭＳ Ｐゴシック" charset="0"/>
            </a:endParaRPr>
          </a:p>
          <a:p>
            <a:pPr lvl="2"/>
            <a:r>
              <a:rPr lang="en-US" dirty="0">
                <a:latin typeface="Comic Sans MS" charset="0"/>
                <a:ea typeface="ＭＳ Ｐゴシック" charset="0"/>
              </a:rPr>
              <a:t>initially </a:t>
            </a:r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</a:t>
            </a:r>
            <a:r>
              <a:rPr lang="en-US" dirty="0">
                <a:latin typeface="Comic Sans MS" charset="0"/>
                <a:ea typeface="ＭＳ Ｐゴシック" charset="0"/>
              </a:rPr>
              <a:t> = 0,  throughout </a:t>
            </a:r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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</a:t>
            </a:r>
            <a:r>
              <a:rPr lang="en-US" dirty="0">
                <a:latin typeface="Comic Sans MS" charset="0"/>
                <a:ea typeface="ＭＳ Ｐゴシック" charset="0"/>
              </a:rPr>
              <a:t> </a:t>
            </a:r>
            <a:r>
              <a:rPr lang="en-US" dirty="0" smtClean="0">
                <a:latin typeface="Comic Sans MS" charset="0"/>
                <a:ea typeface="ＭＳ Ｐゴシック" charset="0"/>
              </a:rPr>
              <a:t>n</a:t>
            </a:r>
            <a:endParaRPr lang="en-US" dirty="0">
              <a:latin typeface="Comic Sans MS" charset="0"/>
              <a:ea typeface="ＭＳ Ｐゴシック" charset="0"/>
            </a:endParaRPr>
          </a:p>
          <a:p>
            <a:pPr lvl="2"/>
            <a:r>
              <a:rPr lang="en-US" dirty="0">
                <a:latin typeface="Comic Sans MS" charset="0"/>
                <a:ea typeface="ＭＳ Ｐゴシック" charset="0"/>
              </a:rPr>
              <a:t>(ii) increases </a:t>
            </a:r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</a:t>
            </a:r>
            <a:r>
              <a:rPr lang="en-US" dirty="0">
                <a:latin typeface="Comic Sans MS" charset="0"/>
                <a:ea typeface="ＭＳ Ｐゴシック" charset="0"/>
              </a:rPr>
              <a:t> by 1  </a:t>
            </a:r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  at most 2n recursive </a:t>
            </a:r>
            <a:r>
              <a:rPr lang="en-US" dirty="0" smtClean="0">
                <a:latin typeface="Comic Sans MS" charset="0"/>
                <a:ea typeface="ＭＳ Ｐゴシック" charset="0"/>
                <a:sym typeface="Symbol" charset="0"/>
              </a:rPr>
              <a:t>calls</a:t>
            </a:r>
            <a:endParaRPr lang="en-US" dirty="0">
              <a:latin typeface="Comic Sans MS" charset="0"/>
              <a:ea typeface="ＭＳ Ｐゴシック" charset="0"/>
              <a:sym typeface="Symbol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Overall running time </a:t>
            </a:r>
            <a:r>
              <a:rPr lang="en-US" dirty="0">
                <a:ea typeface="ＭＳ Ｐゴシック" charset="0"/>
                <a:sym typeface="Symbol" charset="0"/>
              </a:rPr>
              <a:t>of M-Compute-Opt(n) </a:t>
            </a:r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is O(n</a:t>
            </a:r>
            <a:r>
              <a:rPr lang="en-US" dirty="0" smtClean="0">
                <a:latin typeface="Comic Sans MS" charset="0"/>
                <a:ea typeface="ＭＳ Ｐゴシック" charset="0"/>
                <a:sym typeface="Symbol" charset="0"/>
              </a:rPr>
              <a:t>)</a:t>
            </a:r>
            <a:endParaRPr lang="en-US" dirty="0">
              <a:latin typeface="Comic Sans MS" charset="0"/>
              <a:ea typeface="ＭＳ Ｐゴシック" charset="0"/>
              <a:cs typeface="Lucida Grande" charset="0"/>
            </a:endParaRPr>
          </a:p>
          <a:p>
            <a:pPr marL="0" indent="0"/>
            <a:r>
              <a:rPr lang="en-US" dirty="0">
                <a:latin typeface="Comic Sans MS" charset="0"/>
              </a:rPr>
              <a:t>Remark.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O(n) if jobs are pre-sorted by start and finish 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</a:rPr>
              <a:t>times</a:t>
            </a:r>
            <a:endParaRPr lang="en-US" dirty="0">
              <a:latin typeface="Comic Sans MS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mic Sans MS" charset="0"/>
              </a:rPr>
              <a:t>Automated Memoization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>
                <a:latin typeface="Comic Sans MS" charset="0"/>
              </a:rPr>
              <a:t>Automated </a:t>
            </a:r>
            <a:r>
              <a:rPr lang="en-US" dirty="0" err="1">
                <a:latin typeface="Comic Sans MS" charset="0"/>
              </a:rPr>
              <a:t>memoization</a:t>
            </a:r>
            <a:r>
              <a:rPr lang="en-US" dirty="0">
                <a:latin typeface="Comic Sans MS" charset="0"/>
              </a:rPr>
              <a:t>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Many functional programming 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</a:rPr>
              <a:t>languages (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e.g., Lisp) have built-in support for </a:t>
            </a:r>
            <a:r>
              <a:rPr lang="en-US" dirty="0" err="1" smtClean="0">
                <a:solidFill>
                  <a:schemeClr val="tx1"/>
                </a:solidFill>
                <a:latin typeface="Comic Sans MS" charset="0"/>
              </a:rPr>
              <a:t>memoization</a:t>
            </a:r>
            <a:endParaRPr lang="en-US" dirty="0">
              <a:solidFill>
                <a:schemeClr val="tx1"/>
              </a:solidFill>
              <a:latin typeface="Comic Sans MS" charset="0"/>
            </a:endParaRPr>
          </a:p>
          <a:p>
            <a:pPr marL="0" indent="0"/>
            <a:r>
              <a:rPr lang="en-US" dirty="0">
                <a:latin typeface="Comic Sans MS" charset="0"/>
              </a:rPr>
              <a:t>Q.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  Why not in imperative languages (e.g., Java)?</a:t>
            </a:r>
          </a:p>
        </p:txBody>
      </p:sp>
      <p:grpSp>
        <p:nvGrpSpPr>
          <p:cNvPr id="41989" name="Group 4"/>
          <p:cNvGrpSpPr>
            <a:grpSpLocks/>
          </p:cNvGrpSpPr>
          <p:nvPr/>
        </p:nvGrpSpPr>
        <p:grpSpPr bwMode="auto">
          <a:xfrm>
            <a:off x="4551363" y="4691063"/>
            <a:ext cx="4268787" cy="1616075"/>
            <a:chOff x="2448" y="768"/>
            <a:chExt cx="3168" cy="1200"/>
          </a:xfrm>
        </p:grpSpPr>
        <p:sp>
          <p:nvSpPr>
            <p:cNvPr id="41994" name="Text Box 5"/>
            <p:cNvSpPr txBox="1">
              <a:spLocks noChangeArrowheads="1"/>
            </p:cNvSpPr>
            <p:nvPr/>
          </p:nvSpPr>
          <p:spPr bwMode="auto">
            <a:xfrm>
              <a:off x="3792" y="768"/>
              <a:ext cx="43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F(40)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1995" name="Text Box 6"/>
            <p:cNvSpPr txBox="1">
              <a:spLocks noChangeArrowheads="1"/>
            </p:cNvSpPr>
            <p:nvPr/>
          </p:nvSpPr>
          <p:spPr bwMode="auto">
            <a:xfrm>
              <a:off x="3024" y="1008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F(39)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1996" name="Text Box 7"/>
            <p:cNvSpPr txBox="1">
              <a:spLocks noChangeArrowheads="1"/>
            </p:cNvSpPr>
            <p:nvPr/>
          </p:nvSpPr>
          <p:spPr bwMode="auto">
            <a:xfrm>
              <a:off x="4512" y="1008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F(38)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1997" name="Text Box 8"/>
            <p:cNvSpPr txBox="1">
              <a:spLocks noChangeArrowheads="1"/>
            </p:cNvSpPr>
            <p:nvPr/>
          </p:nvSpPr>
          <p:spPr bwMode="auto">
            <a:xfrm>
              <a:off x="2592" y="1296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F(38)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1998" name="Text Box 9"/>
            <p:cNvSpPr txBox="1">
              <a:spLocks noChangeArrowheads="1"/>
            </p:cNvSpPr>
            <p:nvPr/>
          </p:nvSpPr>
          <p:spPr bwMode="auto">
            <a:xfrm>
              <a:off x="2448" y="1632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F(37)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1999" name="Text Box 10"/>
            <p:cNvSpPr txBox="1">
              <a:spLocks noChangeArrowheads="1"/>
            </p:cNvSpPr>
            <p:nvPr/>
          </p:nvSpPr>
          <p:spPr bwMode="auto">
            <a:xfrm>
              <a:off x="2832" y="1632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F(36)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00" name="Line 11"/>
            <p:cNvSpPr>
              <a:spLocks noChangeShapeType="1"/>
            </p:cNvSpPr>
            <p:nvPr/>
          </p:nvSpPr>
          <p:spPr bwMode="auto">
            <a:xfrm flipH="1">
              <a:off x="2688" y="1536"/>
              <a:ext cx="96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001" name="Line 12"/>
            <p:cNvSpPr>
              <a:spLocks noChangeShapeType="1"/>
            </p:cNvSpPr>
            <p:nvPr/>
          </p:nvSpPr>
          <p:spPr bwMode="auto">
            <a:xfrm>
              <a:off x="2880" y="1536"/>
              <a:ext cx="96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02" name="Text Box 13"/>
            <p:cNvSpPr txBox="1">
              <a:spLocks noChangeArrowheads="1"/>
            </p:cNvSpPr>
            <p:nvPr/>
          </p:nvSpPr>
          <p:spPr bwMode="auto">
            <a:xfrm>
              <a:off x="3409" y="1296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F(37)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03" name="Text Box 14"/>
            <p:cNvSpPr txBox="1">
              <a:spLocks noChangeArrowheads="1"/>
            </p:cNvSpPr>
            <p:nvPr/>
          </p:nvSpPr>
          <p:spPr bwMode="auto">
            <a:xfrm>
              <a:off x="3216" y="1632"/>
              <a:ext cx="433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F(36)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04" name="Text Box 15"/>
            <p:cNvSpPr txBox="1">
              <a:spLocks noChangeArrowheads="1"/>
            </p:cNvSpPr>
            <p:nvPr/>
          </p:nvSpPr>
          <p:spPr bwMode="auto">
            <a:xfrm>
              <a:off x="3600" y="1632"/>
              <a:ext cx="433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F(35)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05" name="Line 16"/>
            <p:cNvSpPr>
              <a:spLocks noChangeShapeType="1"/>
            </p:cNvSpPr>
            <p:nvPr/>
          </p:nvSpPr>
          <p:spPr bwMode="auto">
            <a:xfrm flipH="1">
              <a:off x="3456" y="1536"/>
              <a:ext cx="96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006" name="Line 17"/>
            <p:cNvSpPr>
              <a:spLocks noChangeShapeType="1"/>
            </p:cNvSpPr>
            <p:nvPr/>
          </p:nvSpPr>
          <p:spPr bwMode="auto">
            <a:xfrm>
              <a:off x="3648" y="1536"/>
              <a:ext cx="96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07" name="Text Box 18"/>
            <p:cNvSpPr txBox="1">
              <a:spLocks noChangeArrowheads="1"/>
            </p:cNvSpPr>
            <p:nvPr/>
          </p:nvSpPr>
          <p:spPr bwMode="auto">
            <a:xfrm>
              <a:off x="4993" y="1296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F(36)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08" name="Text Box 19"/>
            <p:cNvSpPr txBox="1">
              <a:spLocks noChangeArrowheads="1"/>
            </p:cNvSpPr>
            <p:nvPr/>
          </p:nvSpPr>
          <p:spPr bwMode="auto">
            <a:xfrm>
              <a:off x="4800" y="1632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F(35)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09" name="Text Box 20"/>
            <p:cNvSpPr txBox="1">
              <a:spLocks noChangeArrowheads="1"/>
            </p:cNvSpPr>
            <p:nvPr/>
          </p:nvSpPr>
          <p:spPr bwMode="auto">
            <a:xfrm>
              <a:off x="5184" y="1632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F(34)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10" name="Line 21"/>
            <p:cNvSpPr>
              <a:spLocks noChangeShapeType="1"/>
            </p:cNvSpPr>
            <p:nvPr/>
          </p:nvSpPr>
          <p:spPr bwMode="auto">
            <a:xfrm flipH="1">
              <a:off x="5040" y="1536"/>
              <a:ext cx="96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011" name="Line 22"/>
            <p:cNvSpPr>
              <a:spLocks noChangeShapeType="1"/>
            </p:cNvSpPr>
            <p:nvPr/>
          </p:nvSpPr>
          <p:spPr bwMode="auto">
            <a:xfrm>
              <a:off x="5232" y="1536"/>
              <a:ext cx="96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12" name="Text Box 23"/>
            <p:cNvSpPr txBox="1">
              <a:spLocks noChangeArrowheads="1"/>
            </p:cNvSpPr>
            <p:nvPr/>
          </p:nvSpPr>
          <p:spPr bwMode="auto">
            <a:xfrm>
              <a:off x="4128" y="1296"/>
              <a:ext cx="43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F(37)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13" name="Text Box 24"/>
            <p:cNvSpPr txBox="1">
              <a:spLocks noChangeArrowheads="1"/>
            </p:cNvSpPr>
            <p:nvPr/>
          </p:nvSpPr>
          <p:spPr bwMode="auto">
            <a:xfrm>
              <a:off x="3984" y="1632"/>
              <a:ext cx="43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F(36)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14" name="Text Box 25"/>
            <p:cNvSpPr txBox="1">
              <a:spLocks noChangeArrowheads="1"/>
            </p:cNvSpPr>
            <p:nvPr/>
          </p:nvSpPr>
          <p:spPr bwMode="auto">
            <a:xfrm>
              <a:off x="4370" y="1632"/>
              <a:ext cx="430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sz="1200">
                  <a:solidFill>
                    <a:schemeClr val="bg2"/>
                  </a:solidFill>
                </a:rPr>
                <a:t>F(35)</a:t>
              </a:r>
              <a:endParaRPr kumimoji="0" lang="en-US" sz="1200">
                <a:solidFill>
                  <a:srgbClr val="990033"/>
                </a:solidFill>
              </a:endParaRPr>
            </a:p>
          </p:txBody>
        </p:sp>
        <p:sp>
          <p:nvSpPr>
            <p:cNvPr id="42015" name="Line 26"/>
            <p:cNvSpPr>
              <a:spLocks noChangeShapeType="1"/>
            </p:cNvSpPr>
            <p:nvPr/>
          </p:nvSpPr>
          <p:spPr bwMode="auto">
            <a:xfrm flipH="1">
              <a:off x="4224" y="1536"/>
              <a:ext cx="96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016" name="Line 27"/>
            <p:cNvSpPr>
              <a:spLocks noChangeShapeType="1"/>
            </p:cNvSpPr>
            <p:nvPr/>
          </p:nvSpPr>
          <p:spPr bwMode="auto">
            <a:xfrm>
              <a:off x="4416" y="1536"/>
              <a:ext cx="96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17" name="Line 28"/>
            <p:cNvSpPr>
              <a:spLocks noChangeShapeType="1"/>
            </p:cNvSpPr>
            <p:nvPr/>
          </p:nvSpPr>
          <p:spPr bwMode="auto">
            <a:xfrm flipH="1">
              <a:off x="2544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18" name="Line 29"/>
            <p:cNvSpPr>
              <a:spLocks noChangeShapeType="1"/>
            </p:cNvSpPr>
            <p:nvPr/>
          </p:nvSpPr>
          <p:spPr bwMode="auto">
            <a:xfrm>
              <a:off x="2640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19" name="Line 30"/>
            <p:cNvSpPr>
              <a:spLocks noChangeShapeType="1"/>
            </p:cNvSpPr>
            <p:nvPr/>
          </p:nvSpPr>
          <p:spPr bwMode="auto">
            <a:xfrm flipH="1">
              <a:off x="2928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0" name="Line 31"/>
            <p:cNvSpPr>
              <a:spLocks noChangeShapeType="1"/>
            </p:cNvSpPr>
            <p:nvPr/>
          </p:nvSpPr>
          <p:spPr bwMode="auto">
            <a:xfrm>
              <a:off x="3024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1" name="Line 32"/>
            <p:cNvSpPr>
              <a:spLocks noChangeShapeType="1"/>
            </p:cNvSpPr>
            <p:nvPr/>
          </p:nvSpPr>
          <p:spPr bwMode="auto">
            <a:xfrm flipH="1">
              <a:off x="4464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2" name="Line 33"/>
            <p:cNvSpPr>
              <a:spLocks noChangeShapeType="1"/>
            </p:cNvSpPr>
            <p:nvPr/>
          </p:nvSpPr>
          <p:spPr bwMode="auto">
            <a:xfrm>
              <a:off x="4560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3" name="Line 34"/>
            <p:cNvSpPr>
              <a:spLocks noChangeShapeType="1"/>
            </p:cNvSpPr>
            <p:nvPr/>
          </p:nvSpPr>
          <p:spPr bwMode="auto">
            <a:xfrm flipH="1">
              <a:off x="4080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4" name="Line 35"/>
            <p:cNvSpPr>
              <a:spLocks noChangeShapeType="1"/>
            </p:cNvSpPr>
            <p:nvPr/>
          </p:nvSpPr>
          <p:spPr bwMode="auto">
            <a:xfrm>
              <a:off x="4176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5" name="Line 36"/>
            <p:cNvSpPr>
              <a:spLocks noChangeShapeType="1"/>
            </p:cNvSpPr>
            <p:nvPr/>
          </p:nvSpPr>
          <p:spPr bwMode="auto">
            <a:xfrm flipH="1">
              <a:off x="3696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6" name="Line 37"/>
            <p:cNvSpPr>
              <a:spLocks noChangeShapeType="1"/>
            </p:cNvSpPr>
            <p:nvPr/>
          </p:nvSpPr>
          <p:spPr bwMode="auto">
            <a:xfrm>
              <a:off x="3792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7" name="Line 38"/>
            <p:cNvSpPr>
              <a:spLocks noChangeShapeType="1"/>
            </p:cNvSpPr>
            <p:nvPr/>
          </p:nvSpPr>
          <p:spPr bwMode="auto">
            <a:xfrm flipH="1">
              <a:off x="3312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8" name="Line 39"/>
            <p:cNvSpPr>
              <a:spLocks noChangeShapeType="1"/>
            </p:cNvSpPr>
            <p:nvPr/>
          </p:nvSpPr>
          <p:spPr bwMode="auto">
            <a:xfrm>
              <a:off x="3408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29" name="Line 40"/>
            <p:cNvSpPr>
              <a:spLocks noChangeShapeType="1"/>
            </p:cNvSpPr>
            <p:nvPr/>
          </p:nvSpPr>
          <p:spPr bwMode="auto">
            <a:xfrm flipH="1">
              <a:off x="5280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30" name="Line 41"/>
            <p:cNvSpPr>
              <a:spLocks noChangeShapeType="1"/>
            </p:cNvSpPr>
            <p:nvPr/>
          </p:nvSpPr>
          <p:spPr bwMode="auto">
            <a:xfrm>
              <a:off x="5376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31" name="Line 42"/>
            <p:cNvSpPr>
              <a:spLocks noChangeShapeType="1"/>
            </p:cNvSpPr>
            <p:nvPr/>
          </p:nvSpPr>
          <p:spPr bwMode="auto">
            <a:xfrm flipH="1">
              <a:off x="4896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32" name="Line 43"/>
            <p:cNvSpPr>
              <a:spLocks noChangeShapeType="1"/>
            </p:cNvSpPr>
            <p:nvPr/>
          </p:nvSpPr>
          <p:spPr bwMode="auto">
            <a:xfrm>
              <a:off x="4992" y="1872"/>
              <a:ext cx="48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33" name="Line 44"/>
            <p:cNvSpPr>
              <a:spLocks noChangeShapeType="1"/>
            </p:cNvSpPr>
            <p:nvPr/>
          </p:nvSpPr>
          <p:spPr bwMode="auto">
            <a:xfrm flipH="1">
              <a:off x="2976" y="1248"/>
              <a:ext cx="240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34" name="Line 45"/>
            <p:cNvSpPr>
              <a:spLocks noChangeShapeType="1"/>
            </p:cNvSpPr>
            <p:nvPr/>
          </p:nvSpPr>
          <p:spPr bwMode="auto">
            <a:xfrm>
              <a:off x="3264" y="1248"/>
              <a:ext cx="192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35" name="Line 46"/>
            <p:cNvSpPr>
              <a:spLocks noChangeShapeType="1"/>
            </p:cNvSpPr>
            <p:nvPr/>
          </p:nvSpPr>
          <p:spPr bwMode="auto">
            <a:xfrm flipH="1">
              <a:off x="4512" y="1248"/>
              <a:ext cx="192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36" name="Line 47"/>
            <p:cNvSpPr>
              <a:spLocks noChangeShapeType="1"/>
            </p:cNvSpPr>
            <p:nvPr/>
          </p:nvSpPr>
          <p:spPr bwMode="auto">
            <a:xfrm>
              <a:off x="4800" y="1248"/>
              <a:ext cx="240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37" name="Line 48"/>
            <p:cNvSpPr>
              <a:spLocks noChangeShapeType="1"/>
            </p:cNvSpPr>
            <p:nvPr/>
          </p:nvSpPr>
          <p:spPr bwMode="auto">
            <a:xfrm flipV="1">
              <a:off x="3408" y="1008"/>
              <a:ext cx="576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038" name="Line 49"/>
            <p:cNvSpPr>
              <a:spLocks noChangeShapeType="1"/>
            </p:cNvSpPr>
            <p:nvPr/>
          </p:nvSpPr>
          <p:spPr bwMode="auto">
            <a:xfrm>
              <a:off x="4080" y="1008"/>
              <a:ext cx="480" cy="96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27174" y="2998539"/>
            <a:ext cx="3862388" cy="1697038"/>
            <a:chOff x="527174" y="2998539"/>
            <a:chExt cx="3862388" cy="1697038"/>
          </a:xfrm>
        </p:grpSpPr>
        <p:sp>
          <p:nvSpPr>
            <p:cNvPr id="41991" name="Rectangle 52"/>
            <p:cNvSpPr>
              <a:spLocks noChangeArrowheads="1"/>
            </p:cNvSpPr>
            <p:nvPr/>
          </p:nvSpPr>
          <p:spPr bwMode="auto">
            <a:xfrm>
              <a:off x="527174" y="2998539"/>
              <a:ext cx="3862388" cy="133667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137160" rIns="92075" bIns="137160">
              <a:spAutoFit/>
            </a:bodyPr>
            <a:lstStyle/>
            <a:p>
              <a:r>
                <a:rPr lang="en-US" sz="1400" b="1" dirty="0">
                  <a:latin typeface="Courier New" charset="0"/>
                </a:rPr>
                <a:t>(</a:t>
              </a:r>
              <a:r>
                <a:rPr lang="en-US" sz="1400" b="1" dirty="0" err="1">
                  <a:latin typeface="Courier New" charset="0"/>
                </a:rPr>
                <a:t>defun</a:t>
              </a:r>
              <a:r>
                <a:rPr lang="en-US" sz="1400" b="1" dirty="0">
                  <a:latin typeface="Courier New" charset="0"/>
                </a:rPr>
                <a:t> F (n)</a:t>
              </a:r>
            </a:p>
            <a:p>
              <a:r>
                <a:rPr lang="en-US" sz="1400" b="1" dirty="0">
                  <a:latin typeface="Courier New" charset="0"/>
                </a:rPr>
                <a:t>  (if</a:t>
              </a:r>
            </a:p>
            <a:p>
              <a:r>
                <a:rPr lang="en-US" sz="1400" b="1" dirty="0">
                  <a:latin typeface="Courier New" charset="0"/>
                </a:rPr>
                <a:t>    (&lt;= n 1)</a:t>
              </a:r>
            </a:p>
            <a:p>
              <a:r>
                <a:rPr lang="en-US" sz="1400" b="1" dirty="0">
                  <a:latin typeface="Courier New" charset="0"/>
                </a:rPr>
                <a:t>    n</a:t>
              </a:r>
            </a:p>
            <a:p>
              <a:r>
                <a:rPr lang="en-US" sz="1400" b="1" dirty="0">
                  <a:latin typeface="Courier New" charset="0"/>
                </a:rPr>
                <a:t>    (+ (F (- n 1)) (F (- n 2)))))</a:t>
              </a:r>
            </a:p>
          </p:txBody>
        </p:sp>
        <p:sp>
          <p:nvSpPr>
            <p:cNvPr id="41992" name="Rectangle 53"/>
            <p:cNvSpPr>
              <a:spLocks noChangeArrowheads="1"/>
            </p:cNvSpPr>
            <p:nvPr/>
          </p:nvSpPr>
          <p:spPr bwMode="auto">
            <a:xfrm>
              <a:off x="1587624" y="4355852"/>
              <a:ext cx="1439863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400"/>
                <a:t>Lisp (efficient)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788024" y="2996952"/>
            <a:ext cx="3830638" cy="1435100"/>
            <a:chOff x="4788024" y="2996952"/>
            <a:chExt cx="3830638" cy="1435100"/>
          </a:xfrm>
        </p:grpSpPr>
        <p:sp>
          <p:nvSpPr>
            <p:cNvPr id="41990" name="Rectangle 50"/>
            <p:cNvSpPr>
              <a:spLocks noChangeArrowheads="1"/>
            </p:cNvSpPr>
            <p:nvPr/>
          </p:nvSpPr>
          <p:spPr bwMode="auto">
            <a:xfrm>
              <a:off x="4788024" y="2996952"/>
              <a:ext cx="3830638" cy="110966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182880" rIns="92075" bIns="182880"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kumimoji="0" lang="en-US" sz="1400" b="1" dirty="0">
                  <a:latin typeface="Courier New" charset="0"/>
                </a:rPr>
                <a:t>static </a:t>
              </a:r>
              <a:r>
                <a:rPr kumimoji="0" lang="en-US" sz="1400" b="1" dirty="0" err="1">
                  <a:latin typeface="Courier New" charset="0"/>
                </a:rPr>
                <a:t>int</a:t>
              </a:r>
              <a:r>
                <a:rPr kumimoji="0" lang="en-US" sz="1400" b="1" dirty="0">
                  <a:latin typeface="Courier New" charset="0"/>
                </a:rPr>
                <a:t> F(</a:t>
              </a:r>
              <a:r>
                <a:rPr kumimoji="0" lang="en-US" sz="1400" b="1" dirty="0" err="1">
                  <a:latin typeface="Courier New" charset="0"/>
                </a:rPr>
                <a:t>int</a:t>
              </a:r>
              <a:r>
                <a:rPr kumimoji="0" lang="en-US" sz="1400" b="1" dirty="0">
                  <a:latin typeface="Courier New" charset="0"/>
                </a:rPr>
                <a:t> n) {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kumimoji="0" lang="en-US" sz="1400" b="1" dirty="0">
                  <a:latin typeface="Courier New" charset="0"/>
                </a:rPr>
                <a:t>   if (n &lt;= 1) return n;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kumimoji="0" lang="en-US" sz="1400" b="1" dirty="0">
                  <a:latin typeface="Courier New" charset="0"/>
                </a:rPr>
                <a:t>   else return F(n-1) + F(n-2);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kumimoji="0" lang="en-US" sz="1400" b="1" dirty="0">
                  <a:latin typeface="Courier New" charset="0"/>
                </a:rPr>
                <a:t>} </a:t>
              </a:r>
            </a:p>
          </p:txBody>
        </p:sp>
        <p:sp>
          <p:nvSpPr>
            <p:cNvPr id="41993" name="Rectangle 54"/>
            <p:cNvSpPr>
              <a:spLocks noChangeArrowheads="1"/>
            </p:cNvSpPr>
            <p:nvPr/>
          </p:nvSpPr>
          <p:spPr bwMode="auto">
            <a:xfrm>
              <a:off x="5910387" y="4092327"/>
              <a:ext cx="170180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400"/>
                <a:t>Java (exponential)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7"/>
          <p:cNvSpPr>
            <a:spLocks noGrp="1" noChangeArrowheads="1"/>
          </p:cNvSpPr>
          <p:nvPr>
            <p:ph type="title"/>
          </p:nvPr>
        </p:nvSpPr>
        <p:spPr>
          <a:xfrm>
            <a:off x="1187624" y="404664"/>
            <a:ext cx="7535862" cy="685800"/>
          </a:xfrm>
        </p:spPr>
        <p:txBody>
          <a:bodyPr/>
          <a:lstStyle/>
          <a:p>
            <a:r>
              <a:rPr lang="en-US" sz="2800" dirty="0"/>
              <a:t>Weighted Interval Scheduling</a:t>
            </a:r>
            <a:r>
              <a:rPr lang="en-US" sz="2800" dirty="0" smtClean="0"/>
              <a:t>: </a:t>
            </a:r>
            <a:r>
              <a:rPr lang="en-US" sz="2800" dirty="0"/>
              <a:t>Finding a Solution</a:t>
            </a:r>
          </a:p>
        </p:txBody>
      </p:sp>
      <p:sp>
        <p:nvSpPr>
          <p:cNvPr id="4403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96944" cy="1944216"/>
          </a:xfrm>
        </p:spPr>
        <p:txBody>
          <a:bodyPr/>
          <a:lstStyle/>
          <a:p>
            <a:pPr marL="0" indent="0"/>
            <a:r>
              <a:rPr lang="en-US" dirty="0">
                <a:latin typeface="Comic Sans MS" charset="0"/>
              </a:rPr>
              <a:t>Q.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Dynamic programming algorithms computes optimal value.  What if we want the solution itself?</a:t>
            </a:r>
          </a:p>
          <a:p>
            <a:pPr marL="0" indent="0"/>
            <a:r>
              <a:rPr lang="en-US" dirty="0">
                <a:latin typeface="Comic Sans MS" charset="0"/>
              </a:rPr>
              <a:t>A.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Do some post-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</a:rPr>
              <a:t>processing</a:t>
            </a:r>
            <a:endParaRPr lang="en-US" dirty="0">
              <a:solidFill>
                <a:schemeClr val="tx1"/>
              </a:solidFill>
              <a:latin typeface="Courier New" charset="0"/>
            </a:endParaRPr>
          </a:p>
          <a:p>
            <a:pPr lvl="1"/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endParaRPr lang="en-US" dirty="0">
              <a:latin typeface="Comic Sans MS" charset="0"/>
              <a:ea typeface="ＭＳ Ｐゴシック" charset="0"/>
            </a:endParaRPr>
          </a:p>
          <a:p>
            <a:pPr marL="457200" lvl="1" indent="0">
              <a:buNone/>
            </a:pPr>
            <a:endParaRPr lang="en-US" dirty="0">
              <a:latin typeface="Comic Sans MS" charset="0"/>
              <a:ea typeface="ＭＳ Ｐゴシック" charset="0"/>
            </a:endParaRPr>
          </a:p>
          <a:p>
            <a:pPr marL="457200" lvl="1" indent="0">
              <a:buNone/>
            </a:pPr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endParaRPr lang="en-US" dirty="0">
              <a:latin typeface="Comic Sans MS" charset="0"/>
              <a:ea typeface="ＭＳ Ｐゴシック" charset="0"/>
            </a:endParaRPr>
          </a:p>
          <a:p>
            <a:pPr lvl="1"/>
            <a:r>
              <a:rPr lang="en-US" dirty="0">
                <a:latin typeface="Comic Sans MS" charset="0"/>
                <a:ea typeface="ＭＳ Ｐゴシック" charset="0"/>
              </a:rPr>
              <a:t># of recursive calls </a:t>
            </a:r>
            <a:r>
              <a:rPr lang="en-US" dirty="0">
                <a:latin typeface="Comic Sans MS" charset="0"/>
                <a:ea typeface="ＭＳ Ｐゴシック" charset="0"/>
                <a:sym typeface="Symbol" charset="0"/>
              </a:rPr>
              <a:t> n    </a:t>
            </a:r>
            <a:r>
              <a:rPr lang="en-US" dirty="0">
                <a:latin typeface="Comic Sans MS" charset="0"/>
                <a:ea typeface="ＭＳ Ｐゴシック" charset="0"/>
              </a:rPr>
              <a:t>O(n</a:t>
            </a:r>
            <a:r>
              <a:rPr lang="en-US" dirty="0" smtClean="0">
                <a:latin typeface="Comic Sans MS" charset="0"/>
                <a:ea typeface="ＭＳ Ｐゴシック" charset="0"/>
              </a:rPr>
              <a:t>)</a:t>
            </a:r>
            <a:endParaRPr lang="en-US" dirty="0">
              <a:latin typeface="Comic Sans MS" charset="0"/>
              <a:ea typeface="ＭＳ Ｐゴシック" charset="0"/>
            </a:endParaRPr>
          </a:p>
        </p:txBody>
      </p:sp>
      <p:sp>
        <p:nvSpPr>
          <p:cNvPr id="44037" name="Text Box 9"/>
          <p:cNvSpPr txBox="1">
            <a:spLocks noChangeArrowheads="1"/>
          </p:cNvSpPr>
          <p:nvPr/>
        </p:nvSpPr>
        <p:spPr bwMode="auto">
          <a:xfrm>
            <a:off x="1979712" y="2708921"/>
            <a:ext cx="5040560" cy="3508653"/>
          </a:xfrm>
          <a:prstGeom prst="rect">
            <a:avLst/>
          </a:prstGeom>
          <a:solidFill>
            <a:srgbClr val="3366FF"/>
          </a:solidFill>
          <a:ln>
            <a:noFill/>
          </a:ln>
          <a:extLst/>
        </p:spPr>
        <p:txBody>
          <a:bodyPr wrap="square" lIns="182880" tIns="91440" rIns="137160" bIns="9144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b="1" dirty="0" smtClean="0">
                <a:solidFill>
                  <a:srgbClr val="FFFFFF"/>
                </a:solidFill>
                <a:latin typeface="Courier New" charset="0"/>
              </a:rPr>
              <a:t>Run </a:t>
            </a:r>
            <a:r>
              <a:rPr lang="en-US" sz="1800" b="1" dirty="0">
                <a:latin typeface="Courier New" charset="0"/>
              </a:rPr>
              <a:t>M-Compute-Opt(n)</a:t>
            </a:r>
          </a:p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Run </a:t>
            </a:r>
            <a:r>
              <a:rPr lang="en-US" sz="1800" b="1" dirty="0">
                <a:latin typeface="Courier New" charset="0"/>
              </a:rPr>
              <a:t>Find-Solution(n)</a:t>
            </a:r>
          </a:p>
          <a:p>
            <a:endParaRPr lang="en-US" sz="1800" b="1" dirty="0">
              <a:latin typeface="Courier New" charset="0"/>
            </a:endParaRPr>
          </a:p>
          <a:p>
            <a:r>
              <a:rPr lang="en-US" sz="1800" b="1" dirty="0">
                <a:latin typeface="Courier New" charset="0"/>
              </a:rPr>
              <a:t>Find-Solution(j) {</a:t>
            </a:r>
          </a:p>
          <a:p>
            <a:r>
              <a:rPr lang="en-US" sz="1800" b="1" dirty="0">
                <a:latin typeface="Courier New" charset="0"/>
              </a:rPr>
              <a:t>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if </a:t>
            </a:r>
            <a:r>
              <a:rPr lang="en-US" sz="1800" b="1" dirty="0">
                <a:latin typeface="Courier New" charset="0"/>
              </a:rPr>
              <a:t>(j = 0)</a:t>
            </a:r>
          </a:p>
          <a:p>
            <a:r>
              <a:rPr lang="en-US" sz="1800" b="1" dirty="0">
                <a:latin typeface="Courier New" charset="0"/>
              </a:rPr>
              <a:t>      output nothing</a:t>
            </a:r>
          </a:p>
          <a:p>
            <a:r>
              <a:rPr lang="en-US" sz="1800" b="1" dirty="0">
                <a:latin typeface="Courier New" charset="0"/>
              </a:rPr>
              <a:t>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else if </a:t>
            </a:r>
            <a:r>
              <a:rPr lang="en-US" sz="1800" b="1" dirty="0">
                <a:latin typeface="Courier New" charset="0"/>
              </a:rPr>
              <a:t>(</a:t>
            </a:r>
            <a:r>
              <a:rPr lang="en-US" sz="1800" b="1" dirty="0" err="1">
                <a:latin typeface="Courier New" charset="0"/>
              </a:rPr>
              <a:t>v</a:t>
            </a:r>
            <a:r>
              <a:rPr lang="en-US" sz="1800" b="1" baseline="-25000" dirty="0" err="1">
                <a:latin typeface="Courier New" charset="0"/>
              </a:rPr>
              <a:t>j</a:t>
            </a:r>
            <a:r>
              <a:rPr lang="en-US" sz="1800" b="1" dirty="0">
                <a:latin typeface="Courier New" charset="0"/>
              </a:rPr>
              <a:t> + M[p(j)] &gt; M[j-1])</a:t>
            </a:r>
          </a:p>
          <a:p>
            <a:r>
              <a:rPr lang="en-US" sz="1800" b="1" dirty="0">
                <a:latin typeface="Courier New" charset="0"/>
              </a:rPr>
              <a:t>      print j</a:t>
            </a:r>
          </a:p>
          <a:p>
            <a:r>
              <a:rPr lang="en-US" sz="1800" b="1" dirty="0">
                <a:latin typeface="Courier New" charset="0"/>
              </a:rPr>
              <a:t>      Find-Solution(p(j))</a:t>
            </a:r>
          </a:p>
          <a:p>
            <a:r>
              <a:rPr lang="en-US" sz="1800" b="1" dirty="0">
                <a:latin typeface="Courier New" charset="0"/>
              </a:rPr>
              <a:t>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else</a:t>
            </a:r>
          </a:p>
          <a:p>
            <a:r>
              <a:rPr lang="en-US" sz="1800" b="1" dirty="0">
                <a:latin typeface="Courier New" charset="0"/>
              </a:rPr>
              <a:t>      Find-Solution(j-1)</a:t>
            </a:r>
          </a:p>
          <a:p>
            <a:r>
              <a:rPr lang="en-US" sz="1800" b="1" dirty="0">
                <a:latin typeface="Courier New" charset="0"/>
              </a:rPr>
              <a:t>}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88640"/>
            <a:ext cx="7776864" cy="720080"/>
          </a:xfrm>
        </p:spPr>
        <p:txBody>
          <a:bodyPr/>
          <a:lstStyle/>
          <a:p>
            <a:r>
              <a:rPr lang="en-US" sz="2800" dirty="0">
                <a:latin typeface="Comic Sans MS" charset="0"/>
              </a:rPr>
              <a:t>Weighted Interval Scheduling: </a:t>
            </a:r>
            <a:r>
              <a:rPr lang="en-US" sz="2800" dirty="0" smtClean="0">
                <a:latin typeface="Comic Sans MS" charset="0"/>
              </a:rPr>
              <a:t>Bottom</a:t>
            </a:r>
            <a:r>
              <a:rPr lang="en-US" sz="2800" dirty="0">
                <a:latin typeface="Comic Sans MS" charset="0"/>
              </a:rPr>
              <a:t>-Up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>
                <a:latin typeface="Comic Sans MS" charset="0"/>
              </a:rPr>
              <a:t>Bottom-up dynamic programming.  </a:t>
            </a:r>
            <a:r>
              <a:rPr lang="en-US" dirty="0">
                <a:solidFill>
                  <a:schemeClr val="tx1"/>
                </a:solidFill>
                <a:latin typeface="Comic Sans MS" charset="0"/>
              </a:rPr>
              <a:t>Unwind </a:t>
            </a:r>
            <a:r>
              <a:rPr lang="en-US" dirty="0" smtClean="0">
                <a:solidFill>
                  <a:schemeClr val="tx1"/>
                </a:solidFill>
                <a:latin typeface="Comic Sans MS" charset="0"/>
              </a:rPr>
              <a:t>recursion</a:t>
            </a:r>
            <a:endParaRPr lang="en-US" dirty="0">
              <a:solidFill>
                <a:schemeClr val="tx1"/>
              </a:solidFill>
              <a:latin typeface="Comic Sans MS" charset="0"/>
            </a:endParaRPr>
          </a:p>
        </p:txBody>
      </p:sp>
      <p:sp>
        <p:nvSpPr>
          <p:cNvPr id="46085" name="Text Box 7"/>
          <p:cNvSpPr txBox="1">
            <a:spLocks noChangeArrowheads="1"/>
          </p:cNvSpPr>
          <p:nvPr/>
        </p:nvSpPr>
        <p:spPr bwMode="auto">
          <a:xfrm>
            <a:off x="971600" y="2636912"/>
            <a:ext cx="7344816" cy="3231654"/>
          </a:xfrm>
          <a:prstGeom prst="rect">
            <a:avLst/>
          </a:prstGeom>
          <a:solidFill>
            <a:srgbClr val="3366FF"/>
          </a:solidFill>
          <a:ln>
            <a:noFill/>
          </a:ln>
          <a:extLst/>
        </p:spPr>
        <p:txBody>
          <a:bodyPr wrap="square" lIns="182880" tIns="91440" rIns="137160" bIns="9144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Input</a:t>
            </a:r>
            <a:r>
              <a:rPr lang="en-US" sz="1800" b="1" dirty="0">
                <a:latin typeface="Courier New" charset="0"/>
              </a:rPr>
              <a:t>: n, s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,…,</a:t>
            </a:r>
            <a:r>
              <a:rPr lang="en-US" sz="1800" b="1" dirty="0" err="1">
                <a:latin typeface="Courier New" charset="0"/>
              </a:rPr>
              <a:t>s</a:t>
            </a:r>
            <a:r>
              <a:rPr lang="en-US" sz="1800" b="1" baseline="-25000" dirty="0" err="1">
                <a:latin typeface="Courier New" charset="0"/>
              </a:rPr>
              <a:t>n</a:t>
            </a:r>
            <a:r>
              <a:rPr lang="en-US" sz="1800" b="1" baseline="-25000" dirty="0">
                <a:latin typeface="Courier New" charset="0"/>
              </a:rPr>
              <a:t> , </a:t>
            </a:r>
            <a:r>
              <a:rPr lang="en-US" sz="1800" b="1" dirty="0">
                <a:latin typeface="Courier New" charset="0"/>
              </a:rPr>
              <a:t>f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,…,</a:t>
            </a:r>
            <a:r>
              <a:rPr lang="en-US" sz="1800" b="1" dirty="0" err="1">
                <a:latin typeface="Courier New" charset="0"/>
              </a:rPr>
              <a:t>f</a:t>
            </a:r>
            <a:r>
              <a:rPr lang="en-US" sz="1800" b="1" baseline="-25000" dirty="0" err="1">
                <a:latin typeface="Courier New" charset="0"/>
              </a:rPr>
              <a:t>n</a:t>
            </a:r>
            <a:r>
              <a:rPr lang="en-US" sz="1800" b="1" baseline="-25000" dirty="0">
                <a:latin typeface="Courier New" charset="0"/>
              </a:rPr>
              <a:t> , </a:t>
            </a:r>
            <a:r>
              <a:rPr lang="en-US" sz="1800" b="1" dirty="0">
                <a:latin typeface="Courier New" charset="0"/>
              </a:rPr>
              <a:t>v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,…,</a:t>
            </a:r>
            <a:r>
              <a:rPr lang="en-US" sz="1800" b="1" dirty="0" err="1">
                <a:latin typeface="Courier New" charset="0"/>
              </a:rPr>
              <a:t>v</a:t>
            </a:r>
            <a:r>
              <a:rPr lang="en-US" sz="1800" b="1" baseline="-25000" dirty="0" err="1">
                <a:latin typeface="Courier New" charset="0"/>
              </a:rPr>
              <a:t>n</a:t>
            </a:r>
            <a:endParaRPr lang="en-US" sz="1800" b="1" dirty="0">
              <a:latin typeface="Courier New" charset="0"/>
            </a:endParaRPr>
          </a:p>
          <a:p>
            <a:endParaRPr lang="en-US" sz="1800" b="1" dirty="0">
              <a:latin typeface="Courier New" charset="0"/>
            </a:endParaRPr>
          </a:p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Sort </a:t>
            </a:r>
            <a:r>
              <a:rPr lang="en-US" sz="1800" b="1" dirty="0">
                <a:latin typeface="Courier New" charset="0"/>
              </a:rPr>
              <a:t>jobs by finish times so that f</a:t>
            </a:r>
            <a:r>
              <a:rPr lang="en-US" sz="1800" b="1" baseline="-25000" dirty="0">
                <a:latin typeface="Courier New" charset="0"/>
              </a:rPr>
              <a:t>1</a:t>
            </a:r>
            <a:r>
              <a:rPr lang="en-US" sz="1800" b="1" dirty="0">
                <a:latin typeface="Courier New" charset="0"/>
              </a:rPr>
              <a:t> </a:t>
            </a:r>
            <a:r>
              <a:rPr lang="en-US" sz="1800" b="1" dirty="0">
                <a:latin typeface="Courier New" charset="0"/>
                <a:sym typeface="Symbol" charset="0"/>
              </a:rPr>
              <a:t></a:t>
            </a:r>
            <a:r>
              <a:rPr lang="en-US" sz="1800" b="1" dirty="0">
                <a:latin typeface="Courier New" charset="0"/>
              </a:rPr>
              <a:t> f</a:t>
            </a:r>
            <a:r>
              <a:rPr lang="en-US" sz="1800" b="1" baseline="-25000" dirty="0">
                <a:latin typeface="Courier New" charset="0"/>
              </a:rPr>
              <a:t>2</a:t>
            </a:r>
            <a:r>
              <a:rPr lang="en-US" sz="1800" b="1" dirty="0">
                <a:latin typeface="Courier New" charset="0"/>
              </a:rPr>
              <a:t> </a:t>
            </a:r>
            <a:r>
              <a:rPr lang="en-US" sz="1800" b="1" dirty="0">
                <a:latin typeface="Courier New" charset="0"/>
                <a:sym typeface="Symbol" charset="0"/>
              </a:rPr>
              <a:t></a:t>
            </a:r>
            <a:r>
              <a:rPr lang="en-US" sz="1800" b="1" dirty="0">
                <a:latin typeface="Courier New" charset="0"/>
              </a:rPr>
              <a:t> ... </a:t>
            </a:r>
            <a:r>
              <a:rPr lang="en-US" sz="1800" b="1" dirty="0">
                <a:latin typeface="Courier New" charset="0"/>
                <a:sym typeface="Symbol" charset="0"/>
              </a:rPr>
              <a:t></a:t>
            </a:r>
            <a:r>
              <a:rPr lang="en-US" sz="1800" b="1" dirty="0">
                <a:latin typeface="Courier New" charset="0"/>
              </a:rPr>
              <a:t> </a:t>
            </a:r>
            <a:r>
              <a:rPr lang="en-US" sz="1800" b="1" dirty="0" err="1" smtClean="0">
                <a:latin typeface="Courier New" charset="0"/>
              </a:rPr>
              <a:t>f</a:t>
            </a:r>
            <a:r>
              <a:rPr lang="en-US" sz="1800" b="1" baseline="-25000" dirty="0" err="1" smtClean="0">
                <a:latin typeface="Courier New" charset="0"/>
              </a:rPr>
              <a:t>n</a:t>
            </a:r>
            <a:endParaRPr lang="en-US" sz="1800" b="1" dirty="0">
              <a:latin typeface="Courier New" charset="0"/>
            </a:endParaRPr>
          </a:p>
          <a:p>
            <a:endParaRPr lang="en-US" sz="1800" b="1" dirty="0">
              <a:latin typeface="Courier New" charset="0"/>
            </a:endParaRPr>
          </a:p>
          <a:p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Compute </a:t>
            </a:r>
            <a:r>
              <a:rPr lang="en-US" sz="1800" b="1" dirty="0">
                <a:latin typeface="Courier New" charset="0"/>
              </a:rPr>
              <a:t>p(1), p(2), …, p(n)</a:t>
            </a:r>
          </a:p>
          <a:p>
            <a:endParaRPr lang="en-US" sz="1800" b="1" dirty="0">
              <a:latin typeface="Courier New" charset="0"/>
            </a:endParaRPr>
          </a:p>
          <a:p>
            <a:r>
              <a:rPr lang="en-US" sz="1800" b="1" dirty="0">
                <a:latin typeface="Courier New" charset="0"/>
              </a:rPr>
              <a:t>Iterative-Compute-Opt {</a:t>
            </a:r>
          </a:p>
          <a:p>
            <a:r>
              <a:rPr lang="en-US" sz="1800" b="1" dirty="0">
                <a:latin typeface="Courier New" charset="0"/>
              </a:rPr>
              <a:t>   M[0] = 0</a:t>
            </a:r>
            <a:endParaRPr lang="en-US" sz="1800" b="1" dirty="0">
              <a:solidFill>
                <a:schemeClr val="accent1"/>
              </a:solidFill>
              <a:latin typeface="Courier New" charset="0"/>
            </a:endParaRPr>
          </a:p>
          <a:p>
            <a:r>
              <a:rPr lang="en-US" sz="1800" b="1" dirty="0">
                <a:solidFill>
                  <a:srgbClr val="003399"/>
                </a:solidFill>
                <a:latin typeface="Courier New" charset="0"/>
              </a:rPr>
              <a:t>   </a:t>
            </a:r>
            <a:r>
              <a:rPr lang="en-US" sz="1800" b="1" dirty="0">
                <a:solidFill>
                  <a:srgbClr val="FFFFFF"/>
                </a:solidFill>
                <a:latin typeface="Courier New" charset="0"/>
              </a:rPr>
              <a:t>for </a:t>
            </a:r>
            <a:r>
              <a:rPr lang="en-US" sz="1800" b="1" dirty="0">
                <a:latin typeface="Courier New" charset="0"/>
              </a:rPr>
              <a:t>j = 1 to n</a:t>
            </a:r>
          </a:p>
          <a:p>
            <a:r>
              <a:rPr lang="en-US" sz="1800" b="1" dirty="0">
                <a:solidFill>
                  <a:schemeClr val="accent1"/>
                </a:solidFill>
                <a:latin typeface="Courier New" charset="0"/>
              </a:rPr>
              <a:t>      </a:t>
            </a:r>
            <a:r>
              <a:rPr lang="en-US" sz="1800" b="1" dirty="0">
                <a:latin typeface="Courier New" charset="0"/>
              </a:rPr>
              <a:t>M[j] = max(</a:t>
            </a:r>
            <a:r>
              <a:rPr lang="en-US" sz="1800" b="1" dirty="0" err="1">
                <a:latin typeface="Courier New" charset="0"/>
              </a:rPr>
              <a:t>v</a:t>
            </a:r>
            <a:r>
              <a:rPr lang="en-US" sz="1800" b="1" baseline="-25000" dirty="0" err="1">
                <a:latin typeface="Courier New" charset="0"/>
              </a:rPr>
              <a:t>j</a:t>
            </a:r>
            <a:r>
              <a:rPr lang="en-US" sz="1800" b="1" dirty="0">
                <a:latin typeface="Courier New" charset="0"/>
              </a:rPr>
              <a:t> + M[p(j)], M[j-1])</a:t>
            </a:r>
          </a:p>
          <a:p>
            <a:r>
              <a:rPr lang="en-US" sz="1800" b="1" dirty="0">
                <a:latin typeface="Courier New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55394" y="2163979"/>
            <a:ext cx="18466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animBg="1"/>
    </p:bld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1143</TotalTime>
  <Words>1857</Words>
  <Application>Microsoft Macintosh PowerPoint</Application>
  <PresentationFormat>On-screen Show (4:3)</PresentationFormat>
  <Paragraphs>356</Paragraphs>
  <Slides>21</Slides>
  <Notes>19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Presentazione</vt:lpstr>
      <vt:lpstr>Equation</vt:lpstr>
      <vt:lpstr>UNIVERSITA’ DI MILANO-BICOCCA CdL IN INFORMATICA</vt:lpstr>
      <vt:lpstr>Algorithmic Paradigms</vt:lpstr>
      <vt:lpstr>Programmazione Dinamica</vt:lpstr>
      <vt:lpstr>Programmazione Dinamica</vt:lpstr>
      <vt:lpstr>Numeri di Fibonacci</vt:lpstr>
      <vt:lpstr>Programmazione Dinamica</vt:lpstr>
      <vt:lpstr>Programmazione Dinamica</vt:lpstr>
      <vt:lpstr>Programmazione Dinamica</vt:lpstr>
      <vt:lpstr>Dynamic Programming History</vt:lpstr>
      <vt:lpstr>Dynamic Programming Applications</vt:lpstr>
      <vt:lpstr>Weighted Interval Scheduling</vt:lpstr>
      <vt:lpstr>Unweighted Interval Scheduling Review</vt:lpstr>
      <vt:lpstr>Weighted Interval Scheduling</vt:lpstr>
      <vt:lpstr>Dynamic Programming:  Binary Choice</vt:lpstr>
      <vt:lpstr>Weighted Interval Scheduling</vt:lpstr>
      <vt:lpstr>Weighted Interval Scheduling:  Brute Force</vt:lpstr>
      <vt:lpstr>Weighted Interval Scheduling:  Memoization</vt:lpstr>
      <vt:lpstr>Weighted Interval Scheduling:  Running Time</vt:lpstr>
      <vt:lpstr>Automated Memoization</vt:lpstr>
      <vt:lpstr>Weighted Interval Scheduling: Finding a Solution</vt:lpstr>
      <vt:lpstr>Weighted Interval Scheduling: Bottom-Up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68</cp:revision>
  <cp:lastPrinted>2002-02-01T12:39:25Z</cp:lastPrinted>
  <dcterms:created xsi:type="dcterms:W3CDTF">2010-03-03T07:29:28Z</dcterms:created>
  <dcterms:modified xsi:type="dcterms:W3CDTF">2015-10-08T19:57:22Z</dcterms:modified>
</cp:coreProperties>
</file>