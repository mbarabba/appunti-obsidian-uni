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7" r:id="rId1"/>
  </p:sldMasterIdLst>
  <p:notesMasterIdLst>
    <p:notesMasterId r:id="rId32"/>
  </p:notesMasterIdLst>
  <p:handoutMasterIdLst>
    <p:handoutMasterId r:id="rId33"/>
  </p:handoutMasterIdLst>
  <p:sldIdLst>
    <p:sldId id="481" r:id="rId2"/>
    <p:sldId id="482" r:id="rId3"/>
    <p:sldId id="483" r:id="rId4"/>
    <p:sldId id="484" r:id="rId5"/>
    <p:sldId id="455" r:id="rId6"/>
    <p:sldId id="456" r:id="rId7"/>
    <p:sldId id="457" r:id="rId8"/>
    <p:sldId id="458" r:id="rId9"/>
    <p:sldId id="459" r:id="rId10"/>
    <p:sldId id="460" r:id="rId11"/>
    <p:sldId id="461" r:id="rId12"/>
    <p:sldId id="462" r:id="rId13"/>
    <p:sldId id="463" r:id="rId14"/>
    <p:sldId id="464" r:id="rId15"/>
    <p:sldId id="465" r:id="rId16"/>
    <p:sldId id="466" r:id="rId17"/>
    <p:sldId id="467" r:id="rId18"/>
    <p:sldId id="468" r:id="rId19"/>
    <p:sldId id="469" r:id="rId20"/>
    <p:sldId id="470" r:id="rId21"/>
    <p:sldId id="471" r:id="rId22"/>
    <p:sldId id="472" r:id="rId23"/>
    <p:sldId id="473" r:id="rId24"/>
    <p:sldId id="474" r:id="rId25"/>
    <p:sldId id="475" r:id="rId26"/>
    <p:sldId id="476" r:id="rId27"/>
    <p:sldId id="477" r:id="rId28"/>
    <p:sldId id="478" r:id="rId29"/>
    <p:sldId id="479" r:id="rId30"/>
    <p:sldId id="480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0"/>
    <a:srgbClr val="004070"/>
    <a:srgbClr val="005FA6"/>
    <a:srgbClr val="F97407"/>
    <a:srgbClr val="013C69"/>
    <a:srgbClr val="60E6E1"/>
    <a:srgbClr val="201FF0"/>
    <a:srgbClr val="3D9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19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handoutMaster" Target="handoutMasters/handoutMaster1.xml"/><Relationship Id="rId34" Type="http://schemas.openxmlformats.org/officeDocument/2006/relationships/printerSettings" Target="printerSettings/printerSettings1.bin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C0C0A947-1BBA-AD47-880C-8075A2EF103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45189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69DC7B21-583F-CD44-B53F-C88A2417C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8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fld id="{7D39BA04-5008-0745-BDA3-82A84C11E4B3}" type="slidenum">
              <a:rPr lang="en-US" sz="1200">
                <a:latin typeface="Tahoma" charset="0"/>
              </a:rPr>
              <a:pPr eaLnBrk="1" hangingPunct="1"/>
              <a:t>1</a:t>
            </a:fld>
            <a:endParaRPr lang="en-US" sz="1200">
              <a:latin typeface="Tahoma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72AEFF-0BD1-534D-A9F0-D9C8E8A063FE}" type="slidenum">
              <a:rPr lang="en-US"/>
              <a:pPr/>
              <a:t>5</a:t>
            </a:fld>
            <a:endParaRPr lang="en-US"/>
          </a:p>
        </p:txBody>
      </p:sp>
      <p:sp>
        <p:nvSpPr>
          <p:cNvPr id="6584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5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21440A-2693-594F-A319-16ACE26CA82F}" type="slidenum">
              <a:rPr lang="en-US"/>
              <a:pPr/>
              <a:t>6</a:t>
            </a:fld>
            <a:endParaRPr lang="en-US"/>
          </a:p>
        </p:txBody>
      </p:sp>
      <p:sp>
        <p:nvSpPr>
          <p:cNvPr id="6604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AB470F-8767-CB49-A386-654CC33021DF}" type="slidenum">
              <a:rPr lang="en-US"/>
              <a:pPr/>
              <a:t>7</a:t>
            </a:fld>
            <a:endParaRPr lang="en-US"/>
          </a:p>
        </p:txBody>
      </p:sp>
      <p:sp>
        <p:nvSpPr>
          <p:cNvPr id="6625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2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9F1674-25F8-5D42-92E8-43D54F74ADEE}" type="slidenum">
              <a:rPr lang="en-US"/>
              <a:pPr/>
              <a:t>8</a:t>
            </a:fld>
            <a:endParaRPr lang="en-US"/>
          </a:p>
        </p:txBody>
      </p:sp>
      <p:sp>
        <p:nvSpPr>
          <p:cNvPr id="66457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184B7C-EE3E-3C46-A0C9-3709F4193F62}" type="slidenum">
              <a:rPr lang="en-US"/>
              <a:pPr/>
              <a:t>9</a:t>
            </a:fld>
            <a:endParaRPr lang="en-US"/>
          </a:p>
        </p:txBody>
      </p:sp>
      <p:sp>
        <p:nvSpPr>
          <p:cNvPr id="66662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6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15A0AC-BC75-8047-8812-444981890639}" type="slidenum">
              <a:rPr lang="en-US"/>
              <a:pPr/>
              <a:t>10</a:t>
            </a:fld>
            <a:endParaRPr lang="en-US"/>
          </a:p>
        </p:txBody>
      </p:sp>
      <p:sp>
        <p:nvSpPr>
          <p:cNvPr id="66867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3E3EBA-3AA8-D34A-975E-4BDD7100A38C}" type="slidenum">
              <a:rPr lang="en-US"/>
              <a:pPr/>
              <a:t>11</a:t>
            </a:fld>
            <a:endParaRPr lang="en-US"/>
          </a:p>
        </p:txBody>
      </p:sp>
      <p:sp>
        <p:nvSpPr>
          <p:cNvPr id="67072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0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B58769-2CAC-B843-A641-22DB0FD40BEB}" type="slidenum">
              <a:rPr lang="en-US"/>
              <a:pPr/>
              <a:t>12</a:t>
            </a:fld>
            <a:endParaRPr lang="en-US"/>
          </a:p>
        </p:txBody>
      </p:sp>
      <p:sp>
        <p:nvSpPr>
          <p:cNvPr id="6727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2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68F7DA-45A6-AF48-961F-198EC9B3CF32}" type="slidenum">
              <a:rPr lang="en-US"/>
              <a:pPr/>
              <a:t>13</a:t>
            </a:fld>
            <a:endParaRPr lang="en-US"/>
          </a:p>
        </p:txBody>
      </p:sp>
      <p:sp>
        <p:nvSpPr>
          <p:cNvPr id="67481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7CA7E2-AC47-5A4F-9BC0-35F06F22E075}" type="slidenum">
              <a:rPr lang="en-US"/>
              <a:pPr/>
              <a:t>14</a:t>
            </a:fld>
            <a:endParaRPr lang="en-US"/>
          </a:p>
        </p:txBody>
      </p:sp>
      <p:sp>
        <p:nvSpPr>
          <p:cNvPr id="67686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94AEC5-DD18-E941-895E-CE2BA1E0116B}" type="slidenum">
              <a:rPr lang="en-US"/>
              <a:pPr/>
              <a:t>15</a:t>
            </a:fld>
            <a:endParaRPr lang="en-US"/>
          </a:p>
        </p:txBody>
      </p:sp>
      <p:sp>
        <p:nvSpPr>
          <p:cNvPr id="67891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99D6B1-E501-634A-A258-4E01E02109B8}" type="slidenum">
              <a:rPr lang="en-US"/>
              <a:pPr/>
              <a:t>16</a:t>
            </a:fld>
            <a:endParaRPr lang="en-US"/>
          </a:p>
        </p:txBody>
      </p:sp>
      <p:sp>
        <p:nvSpPr>
          <p:cNvPr id="68096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80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36B8-CCC1-844C-A05C-A87DAADB7976}" type="slidenum">
              <a:rPr lang="en-US"/>
              <a:pPr/>
              <a:t>17</a:t>
            </a:fld>
            <a:endParaRPr lang="en-US"/>
          </a:p>
        </p:txBody>
      </p:sp>
      <p:sp>
        <p:nvSpPr>
          <p:cNvPr id="68301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7D6AAE-ECBC-644A-8DB5-3371FC1F1CAF}" type="slidenum">
              <a:rPr lang="en-US"/>
              <a:pPr/>
              <a:t>18</a:t>
            </a:fld>
            <a:endParaRPr lang="en-US"/>
          </a:p>
        </p:txBody>
      </p:sp>
      <p:sp>
        <p:nvSpPr>
          <p:cNvPr id="68505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FF59F8-C9A0-D745-89AF-463B2DD79FB1}" type="slidenum">
              <a:rPr lang="en-US"/>
              <a:pPr/>
              <a:t>19</a:t>
            </a:fld>
            <a:endParaRPr lang="en-US"/>
          </a:p>
        </p:txBody>
      </p:sp>
      <p:sp>
        <p:nvSpPr>
          <p:cNvPr id="68710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87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D61718-5D4A-1049-9543-0DB7D522D84D}" type="slidenum">
              <a:rPr lang="en-US"/>
              <a:pPr/>
              <a:t>20</a:t>
            </a:fld>
            <a:endParaRPr lang="en-US"/>
          </a:p>
        </p:txBody>
      </p:sp>
      <p:sp>
        <p:nvSpPr>
          <p:cNvPr id="6891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891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931B41-E5D0-6A46-B9B3-47F4AF923DB0}" type="slidenum">
              <a:rPr lang="en-US"/>
              <a:pPr/>
              <a:t>21</a:t>
            </a:fld>
            <a:endParaRPr lang="en-US"/>
          </a:p>
        </p:txBody>
      </p:sp>
      <p:sp>
        <p:nvSpPr>
          <p:cNvPr id="69120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912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F00EE9-58F0-0145-9F74-AB0BEC94E477}" type="slidenum">
              <a:rPr lang="en-US"/>
              <a:pPr/>
              <a:t>22</a:t>
            </a:fld>
            <a:endParaRPr lang="en-US"/>
          </a:p>
        </p:txBody>
      </p:sp>
      <p:sp>
        <p:nvSpPr>
          <p:cNvPr id="69325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932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C505F8-BDA5-5545-B7E5-4C31F515C08C}" type="slidenum">
              <a:rPr lang="en-US"/>
              <a:pPr/>
              <a:t>23</a:t>
            </a:fld>
            <a:endParaRPr lang="en-US"/>
          </a:p>
        </p:txBody>
      </p:sp>
      <p:sp>
        <p:nvSpPr>
          <p:cNvPr id="69529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952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568C83-B34A-AB4E-A9B4-E0D3F7F3D59F}" type="slidenum">
              <a:rPr lang="en-US"/>
              <a:pPr/>
              <a:t>24</a:t>
            </a:fld>
            <a:endParaRPr lang="en-US"/>
          </a:p>
        </p:txBody>
      </p:sp>
      <p:sp>
        <p:nvSpPr>
          <p:cNvPr id="69734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973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7EE53-9D54-974D-901E-AE552D774099}" type="slidenum">
              <a:rPr lang="en-US"/>
              <a:pPr/>
              <a:t>25</a:t>
            </a:fld>
            <a:endParaRPr lang="en-US"/>
          </a:p>
        </p:txBody>
      </p:sp>
      <p:sp>
        <p:nvSpPr>
          <p:cNvPr id="6993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9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B61636-E236-184C-AF41-97FE742C29FE}" type="slidenum">
              <a:rPr lang="en-US"/>
              <a:pPr/>
              <a:t>26</a:t>
            </a:fld>
            <a:endParaRPr lang="en-US"/>
          </a:p>
        </p:txBody>
      </p:sp>
      <p:sp>
        <p:nvSpPr>
          <p:cNvPr id="70144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44F375-496B-E04F-A2A0-B28D23216BEB}" type="slidenum">
              <a:rPr lang="en-US"/>
              <a:pPr/>
              <a:t>27</a:t>
            </a:fld>
            <a:endParaRPr lang="en-US"/>
          </a:p>
        </p:txBody>
      </p:sp>
      <p:sp>
        <p:nvSpPr>
          <p:cNvPr id="7034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4698ED-6E04-194E-913A-C08A68DBDD04}" type="slidenum">
              <a:rPr lang="en-US"/>
              <a:pPr/>
              <a:t>28</a:t>
            </a:fld>
            <a:endParaRPr lang="en-US"/>
          </a:p>
        </p:txBody>
      </p:sp>
      <p:sp>
        <p:nvSpPr>
          <p:cNvPr id="70553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0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312ECD-AF76-D34B-BA00-CE8E44AFCF94}" type="slidenum">
              <a:rPr lang="en-US"/>
              <a:pPr/>
              <a:t>29</a:t>
            </a:fld>
            <a:endParaRPr lang="en-US"/>
          </a:p>
        </p:txBody>
      </p:sp>
      <p:sp>
        <p:nvSpPr>
          <p:cNvPr id="70758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07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21D789-2D56-F449-8540-2944DFECC926}" type="slidenum">
              <a:rPr lang="en-US"/>
              <a:pPr/>
              <a:t>30</a:t>
            </a:fld>
            <a:endParaRPr lang="en-US"/>
          </a:p>
        </p:txBody>
      </p:sp>
      <p:sp>
        <p:nvSpPr>
          <p:cNvPr id="7096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096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906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304800"/>
            <a:ext cx="7772400" cy="1143000"/>
          </a:xfrm>
        </p:spPr>
        <p:txBody>
          <a:bodyPr/>
          <a:lstStyle>
            <a:lvl1pPr algn="ctr">
              <a:defRPr sz="2800">
                <a:solidFill>
                  <a:schemeClr val="folHlink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90800"/>
            <a:ext cx="7010400" cy="3352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120000"/>
              </a:spcBef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321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184576"/>
          </a:xfrm>
        </p:spPr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72400" y="6525344"/>
            <a:ext cx="720080" cy="272752"/>
          </a:xfrm>
          <a:prstGeom prst="rect">
            <a:avLst/>
          </a:prstGeom>
          <a:ln/>
        </p:spPr>
        <p:txBody>
          <a:bodyPr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fld id="{A5CB7864-E48A-A24E-9D04-923EB4B530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1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586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24014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1250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0897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/>
          <p:cNvSpPr>
            <a:spLocks noChangeArrowheads="1"/>
          </p:cNvSpPr>
          <p:nvPr userDrawn="1"/>
        </p:nvSpPr>
        <p:spPr bwMode="auto">
          <a:xfrm>
            <a:off x="107504" y="6381328"/>
            <a:ext cx="8892480" cy="38735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1000" b="1" dirty="0"/>
              <a:t>Introduzione agli algoritmi e strutture dati 2/ed</a:t>
            </a:r>
            <a:r>
              <a:rPr lang="it-IT" sz="1000" dirty="0"/>
              <a:t/>
            </a:r>
            <a:br>
              <a:rPr lang="it-IT" sz="1000" dirty="0"/>
            </a:br>
            <a:r>
              <a:rPr lang="it-IT" sz="1000" dirty="0"/>
              <a:t>T. H. </a:t>
            </a:r>
            <a:r>
              <a:rPr lang="it-IT" sz="1000" dirty="0" err="1"/>
              <a:t>Cormen</a:t>
            </a:r>
            <a:r>
              <a:rPr lang="it-IT" sz="1000" dirty="0"/>
              <a:t>, C. E. </a:t>
            </a:r>
            <a:r>
              <a:rPr lang="it-IT" sz="1000" dirty="0" err="1"/>
              <a:t>Leiserson</a:t>
            </a:r>
            <a:r>
              <a:rPr lang="it-IT" sz="1000" dirty="0"/>
              <a:t>, </a:t>
            </a:r>
            <a:r>
              <a:rPr lang="it-IT" sz="1000" dirty="0" err="1"/>
              <a:t>R</a:t>
            </a:r>
            <a:r>
              <a:rPr lang="it-IT" sz="1000" dirty="0"/>
              <a:t>. L. </a:t>
            </a:r>
            <a:r>
              <a:rPr lang="it-IT" sz="1000" dirty="0" err="1"/>
              <a:t>Rivest</a:t>
            </a:r>
            <a:r>
              <a:rPr lang="it-IT" sz="1000" dirty="0"/>
              <a:t>, C. Stein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179512" y="188640"/>
            <a:ext cx="8617272" cy="959768"/>
            <a:chOff x="203200" y="381000"/>
            <a:chExt cx="8556625" cy="1052513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ltGray">
            <a:xfrm>
              <a:off x="493713" y="488950"/>
              <a:ext cx="438150" cy="4746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7" name="Rectangle 3"/>
            <p:cNvSpPr>
              <a:spLocks noChangeArrowheads="1"/>
            </p:cNvSpPr>
            <p:nvPr/>
          </p:nvSpPr>
          <p:spPr bwMode="ltGray">
            <a:xfrm>
              <a:off x="876300" y="488950"/>
              <a:ext cx="328613" cy="474663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8" name="Rectangle 4"/>
            <p:cNvSpPr>
              <a:spLocks noChangeArrowheads="1"/>
            </p:cNvSpPr>
            <p:nvPr/>
          </p:nvSpPr>
          <p:spPr bwMode="ltGray">
            <a:xfrm>
              <a:off x="617538" y="911225"/>
              <a:ext cx="422275" cy="47466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9" name="Rectangle 5"/>
            <p:cNvSpPr>
              <a:spLocks noChangeArrowheads="1"/>
            </p:cNvSpPr>
            <p:nvPr/>
          </p:nvSpPr>
          <p:spPr bwMode="ltGray">
            <a:xfrm>
              <a:off x="987425" y="911225"/>
              <a:ext cx="368300" cy="474663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ltGray">
            <a:xfrm>
              <a:off x="203200" y="838200"/>
              <a:ext cx="560388" cy="42227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gray">
            <a:xfrm>
              <a:off x="838200" y="381000"/>
              <a:ext cx="31750" cy="105251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gray">
            <a:xfrm>
              <a:off x="533400" y="1143000"/>
              <a:ext cx="8226425" cy="3175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</p:grp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87624" y="260648"/>
            <a:ext cx="75358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96752"/>
            <a:ext cx="8424936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9" descr="McGraw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448" y="6400315"/>
            <a:ext cx="4143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6251-7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88640"/>
            <a:ext cx="560387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8" r:id="rId2"/>
    <p:sldLayoutId id="2147483720" r:id="rId3"/>
    <p:sldLayoutId id="2147483721" r:id="rId4"/>
    <p:sldLayoutId id="2147483722" r:id="rId5"/>
    <p:sldLayoutId id="2147483723" r:id="rId6"/>
  </p:sldLayoutIdLs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 build="p" bldLvl="3" autoUpdateAnimBg="0">
        <p:tmplLst>
          <p:tmpl lvl="1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/>
          <a:ea typeface="ＭＳ Ｐゴシック" charset="-128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charset="0"/>
        <a:buChar char="Ø"/>
        <a:defRPr sz="2400">
          <a:solidFill>
            <a:srgbClr val="201FF0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Clr>
          <a:schemeClr val="folHlink"/>
        </a:buClr>
        <a:buSzPct val="95000"/>
        <a:buFont typeface="Wingdings" charset="0"/>
        <a:buChar char="ü"/>
        <a:defRPr sz="2000">
          <a:solidFill>
            <a:schemeClr val="hlink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it-IT">
                <a:ea typeface="ＭＳ Ｐゴシック" charset="0"/>
                <a:cs typeface="ＭＳ Ｐゴシック" charset="0"/>
              </a:rPr>
              <a:t>UNIVERSITA’ DI MILANO-BICOCCA</a:t>
            </a:r>
            <a:br>
              <a:rPr lang="it-IT">
                <a:ea typeface="ＭＳ Ｐゴシック" charset="0"/>
                <a:cs typeface="ＭＳ Ｐゴシック" charset="0"/>
              </a:rPr>
            </a:br>
            <a:r>
              <a:rPr lang="it-IT">
                <a:ea typeface="ＭＳ Ｐゴシック" charset="0"/>
                <a:cs typeface="ＭＳ Ｐゴシック" charset="0"/>
              </a:rPr>
              <a:t>CdL IN INFORMATICA</a:t>
            </a:r>
          </a:p>
        </p:txBody>
      </p:sp>
      <p:sp>
        <p:nvSpPr>
          <p:cNvPr id="15362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043608" y="2204864"/>
            <a:ext cx="7086600" cy="3886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dirty="0">
                <a:latin typeface="Comic Sans MS" charset="0"/>
                <a:ea typeface="ＭＳ Ｐゴシック" charset="0"/>
                <a:cs typeface="ＭＳ Ｐゴシック" charset="0"/>
              </a:rPr>
              <a:t>Corso di</a:t>
            </a:r>
          </a:p>
          <a:p>
            <a:pPr eaLnBrk="1" hangingPunct="1">
              <a:spcBef>
                <a:spcPts val="1200"/>
              </a:spcBef>
            </a:pPr>
            <a:r>
              <a:rPr lang="it-IT" sz="2800" b="1" dirty="0">
                <a:solidFill>
                  <a:srgbClr val="FF0000"/>
                </a:solidFill>
              </a:rPr>
              <a:t>ANALISI E PROGETTO DI </a:t>
            </a:r>
            <a:r>
              <a:rPr lang="it-IT" sz="2800" b="1" dirty="0" smtClean="0">
                <a:solidFill>
                  <a:srgbClr val="FF0000"/>
                </a:solidFill>
              </a:rPr>
              <a:t>ALGORITMI</a:t>
            </a:r>
            <a:endParaRPr lang="it-IT" sz="2800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>
                <a:latin typeface="Comic Sans MS" charset="0"/>
                <a:ea typeface="ＭＳ Ｐゴシック" charset="0"/>
              </a:rPr>
              <a:t>Prof. Giancarlo Mauri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Lezione 14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r>
              <a:rPr lang="it-IT" dirty="0">
                <a:solidFill>
                  <a:srgbClr val="008000"/>
                </a:solidFill>
              </a:rPr>
              <a:t>Visita di grafi - Algoritmo </a:t>
            </a:r>
            <a:r>
              <a:rPr lang="it-IT" dirty="0" smtClean="0">
                <a:solidFill>
                  <a:srgbClr val="008000"/>
                </a:solidFill>
              </a:rPr>
              <a:t>BFS</a:t>
            </a:r>
            <a:endParaRPr lang="it-IT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0356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Algoritmi di visita di grafi</a:t>
            </a:r>
            <a:endParaRPr lang="it-IT" dirty="0"/>
          </a:p>
        </p:txBody>
      </p:sp>
      <p:sp>
        <p:nvSpPr>
          <p:cNvPr id="23555" name="Segnaposto contenut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it-IT" dirty="0" smtClean="0"/>
              <a:t>Esistono due tecniche per visitare un grafo</a:t>
            </a:r>
          </a:p>
          <a:p>
            <a:pPr lvl="1"/>
            <a:r>
              <a:rPr lang="it-IT" dirty="0" smtClean="0"/>
              <a:t>Ricerca in ampiezza (BFS)</a:t>
            </a:r>
          </a:p>
          <a:p>
            <a:pPr lvl="2"/>
            <a:r>
              <a:rPr lang="it-IT" dirty="0" smtClean="0"/>
              <a:t>Visita tutti i nodi adiacenti a un dato nodo, prima di continuare la visita in profondità</a:t>
            </a:r>
          </a:p>
          <a:p>
            <a:pPr lvl="1"/>
            <a:r>
              <a:rPr lang="it-IT" dirty="0" smtClean="0"/>
              <a:t>Ricerca in profondità (DFS)</a:t>
            </a:r>
          </a:p>
          <a:p>
            <a:pPr lvl="2"/>
            <a:r>
              <a:rPr lang="it-IT" dirty="0" smtClean="0"/>
              <a:t>Va avanti nella visita finché può, prima di tornare indietro a visitare in profondità ogni nodo adiacente al nodo iniziale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277929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Algoritmi di visita di grafi</a:t>
            </a:r>
          </a:p>
        </p:txBody>
      </p:sp>
      <p:sp>
        <p:nvSpPr>
          <p:cNvPr id="24579" name="Segnaposto contenuto 4"/>
          <p:cNvSpPr>
            <a:spLocks noGrp="1"/>
          </p:cNvSpPr>
          <p:nvPr>
            <p:ph sz="half" idx="4294967295"/>
          </p:nvPr>
        </p:nvSpPr>
        <p:spPr>
          <a:xfrm>
            <a:off x="251520" y="1412776"/>
            <a:ext cx="3995936" cy="647973"/>
          </a:xfrm>
        </p:spPr>
        <p:txBody>
          <a:bodyPr/>
          <a:lstStyle/>
          <a:p>
            <a:pPr eaLnBrk="1" hangingPunct="1">
              <a:buFont typeface="Wingdings 2" charset="0"/>
              <a:buNone/>
            </a:pPr>
            <a:r>
              <a:rPr lang="it-IT" dirty="0"/>
              <a:t>BFS (visita in ampiezza)</a:t>
            </a:r>
          </a:p>
        </p:txBody>
      </p:sp>
      <p:sp>
        <p:nvSpPr>
          <p:cNvPr id="24580" name="Segnaposto contenuto 5"/>
          <p:cNvSpPr>
            <a:spLocks noGrp="1"/>
          </p:cNvSpPr>
          <p:nvPr>
            <p:ph sz="half" idx="4294967295"/>
          </p:nvPr>
        </p:nvSpPr>
        <p:spPr>
          <a:xfrm>
            <a:off x="5050876" y="1412776"/>
            <a:ext cx="3841604" cy="648072"/>
          </a:xfrm>
        </p:spPr>
        <p:txBody>
          <a:bodyPr/>
          <a:lstStyle/>
          <a:p>
            <a:pPr eaLnBrk="1" hangingPunct="1">
              <a:buFont typeface="Wingdings 2" charset="0"/>
              <a:buNone/>
            </a:pPr>
            <a:r>
              <a:rPr lang="it-IT" dirty="0"/>
              <a:t>DFS (visita in profondità)</a:t>
            </a:r>
          </a:p>
        </p:txBody>
      </p:sp>
      <p:pic>
        <p:nvPicPr>
          <p:cNvPr id="24581" name="Immagine 6" descr="BFS.bm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895" y="1827114"/>
            <a:ext cx="3006725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Immagine 7" descr="DFS.bmp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1857375"/>
            <a:ext cx="2957513" cy="435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88005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Algoritmi di visita di grafi: </a:t>
            </a:r>
            <a:r>
              <a:rPr lang="it-IT" dirty="0" smtClean="0"/>
              <a:t>BFS</a:t>
            </a:r>
            <a:endParaRPr lang="it-IT" dirty="0"/>
          </a:p>
        </p:txBody>
      </p:sp>
      <p:sp>
        <p:nvSpPr>
          <p:cNvPr id="25603" name="Segnaposto contenuto 2"/>
          <p:cNvSpPr>
            <a:spLocks noGrp="1"/>
          </p:cNvSpPr>
          <p:nvPr>
            <p:ph sz="quarter" idx="1"/>
          </p:nvPr>
        </p:nvSpPr>
        <p:spPr>
          <a:xfrm>
            <a:off x="251520" y="1196752"/>
            <a:ext cx="8712968" cy="5184576"/>
          </a:xfrm>
        </p:spPr>
        <p:txBody>
          <a:bodyPr/>
          <a:lstStyle/>
          <a:p>
            <a:r>
              <a:rPr lang="it-IT" dirty="0" smtClean="0"/>
              <a:t>L</a:t>
            </a:r>
            <a:r>
              <a:rPr lang="ja-JP" altLang="it-IT" dirty="0" smtClean="0"/>
              <a:t>’</a:t>
            </a:r>
            <a:r>
              <a:rPr lang="it-IT" dirty="0" smtClean="0"/>
              <a:t>algoritmo BFS usa una coda per </a:t>
            </a:r>
            <a:r>
              <a:rPr lang="it-IT" dirty="0" smtClean="0"/>
              <a:t>decidere il nodo successivo da esplorare </a:t>
            </a:r>
          </a:p>
          <a:p>
            <a:r>
              <a:rPr lang="it-IT" dirty="0" smtClean="0"/>
              <a:t>Per </a:t>
            </a:r>
            <a:r>
              <a:rPr lang="it-IT" dirty="0" smtClean="0"/>
              <a:t>evitare di passare due volte dallo stesso nodo, usa una variabile </a:t>
            </a:r>
            <a:r>
              <a:rPr lang="ja-JP" altLang="it-IT" dirty="0" smtClean="0"/>
              <a:t>“</a:t>
            </a:r>
            <a:r>
              <a:rPr lang="it-IT" dirty="0" smtClean="0"/>
              <a:t>colore</a:t>
            </a:r>
            <a:r>
              <a:rPr lang="ja-JP" altLang="it-IT" dirty="0" smtClean="0"/>
              <a:t>”</a:t>
            </a:r>
            <a:r>
              <a:rPr lang="it-IT" dirty="0" smtClean="0"/>
              <a:t>:</a:t>
            </a:r>
          </a:p>
          <a:p>
            <a:pPr lvl="1"/>
            <a:r>
              <a:rPr lang="it-IT" dirty="0" smtClean="0"/>
              <a:t>	bianco, se il nodo non è </a:t>
            </a:r>
            <a:r>
              <a:rPr lang="it-IT" dirty="0" smtClean="0"/>
              <a:t>ancora stato </a:t>
            </a:r>
            <a:r>
              <a:rPr lang="it-IT" dirty="0" smtClean="0"/>
              <a:t>esplorato</a:t>
            </a:r>
          </a:p>
          <a:p>
            <a:pPr lvl="1"/>
            <a:r>
              <a:rPr lang="it-IT" dirty="0" smtClean="0"/>
              <a:t>	grigio, se </a:t>
            </a:r>
            <a:r>
              <a:rPr lang="it-IT" dirty="0" smtClean="0"/>
              <a:t>è </a:t>
            </a:r>
            <a:r>
              <a:rPr lang="it-IT" dirty="0" smtClean="0"/>
              <a:t>stato </a:t>
            </a:r>
            <a:r>
              <a:rPr lang="it-IT" dirty="0" smtClean="0"/>
              <a:t>esplorato il nodo, </a:t>
            </a:r>
            <a:r>
              <a:rPr lang="it-IT" dirty="0" smtClean="0"/>
              <a:t>ma non </a:t>
            </a:r>
            <a:r>
              <a:rPr lang="it-IT" dirty="0" smtClean="0"/>
              <a:t>tutti i </a:t>
            </a:r>
            <a:r>
              <a:rPr lang="it-IT" dirty="0" smtClean="0"/>
              <a:t>suoi adiacenti</a:t>
            </a:r>
          </a:p>
          <a:p>
            <a:pPr lvl="1"/>
            <a:r>
              <a:rPr lang="it-IT" dirty="0" smtClean="0"/>
              <a:t>	nero, se sono stati esplorati sia il nodo che i suoi adiacenti</a:t>
            </a:r>
          </a:p>
          <a:p>
            <a:r>
              <a:rPr lang="it-IT" dirty="0" smtClean="0"/>
              <a:t>Ci sono dei puntatori per </a:t>
            </a:r>
            <a:r>
              <a:rPr lang="it-IT" dirty="0" smtClean="0"/>
              <a:t>individuare il </a:t>
            </a:r>
            <a:r>
              <a:rPr lang="it-IT" dirty="0" smtClean="0"/>
              <a:t>padre </a:t>
            </a:r>
            <a:r>
              <a:rPr lang="it-IT" dirty="0" smtClean="0"/>
              <a:t>di ogni nodo</a:t>
            </a:r>
            <a:endParaRPr lang="it-IT" dirty="0" smtClean="0"/>
          </a:p>
          <a:p>
            <a:r>
              <a:rPr lang="it-IT" dirty="0" smtClean="0"/>
              <a:t>C</a:t>
            </a:r>
            <a:r>
              <a:rPr lang="ja-JP" altLang="it-IT" dirty="0" smtClean="0"/>
              <a:t>’</a:t>
            </a:r>
            <a:r>
              <a:rPr lang="it-IT" dirty="0" smtClean="0"/>
              <a:t>è una variabile intera che indica la distanza radice-nodo	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072078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Ricerca in ampiezza (BFS)</a:t>
            </a:r>
          </a:p>
        </p:txBody>
      </p:sp>
      <p:sp>
        <p:nvSpPr>
          <p:cNvPr id="65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Dato un grafo </a:t>
            </a:r>
            <a:r>
              <a:rPr lang="it-IT" dirty="0">
                <a:solidFill>
                  <a:srgbClr val="FF0000"/>
                </a:solidFill>
              </a:rPr>
              <a:t>G = (V,E)</a:t>
            </a:r>
            <a:r>
              <a:rPr lang="it-IT" dirty="0"/>
              <a:t> ed un vertice </a:t>
            </a:r>
            <a:r>
              <a:rPr lang="it-IT" dirty="0" err="1">
                <a:solidFill>
                  <a:srgbClr val="FF0000"/>
                </a:solidFill>
              </a:rPr>
              <a:t>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 </a:t>
            </a:r>
            <a:r>
              <a:rPr lang="it-IT" dirty="0">
                <a:solidFill>
                  <a:srgbClr val="FF0000"/>
                </a:solidFill>
              </a:rPr>
              <a:t>V</a:t>
            </a:r>
            <a:r>
              <a:rPr lang="it-IT" dirty="0"/>
              <a:t> la ricerca in ampiezza visita sistematicamente, partendo dalla sorgente </a:t>
            </a:r>
            <a:r>
              <a:rPr lang="it-IT" dirty="0" err="1">
                <a:solidFill>
                  <a:srgbClr val="FF0000"/>
                </a:solidFill>
              </a:rPr>
              <a:t>s</a:t>
            </a:r>
            <a:r>
              <a:rPr lang="it-IT" dirty="0"/>
              <a:t>, il grafo per scoprire tutti i vertici che sono raggiungibili da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endParaRPr lang="it-IT" dirty="0"/>
          </a:p>
          <a:p>
            <a:r>
              <a:rPr lang="it-IT" dirty="0"/>
              <a:t>Nel contempo calcola la distanza di ogni vertice del grafo dalla sorgente </a:t>
            </a:r>
            <a:r>
              <a:rPr lang="it-IT" dirty="0" err="1">
                <a:solidFill>
                  <a:srgbClr val="FF0000"/>
                </a:solidFill>
              </a:rPr>
              <a:t>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(lunghezza minima di un cammino dalla sorgente al vertice</a:t>
            </a:r>
            <a:r>
              <a:rPr lang="it-IT" dirty="0" smtClean="0"/>
              <a:t>)</a:t>
            </a:r>
            <a:endParaRPr lang="it-IT" dirty="0"/>
          </a:p>
          <a:p>
            <a:r>
              <a:rPr lang="it-IT" dirty="0"/>
              <a:t>Esso produce anche l’albero della ricerca in ampiezza i cui rami sono cammini di lunghezza </a:t>
            </a:r>
            <a:r>
              <a:rPr lang="it-IT" dirty="0" smtClean="0"/>
              <a:t>minima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Ricerca in ampiezza (BFS)</a:t>
            </a:r>
          </a:p>
        </p:txBody>
      </p:sp>
      <p:sp>
        <p:nvSpPr>
          <p:cNvPr id="65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La ricerca viene detta in ampiezza perché l’algoritmo espande uniformemente la frontiera tra i vertici scoperti e quelli non ancora </a:t>
            </a:r>
            <a:r>
              <a:rPr lang="it-IT" dirty="0" smtClean="0"/>
              <a:t>scoperti</a:t>
            </a:r>
            <a:endParaRPr lang="it-IT" dirty="0"/>
          </a:p>
          <a:p>
            <a:r>
              <a:rPr lang="it-IT" dirty="0"/>
              <a:t>In altre parole scopre tutti i vertici a distanza k da </a:t>
            </a:r>
            <a:r>
              <a:rPr lang="it-IT" dirty="0" err="1">
                <a:solidFill>
                  <a:srgbClr val="FF0000"/>
                </a:solidFill>
              </a:rPr>
              <a:t>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prima di scoprire quelli a distanza k+</a:t>
            </a:r>
            <a:r>
              <a:rPr lang="it-IT" dirty="0" smtClean="0"/>
              <a:t>1</a:t>
            </a:r>
            <a:endParaRPr lang="it-IT" dirty="0"/>
          </a:p>
          <a:p>
            <a:r>
              <a:rPr lang="it-IT" dirty="0"/>
              <a:t>Per mantenere traccia del punto a cui si è arrivati nell’esecuzione dell’algoritmo i vertici sono colorati bianco (vertici non ancora raggiunti), grigio (vertici raggiunti che stanno sulla frontiera) e nero (vertici raggiunti che non stanno sulla frontiera</a:t>
            </a:r>
            <a:r>
              <a:rPr lang="it-IT" dirty="0" smtClean="0"/>
              <a:t>)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Ricerca in ampiezza (BFS)</a:t>
            </a:r>
          </a:p>
        </p:txBody>
      </p:sp>
      <p:sp>
        <p:nvSpPr>
          <p:cNvPr id="66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 vertici adiacenti ad un vertice nero possono essere soltanto neri o grigi mentre quelli adiacenti ad un vertice grigio possono essere anche </a:t>
            </a:r>
            <a:r>
              <a:rPr lang="it-IT" dirty="0" smtClean="0"/>
              <a:t>bianchi</a:t>
            </a:r>
            <a:endParaRPr lang="it-IT" dirty="0"/>
          </a:p>
          <a:p>
            <a:r>
              <a:rPr lang="it-IT" dirty="0"/>
              <a:t>L’algoritmo costruisce un albero che all’inizio contiene soltanto la radice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endParaRPr lang="it-IT" dirty="0">
              <a:solidFill>
                <a:srgbClr val="FF0000"/>
              </a:solidFill>
            </a:endParaRPr>
          </a:p>
          <a:p>
            <a:r>
              <a:rPr lang="it-IT" dirty="0"/>
              <a:t>Quando viene scoperto un vertice bianco </a:t>
            </a:r>
            <a:r>
              <a:rPr lang="it-IT" dirty="0">
                <a:solidFill>
                  <a:srgbClr val="FF0000"/>
                </a:solidFill>
              </a:rPr>
              <a:t>v</a:t>
            </a:r>
            <a:r>
              <a:rPr lang="it-IT" dirty="0"/>
              <a:t> </a:t>
            </a:r>
            <a:r>
              <a:rPr lang="it-IT" dirty="0" smtClean="0"/>
              <a:t>grazie a un </a:t>
            </a:r>
            <a:r>
              <a:rPr lang="it-IT" dirty="0"/>
              <a:t>arco </a:t>
            </a:r>
            <a:r>
              <a:rPr lang="it-IT" dirty="0" err="1">
                <a:solidFill>
                  <a:srgbClr val="FF0000"/>
                </a:solidFill>
              </a:rPr>
              <a:t>uv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che lo connette ad un vertice </a:t>
            </a:r>
            <a:r>
              <a:rPr lang="it-IT" dirty="0">
                <a:solidFill>
                  <a:srgbClr val="FF0000"/>
                </a:solidFill>
              </a:rPr>
              <a:t>u</a:t>
            </a:r>
            <a:r>
              <a:rPr lang="it-IT" dirty="0"/>
              <a:t> scoperto </a:t>
            </a:r>
            <a:r>
              <a:rPr lang="it-IT" dirty="0" smtClean="0"/>
              <a:t>precedentemente, </a:t>
            </a:r>
            <a:r>
              <a:rPr lang="it-IT" dirty="0"/>
              <a:t>il vertice </a:t>
            </a:r>
            <a:r>
              <a:rPr lang="it-IT" dirty="0">
                <a:solidFill>
                  <a:srgbClr val="FF0000"/>
                </a:solidFill>
              </a:rPr>
              <a:t>v</a:t>
            </a:r>
            <a:r>
              <a:rPr lang="it-IT" dirty="0"/>
              <a:t> e l’arco </a:t>
            </a:r>
            <a:r>
              <a:rPr lang="it-IT" dirty="0" err="1">
                <a:solidFill>
                  <a:srgbClr val="FF0000"/>
                </a:solidFill>
              </a:rPr>
              <a:t>uv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vengono aggiunti </a:t>
            </a:r>
            <a:r>
              <a:rPr lang="it-IT" dirty="0" smtClean="0"/>
              <a:t>all’albero</a:t>
            </a:r>
            <a:endParaRPr lang="it-IT" dirty="0"/>
          </a:p>
          <a:p>
            <a:r>
              <a:rPr lang="it-IT" dirty="0"/>
              <a:t>Il vertice </a:t>
            </a:r>
            <a:r>
              <a:rPr lang="it-IT" dirty="0">
                <a:solidFill>
                  <a:srgbClr val="FF0000"/>
                </a:solidFill>
              </a:rPr>
              <a:t>u</a:t>
            </a:r>
            <a:r>
              <a:rPr lang="it-IT" dirty="0"/>
              <a:t> viene detto padre di </a:t>
            </a:r>
            <a:r>
              <a:rPr lang="it-IT" dirty="0" smtClean="0">
                <a:solidFill>
                  <a:srgbClr val="FF0000"/>
                </a:solidFill>
              </a:rPr>
              <a:t>v</a:t>
            </a:r>
            <a:endParaRPr lang="it-IT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55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Ricerca in ampiezza (BFS)</a:t>
            </a:r>
          </a:p>
        </p:txBody>
      </p:sp>
      <p:sp>
        <p:nvSpPr>
          <p:cNvPr id="66355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La realizzazione seguente dell’algoritmo di ricerca in ampiezza assume che il grafo sia rappresentato con liste di adiacenza ed usa una coda </a:t>
            </a:r>
            <a:r>
              <a:rPr lang="it-IT" dirty="0" err="1">
                <a:solidFill>
                  <a:srgbClr val="FF0000"/>
                </a:solidFill>
              </a:rPr>
              <a:t>Q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di vertici in cui memorizza la </a:t>
            </a:r>
            <a:r>
              <a:rPr lang="it-IT" dirty="0" smtClean="0"/>
              <a:t>frontiera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2" name="Text Box 2"/>
          <p:cNvSpPr txBox="1">
            <a:spLocks noChangeArrowheads="1"/>
          </p:cNvSpPr>
          <p:nvPr/>
        </p:nvSpPr>
        <p:spPr bwMode="auto">
          <a:xfrm>
            <a:off x="755576" y="1196752"/>
            <a:ext cx="7696200" cy="48641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400" b="1" i="1" dirty="0">
                <a:latin typeface="Times New Roman" charset="0"/>
                <a:sym typeface="Symbol" charset="0"/>
              </a:rPr>
              <a:t>BFS</a:t>
            </a:r>
            <a:r>
              <a:rPr lang="it-IT" sz="2400" b="1" dirty="0">
                <a:latin typeface="Times New Roman" charset="0"/>
                <a:sym typeface="Symbol" charset="0"/>
              </a:rPr>
              <a:t>(</a:t>
            </a:r>
            <a:r>
              <a:rPr lang="it-IT" sz="2400" b="1" i="1" dirty="0">
                <a:latin typeface="Times New Roman" charset="0"/>
                <a:sym typeface="Symbol" charset="0"/>
              </a:rPr>
              <a:t>G</a:t>
            </a:r>
            <a:r>
              <a:rPr lang="it-IT" sz="2400" b="1" dirty="0">
                <a:latin typeface="Times New Roman" charset="0"/>
                <a:sym typeface="Symbol" charset="0"/>
              </a:rPr>
              <a:t>, 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400" b="1" dirty="0">
                <a:latin typeface="Times New Roman" charset="0"/>
                <a:sym typeface="Symbol" charset="0"/>
              </a:rPr>
              <a:t>)</a:t>
            </a: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for “ogni vertice </a:t>
            </a:r>
            <a:r>
              <a:rPr lang="it-IT" sz="2400" b="1" i="1" dirty="0"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latin typeface="Times New Roman" charset="0"/>
                <a:sym typeface="Symbol" charset="0"/>
              </a:rPr>
              <a:t>  </a:t>
            </a:r>
            <a:r>
              <a:rPr lang="it-IT" sz="2400" b="1" i="1" dirty="0"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latin typeface="Times New Roman" charset="0"/>
                <a:sym typeface="Symbol" charset="0"/>
              </a:rPr>
              <a:t>G</a:t>
            </a:r>
            <a:r>
              <a:rPr lang="it-IT" sz="2400" b="1" dirty="0">
                <a:latin typeface="Times New Roman" charset="0"/>
                <a:sym typeface="Symbol" charset="0"/>
              </a:rPr>
              <a:t>]” do</a:t>
            </a: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   </a:t>
            </a:r>
            <a:r>
              <a:rPr lang="it-IT" sz="2400" b="1" i="1" dirty="0">
                <a:latin typeface="Times New Roman" charset="0"/>
                <a:sym typeface="Symbol" charset="0"/>
              </a:rPr>
              <a:t>color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latin typeface="Times New Roman" charset="0"/>
                <a:sym typeface="Symbol" charset="0"/>
              </a:rPr>
              <a:t>]  </a:t>
            </a:r>
            <a:r>
              <a:rPr lang="it-IT" sz="2400" b="1" i="1" dirty="0">
                <a:latin typeface="Times New Roman" charset="0"/>
                <a:sym typeface="Symbol" charset="0"/>
              </a:rPr>
              <a:t>bianco</a:t>
            </a:r>
            <a:r>
              <a:rPr lang="it-IT" sz="2400" b="1" dirty="0">
                <a:latin typeface="Times New Roman" charset="0"/>
                <a:sym typeface="Symbol" charset="0"/>
              </a:rPr>
              <a:t>,</a:t>
            </a:r>
            <a:r>
              <a:rPr lang="it-IT" sz="2400" b="1" i="1" dirty="0">
                <a:latin typeface="Times New Roman" charset="0"/>
                <a:sym typeface="Symbol" charset="0"/>
              </a:rPr>
              <a:t> d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latin typeface="Times New Roman" charset="0"/>
                <a:sym typeface="Symbol" charset="0"/>
              </a:rPr>
              <a:t>]  , 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p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latin typeface="Times New Roman" charset="0"/>
                <a:sym typeface="Symbol" charset="0"/>
              </a:rPr>
              <a:t>]  </a:t>
            </a:r>
            <a:r>
              <a:rPr lang="it-IT" sz="2400" b="1" dirty="0" err="1">
                <a:latin typeface="Times New Roman" charset="0"/>
                <a:sym typeface="Symbol" charset="0"/>
              </a:rPr>
              <a:t>nil</a:t>
            </a:r>
            <a:endParaRPr lang="it-IT" sz="2400" b="1" dirty="0">
              <a:latin typeface="Times New Roman" charset="0"/>
              <a:sym typeface="Symbol" charset="0"/>
            </a:endParaRP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</a:t>
            </a:r>
            <a:r>
              <a:rPr lang="it-IT" sz="2400" b="1" i="1" dirty="0">
                <a:latin typeface="Times New Roman" charset="0"/>
                <a:sym typeface="Symbol" charset="0"/>
              </a:rPr>
              <a:t>color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400" b="1" dirty="0">
                <a:latin typeface="Times New Roman" charset="0"/>
                <a:sym typeface="Symbol" charset="0"/>
              </a:rPr>
              <a:t>]  </a:t>
            </a:r>
            <a:r>
              <a:rPr lang="it-IT" sz="2400" b="1" i="1" dirty="0">
                <a:latin typeface="Times New Roman" charset="0"/>
                <a:sym typeface="Symbol" charset="0"/>
              </a:rPr>
              <a:t>grigio</a:t>
            </a:r>
            <a:r>
              <a:rPr lang="it-IT" sz="2400" b="1" dirty="0">
                <a:latin typeface="Times New Roman" charset="0"/>
                <a:sym typeface="Symbol" charset="0"/>
              </a:rPr>
              <a:t>,</a:t>
            </a:r>
            <a:r>
              <a:rPr lang="it-IT" sz="2400" b="1" i="1" dirty="0">
                <a:latin typeface="Times New Roman" charset="0"/>
                <a:sym typeface="Symbol" charset="0"/>
              </a:rPr>
              <a:t> d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400" b="1" dirty="0">
                <a:latin typeface="Times New Roman" charset="0"/>
                <a:sym typeface="Symbol" charset="0"/>
              </a:rPr>
              <a:t>]  0</a:t>
            </a: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Enqueue</a:t>
            </a:r>
            <a:r>
              <a:rPr lang="it-IT" sz="2400" b="1" dirty="0">
                <a:latin typeface="Times New Roman" charset="0"/>
                <a:sym typeface="Symbol" charset="0"/>
              </a:rPr>
              <a:t>(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Q</a:t>
            </a:r>
            <a:r>
              <a:rPr lang="it-IT" sz="2400" b="1" dirty="0">
                <a:latin typeface="Times New Roman" charset="0"/>
                <a:sym typeface="Symbol" charset="0"/>
              </a:rPr>
              <a:t>, 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400" b="1" dirty="0">
                <a:latin typeface="Times New Roman" charset="0"/>
                <a:sym typeface="Symbol" charset="0"/>
              </a:rPr>
              <a:t>)</a:t>
            </a: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</a:t>
            </a:r>
            <a:r>
              <a:rPr lang="it-IT" sz="2400" b="1" dirty="0" err="1">
                <a:latin typeface="Times New Roman" charset="0"/>
                <a:sym typeface="Symbol" charset="0"/>
              </a:rPr>
              <a:t>while</a:t>
            </a:r>
            <a:r>
              <a:rPr lang="it-IT" sz="2400" b="1" dirty="0">
                <a:latin typeface="Times New Roman" charset="0"/>
                <a:sym typeface="Symbol" charset="0"/>
              </a:rPr>
              <a:t> </a:t>
            </a:r>
            <a:r>
              <a:rPr lang="it-IT" sz="2400" b="1" dirty="0" err="1">
                <a:latin typeface="Times New Roman" charset="0"/>
                <a:sym typeface="Symbol" charset="0"/>
              </a:rPr>
              <a:t>not</a:t>
            </a:r>
            <a:r>
              <a:rPr lang="it-IT" sz="2400" b="1" dirty="0">
                <a:latin typeface="Times New Roman" charset="0"/>
                <a:sym typeface="Symbol" charset="0"/>
              </a:rPr>
              <a:t> 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Empty</a:t>
            </a:r>
            <a:r>
              <a:rPr lang="it-IT" sz="2400" b="1" dirty="0">
                <a:latin typeface="Times New Roman" charset="0"/>
                <a:sym typeface="Symbol" charset="0"/>
              </a:rPr>
              <a:t>(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Q</a:t>
            </a:r>
            <a:r>
              <a:rPr lang="it-IT" sz="2400" b="1" dirty="0">
                <a:latin typeface="Times New Roman" charset="0"/>
                <a:sym typeface="Symbol" charset="0"/>
              </a:rPr>
              <a:t>) do</a:t>
            </a: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   </a:t>
            </a:r>
            <a:r>
              <a:rPr lang="it-IT" sz="2400" b="1" i="1" dirty="0">
                <a:latin typeface="Times New Roman" charset="0"/>
                <a:sym typeface="Symbol" charset="0"/>
              </a:rPr>
              <a:t>u</a:t>
            </a:r>
            <a:r>
              <a:rPr lang="it-IT" sz="2400" b="1" dirty="0">
                <a:latin typeface="Times New Roman" charset="0"/>
                <a:sym typeface="Symbol" charset="0"/>
              </a:rPr>
              <a:t>  </a:t>
            </a:r>
            <a:r>
              <a:rPr lang="it-IT" sz="2400" b="1" i="1" dirty="0">
                <a:latin typeface="Times New Roman" charset="0"/>
                <a:sym typeface="Symbol" charset="0"/>
              </a:rPr>
              <a:t>First</a:t>
            </a:r>
            <a:r>
              <a:rPr lang="it-IT" sz="2400" b="1" dirty="0">
                <a:latin typeface="Times New Roman" charset="0"/>
                <a:sym typeface="Symbol" charset="0"/>
              </a:rPr>
              <a:t>(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Q</a:t>
            </a:r>
            <a:r>
              <a:rPr lang="it-IT" sz="2400" b="1" dirty="0">
                <a:latin typeface="Times New Roman" charset="0"/>
                <a:sym typeface="Symbol" charset="0"/>
              </a:rPr>
              <a:t>)</a:t>
            </a: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   for “ogni </a:t>
            </a:r>
            <a:r>
              <a:rPr lang="it-IT" sz="2400" b="1" i="1" dirty="0"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latin typeface="Times New Roman" charset="0"/>
                <a:sym typeface="Symbol" charset="0"/>
              </a:rPr>
              <a:t>  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Adj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latin typeface="Times New Roman" charset="0"/>
                <a:sym typeface="Symbol" charset="0"/>
              </a:rPr>
              <a:t>u</a:t>
            </a:r>
            <a:r>
              <a:rPr lang="it-IT" sz="2400" b="1" dirty="0">
                <a:latin typeface="Times New Roman" charset="0"/>
                <a:sym typeface="Symbol" charset="0"/>
              </a:rPr>
              <a:t>]” do</a:t>
            </a: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      </a:t>
            </a:r>
            <a:r>
              <a:rPr lang="it-IT" sz="2400" b="1" dirty="0" err="1">
                <a:latin typeface="Times New Roman" charset="0"/>
                <a:sym typeface="Symbol" charset="0"/>
              </a:rPr>
              <a:t>if</a:t>
            </a:r>
            <a:r>
              <a:rPr lang="it-IT" sz="2400" b="1" dirty="0">
                <a:latin typeface="Times New Roman" charset="0"/>
                <a:sym typeface="Symbol" charset="0"/>
              </a:rPr>
              <a:t> </a:t>
            </a:r>
            <a:r>
              <a:rPr lang="it-IT" sz="2400" b="1" i="1" dirty="0">
                <a:latin typeface="Times New Roman" charset="0"/>
                <a:sym typeface="Symbol" charset="0"/>
              </a:rPr>
              <a:t>color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latin typeface="Times New Roman" charset="0"/>
                <a:sym typeface="Symbol" charset="0"/>
              </a:rPr>
              <a:t>] = </a:t>
            </a:r>
            <a:r>
              <a:rPr lang="it-IT" sz="2400" b="1" i="1" dirty="0">
                <a:latin typeface="Times New Roman" charset="0"/>
                <a:sym typeface="Symbol" charset="0"/>
              </a:rPr>
              <a:t>bianco</a:t>
            </a:r>
            <a:r>
              <a:rPr lang="it-IT" sz="2400" b="1" dirty="0">
                <a:latin typeface="Times New Roman" charset="0"/>
                <a:sym typeface="Symbol" charset="0"/>
              </a:rPr>
              <a:t> </a:t>
            </a:r>
            <a:r>
              <a:rPr lang="it-IT" sz="2400" b="1" dirty="0" err="1">
                <a:latin typeface="Times New Roman" charset="0"/>
                <a:sym typeface="Symbol" charset="0"/>
              </a:rPr>
              <a:t>then</a:t>
            </a:r>
            <a:endParaRPr lang="it-IT" sz="2400" b="1" dirty="0">
              <a:latin typeface="Times New Roman" charset="0"/>
              <a:sym typeface="Symbol" charset="0"/>
            </a:endParaRP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         </a:t>
            </a:r>
            <a:r>
              <a:rPr lang="it-IT" sz="2400" b="1" i="1" dirty="0">
                <a:latin typeface="Times New Roman" charset="0"/>
                <a:sym typeface="Symbol" charset="0"/>
              </a:rPr>
              <a:t>color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latin typeface="Times New Roman" charset="0"/>
                <a:sym typeface="Symbol" charset="0"/>
              </a:rPr>
              <a:t>]  </a:t>
            </a:r>
            <a:r>
              <a:rPr lang="it-IT" sz="2400" b="1" i="1" dirty="0">
                <a:latin typeface="Times New Roman" charset="0"/>
                <a:sym typeface="Symbol" charset="0"/>
              </a:rPr>
              <a:t>grigio</a:t>
            </a:r>
            <a:r>
              <a:rPr lang="it-IT" sz="2400" b="1" dirty="0">
                <a:latin typeface="Times New Roman" charset="0"/>
                <a:sym typeface="Symbol" charset="0"/>
              </a:rPr>
              <a:t>,</a:t>
            </a:r>
            <a:r>
              <a:rPr lang="it-IT" sz="2400" b="1" i="1" dirty="0">
                <a:latin typeface="Times New Roman" charset="0"/>
                <a:sym typeface="Symbol" charset="0"/>
              </a:rPr>
              <a:t> d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latin typeface="Times New Roman" charset="0"/>
                <a:sym typeface="Symbol" charset="0"/>
              </a:rPr>
              <a:t>]  </a:t>
            </a:r>
            <a:r>
              <a:rPr lang="it-IT" sz="2400" b="1" i="1" dirty="0">
                <a:latin typeface="Times New Roman" charset="0"/>
                <a:sym typeface="Symbol" charset="0"/>
              </a:rPr>
              <a:t>d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latin typeface="Times New Roman" charset="0"/>
                <a:sym typeface="Symbol" charset="0"/>
              </a:rPr>
              <a:t>u</a:t>
            </a:r>
            <a:r>
              <a:rPr lang="it-IT" sz="2400" b="1" dirty="0">
                <a:latin typeface="Times New Roman" charset="0"/>
                <a:sym typeface="Symbol" charset="0"/>
              </a:rPr>
              <a:t>] + 1, 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p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latin typeface="Times New Roman" charset="0"/>
                <a:sym typeface="Symbol" charset="0"/>
              </a:rPr>
              <a:t>]  </a:t>
            </a:r>
            <a:r>
              <a:rPr lang="it-IT" sz="2400" b="1" i="1" dirty="0">
                <a:latin typeface="Times New Roman" charset="0"/>
                <a:sym typeface="Symbol" charset="0"/>
              </a:rPr>
              <a:t>u</a:t>
            </a:r>
            <a:endParaRPr lang="it-IT" sz="2400" b="1" dirty="0">
              <a:latin typeface="Times New Roman" charset="0"/>
              <a:sym typeface="Symbol" charset="0"/>
            </a:endParaRP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         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Enqueue</a:t>
            </a:r>
            <a:r>
              <a:rPr lang="it-IT" sz="2400" b="1" dirty="0">
                <a:latin typeface="Times New Roman" charset="0"/>
                <a:sym typeface="Symbol" charset="0"/>
              </a:rPr>
              <a:t>(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Q</a:t>
            </a:r>
            <a:r>
              <a:rPr lang="it-IT" sz="2400" b="1" dirty="0" err="1">
                <a:latin typeface="Times New Roman" charset="0"/>
                <a:sym typeface="Symbol" charset="0"/>
              </a:rPr>
              <a:t>,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latin typeface="Times New Roman" charset="0"/>
                <a:sym typeface="Symbol" charset="0"/>
              </a:rPr>
              <a:t>)</a:t>
            </a: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   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Dequeue</a:t>
            </a:r>
            <a:r>
              <a:rPr lang="it-IT" sz="2400" b="1" dirty="0">
                <a:latin typeface="Times New Roman" charset="0"/>
                <a:sym typeface="Symbol" charset="0"/>
              </a:rPr>
              <a:t>(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Q</a:t>
            </a:r>
            <a:r>
              <a:rPr lang="it-IT" sz="2400" b="1" dirty="0">
                <a:latin typeface="Times New Roman" charset="0"/>
                <a:sym typeface="Symbol" charset="0"/>
              </a:rPr>
              <a:t>)</a:t>
            </a: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   </a:t>
            </a:r>
            <a:r>
              <a:rPr lang="it-IT" sz="2400" b="1" i="1" dirty="0">
                <a:latin typeface="Times New Roman" charset="0"/>
                <a:sym typeface="Symbol" charset="0"/>
              </a:rPr>
              <a:t>color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latin typeface="Times New Roman" charset="0"/>
                <a:sym typeface="Symbol" charset="0"/>
              </a:rPr>
              <a:t>u</a:t>
            </a:r>
            <a:r>
              <a:rPr lang="it-IT" sz="2400" b="1" dirty="0">
                <a:latin typeface="Times New Roman" charset="0"/>
                <a:sym typeface="Symbol" charset="0"/>
              </a:rPr>
              <a:t>]  </a:t>
            </a:r>
            <a:r>
              <a:rPr lang="it-IT" sz="2400" b="1" i="1" dirty="0">
                <a:latin typeface="Times New Roman" charset="0"/>
                <a:sym typeface="Symbol" charset="0"/>
              </a:rPr>
              <a:t>nero</a:t>
            </a:r>
            <a:endParaRPr lang="it-IT" sz="2800" b="1" i="1" dirty="0">
              <a:latin typeface="Times New Roman" charset="0"/>
              <a:sym typeface="Symbol" charset="0"/>
            </a:endParaRPr>
          </a:p>
        </p:txBody>
      </p:sp>
      <p:sp>
        <p:nvSpPr>
          <p:cNvPr id="6656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Ricerca in ampiezza (BFS)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650" name="Group 2"/>
          <p:cNvGrpSpPr>
            <a:grpSpLocks/>
          </p:cNvGrpSpPr>
          <p:nvPr/>
        </p:nvGrpSpPr>
        <p:grpSpPr bwMode="auto">
          <a:xfrm>
            <a:off x="685800" y="1143000"/>
            <a:ext cx="3013075" cy="1635125"/>
            <a:chOff x="260" y="336"/>
            <a:chExt cx="2236" cy="1267"/>
          </a:xfrm>
        </p:grpSpPr>
        <p:sp>
          <p:nvSpPr>
            <p:cNvPr id="667651" name="Line 3"/>
            <p:cNvSpPr>
              <a:spLocks noChangeShapeType="1"/>
            </p:cNvSpPr>
            <p:nvPr/>
          </p:nvSpPr>
          <p:spPr bwMode="auto">
            <a:xfrm flipV="1">
              <a:off x="832" y="720"/>
              <a:ext cx="46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52" name="Oval 4"/>
            <p:cNvSpPr>
              <a:spLocks noChangeArrowheads="1"/>
            </p:cNvSpPr>
            <p:nvPr/>
          </p:nvSpPr>
          <p:spPr bwMode="auto">
            <a:xfrm>
              <a:off x="728" y="624"/>
              <a:ext cx="208" cy="19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</a:rPr>
                <a:t>0</a:t>
              </a:r>
            </a:p>
          </p:txBody>
        </p:sp>
        <p:sp>
          <p:nvSpPr>
            <p:cNvPr id="667653" name="Line 5"/>
            <p:cNvSpPr>
              <a:spLocks noChangeShapeType="1"/>
            </p:cNvSpPr>
            <p:nvPr/>
          </p:nvSpPr>
          <p:spPr bwMode="auto">
            <a:xfrm>
              <a:off x="468" y="720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54" name="Line 6"/>
            <p:cNvSpPr>
              <a:spLocks noChangeShapeType="1"/>
            </p:cNvSpPr>
            <p:nvPr/>
          </p:nvSpPr>
          <p:spPr bwMode="auto">
            <a:xfrm>
              <a:off x="364" y="8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55" name="Line 7"/>
            <p:cNvSpPr>
              <a:spLocks noChangeShapeType="1"/>
            </p:cNvSpPr>
            <p:nvPr/>
          </p:nvSpPr>
          <p:spPr bwMode="auto">
            <a:xfrm>
              <a:off x="832" y="8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56" name="Line 8"/>
            <p:cNvSpPr>
              <a:spLocks noChangeShapeType="1"/>
            </p:cNvSpPr>
            <p:nvPr/>
          </p:nvSpPr>
          <p:spPr bwMode="auto">
            <a:xfrm>
              <a:off x="1300" y="8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57" name="Line 9"/>
            <p:cNvSpPr>
              <a:spLocks noChangeShapeType="1"/>
            </p:cNvSpPr>
            <p:nvPr/>
          </p:nvSpPr>
          <p:spPr bwMode="auto">
            <a:xfrm>
              <a:off x="1768" y="8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58" name="Line 10"/>
            <p:cNvSpPr>
              <a:spLocks noChangeShapeType="1"/>
            </p:cNvSpPr>
            <p:nvPr/>
          </p:nvSpPr>
          <p:spPr bwMode="auto">
            <a:xfrm>
              <a:off x="1404" y="720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59" name="Line 11"/>
            <p:cNvSpPr>
              <a:spLocks noChangeShapeType="1"/>
            </p:cNvSpPr>
            <p:nvPr/>
          </p:nvSpPr>
          <p:spPr bwMode="auto">
            <a:xfrm>
              <a:off x="1404" y="1200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60" name="Line 12"/>
            <p:cNvSpPr>
              <a:spLocks noChangeShapeType="1"/>
            </p:cNvSpPr>
            <p:nvPr/>
          </p:nvSpPr>
          <p:spPr bwMode="auto">
            <a:xfrm>
              <a:off x="936" y="1200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61" name="Oval 13"/>
            <p:cNvSpPr>
              <a:spLocks noChangeArrowheads="1"/>
            </p:cNvSpPr>
            <p:nvPr/>
          </p:nvSpPr>
          <p:spPr bwMode="auto">
            <a:xfrm>
              <a:off x="260" y="624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662" name="Oval 14"/>
            <p:cNvSpPr>
              <a:spLocks noChangeArrowheads="1"/>
            </p:cNvSpPr>
            <p:nvPr/>
          </p:nvSpPr>
          <p:spPr bwMode="auto">
            <a:xfrm>
              <a:off x="260" y="1104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663" name="Oval 15"/>
            <p:cNvSpPr>
              <a:spLocks noChangeArrowheads="1"/>
            </p:cNvSpPr>
            <p:nvPr/>
          </p:nvSpPr>
          <p:spPr bwMode="auto">
            <a:xfrm>
              <a:off x="728" y="1104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664" name="Oval 16"/>
            <p:cNvSpPr>
              <a:spLocks noChangeArrowheads="1"/>
            </p:cNvSpPr>
            <p:nvPr/>
          </p:nvSpPr>
          <p:spPr bwMode="auto">
            <a:xfrm>
              <a:off x="1196" y="1104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665" name="Oval 17"/>
            <p:cNvSpPr>
              <a:spLocks noChangeArrowheads="1"/>
            </p:cNvSpPr>
            <p:nvPr/>
          </p:nvSpPr>
          <p:spPr bwMode="auto">
            <a:xfrm>
              <a:off x="1664" y="1104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666" name="Oval 18"/>
            <p:cNvSpPr>
              <a:spLocks noChangeArrowheads="1"/>
            </p:cNvSpPr>
            <p:nvPr/>
          </p:nvSpPr>
          <p:spPr bwMode="auto">
            <a:xfrm>
              <a:off x="1664" y="624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667" name="Oval 19"/>
            <p:cNvSpPr>
              <a:spLocks noChangeArrowheads="1"/>
            </p:cNvSpPr>
            <p:nvPr/>
          </p:nvSpPr>
          <p:spPr bwMode="auto">
            <a:xfrm>
              <a:off x="1196" y="624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668" name="Text Box 20"/>
            <p:cNvSpPr txBox="1">
              <a:spLocks noChangeArrowheads="1"/>
            </p:cNvSpPr>
            <p:nvPr/>
          </p:nvSpPr>
          <p:spPr bwMode="auto">
            <a:xfrm>
              <a:off x="260" y="336"/>
              <a:ext cx="225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r</a:t>
              </a:r>
            </a:p>
          </p:txBody>
        </p:sp>
        <p:sp>
          <p:nvSpPr>
            <p:cNvPr id="667669" name="Text Box 21"/>
            <p:cNvSpPr txBox="1">
              <a:spLocks noChangeArrowheads="1"/>
            </p:cNvSpPr>
            <p:nvPr/>
          </p:nvSpPr>
          <p:spPr bwMode="auto">
            <a:xfrm>
              <a:off x="1664" y="1248"/>
              <a:ext cx="23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y</a:t>
              </a:r>
            </a:p>
          </p:txBody>
        </p:sp>
        <p:sp>
          <p:nvSpPr>
            <p:cNvPr id="667670" name="Text Box 22"/>
            <p:cNvSpPr txBox="1">
              <a:spLocks noChangeArrowheads="1"/>
            </p:cNvSpPr>
            <p:nvPr/>
          </p:nvSpPr>
          <p:spPr bwMode="auto">
            <a:xfrm>
              <a:off x="1197" y="1248"/>
              <a:ext cx="249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x</a:t>
              </a:r>
            </a:p>
          </p:txBody>
        </p:sp>
        <p:sp>
          <p:nvSpPr>
            <p:cNvPr id="667671" name="Text Box 23"/>
            <p:cNvSpPr txBox="1">
              <a:spLocks noChangeArrowheads="1"/>
            </p:cNvSpPr>
            <p:nvPr/>
          </p:nvSpPr>
          <p:spPr bwMode="auto">
            <a:xfrm>
              <a:off x="728" y="1248"/>
              <a:ext cx="28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w</a:t>
              </a:r>
            </a:p>
          </p:txBody>
        </p:sp>
        <p:sp>
          <p:nvSpPr>
            <p:cNvPr id="667672" name="Text Box 24"/>
            <p:cNvSpPr txBox="1">
              <a:spLocks noChangeArrowheads="1"/>
            </p:cNvSpPr>
            <p:nvPr/>
          </p:nvSpPr>
          <p:spPr bwMode="auto">
            <a:xfrm>
              <a:off x="260" y="1249"/>
              <a:ext cx="23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v</a:t>
              </a:r>
            </a:p>
          </p:txBody>
        </p:sp>
        <p:sp>
          <p:nvSpPr>
            <p:cNvPr id="667673" name="Text Box 25"/>
            <p:cNvSpPr txBox="1">
              <a:spLocks noChangeArrowheads="1"/>
            </p:cNvSpPr>
            <p:nvPr/>
          </p:nvSpPr>
          <p:spPr bwMode="auto">
            <a:xfrm>
              <a:off x="1664" y="336"/>
              <a:ext cx="263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u</a:t>
              </a:r>
            </a:p>
          </p:txBody>
        </p:sp>
        <p:sp>
          <p:nvSpPr>
            <p:cNvPr id="667674" name="Text Box 26"/>
            <p:cNvSpPr txBox="1">
              <a:spLocks noChangeArrowheads="1"/>
            </p:cNvSpPr>
            <p:nvPr/>
          </p:nvSpPr>
          <p:spPr bwMode="auto">
            <a:xfrm>
              <a:off x="1197" y="336"/>
              <a:ext cx="199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t</a:t>
              </a:r>
            </a:p>
          </p:txBody>
        </p:sp>
        <p:sp>
          <p:nvSpPr>
            <p:cNvPr id="667675" name="Text Box 27"/>
            <p:cNvSpPr txBox="1">
              <a:spLocks noChangeArrowheads="1"/>
            </p:cNvSpPr>
            <p:nvPr/>
          </p:nvSpPr>
          <p:spPr bwMode="auto">
            <a:xfrm>
              <a:off x="728" y="336"/>
              <a:ext cx="225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s</a:t>
              </a:r>
            </a:p>
          </p:txBody>
        </p:sp>
        <p:sp>
          <p:nvSpPr>
            <p:cNvPr id="667676" name="Rectangle 28"/>
            <p:cNvSpPr>
              <a:spLocks noChangeArrowheads="1"/>
            </p:cNvSpPr>
            <p:nvPr/>
          </p:nvSpPr>
          <p:spPr bwMode="auto">
            <a:xfrm>
              <a:off x="2288" y="816"/>
              <a:ext cx="2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 i="1">
                  <a:latin typeface="Times New Roman" charset="0"/>
                </a:rPr>
                <a:t>s</a:t>
              </a:r>
            </a:p>
          </p:txBody>
        </p:sp>
        <p:sp>
          <p:nvSpPr>
            <p:cNvPr id="667677" name="Text Box 29"/>
            <p:cNvSpPr txBox="1">
              <a:spLocks noChangeArrowheads="1"/>
            </p:cNvSpPr>
            <p:nvPr/>
          </p:nvSpPr>
          <p:spPr bwMode="auto">
            <a:xfrm>
              <a:off x="1976" y="768"/>
              <a:ext cx="301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Q</a:t>
              </a:r>
            </a:p>
          </p:txBody>
        </p:sp>
        <p:sp>
          <p:nvSpPr>
            <p:cNvPr id="667678" name="Rectangle 30"/>
            <p:cNvSpPr>
              <a:spLocks noChangeArrowheads="1"/>
            </p:cNvSpPr>
            <p:nvPr/>
          </p:nvSpPr>
          <p:spPr bwMode="auto">
            <a:xfrm>
              <a:off x="2288" y="1008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>
                  <a:latin typeface="Times New Roman" charset="0"/>
                </a:rPr>
                <a:t>0</a:t>
              </a:r>
            </a:p>
          </p:txBody>
        </p:sp>
      </p:grpSp>
      <p:grpSp>
        <p:nvGrpSpPr>
          <p:cNvPr id="667679" name="Group 31"/>
          <p:cNvGrpSpPr>
            <a:grpSpLocks/>
          </p:cNvGrpSpPr>
          <p:nvPr/>
        </p:nvGrpSpPr>
        <p:grpSpPr bwMode="auto">
          <a:xfrm>
            <a:off x="5181600" y="1143000"/>
            <a:ext cx="3225800" cy="1635125"/>
            <a:chOff x="3328" y="336"/>
            <a:chExt cx="2392" cy="1267"/>
          </a:xfrm>
        </p:grpSpPr>
        <p:sp>
          <p:nvSpPr>
            <p:cNvPr id="667680" name="Line 32"/>
            <p:cNvSpPr>
              <a:spLocks noChangeShapeType="1"/>
            </p:cNvSpPr>
            <p:nvPr/>
          </p:nvSpPr>
          <p:spPr bwMode="auto">
            <a:xfrm flipV="1">
              <a:off x="3900" y="816"/>
              <a:ext cx="0" cy="288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81" name="Line 33"/>
            <p:cNvSpPr>
              <a:spLocks noChangeShapeType="1"/>
            </p:cNvSpPr>
            <p:nvPr/>
          </p:nvSpPr>
          <p:spPr bwMode="auto">
            <a:xfrm>
              <a:off x="3536" y="720"/>
              <a:ext cx="260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82" name="Rectangle 34"/>
            <p:cNvSpPr>
              <a:spLocks noChangeArrowheads="1"/>
            </p:cNvSpPr>
            <p:nvPr/>
          </p:nvSpPr>
          <p:spPr bwMode="auto">
            <a:xfrm>
              <a:off x="5304" y="816"/>
              <a:ext cx="2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 i="1">
                  <a:latin typeface="Times New Roman" charset="0"/>
                </a:rPr>
                <a:t>w</a:t>
              </a:r>
            </a:p>
          </p:txBody>
        </p:sp>
        <p:sp>
          <p:nvSpPr>
            <p:cNvPr id="667683" name="Text Box 35"/>
            <p:cNvSpPr txBox="1">
              <a:spLocks noChangeArrowheads="1"/>
            </p:cNvSpPr>
            <p:nvPr/>
          </p:nvSpPr>
          <p:spPr bwMode="auto">
            <a:xfrm>
              <a:off x="4993" y="768"/>
              <a:ext cx="300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Q</a:t>
              </a:r>
            </a:p>
          </p:txBody>
        </p:sp>
        <p:sp>
          <p:nvSpPr>
            <p:cNvPr id="667684" name="Rectangle 36"/>
            <p:cNvSpPr>
              <a:spLocks noChangeArrowheads="1"/>
            </p:cNvSpPr>
            <p:nvPr/>
          </p:nvSpPr>
          <p:spPr bwMode="auto">
            <a:xfrm>
              <a:off x="5304" y="1008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>
                  <a:latin typeface="Times New Roman" charset="0"/>
                </a:rPr>
                <a:t>1</a:t>
              </a:r>
            </a:p>
          </p:txBody>
        </p:sp>
        <p:sp>
          <p:nvSpPr>
            <p:cNvPr id="667685" name="Rectangle 37"/>
            <p:cNvSpPr>
              <a:spLocks noChangeArrowheads="1"/>
            </p:cNvSpPr>
            <p:nvPr/>
          </p:nvSpPr>
          <p:spPr bwMode="auto">
            <a:xfrm>
              <a:off x="5512" y="816"/>
              <a:ext cx="2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 i="1">
                  <a:latin typeface="Times New Roman" charset="0"/>
                </a:rPr>
                <a:t>r</a:t>
              </a:r>
            </a:p>
          </p:txBody>
        </p:sp>
        <p:sp>
          <p:nvSpPr>
            <p:cNvPr id="667686" name="Rectangle 38"/>
            <p:cNvSpPr>
              <a:spLocks noChangeArrowheads="1"/>
            </p:cNvSpPr>
            <p:nvPr/>
          </p:nvSpPr>
          <p:spPr bwMode="auto">
            <a:xfrm>
              <a:off x="5512" y="1008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>
                  <a:latin typeface="Times New Roman" charset="0"/>
                </a:rPr>
                <a:t>1</a:t>
              </a:r>
            </a:p>
          </p:txBody>
        </p:sp>
        <p:sp>
          <p:nvSpPr>
            <p:cNvPr id="667687" name="Line 39"/>
            <p:cNvSpPr>
              <a:spLocks noChangeShapeType="1"/>
            </p:cNvSpPr>
            <p:nvPr/>
          </p:nvSpPr>
          <p:spPr bwMode="auto">
            <a:xfrm flipV="1">
              <a:off x="3900" y="720"/>
              <a:ext cx="46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88" name="Oval 40"/>
            <p:cNvSpPr>
              <a:spLocks noChangeArrowheads="1"/>
            </p:cNvSpPr>
            <p:nvPr/>
          </p:nvSpPr>
          <p:spPr bwMode="auto">
            <a:xfrm>
              <a:off x="3796" y="624"/>
              <a:ext cx="208" cy="1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solidFill>
                    <a:schemeClr val="bg1"/>
                  </a:solidFill>
                  <a:latin typeface="Times New Roman" charset="0"/>
                </a:rPr>
                <a:t>0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689" name="Line 41"/>
            <p:cNvSpPr>
              <a:spLocks noChangeShapeType="1"/>
            </p:cNvSpPr>
            <p:nvPr/>
          </p:nvSpPr>
          <p:spPr bwMode="auto">
            <a:xfrm>
              <a:off x="3536" y="720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90" name="Line 42"/>
            <p:cNvSpPr>
              <a:spLocks noChangeShapeType="1"/>
            </p:cNvSpPr>
            <p:nvPr/>
          </p:nvSpPr>
          <p:spPr bwMode="auto">
            <a:xfrm>
              <a:off x="3432" y="8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91" name="Line 43"/>
            <p:cNvSpPr>
              <a:spLocks noChangeShapeType="1"/>
            </p:cNvSpPr>
            <p:nvPr/>
          </p:nvSpPr>
          <p:spPr bwMode="auto">
            <a:xfrm>
              <a:off x="3900" y="8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92" name="Line 44"/>
            <p:cNvSpPr>
              <a:spLocks noChangeShapeType="1"/>
            </p:cNvSpPr>
            <p:nvPr/>
          </p:nvSpPr>
          <p:spPr bwMode="auto">
            <a:xfrm>
              <a:off x="4368" y="8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93" name="Line 45"/>
            <p:cNvSpPr>
              <a:spLocks noChangeShapeType="1"/>
            </p:cNvSpPr>
            <p:nvPr/>
          </p:nvSpPr>
          <p:spPr bwMode="auto">
            <a:xfrm>
              <a:off x="4836" y="8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94" name="Line 46"/>
            <p:cNvSpPr>
              <a:spLocks noChangeShapeType="1"/>
            </p:cNvSpPr>
            <p:nvPr/>
          </p:nvSpPr>
          <p:spPr bwMode="auto">
            <a:xfrm>
              <a:off x="4472" y="720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95" name="Line 47"/>
            <p:cNvSpPr>
              <a:spLocks noChangeShapeType="1"/>
            </p:cNvSpPr>
            <p:nvPr/>
          </p:nvSpPr>
          <p:spPr bwMode="auto">
            <a:xfrm>
              <a:off x="4472" y="1200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96" name="Line 48"/>
            <p:cNvSpPr>
              <a:spLocks noChangeShapeType="1"/>
            </p:cNvSpPr>
            <p:nvPr/>
          </p:nvSpPr>
          <p:spPr bwMode="auto">
            <a:xfrm>
              <a:off x="4004" y="1200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97" name="Oval 49"/>
            <p:cNvSpPr>
              <a:spLocks noChangeArrowheads="1"/>
            </p:cNvSpPr>
            <p:nvPr/>
          </p:nvSpPr>
          <p:spPr bwMode="auto">
            <a:xfrm>
              <a:off x="3328" y="624"/>
              <a:ext cx="208" cy="19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1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698" name="Oval 50"/>
            <p:cNvSpPr>
              <a:spLocks noChangeArrowheads="1"/>
            </p:cNvSpPr>
            <p:nvPr/>
          </p:nvSpPr>
          <p:spPr bwMode="auto">
            <a:xfrm>
              <a:off x="3328" y="1104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699" name="Oval 51"/>
            <p:cNvSpPr>
              <a:spLocks noChangeArrowheads="1"/>
            </p:cNvSpPr>
            <p:nvPr/>
          </p:nvSpPr>
          <p:spPr bwMode="auto">
            <a:xfrm>
              <a:off x="3796" y="1104"/>
              <a:ext cx="208" cy="19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1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00" name="Oval 52"/>
            <p:cNvSpPr>
              <a:spLocks noChangeArrowheads="1"/>
            </p:cNvSpPr>
            <p:nvPr/>
          </p:nvSpPr>
          <p:spPr bwMode="auto">
            <a:xfrm>
              <a:off x="4264" y="1104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01" name="Oval 53"/>
            <p:cNvSpPr>
              <a:spLocks noChangeArrowheads="1"/>
            </p:cNvSpPr>
            <p:nvPr/>
          </p:nvSpPr>
          <p:spPr bwMode="auto">
            <a:xfrm>
              <a:off x="4732" y="1104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02" name="Oval 54"/>
            <p:cNvSpPr>
              <a:spLocks noChangeArrowheads="1"/>
            </p:cNvSpPr>
            <p:nvPr/>
          </p:nvSpPr>
          <p:spPr bwMode="auto">
            <a:xfrm>
              <a:off x="4732" y="624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03" name="Oval 55"/>
            <p:cNvSpPr>
              <a:spLocks noChangeArrowheads="1"/>
            </p:cNvSpPr>
            <p:nvPr/>
          </p:nvSpPr>
          <p:spPr bwMode="auto">
            <a:xfrm>
              <a:off x="4264" y="624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04" name="Text Box 56"/>
            <p:cNvSpPr txBox="1">
              <a:spLocks noChangeArrowheads="1"/>
            </p:cNvSpPr>
            <p:nvPr/>
          </p:nvSpPr>
          <p:spPr bwMode="auto">
            <a:xfrm>
              <a:off x="3328" y="336"/>
              <a:ext cx="225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r</a:t>
              </a:r>
            </a:p>
          </p:txBody>
        </p:sp>
        <p:sp>
          <p:nvSpPr>
            <p:cNvPr id="667705" name="Text Box 57"/>
            <p:cNvSpPr txBox="1">
              <a:spLocks noChangeArrowheads="1"/>
            </p:cNvSpPr>
            <p:nvPr/>
          </p:nvSpPr>
          <p:spPr bwMode="auto">
            <a:xfrm>
              <a:off x="4732" y="1248"/>
              <a:ext cx="23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y</a:t>
              </a:r>
            </a:p>
          </p:txBody>
        </p:sp>
        <p:sp>
          <p:nvSpPr>
            <p:cNvPr id="667706" name="Text Box 58"/>
            <p:cNvSpPr txBox="1">
              <a:spLocks noChangeArrowheads="1"/>
            </p:cNvSpPr>
            <p:nvPr/>
          </p:nvSpPr>
          <p:spPr bwMode="auto">
            <a:xfrm>
              <a:off x="4264" y="1248"/>
              <a:ext cx="249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x</a:t>
              </a:r>
            </a:p>
          </p:txBody>
        </p:sp>
        <p:sp>
          <p:nvSpPr>
            <p:cNvPr id="667707" name="Text Box 59"/>
            <p:cNvSpPr txBox="1">
              <a:spLocks noChangeArrowheads="1"/>
            </p:cNvSpPr>
            <p:nvPr/>
          </p:nvSpPr>
          <p:spPr bwMode="auto">
            <a:xfrm>
              <a:off x="3797" y="1248"/>
              <a:ext cx="28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w</a:t>
              </a:r>
            </a:p>
          </p:txBody>
        </p:sp>
        <p:sp>
          <p:nvSpPr>
            <p:cNvPr id="667708" name="Text Box 60"/>
            <p:cNvSpPr txBox="1">
              <a:spLocks noChangeArrowheads="1"/>
            </p:cNvSpPr>
            <p:nvPr/>
          </p:nvSpPr>
          <p:spPr bwMode="auto">
            <a:xfrm>
              <a:off x="3328" y="1249"/>
              <a:ext cx="23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v</a:t>
              </a:r>
            </a:p>
          </p:txBody>
        </p:sp>
        <p:sp>
          <p:nvSpPr>
            <p:cNvPr id="667709" name="Text Box 61"/>
            <p:cNvSpPr txBox="1">
              <a:spLocks noChangeArrowheads="1"/>
            </p:cNvSpPr>
            <p:nvPr/>
          </p:nvSpPr>
          <p:spPr bwMode="auto">
            <a:xfrm>
              <a:off x="4732" y="336"/>
              <a:ext cx="263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u</a:t>
              </a:r>
            </a:p>
          </p:txBody>
        </p:sp>
        <p:sp>
          <p:nvSpPr>
            <p:cNvPr id="667710" name="Text Box 62"/>
            <p:cNvSpPr txBox="1">
              <a:spLocks noChangeArrowheads="1"/>
            </p:cNvSpPr>
            <p:nvPr/>
          </p:nvSpPr>
          <p:spPr bwMode="auto">
            <a:xfrm>
              <a:off x="4264" y="336"/>
              <a:ext cx="199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t</a:t>
              </a:r>
            </a:p>
          </p:txBody>
        </p:sp>
        <p:sp>
          <p:nvSpPr>
            <p:cNvPr id="667711" name="Text Box 63"/>
            <p:cNvSpPr txBox="1">
              <a:spLocks noChangeArrowheads="1"/>
            </p:cNvSpPr>
            <p:nvPr/>
          </p:nvSpPr>
          <p:spPr bwMode="auto">
            <a:xfrm>
              <a:off x="3797" y="336"/>
              <a:ext cx="22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s</a:t>
              </a:r>
            </a:p>
          </p:txBody>
        </p:sp>
      </p:grpSp>
      <p:grpSp>
        <p:nvGrpSpPr>
          <p:cNvPr id="667712" name="Group 64"/>
          <p:cNvGrpSpPr>
            <a:grpSpLocks/>
          </p:cNvGrpSpPr>
          <p:nvPr/>
        </p:nvGrpSpPr>
        <p:grpSpPr bwMode="auto">
          <a:xfrm>
            <a:off x="685800" y="2971800"/>
            <a:ext cx="3505200" cy="1635125"/>
            <a:chOff x="260" y="1584"/>
            <a:chExt cx="2600" cy="1267"/>
          </a:xfrm>
        </p:grpSpPr>
        <p:sp>
          <p:nvSpPr>
            <p:cNvPr id="667713" name="Line 65"/>
            <p:cNvSpPr>
              <a:spLocks noChangeShapeType="1"/>
            </p:cNvSpPr>
            <p:nvPr/>
          </p:nvSpPr>
          <p:spPr bwMode="auto">
            <a:xfrm flipH="1">
              <a:off x="936" y="2016"/>
              <a:ext cx="312" cy="336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14" name="Line 66"/>
            <p:cNvSpPr>
              <a:spLocks noChangeShapeType="1"/>
            </p:cNvSpPr>
            <p:nvPr/>
          </p:nvSpPr>
          <p:spPr bwMode="auto">
            <a:xfrm flipH="1">
              <a:off x="936" y="2448"/>
              <a:ext cx="260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15" name="Line 67"/>
            <p:cNvSpPr>
              <a:spLocks noChangeShapeType="1"/>
            </p:cNvSpPr>
            <p:nvPr/>
          </p:nvSpPr>
          <p:spPr bwMode="auto">
            <a:xfrm flipV="1">
              <a:off x="832" y="2064"/>
              <a:ext cx="0" cy="288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16" name="Line 68"/>
            <p:cNvSpPr>
              <a:spLocks noChangeShapeType="1"/>
            </p:cNvSpPr>
            <p:nvPr/>
          </p:nvSpPr>
          <p:spPr bwMode="auto">
            <a:xfrm>
              <a:off x="468" y="1968"/>
              <a:ext cx="260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17" name="Rectangle 69"/>
            <p:cNvSpPr>
              <a:spLocks noChangeArrowheads="1"/>
            </p:cNvSpPr>
            <p:nvPr/>
          </p:nvSpPr>
          <p:spPr bwMode="auto">
            <a:xfrm>
              <a:off x="2236" y="2064"/>
              <a:ext cx="2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 i="1">
                  <a:latin typeface="Times New Roman" charset="0"/>
                </a:rPr>
                <a:t>r</a:t>
              </a:r>
            </a:p>
          </p:txBody>
        </p:sp>
        <p:sp>
          <p:nvSpPr>
            <p:cNvPr id="667718" name="Text Box 70"/>
            <p:cNvSpPr txBox="1">
              <a:spLocks noChangeArrowheads="1"/>
            </p:cNvSpPr>
            <p:nvPr/>
          </p:nvSpPr>
          <p:spPr bwMode="auto">
            <a:xfrm>
              <a:off x="1924" y="2016"/>
              <a:ext cx="300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Q</a:t>
              </a:r>
            </a:p>
          </p:txBody>
        </p:sp>
        <p:sp>
          <p:nvSpPr>
            <p:cNvPr id="667719" name="Rectangle 71"/>
            <p:cNvSpPr>
              <a:spLocks noChangeArrowheads="1"/>
            </p:cNvSpPr>
            <p:nvPr/>
          </p:nvSpPr>
          <p:spPr bwMode="auto">
            <a:xfrm>
              <a:off x="2236" y="2256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>
                  <a:latin typeface="Times New Roman" charset="0"/>
                </a:rPr>
                <a:t>1</a:t>
              </a:r>
            </a:p>
          </p:txBody>
        </p:sp>
        <p:sp>
          <p:nvSpPr>
            <p:cNvPr id="667720" name="Rectangle 72"/>
            <p:cNvSpPr>
              <a:spLocks noChangeArrowheads="1"/>
            </p:cNvSpPr>
            <p:nvPr/>
          </p:nvSpPr>
          <p:spPr bwMode="auto">
            <a:xfrm>
              <a:off x="2444" y="2064"/>
              <a:ext cx="2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 i="1">
                  <a:latin typeface="Times New Roman" charset="0"/>
                </a:rPr>
                <a:t>t</a:t>
              </a:r>
            </a:p>
          </p:txBody>
        </p:sp>
        <p:sp>
          <p:nvSpPr>
            <p:cNvPr id="667721" name="Rectangle 73"/>
            <p:cNvSpPr>
              <a:spLocks noChangeArrowheads="1"/>
            </p:cNvSpPr>
            <p:nvPr/>
          </p:nvSpPr>
          <p:spPr bwMode="auto">
            <a:xfrm>
              <a:off x="2444" y="2256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>
                  <a:latin typeface="Times New Roman" charset="0"/>
                </a:rPr>
                <a:t>2</a:t>
              </a:r>
            </a:p>
          </p:txBody>
        </p:sp>
        <p:sp>
          <p:nvSpPr>
            <p:cNvPr id="667722" name="Line 74"/>
            <p:cNvSpPr>
              <a:spLocks noChangeShapeType="1"/>
            </p:cNvSpPr>
            <p:nvPr/>
          </p:nvSpPr>
          <p:spPr bwMode="auto">
            <a:xfrm flipV="1">
              <a:off x="832" y="1968"/>
              <a:ext cx="46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23" name="Oval 75"/>
            <p:cNvSpPr>
              <a:spLocks noChangeArrowheads="1"/>
            </p:cNvSpPr>
            <p:nvPr/>
          </p:nvSpPr>
          <p:spPr bwMode="auto">
            <a:xfrm>
              <a:off x="728" y="1872"/>
              <a:ext cx="208" cy="1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solidFill>
                    <a:schemeClr val="bg1"/>
                  </a:solidFill>
                  <a:latin typeface="Times New Roman" charset="0"/>
                </a:rPr>
                <a:t>0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24" name="Line 76"/>
            <p:cNvSpPr>
              <a:spLocks noChangeShapeType="1"/>
            </p:cNvSpPr>
            <p:nvPr/>
          </p:nvSpPr>
          <p:spPr bwMode="auto">
            <a:xfrm>
              <a:off x="468" y="1968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25" name="Line 77"/>
            <p:cNvSpPr>
              <a:spLocks noChangeShapeType="1"/>
            </p:cNvSpPr>
            <p:nvPr/>
          </p:nvSpPr>
          <p:spPr bwMode="auto">
            <a:xfrm>
              <a:off x="364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26" name="Line 78"/>
            <p:cNvSpPr>
              <a:spLocks noChangeShapeType="1"/>
            </p:cNvSpPr>
            <p:nvPr/>
          </p:nvSpPr>
          <p:spPr bwMode="auto">
            <a:xfrm>
              <a:off x="832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27" name="Line 79"/>
            <p:cNvSpPr>
              <a:spLocks noChangeShapeType="1"/>
            </p:cNvSpPr>
            <p:nvPr/>
          </p:nvSpPr>
          <p:spPr bwMode="auto">
            <a:xfrm>
              <a:off x="1300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28" name="Line 80"/>
            <p:cNvSpPr>
              <a:spLocks noChangeShapeType="1"/>
            </p:cNvSpPr>
            <p:nvPr/>
          </p:nvSpPr>
          <p:spPr bwMode="auto">
            <a:xfrm>
              <a:off x="1768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29" name="Line 81"/>
            <p:cNvSpPr>
              <a:spLocks noChangeShapeType="1"/>
            </p:cNvSpPr>
            <p:nvPr/>
          </p:nvSpPr>
          <p:spPr bwMode="auto">
            <a:xfrm>
              <a:off x="1404" y="1968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30" name="Line 82"/>
            <p:cNvSpPr>
              <a:spLocks noChangeShapeType="1"/>
            </p:cNvSpPr>
            <p:nvPr/>
          </p:nvSpPr>
          <p:spPr bwMode="auto">
            <a:xfrm>
              <a:off x="1404" y="2448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31" name="Line 83"/>
            <p:cNvSpPr>
              <a:spLocks noChangeShapeType="1"/>
            </p:cNvSpPr>
            <p:nvPr/>
          </p:nvSpPr>
          <p:spPr bwMode="auto">
            <a:xfrm>
              <a:off x="936" y="2448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32" name="Oval 84"/>
            <p:cNvSpPr>
              <a:spLocks noChangeArrowheads="1"/>
            </p:cNvSpPr>
            <p:nvPr/>
          </p:nvSpPr>
          <p:spPr bwMode="auto">
            <a:xfrm>
              <a:off x="260" y="1872"/>
              <a:ext cx="208" cy="19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1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33" name="Oval 85"/>
            <p:cNvSpPr>
              <a:spLocks noChangeArrowheads="1"/>
            </p:cNvSpPr>
            <p:nvPr/>
          </p:nvSpPr>
          <p:spPr bwMode="auto">
            <a:xfrm>
              <a:off x="260" y="2352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34" name="Oval 86"/>
            <p:cNvSpPr>
              <a:spLocks noChangeArrowheads="1"/>
            </p:cNvSpPr>
            <p:nvPr/>
          </p:nvSpPr>
          <p:spPr bwMode="auto">
            <a:xfrm>
              <a:off x="728" y="2352"/>
              <a:ext cx="208" cy="1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solidFill>
                    <a:schemeClr val="bg1"/>
                  </a:solidFill>
                  <a:latin typeface="Times New Roman" charset="0"/>
                  <a:sym typeface="Symbol" charset="0"/>
                </a:rPr>
                <a:t>1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35" name="Oval 87"/>
            <p:cNvSpPr>
              <a:spLocks noChangeArrowheads="1"/>
            </p:cNvSpPr>
            <p:nvPr/>
          </p:nvSpPr>
          <p:spPr bwMode="auto">
            <a:xfrm>
              <a:off x="1196" y="2352"/>
              <a:ext cx="208" cy="19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2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36" name="Oval 88"/>
            <p:cNvSpPr>
              <a:spLocks noChangeArrowheads="1"/>
            </p:cNvSpPr>
            <p:nvPr/>
          </p:nvSpPr>
          <p:spPr bwMode="auto">
            <a:xfrm>
              <a:off x="1664" y="2352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37" name="Oval 89"/>
            <p:cNvSpPr>
              <a:spLocks noChangeArrowheads="1"/>
            </p:cNvSpPr>
            <p:nvPr/>
          </p:nvSpPr>
          <p:spPr bwMode="auto">
            <a:xfrm>
              <a:off x="1664" y="1872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38" name="Oval 90"/>
            <p:cNvSpPr>
              <a:spLocks noChangeArrowheads="1"/>
            </p:cNvSpPr>
            <p:nvPr/>
          </p:nvSpPr>
          <p:spPr bwMode="auto">
            <a:xfrm>
              <a:off x="1196" y="1872"/>
              <a:ext cx="208" cy="19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2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39" name="Text Box 91"/>
            <p:cNvSpPr txBox="1">
              <a:spLocks noChangeArrowheads="1"/>
            </p:cNvSpPr>
            <p:nvPr/>
          </p:nvSpPr>
          <p:spPr bwMode="auto">
            <a:xfrm>
              <a:off x="260" y="1584"/>
              <a:ext cx="225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r</a:t>
              </a:r>
            </a:p>
          </p:txBody>
        </p:sp>
        <p:sp>
          <p:nvSpPr>
            <p:cNvPr id="667740" name="Text Box 92"/>
            <p:cNvSpPr txBox="1">
              <a:spLocks noChangeArrowheads="1"/>
            </p:cNvSpPr>
            <p:nvPr/>
          </p:nvSpPr>
          <p:spPr bwMode="auto">
            <a:xfrm>
              <a:off x="1664" y="2496"/>
              <a:ext cx="236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y</a:t>
              </a:r>
            </a:p>
          </p:txBody>
        </p:sp>
        <p:sp>
          <p:nvSpPr>
            <p:cNvPr id="667741" name="Text Box 93"/>
            <p:cNvSpPr txBox="1">
              <a:spLocks noChangeArrowheads="1"/>
            </p:cNvSpPr>
            <p:nvPr/>
          </p:nvSpPr>
          <p:spPr bwMode="auto">
            <a:xfrm>
              <a:off x="1196" y="2496"/>
              <a:ext cx="250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x</a:t>
              </a:r>
            </a:p>
          </p:txBody>
        </p:sp>
        <p:sp>
          <p:nvSpPr>
            <p:cNvPr id="667742" name="Text Box 94"/>
            <p:cNvSpPr txBox="1">
              <a:spLocks noChangeArrowheads="1"/>
            </p:cNvSpPr>
            <p:nvPr/>
          </p:nvSpPr>
          <p:spPr bwMode="auto">
            <a:xfrm>
              <a:off x="727" y="2496"/>
              <a:ext cx="288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w</a:t>
              </a:r>
            </a:p>
          </p:txBody>
        </p:sp>
        <p:sp>
          <p:nvSpPr>
            <p:cNvPr id="667743" name="Text Box 95"/>
            <p:cNvSpPr txBox="1">
              <a:spLocks noChangeArrowheads="1"/>
            </p:cNvSpPr>
            <p:nvPr/>
          </p:nvSpPr>
          <p:spPr bwMode="auto">
            <a:xfrm>
              <a:off x="260" y="2497"/>
              <a:ext cx="23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v</a:t>
              </a:r>
            </a:p>
          </p:txBody>
        </p:sp>
        <p:sp>
          <p:nvSpPr>
            <p:cNvPr id="667744" name="Text Box 96"/>
            <p:cNvSpPr txBox="1">
              <a:spLocks noChangeArrowheads="1"/>
            </p:cNvSpPr>
            <p:nvPr/>
          </p:nvSpPr>
          <p:spPr bwMode="auto">
            <a:xfrm>
              <a:off x="1664" y="1584"/>
              <a:ext cx="262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u</a:t>
              </a:r>
            </a:p>
          </p:txBody>
        </p:sp>
        <p:sp>
          <p:nvSpPr>
            <p:cNvPr id="667745" name="Text Box 97"/>
            <p:cNvSpPr txBox="1">
              <a:spLocks noChangeArrowheads="1"/>
            </p:cNvSpPr>
            <p:nvPr/>
          </p:nvSpPr>
          <p:spPr bwMode="auto">
            <a:xfrm>
              <a:off x="1196" y="1584"/>
              <a:ext cx="199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t</a:t>
              </a:r>
            </a:p>
          </p:txBody>
        </p:sp>
        <p:sp>
          <p:nvSpPr>
            <p:cNvPr id="667746" name="Text Box 98"/>
            <p:cNvSpPr txBox="1">
              <a:spLocks noChangeArrowheads="1"/>
            </p:cNvSpPr>
            <p:nvPr/>
          </p:nvSpPr>
          <p:spPr bwMode="auto">
            <a:xfrm>
              <a:off x="727" y="1584"/>
              <a:ext cx="225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s</a:t>
              </a:r>
            </a:p>
          </p:txBody>
        </p:sp>
        <p:sp>
          <p:nvSpPr>
            <p:cNvPr id="667747" name="Rectangle 99"/>
            <p:cNvSpPr>
              <a:spLocks noChangeArrowheads="1"/>
            </p:cNvSpPr>
            <p:nvPr/>
          </p:nvSpPr>
          <p:spPr bwMode="auto">
            <a:xfrm>
              <a:off x="2652" y="2064"/>
              <a:ext cx="2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 i="1">
                  <a:latin typeface="Times New Roman" charset="0"/>
                </a:rPr>
                <a:t>x</a:t>
              </a:r>
            </a:p>
          </p:txBody>
        </p:sp>
        <p:sp>
          <p:nvSpPr>
            <p:cNvPr id="667748" name="Rectangle 100"/>
            <p:cNvSpPr>
              <a:spLocks noChangeArrowheads="1"/>
            </p:cNvSpPr>
            <p:nvPr/>
          </p:nvSpPr>
          <p:spPr bwMode="auto">
            <a:xfrm>
              <a:off x="2652" y="2256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>
                  <a:latin typeface="Times New Roman" charset="0"/>
                </a:rPr>
                <a:t>2</a:t>
              </a:r>
            </a:p>
          </p:txBody>
        </p:sp>
      </p:grpSp>
      <p:grpSp>
        <p:nvGrpSpPr>
          <p:cNvPr id="667749" name="Group 101"/>
          <p:cNvGrpSpPr>
            <a:grpSpLocks/>
          </p:cNvGrpSpPr>
          <p:nvPr/>
        </p:nvGrpSpPr>
        <p:grpSpPr bwMode="auto">
          <a:xfrm>
            <a:off x="5181600" y="2971800"/>
            <a:ext cx="3505200" cy="1635125"/>
            <a:chOff x="3328" y="1584"/>
            <a:chExt cx="2600" cy="1267"/>
          </a:xfrm>
        </p:grpSpPr>
        <p:sp>
          <p:nvSpPr>
            <p:cNvPr id="667750" name="Line 102"/>
            <p:cNvSpPr>
              <a:spLocks noChangeShapeType="1"/>
            </p:cNvSpPr>
            <p:nvPr/>
          </p:nvSpPr>
          <p:spPr bwMode="auto">
            <a:xfrm flipV="1">
              <a:off x="3432" y="2064"/>
              <a:ext cx="0" cy="288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51" name="Line 103"/>
            <p:cNvSpPr>
              <a:spLocks noChangeShapeType="1"/>
            </p:cNvSpPr>
            <p:nvPr/>
          </p:nvSpPr>
          <p:spPr bwMode="auto">
            <a:xfrm flipH="1">
              <a:off x="4004" y="2016"/>
              <a:ext cx="312" cy="336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52" name="Line 104"/>
            <p:cNvSpPr>
              <a:spLocks noChangeShapeType="1"/>
            </p:cNvSpPr>
            <p:nvPr/>
          </p:nvSpPr>
          <p:spPr bwMode="auto">
            <a:xfrm flipH="1">
              <a:off x="4004" y="2448"/>
              <a:ext cx="260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53" name="Line 105"/>
            <p:cNvSpPr>
              <a:spLocks noChangeShapeType="1"/>
            </p:cNvSpPr>
            <p:nvPr/>
          </p:nvSpPr>
          <p:spPr bwMode="auto">
            <a:xfrm flipV="1">
              <a:off x="3900" y="2064"/>
              <a:ext cx="0" cy="288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54" name="Line 106"/>
            <p:cNvSpPr>
              <a:spLocks noChangeShapeType="1"/>
            </p:cNvSpPr>
            <p:nvPr/>
          </p:nvSpPr>
          <p:spPr bwMode="auto">
            <a:xfrm>
              <a:off x="3536" y="1968"/>
              <a:ext cx="260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55" name="Rectangle 107"/>
            <p:cNvSpPr>
              <a:spLocks noChangeArrowheads="1"/>
            </p:cNvSpPr>
            <p:nvPr/>
          </p:nvSpPr>
          <p:spPr bwMode="auto">
            <a:xfrm>
              <a:off x="5304" y="2064"/>
              <a:ext cx="2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 i="1">
                  <a:latin typeface="Times New Roman" charset="0"/>
                </a:rPr>
                <a:t>t</a:t>
              </a:r>
            </a:p>
          </p:txBody>
        </p:sp>
        <p:sp>
          <p:nvSpPr>
            <p:cNvPr id="667756" name="Text Box 108"/>
            <p:cNvSpPr txBox="1">
              <a:spLocks noChangeArrowheads="1"/>
            </p:cNvSpPr>
            <p:nvPr/>
          </p:nvSpPr>
          <p:spPr bwMode="auto">
            <a:xfrm>
              <a:off x="4992" y="2016"/>
              <a:ext cx="300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Q</a:t>
              </a:r>
            </a:p>
          </p:txBody>
        </p:sp>
        <p:sp>
          <p:nvSpPr>
            <p:cNvPr id="667757" name="Rectangle 109"/>
            <p:cNvSpPr>
              <a:spLocks noChangeArrowheads="1"/>
            </p:cNvSpPr>
            <p:nvPr/>
          </p:nvSpPr>
          <p:spPr bwMode="auto">
            <a:xfrm>
              <a:off x="5304" y="2256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>
                  <a:latin typeface="Times New Roman" charset="0"/>
                </a:rPr>
                <a:t>2</a:t>
              </a:r>
            </a:p>
          </p:txBody>
        </p:sp>
        <p:sp>
          <p:nvSpPr>
            <p:cNvPr id="667758" name="Rectangle 110"/>
            <p:cNvSpPr>
              <a:spLocks noChangeArrowheads="1"/>
            </p:cNvSpPr>
            <p:nvPr/>
          </p:nvSpPr>
          <p:spPr bwMode="auto">
            <a:xfrm>
              <a:off x="5512" y="2064"/>
              <a:ext cx="2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 i="1">
                  <a:latin typeface="Times New Roman" charset="0"/>
                </a:rPr>
                <a:t>x</a:t>
              </a:r>
            </a:p>
          </p:txBody>
        </p:sp>
        <p:sp>
          <p:nvSpPr>
            <p:cNvPr id="667759" name="Rectangle 111"/>
            <p:cNvSpPr>
              <a:spLocks noChangeArrowheads="1"/>
            </p:cNvSpPr>
            <p:nvPr/>
          </p:nvSpPr>
          <p:spPr bwMode="auto">
            <a:xfrm>
              <a:off x="5512" y="2256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>
                  <a:latin typeface="Times New Roman" charset="0"/>
                </a:rPr>
                <a:t>2</a:t>
              </a:r>
            </a:p>
          </p:txBody>
        </p:sp>
        <p:sp>
          <p:nvSpPr>
            <p:cNvPr id="667760" name="Line 112"/>
            <p:cNvSpPr>
              <a:spLocks noChangeShapeType="1"/>
            </p:cNvSpPr>
            <p:nvPr/>
          </p:nvSpPr>
          <p:spPr bwMode="auto">
            <a:xfrm flipV="1">
              <a:off x="3900" y="1968"/>
              <a:ext cx="46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61" name="Oval 113"/>
            <p:cNvSpPr>
              <a:spLocks noChangeArrowheads="1"/>
            </p:cNvSpPr>
            <p:nvPr/>
          </p:nvSpPr>
          <p:spPr bwMode="auto">
            <a:xfrm>
              <a:off x="3796" y="1872"/>
              <a:ext cx="208" cy="1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solidFill>
                    <a:schemeClr val="bg1"/>
                  </a:solidFill>
                  <a:latin typeface="Times New Roman" charset="0"/>
                </a:rPr>
                <a:t>0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62" name="Line 114"/>
            <p:cNvSpPr>
              <a:spLocks noChangeShapeType="1"/>
            </p:cNvSpPr>
            <p:nvPr/>
          </p:nvSpPr>
          <p:spPr bwMode="auto">
            <a:xfrm>
              <a:off x="3536" y="1968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63" name="Line 115"/>
            <p:cNvSpPr>
              <a:spLocks noChangeShapeType="1"/>
            </p:cNvSpPr>
            <p:nvPr/>
          </p:nvSpPr>
          <p:spPr bwMode="auto">
            <a:xfrm>
              <a:off x="3432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64" name="Line 116"/>
            <p:cNvSpPr>
              <a:spLocks noChangeShapeType="1"/>
            </p:cNvSpPr>
            <p:nvPr/>
          </p:nvSpPr>
          <p:spPr bwMode="auto">
            <a:xfrm>
              <a:off x="3900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65" name="Line 117"/>
            <p:cNvSpPr>
              <a:spLocks noChangeShapeType="1"/>
            </p:cNvSpPr>
            <p:nvPr/>
          </p:nvSpPr>
          <p:spPr bwMode="auto">
            <a:xfrm>
              <a:off x="4368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66" name="Line 118"/>
            <p:cNvSpPr>
              <a:spLocks noChangeShapeType="1"/>
            </p:cNvSpPr>
            <p:nvPr/>
          </p:nvSpPr>
          <p:spPr bwMode="auto">
            <a:xfrm>
              <a:off x="4836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67" name="Line 119"/>
            <p:cNvSpPr>
              <a:spLocks noChangeShapeType="1"/>
            </p:cNvSpPr>
            <p:nvPr/>
          </p:nvSpPr>
          <p:spPr bwMode="auto">
            <a:xfrm>
              <a:off x="4472" y="1968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68" name="Line 120"/>
            <p:cNvSpPr>
              <a:spLocks noChangeShapeType="1"/>
            </p:cNvSpPr>
            <p:nvPr/>
          </p:nvSpPr>
          <p:spPr bwMode="auto">
            <a:xfrm>
              <a:off x="4472" y="2448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69" name="Line 121"/>
            <p:cNvSpPr>
              <a:spLocks noChangeShapeType="1"/>
            </p:cNvSpPr>
            <p:nvPr/>
          </p:nvSpPr>
          <p:spPr bwMode="auto">
            <a:xfrm>
              <a:off x="4004" y="2448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70" name="Oval 122"/>
            <p:cNvSpPr>
              <a:spLocks noChangeArrowheads="1"/>
            </p:cNvSpPr>
            <p:nvPr/>
          </p:nvSpPr>
          <p:spPr bwMode="auto">
            <a:xfrm>
              <a:off x="3796" y="2352"/>
              <a:ext cx="208" cy="1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solidFill>
                    <a:schemeClr val="bg1"/>
                  </a:solidFill>
                  <a:latin typeface="Times New Roman" charset="0"/>
                  <a:sym typeface="Symbol" charset="0"/>
                </a:rPr>
                <a:t>1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71" name="Oval 123"/>
            <p:cNvSpPr>
              <a:spLocks noChangeArrowheads="1"/>
            </p:cNvSpPr>
            <p:nvPr/>
          </p:nvSpPr>
          <p:spPr bwMode="auto">
            <a:xfrm>
              <a:off x="4264" y="2352"/>
              <a:ext cx="208" cy="19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2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72" name="Oval 124"/>
            <p:cNvSpPr>
              <a:spLocks noChangeArrowheads="1"/>
            </p:cNvSpPr>
            <p:nvPr/>
          </p:nvSpPr>
          <p:spPr bwMode="auto">
            <a:xfrm>
              <a:off x="4732" y="2352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73" name="Oval 125"/>
            <p:cNvSpPr>
              <a:spLocks noChangeArrowheads="1"/>
            </p:cNvSpPr>
            <p:nvPr/>
          </p:nvSpPr>
          <p:spPr bwMode="auto">
            <a:xfrm>
              <a:off x="4732" y="1872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74" name="Oval 126"/>
            <p:cNvSpPr>
              <a:spLocks noChangeArrowheads="1"/>
            </p:cNvSpPr>
            <p:nvPr/>
          </p:nvSpPr>
          <p:spPr bwMode="auto">
            <a:xfrm>
              <a:off x="4264" y="1872"/>
              <a:ext cx="208" cy="19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2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75" name="Text Box 127"/>
            <p:cNvSpPr txBox="1">
              <a:spLocks noChangeArrowheads="1"/>
            </p:cNvSpPr>
            <p:nvPr/>
          </p:nvSpPr>
          <p:spPr bwMode="auto">
            <a:xfrm>
              <a:off x="3328" y="1584"/>
              <a:ext cx="225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r</a:t>
              </a:r>
            </a:p>
          </p:txBody>
        </p:sp>
        <p:sp>
          <p:nvSpPr>
            <p:cNvPr id="667776" name="Text Box 128"/>
            <p:cNvSpPr txBox="1">
              <a:spLocks noChangeArrowheads="1"/>
            </p:cNvSpPr>
            <p:nvPr/>
          </p:nvSpPr>
          <p:spPr bwMode="auto">
            <a:xfrm>
              <a:off x="4732" y="2496"/>
              <a:ext cx="236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y</a:t>
              </a:r>
            </a:p>
          </p:txBody>
        </p:sp>
        <p:sp>
          <p:nvSpPr>
            <p:cNvPr id="667777" name="Text Box 129"/>
            <p:cNvSpPr txBox="1">
              <a:spLocks noChangeArrowheads="1"/>
            </p:cNvSpPr>
            <p:nvPr/>
          </p:nvSpPr>
          <p:spPr bwMode="auto">
            <a:xfrm>
              <a:off x="4264" y="2496"/>
              <a:ext cx="250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x</a:t>
              </a:r>
            </a:p>
          </p:txBody>
        </p:sp>
        <p:sp>
          <p:nvSpPr>
            <p:cNvPr id="667778" name="Text Box 130"/>
            <p:cNvSpPr txBox="1">
              <a:spLocks noChangeArrowheads="1"/>
            </p:cNvSpPr>
            <p:nvPr/>
          </p:nvSpPr>
          <p:spPr bwMode="auto">
            <a:xfrm>
              <a:off x="3795" y="2496"/>
              <a:ext cx="288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w</a:t>
              </a:r>
            </a:p>
          </p:txBody>
        </p:sp>
        <p:sp>
          <p:nvSpPr>
            <p:cNvPr id="667779" name="Text Box 131"/>
            <p:cNvSpPr txBox="1">
              <a:spLocks noChangeArrowheads="1"/>
            </p:cNvSpPr>
            <p:nvPr/>
          </p:nvSpPr>
          <p:spPr bwMode="auto">
            <a:xfrm>
              <a:off x="3328" y="2497"/>
              <a:ext cx="23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v</a:t>
              </a:r>
            </a:p>
          </p:txBody>
        </p:sp>
        <p:sp>
          <p:nvSpPr>
            <p:cNvPr id="667780" name="Text Box 132"/>
            <p:cNvSpPr txBox="1">
              <a:spLocks noChangeArrowheads="1"/>
            </p:cNvSpPr>
            <p:nvPr/>
          </p:nvSpPr>
          <p:spPr bwMode="auto">
            <a:xfrm>
              <a:off x="4732" y="1584"/>
              <a:ext cx="262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u</a:t>
              </a:r>
            </a:p>
          </p:txBody>
        </p:sp>
        <p:sp>
          <p:nvSpPr>
            <p:cNvPr id="667781" name="Text Box 133"/>
            <p:cNvSpPr txBox="1">
              <a:spLocks noChangeArrowheads="1"/>
            </p:cNvSpPr>
            <p:nvPr/>
          </p:nvSpPr>
          <p:spPr bwMode="auto">
            <a:xfrm>
              <a:off x="4264" y="1584"/>
              <a:ext cx="199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t</a:t>
              </a:r>
            </a:p>
          </p:txBody>
        </p:sp>
        <p:sp>
          <p:nvSpPr>
            <p:cNvPr id="667782" name="Text Box 134"/>
            <p:cNvSpPr txBox="1">
              <a:spLocks noChangeArrowheads="1"/>
            </p:cNvSpPr>
            <p:nvPr/>
          </p:nvSpPr>
          <p:spPr bwMode="auto">
            <a:xfrm>
              <a:off x="3795" y="1584"/>
              <a:ext cx="225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s</a:t>
              </a:r>
            </a:p>
          </p:txBody>
        </p:sp>
        <p:sp>
          <p:nvSpPr>
            <p:cNvPr id="667783" name="Rectangle 135"/>
            <p:cNvSpPr>
              <a:spLocks noChangeArrowheads="1"/>
            </p:cNvSpPr>
            <p:nvPr/>
          </p:nvSpPr>
          <p:spPr bwMode="auto">
            <a:xfrm>
              <a:off x="5720" y="2064"/>
              <a:ext cx="2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 i="1">
                  <a:latin typeface="Times New Roman" charset="0"/>
                </a:rPr>
                <a:t>v</a:t>
              </a:r>
            </a:p>
          </p:txBody>
        </p:sp>
        <p:sp>
          <p:nvSpPr>
            <p:cNvPr id="667784" name="Rectangle 136"/>
            <p:cNvSpPr>
              <a:spLocks noChangeArrowheads="1"/>
            </p:cNvSpPr>
            <p:nvPr/>
          </p:nvSpPr>
          <p:spPr bwMode="auto">
            <a:xfrm>
              <a:off x="5720" y="2256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>
                  <a:latin typeface="Times New Roman" charset="0"/>
                </a:rPr>
                <a:t>2</a:t>
              </a:r>
            </a:p>
          </p:txBody>
        </p:sp>
        <p:sp>
          <p:nvSpPr>
            <p:cNvPr id="667785" name="Oval 137"/>
            <p:cNvSpPr>
              <a:spLocks noChangeArrowheads="1"/>
            </p:cNvSpPr>
            <p:nvPr/>
          </p:nvSpPr>
          <p:spPr bwMode="auto">
            <a:xfrm>
              <a:off x="3328" y="2352"/>
              <a:ext cx="208" cy="19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2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786" name="Oval 138"/>
            <p:cNvSpPr>
              <a:spLocks noChangeArrowheads="1"/>
            </p:cNvSpPr>
            <p:nvPr/>
          </p:nvSpPr>
          <p:spPr bwMode="auto">
            <a:xfrm>
              <a:off x="3328" y="1872"/>
              <a:ext cx="208" cy="1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solidFill>
                    <a:schemeClr val="bg1"/>
                  </a:solidFill>
                  <a:latin typeface="Times New Roman" charset="0"/>
                  <a:sym typeface="Symbol" charset="0"/>
                </a:rPr>
                <a:t>1</a:t>
              </a:r>
              <a:endParaRPr lang="it-IT" sz="2400" b="1">
                <a:latin typeface="Times New Roman" charset="0"/>
              </a:endParaRPr>
            </a:p>
          </p:txBody>
        </p:sp>
      </p:grpSp>
      <p:grpSp>
        <p:nvGrpSpPr>
          <p:cNvPr id="667787" name="Group 139"/>
          <p:cNvGrpSpPr>
            <a:grpSpLocks/>
          </p:cNvGrpSpPr>
          <p:nvPr/>
        </p:nvGrpSpPr>
        <p:grpSpPr bwMode="auto">
          <a:xfrm>
            <a:off x="685800" y="4800600"/>
            <a:ext cx="3505200" cy="1635125"/>
            <a:chOff x="260" y="2832"/>
            <a:chExt cx="2600" cy="1267"/>
          </a:xfrm>
        </p:grpSpPr>
        <p:sp>
          <p:nvSpPr>
            <p:cNvPr id="667788" name="Line 140"/>
            <p:cNvSpPr>
              <a:spLocks noChangeShapeType="1"/>
            </p:cNvSpPr>
            <p:nvPr/>
          </p:nvSpPr>
          <p:spPr bwMode="auto">
            <a:xfrm flipH="1" flipV="1">
              <a:off x="1404" y="3216"/>
              <a:ext cx="260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89" name="Line 141"/>
            <p:cNvSpPr>
              <a:spLocks noChangeShapeType="1"/>
            </p:cNvSpPr>
            <p:nvPr/>
          </p:nvSpPr>
          <p:spPr bwMode="auto">
            <a:xfrm flipV="1">
              <a:off x="364" y="3312"/>
              <a:ext cx="0" cy="288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90" name="Line 142"/>
            <p:cNvSpPr>
              <a:spLocks noChangeShapeType="1"/>
            </p:cNvSpPr>
            <p:nvPr/>
          </p:nvSpPr>
          <p:spPr bwMode="auto">
            <a:xfrm flipH="1">
              <a:off x="936" y="3264"/>
              <a:ext cx="312" cy="336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91" name="Line 143"/>
            <p:cNvSpPr>
              <a:spLocks noChangeShapeType="1"/>
            </p:cNvSpPr>
            <p:nvPr/>
          </p:nvSpPr>
          <p:spPr bwMode="auto">
            <a:xfrm flipH="1">
              <a:off x="936" y="3696"/>
              <a:ext cx="260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92" name="Line 144"/>
            <p:cNvSpPr>
              <a:spLocks noChangeShapeType="1"/>
            </p:cNvSpPr>
            <p:nvPr/>
          </p:nvSpPr>
          <p:spPr bwMode="auto">
            <a:xfrm flipV="1">
              <a:off x="832" y="3312"/>
              <a:ext cx="0" cy="288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93" name="Line 145"/>
            <p:cNvSpPr>
              <a:spLocks noChangeShapeType="1"/>
            </p:cNvSpPr>
            <p:nvPr/>
          </p:nvSpPr>
          <p:spPr bwMode="auto">
            <a:xfrm>
              <a:off x="468" y="3216"/>
              <a:ext cx="260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794" name="Rectangle 146"/>
            <p:cNvSpPr>
              <a:spLocks noChangeArrowheads="1"/>
            </p:cNvSpPr>
            <p:nvPr/>
          </p:nvSpPr>
          <p:spPr bwMode="auto">
            <a:xfrm>
              <a:off x="2236" y="3312"/>
              <a:ext cx="2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 i="1">
                  <a:latin typeface="Times New Roman" charset="0"/>
                </a:rPr>
                <a:t>x</a:t>
              </a:r>
            </a:p>
          </p:txBody>
        </p:sp>
        <p:sp>
          <p:nvSpPr>
            <p:cNvPr id="667795" name="Text Box 147"/>
            <p:cNvSpPr txBox="1">
              <a:spLocks noChangeArrowheads="1"/>
            </p:cNvSpPr>
            <p:nvPr/>
          </p:nvSpPr>
          <p:spPr bwMode="auto">
            <a:xfrm>
              <a:off x="1924" y="3264"/>
              <a:ext cx="300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Q</a:t>
              </a:r>
            </a:p>
          </p:txBody>
        </p:sp>
        <p:sp>
          <p:nvSpPr>
            <p:cNvPr id="667796" name="Rectangle 148"/>
            <p:cNvSpPr>
              <a:spLocks noChangeArrowheads="1"/>
            </p:cNvSpPr>
            <p:nvPr/>
          </p:nvSpPr>
          <p:spPr bwMode="auto">
            <a:xfrm>
              <a:off x="2236" y="3504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>
                  <a:latin typeface="Times New Roman" charset="0"/>
                </a:rPr>
                <a:t>2</a:t>
              </a:r>
            </a:p>
          </p:txBody>
        </p:sp>
        <p:sp>
          <p:nvSpPr>
            <p:cNvPr id="667797" name="Rectangle 149"/>
            <p:cNvSpPr>
              <a:spLocks noChangeArrowheads="1"/>
            </p:cNvSpPr>
            <p:nvPr/>
          </p:nvSpPr>
          <p:spPr bwMode="auto">
            <a:xfrm>
              <a:off x="2444" y="3312"/>
              <a:ext cx="2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 i="1">
                  <a:latin typeface="Times New Roman" charset="0"/>
                </a:rPr>
                <a:t>v</a:t>
              </a:r>
            </a:p>
          </p:txBody>
        </p:sp>
        <p:sp>
          <p:nvSpPr>
            <p:cNvPr id="667798" name="Rectangle 150"/>
            <p:cNvSpPr>
              <a:spLocks noChangeArrowheads="1"/>
            </p:cNvSpPr>
            <p:nvPr/>
          </p:nvSpPr>
          <p:spPr bwMode="auto">
            <a:xfrm>
              <a:off x="2444" y="3504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>
                  <a:latin typeface="Times New Roman" charset="0"/>
                </a:rPr>
                <a:t>2</a:t>
              </a:r>
            </a:p>
          </p:txBody>
        </p:sp>
        <p:sp>
          <p:nvSpPr>
            <p:cNvPr id="667799" name="Line 151"/>
            <p:cNvSpPr>
              <a:spLocks noChangeShapeType="1"/>
            </p:cNvSpPr>
            <p:nvPr/>
          </p:nvSpPr>
          <p:spPr bwMode="auto">
            <a:xfrm flipV="1">
              <a:off x="832" y="3216"/>
              <a:ext cx="46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00" name="Oval 152"/>
            <p:cNvSpPr>
              <a:spLocks noChangeArrowheads="1"/>
            </p:cNvSpPr>
            <p:nvPr/>
          </p:nvSpPr>
          <p:spPr bwMode="auto">
            <a:xfrm>
              <a:off x="728" y="3120"/>
              <a:ext cx="208" cy="1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solidFill>
                    <a:schemeClr val="bg1"/>
                  </a:solidFill>
                  <a:latin typeface="Times New Roman" charset="0"/>
                </a:rPr>
                <a:t>0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801" name="Line 153"/>
            <p:cNvSpPr>
              <a:spLocks noChangeShapeType="1"/>
            </p:cNvSpPr>
            <p:nvPr/>
          </p:nvSpPr>
          <p:spPr bwMode="auto">
            <a:xfrm>
              <a:off x="468" y="3216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02" name="Line 154"/>
            <p:cNvSpPr>
              <a:spLocks noChangeShapeType="1"/>
            </p:cNvSpPr>
            <p:nvPr/>
          </p:nvSpPr>
          <p:spPr bwMode="auto">
            <a:xfrm>
              <a:off x="364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03" name="Line 155"/>
            <p:cNvSpPr>
              <a:spLocks noChangeShapeType="1"/>
            </p:cNvSpPr>
            <p:nvPr/>
          </p:nvSpPr>
          <p:spPr bwMode="auto">
            <a:xfrm>
              <a:off x="832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04" name="Line 156"/>
            <p:cNvSpPr>
              <a:spLocks noChangeShapeType="1"/>
            </p:cNvSpPr>
            <p:nvPr/>
          </p:nvSpPr>
          <p:spPr bwMode="auto">
            <a:xfrm>
              <a:off x="1300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05" name="Line 157"/>
            <p:cNvSpPr>
              <a:spLocks noChangeShapeType="1"/>
            </p:cNvSpPr>
            <p:nvPr/>
          </p:nvSpPr>
          <p:spPr bwMode="auto">
            <a:xfrm>
              <a:off x="176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06" name="Line 158"/>
            <p:cNvSpPr>
              <a:spLocks noChangeShapeType="1"/>
            </p:cNvSpPr>
            <p:nvPr/>
          </p:nvSpPr>
          <p:spPr bwMode="auto">
            <a:xfrm>
              <a:off x="1404" y="3216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07" name="Line 159"/>
            <p:cNvSpPr>
              <a:spLocks noChangeShapeType="1"/>
            </p:cNvSpPr>
            <p:nvPr/>
          </p:nvSpPr>
          <p:spPr bwMode="auto">
            <a:xfrm>
              <a:off x="1404" y="3696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08" name="Line 160"/>
            <p:cNvSpPr>
              <a:spLocks noChangeShapeType="1"/>
            </p:cNvSpPr>
            <p:nvPr/>
          </p:nvSpPr>
          <p:spPr bwMode="auto">
            <a:xfrm>
              <a:off x="936" y="3696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09" name="Oval 161"/>
            <p:cNvSpPr>
              <a:spLocks noChangeArrowheads="1"/>
            </p:cNvSpPr>
            <p:nvPr/>
          </p:nvSpPr>
          <p:spPr bwMode="auto">
            <a:xfrm>
              <a:off x="728" y="3600"/>
              <a:ext cx="208" cy="1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solidFill>
                    <a:schemeClr val="bg1"/>
                  </a:solidFill>
                  <a:latin typeface="Times New Roman" charset="0"/>
                  <a:sym typeface="Symbol" charset="0"/>
                </a:rPr>
                <a:t>1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810" name="Oval 162"/>
            <p:cNvSpPr>
              <a:spLocks noChangeArrowheads="1"/>
            </p:cNvSpPr>
            <p:nvPr/>
          </p:nvSpPr>
          <p:spPr bwMode="auto">
            <a:xfrm>
              <a:off x="1196" y="3600"/>
              <a:ext cx="208" cy="19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2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811" name="Oval 163"/>
            <p:cNvSpPr>
              <a:spLocks noChangeArrowheads="1"/>
            </p:cNvSpPr>
            <p:nvPr/>
          </p:nvSpPr>
          <p:spPr bwMode="auto">
            <a:xfrm>
              <a:off x="1664" y="3600"/>
              <a:ext cx="208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812" name="Oval 164"/>
            <p:cNvSpPr>
              <a:spLocks noChangeArrowheads="1"/>
            </p:cNvSpPr>
            <p:nvPr/>
          </p:nvSpPr>
          <p:spPr bwMode="auto">
            <a:xfrm>
              <a:off x="1664" y="3120"/>
              <a:ext cx="208" cy="19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3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813" name="Text Box 165"/>
            <p:cNvSpPr txBox="1">
              <a:spLocks noChangeArrowheads="1"/>
            </p:cNvSpPr>
            <p:nvPr/>
          </p:nvSpPr>
          <p:spPr bwMode="auto">
            <a:xfrm>
              <a:off x="260" y="2832"/>
              <a:ext cx="225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r</a:t>
              </a:r>
            </a:p>
          </p:txBody>
        </p:sp>
        <p:sp>
          <p:nvSpPr>
            <p:cNvPr id="667814" name="Text Box 166"/>
            <p:cNvSpPr txBox="1">
              <a:spLocks noChangeArrowheads="1"/>
            </p:cNvSpPr>
            <p:nvPr/>
          </p:nvSpPr>
          <p:spPr bwMode="auto">
            <a:xfrm>
              <a:off x="1664" y="3744"/>
              <a:ext cx="236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y</a:t>
              </a:r>
            </a:p>
          </p:txBody>
        </p:sp>
        <p:sp>
          <p:nvSpPr>
            <p:cNvPr id="667815" name="Text Box 167"/>
            <p:cNvSpPr txBox="1">
              <a:spLocks noChangeArrowheads="1"/>
            </p:cNvSpPr>
            <p:nvPr/>
          </p:nvSpPr>
          <p:spPr bwMode="auto">
            <a:xfrm>
              <a:off x="1196" y="3744"/>
              <a:ext cx="250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x</a:t>
              </a:r>
            </a:p>
          </p:txBody>
        </p:sp>
        <p:sp>
          <p:nvSpPr>
            <p:cNvPr id="667816" name="Text Box 168"/>
            <p:cNvSpPr txBox="1">
              <a:spLocks noChangeArrowheads="1"/>
            </p:cNvSpPr>
            <p:nvPr/>
          </p:nvSpPr>
          <p:spPr bwMode="auto">
            <a:xfrm>
              <a:off x="727" y="3744"/>
              <a:ext cx="288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w</a:t>
              </a:r>
            </a:p>
          </p:txBody>
        </p:sp>
        <p:sp>
          <p:nvSpPr>
            <p:cNvPr id="667817" name="Text Box 169"/>
            <p:cNvSpPr txBox="1">
              <a:spLocks noChangeArrowheads="1"/>
            </p:cNvSpPr>
            <p:nvPr/>
          </p:nvSpPr>
          <p:spPr bwMode="auto">
            <a:xfrm>
              <a:off x="260" y="3745"/>
              <a:ext cx="23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v</a:t>
              </a:r>
            </a:p>
          </p:txBody>
        </p:sp>
        <p:sp>
          <p:nvSpPr>
            <p:cNvPr id="667818" name="Text Box 170"/>
            <p:cNvSpPr txBox="1">
              <a:spLocks noChangeArrowheads="1"/>
            </p:cNvSpPr>
            <p:nvPr/>
          </p:nvSpPr>
          <p:spPr bwMode="auto">
            <a:xfrm>
              <a:off x="1664" y="2832"/>
              <a:ext cx="262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u</a:t>
              </a:r>
            </a:p>
          </p:txBody>
        </p:sp>
        <p:sp>
          <p:nvSpPr>
            <p:cNvPr id="667819" name="Text Box 171"/>
            <p:cNvSpPr txBox="1">
              <a:spLocks noChangeArrowheads="1"/>
            </p:cNvSpPr>
            <p:nvPr/>
          </p:nvSpPr>
          <p:spPr bwMode="auto">
            <a:xfrm>
              <a:off x="1196" y="2832"/>
              <a:ext cx="199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t</a:t>
              </a:r>
            </a:p>
          </p:txBody>
        </p:sp>
        <p:sp>
          <p:nvSpPr>
            <p:cNvPr id="667820" name="Text Box 172"/>
            <p:cNvSpPr txBox="1">
              <a:spLocks noChangeArrowheads="1"/>
            </p:cNvSpPr>
            <p:nvPr/>
          </p:nvSpPr>
          <p:spPr bwMode="auto">
            <a:xfrm>
              <a:off x="727" y="2832"/>
              <a:ext cx="225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s</a:t>
              </a:r>
            </a:p>
          </p:txBody>
        </p:sp>
        <p:sp>
          <p:nvSpPr>
            <p:cNvPr id="667821" name="Rectangle 173"/>
            <p:cNvSpPr>
              <a:spLocks noChangeArrowheads="1"/>
            </p:cNvSpPr>
            <p:nvPr/>
          </p:nvSpPr>
          <p:spPr bwMode="auto">
            <a:xfrm>
              <a:off x="2652" y="3312"/>
              <a:ext cx="2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 i="1">
                  <a:latin typeface="Times New Roman" charset="0"/>
                </a:rPr>
                <a:t>u</a:t>
              </a:r>
            </a:p>
          </p:txBody>
        </p:sp>
        <p:sp>
          <p:nvSpPr>
            <p:cNvPr id="667822" name="Rectangle 174"/>
            <p:cNvSpPr>
              <a:spLocks noChangeArrowheads="1"/>
            </p:cNvSpPr>
            <p:nvPr/>
          </p:nvSpPr>
          <p:spPr bwMode="auto">
            <a:xfrm>
              <a:off x="2652" y="3504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>
                  <a:latin typeface="Times New Roman" charset="0"/>
                </a:rPr>
                <a:t>3</a:t>
              </a:r>
            </a:p>
          </p:txBody>
        </p:sp>
        <p:sp>
          <p:nvSpPr>
            <p:cNvPr id="667823" name="Oval 175"/>
            <p:cNvSpPr>
              <a:spLocks noChangeArrowheads="1"/>
            </p:cNvSpPr>
            <p:nvPr/>
          </p:nvSpPr>
          <p:spPr bwMode="auto">
            <a:xfrm>
              <a:off x="260" y="3600"/>
              <a:ext cx="208" cy="19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2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824" name="Oval 176"/>
            <p:cNvSpPr>
              <a:spLocks noChangeArrowheads="1"/>
            </p:cNvSpPr>
            <p:nvPr/>
          </p:nvSpPr>
          <p:spPr bwMode="auto">
            <a:xfrm>
              <a:off x="260" y="3120"/>
              <a:ext cx="208" cy="1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solidFill>
                    <a:schemeClr val="bg1"/>
                  </a:solidFill>
                  <a:latin typeface="Times New Roman" charset="0"/>
                  <a:sym typeface="Symbol" charset="0"/>
                </a:rPr>
                <a:t>1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825" name="Oval 177"/>
            <p:cNvSpPr>
              <a:spLocks noChangeArrowheads="1"/>
            </p:cNvSpPr>
            <p:nvPr/>
          </p:nvSpPr>
          <p:spPr bwMode="auto">
            <a:xfrm>
              <a:off x="1196" y="3120"/>
              <a:ext cx="208" cy="1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solidFill>
                    <a:schemeClr val="bg1"/>
                  </a:solidFill>
                  <a:latin typeface="Times New Roman" charset="0"/>
                  <a:sym typeface="Symbol" charset="0"/>
                </a:rPr>
                <a:t>2</a:t>
              </a:r>
              <a:endParaRPr lang="it-IT" sz="2400" b="1">
                <a:latin typeface="Times New Roman" charset="0"/>
              </a:endParaRPr>
            </a:p>
          </p:txBody>
        </p:sp>
      </p:grpSp>
      <p:grpSp>
        <p:nvGrpSpPr>
          <p:cNvPr id="667826" name="Group 178"/>
          <p:cNvGrpSpPr>
            <a:grpSpLocks/>
          </p:cNvGrpSpPr>
          <p:nvPr/>
        </p:nvGrpSpPr>
        <p:grpSpPr bwMode="auto">
          <a:xfrm>
            <a:off x="5181600" y="4800600"/>
            <a:ext cx="3505200" cy="1635125"/>
            <a:chOff x="3328" y="2832"/>
            <a:chExt cx="2600" cy="1267"/>
          </a:xfrm>
        </p:grpSpPr>
        <p:sp>
          <p:nvSpPr>
            <p:cNvPr id="667827" name="Line 179"/>
            <p:cNvSpPr>
              <a:spLocks noChangeShapeType="1"/>
            </p:cNvSpPr>
            <p:nvPr/>
          </p:nvSpPr>
          <p:spPr bwMode="auto">
            <a:xfrm flipH="1" flipV="1">
              <a:off x="4472" y="3696"/>
              <a:ext cx="260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28" name="Line 180"/>
            <p:cNvSpPr>
              <a:spLocks noChangeShapeType="1"/>
            </p:cNvSpPr>
            <p:nvPr/>
          </p:nvSpPr>
          <p:spPr bwMode="auto">
            <a:xfrm flipH="1" flipV="1">
              <a:off x="4472" y="3216"/>
              <a:ext cx="260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29" name="Line 181"/>
            <p:cNvSpPr>
              <a:spLocks noChangeShapeType="1"/>
            </p:cNvSpPr>
            <p:nvPr/>
          </p:nvSpPr>
          <p:spPr bwMode="auto">
            <a:xfrm flipV="1">
              <a:off x="3432" y="3312"/>
              <a:ext cx="0" cy="288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30" name="Line 182"/>
            <p:cNvSpPr>
              <a:spLocks noChangeShapeType="1"/>
            </p:cNvSpPr>
            <p:nvPr/>
          </p:nvSpPr>
          <p:spPr bwMode="auto">
            <a:xfrm flipH="1">
              <a:off x="4004" y="3264"/>
              <a:ext cx="312" cy="336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31" name="Line 183"/>
            <p:cNvSpPr>
              <a:spLocks noChangeShapeType="1"/>
            </p:cNvSpPr>
            <p:nvPr/>
          </p:nvSpPr>
          <p:spPr bwMode="auto">
            <a:xfrm flipH="1">
              <a:off x="4004" y="3696"/>
              <a:ext cx="260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32" name="Line 184"/>
            <p:cNvSpPr>
              <a:spLocks noChangeShapeType="1"/>
            </p:cNvSpPr>
            <p:nvPr/>
          </p:nvSpPr>
          <p:spPr bwMode="auto">
            <a:xfrm flipV="1">
              <a:off x="3900" y="3312"/>
              <a:ext cx="0" cy="288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33" name="Line 185"/>
            <p:cNvSpPr>
              <a:spLocks noChangeShapeType="1"/>
            </p:cNvSpPr>
            <p:nvPr/>
          </p:nvSpPr>
          <p:spPr bwMode="auto">
            <a:xfrm>
              <a:off x="3536" y="3216"/>
              <a:ext cx="260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34" name="Rectangle 186"/>
            <p:cNvSpPr>
              <a:spLocks noChangeArrowheads="1"/>
            </p:cNvSpPr>
            <p:nvPr/>
          </p:nvSpPr>
          <p:spPr bwMode="auto">
            <a:xfrm>
              <a:off x="5304" y="3312"/>
              <a:ext cx="2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 i="1">
                  <a:latin typeface="Times New Roman" charset="0"/>
                </a:rPr>
                <a:t>v</a:t>
              </a:r>
            </a:p>
          </p:txBody>
        </p:sp>
        <p:sp>
          <p:nvSpPr>
            <p:cNvPr id="667835" name="Text Box 187"/>
            <p:cNvSpPr txBox="1">
              <a:spLocks noChangeArrowheads="1"/>
            </p:cNvSpPr>
            <p:nvPr/>
          </p:nvSpPr>
          <p:spPr bwMode="auto">
            <a:xfrm>
              <a:off x="4992" y="3264"/>
              <a:ext cx="300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Q</a:t>
              </a:r>
            </a:p>
          </p:txBody>
        </p:sp>
        <p:sp>
          <p:nvSpPr>
            <p:cNvPr id="667836" name="Rectangle 188"/>
            <p:cNvSpPr>
              <a:spLocks noChangeArrowheads="1"/>
            </p:cNvSpPr>
            <p:nvPr/>
          </p:nvSpPr>
          <p:spPr bwMode="auto">
            <a:xfrm>
              <a:off x="5304" y="3504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>
                  <a:latin typeface="Times New Roman" charset="0"/>
                </a:rPr>
                <a:t>2</a:t>
              </a:r>
            </a:p>
          </p:txBody>
        </p:sp>
        <p:sp>
          <p:nvSpPr>
            <p:cNvPr id="667837" name="Rectangle 189"/>
            <p:cNvSpPr>
              <a:spLocks noChangeArrowheads="1"/>
            </p:cNvSpPr>
            <p:nvPr/>
          </p:nvSpPr>
          <p:spPr bwMode="auto">
            <a:xfrm>
              <a:off x="5512" y="3312"/>
              <a:ext cx="2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 i="1">
                  <a:latin typeface="Times New Roman" charset="0"/>
                </a:rPr>
                <a:t>u</a:t>
              </a:r>
            </a:p>
          </p:txBody>
        </p:sp>
        <p:sp>
          <p:nvSpPr>
            <p:cNvPr id="667838" name="Rectangle 190"/>
            <p:cNvSpPr>
              <a:spLocks noChangeArrowheads="1"/>
            </p:cNvSpPr>
            <p:nvPr/>
          </p:nvSpPr>
          <p:spPr bwMode="auto">
            <a:xfrm>
              <a:off x="5512" y="3504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>
                  <a:latin typeface="Times New Roman" charset="0"/>
                </a:rPr>
                <a:t>3</a:t>
              </a:r>
            </a:p>
          </p:txBody>
        </p:sp>
        <p:sp>
          <p:nvSpPr>
            <p:cNvPr id="667839" name="Line 191"/>
            <p:cNvSpPr>
              <a:spLocks noChangeShapeType="1"/>
            </p:cNvSpPr>
            <p:nvPr/>
          </p:nvSpPr>
          <p:spPr bwMode="auto">
            <a:xfrm flipV="1">
              <a:off x="3900" y="3216"/>
              <a:ext cx="46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40" name="Oval 192"/>
            <p:cNvSpPr>
              <a:spLocks noChangeArrowheads="1"/>
            </p:cNvSpPr>
            <p:nvPr/>
          </p:nvSpPr>
          <p:spPr bwMode="auto">
            <a:xfrm>
              <a:off x="3796" y="3120"/>
              <a:ext cx="208" cy="1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solidFill>
                    <a:schemeClr val="bg1"/>
                  </a:solidFill>
                  <a:latin typeface="Times New Roman" charset="0"/>
                </a:rPr>
                <a:t>0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841" name="Line 193"/>
            <p:cNvSpPr>
              <a:spLocks noChangeShapeType="1"/>
            </p:cNvSpPr>
            <p:nvPr/>
          </p:nvSpPr>
          <p:spPr bwMode="auto">
            <a:xfrm>
              <a:off x="3536" y="3216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42" name="Line 194"/>
            <p:cNvSpPr>
              <a:spLocks noChangeShapeType="1"/>
            </p:cNvSpPr>
            <p:nvPr/>
          </p:nvSpPr>
          <p:spPr bwMode="auto">
            <a:xfrm>
              <a:off x="3432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43" name="Line 195"/>
            <p:cNvSpPr>
              <a:spLocks noChangeShapeType="1"/>
            </p:cNvSpPr>
            <p:nvPr/>
          </p:nvSpPr>
          <p:spPr bwMode="auto">
            <a:xfrm>
              <a:off x="3900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44" name="Line 196"/>
            <p:cNvSpPr>
              <a:spLocks noChangeShapeType="1"/>
            </p:cNvSpPr>
            <p:nvPr/>
          </p:nvSpPr>
          <p:spPr bwMode="auto">
            <a:xfrm>
              <a:off x="436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45" name="Line 197"/>
            <p:cNvSpPr>
              <a:spLocks noChangeShapeType="1"/>
            </p:cNvSpPr>
            <p:nvPr/>
          </p:nvSpPr>
          <p:spPr bwMode="auto">
            <a:xfrm>
              <a:off x="4836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46" name="Line 198"/>
            <p:cNvSpPr>
              <a:spLocks noChangeShapeType="1"/>
            </p:cNvSpPr>
            <p:nvPr/>
          </p:nvSpPr>
          <p:spPr bwMode="auto">
            <a:xfrm>
              <a:off x="4472" y="3216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47" name="Line 199"/>
            <p:cNvSpPr>
              <a:spLocks noChangeShapeType="1"/>
            </p:cNvSpPr>
            <p:nvPr/>
          </p:nvSpPr>
          <p:spPr bwMode="auto">
            <a:xfrm>
              <a:off x="4472" y="3696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48" name="Line 200"/>
            <p:cNvSpPr>
              <a:spLocks noChangeShapeType="1"/>
            </p:cNvSpPr>
            <p:nvPr/>
          </p:nvSpPr>
          <p:spPr bwMode="auto">
            <a:xfrm>
              <a:off x="4004" y="3696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849" name="Oval 201"/>
            <p:cNvSpPr>
              <a:spLocks noChangeArrowheads="1"/>
            </p:cNvSpPr>
            <p:nvPr/>
          </p:nvSpPr>
          <p:spPr bwMode="auto">
            <a:xfrm>
              <a:off x="3796" y="3600"/>
              <a:ext cx="208" cy="1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solidFill>
                    <a:schemeClr val="bg1"/>
                  </a:solidFill>
                  <a:latin typeface="Times New Roman" charset="0"/>
                  <a:sym typeface="Symbol" charset="0"/>
                </a:rPr>
                <a:t>1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850" name="Oval 202"/>
            <p:cNvSpPr>
              <a:spLocks noChangeArrowheads="1"/>
            </p:cNvSpPr>
            <p:nvPr/>
          </p:nvSpPr>
          <p:spPr bwMode="auto">
            <a:xfrm>
              <a:off x="4732" y="3600"/>
              <a:ext cx="208" cy="19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3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851" name="Oval 203"/>
            <p:cNvSpPr>
              <a:spLocks noChangeArrowheads="1"/>
            </p:cNvSpPr>
            <p:nvPr/>
          </p:nvSpPr>
          <p:spPr bwMode="auto">
            <a:xfrm>
              <a:off x="4732" y="3120"/>
              <a:ext cx="208" cy="19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3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852" name="Text Box 204"/>
            <p:cNvSpPr txBox="1">
              <a:spLocks noChangeArrowheads="1"/>
            </p:cNvSpPr>
            <p:nvPr/>
          </p:nvSpPr>
          <p:spPr bwMode="auto">
            <a:xfrm>
              <a:off x="3328" y="2832"/>
              <a:ext cx="225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r</a:t>
              </a:r>
            </a:p>
          </p:txBody>
        </p:sp>
        <p:sp>
          <p:nvSpPr>
            <p:cNvPr id="667853" name="Text Box 205"/>
            <p:cNvSpPr txBox="1">
              <a:spLocks noChangeArrowheads="1"/>
            </p:cNvSpPr>
            <p:nvPr/>
          </p:nvSpPr>
          <p:spPr bwMode="auto">
            <a:xfrm>
              <a:off x="4732" y="3744"/>
              <a:ext cx="236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y</a:t>
              </a:r>
            </a:p>
          </p:txBody>
        </p:sp>
        <p:sp>
          <p:nvSpPr>
            <p:cNvPr id="667854" name="Text Box 206"/>
            <p:cNvSpPr txBox="1">
              <a:spLocks noChangeArrowheads="1"/>
            </p:cNvSpPr>
            <p:nvPr/>
          </p:nvSpPr>
          <p:spPr bwMode="auto">
            <a:xfrm>
              <a:off x="4264" y="3744"/>
              <a:ext cx="250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x</a:t>
              </a:r>
            </a:p>
          </p:txBody>
        </p:sp>
        <p:sp>
          <p:nvSpPr>
            <p:cNvPr id="667855" name="Text Box 207"/>
            <p:cNvSpPr txBox="1">
              <a:spLocks noChangeArrowheads="1"/>
            </p:cNvSpPr>
            <p:nvPr/>
          </p:nvSpPr>
          <p:spPr bwMode="auto">
            <a:xfrm>
              <a:off x="3795" y="3744"/>
              <a:ext cx="288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w</a:t>
              </a:r>
            </a:p>
          </p:txBody>
        </p:sp>
        <p:sp>
          <p:nvSpPr>
            <p:cNvPr id="667856" name="Text Box 208"/>
            <p:cNvSpPr txBox="1">
              <a:spLocks noChangeArrowheads="1"/>
            </p:cNvSpPr>
            <p:nvPr/>
          </p:nvSpPr>
          <p:spPr bwMode="auto">
            <a:xfrm>
              <a:off x="3328" y="3745"/>
              <a:ext cx="237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v</a:t>
              </a:r>
            </a:p>
          </p:txBody>
        </p:sp>
        <p:sp>
          <p:nvSpPr>
            <p:cNvPr id="667857" name="Text Box 209"/>
            <p:cNvSpPr txBox="1">
              <a:spLocks noChangeArrowheads="1"/>
            </p:cNvSpPr>
            <p:nvPr/>
          </p:nvSpPr>
          <p:spPr bwMode="auto">
            <a:xfrm>
              <a:off x="4732" y="2832"/>
              <a:ext cx="262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u</a:t>
              </a:r>
            </a:p>
          </p:txBody>
        </p:sp>
        <p:sp>
          <p:nvSpPr>
            <p:cNvPr id="667858" name="Text Box 210"/>
            <p:cNvSpPr txBox="1">
              <a:spLocks noChangeArrowheads="1"/>
            </p:cNvSpPr>
            <p:nvPr/>
          </p:nvSpPr>
          <p:spPr bwMode="auto">
            <a:xfrm>
              <a:off x="4264" y="2832"/>
              <a:ext cx="199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t</a:t>
              </a:r>
            </a:p>
          </p:txBody>
        </p:sp>
        <p:sp>
          <p:nvSpPr>
            <p:cNvPr id="667859" name="Text Box 211"/>
            <p:cNvSpPr txBox="1">
              <a:spLocks noChangeArrowheads="1"/>
            </p:cNvSpPr>
            <p:nvPr/>
          </p:nvSpPr>
          <p:spPr bwMode="auto">
            <a:xfrm>
              <a:off x="3795" y="2832"/>
              <a:ext cx="225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 i="1">
                  <a:latin typeface="Times New Roman" charset="0"/>
                </a:rPr>
                <a:t>s</a:t>
              </a:r>
            </a:p>
          </p:txBody>
        </p:sp>
        <p:sp>
          <p:nvSpPr>
            <p:cNvPr id="667860" name="Rectangle 212"/>
            <p:cNvSpPr>
              <a:spLocks noChangeArrowheads="1"/>
            </p:cNvSpPr>
            <p:nvPr/>
          </p:nvSpPr>
          <p:spPr bwMode="auto">
            <a:xfrm>
              <a:off x="5720" y="3312"/>
              <a:ext cx="2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 i="1">
                  <a:latin typeface="Times New Roman" charset="0"/>
                </a:rPr>
                <a:t>y</a:t>
              </a:r>
            </a:p>
          </p:txBody>
        </p:sp>
        <p:sp>
          <p:nvSpPr>
            <p:cNvPr id="667861" name="Rectangle 213"/>
            <p:cNvSpPr>
              <a:spLocks noChangeArrowheads="1"/>
            </p:cNvSpPr>
            <p:nvPr/>
          </p:nvSpPr>
          <p:spPr bwMode="auto">
            <a:xfrm>
              <a:off x="5720" y="3504"/>
              <a:ext cx="2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70000"/>
                </a:lnSpc>
              </a:pPr>
              <a:r>
                <a:rPr lang="it-IT" sz="2400" b="1">
                  <a:latin typeface="Times New Roman" charset="0"/>
                </a:rPr>
                <a:t>3</a:t>
              </a:r>
            </a:p>
          </p:txBody>
        </p:sp>
        <p:sp>
          <p:nvSpPr>
            <p:cNvPr id="667862" name="Oval 214"/>
            <p:cNvSpPr>
              <a:spLocks noChangeArrowheads="1"/>
            </p:cNvSpPr>
            <p:nvPr/>
          </p:nvSpPr>
          <p:spPr bwMode="auto">
            <a:xfrm>
              <a:off x="3328" y="3600"/>
              <a:ext cx="208" cy="19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2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863" name="Oval 215"/>
            <p:cNvSpPr>
              <a:spLocks noChangeArrowheads="1"/>
            </p:cNvSpPr>
            <p:nvPr/>
          </p:nvSpPr>
          <p:spPr bwMode="auto">
            <a:xfrm>
              <a:off x="3328" y="3120"/>
              <a:ext cx="208" cy="1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solidFill>
                    <a:schemeClr val="bg1"/>
                  </a:solidFill>
                  <a:latin typeface="Times New Roman" charset="0"/>
                  <a:sym typeface="Symbol" charset="0"/>
                </a:rPr>
                <a:t>1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864" name="Oval 216"/>
            <p:cNvSpPr>
              <a:spLocks noChangeArrowheads="1"/>
            </p:cNvSpPr>
            <p:nvPr/>
          </p:nvSpPr>
          <p:spPr bwMode="auto">
            <a:xfrm>
              <a:off x="4264" y="3120"/>
              <a:ext cx="208" cy="1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solidFill>
                    <a:schemeClr val="bg1"/>
                  </a:solidFill>
                  <a:latin typeface="Times New Roman" charset="0"/>
                  <a:sym typeface="Symbol" charset="0"/>
                </a:rPr>
                <a:t>2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7865" name="Oval 217"/>
            <p:cNvSpPr>
              <a:spLocks noChangeArrowheads="1"/>
            </p:cNvSpPr>
            <p:nvPr/>
          </p:nvSpPr>
          <p:spPr bwMode="auto">
            <a:xfrm>
              <a:off x="4264" y="3600"/>
              <a:ext cx="208" cy="1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solidFill>
                    <a:schemeClr val="bg1"/>
                  </a:solidFill>
                  <a:latin typeface="Times New Roman" charset="0"/>
                  <a:sym typeface="Symbol" charset="0"/>
                </a:rPr>
                <a:t>2</a:t>
              </a:r>
              <a:endParaRPr lang="it-IT" sz="2400" b="1">
                <a:latin typeface="Times New Roman" charset="0"/>
              </a:endParaRPr>
            </a:p>
          </p:txBody>
        </p:sp>
      </p:grpSp>
      <p:sp>
        <p:nvSpPr>
          <p:cNvPr id="667866" name="Rectangle 218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BFS: Esempio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8" name="Text Box 2"/>
          <p:cNvSpPr txBox="1">
            <a:spLocks noChangeArrowheads="1"/>
          </p:cNvSpPr>
          <p:nvPr/>
        </p:nvSpPr>
        <p:spPr bwMode="auto">
          <a:xfrm>
            <a:off x="539552" y="1340768"/>
            <a:ext cx="8077200" cy="48641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400" b="1" i="1" dirty="0">
                <a:latin typeface="Times New Roman" charset="0"/>
                <a:sym typeface="Symbol" charset="0"/>
              </a:rPr>
              <a:t>BFS</a:t>
            </a:r>
            <a:r>
              <a:rPr lang="it-IT" sz="2400" b="1" dirty="0">
                <a:latin typeface="Times New Roman" charset="0"/>
                <a:sym typeface="Symbol" charset="0"/>
              </a:rPr>
              <a:t>(</a:t>
            </a:r>
            <a:r>
              <a:rPr lang="it-IT" sz="2400" b="1" i="1" dirty="0">
                <a:latin typeface="Times New Roman" charset="0"/>
                <a:sym typeface="Symbol" charset="0"/>
              </a:rPr>
              <a:t>G</a:t>
            </a:r>
            <a:r>
              <a:rPr lang="it-IT" sz="2400" b="1" dirty="0">
                <a:latin typeface="Times New Roman" charset="0"/>
                <a:sym typeface="Symbol" charset="0"/>
              </a:rPr>
              <a:t>, 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400" b="1" dirty="0">
                <a:latin typeface="Times New Roman" charset="0"/>
                <a:sym typeface="Symbol" charset="0"/>
              </a:rPr>
              <a:t>)</a:t>
            </a: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for “ogni vertice </a:t>
            </a:r>
            <a:r>
              <a:rPr lang="it-IT" sz="2400" b="1" i="1" dirty="0"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latin typeface="Times New Roman" charset="0"/>
                <a:sym typeface="Symbol" charset="0"/>
              </a:rPr>
              <a:t>  </a:t>
            </a:r>
            <a:r>
              <a:rPr lang="it-IT" sz="2400" b="1" i="1" dirty="0"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latin typeface="Times New Roman" charset="0"/>
                <a:sym typeface="Symbol" charset="0"/>
              </a:rPr>
              <a:t>G</a:t>
            </a:r>
            <a:r>
              <a:rPr lang="it-IT" sz="2400" b="1" dirty="0">
                <a:latin typeface="Times New Roman" charset="0"/>
                <a:sym typeface="Symbol" charset="0"/>
              </a:rPr>
              <a:t>]” do</a:t>
            </a: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   </a:t>
            </a:r>
            <a:r>
              <a:rPr lang="it-IT" sz="2400" b="1" i="1" dirty="0">
                <a:latin typeface="Times New Roman" charset="0"/>
                <a:sym typeface="Symbol" charset="0"/>
              </a:rPr>
              <a:t>color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latin typeface="Times New Roman" charset="0"/>
                <a:sym typeface="Symbol" charset="0"/>
              </a:rPr>
              <a:t>]  </a:t>
            </a:r>
            <a:r>
              <a:rPr lang="it-IT" sz="2400" b="1" i="1" dirty="0">
                <a:latin typeface="Times New Roman" charset="0"/>
                <a:sym typeface="Symbol" charset="0"/>
              </a:rPr>
              <a:t>bianco</a:t>
            </a:r>
            <a:r>
              <a:rPr lang="it-IT" sz="2400" b="1" dirty="0">
                <a:latin typeface="Times New Roman" charset="0"/>
                <a:sym typeface="Symbol" charset="0"/>
              </a:rPr>
              <a:t>,</a:t>
            </a:r>
            <a:r>
              <a:rPr lang="it-IT" sz="2400" b="1" i="1" dirty="0">
                <a:latin typeface="Times New Roman" charset="0"/>
                <a:sym typeface="Symbol" charset="0"/>
              </a:rPr>
              <a:t> d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latin typeface="Times New Roman" charset="0"/>
                <a:sym typeface="Symbol" charset="0"/>
              </a:rPr>
              <a:t>]  , 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p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latin typeface="Times New Roman" charset="0"/>
                <a:sym typeface="Symbol" charset="0"/>
              </a:rPr>
              <a:t>]  </a:t>
            </a:r>
            <a:r>
              <a:rPr lang="it-IT" sz="2400" b="1" dirty="0" err="1">
                <a:latin typeface="Times New Roman" charset="0"/>
                <a:sym typeface="Symbol" charset="0"/>
              </a:rPr>
              <a:t>nil</a:t>
            </a:r>
            <a:endParaRPr lang="it-IT" sz="2400" b="1" dirty="0">
              <a:latin typeface="Times New Roman" charset="0"/>
              <a:sym typeface="Symbol" charset="0"/>
            </a:endParaRP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</a:t>
            </a:r>
            <a:r>
              <a:rPr lang="it-IT" sz="2400" b="1" i="1" dirty="0">
                <a:latin typeface="Times New Roman" charset="0"/>
                <a:sym typeface="Symbol" charset="0"/>
              </a:rPr>
              <a:t>color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400" b="1" dirty="0">
                <a:latin typeface="Times New Roman" charset="0"/>
                <a:sym typeface="Symbol" charset="0"/>
              </a:rPr>
              <a:t>]  </a:t>
            </a:r>
            <a:r>
              <a:rPr lang="it-IT" sz="2400" b="1" i="1" dirty="0">
                <a:latin typeface="Times New Roman" charset="0"/>
                <a:sym typeface="Symbol" charset="0"/>
              </a:rPr>
              <a:t>grigio</a:t>
            </a:r>
            <a:r>
              <a:rPr lang="it-IT" sz="2400" b="1" dirty="0">
                <a:latin typeface="Times New Roman" charset="0"/>
                <a:sym typeface="Symbol" charset="0"/>
              </a:rPr>
              <a:t>,</a:t>
            </a:r>
            <a:r>
              <a:rPr lang="it-IT" sz="2400" b="1" i="1" dirty="0">
                <a:latin typeface="Times New Roman" charset="0"/>
                <a:sym typeface="Symbol" charset="0"/>
              </a:rPr>
              <a:t> d</a:t>
            </a:r>
            <a:r>
              <a:rPr lang="it-IT" sz="2400" b="1" dirty="0">
                <a:latin typeface="Times New Roman" charset="0"/>
                <a:sym typeface="Symbol" charset="0"/>
              </a:rPr>
              <a:t>[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400" b="1" dirty="0">
                <a:latin typeface="Times New Roman" charset="0"/>
                <a:sym typeface="Symbol" charset="0"/>
              </a:rPr>
              <a:t>]  0</a:t>
            </a: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Enqueue</a:t>
            </a:r>
            <a:r>
              <a:rPr lang="it-IT" sz="2400" b="1" dirty="0">
                <a:latin typeface="Times New Roman" charset="0"/>
                <a:sym typeface="Symbol" charset="0"/>
              </a:rPr>
              <a:t>(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Q</a:t>
            </a:r>
            <a:r>
              <a:rPr lang="it-IT" sz="2400" b="1" dirty="0">
                <a:latin typeface="Times New Roman" charset="0"/>
                <a:sym typeface="Symbol" charset="0"/>
              </a:rPr>
              <a:t>, </a:t>
            </a:r>
            <a:r>
              <a:rPr lang="it-IT" sz="24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400" b="1" dirty="0">
                <a:latin typeface="Times New Roman" charset="0"/>
                <a:sym typeface="Symbol" charset="0"/>
              </a:rPr>
              <a:t>)</a:t>
            </a: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</a:t>
            </a:r>
            <a:r>
              <a:rPr lang="it-IT" sz="2400" b="1" dirty="0" err="1">
                <a:solidFill>
                  <a:schemeClr val="folHlink"/>
                </a:solidFill>
                <a:latin typeface="Times New Roman" charset="0"/>
                <a:sym typeface="Symbol" charset="0"/>
              </a:rPr>
              <a:t>while</a:t>
            </a:r>
            <a:r>
              <a:rPr lang="it-IT" sz="2400" b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 </a:t>
            </a:r>
            <a:r>
              <a:rPr lang="it-IT" sz="2400" b="1" dirty="0" err="1">
                <a:solidFill>
                  <a:schemeClr val="folHlink"/>
                </a:solidFill>
                <a:latin typeface="Times New Roman" charset="0"/>
                <a:sym typeface="Symbol" charset="0"/>
              </a:rPr>
              <a:t>not</a:t>
            </a:r>
            <a:r>
              <a:rPr lang="it-IT" sz="2400" b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 </a:t>
            </a:r>
            <a:r>
              <a:rPr lang="it-IT" sz="2400" b="1" i="1" dirty="0" err="1">
                <a:solidFill>
                  <a:schemeClr val="folHlink"/>
                </a:solidFill>
                <a:latin typeface="Times New Roman" charset="0"/>
                <a:sym typeface="Symbol" charset="0"/>
              </a:rPr>
              <a:t>Empty</a:t>
            </a:r>
            <a:r>
              <a:rPr lang="it-IT" sz="2400" b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(</a:t>
            </a:r>
            <a:r>
              <a:rPr lang="it-IT" sz="2400" b="1" i="1" dirty="0" err="1">
                <a:solidFill>
                  <a:schemeClr val="folHlink"/>
                </a:solidFill>
                <a:latin typeface="Times New Roman" charset="0"/>
                <a:sym typeface="Symbol" charset="0"/>
              </a:rPr>
              <a:t>Q</a:t>
            </a:r>
            <a:r>
              <a:rPr lang="it-IT" sz="2400" b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) do</a:t>
            </a:r>
          </a:p>
          <a:p>
            <a:pPr eaLnBrk="0" hangingPunct="0"/>
            <a:r>
              <a:rPr lang="it-IT" sz="2400" b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      </a:t>
            </a:r>
            <a:r>
              <a:rPr lang="it-IT" sz="2400" b="1" i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u</a:t>
            </a:r>
            <a:r>
              <a:rPr lang="it-IT" sz="2400" b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  </a:t>
            </a:r>
            <a:r>
              <a:rPr lang="it-IT" sz="2400" b="1" i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First</a:t>
            </a:r>
            <a:r>
              <a:rPr lang="it-IT" sz="2400" b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(</a:t>
            </a:r>
            <a:r>
              <a:rPr lang="it-IT" sz="2400" b="1" i="1" dirty="0" err="1">
                <a:solidFill>
                  <a:schemeClr val="folHlink"/>
                </a:solidFill>
                <a:latin typeface="Times New Roman" charset="0"/>
                <a:sym typeface="Symbol" charset="0"/>
              </a:rPr>
              <a:t>Q</a:t>
            </a:r>
            <a:r>
              <a:rPr lang="it-IT" sz="2400" b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)</a:t>
            </a: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   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for “ogni </a:t>
            </a:r>
            <a:r>
              <a:rPr lang="it-IT" sz="2400" b="1" i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  </a:t>
            </a:r>
            <a:r>
              <a:rPr lang="it-IT" sz="2400" b="1" i="1" dirty="0" err="1">
                <a:solidFill>
                  <a:srgbClr val="FF3300"/>
                </a:solidFill>
                <a:latin typeface="Times New Roman" charset="0"/>
                <a:sym typeface="Symbol" charset="0"/>
              </a:rPr>
              <a:t>Adj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u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]” do</a:t>
            </a:r>
          </a:p>
          <a:p>
            <a:pPr eaLnBrk="0" hangingPunct="0"/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         </a:t>
            </a:r>
            <a:r>
              <a:rPr lang="it-IT" sz="2400" b="1" dirty="0" err="1">
                <a:solidFill>
                  <a:srgbClr val="FF3300"/>
                </a:solidFill>
                <a:latin typeface="Times New Roman" charset="0"/>
                <a:sym typeface="Symbol" charset="0"/>
              </a:rPr>
              <a:t>if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 </a:t>
            </a:r>
            <a:r>
              <a:rPr lang="it-IT" sz="2400" b="1" i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color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] = </a:t>
            </a:r>
            <a:r>
              <a:rPr lang="it-IT" sz="2400" b="1" i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bianco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 </a:t>
            </a:r>
            <a:r>
              <a:rPr lang="it-IT" sz="2400" b="1" dirty="0" err="1">
                <a:solidFill>
                  <a:srgbClr val="FF3300"/>
                </a:solidFill>
                <a:latin typeface="Times New Roman" charset="0"/>
                <a:sym typeface="Symbol" charset="0"/>
              </a:rPr>
              <a:t>then</a:t>
            </a:r>
            <a:endParaRPr lang="it-IT" sz="2400" b="1" dirty="0">
              <a:solidFill>
                <a:srgbClr val="FF3300"/>
              </a:solidFill>
              <a:latin typeface="Times New Roman" charset="0"/>
              <a:sym typeface="Symbol" charset="0"/>
            </a:endParaRPr>
          </a:p>
          <a:p>
            <a:pPr eaLnBrk="0" hangingPunct="0"/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            </a:t>
            </a:r>
            <a:r>
              <a:rPr lang="it-IT" sz="2400" b="1" i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color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]  </a:t>
            </a:r>
            <a:r>
              <a:rPr lang="it-IT" sz="2400" b="1" i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grigio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,</a:t>
            </a:r>
            <a:r>
              <a:rPr lang="it-IT" sz="2400" b="1" i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 d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]  </a:t>
            </a:r>
            <a:r>
              <a:rPr lang="it-IT" sz="2400" b="1" i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d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u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] + 1, </a:t>
            </a:r>
            <a:r>
              <a:rPr lang="it-IT" sz="2400" b="1" i="1" dirty="0" err="1">
                <a:solidFill>
                  <a:srgbClr val="FF3300"/>
                </a:solidFill>
                <a:latin typeface="Times New Roman" charset="0"/>
                <a:sym typeface="Symbol" charset="0"/>
              </a:rPr>
              <a:t>p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]  </a:t>
            </a:r>
            <a:r>
              <a:rPr lang="it-IT" sz="2400" b="1" i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u</a:t>
            </a:r>
            <a:endParaRPr lang="it-IT" sz="2400" b="1" dirty="0">
              <a:solidFill>
                <a:srgbClr val="FF3300"/>
              </a:solidFill>
              <a:latin typeface="Times New Roman" charset="0"/>
              <a:sym typeface="Symbol" charset="0"/>
            </a:endParaRPr>
          </a:p>
          <a:p>
            <a:pPr eaLnBrk="0" hangingPunct="0"/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            </a:t>
            </a:r>
            <a:r>
              <a:rPr lang="it-IT" sz="2400" b="1" i="1" dirty="0" err="1">
                <a:solidFill>
                  <a:srgbClr val="FF3300"/>
                </a:solidFill>
                <a:latin typeface="Times New Roman" charset="0"/>
                <a:sym typeface="Symbol" charset="0"/>
              </a:rPr>
              <a:t>Enqueue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(</a:t>
            </a:r>
            <a:r>
              <a:rPr lang="it-IT" sz="2400" b="1" i="1" dirty="0" err="1">
                <a:solidFill>
                  <a:srgbClr val="FF3300"/>
                </a:solidFill>
                <a:latin typeface="Times New Roman" charset="0"/>
                <a:sym typeface="Symbol" charset="0"/>
              </a:rPr>
              <a:t>Q</a:t>
            </a:r>
            <a:r>
              <a:rPr lang="it-IT" sz="2400" b="1" dirty="0" err="1">
                <a:solidFill>
                  <a:srgbClr val="FF3300"/>
                </a:solidFill>
                <a:latin typeface="Times New Roman" charset="0"/>
                <a:sym typeface="Symbol" charset="0"/>
              </a:rPr>
              <a:t>,</a:t>
            </a:r>
            <a:r>
              <a:rPr lang="it-IT" sz="2400" b="1" i="1" dirty="0" err="1">
                <a:solidFill>
                  <a:srgbClr val="FF3300"/>
                </a:solidFill>
                <a:latin typeface="Times New Roman" charset="0"/>
                <a:sym typeface="Symbol" charset="0"/>
              </a:rPr>
              <a:t>v</a:t>
            </a:r>
            <a:r>
              <a:rPr lang="it-IT" sz="2400" b="1" dirty="0">
                <a:solidFill>
                  <a:srgbClr val="FF3300"/>
                </a:solidFill>
                <a:latin typeface="Times New Roman" charset="0"/>
                <a:sym typeface="Symbol" charset="0"/>
              </a:rPr>
              <a:t>)</a:t>
            </a:r>
          </a:p>
          <a:p>
            <a:pPr eaLnBrk="0" hangingPunct="0"/>
            <a:r>
              <a:rPr lang="it-IT" sz="2400" b="1" dirty="0">
                <a:latin typeface="Times New Roman" charset="0"/>
                <a:sym typeface="Symbol" charset="0"/>
              </a:rPr>
              <a:t>      </a:t>
            </a:r>
            <a:r>
              <a:rPr lang="it-IT" sz="2400" b="1" i="1" dirty="0" err="1">
                <a:solidFill>
                  <a:schemeClr val="folHlink"/>
                </a:solidFill>
                <a:latin typeface="Times New Roman" charset="0"/>
                <a:sym typeface="Symbol" charset="0"/>
              </a:rPr>
              <a:t>Dequeue</a:t>
            </a:r>
            <a:r>
              <a:rPr lang="it-IT" sz="2400" b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(</a:t>
            </a:r>
            <a:r>
              <a:rPr lang="it-IT" sz="2400" b="1" i="1" dirty="0" err="1">
                <a:solidFill>
                  <a:schemeClr val="folHlink"/>
                </a:solidFill>
                <a:latin typeface="Times New Roman" charset="0"/>
                <a:sym typeface="Symbol" charset="0"/>
              </a:rPr>
              <a:t>Q</a:t>
            </a:r>
            <a:r>
              <a:rPr lang="it-IT" sz="2400" b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)</a:t>
            </a:r>
          </a:p>
          <a:p>
            <a:pPr eaLnBrk="0" hangingPunct="0"/>
            <a:r>
              <a:rPr lang="it-IT" sz="2400" b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      </a:t>
            </a:r>
            <a:r>
              <a:rPr lang="it-IT" sz="2400" b="1" i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color</a:t>
            </a:r>
            <a:r>
              <a:rPr lang="it-IT" sz="2400" b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[</a:t>
            </a:r>
            <a:r>
              <a:rPr lang="it-IT" sz="2400" b="1" i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u</a:t>
            </a:r>
            <a:r>
              <a:rPr lang="it-IT" sz="2400" b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]  </a:t>
            </a:r>
            <a:r>
              <a:rPr lang="it-IT" sz="2400" b="1" i="1" dirty="0">
                <a:solidFill>
                  <a:schemeClr val="folHlink"/>
                </a:solidFill>
                <a:latin typeface="Times New Roman" charset="0"/>
                <a:sym typeface="Symbol" charset="0"/>
              </a:rPr>
              <a:t>nero</a:t>
            </a:r>
            <a:endParaRPr lang="it-IT" sz="2400" b="1" i="1" dirty="0">
              <a:solidFill>
                <a:schemeClr val="accent2"/>
              </a:solidFill>
              <a:latin typeface="Times New Roman" charset="0"/>
              <a:sym typeface="Symbol" charset="0"/>
            </a:endParaRPr>
          </a:p>
        </p:txBody>
      </p:sp>
      <p:sp>
        <p:nvSpPr>
          <p:cNvPr id="669699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BFS: Analisi di complessità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BFS: Analisi di complessità</a:t>
            </a:r>
            <a:endParaRPr lang="it-IT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Valutiamo la complessità di BFS in funzione del numero di vertici </a:t>
            </a:r>
            <a:r>
              <a:rPr lang="it-IT" dirty="0" err="1" smtClean="0"/>
              <a:t>n</a:t>
            </a:r>
            <a:r>
              <a:rPr lang="it-IT" dirty="0" smtClean="0"/>
              <a:t> = |V | e del numero di archi m = |E | del grafo G = (V,E). </a:t>
            </a:r>
          </a:p>
          <a:p>
            <a:r>
              <a:rPr lang="it-IT" dirty="0" smtClean="0"/>
              <a:t>L’inizializzazione richiede tempo O(</a:t>
            </a:r>
            <a:r>
              <a:rPr lang="it-IT" dirty="0" err="1" smtClean="0"/>
              <a:t>n</a:t>
            </a:r>
            <a:r>
              <a:rPr lang="it-IT" dirty="0" smtClean="0"/>
              <a:t>) dovendo percorrere tutti i vertici del grafo.</a:t>
            </a:r>
          </a:p>
          <a:p>
            <a:r>
              <a:rPr lang="it-IT" dirty="0" smtClean="0"/>
              <a:t>Dopo l’inizializzazione nessun vertice viene più colorato bianco e questo ci assicura che ogni vertice verrà inserito nella coda al più una sola volta. Quindi il ciclo </a:t>
            </a:r>
            <a:r>
              <a:rPr lang="it-IT" dirty="0" err="1" smtClean="0"/>
              <a:t>while</a:t>
            </a:r>
            <a:r>
              <a:rPr lang="it-IT" dirty="0" smtClean="0"/>
              <a:t> viene eseguito al più </a:t>
            </a:r>
            <a:r>
              <a:rPr lang="it-IT" dirty="0" err="1" smtClean="0"/>
              <a:t>n</a:t>
            </a:r>
            <a:r>
              <a:rPr lang="it-IT" dirty="0" smtClean="0"/>
              <a:t> volte.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7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BFS: Analisi di complessità</a:t>
            </a:r>
            <a:endParaRPr lang="it-IT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Il tempo richiesto per il ciclo </a:t>
            </a:r>
            <a:r>
              <a:rPr lang="it-IT" dirty="0" err="1" smtClean="0"/>
              <a:t>while</a:t>
            </a:r>
            <a:r>
              <a:rPr lang="it-IT" dirty="0" smtClean="0"/>
              <a:t> è dunque O(</a:t>
            </a:r>
            <a:r>
              <a:rPr lang="it-IT" dirty="0" err="1" smtClean="0"/>
              <a:t>n</a:t>
            </a:r>
            <a:r>
              <a:rPr lang="it-IT" dirty="0" smtClean="0"/>
              <a:t>) più il tempo richiesto per eseguire i cicli for interni.</a:t>
            </a:r>
          </a:p>
          <a:p>
            <a:r>
              <a:rPr lang="it-IT" dirty="0" smtClean="0"/>
              <a:t>I cicli for interni percorrono una sola volta le liste di adiacenza di ciascun vertice visitato.</a:t>
            </a:r>
          </a:p>
          <a:p>
            <a:r>
              <a:rPr lang="it-IT" dirty="0" smtClean="0"/>
              <a:t>Siccome la somma delle lunghezze di tutte  le liste è O(m) possiamo concludere che la complessità è O(</a:t>
            </a:r>
            <a:r>
              <a:rPr lang="it-IT" dirty="0" err="1" smtClean="0"/>
              <a:t>n+m</a:t>
            </a:r>
            <a:r>
              <a:rPr lang="it-IT" dirty="0" smtClean="0"/>
              <a:t>)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BFS: Correttezza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Indichiamo con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</a:t>
            </a: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</a:rPr>
              <a:t>u,v</a:t>
            </a:r>
            <a:r>
              <a:rPr lang="it-IT" dirty="0">
                <a:solidFill>
                  <a:srgbClr val="FF0000"/>
                </a:solidFill>
              </a:rPr>
              <a:t>)</a:t>
            </a:r>
            <a:r>
              <a:rPr lang="it-IT" dirty="0"/>
              <a:t> la distanza del vertice </a:t>
            </a:r>
            <a:r>
              <a:rPr lang="it-IT" dirty="0">
                <a:solidFill>
                  <a:srgbClr val="FF0000"/>
                </a:solidFill>
              </a:rPr>
              <a:t>v</a:t>
            </a:r>
            <a:r>
              <a:rPr lang="it-IT" dirty="0"/>
              <a:t> dal vertice </a:t>
            </a:r>
            <a:r>
              <a:rPr lang="it-IT" dirty="0">
                <a:solidFill>
                  <a:srgbClr val="FF0000"/>
                </a:solidFill>
              </a:rPr>
              <a:t>u</a:t>
            </a:r>
            <a:r>
              <a:rPr lang="it-IT" dirty="0"/>
              <a:t>, ossia la lunghezza di un cammino minimo  che congiunge </a:t>
            </a:r>
            <a:r>
              <a:rPr lang="it-IT" dirty="0">
                <a:solidFill>
                  <a:srgbClr val="FF0000"/>
                </a:solidFill>
              </a:rPr>
              <a:t>u</a:t>
            </a:r>
            <a:r>
              <a:rPr lang="it-IT" dirty="0"/>
              <a:t> a </a:t>
            </a:r>
            <a:r>
              <a:rPr lang="it-IT" dirty="0">
                <a:solidFill>
                  <a:srgbClr val="FF0000"/>
                </a:solidFill>
              </a:rPr>
              <a:t>v</a:t>
            </a:r>
            <a:r>
              <a:rPr lang="it-IT" dirty="0"/>
              <a:t>. </a:t>
            </a:r>
          </a:p>
          <a:p>
            <a:r>
              <a:rPr lang="it-IT" dirty="0"/>
              <a:t>Convenzionalmente, se </a:t>
            </a:r>
            <a:r>
              <a:rPr lang="it-IT" dirty="0">
                <a:solidFill>
                  <a:srgbClr val="FF0000"/>
                </a:solidFill>
              </a:rPr>
              <a:t>v</a:t>
            </a:r>
            <a:r>
              <a:rPr lang="it-IT" dirty="0"/>
              <a:t> non è raggiungibile da </a:t>
            </a:r>
            <a:r>
              <a:rPr lang="it-IT" dirty="0">
                <a:solidFill>
                  <a:srgbClr val="FF0000"/>
                </a:solidFill>
              </a:rPr>
              <a:t>u</a:t>
            </a:r>
            <a:r>
              <a:rPr lang="it-IT" dirty="0"/>
              <a:t> poniamo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</a:t>
            </a: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</a:rPr>
              <a:t>u,v</a:t>
            </a:r>
            <a:r>
              <a:rPr lang="it-IT" dirty="0">
                <a:solidFill>
                  <a:srgbClr val="FF0000"/>
                </a:solidFill>
              </a:rPr>
              <a:t>) =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</a:t>
            </a:r>
            <a:r>
              <a:rPr lang="it-IT" dirty="0"/>
              <a:t>.</a:t>
            </a:r>
          </a:p>
          <a:p>
            <a:r>
              <a:rPr lang="it-IT" dirty="0" smtClean="0"/>
              <a:t>Valgono le seguenti proprietà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BFS: Correttezza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1196752"/>
            <a:ext cx="8568952" cy="453650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it-IT" dirty="0">
                <a:solidFill>
                  <a:schemeClr val="tx1"/>
                </a:solidFill>
              </a:rPr>
              <a:t>Proprietà delle </a:t>
            </a:r>
            <a:r>
              <a:rPr lang="it-IT" dirty="0" smtClean="0">
                <a:solidFill>
                  <a:schemeClr val="tx1"/>
                </a:solidFill>
              </a:rPr>
              <a:t>distanze</a:t>
            </a:r>
            <a:endParaRPr lang="it-IT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FF0000"/>
                </a:solidFill>
                <a:sym typeface="Symbol" charset="0"/>
              </a:rPr>
              <a:t></a:t>
            </a: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</a:rPr>
              <a:t>x,v</a:t>
            </a:r>
            <a:r>
              <a:rPr lang="it-IT" dirty="0">
                <a:solidFill>
                  <a:srgbClr val="FF0000"/>
                </a:solidFill>
              </a:rPr>
              <a:t>)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 </a:t>
            </a: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</a:rPr>
              <a:t>x,u</a:t>
            </a:r>
            <a:r>
              <a:rPr lang="it-IT" dirty="0">
                <a:solidFill>
                  <a:srgbClr val="FF0000"/>
                </a:solidFill>
              </a:rPr>
              <a:t>) + 1 per ogni x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 </a:t>
            </a:r>
            <a:r>
              <a:rPr lang="it-IT" dirty="0">
                <a:solidFill>
                  <a:srgbClr val="FF0000"/>
                </a:solidFill>
              </a:rPr>
              <a:t>V e ogni </a:t>
            </a:r>
            <a:r>
              <a:rPr lang="it-IT" dirty="0" err="1">
                <a:solidFill>
                  <a:srgbClr val="FF0000"/>
                </a:solidFill>
              </a:rPr>
              <a:t>uv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 </a:t>
            </a:r>
            <a:r>
              <a:rPr lang="it-IT" dirty="0" smtClean="0">
                <a:solidFill>
                  <a:srgbClr val="FF0000"/>
                </a:solidFill>
              </a:rPr>
              <a:t>E</a:t>
            </a:r>
            <a:endParaRPr lang="it-IT" dirty="0">
              <a:solidFill>
                <a:srgbClr val="FF0000"/>
              </a:solidFill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it-IT" dirty="0">
                <a:solidFill>
                  <a:schemeClr val="tx1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    Dimostrazione</a:t>
            </a:r>
            <a:endParaRPr lang="it-IT" dirty="0">
              <a:solidFill>
                <a:schemeClr val="tx1"/>
              </a:solidFill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it-IT" dirty="0"/>
              <a:t>Se </a:t>
            </a:r>
            <a:r>
              <a:rPr lang="it-IT" b="1" i="1" dirty="0">
                <a:solidFill>
                  <a:srgbClr val="FF0000"/>
                </a:solidFill>
              </a:rPr>
              <a:t>u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non è raggiungibile da </a:t>
            </a:r>
            <a:r>
              <a:rPr lang="it-IT" b="1" i="1" dirty="0" err="1"/>
              <a:t>s</a:t>
            </a:r>
            <a:r>
              <a:rPr lang="it-IT" dirty="0"/>
              <a:t> allora</a:t>
            </a:r>
          </a:p>
          <a:p>
            <a:pPr marL="0" indent="0" algn="ctr">
              <a:spcBef>
                <a:spcPct val="20000"/>
              </a:spcBef>
              <a:buNone/>
            </a:pPr>
            <a:r>
              <a:rPr lang="it-IT" b="1" i="1" dirty="0">
                <a:solidFill>
                  <a:srgbClr val="FF0000"/>
                </a:solidFill>
                <a:sym typeface="Symbol" charset="0"/>
              </a:rPr>
              <a:t></a:t>
            </a:r>
            <a:r>
              <a:rPr lang="it-IT" b="1" dirty="0">
                <a:solidFill>
                  <a:srgbClr val="FF0000"/>
                </a:solidFill>
              </a:rPr>
              <a:t>(</a:t>
            </a:r>
            <a:r>
              <a:rPr lang="it-IT" b="1" i="1" dirty="0" err="1">
                <a:solidFill>
                  <a:srgbClr val="FF0000"/>
                </a:solidFill>
              </a:rPr>
              <a:t>x,v</a:t>
            </a:r>
            <a:r>
              <a:rPr lang="it-IT" b="1" dirty="0">
                <a:solidFill>
                  <a:srgbClr val="FF0000"/>
                </a:solidFill>
              </a:rPr>
              <a:t>)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 </a:t>
            </a:r>
            <a:r>
              <a:rPr lang="it-IT" b="1" i="1" dirty="0">
                <a:solidFill>
                  <a:srgbClr val="FF0000"/>
                </a:solidFill>
                <a:sym typeface="Symbol" charset="0"/>
              </a:rPr>
              <a:t></a:t>
            </a:r>
            <a:r>
              <a:rPr lang="it-IT" b="1" dirty="0">
                <a:solidFill>
                  <a:srgbClr val="FF0000"/>
                </a:solidFill>
              </a:rPr>
              <a:t>(</a:t>
            </a:r>
            <a:r>
              <a:rPr lang="it-IT" b="1" i="1" dirty="0" err="1">
                <a:solidFill>
                  <a:srgbClr val="FF0000"/>
                </a:solidFill>
              </a:rPr>
              <a:t>x,u</a:t>
            </a:r>
            <a:r>
              <a:rPr lang="it-IT" b="1" dirty="0">
                <a:solidFill>
                  <a:srgbClr val="FF0000"/>
                </a:solidFill>
              </a:rPr>
              <a:t>) + 1</a:t>
            </a:r>
            <a:r>
              <a:rPr lang="it-IT" b="1" i="1" dirty="0">
                <a:solidFill>
                  <a:srgbClr val="FF0000"/>
                </a:solidFill>
              </a:rPr>
              <a:t> = </a:t>
            </a:r>
            <a:r>
              <a:rPr lang="it-IT" b="1" dirty="0">
                <a:solidFill>
                  <a:srgbClr val="FF0000"/>
                </a:solidFill>
                <a:sym typeface="Symbol" charset="0"/>
              </a:rPr>
              <a:t></a:t>
            </a:r>
            <a:r>
              <a:rPr lang="it-IT" b="1" i="1" dirty="0">
                <a:solidFill>
                  <a:srgbClr val="FF0000"/>
                </a:solidFill>
              </a:rPr>
              <a:t> </a:t>
            </a:r>
            <a:r>
              <a:rPr lang="it-IT" b="1" dirty="0">
                <a:solidFill>
                  <a:srgbClr val="FF0000"/>
                </a:solidFill>
              </a:rPr>
              <a:t>+ 1</a:t>
            </a:r>
            <a:r>
              <a:rPr lang="it-IT" b="1" i="1" dirty="0">
                <a:solidFill>
                  <a:srgbClr val="FF0000"/>
                </a:solidFill>
              </a:rPr>
              <a:t> = </a:t>
            </a:r>
            <a:r>
              <a:rPr lang="it-IT" b="1" dirty="0">
                <a:solidFill>
                  <a:srgbClr val="FF0000"/>
                </a:solidFill>
                <a:sym typeface="Symbol" charset="0"/>
              </a:rPr>
              <a:t></a:t>
            </a:r>
            <a:r>
              <a:rPr lang="it-IT" dirty="0">
                <a:solidFill>
                  <a:srgbClr val="FF0000"/>
                </a:solidFill>
              </a:rPr>
              <a:t>. 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it-IT" dirty="0"/>
              <a:t>Altrimenti esiste un cammino di lunghezza </a:t>
            </a:r>
            <a:r>
              <a:rPr lang="it-IT" b="1" i="1" dirty="0" smtClean="0">
                <a:solidFill>
                  <a:srgbClr val="FF0000"/>
                </a:solidFill>
                <a:sym typeface="Symbol" charset="0"/>
              </a:rPr>
              <a:t></a:t>
            </a:r>
            <a:r>
              <a:rPr lang="it-IT" b="1" dirty="0">
                <a:solidFill>
                  <a:srgbClr val="FF0000"/>
                </a:solidFill>
              </a:rPr>
              <a:t>(</a:t>
            </a:r>
            <a:r>
              <a:rPr lang="it-IT" b="1" i="1" dirty="0" err="1">
                <a:solidFill>
                  <a:srgbClr val="FF0000"/>
                </a:solidFill>
              </a:rPr>
              <a:t>x,u</a:t>
            </a:r>
            <a:r>
              <a:rPr lang="it-IT" b="1" dirty="0">
                <a:solidFill>
                  <a:srgbClr val="FF0000"/>
                </a:solidFill>
              </a:rPr>
              <a:t>)</a:t>
            </a:r>
            <a:r>
              <a:rPr lang="it-IT" dirty="0"/>
              <a:t> che congiunge </a:t>
            </a:r>
            <a:r>
              <a:rPr lang="it-IT" b="1" i="1" dirty="0">
                <a:solidFill>
                  <a:srgbClr val="FF0000"/>
                </a:solidFill>
              </a:rPr>
              <a:t>x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a </a:t>
            </a:r>
            <a:r>
              <a:rPr lang="it-IT" b="1" i="1" dirty="0">
                <a:solidFill>
                  <a:srgbClr val="FF0000"/>
                </a:solidFill>
              </a:rPr>
              <a:t>u</a:t>
            </a:r>
            <a:r>
              <a:rPr lang="it-IT" dirty="0"/>
              <a:t>. 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it-IT" dirty="0"/>
              <a:t>Aggiungendo l’arco </a:t>
            </a:r>
            <a:r>
              <a:rPr lang="it-IT" b="1" i="1" dirty="0" err="1">
                <a:solidFill>
                  <a:srgbClr val="FF0000"/>
                </a:solidFill>
              </a:rPr>
              <a:t>uv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a tale cammino otteniamo un cammino di lunghezza </a:t>
            </a:r>
            <a:r>
              <a:rPr lang="it-IT" b="1" i="1" dirty="0">
                <a:solidFill>
                  <a:srgbClr val="FF0000"/>
                </a:solidFill>
                <a:sym typeface="Symbol" charset="0"/>
              </a:rPr>
              <a:t></a:t>
            </a:r>
            <a:r>
              <a:rPr lang="it-IT" b="1" dirty="0">
                <a:solidFill>
                  <a:srgbClr val="FF0000"/>
                </a:solidFill>
              </a:rPr>
              <a:t>(</a:t>
            </a:r>
            <a:r>
              <a:rPr lang="it-IT" b="1" i="1" dirty="0" err="1">
                <a:solidFill>
                  <a:srgbClr val="FF0000"/>
                </a:solidFill>
              </a:rPr>
              <a:t>x,u</a:t>
            </a:r>
            <a:r>
              <a:rPr lang="it-IT" b="1" dirty="0" smtClean="0">
                <a:solidFill>
                  <a:srgbClr val="FF0000"/>
                </a:solidFill>
              </a:rPr>
              <a:t>)+1 </a:t>
            </a:r>
            <a:r>
              <a:rPr lang="it-IT" dirty="0"/>
              <a:t>che congiunge </a:t>
            </a:r>
            <a:r>
              <a:rPr lang="it-IT" b="1" i="1" dirty="0">
                <a:solidFill>
                  <a:srgbClr val="FF0000"/>
                </a:solidFill>
              </a:rPr>
              <a:t>x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a </a:t>
            </a:r>
            <a:r>
              <a:rPr lang="it-IT" b="1" i="1" dirty="0">
                <a:solidFill>
                  <a:srgbClr val="FF0000"/>
                </a:solidFill>
              </a:rPr>
              <a:t>v</a:t>
            </a:r>
            <a:r>
              <a:rPr lang="it-IT" dirty="0"/>
              <a:t>.</a:t>
            </a:r>
          </a:p>
          <a:p>
            <a:pPr marL="0" indent="0" algn="ctr">
              <a:buNone/>
            </a:pPr>
            <a:endParaRPr lang="it-IT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BFS: Correttezza</a:t>
            </a:r>
            <a:endParaRPr lang="it-IT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it-IT" dirty="0" smtClean="0">
                <a:solidFill>
                  <a:schemeClr val="tx1"/>
                </a:solidFill>
              </a:rPr>
              <a:t>Proprietà del limite superiore.</a:t>
            </a:r>
          </a:p>
          <a:p>
            <a:pPr marL="0" indent="0">
              <a:buNone/>
            </a:pPr>
            <a:r>
              <a:rPr lang="it-IT" dirty="0" smtClean="0"/>
              <a:t>Per ogni vertice </a:t>
            </a:r>
            <a:r>
              <a:rPr lang="it-IT" dirty="0" smtClean="0">
                <a:solidFill>
                  <a:srgbClr val="FF0000"/>
                </a:solidFill>
              </a:rPr>
              <a:t>u </a:t>
            </a:r>
            <a:r>
              <a:rPr lang="it-IT" dirty="0" smtClean="0"/>
              <a:t>e per tutta l’esecuzione di </a:t>
            </a:r>
            <a:r>
              <a:rPr lang="it-IT" dirty="0" smtClean="0">
                <a:sym typeface="Symbol" charset="0"/>
              </a:rPr>
              <a:t>BFS</a:t>
            </a:r>
            <a:r>
              <a:rPr lang="it-IT" dirty="0" smtClean="0"/>
              <a:t> vale la diseguaglianza:</a:t>
            </a:r>
          </a:p>
          <a:p>
            <a:pPr marL="0" indent="0">
              <a:buNone/>
            </a:pPr>
            <a:r>
              <a:rPr lang="it-IT" dirty="0" smtClean="0">
                <a:sym typeface="Symbol" charset="0"/>
              </a:rPr>
              <a:t>                          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d[u] 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s,u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it-IT" dirty="0" smtClean="0">
                <a:solidFill>
                  <a:srgbClr val="000000"/>
                </a:solidFill>
              </a:rPr>
              <a:t>     Dimostrazione</a:t>
            </a:r>
          </a:p>
          <a:p>
            <a:pPr marL="0" indent="0">
              <a:buNone/>
            </a:pPr>
            <a:r>
              <a:rPr lang="it-IT" dirty="0" smtClean="0"/>
              <a:t>Dopo l’inizializzazione vale</a:t>
            </a:r>
          </a:p>
          <a:p>
            <a:pPr marL="0" indent="0">
              <a:buNone/>
            </a:pPr>
            <a:r>
              <a:rPr lang="it-IT" dirty="0" smtClean="0">
                <a:sym typeface="Symbol" charset="0"/>
              </a:rPr>
              <a:t>               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] </a:t>
            </a:r>
            <a:r>
              <a:rPr lang="it-IT" dirty="0" smtClean="0">
                <a:solidFill>
                  <a:srgbClr val="FF0000"/>
                </a:solidFill>
              </a:rPr>
              <a:t>=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0 </a:t>
            </a:r>
            <a:r>
              <a:rPr lang="it-IT" dirty="0" smtClean="0">
                <a:solidFill>
                  <a:srgbClr val="FF0000"/>
                </a:solidFill>
              </a:rPr>
              <a:t>=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s,s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  <a:r>
              <a:rPr lang="it-IT" dirty="0" smtClean="0"/>
              <a:t> </a:t>
            </a:r>
          </a:p>
          <a:p>
            <a:pPr marL="0" indent="0">
              <a:buNone/>
            </a:pPr>
            <a:r>
              <a:rPr lang="it-IT" dirty="0" smtClean="0"/>
              <a:t>mentre per ogni vertice </a:t>
            </a:r>
            <a:r>
              <a:rPr lang="it-IT" dirty="0" smtClean="0">
                <a:solidFill>
                  <a:srgbClr val="FF0000"/>
                </a:solidFill>
              </a:rPr>
              <a:t>u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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000090"/>
                </a:solidFill>
              </a:rPr>
              <a:t>vale</a:t>
            </a:r>
          </a:p>
          <a:p>
            <a:pPr marL="0" indent="0">
              <a:buNone/>
            </a:pPr>
            <a:r>
              <a:rPr lang="it-IT" dirty="0" smtClean="0"/>
              <a:t>               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d[u] </a:t>
            </a:r>
            <a:r>
              <a:rPr lang="it-IT" dirty="0" smtClean="0">
                <a:solidFill>
                  <a:srgbClr val="FF0000"/>
                </a:solidFill>
              </a:rPr>
              <a:t>=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 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s,u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endParaRPr lang="it-IT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Text Box 2"/>
          <p:cNvSpPr txBox="1">
            <a:spLocks noChangeArrowheads="1"/>
          </p:cNvSpPr>
          <p:nvPr/>
        </p:nvSpPr>
        <p:spPr bwMode="auto">
          <a:xfrm>
            <a:off x="381000" y="1295400"/>
            <a:ext cx="815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L’unica istruzione che modifica la distanza è </a:t>
            </a:r>
          </a:p>
        </p:txBody>
      </p:sp>
      <p:sp>
        <p:nvSpPr>
          <p:cNvPr id="681987" name="Text Box 3"/>
          <p:cNvSpPr txBox="1">
            <a:spLocks noChangeArrowheads="1"/>
          </p:cNvSpPr>
          <p:nvPr/>
        </p:nvSpPr>
        <p:spPr bwMode="auto">
          <a:xfrm>
            <a:off x="381000" y="2819400"/>
            <a:ext cx="8153400" cy="3697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che viene eseguita soltanto se esiste l’arco </a:t>
            </a:r>
            <a:r>
              <a:rPr lang="it-IT" b="1" i="1">
                <a:latin typeface="Times New Roman" charset="0"/>
              </a:rPr>
              <a:t>uv</a:t>
            </a:r>
            <a:r>
              <a:rPr lang="it-IT">
                <a:latin typeface="Times New Roman" charset="0"/>
              </a:rPr>
              <a:t>.</a:t>
            </a:r>
            <a:r>
              <a:rPr lang="it-IT" b="1">
                <a:latin typeface="Times New Roman" charset="0"/>
              </a:rPr>
              <a:t> </a:t>
            </a:r>
            <a:r>
              <a:rPr lang="it-IT">
                <a:latin typeface="Times New Roman" charset="0"/>
              </a:rPr>
              <a:t>Supponiamo, per ipotesi induttiva, che la proprietà sia vera prima di eseguirla.</a:t>
            </a:r>
            <a:r>
              <a:rPr lang="it-IT" b="1">
                <a:latin typeface="Times New Roman" charset="0"/>
              </a:rPr>
              <a:t> </a:t>
            </a:r>
            <a:r>
              <a:rPr lang="it-IT">
                <a:latin typeface="Times New Roman" charset="0"/>
              </a:rPr>
              <a:t>Allora dopo averla eseguita</a:t>
            </a:r>
          </a:p>
          <a:p>
            <a:pPr eaLnBrk="0" hangingPunct="0">
              <a:spcBef>
                <a:spcPct val="20000"/>
              </a:spcBef>
            </a:pPr>
            <a:r>
              <a:rPr lang="it-IT" b="1">
                <a:latin typeface="Times New Roman" charset="0"/>
                <a:sym typeface="Symbol" charset="0"/>
              </a:rPr>
              <a:t>                  </a:t>
            </a:r>
            <a:r>
              <a:rPr lang="it-IT" b="1" i="1">
                <a:latin typeface="Times New Roman" charset="0"/>
                <a:sym typeface="Symbol" charset="0"/>
              </a:rPr>
              <a:t>d</a:t>
            </a:r>
            <a:r>
              <a:rPr lang="it-IT" b="1">
                <a:latin typeface="Times New Roman" charset="0"/>
                <a:sym typeface="Symbol" charset="0"/>
              </a:rPr>
              <a:t>[</a:t>
            </a:r>
            <a:r>
              <a:rPr lang="it-IT" b="1" i="1">
                <a:latin typeface="Times New Roman" charset="0"/>
                <a:sym typeface="Symbol" charset="0"/>
              </a:rPr>
              <a:t>v</a:t>
            </a:r>
            <a:r>
              <a:rPr lang="it-IT" b="1">
                <a:latin typeface="Times New Roman" charset="0"/>
                <a:sym typeface="Symbol" charset="0"/>
              </a:rPr>
              <a:t>] = </a:t>
            </a:r>
            <a:r>
              <a:rPr lang="it-IT" b="1" i="1">
                <a:latin typeface="Times New Roman" charset="0"/>
                <a:sym typeface="Symbol" charset="0"/>
              </a:rPr>
              <a:t>d</a:t>
            </a:r>
            <a:r>
              <a:rPr lang="it-IT" b="1">
                <a:latin typeface="Times New Roman" charset="0"/>
                <a:sym typeface="Symbol" charset="0"/>
              </a:rPr>
              <a:t>[</a:t>
            </a:r>
            <a:r>
              <a:rPr lang="it-IT" b="1" i="1">
                <a:latin typeface="Times New Roman" charset="0"/>
                <a:sym typeface="Symbol" charset="0"/>
              </a:rPr>
              <a:t>u</a:t>
            </a:r>
            <a:r>
              <a:rPr lang="it-IT" b="1">
                <a:latin typeface="Times New Roman" charset="0"/>
                <a:sym typeface="Symbol" charset="0"/>
              </a:rPr>
              <a:t>] + 1</a:t>
            </a:r>
          </a:p>
          <a:p>
            <a:pPr eaLnBrk="0" hangingPunct="0">
              <a:spcBef>
                <a:spcPct val="20000"/>
              </a:spcBef>
            </a:pPr>
            <a:r>
              <a:rPr lang="it-IT" b="1" i="1">
                <a:latin typeface="Times New Roman" charset="0"/>
              </a:rPr>
              <a:t>                         </a:t>
            </a:r>
            <a:r>
              <a:rPr lang="it-IT">
                <a:latin typeface="Times New Roman" charset="0"/>
                <a:sym typeface="Symbol" charset="0"/>
              </a:rPr>
              <a:t> </a:t>
            </a:r>
            <a:r>
              <a:rPr lang="it-IT" b="1" i="1">
                <a:latin typeface="Times New Roman" charset="0"/>
                <a:sym typeface="Symbol" charset="0"/>
              </a:rPr>
              <a:t>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s,u</a:t>
            </a:r>
            <a:r>
              <a:rPr lang="it-IT" b="1">
                <a:latin typeface="Times New Roman" charset="0"/>
              </a:rPr>
              <a:t>) + 1      </a:t>
            </a:r>
            <a:r>
              <a:rPr lang="it-IT">
                <a:latin typeface="Times New Roman" charset="0"/>
              </a:rPr>
              <a:t>(ipot. induttiva)</a:t>
            </a:r>
          </a:p>
          <a:p>
            <a:pPr eaLnBrk="0" hangingPunct="0"/>
            <a:r>
              <a:rPr lang="it-IT">
                <a:latin typeface="Times New Roman" charset="0"/>
                <a:sym typeface="Symbol" charset="0"/>
              </a:rPr>
              <a:t>                          </a:t>
            </a:r>
            <a:r>
              <a:rPr lang="it-IT" b="1" i="1">
                <a:latin typeface="Times New Roman" charset="0"/>
                <a:sym typeface="Symbol" charset="0"/>
              </a:rPr>
              <a:t>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s,v</a:t>
            </a:r>
            <a:r>
              <a:rPr lang="it-IT" b="1">
                <a:latin typeface="Times New Roman" charset="0"/>
              </a:rPr>
              <a:t>)             </a:t>
            </a:r>
            <a:r>
              <a:rPr lang="it-IT">
                <a:latin typeface="Times New Roman" charset="0"/>
              </a:rPr>
              <a:t>(propr. distanze)</a:t>
            </a:r>
          </a:p>
        </p:txBody>
      </p:sp>
      <p:sp>
        <p:nvSpPr>
          <p:cNvPr id="681988" name="Text Box 4"/>
          <p:cNvSpPr txBox="1">
            <a:spLocks noChangeArrowheads="1"/>
          </p:cNvSpPr>
          <p:nvPr/>
        </p:nvSpPr>
        <p:spPr bwMode="auto">
          <a:xfrm>
            <a:off x="2597150" y="2057400"/>
            <a:ext cx="2813050" cy="604838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b="1" i="1" dirty="0">
                <a:latin typeface="Times New Roman" charset="0"/>
                <a:sym typeface="Symbol" charset="0"/>
              </a:rPr>
              <a:t>d</a:t>
            </a:r>
            <a:r>
              <a:rPr lang="it-IT" b="1" dirty="0">
                <a:latin typeface="Times New Roman" charset="0"/>
                <a:sym typeface="Symbol" charset="0"/>
              </a:rPr>
              <a:t>[</a:t>
            </a:r>
            <a:r>
              <a:rPr lang="it-IT" b="1" i="1" dirty="0">
                <a:latin typeface="Times New Roman" charset="0"/>
                <a:sym typeface="Symbol" charset="0"/>
              </a:rPr>
              <a:t>v</a:t>
            </a:r>
            <a:r>
              <a:rPr lang="it-IT" b="1" dirty="0">
                <a:latin typeface="Times New Roman" charset="0"/>
                <a:sym typeface="Symbol" charset="0"/>
              </a:rPr>
              <a:t>]  </a:t>
            </a:r>
            <a:r>
              <a:rPr lang="it-IT" b="1" i="1" dirty="0">
                <a:latin typeface="Times New Roman" charset="0"/>
                <a:sym typeface="Symbol" charset="0"/>
              </a:rPr>
              <a:t>d</a:t>
            </a:r>
            <a:r>
              <a:rPr lang="it-IT" b="1" dirty="0">
                <a:latin typeface="Times New Roman" charset="0"/>
                <a:sym typeface="Symbol" charset="0"/>
              </a:rPr>
              <a:t>[</a:t>
            </a:r>
            <a:r>
              <a:rPr lang="it-IT" b="1" i="1" dirty="0">
                <a:latin typeface="Times New Roman" charset="0"/>
                <a:sym typeface="Symbol" charset="0"/>
              </a:rPr>
              <a:t>u</a:t>
            </a:r>
            <a:r>
              <a:rPr lang="it-IT" b="1" dirty="0">
                <a:latin typeface="Times New Roman" charset="0"/>
                <a:sym typeface="Symbol" charset="0"/>
              </a:rPr>
              <a:t>] + 1</a:t>
            </a:r>
            <a:endParaRPr lang="it-IT" b="1" i="1" dirty="0">
              <a:latin typeface="Times New Roman" charset="0"/>
              <a:sym typeface="Symbol" charset="0"/>
            </a:endParaRPr>
          </a:p>
        </p:txBody>
      </p:sp>
      <p:sp>
        <p:nvSpPr>
          <p:cNvPr id="681989" name="Rectangle 5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BFS: Correttezza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Text Box 2"/>
          <p:cNvSpPr txBox="1">
            <a:spLocks noChangeArrowheads="1"/>
          </p:cNvSpPr>
          <p:nvPr/>
        </p:nvSpPr>
        <p:spPr bwMode="auto">
          <a:xfrm>
            <a:off x="457200" y="1447800"/>
            <a:ext cx="7391400" cy="299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sz="2800" i="1" u="sng">
                <a:latin typeface="Times New Roman" charset="0"/>
              </a:rPr>
              <a:t>Proprietà della coda</a:t>
            </a:r>
            <a:r>
              <a:rPr lang="it-IT" sz="2800">
                <a:latin typeface="Times New Roman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Se la coda </a:t>
            </a:r>
            <a:r>
              <a:rPr lang="it-IT" sz="2800" b="1" i="1">
                <a:latin typeface="Times New Roman" charset="0"/>
              </a:rPr>
              <a:t>Q</a:t>
            </a:r>
            <a:r>
              <a:rPr lang="it-IT" sz="2800">
                <a:latin typeface="Times New Roman" charset="0"/>
              </a:rPr>
              <a:t> non è vuota e contiene i vertici </a:t>
            </a:r>
            <a:r>
              <a:rPr lang="it-IT" sz="2800" b="1">
                <a:latin typeface="Times New Roman" charset="0"/>
              </a:rPr>
              <a:t>(</a:t>
            </a:r>
            <a:r>
              <a:rPr lang="it-IT" sz="2800" b="1" i="1">
                <a:latin typeface="Times New Roman" charset="0"/>
              </a:rPr>
              <a:t>v</a:t>
            </a:r>
            <a:r>
              <a:rPr lang="it-IT" sz="2800" b="1" baseline="-25000">
                <a:latin typeface="Times New Roman" charset="0"/>
              </a:rPr>
              <a:t>1</a:t>
            </a:r>
            <a:r>
              <a:rPr lang="it-IT" sz="2800" b="1" i="1">
                <a:latin typeface="Times New Roman" charset="0"/>
              </a:rPr>
              <a:t>,v</a:t>
            </a:r>
            <a:r>
              <a:rPr lang="it-IT" sz="2800" b="1" baseline="-25000">
                <a:latin typeface="Times New Roman" charset="0"/>
              </a:rPr>
              <a:t>2</a:t>
            </a:r>
            <a:r>
              <a:rPr lang="it-IT" sz="2800" b="1" i="1">
                <a:latin typeface="Times New Roman" charset="0"/>
              </a:rPr>
              <a:t>, ... ,v</a:t>
            </a:r>
            <a:r>
              <a:rPr lang="it-IT" sz="2800" b="1" i="1" baseline="-25000">
                <a:latin typeface="Times New Roman" charset="0"/>
              </a:rPr>
              <a:t>t</a:t>
            </a:r>
            <a:r>
              <a:rPr lang="it-IT" sz="2800" b="1">
                <a:latin typeface="Times New Roman" charset="0"/>
              </a:rPr>
              <a:t>)</a:t>
            </a:r>
            <a:r>
              <a:rPr lang="it-IT" sz="2800">
                <a:latin typeface="Times New Roman" charset="0"/>
              </a:rPr>
              <a:t> allora per ogni </a:t>
            </a:r>
            <a:r>
              <a:rPr lang="it-IT" sz="2800" b="1" i="1">
                <a:latin typeface="Times New Roman" charset="0"/>
              </a:rPr>
              <a:t>i = </a:t>
            </a:r>
            <a:r>
              <a:rPr lang="it-IT" sz="2800" b="1">
                <a:latin typeface="Times New Roman" charset="0"/>
              </a:rPr>
              <a:t>1</a:t>
            </a:r>
            <a:r>
              <a:rPr lang="it-IT" sz="2800" b="1" i="1">
                <a:latin typeface="Times New Roman" charset="0"/>
              </a:rPr>
              <a:t>, ..., t </a:t>
            </a:r>
            <a:r>
              <a:rPr lang="it-IT" sz="2800" b="1">
                <a:latin typeface="Times New Roman" charset="0"/>
              </a:rPr>
              <a:t>-1</a:t>
            </a:r>
            <a:r>
              <a:rPr lang="it-IT" sz="2800">
                <a:latin typeface="Times New Roman" charset="0"/>
              </a:rPr>
              <a:t> 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 b="1">
                <a:latin typeface="Times New Roman" charset="0"/>
                <a:sym typeface="Symbol" charset="0"/>
              </a:rPr>
              <a:t>                </a:t>
            </a:r>
            <a:r>
              <a:rPr lang="it-IT" sz="2800" b="1" i="1">
                <a:latin typeface="Times New Roman" charset="0"/>
                <a:sym typeface="Symbol" charset="0"/>
              </a:rPr>
              <a:t>d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 i="1" baseline="-25000">
                <a:latin typeface="Times New Roman" charset="0"/>
                <a:sym typeface="Symbol" charset="0"/>
              </a:rPr>
              <a:t>i</a:t>
            </a:r>
            <a:r>
              <a:rPr lang="it-IT" sz="2800" b="1">
                <a:latin typeface="Times New Roman" charset="0"/>
                <a:sym typeface="Symbol" charset="0"/>
              </a:rPr>
              <a:t>]  </a:t>
            </a:r>
            <a:r>
              <a:rPr lang="it-IT" sz="2800" b="1" i="1">
                <a:latin typeface="Times New Roman" charset="0"/>
                <a:sym typeface="Symbol" charset="0"/>
              </a:rPr>
              <a:t>d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 i="1" baseline="-25000">
                <a:latin typeface="Times New Roman" charset="0"/>
                <a:sym typeface="Symbol" charset="0"/>
              </a:rPr>
              <a:t>i</a:t>
            </a:r>
            <a:r>
              <a:rPr lang="it-IT" sz="2800" b="1" baseline="-25000">
                <a:latin typeface="Times New Roman" charset="0"/>
                <a:sym typeface="Symbol" charset="0"/>
              </a:rPr>
              <a:t>+1</a:t>
            </a:r>
            <a:r>
              <a:rPr lang="it-IT" sz="2800" b="1">
                <a:latin typeface="Times New Roman" charset="0"/>
                <a:sym typeface="Symbol" charset="0"/>
              </a:rPr>
              <a:t>]</a:t>
            </a:r>
            <a:endParaRPr lang="it-IT" sz="2800">
              <a:latin typeface="Times New Roman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ed inoltre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 b="1">
                <a:latin typeface="Times New Roman" charset="0"/>
                <a:sym typeface="Symbol" charset="0"/>
              </a:rPr>
              <a:t>                </a:t>
            </a:r>
            <a:r>
              <a:rPr lang="it-IT" sz="2800" b="1" i="1">
                <a:latin typeface="Times New Roman" charset="0"/>
                <a:sym typeface="Symbol" charset="0"/>
              </a:rPr>
              <a:t>d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 i="1" baseline="-25000">
                <a:latin typeface="Times New Roman" charset="0"/>
                <a:sym typeface="Symbol" charset="0"/>
              </a:rPr>
              <a:t>t</a:t>
            </a:r>
            <a:r>
              <a:rPr lang="it-IT" sz="2800" b="1">
                <a:latin typeface="Times New Roman" charset="0"/>
                <a:sym typeface="Symbol" charset="0"/>
              </a:rPr>
              <a:t>]  </a:t>
            </a:r>
            <a:r>
              <a:rPr lang="it-IT" sz="2800" b="1" i="1">
                <a:latin typeface="Times New Roman" charset="0"/>
                <a:sym typeface="Symbol" charset="0"/>
              </a:rPr>
              <a:t>d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 baseline="-25000">
                <a:latin typeface="Times New Roman" charset="0"/>
                <a:sym typeface="Symbol" charset="0"/>
              </a:rPr>
              <a:t>1</a:t>
            </a:r>
            <a:r>
              <a:rPr lang="it-IT" sz="2800" b="1">
                <a:latin typeface="Times New Roman" charset="0"/>
                <a:sym typeface="Symbol" charset="0"/>
              </a:rPr>
              <a:t>] +</a:t>
            </a:r>
            <a:r>
              <a:rPr lang="it-IT" sz="2800">
                <a:latin typeface="Times New Roman" charset="0"/>
              </a:rPr>
              <a:t> </a:t>
            </a:r>
            <a:r>
              <a:rPr lang="it-IT" sz="2800" b="1">
                <a:latin typeface="Times New Roman" charset="0"/>
                <a:sym typeface="Symbol" charset="0"/>
              </a:rPr>
              <a:t>1 </a:t>
            </a:r>
          </a:p>
        </p:txBody>
      </p:sp>
      <p:sp>
        <p:nvSpPr>
          <p:cNvPr id="684035" name="Text Box 3"/>
          <p:cNvSpPr txBox="1">
            <a:spLocks noChangeArrowheads="1"/>
          </p:cNvSpPr>
          <p:nvPr/>
        </p:nvSpPr>
        <p:spPr bwMode="auto">
          <a:xfrm>
            <a:off x="381000" y="4648200"/>
            <a:ext cx="8153400" cy="145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sz="2800" i="1" u="sng">
                <a:latin typeface="Times New Roman" charset="0"/>
              </a:rPr>
              <a:t>Dimostrazione</a:t>
            </a:r>
            <a:r>
              <a:rPr lang="it-IT" sz="2800">
                <a:latin typeface="Times New Roman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Dopo l’inizializzazione la proprietà è vera perché la coda contiene solo </a:t>
            </a:r>
            <a:r>
              <a:rPr lang="it-IT" sz="2800" b="1" i="1">
                <a:latin typeface="Times New Roman" charset="0"/>
              </a:rPr>
              <a:t>s</a:t>
            </a:r>
            <a:r>
              <a:rPr lang="it-IT" sz="2800">
                <a:latin typeface="Times New Roman" charset="0"/>
              </a:rPr>
              <a:t>.</a:t>
            </a:r>
          </a:p>
        </p:txBody>
      </p:sp>
      <p:sp>
        <p:nvSpPr>
          <p:cNvPr id="684036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BFS: Correttezza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Text Box 2"/>
          <p:cNvSpPr txBox="1">
            <a:spLocks noChangeArrowheads="1"/>
          </p:cNvSpPr>
          <p:nvPr/>
        </p:nvSpPr>
        <p:spPr bwMode="auto">
          <a:xfrm>
            <a:off x="415925" y="1447800"/>
            <a:ext cx="815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Le istruzioni che modificano la coda sono </a:t>
            </a:r>
          </a:p>
        </p:txBody>
      </p:sp>
      <p:sp>
        <p:nvSpPr>
          <p:cNvPr id="686083" name="Text Box 3"/>
          <p:cNvSpPr txBox="1">
            <a:spLocks noChangeArrowheads="1"/>
          </p:cNvSpPr>
          <p:nvPr/>
        </p:nvSpPr>
        <p:spPr bwMode="auto">
          <a:xfrm>
            <a:off x="796925" y="2209800"/>
            <a:ext cx="2678113" cy="604838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b="1" i="1">
                <a:latin typeface="Times New Roman" charset="0"/>
                <a:sym typeface="Symbol" charset="0"/>
              </a:rPr>
              <a:t>Enqueue</a:t>
            </a:r>
            <a:r>
              <a:rPr lang="it-IT" b="1">
                <a:latin typeface="Times New Roman" charset="0"/>
                <a:sym typeface="Symbol" charset="0"/>
              </a:rPr>
              <a:t>(</a:t>
            </a:r>
            <a:r>
              <a:rPr lang="it-IT" b="1" i="1">
                <a:latin typeface="Times New Roman" charset="0"/>
                <a:sym typeface="Symbol" charset="0"/>
              </a:rPr>
              <a:t>Q</a:t>
            </a:r>
            <a:r>
              <a:rPr lang="it-IT" b="1">
                <a:latin typeface="Times New Roman" charset="0"/>
                <a:sym typeface="Symbol" charset="0"/>
              </a:rPr>
              <a:t>,</a:t>
            </a:r>
            <a:r>
              <a:rPr lang="it-IT" b="1" i="1">
                <a:latin typeface="Times New Roman" charset="0"/>
                <a:sym typeface="Symbol" charset="0"/>
              </a:rPr>
              <a:t>v</a:t>
            </a:r>
            <a:r>
              <a:rPr lang="it-IT" b="1">
                <a:latin typeface="Times New Roman" charset="0"/>
                <a:sym typeface="Symbol" charset="0"/>
              </a:rPr>
              <a:t>)</a:t>
            </a:r>
          </a:p>
        </p:txBody>
      </p:sp>
      <p:sp>
        <p:nvSpPr>
          <p:cNvPr id="686084" name="Text Box 4"/>
          <p:cNvSpPr txBox="1">
            <a:spLocks noChangeArrowheads="1"/>
          </p:cNvSpPr>
          <p:nvPr/>
        </p:nvSpPr>
        <p:spPr bwMode="auto">
          <a:xfrm>
            <a:off x="381000" y="3657600"/>
            <a:ext cx="8153400" cy="272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Per ipotesi induttiva, assumiamo che la proprietà sia vera prima di eseguire </a:t>
            </a:r>
            <a:r>
              <a:rPr lang="it-IT" b="1" i="1">
                <a:latin typeface="Times New Roman" charset="0"/>
                <a:sym typeface="Symbol" charset="0"/>
              </a:rPr>
              <a:t>Dequeue</a:t>
            </a:r>
            <a:r>
              <a:rPr lang="it-IT" b="1">
                <a:latin typeface="Times New Roman" charset="0"/>
                <a:sym typeface="Symbol" charset="0"/>
              </a:rPr>
              <a:t>(</a:t>
            </a:r>
            <a:r>
              <a:rPr lang="it-IT" b="1" i="1">
                <a:latin typeface="Times New Roman" charset="0"/>
                <a:sym typeface="Symbol" charset="0"/>
              </a:rPr>
              <a:t>Q</a:t>
            </a:r>
            <a:r>
              <a:rPr lang="it-IT" b="1">
                <a:latin typeface="Times New Roman" charset="0"/>
                <a:sym typeface="Symbol" charset="0"/>
              </a:rPr>
              <a:t>)</a:t>
            </a:r>
            <a:r>
              <a:rPr lang="it-IT">
                <a:latin typeface="Times New Roman" charset="0"/>
              </a:rPr>
              <a:t>.</a:t>
            </a:r>
            <a:r>
              <a:rPr lang="it-IT" b="1">
                <a:latin typeface="Times New Roman" charset="0"/>
              </a:rPr>
              <a:t> </a:t>
            </a:r>
            <a:r>
              <a:rPr lang="it-IT">
                <a:latin typeface="Times New Roman" charset="0"/>
              </a:rPr>
              <a:t>Allora</a:t>
            </a:r>
          </a:p>
          <a:p>
            <a:pPr eaLnBrk="0" hangingPunct="0">
              <a:spcBef>
                <a:spcPct val="20000"/>
              </a:spcBef>
            </a:pPr>
            <a:r>
              <a:rPr lang="it-IT" b="1">
                <a:latin typeface="Times New Roman" charset="0"/>
                <a:sym typeface="Symbol" charset="0"/>
              </a:rPr>
              <a:t>             </a:t>
            </a:r>
            <a:r>
              <a:rPr lang="it-IT" b="1" i="1">
                <a:latin typeface="Times New Roman" charset="0"/>
                <a:sym typeface="Symbol" charset="0"/>
              </a:rPr>
              <a:t>d</a:t>
            </a:r>
            <a:r>
              <a:rPr lang="it-IT" b="1">
                <a:latin typeface="Times New Roman" charset="0"/>
                <a:sym typeface="Symbol" charset="0"/>
              </a:rPr>
              <a:t>[</a:t>
            </a:r>
            <a:r>
              <a:rPr lang="it-IT" b="1" i="1">
                <a:latin typeface="Times New Roman" charset="0"/>
                <a:sym typeface="Symbol" charset="0"/>
              </a:rPr>
              <a:t>v</a:t>
            </a:r>
            <a:r>
              <a:rPr lang="it-IT" b="1" i="1" baseline="-25000">
                <a:latin typeface="Times New Roman" charset="0"/>
                <a:sym typeface="Symbol" charset="0"/>
              </a:rPr>
              <a:t>t</a:t>
            </a:r>
            <a:r>
              <a:rPr lang="it-IT" b="1">
                <a:latin typeface="Times New Roman" charset="0"/>
                <a:sym typeface="Symbol" charset="0"/>
              </a:rPr>
              <a:t>]  </a:t>
            </a:r>
            <a:r>
              <a:rPr lang="it-IT" b="1" i="1">
                <a:latin typeface="Times New Roman" charset="0"/>
                <a:sym typeface="Symbol" charset="0"/>
              </a:rPr>
              <a:t>d</a:t>
            </a:r>
            <a:r>
              <a:rPr lang="it-IT" b="1">
                <a:latin typeface="Times New Roman" charset="0"/>
                <a:sym typeface="Symbol" charset="0"/>
              </a:rPr>
              <a:t>[</a:t>
            </a:r>
            <a:r>
              <a:rPr lang="it-IT" b="1" i="1">
                <a:latin typeface="Times New Roman" charset="0"/>
                <a:sym typeface="Symbol" charset="0"/>
              </a:rPr>
              <a:t>v</a:t>
            </a:r>
            <a:r>
              <a:rPr lang="it-IT" b="1" baseline="-25000">
                <a:latin typeface="Times New Roman" charset="0"/>
                <a:sym typeface="Symbol" charset="0"/>
              </a:rPr>
              <a:t>1</a:t>
            </a:r>
            <a:r>
              <a:rPr lang="it-IT" b="1">
                <a:latin typeface="Times New Roman" charset="0"/>
                <a:sym typeface="Symbol" charset="0"/>
              </a:rPr>
              <a:t>] +</a:t>
            </a:r>
            <a:r>
              <a:rPr lang="it-IT">
                <a:latin typeface="Times New Roman" charset="0"/>
              </a:rPr>
              <a:t> </a:t>
            </a:r>
            <a:r>
              <a:rPr lang="it-IT" b="1">
                <a:latin typeface="Times New Roman" charset="0"/>
                <a:sym typeface="Symbol" charset="0"/>
              </a:rPr>
              <a:t>1</a:t>
            </a:r>
            <a:r>
              <a:rPr lang="it-IT">
                <a:latin typeface="Times New Roman" charset="0"/>
              </a:rPr>
              <a:t> </a:t>
            </a:r>
            <a:r>
              <a:rPr lang="it-IT" b="1">
                <a:latin typeface="Times New Roman" charset="0"/>
                <a:sym typeface="Symbol" charset="0"/>
              </a:rPr>
              <a:t> </a:t>
            </a:r>
            <a:r>
              <a:rPr lang="it-IT" b="1" i="1">
                <a:latin typeface="Times New Roman" charset="0"/>
                <a:sym typeface="Symbol" charset="0"/>
              </a:rPr>
              <a:t>d</a:t>
            </a:r>
            <a:r>
              <a:rPr lang="it-IT" b="1">
                <a:latin typeface="Times New Roman" charset="0"/>
                <a:sym typeface="Symbol" charset="0"/>
              </a:rPr>
              <a:t>[</a:t>
            </a:r>
            <a:r>
              <a:rPr lang="it-IT" b="1" i="1">
                <a:latin typeface="Times New Roman" charset="0"/>
                <a:sym typeface="Symbol" charset="0"/>
              </a:rPr>
              <a:t>v</a:t>
            </a:r>
            <a:r>
              <a:rPr lang="it-IT" b="1" baseline="-25000">
                <a:latin typeface="Times New Roman" charset="0"/>
                <a:sym typeface="Symbol" charset="0"/>
              </a:rPr>
              <a:t>2</a:t>
            </a:r>
            <a:r>
              <a:rPr lang="it-IT" b="1">
                <a:latin typeface="Times New Roman" charset="0"/>
                <a:sym typeface="Symbol" charset="0"/>
              </a:rPr>
              <a:t>] +</a:t>
            </a:r>
            <a:r>
              <a:rPr lang="it-IT">
                <a:latin typeface="Times New Roman" charset="0"/>
              </a:rPr>
              <a:t> </a:t>
            </a:r>
            <a:r>
              <a:rPr lang="it-IT" b="1">
                <a:latin typeface="Times New Roman" charset="0"/>
                <a:sym typeface="Symbol" charset="0"/>
              </a:rPr>
              <a:t>1</a:t>
            </a:r>
            <a:endParaRPr lang="it-IT">
              <a:latin typeface="Times New Roman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e quindi la proprietà è vera anche dopo la rimozione di </a:t>
            </a:r>
            <a:r>
              <a:rPr lang="it-IT" b="1" i="1">
                <a:latin typeface="Times New Roman" charset="0"/>
                <a:sym typeface="Symbol" charset="0"/>
              </a:rPr>
              <a:t>v</a:t>
            </a:r>
            <a:r>
              <a:rPr lang="it-IT" b="1" baseline="-25000">
                <a:latin typeface="Times New Roman" charset="0"/>
                <a:sym typeface="Symbol" charset="0"/>
              </a:rPr>
              <a:t>1</a:t>
            </a:r>
            <a:r>
              <a:rPr lang="it-IT">
                <a:latin typeface="Times New Roman" charset="0"/>
              </a:rPr>
              <a:t>.</a:t>
            </a:r>
          </a:p>
        </p:txBody>
      </p:sp>
      <p:sp>
        <p:nvSpPr>
          <p:cNvPr id="686085" name="Text Box 5"/>
          <p:cNvSpPr txBox="1">
            <a:spLocks noChangeArrowheads="1"/>
          </p:cNvSpPr>
          <p:nvPr/>
        </p:nvSpPr>
        <p:spPr bwMode="auto">
          <a:xfrm>
            <a:off x="4319588" y="2209800"/>
            <a:ext cx="2573337" cy="604838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b="1" i="1">
                <a:latin typeface="Times New Roman" charset="0"/>
                <a:sym typeface="Symbol" charset="0"/>
              </a:rPr>
              <a:t>Dequeue</a:t>
            </a:r>
            <a:r>
              <a:rPr lang="it-IT" b="1">
                <a:latin typeface="Times New Roman" charset="0"/>
                <a:sym typeface="Symbol" charset="0"/>
              </a:rPr>
              <a:t>(</a:t>
            </a:r>
            <a:r>
              <a:rPr lang="it-IT" b="1" i="1">
                <a:latin typeface="Times New Roman" charset="0"/>
                <a:sym typeface="Symbol" charset="0"/>
              </a:rPr>
              <a:t>Q</a:t>
            </a:r>
            <a:r>
              <a:rPr lang="it-IT" b="1">
                <a:latin typeface="Times New Roman" charset="0"/>
                <a:sym typeface="Symbol" charset="0"/>
              </a:rPr>
              <a:t>)</a:t>
            </a:r>
          </a:p>
        </p:txBody>
      </p:sp>
      <p:sp>
        <p:nvSpPr>
          <p:cNvPr id="686086" name="Text Box 6"/>
          <p:cNvSpPr txBox="1">
            <a:spLocks noChangeArrowheads="1"/>
          </p:cNvSpPr>
          <p:nvPr/>
        </p:nvSpPr>
        <p:spPr bwMode="auto">
          <a:xfrm>
            <a:off x="3616325" y="2209800"/>
            <a:ext cx="53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 e </a:t>
            </a:r>
          </a:p>
        </p:txBody>
      </p:sp>
      <p:sp>
        <p:nvSpPr>
          <p:cNvPr id="686087" name="Rectangle 7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BFS: Correttezza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Text Box 2"/>
          <p:cNvSpPr txBox="1">
            <a:spLocks noChangeArrowheads="1"/>
          </p:cNvSpPr>
          <p:nvPr/>
        </p:nvSpPr>
        <p:spPr bwMode="auto">
          <a:xfrm>
            <a:off x="457200" y="1676400"/>
            <a:ext cx="8153400" cy="480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10000"/>
              </a:spcBef>
            </a:pPr>
            <a:r>
              <a:rPr lang="it-IT" sz="2400">
                <a:latin typeface="Times New Roman" charset="0"/>
              </a:rPr>
              <a:t>Per ipotesi induttiva assumiamo che la proprietà sia vera prima di eseguire </a:t>
            </a:r>
            <a:r>
              <a:rPr lang="it-IT" sz="2400" b="1" i="1">
                <a:latin typeface="Times New Roman" charset="0"/>
                <a:sym typeface="Symbol" charset="0"/>
              </a:rPr>
              <a:t>Enqueue</a:t>
            </a:r>
            <a:r>
              <a:rPr lang="it-IT" sz="2400" b="1">
                <a:latin typeface="Times New Roman" charset="0"/>
                <a:sym typeface="Symbol" charset="0"/>
              </a:rPr>
              <a:t>(</a:t>
            </a:r>
            <a:r>
              <a:rPr lang="it-IT" sz="2400" b="1" i="1">
                <a:latin typeface="Times New Roman" charset="0"/>
                <a:sym typeface="Symbol" charset="0"/>
              </a:rPr>
              <a:t>Q</a:t>
            </a:r>
            <a:r>
              <a:rPr lang="it-IT" sz="2400" b="1">
                <a:latin typeface="Times New Roman" charset="0"/>
                <a:sym typeface="Symbol" charset="0"/>
              </a:rPr>
              <a:t>,</a:t>
            </a:r>
            <a:r>
              <a:rPr lang="it-IT" sz="2400" b="1" i="1">
                <a:latin typeface="Times New Roman" charset="0"/>
                <a:sym typeface="Symbol" charset="0"/>
              </a:rPr>
              <a:t>v</a:t>
            </a:r>
            <a:r>
              <a:rPr lang="it-IT" sz="2400" b="1">
                <a:latin typeface="Times New Roman" charset="0"/>
                <a:sym typeface="Symbol" charset="0"/>
              </a:rPr>
              <a:t>)</a:t>
            </a:r>
            <a:r>
              <a:rPr lang="it-IT" sz="2400">
                <a:latin typeface="Times New Roman" charset="0"/>
              </a:rPr>
              <a:t> e sia </a:t>
            </a:r>
            <a:r>
              <a:rPr lang="it-IT" sz="2400" b="1" i="1">
                <a:latin typeface="Times New Roman" charset="0"/>
              </a:rPr>
              <a:t>v</a:t>
            </a:r>
            <a:r>
              <a:rPr lang="it-IT" sz="2400" b="1" i="1" baseline="-25000">
                <a:latin typeface="Times New Roman" charset="0"/>
              </a:rPr>
              <a:t>t'</a:t>
            </a:r>
            <a:r>
              <a:rPr lang="it-IT" sz="2400">
                <a:latin typeface="Times New Roman" charset="0"/>
              </a:rPr>
              <a:t> l’ultimo elemento in coda prima dell’operazione.</a:t>
            </a:r>
          </a:p>
          <a:p>
            <a:pPr eaLnBrk="0" hangingPunct="0">
              <a:spcBef>
                <a:spcPct val="10000"/>
              </a:spcBef>
            </a:pPr>
            <a:r>
              <a:rPr lang="it-IT" sz="2400">
                <a:latin typeface="Times New Roman" charset="0"/>
              </a:rPr>
              <a:t>Prima di eseguire </a:t>
            </a:r>
            <a:r>
              <a:rPr lang="it-IT" sz="2400" b="1" i="1">
                <a:latin typeface="Times New Roman" charset="0"/>
                <a:sym typeface="Symbol" charset="0"/>
              </a:rPr>
              <a:t>Enqueue</a:t>
            </a:r>
            <a:r>
              <a:rPr lang="it-IT" sz="2400" b="1">
                <a:latin typeface="Times New Roman" charset="0"/>
                <a:sym typeface="Symbol" charset="0"/>
              </a:rPr>
              <a:t>(</a:t>
            </a:r>
            <a:r>
              <a:rPr lang="it-IT" sz="2400" b="1" i="1">
                <a:latin typeface="Times New Roman" charset="0"/>
                <a:sym typeface="Symbol" charset="0"/>
              </a:rPr>
              <a:t>Q</a:t>
            </a:r>
            <a:r>
              <a:rPr lang="it-IT" sz="2400" b="1">
                <a:latin typeface="Times New Roman" charset="0"/>
                <a:sym typeface="Symbol" charset="0"/>
              </a:rPr>
              <a:t>,</a:t>
            </a:r>
            <a:r>
              <a:rPr lang="it-IT" sz="2400" b="1" i="1">
                <a:latin typeface="Times New Roman" charset="0"/>
                <a:sym typeface="Symbol" charset="0"/>
              </a:rPr>
              <a:t>v</a:t>
            </a:r>
            <a:r>
              <a:rPr lang="it-IT" sz="2400" b="1">
                <a:latin typeface="Times New Roman" charset="0"/>
                <a:sym typeface="Symbol" charset="0"/>
              </a:rPr>
              <a:t>)</a:t>
            </a:r>
            <a:r>
              <a:rPr lang="it-IT" sz="2400">
                <a:latin typeface="Times New Roman" charset="0"/>
              </a:rPr>
              <a:t> è stato posto</a:t>
            </a:r>
          </a:p>
          <a:p>
            <a:pPr eaLnBrk="0" hangingPunct="0">
              <a:spcBef>
                <a:spcPct val="10000"/>
              </a:spcBef>
            </a:pPr>
            <a:r>
              <a:rPr lang="it-IT" sz="2400" b="1">
                <a:latin typeface="Times New Roman" charset="0"/>
                <a:sym typeface="Symbol" charset="0"/>
              </a:rPr>
              <a:t>            </a:t>
            </a:r>
            <a:r>
              <a:rPr lang="it-IT" sz="2400" b="1" i="1">
                <a:latin typeface="Times New Roman" charset="0"/>
                <a:sym typeface="Symbol" charset="0"/>
              </a:rPr>
              <a:t>d</a:t>
            </a:r>
            <a:r>
              <a:rPr lang="it-IT" sz="2400" b="1">
                <a:latin typeface="Times New Roman" charset="0"/>
                <a:sym typeface="Symbol" charset="0"/>
              </a:rPr>
              <a:t>[</a:t>
            </a:r>
            <a:r>
              <a:rPr lang="it-IT" sz="2400" b="1" i="1">
                <a:latin typeface="Times New Roman" charset="0"/>
                <a:sym typeface="Symbol" charset="0"/>
              </a:rPr>
              <a:t>v</a:t>
            </a:r>
            <a:r>
              <a:rPr lang="it-IT" sz="2400" b="1">
                <a:latin typeface="Times New Roman" charset="0"/>
                <a:sym typeface="Symbol" charset="0"/>
              </a:rPr>
              <a:t>] = </a:t>
            </a:r>
            <a:r>
              <a:rPr lang="it-IT" sz="2400" b="1" i="1">
                <a:latin typeface="Times New Roman" charset="0"/>
                <a:sym typeface="Symbol" charset="0"/>
              </a:rPr>
              <a:t>d</a:t>
            </a:r>
            <a:r>
              <a:rPr lang="it-IT" sz="2400" b="1">
                <a:latin typeface="Times New Roman" charset="0"/>
                <a:sym typeface="Symbol" charset="0"/>
              </a:rPr>
              <a:t>[</a:t>
            </a:r>
            <a:r>
              <a:rPr lang="it-IT" sz="2400" b="1" i="1">
                <a:latin typeface="Times New Roman" charset="0"/>
                <a:sym typeface="Symbol" charset="0"/>
              </a:rPr>
              <a:t>u</a:t>
            </a:r>
            <a:r>
              <a:rPr lang="it-IT" sz="2400" b="1">
                <a:latin typeface="Times New Roman" charset="0"/>
                <a:sym typeface="Symbol" charset="0"/>
              </a:rPr>
              <a:t>] +</a:t>
            </a:r>
            <a:r>
              <a:rPr lang="it-IT" sz="2400">
                <a:latin typeface="Times New Roman" charset="0"/>
              </a:rPr>
              <a:t> </a:t>
            </a:r>
            <a:r>
              <a:rPr lang="it-IT" sz="2400" b="1">
                <a:latin typeface="Times New Roman" charset="0"/>
                <a:sym typeface="Symbol" charset="0"/>
              </a:rPr>
              <a:t>1</a:t>
            </a:r>
            <a:endParaRPr lang="it-IT" sz="2400">
              <a:latin typeface="Times New Roman" charset="0"/>
            </a:endParaRPr>
          </a:p>
          <a:p>
            <a:pPr eaLnBrk="0" hangingPunct="0">
              <a:spcBef>
                <a:spcPct val="10000"/>
              </a:spcBef>
            </a:pPr>
            <a:r>
              <a:rPr lang="it-IT" sz="2400">
                <a:latin typeface="Times New Roman" charset="0"/>
              </a:rPr>
              <a:t>con </a:t>
            </a:r>
            <a:r>
              <a:rPr lang="it-IT" sz="2400" b="1" i="1">
                <a:latin typeface="Times New Roman" charset="0"/>
                <a:sym typeface="Symbol" charset="0"/>
              </a:rPr>
              <a:t>u</a:t>
            </a:r>
            <a:r>
              <a:rPr lang="it-IT" sz="2400" b="1">
                <a:latin typeface="Times New Roman" charset="0"/>
                <a:sym typeface="Symbol" charset="0"/>
              </a:rPr>
              <a:t> = </a:t>
            </a:r>
            <a:r>
              <a:rPr lang="it-IT" sz="2400" b="1" i="1">
                <a:latin typeface="Times New Roman" charset="0"/>
                <a:sym typeface="Symbol" charset="0"/>
              </a:rPr>
              <a:t>First</a:t>
            </a:r>
            <a:r>
              <a:rPr lang="it-IT" sz="2400" b="1">
                <a:latin typeface="Times New Roman" charset="0"/>
                <a:sym typeface="Symbol" charset="0"/>
              </a:rPr>
              <a:t>(</a:t>
            </a:r>
            <a:r>
              <a:rPr lang="it-IT" sz="2400" b="1" i="1">
                <a:latin typeface="Times New Roman" charset="0"/>
                <a:sym typeface="Symbol" charset="0"/>
              </a:rPr>
              <a:t>Q</a:t>
            </a:r>
            <a:r>
              <a:rPr lang="it-IT" sz="2400" b="1">
                <a:latin typeface="Times New Roman" charset="0"/>
                <a:sym typeface="Symbol" charset="0"/>
              </a:rPr>
              <a:t>) = </a:t>
            </a:r>
            <a:r>
              <a:rPr lang="it-IT" sz="2400" b="1" i="1">
                <a:latin typeface="Times New Roman" charset="0"/>
                <a:sym typeface="Symbol" charset="0"/>
              </a:rPr>
              <a:t>v</a:t>
            </a:r>
            <a:r>
              <a:rPr lang="it-IT" sz="2400" b="1" baseline="-25000">
                <a:latin typeface="Times New Roman" charset="0"/>
                <a:sym typeface="Symbol" charset="0"/>
              </a:rPr>
              <a:t>1</a:t>
            </a:r>
            <a:r>
              <a:rPr lang="it-IT" sz="2400">
                <a:latin typeface="Times New Roman" charset="0"/>
              </a:rPr>
              <a:t> primo elemento in coda. </a:t>
            </a:r>
          </a:p>
          <a:p>
            <a:pPr eaLnBrk="0" hangingPunct="0">
              <a:spcBef>
                <a:spcPct val="10000"/>
              </a:spcBef>
            </a:pPr>
            <a:r>
              <a:rPr lang="it-IT" sz="2400">
                <a:latin typeface="Times New Roman" charset="0"/>
              </a:rPr>
              <a:t>Quindi dopo l’operazione    </a:t>
            </a:r>
          </a:p>
          <a:p>
            <a:pPr eaLnBrk="0" hangingPunct="0">
              <a:spcBef>
                <a:spcPct val="10000"/>
              </a:spcBef>
            </a:pPr>
            <a:r>
              <a:rPr lang="it-IT" sz="2400">
                <a:latin typeface="Times New Roman" charset="0"/>
              </a:rPr>
              <a:t>            </a:t>
            </a:r>
            <a:r>
              <a:rPr lang="it-IT" sz="2400" b="1" i="1">
                <a:latin typeface="Times New Roman" charset="0"/>
                <a:sym typeface="Symbol" charset="0"/>
              </a:rPr>
              <a:t>d</a:t>
            </a:r>
            <a:r>
              <a:rPr lang="it-IT" sz="2400" b="1">
                <a:latin typeface="Times New Roman" charset="0"/>
                <a:sym typeface="Symbol" charset="0"/>
              </a:rPr>
              <a:t>[</a:t>
            </a:r>
            <a:r>
              <a:rPr lang="it-IT" sz="2400" b="1" i="1">
                <a:latin typeface="Times New Roman" charset="0"/>
                <a:sym typeface="Symbol" charset="0"/>
              </a:rPr>
              <a:t>v</a:t>
            </a:r>
            <a:r>
              <a:rPr lang="it-IT" sz="2400" b="1" i="1" baseline="-25000">
                <a:latin typeface="Times New Roman" charset="0"/>
                <a:sym typeface="Symbol" charset="0"/>
              </a:rPr>
              <a:t>t</a:t>
            </a:r>
            <a:r>
              <a:rPr lang="it-IT" sz="2400" b="1">
                <a:latin typeface="Times New Roman" charset="0"/>
                <a:sym typeface="Symbol" charset="0"/>
              </a:rPr>
              <a:t>] = </a:t>
            </a:r>
            <a:r>
              <a:rPr lang="it-IT" sz="2400" b="1" i="1">
                <a:latin typeface="Times New Roman" charset="0"/>
                <a:sym typeface="Symbol" charset="0"/>
              </a:rPr>
              <a:t>d</a:t>
            </a:r>
            <a:r>
              <a:rPr lang="it-IT" sz="2400" b="1">
                <a:latin typeface="Times New Roman" charset="0"/>
                <a:sym typeface="Symbol" charset="0"/>
              </a:rPr>
              <a:t>[</a:t>
            </a:r>
            <a:r>
              <a:rPr lang="it-IT" sz="2400" b="1" i="1">
                <a:latin typeface="Times New Roman" charset="0"/>
                <a:sym typeface="Symbol" charset="0"/>
              </a:rPr>
              <a:t>v</a:t>
            </a:r>
            <a:r>
              <a:rPr lang="it-IT" sz="2400" b="1">
                <a:latin typeface="Times New Roman" charset="0"/>
                <a:sym typeface="Symbol" charset="0"/>
              </a:rPr>
              <a:t>] = </a:t>
            </a:r>
            <a:r>
              <a:rPr lang="it-IT" sz="2400" b="1" i="1">
                <a:latin typeface="Times New Roman" charset="0"/>
                <a:sym typeface="Symbol" charset="0"/>
              </a:rPr>
              <a:t>d</a:t>
            </a:r>
            <a:r>
              <a:rPr lang="it-IT" sz="2400" b="1">
                <a:latin typeface="Times New Roman" charset="0"/>
                <a:sym typeface="Symbol" charset="0"/>
              </a:rPr>
              <a:t>[</a:t>
            </a:r>
            <a:r>
              <a:rPr lang="it-IT" sz="2400" b="1" i="1">
                <a:latin typeface="Times New Roman" charset="0"/>
                <a:sym typeface="Symbol" charset="0"/>
              </a:rPr>
              <a:t>v</a:t>
            </a:r>
            <a:r>
              <a:rPr lang="it-IT" sz="2400" b="1" baseline="-25000">
                <a:latin typeface="Times New Roman" charset="0"/>
                <a:sym typeface="Symbol" charset="0"/>
              </a:rPr>
              <a:t>1</a:t>
            </a:r>
            <a:r>
              <a:rPr lang="it-IT" sz="2400" b="1">
                <a:latin typeface="Times New Roman" charset="0"/>
                <a:sym typeface="Symbol" charset="0"/>
              </a:rPr>
              <a:t>] +</a:t>
            </a:r>
            <a:r>
              <a:rPr lang="it-IT" sz="2400">
                <a:latin typeface="Times New Roman" charset="0"/>
              </a:rPr>
              <a:t> </a:t>
            </a:r>
            <a:r>
              <a:rPr lang="it-IT" sz="2400" b="1">
                <a:latin typeface="Times New Roman" charset="0"/>
                <a:sym typeface="Symbol" charset="0"/>
              </a:rPr>
              <a:t>1 </a:t>
            </a:r>
            <a:endParaRPr lang="it-IT" sz="2400">
              <a:latin typeface="Times New Roman" charset="0"/>
            </a:endParaRPr>
          </a:p>
          <a:p>
            <a:pPr eaLnBrk="0" hangingPunct="0">
              <a:spcBef>
                <a:spcPct val="10000"/>
              </a:spcBef>
            </a:pPr>
            <a:r>
              <a:rPr lang="it-IT" sz="2400">
                <a:latin typeface="Times New Roman" charset="0"/>
              </a:rPr>
              <a:t>Inoltre, per ipotesi induttiva: </a:t>
            </a:r>
          </a:p>
          <a:p>
            <a:pPr eaLnBrk="0" hangingPunct="0">
              <a:spcBef>
                <a:spcPct val="10000"/>
              </a:spcBef>
            </a:pPr>
            <a:r>
              <a:rPr lang="it-IT" sz="2400" b="1">
                <a:latin typeface="Times New Roman" charset="0"/>
                <a:sym typeface="Symbol" charset="0"/>
              </a:rPr>
              <a:t>            </a:t>
            </a:r>
            <a:r>
              <a:rPr lang="it-IT" sz="2400" b="1" i="1">
                <a:latin typeface="Times New Roman" charset="0"/>
                <a:sym typeface="Symbol" charset="0"/>
              </a:rPr>
              <a:t>d</a:t>
            </a:r>
            <a:r>
              <a:rPr lang="it-IT" sz="2400" b="1">
                <a:latin typeface="Times New Roman" charset="0"/>
                <a:sym typeface="Symbol" charset="0"/>
              </a:rPr>
              <a:t>[</a:t>
            </a:r>
            <a:r>
              <a:rPr lang="it-IT" sz="2400" b="1" i="1">
                <a:latin typeface="Times New Roman" charset="0"/>
                <a:sym typeface="Symbol" charset="0"/>
              </a:rPr>
              <a:t>v</a:t>
            </a:r>
            <a:r>
              <a:rPr lang="it-IT" sz="2400" b="1" i="1" baseline="-25000">
                <a:latin typeface="Times New Roman" charset="0"/>
                <a:sym typeface="Symbol" charset="0"/>
              </a:rPr>
              <a:t>t'</a:t>
            </a:r>
            <a:r>
              <a:rPr lang="it-IT" sz="2400" b="1">
                <a:latin typeface="Times New Roman" charset="0"/>
                <a:sym typeface="Symbol" charset="0"/>
              </a:rPr>
              <a:t>]  </a:t>
            </a:r>
            <a:r>
              <a:rPr lang="it-IT" sz="2400" b="1" i="1">
                <a:latin typeface="Times New Roman" charset="0"/>
                <a:sym typeface="Symbol" charset="0"/>
              </a:rPr>
              <a:t>d</a:t>
            </a:r>
            <a:r>
              <a:rPr lang="it-IT" sz="2400" b="1">
                <a:latin typeface="Times New Roman" charset="0"/>
                <a:sym typeface="Symbol" charset="0"/>
              </a:rPr>
              <a:t>[</a:t>
            </a:r>
            <a:r>
              <a:rPr lang="it-IT" sz="2400" b="1" i="1">
                <a:latin typeface="Times New Roman" charset="0"/>
                <a:sym typeface="Symbol" charset="0"/>
              </a:rPr>
              <a:t>v</a:t>
            </a:r>
            <a:r>
              <a:rPr lang="it-IT" sz="2400" b="1" baseline="-25000">
                <a:latin typeface="Times New Roman" charset="0"/>
                <a:sym typeface="Symbol" charset="0"/>
              </a:rPr>
              <a:t>1</a:t>
            </a:r>
            <a:r>
              <a:rPr lang="it-IT" sz="2400" b="1">
                <a:latin typeface="Times New Roman" charset="0"/>
                <a:sym typeface="Symbol" charset="0"/>
              </a:rPr>
              <a:t>] +</a:t>
            </a:r>
            <a:r>
              <a:rPr lang="it-IT" sz="2400">
                <a:latin typeface="Times New Roman" charset="0"/>
              </a:rPr>
              <a:t> </a:t>
            </a:r>
            <a:r>
              <a:rPr lang="it-IT" sz="2400" b="1">
                <a:latin typeface="Times New Roman" charset="0"/>
                <a:sym typeface="Symbol" charset="0"/>
              </a:rPr>
              <a:t>1</a:t>
            </a:r>
          </a:p>
          <a:p>
            <a:pPr eaLnBrk="0" hangingPunct="0">
              <a:spcBef>
                <a:spcPct val="10000"/>
              </a:spcBef>
            </a:pPr>
            <a:r>
              <a:rPr lang="it-IT" sz="2400">
                <a:latin typeface="Times New Roman" charset="0"/>
              </a:rPr>
              <a:t>e dunque: </a:t>
            </a:r>
          </a:p>
          <a:p>
            <a:pPr eaLnBrk="0" hangingPunct="0">
              <a:spcBef>
                <a:spcPct val="10000"/>
              </a:spcBef>
            </a:pPr>
            <a:r>
              <a:rPr lang="it-IT" sz="2400" b="1">
                <a:latin typeface="Times New Roman" charset="0"/>
                <a:sym typeface="Symbol" charset="0"/>
              </a:rPr>
              <a:t>            </a:t>
            </a:r>
            <a:r>
              <a:rPr lang="it-IT" sz="2400" b="1" i="1">
                <a:latin typeface="Times New Roman" charset="0"/>
                <a:sym typeface="Symbol" charset="0"/>
              </a:rPr>
              <a:t>d</a:t>
            </a:r>
            <a:r>
              <a:rPr lang="it-IT" sz="2400" b="1">
                <a:latin typeface="Times New Roman" charset="0"/>
                <a:sym typeface="Symbol" charset="0"/>
              </a:rPr>
              <a:t>[</a:t>
            </a:r>
            <a:r>
              <a:rPr lang="it-IT" sz="2400" b="1" i="1">
                <a:latin typeface="Times New Roman" charset="0"/>
                <a:sym typeface="Symbol" charset="0"/>
              </a:rPr>
              <a:t>v</a:t>
            </a:r>
            <a:r>
              <a:rPr lang="it-IT" sz="2400" b="1" i="1" baseline="-25000">
                <a:latin typeface="Times New Roman" charset="0"/>
                <a:sym typeface="Symbol" charset="0"/>
              </a:rPr>
              <a:t>t'</a:t>
            </a:r>
            <a:r>
              <a:rPr lang="it-IT" sz="2400" b="1">
                <a:latin typeface="Times New Roman" charset="0"/>
                <a:sym typeface="Symbol" charset="0"/>
              </a:rPr>
              <a:t>]  </a:t>
            </a:r>
            <a:r>
              <a:rPr lang="it-IT" sz="2400" b="1" i="1">
                <a:latin typeface="Times New Roman" charset="0"/>
                <a:sym typeface="Symbol" charset="0"/>
              </a:rPr>
              <a:t>d</a:t>
            </a:r>
            <a:r>
              <a:rPr lang="it-IT" sz="2400" b="1">
                <a:latin typeface="Times New Roman" charset="0"/>
                <a:sym typeface="Symbol" charset="0"/>
              </a:rPr>
              <a:t>[</a:t>
            </a:r>
            <a:r>
              <a:rPr lang="it-IT" sz="2400" b="1" i="1">
                <a:latin typeface="Times New Roman" charset="0"/>
                <a:sym typeface="Symbol" charset="0"/>
              </a:rPr>
              <a:t>v</a:t>
            </a:r>
            <a:r>
              <a:rPr lang="it-IT" sz="2400" b="1" i="1" baseline="-25000">
                <a:latin typeface="Times New Roman" charset="0"/>
                <a:sym typeface="Symbol" charset="0"/>
              </a:rPr>
              <a:t>t</a:t>
            </a:r>
            <a:r>
              <a:rPr lang="it-IT" sz="2400" b="1">
                <a:latin typeface="Times New Roman" charset="0"/>
                <a:sym typeface="Symbol" charset="0"/>
              </a:rPr>
              <a:t>]</a:t>
            </a:r>
          </a:p>
        </p:txBody>
      </p:sp>
      <p:sp>
        <p:nvSpPr>
          <p:cNvPr id="688131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BFS: Correttezza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Text Box 2"/>
          <p:cNvSpPr txBox="1">
            <a:spLocks noChangeArrowheads="1"/>
          </p:cNvSpPr>
          <p:nvPr/>
        </p:nvSpPr>
        <p:spPr bwMode="auto">
          <a:xfrm>
            <a:off x="457200" y="1676400"/>
            <a:ext cx="8153400" cy="447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i="1" u="sng">
                <a:latin typeface="Times New Roman" charset="0"/>
              </a:rPr>
              <a:t>Correttezza di </a:t>
            </a:r>
            <a:r>
              <a:rPr lang="it-IT" b="1" i="1" u="sng">
                <a:latin typeface="Times New Roman" charset="0"/>
              </a:rPr>
              <a:t>BFS</a:t>
            </a:r>
            <a:r>
              <a:rPr lang="it-IT">
                <a:latin typeface="Times New Roman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it-IT" b="1" i="1">
                <a:latin typeface="Times New Roman" charset="0"/>
              </a:rPr>
              <a:t>BFS</a:t>
            </a:r>
            <a:r>
              <a:rPr lang="it-IT">
                <a:latin typeface="Times New Roman" charset="0"/>
              </a:rPr>
              <a:t> visita tutti i vertici raggiungibili da </a:t>
            </a:r>
            <a:r>
              <a:rPr lang="it-IT" b="1" i="1">
                <a:latin typeface="Times New Roman" charset="0"/>
              </a:rPr>
              <a:t>s</a:t>
            </a:r>
            <a:r>
              <a:rPr lang="it-IT">
                <a:latin typeface="Times New Roman" charset="0"/>
              </a:rPr>
              <a:t> e quando termina </a:t>
            </a:r>
            <a:r>
              <a:rPr lang="it-IT" b="1" i="1">
                <a:latin typeface="Times New Roman" charset="0"/>
                <a:sym typeface="Symbol" charset="0"/>
              </a:rPr>
              <a:t>d</a:t>
            </a:r>
            <a:r>
              <a:rPr lang="it-IT" b="1">
                <a:latin typeface="Times New Roman" charset="0"/>
                <a:sym typeface="Symbol" charset="0"/>
              </a:rPr>
              <a:t>[</a:t>
            </a:r>
            <a:r>
              <a:rPr lang="it-IT" b="1" i="1">
                <a:latin typeface="Times New Roman" charset="0"/>
                <a:sym typeface="Symbol" charset="0"/>
              </a:rPr>
              <a:t>v</a:t>
            </a:r>
            <a:r>
              <a:rPr lang="it-IT" b="1">
                <a:latin typeface="Times New Roman" charset="0"/>
                <a:sym typeface="Symbol" charset="0"/>
              </a:rPr>
              <a:t>]</a:t>
            </a:r>
            <a:r>
              <a:rPr lang="it-IT">
                <a:latin typeface="Times New Roman" charset="0"/>
              </a:rPr>
              <a:t> </a:t>
            </a:r>
            <a:r>
              <a:rPr lang="it-IT" b="1">
                <a:latin typeface="Times New Roman" charset="0"/>
                <a:sym typeface="Symbol" charset="0"/>
              </a:rPr>
              <a:t>= </a:t>
            </a:r>
            <a:r>
              <a:rPr lang="it-IT" b="1" i="1">
                <a:latin typeface="Times New Roman" charset="0"/>
                <a:sym typeface="Symbol" charset="0"/>
              </a:rPr>
              <a:t>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s,v</a:t>
            </a:r>
            <a:r>
              <a:rPr lang="it-IT" b="1">
                <a:latin typeface="Times New Roman" charset="0"/>
              </a:rPr>
              <a:t>) </a:t>
            </a:r>
            <a:r>
              <a:rPr lang="it-IT">
                <a:latin typeface="Times New Roman" charset="0"/>
              </a:rPr>
              <a:t>per ogni vertice </a:t>
            </a:r>
            <a:r>
              <a:rPr lang="it-IT" b="1" i="1">
                <a:latin typeface="Times New Roman" charset="0"/>
              </a:rPr>
              <a:t>v </a:t>
            </a:r>
            <a:r>
              <a:rPr lang="it-IT">
                <a:latin typeface="Times New Roman" charset="0"/>
              </a:rPr>
              <a:t>del grafo. 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Inoltre per ogni vertice </a:t>
            </a:r>
            <a:r>
              <a:rPr lang="it-IT" b="1" i="1">
                <a:latin typeface="Times New Roman" charset="0"/>
              </a:rPr>
              <a:t>v </a:t>
            </a:r>
            <a:r>
              <a:rPr lang="it-IT">
                <a:latin typeface="Times New Roman" charset="0"/>
                <a:sym typeface="Symbol" charset="0"/>
              </a:rPr>
              <a:t> </a:t>
            </a:r>
            <a:r>
              <a:rPr lang="it-IT" b="1" i="1">
                <a:latin typeface="Times New Roman" charset="0"/>
              </a:rPr>
              <a:t>s </a:t>
            </a:r>
            <a:r>
              <a:rPr lang="it-IT">
                <a:latin typeface="Times New Roman" charset="0"/>
              </a:rPr>
              <a:t>raggiungibile da </a:t>
            </a:r>
            <a:r>
              <a:rPr lang="it-IT" b="1" i="1">
                <a:latin typeface="Times New Roman" charset="0"/>
              </a:rPr>
              <a:t>s</a:t>
            </a:r>
            <a:endParaRPr lang="it-IT">
              <a:latin typeface="Times New Roman" charset="0"/>
            </a:endParaRPr>
          </a:p>
          <a:p>
            <a:pPr eaLnBrk="0" hangingPunct="0">
              <a:spcBef>
                <a:spcPct val="20000"/>
              </a:spcBef>
              <a:buFontTx/>
              <a:buChar char="•"/>
            </a:pPr>
            <a:r>
              <a:rPr lang="it-IT">
                <a:latin typeface="Times New Roman" charset="0"/>
              </a:rPr>
              <a:t>       </a:t>
            </a:r>
            <a:r>
              <a:rPr lang="it-IT" b="1" i="1">
                <a:latin typeface="Times New Roman" charset="0"/>
              </a:rPr>
              <a:t>u </a:t>
            </a:r>
            <a:r>
              <a:rPr lang="it-IT" b="1">
                <a:latin typeface="Times New Roman" charset="0"/>
              </a:rPr>
              <a:t>=</a:t>
            </a:r>
            <a:r>
              <a:rPr lang="it-IT">
                <a:latin typeface="Times New Roman" charset="0"/>
              </a:rPr>
              <a:t> </a:t>
            </a:r>
            <a:r>
              <a:rPr lang="it-IT" b="1" i="1">
                <a:latin typeface="Times New Roman" charset="0"/>
                <a:sym typeface="Symbol" charset="0"/>
              </a:rPr>
              <a:t>p</a:t>
            </a:r>
            <a:r>
              <a:rPr lang="it-IT" b="1">
                <a:latin typeface="Times New Roman" charset="0"/>
                <a:sym typeface="Symbol" charset="0"/>
              </a:rPr>
              <a:t>[</a:t>
            </a:r>
            <a:r>
              <a:rPr lang="it-IT" b="1" i="1">
                <a:latin typeface="Times New Roman" charset="0"/>
                <a:sym typeface="Symbol" charset="0"/>
              </a:rPr>
              <a:t>v</a:t>
            </a:r>
            <a:r>
              <a:rPr lang="it-IT" b="1">
                <a:latin typeface="Times New Roman" charset="0"/>
                <a:sym typeface="Symbol" charset="0"/>
              </a:rPr>
              <a:t>] </a:t>
            </a:r>
            <a:r>
              <a:rPr lang="it-IT">
                <a:latin typeface="Times New Roman" charset="0"/>
                <a:sym typeface="Symbol" charset="0"/>
              </a:rPr>
              <a:t> </a:t>
            </a:r>
            <a:r>
              <a:rPr lang="it-IT" b="1">
                <a:latin typeface="Times New Roman" charset="0"/>
                <a:sym typeface="Symbol" charset="0"/>
              </a:rPr>
              <a:t>nil</a:t>
            </a:r>
            <a:r>
              <a:rPr lang="it-IT">
                <a:latin typeface="Times New Roman" charset="0"/>
              </a:rPr>
              <a:t>,   </a:t>
            </a:r>
          </a:p>
          <a:p>
            <a:pPr eaLnBrk="0" hangingPunct="0">
              <a:spcBef>
                <a:spcPct val="20000"/>
              </a:spcBef>
              <a:buFontTx/>
              <a:buChar char="•"/>
            </a:pPr>
            <a:r>
              <a:rPr lang="it-IT">
                <a:latin typeface="Times New Roman" charset="0"/>
              </a:rPr>
              <a:t>       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u,v</a:t>
            </a:r>
            <a:r>
              <a:rPr lang="it-IT" b="1">
                <a:latin typeface="Times New Roman" charset="0"/>
              </a:rPr>
              <a:t>) </a:t>
            </a:r>
            <a:r>
              <a:rPr lang="it-IT" b="1">
                <a:latin typeface="Times New Roman" charset="0"/>
                <a:sym typeface="Symbol" charset="0"/>
              </a:rPr>
              <a:t> </a:t>
            </a:r>
            <a:r>
              <a:rPr lang="it-IT" b="1" i="1">
                <a:latin typeface="Times New Roman" charset="0"/>
              </a:rPr>
              <a:t>E</a:t>
            </a:r>
            <a:r>
              <a:rPr lang="it-IT">
                <a:latin typeface="Times New Roman" charset="0"/>
              </a:rPr>
              <a:t>   e    </a:t>
            </a:r>
          </a:p>
          <a:p>
            <a:pPr eaLnBrk="0" hangingPunct="0">
              <a:spcBef>
                <a:spcPct val="20000"/>
              </a:spcBef>
              <a:buFontTx/>
              <a:buChar char="•"/>
            </a:pPr>
            <a:r>
              <a:rPr lang="it-IT">
                <a:latin typeface="Times New Roman" charset="0"/>
              </a:rPr>
              <a:t> 	</a:t>
            </a:r>
            <a:r>
              <a:rPr lang="it-IT" b="1" i="1">
                <a:latin typeface="Times New Roman" charset="0"/>
                <a:sym typeface="Symbol" charset="0"/>
              </a:rPr>
              <a:t>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s,v</a:t>
            </a:r>
            <a:r>
              <a:rPr lang="it-IT" b="1">
                <a:latin typeface="Times New Roman" charset="0"/>
              </a:rPr>
              <a:t>) = </a:t>
            </a:r>
            <a:r>
              <a:rPr lang="it-IT" b="1" i="1">
                <a:latin typeface="Times New Roman" charset="0"/>
                <a:sym typeface="Symbol" charset="0"/>
              </a:rPr>
              <a:t>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s,u</a:t>
            </a:r>
            <a:r>
              <a:rPr lang="it-IT" b="1">
                <a:latin typeface="Times New Roman" charset="0"/>
              </a:rPr>
              <a:t>) + 1</a:t>
            </a:r>
            <a:r>
              <a:rPr lang="it-IT">
                <a:latin typeface="Times New Roman" charset="0"/>
              </a:rPr>
              <a:t>.</a:t>
            </a:r>
            <a:r>
              <a:rPr lang="it-IT" b="1">
                <a:latin typeface="Times New Roman" charset="0"/>
              </a:rPr>
              <a:t> </a:t>
            </a:r>
          </a:p>
        </p:txBody>
      </p:sp>
      <p:sp>
        <p:nvSpPr>
          <p:cNvPr id="690179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BFS: Correttezza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6" name="Text Box 2"/>
          <p:cNvSpPr txBox="1">
            <a:spLocks noChangeArrowheads="1"/>
          </p:cNvSpPr>
          <p:nvPr/>
        </p:nvSpPr>
        <p:spPr bwMode="auto">
          <a:xfrm>
            <a:off x="457200" y="1828800"/>
            <a:ext cx="8118475" cy="42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sz="2800" i="1" u="sng">
                <a:latin typeface="Times New Roman" charset="0"/>
              </a:rPr>
              <a:t>Dimostrazione</a:t>
            </a:r>
            <a:r>
              <a:rPr lang="it-IT" sz="2800">
                <a:latin typeface="Times New Roman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Se </a:t>
            </a:r>
            <a:r>
              <a:rPr lang="it-IT" sz="2800" b="1" i="1">
                <a:latin typeface="Times New Roman" charset="0"/>
              </a:rPr>
              <a:t>v </a:t>
            </a:r>
            <a:r>
              <a:rPr lang="it-IT" sz="2800">
                <a:latin typeface="Times New Roman" charset="0"/>
              </a:rPr>
              <a:t>non è raggiungibile da </a:t>
            </a:r>
            <a:r>
              <a:rPr lang="it-IT" sz="2800" b="1" i="1">
                <a:latin typeface="Times New Roman" charset="0"/>
              </a:rPr>
              <a:t>s</a:t>
            </a:r>
            <a:r>
              <a:rPr lang="it-IT" sz="2800">
                <a:latin typeface="Times New Roman" charset="0"/>
              </a:rPr>
              <a:t> allora</a:t>
            </a:r>
            <a:r>
              <a:rPr lang="it-IT" sz="2800" b="1">
                <a:latin typeface="Times New Roman" charset="0"/>
                <a:sym typeface="Symbol" charset="0"/>
              </a:rPr>
              <a:t> </a:t>
            </a:r>
            <a:r>
              <a:rPr lang="it-IT" sz="2800" b="1" i="1">
                <a:latin typeface="Times New Roman" charset="0"/>
                <a:sym typeface="Symbol" charset="0"/>
              </a:rPr>
              <a:t></a:t>
            </a:r>
            <a:r>
              <a:rPr lang="it-IT" sz="2800" b="1">
                <a:latin typeface="Times New Roman" charset="0"/>
              </a:rPr>
              <a:t>(</a:t>
            </a:r>
            <a:r>
              <a:rPr lang="it-IT" sz="2800" b="1" i="1">
                <a:latin typeface="Times New Roman" charset="0"/>
              </a:rPr>
              <a:t>s,v</a:t>
            </a:r>
            <a:r>
              <a:rPr lang="it-IT" sz="2800" b="1">
                <a:latin typeface="Times New Roman" charset="0"/>
              </a:rPr>
              <a:t>) </a:t>
            </a:r>
            <a:r>
              <a:rPr lang="it-IT" sz="2800" b="1" i="1">
                <a:latin typeface="Times New Roman" charset="0"/>
              </a:rPr>
              <a:t>= </a:t>
            </a:r>
            <a:r>
              <a:rPr lang="it-IT" sz="2800" b="1">
                <a:latin typeface="Times New Roman" charset="0"/>
                <a:sym typeface="Symbol" charset="0"/>
              </a:rPr>
              <a:t></a:t>
            </a:r>
            <a:r>
              <a:rPr lang="it-IT" sz="2800">
                <a:latin typeface="Times New Roman" charset="0"/>
              </a:rPr>
              <a:t> e </a:t>
            </a:r>
            <a:r>
              <a:rPr lang="it-IT" sz="2800" b="1" i="1">
                <a:latin typeface="Times New Roman" charset="0"/>
                <a:sym typeface="Symbol" charset="0"/>
              </a:rPr>
              <a:t>d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]</a:t>
            </a:r>
            <a:r>
              <a:rPr lang="it-IT" sz="2800">
                <a:latin typeface="Times New Roman" charset="0"/>
              </a:rPr>
              <a:t> </a:t>
            </a:r>
            <a:r>
              <a:rPr lang="it-IT" sz="2800" b="1" i="1">
                <a:latin typeface="Times New Roman" charset="0"/>
              </a:rPr>
              <a:t>= </a:t>
            </a:r>
            <a:r>
              <a:rPr lang="it-IT" sz="2800" b="1" i="1">
                <a:latin typeface="Times New Roman" charset="0"/>
                <a:sym typeface="Symbol" charset="0"/>
              </a:rPr>
              <a:t></a:t>
            </a:r>
            <a:r>
              <a:rPr lang="it-IT" sz="2800" b="1">
                <a:latin typeface="Times New Roman" charset="0"/>
              </a:rPr>
              <a:t>(</a:t>
            </a:r>
            <a:r>
              <a:rPr lang="it-IT" sz="2800" b="1" i="1">
                <a:latin typeface="Times New Roman" charset="0"/>
              </a:rPr>
              <a:t>s,v</a:t>
            </a:r>
            <a:r>
              <a:rPr lang="it-IT" sz="2800" b="1">
                <a:latin typeface="Times New Roman" charset="0"/>
              </a:rPr>
              <a:t>) </a:t>
            </a:r>
            <a:r>
              <a:rPr lang="it-IT" sz="2800" b="1" i="1">
                <a:latin typeface="Times New Roman" charset="0"/>
              </a:rPr>
              <a:t>= </a:t>
            </a:r>
            <a:r>
              <a:rPr lang="it-IT" sz="2800" b="1">
                <a:latin typeface="Times New Roman" charset="0"/>
                <a:sym typeface="Symbol" charset="0"/>
              </a:rPr>
              <a:t></a:t>
            </a:r>
            <a:r>
              <a:rPr lang="it-IT" sz="2800">
                <a:latin typeface="Times New Roman" charset="0"/>
              </a:rPr>
              <a:t> per la proprietà del limite superiore. Quindi a </a:t>
            </a:r>
            <a:r>
              <a:rPr lang="it-IT" sz="2800" b="1" i="1">
                <a:latin typeface="Times New Roman" charset="0"/>
                <a:sym typeface="Symbol" charset="0"/>
              </a:rPr>
              <a:t>d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]</a:t>
            </a:r>
            <a:r>
              <a:rPr lang="it-IT" sz="2800">
                <a:latin typeface="Times New Roman" charset="0"/>
              </a:rPr>
              <a:t> non può venire assegnato un valore finito.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Per induzione non ci può essere un primo vertice </a:t>
            </a:r>
            <a:r>
              <a:rPr lang="it-IT" sz="2800" b="1" i="1">
                <a:latin typeface="Times New Roman" charset="0"/>
              </a:rPr>
              <a:t>v</a:t>
            </a:r>
            <a:r>
              <a:rPr lang="it-IT" sz="2800">
                <a:latin typeface="Times New Roman" charset="0"/>
              </a:rPr>
              <a:t> che viene inserito nella coda dopo aver assegnato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         </a:t>
            </a:r>
            <a:r>
              <a:rPr lang="it-IT" sz="2800" b="1" i="1">
                <a:latin typeface="Times New Roman" charset="0"/>
                <a:sym typeface="Symbol" charset="0"/>
              </a:rPr>
              <a:t>d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]</a:t>
            </a:r>
            <a:r>
              <a:rPr lang="it-IT" sz="2800">
                <a:latin typeface="Times New Roman" charset="0"/>
              </a:rPr>
              <a:t> </a:t>
            </a:r>
            <a:r>
              <a:rPr lang="it-IT" sz="2800" b="1" i="1">
                <a:latin typeface="Times New Roman" charset="0"/>
              </a:rPr>
              <a:t>= </a:t>
            </a:r>
            <a:r>
              <a:rPr lang="it-IT" sz="2800" b="1" i="1">
                <a:latin typeface="Times New Roman" charset="0"/>
                <a:sym typeface="Symbol" charset="0"/>
              </a:rPr>
              <a:t>d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]</a:t>
            </a:r>
            <a:r>
              <a:rPr lang="it-IT" sz="2800">
                <a:latin typeface="Times New Roman" charset="0"/>
              </a:rPr>
              <a:t> </a:t>
            </a:r>
            <a:r>
              <a:rPr lang="it-IT" sz="2800" b="1">
                <a:latin typeface="Times New Roman" charset="0"/>
                <a:sym typeface="Symbol" charset="0"/>
              </a:rPr>
              <a:t>+ 1</a:t>
            </a:r>
            <a:r>
              <a:rPr lang="it-IT" sz="2800">
                <a:latin typeface="Times New Roman" charset="0"/>
              </a:rPr>
              <a:t> </a:t>
            </a:r>
            <a:r>
              <a:rPr lang="it-IT" sz="2800" b="1" i="1">
                <a:latin typeface="Times New Roman" charset="0"/>
              </a:rPr>
              <a:t>= </a:t>
            </a:r>
            <a:r>
              <a:rPr lang="it-IT" sz="2800" b="1">
                <a:latin typeface="Times New Roman" charset="0"/>
                <a:sym typeface="Symbol" charset="0"/>
              </a:rPr>
              <a:t></a:t>
            </a:r>
            <a:r>
              <a:rPr lang="it-IT" sz="2800">
                <a:latin typeface="Times New Roman" charset="0"/>
              </a:rPr>
              <a:t> 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Quindi i vertici non raggiungibili</a:t>
            </a:r>
            <a:r>
              <a:rPr lang="it-IT" sz="2800" b="1" i="1">
                <a:latin typeface="Times New Roman" charset="0"/>
              </a:rPr>
              <a:t> </a:t>
            </a:r>
            <a:r>
              <a:rPr lang="it-IT" sz="2800">
                <a:latin typeface="Times New Roman" charset="0"/>
              </a:rPr>
              <a:t>non vengono visitati dall’algoritmo. </a:t>
            </a:r>
          </a:p>
        </p:txBody>
      </p:sp>
      <p:sp>
        <p:nvSpPr>
          <p:cNvPr id="692227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BFS: Correttezza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Text Box 2"/>
          <p:cNvSpPr txBox="1">
            <a:spLocks noChangeArrowheads="1"/>
          </p:cNvSpPr>
          <p:nvPr/>
        </p:nvSpPr>
        <p:spPr bwMode="auto">
          <a:xfrm>
            <a:off x="533400" y="3200400"/>
            <a:ext cx="8153400" cy="291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  <a:buFontTx/>
              <a:buAutoNum type="alphaLcParenR"/>
            </a:pPr>
            <a:r>
              <a:rPr lang="it-IT" sz="2800">
                <a:latin typeface="Times New Roman" charset="0"/>
              </a:rPr>
              <a:t>a </a:t>
            </a:r>
            <a:r>
              <a:rPr lang="it-IT" sz="2800" b="1" i="1">
                <a:latin typeface="Times New Roman" charset="0"/>
                <a:sym typeface="Symbol" charset="0"/>
              </a:rPr>
              <a:t>color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]</a:t>
            </a:r>
            <a:r>
              <a:rPr lang="it-IT" sz="2800">
                <a:latin typeface="Times New Roman" charset="0"/>
              </a:rPr>
              <a:t> viene assegnato il valore </a:t>
            </a:r>
            <a:r>
              <a:rPr lang="it-IT" sz="2800" b="1" i="1">
                <a:latin typeface="Times New Roman" charset="0"/>
              </a:rPr>
              <a:t>grigio</a:t>
            </a:r>
            <a:r>
              <a:rPr lang="it-IT" sz="2800">
                <a:latin typeface="Times New Roman" charset="0"/>
              </a:rPr>
              <a:t>;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</a:pPr>
            <a:r>
              <a:rPr lang="it-IT" sz="2800">
                <a:latin typeface="Times New Roman" charset="0"/>
              </a:rPr>
              <a:t>a </a:t>
            </a:r>
            <a:r>
              <a:rPr lang="it-IT" sz="2800" b="1" i="1">
                <a:latin typeface="Times New Roman" charset="0"/>
                <a:sym typeface="Symbol" charset="0"/>
              </a:rPr>
              <a:t>d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]</a:t>
            </a:r>
            <a:r>
              <a:rPr lang="it-IT" sz="2800">
                <a:latin typeface="Times New Roman" charset="0"/>
              </a:rPr>
              <a:t> viene assegnato il valore </a:t>
            </a:r>
            <a:r>
              <a:rPr lang="it-IT" sz="2800" b="1" i="1">
                <a:latin typeface="Times New Roman" charset="0"/>
                <a:sym typeface="Symbol" charset="0"/>
              </a:rPr>
              <a:t></a:t>
            </a:r>
            <a:r>
              <a:rPr lang="it-IT" sz="2800" b="1">
                <a:latin typeface="Times New Roman" charset="0"/>
              </a:rPr>
              <a:t>(</a:t>
            </a:r>
            <a:r>
              <a:rPr lang="it-IT" sz="2800" b="1" i="1">
                <a:latin typeface="Times New Roman" charset="0"/>
              </a:rPr>
              <a:t>s,v</a:t>
            </a:r>
            <a:r>
              <a:rPr lang="it-IT" sz="2800" b="1">
                <a:latin typeface="Times New Roman" charset="0"/>
              </a:rPr>
              <a:t>)</a:t>
            </a:r>
            <a:r>
              <a:rPr lang="it-IT" sz="2800">
                <a:latin typeface="Times New Roman" charset="0"/>
              </a:rPr>
              <a:t>;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</a:pPr>
            <a:r>
              <a:rPr lang="it-IT" sz="2800">
                <a:latin typeface="Times New Roman" charset="0"/>
              </a:rPr>
              <a:t>se </a:t>
            </a:r>
            <a:r>
              <a:rPr lang="it-IT" sz="2800" b="1" i="1">
                <a:latin typeface="Times New Roman" charset="0"/>
              </a:rPr>
              <a:t>v </a:t>
            </a:r>
            <a:r>
              <a:rPr lang="it-IT" sz="2800">
                <a:latin typeface="Times New Roman" charset="0"/>
                <a:sym typeface="Symbol" charset="0"/>
              </a:rPr>
              <a:t> </a:t>
            </a:r>
            <a:r>
              <a:rPr lang="it-IT" sz="2800" b="1" i="1">
                <a:latin typeface="Times New Roman" charset="0"/>
              </a:rPr>
              <a:t>s</a:t>
            </a:r>
            <a:r>
              <a:rPr lang="it-IT" sz="2800">
                <a:latin typeface="Times New Roman" charset="0"/>
              </a:rPr>
              <a:t> a </a:t>
            </a:r>
            <a:r>
              <a:rPr lang="it-IT" sz="2800" b="1" i="1">
                <a:latin typeface="Times New Roman" charset="0"/>
                <a:sym typeface="Symbol" charset="0"/>
              </a:rPr>
              <a:t>p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]</a:t>
            </a:r>
            <a:r>
              <a:rPr lang="it-IT" sz="2800">
                <a:latin typeface="Times New Roman" charset="0"/>
              </a:rPr>
              <a:t> viene assegnato un vertice </a:t>
            </a:r>
            <a:r>
              <a:rPr lang="it-IT" sz="2800" b="1" i="1">
                <a:latin typeface="Times New Roman" charset="0"/>
              </a:rPr>
              <a:t>u</a:t>
            </a:r>
            <a:r>
              <a:rPr lang="it-IT" sz="2800">
                <a:latin typeface="Times New Roman" charset="0"/>
              </a:rPr>
              <a:t> tale che </a:t>
            </a:r>
            <a:r>
              <a:rPr lang="it-IT" sz="2800" b="1" i="1">
                <a:latin typeface="Times New Roman" charset="0"/>
                <a:sym typeface="Symbol" charset="0"/>
              </a:rPr>
              <a:t></a:t>
            </a:r>
            <a:r>
              <a:rPr lang="it-IT" sz="2800" b="1">
                <a:latin typeface="Times New Roman" charset="0"/>
              </a:rPr>
              <a:t>(</a:t>
            </a:r>
            <a:r>
              <a:rPr lang="it-IT" sz="2800" b="1" i="1">
                <a:latin typeface="Times New Roman" charset="0"/>
              </a:rPr>
              <a:t>s,v</a:t>
            </a:r>
            <a:r>
              <a:rPr lang="it-IT" sz="2800" b="1">
                <a:latin typeface="Times New Roman" charset="0"/>
              </a:rPr>
              <a:t>) =</a:t>
            </a:r>
            <a:r>
              <a:rPr lang="it-IT" sz="2800">
                <a:latin typeface="Times New Roman" charset="0"/>
              </a:rPr>
              <a:t> </a:t>
            </a:r>
            <a:r>
              <a:rPr lang="it-IT" sz="2800" b="1" i="1">
                <a:latin typeface="Times New Roman" charset="0"/>
                <a:sym typeface="Symbol" charset="0"/>
              </a:rPr>
              <a:t></a:t>
            </a:r>
            <a:r>
              <a:rPr lang="it-IT" sz="2800" b="1">
                <a:latin typeface="Times New Roman" charset="0"/>
              </a:rPr>
              <a:t>(</a:t>
            </a:r>
            <a:r>
              <a:rPr lang="it-IT" sz="2800" b="1" i="1">
                <a:latin typeface="Times New Roman" charset="0"/>
              </a:rPr>
              <a:t>s,u</a:t>
            </a:r>
            <a:r>
              <a:rPr lang="it-IT" sz="2800" b="1">
                <a:latin typeface="Times New Roman" charset="0"/>
              </a:rPr>
              <a:t>) +1</a:t>
            </a:r>
            <a:r>
              <a:rPr lang="it-IT" sz="2800">
                <a:latin typeface="Times New Roman" charset="0"/>
              </a:rPr>
              <a:t> mentre se </a:t>
            </a:r>
            <a:r>
              <a:rPr lang="it-IT" sz="2800" b="1" i="1">
                <a:latin typeface="Times New Roman" charset="0"/>
              </a:rPr>
              <a:t>v </a:t>
            </a:r>
            <a:r>
              <a:rPr lang="it-IT" sz="2800" b="1">
                <a:latin typeface="Times New Roman" charset="0"/>
                <a:sym typeface="Symbol" charset="0"/>
              </a:rPr>
              <a:t>=</a:t>
            </a:r>
            <a:r>
              <a:rPr lang="it-IT" sz="2800">
                <a:latin typeface="Times New Roman" charset="0"/>
                <a:sym typeface="Symbol" charset="0"/>
              </a:rPr>
              <a:t> </a:t>
            </a:r>
            <a:r>
              <a:rPr lang="it-IT" sz="2800" b="1" i="1">
                <a:latin typeface="Times New Roman" charset="0"/>
              </a:rPr>
              <a:t>s</a:t>
            </a:r>
            <a:r>
              <a:rPr lang="it-IT" sz="2800">
                <a:latin typeface="Times New Roman" charset="0"/>
              </a:rPr>
              <a:t> a </a:t>
            </a:r>
            <a:r>
              <a:rPr lang="it-IT" sz="2800" b="1" i="1">
                <a:latin typeface="Times New Roman" charset="0"/>
                <a:sym typeface="Symbol" charset="0"/>
              </a:rPr>
              <a:t>p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s</a:t>
            </a:r>
            <a:r>
              <a:rPr lang="it-IT" sz="2800" b="1">
                <a:latin typeface="Times New Roman" charset="0"/>
                <a:sym typeface="Symbol" charset="0"/>
              </a:rPr>
              <a:t>]</a:t>
            </a:r>
            <a:r>
              <a:rPr lang="it-IT" sz="2800">
                <a:latin typeface="Times New Roman" charset="0"/>
              </a:rPr>
              <a:t> viene assegnato </a:t>
            </a:r>
            <a:r>
              <a:rPr lang="it-IT" sz="2800" b="1" i="1">
                <a:latin typeface="Times New Roman" charset="0"/>
              </a:rPr>
              <a:t>nil</a:t>
            </a:r>
            <a:r>
              <a:rPr lang="it-IT" sz="2800">
                <a:latin typeface="Times New Roman" charset="0"/>
              </a:rPr>
              <a:t>;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</a:pPr>
            <a:r>
              <a:rPr lang="it-IT" sz="2800">
                <a:latin typeface="Times New Roman" charset="0"/>
              </a:rPr>
              <a:t>il vertice </a:t>
            </a:r>
            <a:r>
              <a:rPr lang="it-IT" sz="2800" b="1" i="1">
                <a:latin typeface="Times New Roman" charset="0"/>
              </a:rPr>
              <a:t>v </a:t>
            </a:r>
            <a:r>
              <a:rPr lang="it-IT" sz="2800">
                <a:latin typeface="Times New Roman" charset="0"/>
              </a:rPr>
              <a:t>viene aggiunto alla coda </a:t>
            </a:r>
            <a:r>
              <a:rPr lang="it-IT" sz="2800" b="1" i="1">
                <a:latin typeface="Times New Roman" charset="0"/>
              </a:rPr>
              <a:t>Q</a:t>
            </a:r>
            <a:r>
              <a:rPr lang="it-IT" sz="2800">
                <a:latin typeface="Times New Roman" charset="0"/>
              </a:rPr>
              <a:t>. </a:t>
            </a:r>
          </a:p>
        </p:txBody>
      </p:sp>
      <p:sp>
        <p:nvSpPr>
          <p:cNvPr id="694275" name="Text Box 3"/>
          <p:cNvSpPr txBox="1">
            <a:spLocks noChangeArrowheads="1"/>
          </p:cNvSpPr>
          <p:nvPr/>
        </p:nvSpPr>
        <p:spPr bwMode="auto">
          <a:xfrm>
            <a:off x="533400" y="1447800"/>
            <a:ext cx="81534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Dimostriamo quindi che per ogni vertice </a:t>
            </a:r>
            <a:r>
              <a:rPr lang="it-IT" sz="2800" b="1" i="1">
                <a:latin typeface="Times New Roman" charset="0"/>
              </a:rPr>
              <a:t>v</a:t>
            </a:r>
            <a:r>
              <a:rPr lang="it-IT" sz="2800" b="1">
                <a:latin typeface="Times New Roman" charset="0"/>
              </a:rPr>
              <a:t> </a:t>
            </a:r>
            <a:r>
              <a:rPr lang="it-IT" sz="2800" b="1">
                <a:latin typeface="Times New Roman" charset="0"/>
                <a:sym typeface="Symbol" charset="0"/>
              </a:rPr>
              <a:t></a:t>
            </a:r>
            <a:r>
              <a:rPr lang="it-IT" sz="2800" b="1">
                <a:latin typeface="Times New Roman" charset="0"/>
              </a:rPr>
              <a:t> </a:t>
            </a:r>
            <a:r>
              <a:rPr lang="it-IT" sz="2800" b="1" i="1">
                <a:latin typeface="Times New Roman" charset="0"/>
              </a:rPr>
              <a:t>V </a:t>
            </a:r>
            <a:r>
              <a:rPr lang="it-IT" sz="2800">
                <a:latin typeface="Times New Roman" charset="0"/>
              </a:rPr>
              <a:t>raggiungibile da </a:t>
            </a:r>
            <a:r>
              <a:rPr lang="it-IT" sz="2800" b="1" i="1">
                <a:latin typeface="Times New Roman" charset="0"/>
              </a:rPr>
              <a:t>s</a:t>
            </a:r>
            <a:r>
              <a:rPr lang="it-IT" sz="2800" b="1">
                <a:latin typeface="Times New Roman" charset="0"/>
              </a:rPr>
              <a:t> </a:t>
            </a:r>
            <a:r>
              <a:rPr lang="it-IT" sz="2800">
                <a:latin typeface="Times New Roman" charset="0"/>
              </a:rPr>
              <a:t>esiste uno ed un solo punto dell’esecuzione di </a:t>
            </a:r>
            <a:r>
              <a:rPr lang="it-IT" sz="2800" b="1" i="1">
                <a:latin typeface="Times New Roman" charset="0"/>
              </a:rPr>
              <a:t>BFS</a:t>
            </a:r>
            <a:r>
              <a:rPr lang="it-IT" sz="2800">
                <a:latin typeface="Times New Roman" charset="0"/>
              </a:rPr>
              <a:t> in cui:</a:t>
            </a:r>
          </a:p>
        </p:txBody>
      </p:sp>
      <p:sp>
        <p:nvSpPr>
          <p:cNvPr id="694276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BFS: Correttezza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2" name="Text Box 2"/>
          <p:cNvSpPr txBox="1">
            <a:spLocks noChangeArrowheads="1"/>
          </p:cNvSpPr>
          <p:nvPr/>
        </p:nvSpPr>
        <p:spPr bwMode="auto">
          <a:xfrm>
            <a:off x="457200" y="1676400"/>
            <a:ext cx="8153400" cy="467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Siccome dopo l’inizializzazione nessun vertice viene più colorato </a:t>
            </a:r>
            <a:r>
              <a:rPr lang="it-IT" b="1" i="1">
                <a:latin typeface="Times New Roman" charset="0"/>
              </a:rPr>
              <a:t>bianco</a:t>
            </a:r>
            <a:r>
              <a:rPr lang="it-IT">
                <a:latin typeface="Times New Roman" charset="0"/>
              </a:rPr>
              <a:t> e un vertice può essere colorato </a:t>
            </a:r>
            <a:r>
              <a:rPr lang="it-IT" b="1" i="1">
                <a:latin typeface="Times New Roman" charset="0"/>
              </a:rPr>
              <a:t>grigio</a:t>
            </a:r>
            <a:r>
              <a:rPr lang="it-IT">
                <a:latin typeface="Times New Roman" charset="0"/>
              </a:rPr>
              <a:t> soltanto se era </a:t>
            </a:r>
            <a:r>
              <a:rPr lang="it-IT" b="1" i="1">
                <a:latin typeface="Times New Roman" charset="0"/>
              </a:rPr>
              <a:t>bianco</a:t>
            </a:r>
            <a:r>
              <a:rPr lang="it-IT">
                <a:latin typeface="Times New Roman" charset="0"/>
              </a:rPr>
              <a:t> questo ci assicura che ogni vertice può venir colorato </a:t>
            </a:r>
            <a:r>
              <a:rPr lang="it-IT" b="1" i="1">
                <a:latin typeface="Times New Roman" charset="0"/>
              </a:rPr>
              <a:t>grigio</a:t>
            </a:r>
            <a:r>
              <a:rPr lang="it-IT">
                <a:latin typeface="Times New Roman" charset="0"/>
              </a:rPr>
              <a:t> una sola volta.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Tali azioni non possono quindi essere eseguite più di una volta.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Rimane quindi da dimostrare che esiste almeno un punto in cui vengono eseguite.</a:t>
            </a:r>
          </a:p>
        </p:txBody>
      </p:sp>
      <p:sp>
        <p:nvSpPr>
          <p:cNvPr id="696323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BFS: Correttezza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Text Box 2"/>
          <p:cNvSpPr txBox="1">
            <a:spLocks noChangeArrowheads="1"/>
          </p:cNvSpPr>
          <p:nvPr/>
        </p:nvSpPr>
        <p:spPr bwMode="auto">
          <a:xfrm>
            <a:off x="615950" y="1524000"/>
            <a:ext cx="78374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Durante l’inizializzazione:</a:t>
            </a:r>
          </a:p>
        </p:txBody>
      </p:sp>
      <p:sp>
        <p:nvSpPr>
          <p:cNvPr id="698371" name="Text Box 3"/>
          <p:cNvSpPr txBox="1">
            <a:spLocks noChangeArrowheads="1"/>
          </p:cNvSpPr>
          <p:nvPr/>
        </p:nvSpPr>
        <p:spPr bwMode="auto">
          <a:xfrm>
            <a:off x="615950" y="2590800"/>
            <a:ext cx="8153400" cy="233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  <a:buFontTx/>
              <a:buAutoNum type="alphaLcParenR"/>
            </a:pPr>
            <a:r>
              <a:rPr lang="it-IT" sz="3200">
                <a:latin typeface="Times New Roman" charset="0"/>
              </a:rPr>
              <a:t>a </a:t>
            </a:r>
            <a:r>
              <a:rPr lang="it-IT" sz="3200" b="1" i="1">
                <a:latin typeface="Times New Roman" charset="0"/>
                <a:sym typeface="Symbol" charset="0"/>
              </a:rPr>
              <a:t>color</a:t>
            </a:r>
            <a:r>
              <a:rPr lang="it-IT" sz="3200" b="1">
                <a:latin typeface="Times New Roman" charset="0"/>
                <a:sym typeface="Symbol" charset="0"/>
              </a:rPr>
              <a:t>[</a:t>
            </a:r>
            <a:r>
              <a:rPr lang="it-IT" sz="3200" b="1" i="1">
                <a:latin typeface="Times New Roman" charset="0"/>
                <a:sym typeface="Symbol" charset="0"/>
              </a:rPr>
              <a:t>s</a:t>
            </a:r>
            <a:r>
              <a:rPr lang="it-IT" sz="3200" b="1">
                <a:latin typeface="Times New Roman" charset="0"/>
                <a:sym typeface="Symbol" charset="0"/>
              </a:rPr>
              <a:t>]</a:t>
            </a:r>
            <a:r>
              <a:rPr lang="it-IT" sz="3200">
                <a:latin typeface="Times New Roman" charset="0"/>
              </a:rPr>
              <a:t> viene assegnato il valore </a:t>
            </a:r>
            <a:r>
              <a:rPr lang="it-IT" sz="3200" b="1" i="1">
                <a:latin typeface="Times New Roman" charset="0"/>
              </a:rPr>
              <a:t>grigio</a:t>
            </a:r>
            <a:r>
              <a:rPr lang="it-IT" sz="3200">
                <a:latin typeface="Times New Roman" charset="0"/>
              </a:rPr>
              <a:t>;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</a:pPr>
            <a:r>
              <a:rPr lang="it-IT" sz="3200">
                <a:latin typeface="Times New Roman" charset="0"/>
              </a:rPr>
              <a:t>a </a:t>
            </a:r>
            <a:r>
              <a:rPr lang="it-IT" sz="3200" b="1" i="1">
                <a:latin typeface="Times New Roman" charset="0"/>
                <a:sym typeface="Symbol" charset="0"/>
              </a:rPr>
              <a:t>d</a:t>
            </a:r>
            <a:r>
              <a:rPr lang="it-IT" sz="3200" b="1">
                <a:latin typeface="Times New Roman" charset="0"/>
                <a:sym typeface="Symbol" charset="0"/>
              </a:rPr>
              <a:t>[</a:t>
            </a:r>
            <a:r>
              <a:rPr lang="it-IT" sz="3200" b="1" i="1">
                <a:latin typeface="Times New Roman" charset="0"/>
                <a:sym typeface="Symbol" charset="0"/>
              </a:rPr>
              <a:t>s</a:t>
            </a:r>
            <a:r>
              <a:rPr lang="it-IT" sz="3200" b="1">
                <a:latin typeface="Times New Roman" charset="0"/>
                <a:sym typeface="Symbol" charset="0"/>
              </a:rPr>
              <a:t>]</a:t>
            </a:r>
            <a:r>
              <a:rPr lang="it-IT" sz="3200">
                <a:latin typeface="Times New Roman" charset="0"/>
              </a:rPr>
              <a:t> viene assegnato il valore 0;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</a:pPr>
            <a:r>
              <a:rPr lang="it-IT" sz="3200">
                <a:latin typeface="Times New Roman" charset="0"/>
              </a:rPr>
              <a:t>ad </a:t>
            </a:r>
            <a:r>
              <a:rPr lang="it-IT" sz="3200" b="1" i="1">
                <a:latin typeface="Times New Roman" charset="0"/>
                <a:sym typeface="Symbol" charset="0"/>
              </a:rPr>
              <a:t>p</a:t>
            </a:r>
            <a:r>
              <a:rPr lang="it-IT" sz="3200" b="1">
                <a:latin typeface="Times New Roman" charset="0"/>
                <a:sym typeface="Symbol" charset="0"/>
              </a:rPr>
              <a:t>[</a:t>
            </a:r>
            <a:r>
              <a:rPr lang="it-IT" sz="3200" b="1" i="1">
                <a:latin typeface="Times New Roman" charset="0"/>
                <a:sym typeface="Symbol" charset="0"/>
              </a:rPr>
              <a:t>s</a:t>
            </a:r>
            <a:r>
              <a:rPr lang="it-IT" sz="3200" b="1">
                <a:latin typeface="Times New Roman" charset="0"/>
                <a:sym typeface="Symbol" charset="0"/>
              </a:rPr>
              <a:t>]</a:t>
            </a:r>
            <a:r>
              <a:rPr lang="it-IT" sz="3200">
                <a:latin typeface="Times New Roman" charset="0"/>
              </a:rPr>
              <a:t> viene assegnato </a:t>
            </a:r>
            <a:r>
              <a:rPr lang="it-IT" sz="3200" b="1" i="1">
                <a:latin typeface="Times New Roman" charset="0"/>
              </a:rPr>
              <a:t>nil</a:t>
            </a:r>
            <a:r>
              <a:rPr lang="it-IT" sz="3200">
                <a:latin typeface="Times New Roman" charset="0"/>
              </a:rPr>
              <a:t>;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</a:pPr>
            <a:r>
              <a:rPr lang="it-IT" sz="3200">
                <a:latin typeface="Times New Roman" charset="0"/>
              </a:rPr>
              <a:t>il vertice </a:t>
            </a:r>
            <a:r>
              <a:rPr lang="it-IT" sz="3200" b="1" i="1">
                <a:latin typeface="Times New Roman" charset="0"/>
              </a:rPr>
              <a:t>s </a:t>
            </a:r>
            <a:r>
              <a:rPr lang="it-IT" sz="3200">
                <a:latin typeface="Times New Roman" charset="0"/>
              </a:rPr>
              <a:t>viene aggiunto alla coda </a:t>
            </a:r>
            <a:r>
              <a:rPr lang="it-IT" sz="3200" b="1" i="1">
                <a:latin typeface="Times New Roman" charset="0"/>
              </a:rPr>
              <a:t>Q</a:t>
            </a:r>
            <a:r>
              <a:rPr lang="it-IT" sz="3200">
                <a:latin typeface="Times New Roman" charset="0"/>
              </a:rPr>
              <a:t>. </a:t>
            </a:r>
          </a:p>
        </p:txBody>
      </p:sp>
      <p:sp>
        <p:nvSpPr>
          <p:cNvPr id="698372" name="Text Box 4"/>
          <p:cNvSpPr txBox="1">
            <a:spLocks noChangeArrowheads="1"/>
          </p:cNvSpPr>
          <p:nvPr/>
        </p:nvSpPr>
        <p:spPr bwMode="auto">
          <a:xfrm>
            <a:off x="685800" y="5486400"/>
            <a:ext cx="75977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quindi la cosa è vera per la sorgente </a:t>
            </a:r>
            <a:r>
              <a:rPr lang="it-IT" b="1" i="1">
                <a:latin typeface="Times New Roman" charset="0"/>
              </a:rPr>
              <a:t>s</a:t>
            </a:r>
            <a:r>
              <a:rPr lang="it-IT">
                <a:latin typeface="Times New Roman" charset="0"/>
              </a:rPr>
              <a:t>. </a:t>
            </a:r>
          </a:p>
        </p:txBody>
      </p:sp>
      <p:sp>
        <p:nvSpPr>
          <p:cNvPr id="698373" name="Rectangle 5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BFS: Correttezza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Text Box 2"/>
          <p:cNvSpPr txBox="1">
            <a:spLocks noChangeArrowheads="1"/>
          </p:cNvSpPr>
          <p:nvPr/>
        </p:nvSpPr>
        <p:spPr bwMode="auto">
          <a:xfrm>
            <a:off x="457200" y="1600200"/>
            <a:ext cx="81534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sz="2400">
                <a:latin typeface="Times New Roman" charset="0"/>
              </a:rPr>
              <a:t>Sia </a:t>
            </a:r>
            <a:r>
              <a:rPr lang="it-IT" sz="2400" b="1" i="1">
                <a:latin typeface="Times New Roman" charset="0"/>
              </a:rPr>
              <a:t>V</a:t>
            </a:r>
            <a:r>
              <a:rPr lang="it-IT" sz="2400" b="1" i="1" baseline="-25000">
                <a:latin typeface="Times New Roman" charset="0"/>
              </a:rPr>
              <a:t>k</a:t>
            </a:r>
            <a:r>
              <a:rPr lang="it-IT" sz="2400" b="1">
                <a:latin typeface="Times New Roman" charset="0"/>
              </a:rPr>
              <a:t> = {</a:t>
            </a:r>
            <a:r>
              <a:rPr lang="it-IT" sz="2400" b="1" i="1">
                <a:latin typeface="Times New Roman" charset="0"/>
              </a:rPr>
              <a:t>v</a:t>
            </a:r>
            <a:r>
              <a:rPr lang="it-IT" sz="2400" b="1">
                <a:latin typeface="Times New Roman" charset="0"/>
              </a:rPr>
              <a:t> </a:t>
            </a:r>
            <a:r>
              <a:rPr lang="it-IT" sz="2400" b="1">
                <a:latin typeface="Times New Roman" charset="0"/>
                <a:sym typeface="Symbol" charset="0"/>
              </a:rPr>
              <a:t></a:t>
            </a:r>
            <a:r>
              <a:rPr lang="it-IT" sz="2400" b="1">
                <a:latin typeface="Times New Roman" charset="0"/>
              </a:rPr>
              <a:t> </a:t>
            </a:r>
            <a:r>
              <a:rPr lang="it-IT" sz="2400" b="1" i="1">
                <a:latin typeface="Times New Roman" charset="0"/>
              </a:rPr>
              <a:t>V</a:t>
            </a:r>
            <a:r>
              <a:rPr lang="it-IT" sz="2400" b="1">
                <a:latin typeface="Times New Roman" charset="0"/>
              </a:rPr>
              <a:t> : </a:t>
            </a:r>
            <a:r>
              <a:rPr lang="it-IT" sz="2400" b="1" i="1">
                <a:latin typeface="Times New Roman" charset="0"/>
                <a:sym typeface="Symbol" charset="0"/>
              </a:rPr>
              <a:t></a:t>
            </a:r>
            <a:r>
              <a:rPr lang="it-IT" sz="2400" b="1">
                <a:latin typeface="Times New Roman" charset="0"/>
              </a:rPr>
              <a:t>(</a:t>
            </a:r>
            <a:r>
              <a:rPr lang="it-IT" sz="2400" b="1" i="1">
                <a:latin typeface="Times New Roman" charset="0"/>
              </a:rPr>
              <a:t>s,v</a:t>
            </a:r>
            <a:r>
              <a:rPr lang="it-IT" sz="2400" b="1">
                <a:latin typeface="Times New Roman" charset="0"/>
              </a:rPr>
              <a:t>) = </a:t>
            </a:r>
            <a:r>
              <a:rPr lang="it-IT" sz="2400" b="1" i="1">
                <a:latin typeface="Times New Roman" charset="0"/>
              </a:rPr>
              <a:t>k</a:t>
            </a:r>
            <a:r>
              <a:rPr lang="it-IT" sz="2400" b="1">
                <a:latin typeface="Times New Roman" charset="0"/>
              </a:rPr>
              <a:t>} </a:t>
            </a:r>
            <a:r>
              <a:rPr lang="it-IT" sz="2400">
                <a:latin typeface="Times New Roman" charset="0"/>
              </a:rPr>
              <a:t>l’insieme dei vertici a distanza </a:t>
            </a:r>
            <a:r>
              <a:rPr lang="it-IT" sz="2400" b="1" i="1">
                <a:latin typeface="Times New Roman" charset="0"/>
              </a:rPr>
              <a:t>k &lt; </a:t>
            </a:r>
            <a:r>
              <a:rPr lang="it-IT" sz="2400" b="1">
                <a:latin typeface="Times New Roman" charset="0"/>
                <a:sym typeface="Symbol" charset="0"/>
              </a:rPr>
              <a:t></a:t>
            </a:r>
            <a:r>
              <a:rPr lang="it-IT" sz="2400">
                <a:latin typeface="Times New Roman" charset="0"/>
              </a:rPr>
              <a:t> da </a:t>
            </a:r>
            <a:r>
              <a:rPr lang="it-IT" sz="2400" b="1" i="1">
                <a:latin typeface="Times New Roman" charset="0"/>
              </a:rPr>
              <a:t>s</a:t>
            </a:r>
            <a:r>
              <a:rPr lang="it-IT" sz="2400">
                <a:latin typeface="Times New Roman" charset="0"/>
              </a:rPr>
              <a:t>. </a:t>
            </a:r>
          </a:p>
          <a:p>
            <a:pPr eaLnBrk="0" hangingPunct="0">
              <a:spcBef>
                <a:spcPct val="20000"/>
              </a:spcBef>
            </a:pPr>
            <a:r>
              <a:rPr lang="it-IT" sz="2400">
                <a:latin typeface="Times New Roman" charset="0"/>
              </a:rPr>
              <a:t>Dimostriamo per induzione su  </a:t>
            </a:r>
            <a:r>
              <a:rPr lang="it-IT" sz="2400" b="1" i="1">
                <a:latin typeface="Times New Roman" charset="0"/>
              </a:rPr>
              <a:t>k</a:t>
            </a:r>
            <a:r>
              <a:rPr lang="it-IT" sz="2400">
                <a:latin typeface="Times New Roman" charset="0"/>
              </a:rPr>
              <a:t> che per ogni vertice </a:t>
            </a:r>
            <a:r>
              <a:rPr lang="it-IT" sz="2400" b="1" i="1">
                <a:latin typeface="Times New Roman" charset="0"/>
              </a:rPr>
              <a:t>v</a:t>
            </a:r>
            <a:r>
              <a:rPr lang="it-IT" sz="2400" b="1">
                <a:latin typeface="Times New Roman" charset="0"/>
              </a:rPr>
              <a:t> </a:t>
            </a:r>
            <a:r>
              <a:rPr lang="it-IT" sz="2400" b="1">
                <a:latin typeface="Times New Roman" charset="0"/>
                <a:sym typeface="Symbol" charset="0"/>
              </a:rPr>
              <a:t></a:t>
            </a:r>
            <a:r>
              <a:rPr lang="it-IT" sz="2400" b="1">
                <a:latin typeface="Times New Roman" charset="0"/>
              </a:rPr>
              <a:t> </a:t>
            </a:r>
            <a:r>
              <a:rPr lang="it-IT" sz="2400" b="1" i="1">
                <a:latin typeface="Times New Roman" charset="0"/>
              </a:rPr>
              <a:t>V</a:t>
            </a:r>
            <a:r>
              <a:rPr lang="it-IT" sz="2400" b="1" i="1" baseline="-25000">
                <a:latin typeface="Times New Roman" charset="0"/>
              </a:rPr>
              <a:t>k</a:t>
            </a:r>
            <a:r>
              <a:rPr lang="it-IT" sz="2400" b="1">
                <a:latin typeface="Times New Roman" charset="0"/>
              </a:rPr>
              <a:t> </a:t>
            </a:r>
            <a:r>
              <a:rPr lang="it-IT" sz="2400">
                <a:latin typeface="Times New Roman" charset="0"/>
              </a:rPr>
              <a:t>esiste un punto dell’esecuzione di </a:t>
            </a:r>
            <a:r>
              <a:rPr lang="it-IT" sz="2400" b="1" i="1">
                <a:latin typeface="Times New Roman" charset="0"/>
              </a:rPr>
              <a:t>BFS</a:t>
            </a:r>
            <a:r>
              <a:rPr lang="it-IT" sz="2400">
                <a:latin typeface="Times New Roman" charset="0"/>
              </a:rPr>
              <a:t> in cui vengono eseguite le azioni:</a:t>
            </a:r>
          </a:p>
        </p:txBody>
      </p:sp>
      <p:sp>
        <p:nvSpPr>
          <p:cNvPr id="700419" name="Text Box 3"/>
          <p:cNvSpPr txBox="1">
            <a:spLocks noChangeArrowheads="1"/>
          </p:cNvSpPr>
          <p:nvPr/>
        </p:nvSpPr>
        <p:spPr bwMode="auto">
          <a:xfrm>
            <a:off x="457200" y="3733800"/>
            <a:ext cx="8153400" cy="213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  <a:buFontTx/>
              <a:buAutoNum type="alphaLcParenR"/>
            </a:pPr>
            <a:r>
              <a:rPr lang="it-IT">
                <a:latin typeface="Times New Roman" charset="0"/>
              </a:rPr>
              <a:t>a </a:t>
            </a:r>
            <a:r>
              <a:rPr lang="it-IT" b="1" i="1">
                <a:latin typeface="Times New Roman" charset="0"/>
                <a:sym typeface="Symbol" charset="0"/>
              </a:rPr>
              <a:t>color</a:t>
            </a:r>
            <a:r>
              <a:rPr lang="it-IT" b="1">
                <a:latin typeface="Times New Roman" charset="0"/>
                <a:sym typeface="Symbol" charset="0"/>
              </a:rPr>
              <a:t>[</a:t>
            </a:r>
            <a:r>
              <a:rPr lang="it-IT" b="1" i="1">
                <a:latin typeface="Times New Roman" charset="0"/>
                <a:sym typeface="Symbol" charset="0"/>
              </a:rPr>
              <a:t>v</a:t>
            </a:r>
            <a:r>
              <a:rPr lang="it-IT" b="1">
                <a:latin typeface="Times New Roman" charset="0"/>
                <a:sym typeface="Symbol" charset="0"/>
              </a:rPr>
              <a:t>]</a:t>
            </a:r>
            <a:r>
              <a:rPr lang="it-IT">
                <a:latin typeface="Times New Roman" charset="0"/>
              </a:rPr>
              <a:t> viene assegnato il valore </a:t>
            </a:r>
            <a:r>
              <a:rPr lang="it-IT" b="1" i="1">
                <a:latin typeface="Times New Roman" charset="0"/>
              </a:rPr>
              <a:t>grigio</a:t>
            </a:r>
            <a:r>
              <a:rPr lang="it-IT">
                <a:latin typeface="Times New Roman" charset="0"/>
              </a:rPr>
              <a:t>;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</a:pPr>
            <a:r>
              <a:rPr lang="it-IT">
                <a:latin typeface="Times New Roman" charset="0"/>
              </a:rPr>
              <a:t>a </a:t>
            </a:r>
            <a:r>
              <a:rPr lang="it-IT" b="1" i="1">
                <a:latin typeface="Times New Roman" charset="0"/>
                <a:sym typeface="Symbol" charset="0"/>
              </a:rPr>
              <a:t>d</a:t>
            </a:r>
            <a:r>
              <a:rPr lang="it-IT" b="1">
                <a:latin typeface="Times New Roman" charset="0"/>
                <a:sym typeface="Symbol" charset="0"/>
              </a:rPr>
              <a:t>[</a:t>
            </a:r>
            <a:r>
              <a:rPr lang="it-IT" b="1" i="1">
                <a:latin typeface="Times New Roman" charset="0"/>
                <a:sym typeface="Symbol" charset="0"/>
              </a:rPr>
              <a:t>v</a:t>
            </a:r>
            <a:r>
              <a:rPr lang="it-IT" b="1">
                <a:latin typeface="Times New Roman" charset="0"/>
                <a:sym typeface="Symbol" charset="0"/>
              </a:rPr>
              <a:t>]</a:t>
            </a:r>
            <a:r>
              <a:rPr lang="it-IT">
                <a:latin typeface="Times New Roman" charset="0"/>
              </a:rPr>
              <a:t> viene assegnato il valore </a:t>
            </a:r>
            <a:r>
              <a:rPr lang="it-IT" b="1" i="1">
                <a:latin typeface="Times New Roman" charset="0"/>
                <a:sym typeface="Symbol" charset="0"/>
              </a:rPr>
              <a:t>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s,v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;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</a:pPr>
            <a:r>
              <a:rPr lang="it-IT">
                <a:latin typeface="Times New Roman" charset="0"/>
              </a:rPr>
              <a:t>se </a:t>
            </a:r>
            <a:r>
              <a:rPr lang="it-IT" b="1" i="1">
                <a:latin typeface="Times New Roman" charset="0"/>
              </a:rPr>
              <a:t>v </a:t>
            </a:r>
            <a:r>
              <a:rPr lang="it-IT">
                <a:latin typeface="Times New Roman" charset="0"/>
                <a:sym typeface="Symbol" charset="0"/>
              </a:rPr>
              <a:t> </a:t>
            </a:r>
            <a:r>
              <a:rPr lang="it-IT" b="1" i="1">
                <a:latin typeface="Times New Roman" charset="0"/>
              </a:rPr>
              <a:t>s</a:t>
            </a:r>
            <a:r>
              <a:rPr lang="it-IT">
                <a:latin typeface="Times New Roman" charset="0"/>
              </a:rPr>
              <a:t> a </a:t>
            </a:r>
            <a:r>
              <a:rPr lang="it-IT" b="1" i="1">
                <a:latin typeface="Times New Roman" charset="0"/>
                <a:sym typeface="Symbol" charset="0"/>
              </a:rPr>
              <a:t>p</a:t>
            </a:r>
            <a:r>
              <a:rPr lang="it-IT" b="1">
                <a:latin typeface="Times New Roman" charset="0"/>
                <a:sym typeface="Symbol" charset="0"/>
              </a:rPr>
              <a:t>[</a:t>
            </a:r>
            <a:r>
              <a:rPr lang="it-IT" b="1" i="1">
                <a:latin typeface="Times New Roman" charset="0"/>
                <a:sym typeface="Symbol" charset="0"/>
              </a:rPr>
              <a:t>v</a:t>
            </a:r>
            <a:r>
              <a:rPr lang="it-IT" b="1">
                <a:latin typeface="Times New Roman" charset="0"/>
                <a:sym typeface="Symbol" charset="0"/>
              </a:rPr>
              <a:t>]</a:t>
            </a:r>
            <a:r>
              <a:rPr lang="it-IT">
                <a:latin typeface="Times New Roman" charset="0"/>
              </a:rPr>
              <a:t> viene assegnato un vertice </a:t>
            </a:r>
            <a:r>
              <a:rPr lang="it-IT" b="1" i="1">
                <a:latin typeface="Times New Roman" charset="0"/>
              </a:rPr>
              <a:t>u</a:t>
            </a:r>
            <a:r>
              <a:rPr lang="it-IT">
                <a:latin typeface="Times New Roman" charset="0"/>
              </a:rPr>
              <a:t> tale che </a:t>
            </a:r>
            <a:r>
              <a:rPr lang="it-IT" b="1" i="1">
                <a:latin typeface="Times New Roman" charset="0"/>
                <a:sym typeface="Symbol" charset="0"/>
              </a:rPr>
              <a:t>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s,v</a:t>
            </a:r>
            <a:r>
              <a:rPr lang="it-IT" b="1">
                <a:latin typeface="Times New Roman" charset="0"/>
              </a:rPr>
              <a:t>) =</a:t>
            </a:r>
            <a:r>
              <a:rPr lang="it-IT">
                <a:latin typeface="Times New Roman" charset="0"/>
              </a:rPr>
              <a:t> </a:t>
            </a:r>
            <a:r>
              <a:rPr lang="it-IT" b="1" i="1">
                <a:latin typeface="Times New Roman" charset="0"/>
                <a:sym typeface="Symbol" charset="0"/>
              </a:rPr>
              <a:t>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s,u</a:t>
            </a:r>
            <a:r>
              <a:rPr lang="it-IT" b="1">
                <a:latin typeface="Times New Roman" charset="0"/>
              </a:rPr>
              <a:t>) +1</a:t>
            </a:r>
            <a:r>
              <a:rPr lang="it-IT">
                <a:latin typeface="Times New Roman" charset="0"/>
              </a:rPr>
              <a:t> mentre se </a:t>
            </a:r>
            <a:r>
              <a:rPr lang="it-IT" b="1" i="1">
                <a:latin typeface="Times New Roman" charset="0"/>
              </a:rPr>
              <a:t>v </a:t>
            </a:r>
            <a:r>
              <a:rPr lang="it-IT" b="1">
                <a:latin typeface="Times New Roman" charset="0"/>
                <a:sym typeface="Symbol" charset="0"/>
              </a:rPr>
              <a:t>=</a:t>
            </a:r>
            <a:r>
              <a:rPr lang="it-IT">
                <a:latin typeface="Times New Roman" charset="0"/>
                <a:sym typeface="Symbol" charset="0"/>
              </a:rPr>
              <a:t> </a:t>
            </a:r>
            <a:r>
              <a:rPr lang="it-IT" b="1" i="1">
                <a:latin typeface="Times New Roman" charset="0"/>
              </a:rPr>
              <a:t>s</a:t>
            </a:r>
            <a:r>
              <a:rPr lang="it-IT">
                <a:latin typeface="Times New Roman" charset="0"/>
              </a:rPr>
              <a:t> a </a:t>
            </a:r>
            <a:r>
              <a:rPr lang="it-IT" b="1" i="1">
                <a:latin typeface="Times New Roman" charset="0"/>
                <a:sym typeface="Symbol" charset="0"/>
              </a:rPr>
              <a:t>p</a:t>
            </a:r>
            <a:r>
              <a:rPr lang="it-IT" b="1">
                <a:latin typeface="Times New Roman" charset="0"/>
                <a:sym typeface="Symbol" charset="0"/>
              </a:rPr>
              <a:t>[</a:t>
            </a:r>
            <a:r>
              <a:rPr lang="it-IT" b="1" i="1">
                <a:latin typeface="Times New Roman" charset="0"/>
                <a:sym typeface="Symbol" charset="0"/>
              </a:rPr>
              <a:t>s</a:t>
            </a:r>
            <a:r>
              <a:rPr lang="it-IT" b="1">
                <a:latin typeface="Times New Roman" charset="0"/>
                <a:sym typeface="Symbol" charset="0"/>
              </a:rPr>
              <a:t>]</a:t>
            </a:r>
            <a:r>
              <a:rPr lang="it-IT">
                <a:latin typeface="Times New Roman" charset="0"/>
              </a:rPr>
              <a:t> viene assegnato </a:t>
            </a:r>
            <a:r>
              <a:rPr lang="it-IT" b="1" i="1">
                <a:latin typeface="Times New Roman" charset="0"/>
              </a:rPr>
              <a:t>nil</a:t>
            </a:r>
            <a:r>
              <a:rPr lang="it-IT">
                <a:latin typeface="Times New Roman" charset="0"/>
              </a:rPr>
              <a:t>;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</a:pPr>
            <a:r>
              <a:rPr lang="it-IT">
                <a:latin typeface="Times New Roman" charset="0"/>
              </a:rPr>
              <a:t>il vertice </a:t>
            </a:r>
            <a:r>
              <a:rPr lang="it-IT" b="1" i="1">
                <a:latin typeface="Times New Roman" charset="0"/>
              </a:rPr>
              <a:t>v </a:t>
            </a:r>
            <a:r>
              <a:rPr lang="it-IT">
                <a:latin typeface="Times New Roman" charset="0"/>
              </a:rPr>
              <a:t>viene aggiunto alla coda </a:t>
            </a:r>
            <a:r>
              <a:rPr lang="it-IT" b="1" i="1">
                <a:latin typeface="Times New Roman" charset="0"/>
              </a:rPr>
              <a:t>Q</a:t>
            </a:r>
            <a:r>
              <a:rPr lang="it-IT">
                <a:latin typeface="Times New Roman" charset="0"/>
              </a:rPr>
              <a:t>. </a:t>
            </a:r>
          </a:p>
        </p:txBody>
      </p:sp>
      <p:sp>
        <p:nvSpPr>
          <p:cNvPr id="700420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BFS: Correttezza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6" name="Text Box 2"/>
          <p:cNvSpPr txBox="1">
            <a:spLocks noChangeArrowheads="1"/>
          </p:cNvSpPr>
          <p:nvPr/>
        </p:nvSpPr>
        <p:spPr bwMode="auto">
          <a:xfrm>
            <a:off x="457200" y="1371600"/>
            <a:ext cx="8153400" cy="513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La base </a:t>
            </a:r>
            <a:r>
              <a:rPr lang="it-IT" sz="2800" b="1" i="1">
                <a:latin typeface="Times New Roman" charset="0"/>
              </a:rPr>
              <a:t>k = </a:t>
            </a:r>
            <a:r>
              <a:rPr lang="it-IT" sz="2800" b="1">
                <a:latin typeface="Times New Roman" charset="0"/>
              </a:rPr>
              <a:t>0</a:t>
            </a:r>
            <a:r>
              <a:rPr lang="it-IT" sz="2800">
                <a:latin typeface="Times New Roman" charset="0"/>
              </a:rPr>
              <a:t> è vera in quanto </a:t>
            </a:r>
            <a:r>
              <a:rPr lang="it-IT" sz="2800" b="1" i="1">
                <a:latin typeface="Times New Roman" charset="0"/>
              </a:rPr>
              <a:t>V</a:t>
            </a:r>
            <a:r>
              <a:rPr lang="it-IT" sz="2800" b="1" baseline="-25000">
                <a:latin typeface="Times New Roman" charset="0"/>
              </a:rPr>
              <a:t>0</a:t>
            </a:r>
            <a:r>
              <a:rPr lang="it-IT" sz="2800" b="1">
                <a:latin typeface="Times New Roman" charset="0"/>
              </a:rPr>
              <a:t> </a:t>
            </a:r>
            <a:r>
              <a:rPr lang="it-IT" sz="2800">
                <a:latin typeface="Times New Roman" charset="0"/>
              </a:rPr>
              <a:t>contiene soltanto la sorgente </a:t>
            </a:r>
            <a:r>
              <a:rPr lang="it-IT" sz="2800" b="1" i="1">
                <a:latin typeface="Times New Roman" charset="0"/>
              </a:rPr>
              <a:t>s</a:t>
            </a:r>
            <a:r>
              <a:rPr lang="it-IT" sz="2800">
                <a:latin typeface="Times New Roman" charset="0"/>
              </a:rPr>
              <a:t>. 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Per il passo induttivo cominciamo ad osservare che durante l’esecuzione del ciclo while la coda </a:t>
            </a:r>
            <a:r>
              <a:rPr lang="it-IT" sz="2800" b="1" i="1">
                <a:latin typeface="Times New Roman" charset="0"/>
              </a:rPr>
              <a:t>Q</a:t>
            </a:r>
            <a:r>
              <a:rPr lang="it-IT" sz="2800">
                <a:latin typeface="Times New Roman" charset="0"/>
              </a:rPr>
              <a:t> non è mai vuota e che non appena un vertice </a:t>
            </a:r>
            <a:r>
              <a:rPr lang="it-IT" sz="2800" b="1" i="1">
                <a:latin typeface="Times New Roman" charset="0"/>
              </a:rPr>
              <a:t>v</a:t>
            </a:r>
            <a:r>
              <a:rPr lang="it-IT" sz="2800">
                <a:latin typeface="Times New Roman" charset="0"/>
              </a:rPr>
              <a:t> viene messo in coda i valori di </a:t>
            </a:r>
            <a:r>
              <a:rPr lang="it-IT" sz="2800" b="1" i="1">
                <a:latin typeface="Times New Roman" charset="0"/>
                <a:sym typeface="Symbol" charset="0"/>
              </a:rPr>
              <a:t>d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]</a:t>
            </a:r>
            <a:r>
              <a:rPr lang="it-IT" sz="2800">
                <a:latin typeface="Times New Roman" charset="0"/>
              </a:rPr>
              <a:t> e di </a:t>
            </a:r>
            <a:r>
              <a:rPr lang="it-IT" sz="2800" b="1" i="1">
                <a:latin typeface="Times New Roman" charset="0"/>
                <a:sym typeface="Symbol" charset="0"/>
              </a:rPr>
              <a:t>p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]</a:t>
            </a:r>
            <a:r>
              <a:rPr lang="it-IT" sz="2800">
                <a:latin typeface="Times New Roman" charset="0"/>
              </a:rPr>
              <a:t> non possono più cambiare. 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Di conseguenza se </a:t>
            </a:r>
            <a:r>
              <a:rPr lang="it-IT" sz="2800" b="1">
                <a:latin typeface="Times New Roman" charset="0"/>
              </a:rPr>
              <a:t>(</a:t>
            </a:r>
            <a:r>
              <a:rPr lang="it-IT" sz="2800" b="1" i="1">
                <a:latin typeface="Times New Roman" charset="0"/>
              </a:rPr>
              <a:t>s = v</a:t>
            </a:r>
            <a:r>
              <a:rPr lang="it-IT" sz="2800" b="1" baseline="-25000">
                <a:latin typeface="Times New Roman" charset="0"/>
              </a:rPr>
              <a:t>0</a:t>
            </a:r>
            <a:r>
              <a:rPr lang="it-IT" sz="2800" b="1" i="1">
                <a:latin typeface="Times New Roman" charset="0"/>
              </a:rPr>
              <a:t>, v</a:t>
            </a:r>
            <a:r>
              <a:rPr lang="it-IT" sz="2800" b="1" baseline="-25000">
                <a:latin typeface="Times New Roman" charset="0"/>
              </a:rPr>
              <a:t>1</a:t>
            </a:r>
            <a:r>
              <a:rPr lang="it-IT" sz="2800" b="1" i="1">
                <a:latin typeface="Times New Roman" charset="0"/>
              </a:rPr>
              <a:t>, ..., v</a:t>
            </a:r>
            <a:r>
              <a:rPr lang="it-IT" sz="2800" b="1" i="1" baseline="-25000">
                <a:latin typeface="Times New Roman" charset="0"/>
              </a:rPr>
              <a:t>t</a:t>
            </a:r>
            <a:r>
              <a:rPr lang="it-IT" sz="2800" b="1">
                <a:latin typeface="Times New Roman" charset="0"/>
              </a:rPr>
              <a:t>)</a:t>
            </a:r>
            <a:r>
              <a:rPr lang="it-IT" sz="2800">
                <a:latin typeface="Times New Roman" charset="0"/>
              </a:rPr>
              <a:t> è l’ordine in cui i vertici vengono inseriti nella coda allora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              </a:t>
            </a:r>
            <a:r>
              <a:rPr lang="it-IT" sz="2800" b="1" i="1">
                <a:latin typeface="Times New Roman" charset="0"/>
                <a:sym typeface="Symbol" charset="0"/>
              </a:rPr>
              <a:t>d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 i="1" baseline="-25000">
                <a:latin typeface="Times New Roman" charset="0"/>
              </a:rPr>
              <a:t>i</a:t>
            </a:r>
            <a:r>
              <a:rPr lang="it-IT" sz="2800" b="1">
                <a:latin typeface="Times New Roman" charset="0"/>
                <a:sym typeface="Symbol" charset="0"/>
              </a:rPr>
              <a:t>]</a:t>
            </a:r>
            <a:r>
              <a:rPr lang="it-IT" sz="2800">
                <a:latin typeface="Times New Roman" charset="0"/>
              </a:rPr>
              <a:t> </a:t>
            </a:r>
            <a:r>
              <a:rPr lang="it-IT" sz="2800" b="1">
                <a:latin typeface="Times New Roman" charset="0"/>
                <a:sym typeface="Symbol" charset="0"/>
              </a:rPr>
              <a:t> </a:t>
            </a:r>
            <a:r>
              <a:rPr lang="it-IT" sz="2800" b="1" i="1">
                <a:latin typeface="Times New Roman" charset="0"/>
                <a:sym typeface="Symbol" charset="0"/>
              </a:rPr>
              <a:t>d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 i="1" baseline="-25000">
                <a:latin typeface="Times New Roman" charset="0"/>
              </a:rPr>
              <a:t>i</a:t>
            </a:r>
            <a:r>
              <a:rPr lang="it-IT" sz="2800" b="1" baseline="-25000">
                <a:latin typeface="Times New Roman" charset="0"/>
              </a:rPr>
              <a:t>+1</a:t>
            </a:r>
            <a:r>
              <a:rPr lang="it-IT" sz="2800" b="1">
                <a:latin typeface="Times New Roman" charset="0"/>
                <a:sym typeface="Symbol" charset="0"/>
              </a:rPr>
              <a:t>]</a:t>
            </a:r>
            <a:r>
              <a:rPr lang="it-IT" sz="2800">
                <a:latin typeface="Times New Roman" charset="0"/>
              </a:rPr>
              <a:t> 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per la proprietà della coda.</a:t>
            </a:r>
          </a:p>
        </p:txBody>
      </p:sp>
      <p:sp>
        <p:nvSpPr>
          <p:cNvPr id="702467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BFS: Correttezza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Text Box 2"/>
          <p:cNvSpPr txBox="1">
            <a:spLocks noChangeArrowheads="1"/>
          </p:cNvSpPr>
          <p:nvPr/>
        </p:nvSpPr>
        <p:spPr bwMode="auto">
          <a:xfrm>
            <a:off x="533400" y="1524000"/>
            <a:ext cx="8153400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Sia ora </a:t>
            </a:r>
            <a:r>
              <a:rPr lang="it-IT" sz="2800" b="1" i="1">
                <a:latin typeface="Times New Roman" charset="0"/>
              </a:rPr>
              <a:t>v</a:t>
            </a:r>
            <a:r>
              <a:rPr lang="it-IT" sz="2800">
                <a:latin typeface="Times New Roman" charset="0"/>
              </a:rPr>
              <a:t> </a:t>
            </a:r>
            <a:r>
              <a:rPr lang="it-IT" sz="2800" b="1">
                <a:latin typeface="Times New Roman" charset="0"/>
                <a:sym typeface="Symbol" charset="0"/>
              </a:rPr>
              <a:t> </a:t>
            </a:r>
            <a:r>
              <a:rPr lang="it-IT" sz="2800" b="1" i="1">
                <a:latin typeface="Times New Roman" charset="0"/>
              </a:rPr>
              <a:t>V</a:t>
            </a:r>
            <a:r>
              <a:rPr lang="it-IT" sz="2800" b="1" i="1" baseline="-25000">
                <a:latin typeface="Times New Roman" charset="0"/>
              </a:rPr>
              <a:t>k</a:t>
            </a:r>
            <a:r>
              <a:rPr lang="it-IT" sz="2800">
                <a:latin typeface="Times New Roman" charset="0"/>
              </a:rPr>
              <a:t> per un </a:t>
            </a:r>
            <a:r>
              <a:rPr lang="it-IT" sz="2800" b="1" i="1">
                <a:latin typeface="Times New Roman" charset="0"/>
              </a:rPr>
              <a:t>k </a:t>
            </a:r>
            <a:r>
              <a:rPr lang="it-IT" sz="2800" b="1">
                <a:latin typeface="Times New Roman" charset="0"/>
              </a:rPr>
              <a:t>&gt;</a:t>
            </a:r>
            <a:r>
              <a:rPr lang="it-IT" sz="2800" b="1" i="1">
                <a:latin typeface="Times New Roman" charset="0"/>
              </a:rPr>
              <a:t> 0</a:t>
            </a:r>
            <a:r>
              <a:rPr lang="it-IT" sz="2800">
                <a:latin typeface="Times New Roman" charset="0"/>
              </a:rPr>
              <a:t>. 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Per ipotesi induttiva tutti i vertici in </a:t>
            </a:r>
            <a:r>
              <a:rPr lang="it-IT" sz="2800" b="1" i="1">
                <a:latin typeface="Times New Roman" charset="0"/>
              </a:rPr>
              <a:t>V</a:t>
            </a:r>
            <a:r>
              <a:rPr lang="it-IT" sz="2800" b="1" i="1" baseline="-25000">
                <a:latin typeface="Times New Roman" charset="0"/>
              </a:rPr>
              <a:t>k</a:t>
            </a:r>
            <a:r>
              <a:rPr lang="it-IT" sz="2800" b="1" baseline="-25000">
                <a:latin typeface="Times New Roman" charset="0"/>
              </a:rPr>
              <a:t>-1</a:t>
            </a:r>
            <a:r>
              <a:rPr lang="it-IT" sz="2800">
                <a:latin typeface="Times New Roman" charset="0"/>
              </a:rPr>
              <a:t> vengono visitati e, per l’ordine di inserimento nella coda, se il vertice </a:t>
            </a:r>
            <a:r>
              <a:rPr lang="it-IT" sz="2800" b="1" i="1">
                <a:latin typeface="Times New Roman" charset="0"/>
              </a:rPr>
              <a:t>v</a:t>
            </a:r>
            <a:r>
              <a:rPr lang="it-IT" sz="2800">
                <a:latin typeface="Times New Roman" charset="0"/>
              </a:rPr>
              <a:t> viene visitato esso viene visitato dopo tutti i vertici in </a:t>
            </a:r>
            <a:r>
              <a:rPr lang="it-IT" sz="2800" b="1" i="1">
                <a:latin typeface="Times New Roman" charset="0"/>
              </a:rPr>
              <a:t>V</a:t>
            </a:r>
            <a:r>
              <a:rPr lang="it-IT" sz="2800" b="1" i="1" baseline="-25000">
                <a:latin typeface="Times New Roman" charset="0"/>
              </a:rPr>
              <a:t>k</a:t>
            </a:r>
            <a:r>
              <a:rPr lang="it-IT" sz="2800" b="1" baseline="-25000">
                <a:latin typeface="Times New Roman" charset="0"/>
              </a:rPr>
              <a:t>-1</a:t>
            </a:r>
            <a:r>
              <a:rPr lang="it-IT" sz="2800">
                <a:latin typeface="Times New Roman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Siccome </a:t>
            </a:r>
            <a:r>
              <a:rPr lang="it-IT" sz="2800" b="1" i="1">
                <a:latin typeface="Times New Roman" charset="0"/>
                <a:sym typeface="Symbol" charset="0"/>
              </a:rPr>
              <a:t></a:t>
            </a:r>
            <a:r>
              <a:rPr lang="it-IT" sz="2800" b="1">
                <a:latin typeface="Times New Roman" charset="0"/>
              </a:rPr>
              <a:t>(</a:t>
            </a:r>
            <a:r>
              <a:rPr lang="it-IT" sz="2800" b="1" i="1">
                <a:latin typeface="Times New Roman" charset="0"/>
              </a:rPr>
              <a:t>s,v</a:t>
            </a:r>
            <a:r>
              <a:rPr lang="it-IT" sz="2800" b="1">
                <a:latin typeface="Times New Roman" charset="0"/>
              </a:rPr>
              <a:t>) = </a:t>
            </a:r>
            <a:r>
              <a:rPr lang="it-IT" sz="2800" b="1" i="1">
                <a:latin typeface="Times New Roman" charset="0"/>
              </a:rPr>
              <a:t>k</a:t>
            </a:r>
            <a:r>
              <a:rPr lang="it-IT" sz="2800">
                <a:latin typeface="Times New Roman" charset="0"/>
              </a:rPr>
              <a:t> esiste un cammino minimo di lunghezza </a:t>
            </a:r>
            <a:r>
              <a:rPr lang="it-IT" sz="2800" b="1" i="1">
                <a:latin typeface="Times New Roman" charset="0"/>
              </a:rPr>
              <a:t>k </a:t>
            </a:r>
            <a:r>
              <a:rPr lang="it-IT" sz="2800">
                <a:latin typeface="Times New Roman" charset="0"/>
              </a:rPr>
              <a:t>da </a:t>
            </a:r>
            <a:r>
              <a:rPr lang="it-IT" sz="2800" b="1" i="1">
                <a:latin typeface="Times New Roman" charset="0"/>
              </a:rPr>
              <a:t>s</a:t>
            </a:r>
            <a:r>
              <a:rPr lang="it-IT" sz="2800">
                <a:latin typeface="Times New Roman" charset="0"/>
              </a:rPr>
              <a:t> a </a:t>
            </a:r>
            <a:r>
              <a:rPr lang="it-IT" sz="2800" b="1" i="1">
                <a:latin typeface="Times New Roman" charset="0"/>
              </a:rPr>
              <a:t>v</a:t>
            </a:r>
            <a:r>
              <a:rPr lang="it-IT" sz="2800">
                <a:latin typeface="Times New Roman" charset="0"/>
              </a:rPr>
              <a:t>. 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Esiste quindi almeno un nodo </a:t>
            </a:r>
            <a:r>
              <a:rPr lang="it-IT" sz="2800" b="1" i="1">
                <a:latin typeface="Times New Roman" charset="0"/>
              </a:rPr>
              <a:t>u</a:t>
            </a:r>
            <a:r>
              <a:rPr lang="it-IT" sz="2800">
                <a:latin typeface="Times New Roman" charset="0"/>
              </a:rPr>
              <a:t> </a:t>
            </a:r>
            <a:r>
              <a:rPr lang="it-IT" sz="2800" b="1">
                <a:latin typeface="Times New Roman" charset="0"/>
                <a:sym typeface="Symbol" charset="0"/>
              </a:rPr>
              <a:t> </a:t>
            </a:r>
            <a:r>
              <a:rPr lang="it-IT" sz="2800" b="1" i="1">
                <a:latin typeface="Times New Roman" charset="0"/>
              </a:rPr>
              <a:t>V</a:t>
            </a:r>
            <a:r>
              <a:rPr lang="it-IT" sz="2800" b="1" i="1" baseline="-25000">
                <a:latin typeface="Times New Roman" charset="0"/>
              </a:rPr>
              <a:t>k</a:t>
            </a:r>
            <a:r>
              <a:rPr lang="it-IT" sz="2800" b="1" baseline="-25000">
                <a:latin typeface="Times New Roman" charset="0"/>
              </a:rPr>
              <a:t>-1</a:t>
            </a:r>
            <a:r>
              <a:rPr lang="it-IT" sz="2800">
                <a:latin typeface="Times New Roman" charset="0"/>
              </a:rPr>
              <a:t> tale che </a:t>
            </a:r>
            <a:r>
              <a:rPr lang="it-IT" sz="2800" b="1" i="1">
                <a:latin typeface="Times New Roman" charset="0"/>
              </a:rPr>
              <a:t>uv</a:t>
            </a:r>
            <a:r>
              <a:rPr lang="it-IT" sz="2800" b="1">
                <a:latin typeface="Times New Roman" charset="0"/>
              </a:rPr>
              <a:t> </a:t>
            </a:r>
            <a:r>
              <a:rPr lang="it-IT" sz="2800" b="1">
                <a:latin typeface="Times New Roman" charset="0"/>
                <a:sym typeface="Symbol" charset="0"/>
              </a:rPr>
              <a:t> </a:t>
            </a:r>
            <a:r>
              <a:rPr lang="it-IT" sz="2800" b="1" i="1">
                <a:latin typeface="Times New Roman" charset="0"/>
              </a:rPr>
              <a:t>E</a:t>
            </a:r>
            <a:r>
              <a:rPr lang="it-IT" sz="2800">
                <a:latin typeface="Times New Roman" charset="0"/>
              </a:rPr>
              <a:t>. 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>
                <a:latin typeface="Times New Roman" charset="0"/>
              </a:rPr>
              <a:t>Supponiamo che </a:t>
            </a:r>
            <a:r>
              <a:rPr lang="it-IT" sz="2800" b="1" i="1">
                <a:latin typeface="Times New Roman" charset="0"/>
              </a:rPr>
              <a:t>u</a:t>
            </a:r>
            <a:r>
              <a:rPr lang="it-IT" sz="2800">
                <a:latin typeface="Times New Roman" charset="0"/>
              </a:rPr>
              <a:t> sia il primo di tali nodi a venire visitato e inserito nella coda. </a:t>
            </a:r>
          </a:p>
        </p:txBody>
      </p:sp>
      <p:sp>
        <p:nvSpPr>
          <p:cNvPr id="704515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BFS: Correttezza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62" name="Text Box 2"/>
          <p:cNvSpPr txBox="1">
            <a:spLocks noChangeArrowheads="1"/>
          </p:cNvSpPr>
          <p:nvPr/>
        </p:nvSpPr>
        <p:spPr bwMode="auto">
          <a:xfrm>
            <a:off x="533400" y="1752600"/>
            <a:ext cx="8153400" cy="408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Ad un certo punto </a:t>
            </a:r>
            <a:r>
              <a:rPr lang="it-IT" b="1" i="1">
                <a:latin typeface="Times New Roman" charset="0"/>
              </a:rPr>
              <a:t>u</a:t>
            </a:r>
            <a:r>
              <a:rPr lang="it-IT">
                <a:latin typeface="Times New Roman" charset="0"/>
              </a:rPr>
              <a:t> deve diventare il primo della coda e quindi la sua lista delle adiacenze viene percorsa e il vertice </a:t>
            </a:r>
            <a:r>
              <a:rPr lang="it-IT" b="1" i="1">
                <a:latin typeface="Times New Roman" charset="0"/>
              </a:rPr>
              <a:t>v</a:t>
            </a:r>
            <a:r>
              <a:rPr lang="it-IT">
                <a:latin typeface="Times New Roman" charset="0"/>
              </a:rPr>
              <a:t> viene scoperto.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Il vertice </a:t>
            </a:r>
            <a:r>
              <a:rPr lang="it-IT" b="1" i="1">
                <a:latin typeface="Times New Roman" charset="0"/>
              </a:rPr>
              <a:t>v</a:t>
            </a:r>
            <a:r>
              <a:rPr lang="it-IT">
                <a:latin typeface="Times New Roman" charset="0"/>
              </a:rPr>
              <a:t> non può essere scoperto prima perché non è adiacente a nessun vertice a distanza minore di </a:t>
            </a:r>
            <a:r>
              <a:rPr lang="it-IT" b="1" i="1">
                <a:latin typeface="Times New Roman" charset="0"/>
              </a:rPr>
              <a:t>k</a:t>
            </a:r>
            <a:r>
              <a:rPr lang="it-IT" b="1">
                <a:latin typeface="Times New Roman" charset="0"/>
              </a:rPr>
              <a:t>-1</a:t>
            </a:r>
            <a:r>
              <a:rPr lang="it-IT">
                <a:latin typeface="Times New Roman" charset="0"/>
              </a:rPr>
              <a:t> da </a:t>
            </a:r>
            <a:r>
              <a:rPr lang="it-IT" b="1" i="1">
                <a:latin typeface="Times New Roman" charset="0"/>
              </a:rPr>
              <a:t>s</a:t>
            </a:r>
            <a:r>
              <a:rPr lang="it-IT">
                <a:latin typeface="Times New Roman" charset="0"/>
              </a:rPr>
              <a:t> ed </a:t>
            </a:r>
            <a:r>
              <a:rPr lang="it-IT" b="1" i="1">
                <a:latin typeface="Times New Roman" charset="0"/>
              </a:rPr>
              <a:t>u</a:t>
            </a:r>
            <a:r>
              <a:rPr lang="it-IT">
                <a:latin typeface="Times New Roman" charset="0"/>
              </a:rPr>
              <a:t> è il primo vertice a distanza </a:t>
            </a:r>
            <a:r>
              <a:rPr lang="it-IT" b="1" i="1">
                <a:latin typeface="Times New Roman" charset="0"/>
              </a:rPr>
              <a:t>k</a:t>
            </a:r>
            <a:r>
              <a:rPr lang="it-IT" b="1">
                <a:latin typeface="Times New Roman" charset="0"/>
              </a:rPr>
              <a:t>-1</a:t>
            </a:r>
            <a:r>
              <a:rPr lang="it-IT">
                <a:latin typeface="Times New Roman" charset="0"/>
              </a:rPr>
              <a:t> che viene inserito in coda tra tutti quelli a cui </a:t>
            </a:r>
            <a:r>
              <a:rPr lang="it-IT" b="1" i="1">
                <a:latin typeface="Times New Roman" charset="0"/>
              </a:rPr>
              <a:t>v</a:t>
            </a:r>
            <a:r>
              <a:rPr lang="it-IT">
                <a:latin typeface="Times New Roman" charset="0"/>
              </a:rPr>
              <a:t> è adiacente.</a:t>
            </a:r>
          </a:p>
        </p:txBody>
      </p:sp>
      <p:sp>
        <p:nvSpPr>
          <p:cNvPr id="706563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BFS: Correttezza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Text Box 2"/>
          <p:cNvSpPr txBox="1">
            <a:spLocks noChangeArrowheads="1"/>
          </p:cNvSpPr>
          <p:nvPr/>
        </p:nvSpPr>
        <p:spPr bwMode="auto">
          <a:xfrm>
            <a:off x="457200" y="1676400"/>
            <a:ext cx="8153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A questo punto vengono eseguite le quattro azioni richieste:</a:t>
            </a:r>
          </a:p>
        </p:txBody>
      </p:sp>
      <p:sp>
        <p:nvSpPr>
          <p:cNvPr id="708611" name="Text Box 3"/>
          <p:cNvSpPr txBox="1">
            <a:spLocks noChangeArrowheads="1"/>
          </p:cNvSpPr>
          <p:nvPr/>
        </p:nvSpPr>
        <p:spPr bwMode="auto">
          <a:xfrm>
            <a:off x="457200" y="3124200"/>
            <a:ext cx="8153400" cy="2850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  <a:buFontTx/>
              <a:buAutoNum type="alphaLcParenR"/>
            </a:pPr>
            <a:r>
              <a:rPr lang="it-IT" sz="3200" dirty="0">
                <a:latin typeface="Times New Roman" charset="0"/>
              </a:rPr>
              <a:t>a </a:t>
            </a:r>
            <a:r>
              <a:rPr lang="it-IT" sz="3200" b="1" i="1" dirty="0">
                <a:latin typeface="Times New Roman" charset="0"/>
                <a:sym typeface="Symbol" charset="0"/>
              </a:rPr>
              <a:t>color</a:t>
            </a:r>
            <a:r>
              <a:rPr lang="it-IT" sz="3200" b="1" dirty="0">
                <a:latin typeface="Times New Roman" charset="0"/>
                <a:sym typeface="Symbol" charset="0"/>
              </a:rPr>
              <a:t>[</a:t>
            </a:r>
            <a:r>
              <a:rPr lang="it-IT" sz="3200" b="1" i="1" dirty="0">
                <a:latin typeface="Times New Roman" charset="0"/>
                <a:sym typeface="Symbol" charset="0"/>
              </a:rPr>
              <a:t>v</a:t>
            </a:r>
            <a:r>
              <a:rPr lang="it-IT" sz="3200" b="1" dirty="0">
                <a:latin typeface="Times New Roman" charset="0"/>
                <a:sym typeface="Symbol" charset="0"/>
              </a:rPr>
              <a:t>]</a:t>
            </a:r>
            <a:r>
              <a:rPr lang="it-IT" sz="3200" dirty="0">
                <a:latin typeface="Times New Roman" charset="0"/>
              </a:rPr>
              <a:t> viene assegnato il valore </a:t>
            </a:r>
            <a:r>
              <a:rPr lang="it-IT" sz="3200" b="1" i="1" dirty="0">
                <a:latin typeface="Times New Roman" charset="0"/>
              </a:rPr>
              <a:t>grigio</a:t>
            </a:r>
            <a:r>
              <a:rPr lang="it-IT" sz="3200" dirty="0">
                <a:latin typeface="Times New Roman" charset="0"/>
              </a:rPr>
              <a:t>;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</a:pPr>
            <a:r>
              <a:rPr lang="it-IT" sz="3200" dirty="0">
                <a:latin typeface="Times New Roman" charset="0"/>
              </a:rPr>
              <a:t>a </a:t>
            </a:r>
            <a:r>
              <a:rPr lang="it-IT" sz="3200" b="1" i="1" dirty="0">
                <a:latin typeface="Times New Roman" charset="0"/>
                <a:sym typeface="Symbol" charset="0"/>
              </a:rPr>
              <a:t>d</a:t>
            </a:r>
            <a:r>
              <a:rPr lang="it-IT" sz="3200" b="1" dirty="0">
                <a:latin typeface="Times New Roman" charset="0"/>
                <a:sym typeface="Symbol" charset="0"/>
              </a:rPr>
              <a:t>[</a:t>
            </a:r>
            <a:r>
              <a:rPr lang="it-IT" sz="3200" b="1" i="1" dirty="0">
                <a:latin typeface="Times New Roman" charset="0"/>
                <a:sym typeface="Symbol" charset="0"/>
              </a:rPr>
              <a:t>v</a:t>
            </a:r>
            <a:r>
              <a:rPr lang="it-IT" sz="3200" b="1" dirty="0">
                <a:latin typeface="Times New Roman" charset="0"/>
                <a:sym typeface="Symbol" charset="0"/>
              </a:rPr>
              <a:t>]</a:t>
            </a:r>
            <a:r>
              <a:rPr lang="it-IT" sz="3200" dirty="0">
                <a:latin typeface="Times New Roman" charset="0"/>
              </a:rPr>
              <a:t> viene assegnato il valore </a:t>
            </a:r>
            <a:r>
              <a:rPr lang="it-IT" sz="3200" b="1" i="1" dirty="0">
                <a:latin typeface="Times New Roman" charset="0"/>
                <a:sym typeface="Symbol" charset="0"/>
              </a:rPr>
              <a:t></a:t>
            </a:r>
            <a:r>
              <a:rPr lang="it-IT" sz="3200" b="1" dirty="0">
                <a:latin typeface="Times New Roman" charset="0"/>
              </a:rPr>
              <a:t>(</a:t>
            </a:r>
            <a:r>
              <a:rPr lang="it-IT" sz="3200" b="1" i="1" dirty="0" err="1">
                <a:latin typeface="Times New Roman" charset="0"/>
              </a:rPr>
              <a:t>s,v</a:t>
            </a:r>
            <a:r>
              <a:rPr lang="it-IT" sz="3200" b="1" dirty="0">
                <a:latin typeface="Times New Roman" charset="0"/>
              </a:rPr>
              <a:t>) =</a:t>
            </a:r>
            <a:r>
              <a:rPr lang="it-IT" sz="3200" dirty="0">
                <a:latin typeface="Times New Roman" charset="0"/>
              </a:rPr>
              <a:t> </a:t>
            </a:r>
            <a:r>
              <a:rPr lang="it-IT" sz="3200" b="1" i="1" dirty="0">
                <a:latin typeface="Times New Roman" charset="0"/>
                <a:sym typeface="Symbol" charset="0"/>
              </a:rPr>
              <a:t></a:t>
            </a:r>
            <a:r>
              <a:rPr lang="it-IT" sz="3200" b="1" dirty="0">
                <a:latin typeface="Times New Roman" charset="0"/>
              </a:rPr>
              <a:t>(</a:t>
            </a:r>
            <a:r>
              <a:rPr lang="it-IT" sz="3200" b="1" i="1" dirty="0" err="1">
                <a:latin typeface="Times New Roman" charset="0"/>
              </a:rPr>
              <a:t>s,u</a:t>
            </a:r>
            <a:r>
              <a:rPr lang="it-IT" sz="3200" b="1" dirty="0">
                <a:latin typeface="Times New Roman" charset="0"/>
              </a:rPr>
              <a:t>) + 1 = </a:t>
            </a:r>
            <a:r>
              <a:rPr lang="it-IT" sz="3200" b="1" i="1" dirty="0">
                <a:latin typeface="Times New Roman" charset="0"/>
              </a:rPr>
              <a:t>k</a:t>
            </a:r>
            <a:r>
              <a:rPr lang="it-IT" sz="3200" dirty="0">
                <a:latin typeface="Times New Roman" charset="0"/>
              </a:rPr>
              <a:t>;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</a:pPr>
            <a:r>
              <a:rPr lang="it-IT" sz="3200" dirty="0">
                <a:latin typeface="Times New Roman" charset="0"/>
              </a:rPr>
              <a:t>a </a:t>
            </a:r>
            <a:r>
              <a:rPr lang="it-IT" sz="3200" b="1" i="1" dirty="0" err="1">
                <a:latin typeface="Times New Roman" charset="0"/>
                <a:sym typeface="Symbol" charset="0"/>
              </a:rPr>
              <a:t>p</a:t>
            </a:r>
            <a:r>
              <a:rPr lang="it-IT" sz="3200" b="1" dirty="0">
                <a:latin typeface="Times New Roman" charset="0"/>
                <a:sym typeface="Symbol" charset="0"/>
              </a:rPr>
              <a:t>[</a:t>
            </a:r>
            <a:r>
              <a:rPr lang="it-IT" sz="3200" b="1" i="1" dirty="0">
                <a:latin typeface="Times New Roman" charset="0"/>
                <a:sym typeface="Symbol" charset="0"/>
              </a:rPr>
              <a:t>v</a:t>
            </a:r>
            <a:r>
              <a:rPr lang="it-IT" sz="3200" b="1" dirty="0">
                <a:latin typeface="Times New Roman" charset="0"/>
                <a:sym typeface="Symbol" charset="0"/>
              </a:rPr>
              <a:t>]</a:t>
            </a:r>
            <a:r>
              <a:rPr lang="it-IT" sz="3200" dirty="0">
                <a:latin typeface="Times New Roman" charset="0"/>
              </a:rPr>
              <a:t> viene assegnato </a:t>
            </a:r>
            <a:r>
              <a:rPr lang="it-IT" sz="3200" b="1" i="1" dirty="0">
                <a:latin typeface="Times New Roman" charset="0"/>
              </a:rPr>
              <a:t>u</a:t>
            </a:r>
            <a:r>
              <a:rPr lang="it-IT" sz="3200" b="1" dirty="0">
                <a:latin typeface="Times New Roman" charset="0"/>
              </a:rPr>
              <a:t> </a:t>
            </a:r>
            <a:r>
              <a:rPr lang="it-IT" sz="3200" b="1" dirty="0">
                <a:latin typeface="Times New Roman" charset="0"/>
                <a:sym typeface="Symbol" charset="0"/>
              </a:rPr>
              <a:t></a:t>
            </a:r>
            <a:r>
              <a:rPr lang="it-IT" sz="3200" b="1" dirty="0">
                <a:latin typeface="Times New Roman" charset="0"/>
              </a:rPr>
              <a:t> </a:t>
            </a:r>
            <a:r>
              <a:rPr lang="it-IT" sz="3200" b="1" i="1" dirty="0">
                <a:latin typeface="Times New Roman" charset="0"/>
              </a:rPr>
              <a:t>V</a:t>
            </a:r>
            <a:r>
              <a:rPr lang="it-IT" sz="3200" b="1" i="1" baseline="-25000" dirty="0">
                <a:latin typeface="Times New Roman" charset="0"/>
              </a:rPr>
              <a:t>k-1</a:t>
            </a:r>
            <a:r>
              <a:rPr lang="it-IT" sz="3200" dirty="0">
                <a:latin typeface="Times New Roman" charset="0"/>
              </a:rPr>
              <a:t>;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</a:pPr>
            <a:r>
              <a:rPr lang="it-IT" sz="3200" dirty="0">
                <a:latin typeface="Times New Roman" charset="0"/>
              </a:rPr>
              <a:t>il vertice </a:t>
            </a:r>
            <a:r>
              <a:rPr lang="it-IT" sz="3200" b="1" i="1" dirty="0">
                <a:latin typeface="Times New Roman" charset="0"/>
              </a:rPr>
              <a:t>v </a:t>
            </a:r>
            <a:r>
              <a:rPr lang="it-IT" sz="3200" dirty="0">
                <a:latin typeface="Times New Roman" charset="0"/>
              </a:rPr>
              <a:t>viene aggiunto alla coda </a:t>
            </a:r>
            <a:r>
              <a:rPr lang="it-IT" sz="3200" b="1" i="1" dirty="0" err="1" smtClean="0">
                <a:latin typeface="Times New Roman" charset="0"/>
              </a:rPr>
              <a:t>Q</a:t>
            </a:r>
            <a:endParaRPr lang="it-IT" sz="3200" dirty="0">
              <a:latin typeface="Times New Roman" charset="0"/>
            </a:endParaRPr>
          </a:p>
        </p:txBody>
      </p:sp>
      <p:sp>
        <p:nvSpPr>
          <p:cNvPr id="708612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BFS: Correttezza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zione">
  <a:themeElements>
    <a:clrScheme name="Presentazion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sentazione">
      <a:majorFont>
        <a:latin typeface="Times New Roman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Presentazion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2004:Templates:My Templates:Presentazione.pot</Template>
  <TotalTime>1239</TotalTime>
  <Words>2560</Words>
  <Application>Microsoft Macintosh PowerPoint</Application>
  <PresentationFormat>On-screen Show (4:3)</PresentationFormat>
  <Paragraphs>347</Paragraphs>
  <Slides>30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Presentazione</vt:lpstr>
      <vt:lpstr>UNIVERSITA’ DI MILANO-BICOCCA CdL IN INFORMATICA</vt:lpstr>
      <vt:lpstr>Algoritmi di visita di grafi</vt:lpstr>
      <vt:lpstr>Algoritmi di visita di grafi</vt:lpstr>
      <vt:lpstr>Algoritmi di visita di grafi: BFS</vt:lpstr>
      <vt:lpstr>Ricerca in ampiezza (BFS)</vt:lpstr>
      <vt:lpstr>Ricerca in ampiezza (BFS)</vt:lpstr>
      <vt:lpstr>Ricerca in ampiezza (BFS)</vt:lpstr>
      <vt:lpstr>Ricerca in ampiezza (BFS)</vt:lpstr>
      <vt:lpstr>Ricerca in ampiezza (BFS)</vt:lpstr>
      <vt:lpstr>BFS: Esempio</vt:lpstr>
      <vt:lpstr>BFS: Analisi di complessità</vt:lpstr>
      <vt:lpstr>BFS: Analisi di complessità</vt:lpstr>
      <vt:lpstr>BFS: Analisi di complessità</vt:lpstr>
      <vt:lpstr>BFS: Correttezza</vt:lpstr>
      <vt:lpstr>BFS: Correttezza</vt:lpstr>
      <vt:lpstr>BFS: Correttezza</vt:lpstr>
      <vt:lpstr>BFS: Correttezza</vt:lpstr>
      <vt:lpstr>BFS: Correttezza</vt:lpstr>
      <vt:lpstr>BFS: Correttezza</vt:lpstr>
      <vt:lpstr>BFS: Correttezza</vt:lpstr>
      <vt:lpstr>BFS: Correttezza</vt:lpstr>
      <vt:lpstr>BFS: Correttezza</vt:lpstr>
      <vt:lpstr>BFS: Correttezza</vt:lpstr>
      <vt:lpstr>BFS: Correttezza</vt:lpstr>
      <vt:lpstr>BFS: Correttezza</vt:lpstr>
      <vt:lpstr>BFS: Correttezza</vt:lpstr>
      <vt:lpstr>BFS: Correttezza</vt:lpstr>
      <vt:lpstr>BFS: Correttezza</vt:lpstr>
      <vt:lpstr>BFS: Correttezza</vt:lpstr>
      <vt:lpstr>BFS: Correttezza</vt:lpstr>
    </vt:vector>
  </TitlesOfParts>
  <Company>DISCo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UNIVERSITA’ DI MILANO-BICOCCA CdL IN INFORMATICA</dc:title>
  <dc:subject>Bioinformatics</dc:subject>
  <dc:creator>Giancarlo Mauri</dc:creator>
  <cp:lastModifiedBy>Giancarlo Mauri</cp:lastModifiedBy>
  <cp:revision>54</cp:revision>
  <cp:lastPrinted>2002-02-01T12:39:25Z</cp:lastPrinted>
  <dcterms:created xsi:type="dcterms:W3CDTF">2010-03-03T07:29:28Z</dcterms:created>
  <dcterms:modified xsi:type="dcterms:W3CDTF">2017-02-12T12:24:27Z</dcterms:modified>
</cp:coreProperties>
</file>