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embeddings/oleObject1.bin" ContentType="application/vnd.openxmlformats-officedocument.oleObject"/>
  <Override PartName="/ppt/notesSlides/notesSlide3.xml" ContentType="application/vnd.openxmlformats-officedocument.presentationml.notesSlide+xml"/>
  <Override PartName="/ppt/embeddings/oleObject2.bin" ContentType="application/vnd.openxmlformats-officedocument.oleObject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7" r:id="rId1"/>
  </p:sldMasterIdLst>
  <p:notesMasterIdLst>
    <p:notesMasterId r:id="rId42"/>
  </p:notesMasterIdLst>
  <p:handoutMasterIdLst>
    <p:handoutMasterId r:id="rId43"/>
  </p:handoutMasterIdLst>
  <p:sldIdLst>
    <p:sldId id="512" r:id="rId2"/>
    <p:sldId id="474" r:id="rId3"/>
    <p:sldId id="475" r:id="rId4"/>
    <p:sldId id="476" r:id="rId5"/>
    <p:sldId id="477" r:id="rId6"/>
    <p:sldId id="478" r:id="rId7"/>
    <p:sldId id="479" r:id="rId8"/>
    <p:sldId id="480" r:id="rId9"/>
    <p:sldId id="481" r:id="rId10"/>
    <p:sldId id="482" r:id="rId11"/>
    <p:sldId id="483" r:id="rId12"/>
    <p:sldId id="484" r:id="rId13"/>
    <p:sldId id="485" r:id="rId14"/>
    <p:sldId id="486" r:id="rId15"/>
    <p:sldId id="487" r:id="rId16"/>
    <p:sldId id="488" r:id="rId17"/>
    <p:sldId id="489" r:id="rId18"/>
    <p:sldId id="490" r:id="rId19"/>
    <p:sldId id="491" r:id="rId20"/>
    <p:sldId id="492" r:id="rId21"/>
    <p:sldId id="493" r:id="rId22"/>
    <p:sldId id="511" r:id="rId23"/>
    <p:sldId id="495" r:id="rId24"/>
    <p:sldId id="513" r:id="rId25"/>
    <p:sldId id="499" r:id="rId26"/>
    <p:sldId id="501" r:id="rId27"/>
    <p:sldId id="502" r:id="rId28"/>
    <p:sldId id="503" r:id="rId29"/>
    <p:sldId id="509" r:id="rId30"/>
    <p:sldId id="510" r:id="rId31"/>
    <p:sldId id="505" r:id="rId32"/>
    <p:sldId id="506" r:id="rId33"/>
    <p:sldId id="507" r:id="rId34"/>
    <p:sldId id="508" r:id="rId35"/>
    <p:sldId id="516" r:id="rId36"/>
    <p:sldId id="514" r:id="rId37"/>
    <p:sldId id="515" r:id="rId38"/>
    <p:sldId id="518" r:id="rId39"/>
    <p:sldId id="517" r:id="rId40"/>
    <p:sldId id="519" r:id="rId4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9B0"/>
    <a:srgbClr val="004070"/>
    <a:srgbClr val="005FA6"/>
    <a:srgbClr val="F97407"/>
    <a:srgbClr val="013C69"/>
    <a:srgbClr val="60E6E1"/>
    <a:srgbClr val="201FF0"/>
    <a:srgbClr val="3D9E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19" autoAdjust="0"/>
    <p:restoredTop sz="86342" autoAdjust="0"/>
  </p:normalViewPr>
  <p:slideViewPr>
    <p:cSldViewPr>
      <p:cViewPr varScale="1">
        <p:scale>
          <a:sx n="45" d="100"/>
          <a:sy n="45" d="100"/>
        </p:scale>
        <p:origin x="-712" y="-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962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handoutMaster" Target="handoutMasters/handoutMaster1.xml"/><Relationship Id="rId44" Type="http://schemas.openxmlformats.org/officeDocument/2006/relationships/printerSettings" Target="printerSettings/printerSettings1.bin"/><Relationship Id="rId45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Relationship Id="rId2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Relationship Id="rId2" Type="http://schemas.openxmlformats.org/officeDocument/2006/relationships/image" Target="../media/image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682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682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pPr>
              <a:defRPr/>
            </a:pPr>
            <a:fld id="{C0C0A947-1BBA-AD47-880C-8075A2EF1038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451890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74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pPr>
              <a:defRPr/>
            </a:pPr>
            <a:fld id="{69DC7B21-583F-CD44-B53F-C88A2417CA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908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fld id="{7D39BA04-5008-0745-BDA3-82A84C11E4B3}" type="slidenum">
              <a:rPr lang="en-US" sz="1200">
                <a:latin typeface="Tahoma" charset="0"/>
              </a:rPr>
              <a:pPr eaLnBrk="1" hangingPunct="1"/>
              <a:t>1</a:t>
            </a:fld>
            <a:endParaRPr lang="en-US" sz="1200">
              <a:latin typeface="Tahoma" charset="0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7ACA8D5-DC1E-B64A-80FF-4C6F74B05A75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819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/>
            <a:fld id="{9E185A10-76F8-F449-8DEC-1543CFED1072}" type="slidenum">
              <a:rPr lang="it-IT" sz="1200">
                <a:latin typeface="Times New Roman" charset="0"/>
              </a:rPr>
              <a:pPr algn="r"/>
              <a:t>2</a:t>
            </a:fld>
            <a:endParaRPr lang="it-IT" sz="1200">
              <a:latin typeface="Times New Roman" charset="0"/>
            </a:endParaRPr>
          </a:p>
        </p:txBody>
      </p:sp>
      <p:sp>
        <p:nvSpPr>
          <p:cNvPr id="65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5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it-IT" smtClean="0"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42816C-A9DA-C845-9762-01AC2EC8530C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1024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/>
            <a:fld id="{637B42B6-BA39-7141-85BA-AF6429793263}" type="slidenum">
              <a:rPr lang="it-IT" sz="1200">
                <a:latin typeface="Times New Roman" charset="0"/>
              </a:rPr>
              <a:pPr algn="r"/>
              <a:t>3</a:t>
            </a:fld>
            <a:endParaRPr lang="it-IT" sz="1200">
              <a:latin typeface="Times New Roman" charset="0"/>
            </a:endParaRPr>
          </a:p>
        </p:txBody>
      </p:sp>
      <p:sp>
        <p:nvSpPr>
          <p:cNvPr id="65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5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it-IT" smtClean="0"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3B8C684-4EE1-9D44-9CB2-8A09DFE1E510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1229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/>
            <a:fld id="{E6740700-FCC3-7445-B817-EF501D7581D6}" type="slidenum">
              <a:rPr lang="it-IT" sz="1200">
                <a:latin typeface="Times New Roman" charset="0"/>
              </a:rPr>
              <a:pPr algn="r"/>
              <a:t>4</a:t>
            </a:fld>
            <a:endParaRPr lang="it-IT" sz="1200">
              <a:latin typeface="Times New Roman" charset="0"/>
            </a:endParaRPr>
          </a:p>
        </p:txBody>
      </p:sp>
      <p:sp>
        <p:nvSpPr>
          <p:cNvPr id="65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5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it-IT" smtClean="0"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95EF4F-BF9C-6E4F-9D5D-46483B047C7A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1433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/>
            <a:fld id="{F143CB8D-681D-FE45-B491-69E7AF011EC2}" type="slidenum">
              <a:rPr lang="it-IT" sz="1200">
                <a:latin typeface="Times New Roman" charset="0"/>
              </a:rPr>
              <a:pPr algn="r"/>
              <a:t>5</a:t>
            </a:fld>
            <a:endParaRPr lang="it-IT" sz="1200">
              <a:latin typeface="Times New Roman" charset="0"/>
            </a:endParaRPr>
          </a:p>
        </p:txBody>
      </p:sp>
      <p:sp>
        <p:nvSpPr>
          <p:cNvPr id="66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6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it-IT" smtClean="0"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66931F-E89F-6748-9D68-8B53A922F935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1638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/>
            <a:fld id="{570FB781-4B32-ED4B-8037-465968DC1A3A}" type="slidenum">
              <a:rPr lang="it-IT" sz="1200">
                <a:latin typeface="Times New Roman" charset="0"/>
              </a:rPr>
              <a:pPr algn="r"/>
              <a:t>6</a:t>
            </a:fld>
            <a:endParaRPr lang="it-IT" sz="1200">
              <a:latin typeface="Times New Roman" charset="0"/>
            </a:endParaRPr>
          </a:p>
        </p:txBody>
      </p:sp>
      <p:sp>
        <p:nvSpPr>
          <p:cNvPr id="66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6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it-IT" smtClean="0"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F11C643-8254-734E-8EE0-FC362AED458B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1843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/>
            <a:fld id="{0675344D-9BFD-4248-887A-25702512BE7C}" type="slidenum">
              <a:rPr lang="it-IT" sz="1200">
                <a:latin typeface="Times New Roman" charset="0"/>
              </a:rPr>
              <a:pPr algn="r"/>
              <a:t>7</a:t>
            </a:fld>
            <a:endParaRPr lang="it-IT" sz="1200">
              <a:latin typeface="Times New Roman" charset="0"/>
            </a:endParaRPr>
          </a:p>
        </p:txBody>
      </p:sp>
      <p:sp>
        <p:nvSpPr>
          <p:cNvPr id="66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6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it-IT" smtClean="0"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910AA1-60DD-EC4F-8638-4394EA855975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/>
            <a:fld id="{6F638D69-C039-5840-B877-572D6CFFDC97}" type="slidenum">
              <a:rPr lang="it-IT" sz="1200">
                <a:latin typeface="Times New Roman" charset="0"/>
              </a:rPr>
              <a:pPr algn="r"/>
              <a:t>8</a:t>
            </a:fld>
            <a:endParaRPr lang="it-IT" sz="1200">
              <a:latin typeface="Times New Roman" charset="0"/>
            </a:endParaRPr>
          </a:p>
        </p:txBody>
      </p:sp>
      <p:sp>
        <p:nvSpPr>
          <p:cNvPr id="66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6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it-IT" smtClean="0"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A23529A-F1D3-6F4B-A536-5DBD57DEEA6A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2355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/>
            <a:fld id="{707BB592-EDB8-D94A-B697-12CEEF973F9B}" type="slidenum">
              <a:rPr lang="it-IT" sz="1200">
                <a:latin typeface="Times New Roman" charset="0"/>
              </a:rPr>
              <a:pPr algn="r"/>
              <a:t>10</a:t>
            </a:fld>
            <a:endParaRPr lang="it-IT" sz="1200">
              <a:latin typeface="Times New Roman" charset="0"/>
            </a:endParaRPr>
          </a:p>
        </p:txBody>
      </p:sp>
      <p:sp>
        <p:nvSpPr>
          <p:cNvPr id="66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6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it-IT" smtClean="0"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B3FE0CD-BC76-1F4A-95C3-F4CA643CAFC0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2560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/>
            <a:fld id="{23EF9F0B-E71E-0C45-813A-E8A21351B24B}" type="slidenum">
              <a:rPr lang="it-IT" sz="1200">
                <a:latin typeface="Times New Roman" charset="0"/>
              </a:rPr>
              <a:pPr algn="r"/>
              <a:t>11</a:t>
            </a:fld>
            <a:endParaRPr lang="it-IT" sz="1200">
              <a:latin typeface="Times New Roman" charset="0"/>
            </a:endParaRPr>
          </a:p>
        </p:txBody>
      </p:sp>
      <p:sp>
        <p:nvSpPr>
          <p:cNvPr id="67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7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it-IT" smtClean="0"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B3FE0CD-BC76-1F4A-95C3-F4CA643CAFC0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2560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/>
            <a:fld id="{23EF9F0B-E71E-0C45-813A-E8A21351B24B}" type="slidenum">
              <a:rPr lang="it-IT" sz="1200">
                <a:latin typeface="Times New Roman" charset="0"/>
              </a:rPr>
              <a:pPr algn="r"/>
              <a:t>12</a:t>
            </a:fld>
            <a:endParaRPr lang="it-IT" sz="1200">
              <a:latin typeface="Times New Roman" charset="0"/>
            </a:endParaRPr>
          </a:p>
        </p:txBody>
      </p:sp>
      <p:sp>
        <p:nvSpPr>
          <p:cNvPr id="67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7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it-IT" smtClean="0"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460BFB-3700-0446-85E7-CB98BB2273B1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2969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/>
            <a:fld id="{571358F0-25F0-CD48-90B8-D5A79FC32942}" type="slidenum">
              <a:rPr lang="it-IT" sz="1200">
                <a:latin typeface="Times New Roman" charset="0"/>
              </a:rPr>
              <a:pPr algn="r"/>
              <a:t>13</a:t>
            </a:fld>
            <a:endParaRPr lang="it-IT" sz="1200">
              <a:latin typeface="Times New Roman" charset="0"/>
            </a:endParaRPr>
          </a:p>
        </p:txBody>
      </p:sp>
      <p:sp>
        <p:nvSpPr>
          <p:cNvPr id="67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7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it-IT" smtClean="0"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4B0A4A2-8900-AA42-8D76-65F6C4EDE9B8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3174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/>
            <a:fld id="{E29AEA0F-ABB5-7C4C-9AE5-2315322F6C67}" type="slidenum">
              <a:rPr lang="it-IT" sz="1200">
                <a:latin typeface="Times New Roman" charset="0"/>
              </a:rPr>
              <a:pPr algn="r"/>
              <a:t>14</a:t>
            </a:fld>
            <a:endParaRPr lang="it-IT" sz="1200">
              <a:latin typeface="Times New Roman" charset="0"/>
            </a:endParaRPr>
          </a:p>
        </p:txBody>
      </p:sp>
      <p:sp>
        <p:nvSpPr>
          <p:cNvPr id="67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7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it-IT" smtClean="0"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245FBDC-6A8E-1C47-87FB-CFE63F3DD0D1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3379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/>
            <a:fld id="{EDB26661-8DB2-CF4A-96F1-2D16E8F7904C}" type="slidenum">
              <a:rPr lang="it-IT" sz="1200">
                <a:latin typeface="Times New Roman" charset="0"/>
              </a:rPr>
              <a:pPr algn="r"/>
              <a:t>15</a:t>
            </a:fld>
            <a:endParaRPr lang="it-IT" sz="1200">
              <a:latin typeface="Times New Roman" charset="0"/>
            </a:endParaRPr>
          </a:p>
        </p:txBody>
      </p:sp>
      <p:sp>
        <p:nvSpPr>
          <p:cNvPr id="67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7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it-IT" smtClean="0"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B3FE0CD-BC76-1F4A-95C3-F4CA643CAFC0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2560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/>
            <a:fld id="{23EF9F0B-E71E-0C45-813A-E8A21351B24B}" type="slidenum">
              <a:rPr lang="it-IT" sz="1200">
                <a:latin typeface="Times New Roman" charset="0"/>
              </a:rPr>
              <a:pPr algn="r"/>
              <a:t>16</a:t>
            </a:fld>
            <a:endParaRPr lang="it-IT" sz="1200">
              <a:latin typeface="Times New Roman" charset="0"/>
            </a:endParaRPr>
          </a:p>
        </p:txBody>
      </p:sp>
      <p:sp>
        <p:nvSpPr>
          <p:cNvPr id="67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7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it-IT" smtClean="0"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8001D9F-186C-3F40-97EC-568A4C3304CB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3789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/>
            <a:fld id="{3CC344E0-B3D4-7648-92B9-EBCEF68A26C2}" type="slidenum">
              <a:rPr lang="it-IT" sz="1200">
                <a:latin typeface="Times New Roman" charset="0"/>
              </a:rPr>
              <a:pPr algn="r"/>
              <a:t>17</a:t>
            </a:fld>
            <a:endParaRPr lang="it-IT" sz="1200">
              <a:latin typeface="Times New Roman" charset="0"/>
            </a:endParaRPr>
          </a:p>
        </p:txBody>
      </p:sp>
      <p:sp>
        <p:nvSpPr>
          <p:cNvPr id="68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8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it-IT" smtClean="0"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C28630B-9BEA-7347-8D65-A59D377774F4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3993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/>
            <a:fld id="{D1F79BBB-4FE8-2542-9984-A93A77CCC428}" type="slidenum">
              <a:rPr lang="it-IT" sz="1200">
                <a:latin typeface="Times New Roman" charset="0"/>
              </a:rPr>
              <a:pPr algn="r"/>
              <a:t>18</a:t>
            </a:fld>
            <a:endParaRPr lang="it-IT" sz="1200">
              <a:latin typeface="Times New Roman" charset="0"/>
            </a:endParaRPr>
          </a:p>
        </p:txBody>
      </p:sp>
      <p:sp>
        <p:nvSpPr>
          <p:cNvPr id="68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8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it-IT" smtClean="0"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3F344C4-00CD-9742-B0C2-D0B583CCFAA8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4403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/>
            <a:fld id="{34147D6B-7D64-864F-9CEE-0C3979311508}" type="slidenum">
              <a:rPr lang="it-IT" sz="1200">
                <a:latin typeface="Times New Roman" charset="0"/>
              </a:rPr>
              <a:pPr algn="r"/>
              <a:t>19</a:t>
            </a:fld>
            <a:endParaRPr lang="it-IT" sz="1200">
              <a:latin typeface="Times New Roman" charset="0"/>
            </a:endParaRPr>
          </a:p>
        </p:txBody>
      </p:sp>
      <p:sp>
        <p:nvSpPr>
          <p:cNvPr id="68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8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it-IT" smtClean="0"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3F344C4-00CD-9742-B0C2-D0B583CCFAA8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4403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/>
            <a:fld id="{34147D6B-7D64-864F-9CEE-0C3979311508}" type="slidenum">
              <a:rPr lang="it-IT" sz="1200">
                <a:latin typeface="Times New Roman" charset="0"/>
              </a:rPr>
              <a:pPr algn="r"/>
              <a:t>20</a:t>
            </a:fld>
            <a:endParaRPr lang="it-IT" sz="1200">
              <a:latin typeface="Times New Roman" charset="0"/>
            </a:endParaRPr>
          </a:p>
        </p:txBody>
      </p:sp>
      <p:sp>
        <p:nvSpPr>
          <p:cNvPr id="68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8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it-IT" smtClean="0"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C8A1940-68CE-5147-AEA5-00D3473BDCB4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4813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/>
            <a:fld id="{C31868F9-AB33-D346-9FA8-0180301BD999}" type="slidenum">
              <a:rPr lang="it-IT" sz="1200">
                <a:latin typeface="Times New Roman" charset="0"/>
              </a:rPr>
              <a:pPr algn="r"/>
              <a:t>21</a:t>
            </a:fld>
            <a:endParaRPr lang="it-IT" sz="1200">
              <a:latin typeface="Times New Roman" charset="0"/>
            </a:endParaRPr>
          </a:p>
        </p:txBody>
      </p:sp>
      <p:sp>
        <p:nvSpPr>
          <p:cNvPr id="69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9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it-IT" smtClean="0"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8001D9F-186C-3F40-97EC-568A4C3304CB}" type="slidenum">
              <a:rPr lang="en-US"/>
              <a:pPr>
                <a:defRPr/>
              </a:pPr>
              <a:t>22</a:t>
            </a:fld>
            <a:endParaRPr lang="en-US"/>
          </a:p>
        </p:txBody>
      </p:sp>
      <p:sp>
        <p:nvSpPr>
          <p:cNvPr id="3789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/>
            <a:fld id="{3CC344E0-B3D4-7648-92B9-EBCEF68A26C2}" type="slidenum">
              <a:rPr lang="it-IT" sz="1200">
                <a:latin typeface="Times New Roman" charset="0"/>
              </a:rPr>
              <a:pPr algn="r"/>
              <a:t>22</a:t>
            </a:fld>
            <a:endParaRPr lang="it-IT" sz="1200">
              <a:latin typeface="Times New Roman" charset="0"/>
            </a:endParaRPr>
          </a:p>
        </p:txBody>
      </p:sp>
      <p:sp>
        <p:nvSpPr>
          <p:cNvPr id="68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8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it-IT" smtClean="0"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71F73B1-81D7-5D4F-AFF3-F954B7DE6945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5222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/>
            <a:fld id="{6E668A33-20FF-D645-BA09-24EC9916FAE6}" type="slidenum">
              <a:rPr lang="it-IT" sz="1200">
                <a:latin typeface="Times New Roman" charset="0"/>
              </a:rPr>
              <a:pPr algn="r"/>
              <a:t>23</a:t>
            </a:fld>
            <a:endParaRPr lang="it-IT" sz="1200">
              <a:latin typeface="Times New Roman" charset="0"/>
            </a:endParaRPr>
          </a:p>
        </p:txBody>
      </p:sp>
      <p:sp>
        <p:nvSpPr>
          <p:cNvPr id="69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9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it-IT" smtClean="0"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71F73B1-81D7-5D4F-AFF3-F954B7DE6945}" type="slidenum">
              <a:rPr lang="en-US"/>
              <a:pPr>
                <a:defRPr/>
              </a:pPr>
              <a:t>24</a:t>
            </a:fld>
            <a:endParaRPr lang="en-US"/>
          </a:p>
        </p:txBody>
      </p:sp>
      <p:sp>
        <p:nvSpPr>
          <p:cNvPr id="5222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/>
            <a:fld id="{6E668A33-20FF-D645-BA09-24EC9916FAE6}" type="slidenum">
              <a:rPr lang="it-IT" sz="1200">
                <a:latin typeface="Times New Roman" charset="0"/>
              </a:rPr>
              <a:pPr algn="r"/>
              <a:t>24</a:t>
            </a:fld>
            <a:endParaRPr lang="it-IT" sz="1200">
              <a:latin typeface="Times New Roman" charset="0"/>
            </a:endParaRPr>
          </a:p>
        </p:txBody>
      </p:sp>
      <p:sp>
        <p:nvSpPr>
          <p:cNvPr id="69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9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it-IT" smtClean="0"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EC4614F-D3FC-B642-BD25-99CFF7048D6B}" type="slidenum">
              <a:rPr lang="en-US"/>
              <a:pPr>
                <a:defRPr/>
              </a:pPr>
              <a:t>25</a:t>
            </a:fld>
            <a:endParaRPr lang="en-US"/>
          </a:p>
        </p:txBody>
      </p:sp>
      <p:sp>
        <p:nvSpPr>
          <p:cNvPr id="6041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/>
            <a:fld id="{0AD951AC-A137-7940-9FDB-4627AA006E63}" type="slidenum">
              <a:rPr lang="it-IT" sz="1200">
                <a:latin typeface="Times New Roman" charset="0"/>
              </a:rPr>
              <a:pPr algn="r"/>
              <a:t>25</a:t>
            </a:fld>
            <a:endParaRPr lang="it-IT" sz="1200">
              <a:latin typeface="Times New Roman" charset="0"/>
            </a:endParaRPr>
          </a:p>
        </p:txBody>
      </p:sp>
      <p:sp>
        <p:nvSpPr>
          <p:cNvPr id="70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0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it-IT" smtClean="0"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E3102D-EB28-E741-88B6-D51BFE2F2B3D}" type="slidenum">
              <a:rPr lang="en-US"/>
              <a:pPr>
                <a:defRPr/>
              </a:pPr>
              <a:t>26</a:t>
            </a:fld>
            <a:endParaRPr lang="en-US"/>
          </a:p>
        </p:txBody>
      </p:sp>
      <p:sp>
        <p:nvSpPr>
          <p:cNvPr id="6451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/>
            <a:fld id="{4E7AFD18-C289-BF45-BC42-ADBE52896BE0}" type="slidenum">
              <a:rPr lang="it-IT" sz="1200">
                <a:latin typeface="Times New Roman" charset="0"/>
              </a:rPr>
              <a:pPr algn="r"/>
              <a:t>26</a:t>
            </a:fld>
            <a:endParaRPr lang="it-IT" sz="1200">
              <a:latin typeface="Times New Roman" charset="0"/>
            </a:endParaRPr>
          </a:p>
        </p:txBody>
      </p:sp>
      <p:sp>
        <p:nvSpPr>
          <p:cNvPr id="70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0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it-IT" smtClean="0"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A3DC4D-2AC4-2247-8B9B-09CFE6AAB572}" type="slidenum">
              <a:rPr lang="en-US"/>
              <a:pPr>
                <a:defRPr/>
              </a:pPr>
              <a:t>27</a:t>
            </a:fld>
            <a:endParaRPr lang="en-US"/>
          </a:p>
        </p:txBody>
      </p:sp>
      <p:sp>
        <p:nvSpPr>
          <p:cNvPr id="6656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/>
            <a:fld id="{FD31A5C2-7D56-6043-A042-08AFF21EF49E}" type="slidenum">
              <a:rPr lang="it-IT" sz="1200">
                <a:latin typeface="Times New Roman" charset="0"/>
              </a:rPr>
              <a:pPr algn="r"/>
              <a:t>27</a:t>
            </a:fld>
            <a:endParaRPr lang="it-IT" sz="1200">
              <a:latin typeface="Times New Roman" charset="0"/>
            </a:endParaRPr>
          </a:p>
        </p:txBody>
      </p:sp>
      <p:sp>
        <p:nvSpPr>
          <p:cNvPr id="71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11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it-IT" smtClean="0"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28AC75B-A968-2F43-9D87-8B5A10D1DD30}" type="slidenum">
              <a:rPr lang="en-US"/>
              <a:pPr>
                <a:defRPr/>
              </a:pPr>
              <a:t>28</a:t>
            </a:fld>
            <a:endParaRPr lang="en-US"/>
          </a:p>
        </p:txBody>
      </p:sp>
      <p:sp>
        <p:nvSpPr>
          <p:cNvPr id="6861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/>
            <a:fld id="{DFE5DFDA-F304-0D4E-840B-BDD418E52D17}" type="slidenum">
              <a:rPr lang="it-IT" sz="1200">
                <a:latin typeface="Times New Roman" charset="0"/>
              </a:rPr>
              <a:pPr algn="r"/>
              <a:t>28</a:t>
            </a:fld>
            <a:endParaRPr lang="it-IT" sz="1200">
              <a:latin typeface="Times New Roman" charset="0"/>
            </a:endParaRPr>
          </a:p>
        </p:txBody>
      </p:sp>
      <p:sp>
        <p:nvSpPr>
          <p:cNvPr id="71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137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it-IT" smtClean="0"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C2FAA1-120F-084A-B2BB-20E74A7347D5}" type="slidenum">
              <a:rPr lang="en-US"/>
              <a:pPr>
                <a:defRPr/>
              </a:pPr>
              <a:t>31</a:t>
            </a:fld>
            <a:endParaRPr lang="en-US"/>
          </a:p>
        </p:txBody>
      </p:sp>
      <p:sp>
        <p:nvSpPr>
          <p:cNvPr id="7270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/>
            <a:fld id="{D746405B-7A8E-8744-926C-6959AA214A73}" type="slidenum">
              <a:rPr lang="it-IT" sz="1200">
                <a:latin typeface="Times New Roman" charset="0"/>
              </a:rPr>
              <a:pPr algn="r"/>
              <a:t>31</a:t>
            </a:fld>
            <a:endParaRPr lang="it-IT" sz="1200">
              <a:latin typeface="Times New Roman" charset="0"/>
            </a:endParaRPr>
          </a:p>
        </p:txBody>
      </p:sp>
      <p:sp>
        <p:nvSpPr>
          <p:cNvPr id="71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17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it-IT" smtClean="0">
              <a:cs typeface="+mn-c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9E98F85-7723-424A-8540-F1EE288DB330}" type="slidenum">
              <a:rPr lang="en-US"/>
              <a:pPr>
                <a:defRPr/>
              </a:pPr>
              <a:t>32</a:t>
            </a:fld>
            <a:endParaRPr lang="en-US"/>
          </a:p>
        </p:txBody>
      </p:sp>
      <p:sp>
        <p:nvSpPr>
          <p:cNvPr id="7475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/>
            <a:fld id="{3977B1A6-B46A-4846-AEE3-DF56C80E3EEB}" type="slidenum">
              <a:rPr lang="it-IT" sz="1200">
                <a:latin typeface="Times New Roman" charset="0"/>
              </a:rPr>
              <a:pPr algn="r"/>
              <a:t>32</a:t>
            </a:fld>
            <a:endParaRPr lang="it-IT" sz="1200">
              <a:latin typeface="Times New Roman" charset="0"/>
            </a:endParaRPr>
          </a:p>
        </p:txBody>
      </p:sp>
      <p:sp>
        <p:nvSpPr>
          <p:cNvPr id="71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198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it-IT" smtClean="0"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47D7962-A740-444A-881B-310D48CDFD8F}" type="slidenum">
              <a:rPr lang="en-US"/>
              <a:pPr>
                <a:defRPr/>
              </a:pPr>
              <a:t>33</a:t>
            </a:fld>
            <a:endParaRPr lang="en-US"/>
          </a:p>
        </p:txBody>
      </p:sp>
      <p:sp>
        <p:nvSpPr>
          <p:cNvPr id="7680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/>
            <a:fld id="{59F997F2-CA9E-0C45-9DEF-3C828ABAE53B}" type="slidenum">
              <a:rPr lang="it-IT" sz="1200">
                <a:latin typeface="Times New Roman" charset="0"/>
              </a:rPr>
              <a:pPr algn="r"/>
              <a:t>33</a:t>
            </a:fld>
            <a:endParaRPr lang="it-IT" sz="1200">
              <a:latin typeface="Times New Roman" charset="0"/>
            </a:endParaRPr>
          </a:p>
        </p:txBody>
      </p:sp>
      <p:sp>
        <p:nvSpPr>
          <p:cNvPr id="72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21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it-IT" smtClean="0">
              <a:cs typeface="+mn-c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229D008-672D-D049-9097-F5EA061E5627}" type="slidenum">
              <a:rPr lang="en-US"/>
              <a:pPr>
                <a:defRPr/>
              </a:pPr>
              <a:t>34</a:t>
            </a:fld>
            <a:endParaRPr lang="en-US"/>
          </a:p>
        </p:txBody>
      </p:sp>
      <p:sp>
        <p:nvSpPr>
          <p:cNvPr id="7885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/>
            <a:fld id="{BE73D425-CB55-9543-B63C-3855BD42AC30}" type="slidenum">
              <a:rPr lang="it-IT" sz="1200">
                <a:latin typeface="Times New Roman" charset="0"/>
              </a:rPr>
              <a:pPr algn="r"/>
              <a:t>34</a:t>
            </a:fld>
            <a:endParaRPr lang="it-IT" sz="1200">
              <a:latin typeface="Times New Roman" charset="0"/>
            </a:endParaRPr>
          </a:p>
        </p:txBody>
      </p:sp>
      <p:sp>
        <p:nvSpPr>
          <p:cNvPr id="72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239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it-IT" smtClean="0">
              <a:cs typeface="+mn-c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C2FAA1-120F-084A-B2BB-20E74A7347D5}" type="slidenum">
              <a:rPr lang="en-US"/>
              <a:pPr>
                <a:defRPr/>
              </a:pPr>
              <a:t>38</a:t>
            </a:fld>
            <a:endParaRPr lang="en-US"/>
          </a:p>
        </p:txBody>
      </p:sp>
      <p:sp>
        <p:nvSpPr>
          <p:cNvPr id="7270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/>
            <a:fld id="{D746405B-7A8E-8744-926C-6959AA214A73}" type="slidenum">
              <a:rPr lang="it-IT" sz="1200">
                <a:latin typeface="Times New Roman" charset="0"/>
              </a:rPr>
              <a:pPr algn="r"/>
              <a:t>38</a:t>
            </a:fld>
            <a:endParaRPr lang="it-IT" sz="1200">
              <a:latin typeface="Times New Roman" charset="0"/>
            </a:endParaRPr>
          </a:p>
        </p:txBody>
      </p:sp>
      <p:sp>
        <p:nvSpPr>
          <p:cNvPr id="71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17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it-IT" smtClean="0">
              <a:cs typeface="+mn-c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9E98F85-7723-424A-8540-F1EE288DB330}" type="slidenum">
              <a:rPr lang="en-US"/>
              <a:pPr>
                <a:defRPr/>
              </a:pPr>
              <a:t>39</a:t>
            </a:fld>
            <a:endParaRPr lang="en-US"/>
          </a:p>
        </p:txBody>
      </p:sp>
      <p:sp>
        <p:nvSpPr>
          <p:cNvPr id="7475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/>
            <a:fld id="{3977B1A6-B46A-4846-AEE3-DF56C80E3EEB}" type="slidenum">
              <a:rPr lang="it-IT" sz="1200">
                <a:latin typeface="Times New Roman" charset="0"/>
              </a:rPr>
              <a:pPr algn="r"/>
              <a:t>39</a:t>
            </a:fld>
            <a:endParaRPr lang="it-IT" sz="1200">
              <a:latin typeface="Times New Roman" charset="0"/>
            </a:endParaRPr>
          </a:p>
        </p:txBody>
      </p:sp>
      <p:sp>
        <p:nvSpPr>
          <p:cNvPr id="71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198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it-IT" smtClean="0"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9906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>
                <a:latin typeface="Tahoma" charset="0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>
                <a:latin typeface="Tahoma" charset="0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>
                <a:latin typeface="Tahoma" charset="0"/>
              </a:endParaRPr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304800"/>
            <a:ext cx="7772400" cy="1143000"/>
          </a:xfrm>
        </p:spPr>
        <p:txBody>
          <a:bodyPr/>
          <a:lstStyle>
            <a:lvl1pPr algn="ctr">
              <a:defRPr sz="2800">
                <a:solidFill>
                  <a:schemeClr val="folHlink"/>
                </a:solidFill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2590800"/>
            <a:ext cx="7010400" cy="3352800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ct val="120000"/>
              </a:spcBef>
              <a:buFont typeface="Wingdings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953212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96752"/>
            <a:ext cx="8496944" cy="5184576"/>
          </a:xfrm>
        </p:spPr>
        <p:txBody>
          <a:bodyPr/>
          <a:lstStyle/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72400" y="6525344"/>
            <a:ext cx="720080" cy="272752"/>
          </a:xfrm>
          <a:prstGeom prst="rect">
            <a:avLst/>
          </a:prstGeom>
          <a:ln/>
        </p:spPr>
        <p:txBody>
          <a:bodyPr/>
          <a:lstStyle>
            <a:lvl1pPr algn="r">
              <a:defRPr sz="1200">
                <a:latin typeface="Arial"/>
                <a:cs typeface="Arial"/>
              </a:defRPr>
            </a:lvl1pPr>
          </a:lstStyle>
          <a:p>
            <a:pPr>
              <a:defRPr/>
            </a:pPr>
            <a:fld id="{A5CB7864-E48A-A24E-9D04-923EB4B530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416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it-IT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112503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808970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179512" y="188640"/>
            <a:ext cx="8617272" cy="959768"/>
            <a:chOff x="203200" y="381000"/>
            <a:chExt cx="8556625" cy="1052513"/>
          </a:xfrm>
        </p:grpSpPr>
        <p:sp>
          <p:nvSpPr>
            <p:cNvPr id="1026" name="Rectangle 2"/>
            <p:cNvSpPr>
              <a:spLocks noChangeArrowheads="1"/>
            </p:cNvSpPr>
            <p:nvPr/>
          </p:nvSpPr>
          <p:spPr bwMode="ltGray">
            <a:xfrm>
              <a:off x="493713" y="488950"/>
              <a:ext cx="438150" cy="4746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27" name="Rectangle 3"/>
            <p:cNvSpPr>
              <a:spLocks noChangeArrowheads="1"/>
            </p:cNvSpPr>
            <p:nvPr/>
          </p:nvSpPr>
          <p:spPr bwMode="ltGray">
            <a:xfrm>
              <a:off x="876300" y="488950"/>
              <a:ext cx="328613" cy="474663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28" name="Rectangle 4"/>
            <p:cNvSpPr>
              <a:spLocks noChangeArrowheads="1"/>
            </p:cNvSpPr>
            <p:nvPr/>
          </p:nvSpPr>
          <p:spPr bwMode="ltGray">
            <a:xfrm>
              <a:off x="617538" y="911225"/>
              <a:ext cx="422275" cy="474663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29" name="Rectangle 5"/>
            <p:cNvSpPr>
              <a:spLocks noChangeArrowheads="1"/>
            </p:cNvSpPr>
            <p:nvPr/>
          </p:nvSpPr>
          <p:spPr bwMode="ltGray">
            <a:xfrm>
              <a:off x="987425" y="911225"/>
              <a:ext cx="368300" cy="474663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30" name="Rectangle 6"/>
            <p:cNvSpPr>
              <a:spLocks noChangeArrowheads="1"/>
            </p:cNvSpPr>
            <p:nvPr/>
          </p:nvSpPr>
          <p:spPr bwMode="ltGray">
            <a:xfrm>
              <a:off x="203200" y="838200"/>
              <a:ext cx="560388" cy="422275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31" name="Rectangle 7"/>
            <p:cNvSpPr>
              <a:spLocks noChangeArrowheads="1"/>
            </p:cNvSpPr>
            <p:nvPr/>
          </p:nvSpPr>
          <p:spPr bwMode="gray">
            <a:xfrm>
              <a:off x="838200" y="381000"/>
              <a:ext cx="31750" cy="105251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32" name="Rectangle 8"/>
            <p:cNvSpPr>
              <a:spLocks noChangeArrowheads="1"/>
            </p:cNvSpPr>
            <p:nvPr/>
          </p:nvSpPr>
          <p:spPr bwMode="gray">
            <a:xfrm>
              <a:off x="533400" y="1143000"/>
              <a:ext cx="8226425" cy="3175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</p:grp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87624" y="260648"/>
            <a:ext cx="7535862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452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528" y="1196752"/>
            <a:ext cx="8424936" cy="496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107504" y="6381328"/>
            <a:ext cx="8911281" cy="476187"/>
            <a:chOff x="107504" y="6381328"/>
            <a:chExt cx="8911281" cy="476187"/>
          </a:xfrm>
        </p:grpSpPr>
        <p:sp>
          <p:nvSpPr>
            <p:cNvPr id="13" name="Rectangle 7"/>
            <p:cNvSpPr>
              <a:spLocks noChangeArrowheads="1"/>
            </p:cNvSpPr>
            <p:nvPr userDrawn="1"/>
          </p:nvSpPr>
          <p:spPr bwMode="auto">
            <a:xfrm>
              <a:off x="107504" y="6381328"/>
              <a:ext cx="8892480" cy="387350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it-IT" sz="1000" b="1"/>
                <a:t>Introduzione agli algoritmi e strutture dati 2/ed</a:t>
              </a:r>
              <a:r>
                <a:rPr lang="it-IT" sz="1000"/>
                <a:t/>
              </a:r>
              <a:br>
                <a:rPr lang="it-IT" sz="1000"/>
              </a:br>
              <a:r>
                <a:rPr lang="it-IT" sz="1000"/>
                <a:t>T. H. Cormen, C. E. Leiserson, R. L. Rivest, C. Stein</a:t>
              </a:r>
            </a:p>
          </p:txBody>
        </p:sp>
        <p:pic>
          <p:nvPicPr>
            <p:cNvPr id="14" name="Picture 9" descr="McGraw"/>
            <p:cNvPicPr>
              <a:picLocks noChangeAspect="1" noChangeArrowheads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04448" y="6400315"/>
              <a:ext cx="414337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 Box 8"/>
            <p:cNvSpPr txBox="1">
              <a:spLocks noChangeArrowheads="1"/>
            </p:cNvSpPr>
            <p:nvPr userDrawn="1"/>
          </p:nvSpPr>
          <p:spPr bwMode="auto">
            <a:xfrm>
              <a:off x="5364088" y="6453336"/>
              <a:ext cx="2922588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1000" dirty="0"/>
                <a:t>Copyright © 2005 – The McGraw-Hill Companies </a:t>
              </a:r>
              <a:r>
                <a:rPr lang="it-IT" sz="1000" dirty="0" err="1"/>
                <a:t>srl</a:t>
              </a:r>
              <a:endParaRPr lang="it-IT" sz="1000" dirty="0"/>
            </a:p>
          </p:txBody>
        </p:sp>
      </p:grpSp>
      <p:pic>
        <p:nvPicPr>
          <p:cNvPr id="16" name="Picture 10" descr="6251-7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16632"/>
            <a:ext cx="560387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18" r:id="rId2"/>
    <p:sldLayoutId id="2147483722" r:id="rId3"/>
    <p:sldLayoutId id="2147483723" r:id="rId4"/>
  </p:sldLayoutIdLs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22" grpId="0" build="p" bldLvl="3" autoUpdateAnimBg="0">
        <p:tmplLst>
          <p:tmpl lvl="1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xmlns:p14="http://schemas.microsoft.com/office/powerpoint/2010/main"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xmlns:p14="http://schemas.microsoft.com/office/powerpoint/2010/main"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Arial"/>
          <a:ea typeface="ＭＳ Ｐゴシック" charset="-128"/>
          <a:cs typeface="Arial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50000"/>
        </a:spcBef>
        <a:spcAft>
          <a:spcPct val="0"/>
        </a:spcAft>
        <a:buClr>
          <a:schemeClr val="hlink"/>
        </a:buClr>
        <a:buFont typeface="Wingdings" charset="0"/>
        <a:buChar char="Ø"/>
        <a:defRPr sz="2400">
          <a:solidFill>
            <a:srgbClr val="201FF0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40000"/>
        </a:spcBef>
        <a:spcAft>
          <a:spcPct val="0"/>
        </a:spcAft>
        <a:buClr>
          <a:schemeClr val="folHlink"/>
        </a:buClr>
        <a:buSzPct val="95000"/>
        <a:buFont typeface="Wingdings" charset="0"/>
        <a:buChar char="ü"/>
        <a:defRPr sz="2000">
          <a:solidFill>
            <a:schemeClr val="hlink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charset="0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5621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charset="0"/>
        <a:buChar char="n"/>
        <a:defRPr>
          <a:solidFill>
            <a:schemeClr val="tx1"/>
          </a:solidFill>
          <a:latin typeface="+mn-lt"/>
          <a:ea typeface="ＭＳ Ｐゴシック" charset="-128"/>
        </a:defRPr>
      </a:lvl4pPr>
      <a:lvl5pPr marL="1981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0"/>
        <a:buChar char="n"/>
        <a:defRPr>
          <a:solidFill>
            <a:schemeClr val="tx1"/>
          </a:solidFill>
          <a:latin typeface="+mn-lt"/>
          <a:ea typeface="ＭＳ Ｐゴシック" charset="-128"/>
        </a:defRPr>
      </a:lvl5pPr>
      <a:lvl6pPr marL="2438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6pPr>
      <a:lvl7pPr marL="2895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7pPr>
      <a:lvl8pPr marL="3352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8pPr>
      <a:lvl9pPr marL="3810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3.e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4.e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5.emf"/><Relationship Id="rId6" Type="http://schemas.openxmlformats.org/officeDocument/2006/relationships/oleObject" Target="../embeddings/oleObject4.bin"/><Relationship Id="rId7" Type="http://schemas.openxmlformats.org/officeDocument/2006/relationships/image" Target="../media/image6.emf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7.emf"/><Relationship Id="rId6" Type="http://schemas.openxmlformats.org/officeDocument/2006/relationships/oleObject" Target="../embeddings/oleObject6.bin"/><Relationship Id="rId7" Type="http://schemas.openxmlformats.org/officeDocument/2006/relationships/image" Target="../media/image8.emf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8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it-IT" dirty="0">
                <a:ea typeface="ＭＳ Ｐゴシック" charset="0"/>
                <a:cs typeface="ＭＳ Ｐゴシック" charset="0"/>
              </a:rPr>
              <a:t>UNIVERSITA’ DI MILANO-BICOCCA</a:t>
            </a:r>
            <a:br>
              <a:rPr lang="it-IT" dirty="0">
                <a:ea typeface="ＭＳ Ｐゴシック" charset="0"/>
                <a:cs typeface="ＭＳ Ｐゴシック" charset="0"/>
              </a:rPr>
            </a:br>
            <a:r>
              <a:rPr lang="it-IT" dirty="0" err="1">
                <a:ea typeface="ＭＳ Ｐゴシック" charset="0"/>
                <a:cs typeface="ＭＳ Ｐゴシック" charset="0"/>
              </a:rPr>
              <a:t>CdL</a:t>
            </a:r>
            <a:r>
              <a:rPr lang="it-IT" dirty="0">
                <a:ea typeface="ＭＳ Ｐゴシック" charset="0"/>
                <a:cs typeface="ＭＳ Ｐゴシック" charset="0"/>
              </a:rPr>
              <a:t> IN INFORMATICA</a:t>
            </a:r>
          </a:p>
        </p:txBody>
      </p:sp>
      <p:sp>
        <p:nvSpPr>
          <p:cNvPr id="15362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043608" y="2204864"/>
            <a:ext cx="7086600" cy="3886200"/>
          </a:xfrm>
        </p:spPr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it-IT" dirty="0">
                <a:latin typeface="Comic Sans MS" charset="0"/>
                <a:ea typeface="ＭＳ Ｐゴシック" charset="0"/>
                <a:cs typeface="ＭＳ Ｐゴシック" charset="0"/>
              </a:rPr>
              <a:t>Corso di</a:t>
            </a:r>
          </a:p>
          <a:p>
            <a:pPr eaLnBrk="1" hangingPunct="1">
              <a:spcBef>
                <a:spcPts val="1200"/>
              </a:spcBef>
            </a:pPr>
            <a:r>
              <a:rPr lang="it-IT" sz="2800" b="1" dirty="0">
                <a:solidFill>
                  <a:srgbClr val="FF0000"/>
                </a:solidFill>
              </a:rPr>
              <a:t>ANALISI E PROGETTO DI </a:t>
            </a:r>
            <a:r>
              <a:rPr lang="it-IT" sz="2800" b="1" dirty="0" smtClean="0">
                <a:solidFill>
                  <a:srgbClr val="FF0000"/>
                </a:solidFill>
              </a:rPr>
              <a:t>ALGORITMI</a:t>
            </a:r>
            <a:endParaRPr lang="it-IT" sz="2800" dirty="0" smtClean="0">
              <a:solidFill>
                <a:srgbClr val="FF0000"/>
              </a:solidFill>
            </a:endParaRPr>
          </a:p>
          <a:p>
            <a:pPr eaLnBrk="1" hangingPunct="1"/>
            <a:r>
              <a:rPr lang="en-US" dirty="0">
                <a:latin typeface="Comic Sans MS" charset="0"/>
                <a:ea typeface="ＭＳ Ｐゴシック" charset="0"/>
              </a:rPr>
              <a:t>Prof. Giancarlo Mauri</a:t>
            </a:r>
            <a:endParaRPr lang="it-IT" dirty="0">
              <a:latin typeface="Comic Sans MS" charset="0"/>
              <a:ea typeface="ＭＳ Ｐゴシック" charset="0"/>
            </a:endParaRPr>
          </a:p>
          <a:p>
            <a:pPr eaLnBrk="1" hangingPunct="1">
              <a:buFont typeface="Wingdings" charset="0"/>
              <a:buNone/>
            </a:pPr>
            <a:r>
              <a:rPr lang="it-IT" dirty="0" smtClean="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Lezioni 21-25</a:t>
            </a:r>
            <a:endParaRPr lang="it-IT" dirty="0">
              <a:latin typeface="Comic Sans MS" charset="0"/>
              <a:ea typeface="ＭＳ Ｐゴシック" charset="0"/>
              <a:cs typeface="ＭＳ Ｐゴシック" charset="0"/>
            </a:endParaRPr>
          </a:p>
          <a:p>
            <a:pPr eaLnBrk="1" hangingPunct="1">
              <a:spcBef>
                <a:spcPts val="0"/>
              </a:spcBef>
            </a:pPr>
            <a:r>
              <a:rPr lang="it-IT" dirty="0" smtClean="0">
                <a:solidFill>
                  <a:srgbClr val="3D9E5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Cammini minimi</a:t>
            </a:r>
            <a:endParaRPr lang="it-IT" dirty="0">
              <a:latin typeface="Comic Sans MS" charset="0"/>
              <a:ea typeface="ＭＳ Ｐゴシック" charset="0"/>
              <a:cs typeface="ＭＳ Ｐゴシック" charset="0"/>
            </a:endParaRPr>
          </a:p>
          <a:p>
            <a:pPr eaLnBrk="1" hangingPunct="1">
              <a:spcBef>
                <a:spcPts val="0"/>
              </a:spcBef>
            </a:pPr>
            <a:endParaRPr lang="it-IT" dirty="0"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8878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69" name="Object 4"/>
          <p:cNvGraphicFramePr>
            <a:graphicFrameLocks noChangeAspect="1"/>
          </p:cNvGraphicFramePr>
          <p:nvPr/>
        </p:nvGraphicFramePr>
        <p:xfrm>
          <a:off x="2286000" y="4343400"/>
          <a:ext cx="40497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" name="Equation" r:id="rId4" imgW="1508760" imgH="283464" progId="Equation.3">
                  <p:embed/>
                </p:oleObj>
              </mc:Choice>
              <mc:Fallback>
                <p:oleObj name="Equation" r:id="rId4" imgW="1508760" imgH="28346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343400"/>
                        <a:ext cx="404971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3320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mtClean="0">
                <a:cs typeface="+mj-cs"/>
              </a:rPr>
              <a:t>Cammini minimi</a:t>
            </a:r>
          </a:p>
        </p:txBody>
      </p:sp>
      <p:sp>
        <p:nvSpPr>
          <p:cNvPr id="653321" name="Rectangle 9"/>
          <p:cNvSpPr>
            <a:spLocks noGrp="1" noChangeArrowheads="1"/>
          </p:cNvSpPr>
          <p:nvPr>
            <p:ph idx="1"/>
          </p:nvPr>
        </p:nvSpPr>
        <p:spPr>
          <a:xfrm>
            <a:off x="323528" y="1196752"/>
            <a:ext cx="8568952" cy="2088232"/>
          </a:xfrm>
        </p:spPr>
        <p:txBody>
          <a:bodyPr/>
          <a:lstStyle/>
          <a:p>
            <a:pPr eaLnBrk="1" hangingPunct="1">
              <a:defRPr/>
            </a:pPr>
            <a:r>
              <a:rPr lang="it-IT" dirty="0" smtClean="0">
                <a:cs typeface="+mn-cs"/>
              </a:rPr>
              <a:t>Sia </a:t>
            </a:r>
            <a:r>
              <a:rPr lang="it-IT" dirty="0" smtClean="0">
                <a:solidFill>
                  <a:schemeClr val="hlink"/>
                </a:solidFill>
                <a:cs typeface="+mn-cs"/>
              </a:rPr>
              <a:t>G = (V,E)</a:t>
            </a:r>
            <a:r>
              <a:rPr lang="it-IT" dirty="0" smtClean="0">
                <a:cs typeface="+mn-cs"/>
              </a:rPr>
              <a:t> un grafo orientato ai cui archi è associato un costo </a:t>
            </a:r>
            <a:r>
              <a:rPr lang="it-IT" dirty="0" err="1" smtClean="0">
                <a:solidFill>
                  <a:schemeClr val="hlink"/>
                </a:solidFill>
                <a:cs typeface="+mn-cs"/>
              </a:rPr>
              <a:t>W</a:t>
            </a:r>
            <a:r>
              <a:rPr lang="it-IT" dirty="0" smtClean="0">
                <a:solidFill>
                  <a:schemeClr val="hlink"/>
                </a:solidFill>
                <a:cs typeface="+mn-cs"/>
              </a:rPr>
              <a:t>(</a:t>
            </a:r>
            <a:r>
              <a:rPr lang="it-IT" dirty="0" err="1" smtClean="0">
                <a:solidFill>
                  <a:schemeClr val="hlink"/>
                </a:solidFill>
                <a:cs typeface="+mn-cs"/>
              </a:rPr>
              <a:t>u,v</a:t>
            </a:r>
            <a:r>
              <a:rPr lang="it-IT" dirty="0" smtClean="0">
                <a:solidFill>
                  <a:schemeClr val="hlink"/>
                </a:solidFill>
                <a:cs typeface="+mn-cs"/>
              </a:rPr>
              <a:t>)</a:t>
            </a:r>
            <a:endParaRPr lang="it-IT" dirty="0" smtClean="0">
              <a:cs typeface="+mn-cs"/>
            </a:endParaRPr>
          </a:p>
          <a:p>
            <a:pPr eaLnBrk="1" hangingPunct="1">
              <a:defRPr/>
            </a:pPr>
            <a:r>
              <a:rPr lang="it-IT" dirty="0" smtClean="0">
                <a:cs typeface="+mn-cs"/>
              </a:rPr>
              <a:t>Il costo di un cammino </a:t>
            </a:r>
            <a:r>
              <a:rPr lang="it-IT" dirty="0" err="1" smtClean="0">
                <a:solidFill>
                  <a:schemeClr val="hlink"/>
                </a:solidFill>
                <a:cs typeface="+mn-cs"/>
              </a:rPr>
              <a:t>p</a:t>
            </a:r>
            <a:r>
              <a:rPr lang="it-IT" dirty="0" smtClean="0">
                <a:solidFill>
                  <a:schemeClr val="hlink"/>
                </a:solidFill>
                <a:cs typeface="+mn-cs"/>
              </a:rPr>
              <a:t> = (v</a:t>
            </a:r>
            <a:r>
              <a:rPr lang="it-IT" baseline="-25000" dirty="0" smtClean="0">
                <a:solidFill>
                  <a:schemeClr val="hlink"/>
                </a:solidFill>
                <a:cs typeface="+mn-cs"/>
              </a:rPr>
              <a:t>0</a:t>
            </a:r>
            <a:r>
              <a:rPr lang="it-IT" dirty="0" smtClean="0">
                <a:solidFill>
                  <a:schemeClr val="hlink"/>
                </a:solidFill>
                <a:cs typeface="+mn-cs"/>
              </a:rPr>
              <a:t>,v</a:t>
            </a:r>
            <a:r>
              <a:rPr lang="it-IT" baseline="-25000" dirty="0" smtClean="0">
                <a:solidFill>
                  <a:schemeClr val="hlink"/>
                </a:solidFill>
                <a:cs typeface="+mn-cs"/>
              </a:rPr>
              <a:t>1</a:t>
            </a:r>
            <a:r>
              <a:rPr lang="it-IT" dirty="0" smtClean="0">
                <a:solidFill>
                  <a:schemeClr val="hlink"/>
                </a:solidFill>
                <a:cs typeface="+mn-cs"/>
              </a:rPr>
              <a:t>,...,</a:t>
            </a:r>
            <a:r>
              <a:rPr lang="it-IT" dirty="0" err="1" smtClean="0">
                <a:solidFill>
                  <a:schemeClr val="hlink"/>
                </a:solidFill>
                <a:cs typeface="+mn-cs"/>
              </a:rPr>
              <a:t>v</a:t>
            </a:r>
            <a:r>
              <a:rPr lang="it-IT" baseline="-25000" dirty="0" err="1" smtClean="0">
                <a:solidFill>
                  <a:schemeClr val="hlink"/>
                </a:solidFill>
                <a:cs typeface="+mn-cs"/>
              </a:rPr>
              <a:t>k</a:t>
            </a:r>
            <a:r>
              <a:rPr lang="it-IT" dirty="0" smtClean="0">
                <a:solidFill>
                  <a:schemeClr val="hlink"/>
                </a:solidFill>
                <a:cs typeface="+mn-cs"/>
              </a:rPr>
              <a:t>)</a:t>
            </a:r>
            <a:r>
              <a:rPr lang="it-IT" dirty="0" smtClean="0">
                <a:cs typeface="+mn-cs"/>
              </a:rPr>
              <a:t> è la somma dei costi degli archi che lo costituiscono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1331048"/>
              </p:ext>
            </p:extLst>
          </p:nvPr>
        </p:nvGraphicFramePr>
        <p:xfrm>
          <a:off x="755576" y="2420888"/>
          <a:ext cx="7958137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" name="Equation" r:id="rId4" imgW="3340100" imgH="469900" progId="Equation.3">
                  <p:embed/>
                </p:oleObj>
              </mc:Choice>
              <mc:Fallback>
                <p:oleObj name="Equation" r:id="rId4" imgW="33401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2420888"/>
                        <a:ext cx="7958137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368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mtClean="0">
                <a:cs typeface="+mj-cs"/>
              </a:rPr>
              <a:t>Cammini minimi</a:t>
            </a:r>
          </a:p>
        </p:txBody>
      </p:sp>
      <p:sp>
        <p:nvSpPr>
          <p:cNvPr id="655369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395536" y="1196752"/>
            <a:ext cx="8305800" cy="1066800"/>
          </a:xfrm>
        </p:spPr>
        <p:txBody>
          <a:bodyPr/>
          <a:lstStyle/>
          <a:p>
            <a:pPr eaLnBrk="1" hangingPunct="1">
              <a:defRPr/>
            </a:pPr>
            <a:r>
              <a:rPr lang="it-IT" dirty="0" smtClean="0">
                <a:cs typeface="+mn-cs"/>
              </a:rPr>
              <a:t>Il costo di cammino minimo da un vertice </a:t>
            </a:r>
            <a:r>
              <a:rPr lang="it-IT" dirty="0" smtClean="0">
                <a:solidFill>
                  <a:srgbClr val="FF0000"/>
                </a:solidFill>
                <a:cs typeface="+mn-cs"/>
              </a:rPr>
              <a:t>u</a:t>
            </a:r>
            <a:r>
              <a:rPr lang="it-IT" dirty="0" smtClean="0">
                <a:cs typeface="+mn-cs"/>
              </a:rPr>
              <a:t> ad un vertice </a:t>
            </a:r>
            <a:r>
              <a:rPr lang="it-IT" dirty="0" smtClean="0">
                <a:solidFill>
                  <a:srgbClr val="FF0000"/>
                </a:solidFill>
                <a:cs typeface="+mn-cs"/>
              </a:rPr>
              <a:t>v</a:t>
            </a:r>
            <a:r>
              <a:rPr lang="it-IT" dirty="0" smtClean="0">
                <a:cs typeface="+mn-cs"/>
              </a:rPr>
              <a:t> è definito nel seguente modo:</a:t>
            </a:r>
          </a:p>
        </p:txBody>
      </p:sp>
      <p:sp>
        <p:nvSpPr>
          <p:cNvPr id="655370" name="Rectangle 10"/>
          <p:cNvSpPr>
            <a:spLocks noChangeArrowheads="1"/>
          </p:cNvSpPr>
          <p:nvPr/>
        </p:nvSpPr>
        <p:spPr bwMode="auto">
          <a:xfrm>
            <a:off x="381000" y="3962400"/>
            <a:ext cx="845820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50000"/>
              </a:spcBef>
              <a:buClr>
                <a:schemeClr val="hlink"/>
              </a:buClr>
              <a:buSzPct val="100000"/>
              <a:buFont typeface="Wingdings" charset="0"/>
              <a:buChar char="Ø"/>
              <a:defRPr/>
            </a:pPr>
            <a:r>
              <a:rPr lang="it-IT" sz="2400" dirty="0">
                <a:solidFill>
                  <a:srgbClr val="1423AE"/>
                </a:solidFill>
                <a:latin typeface="Comic Sans MS" charset="0"/>
                <a:cs typeface="+mn-cs"/>
              </a:rPr>
              <a:t>Un cammino minimo da 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  <a:cs typeface="+mn-cs"/>
              </a:rPr>
              <a:t>u</a:t>
            </a:r>
            <a:r>
              <a:rPr lang="it-IT" sz="2400" dirty="0">
                <a:solidFill>
                  <a:srgbClr val="1423AE"/>
                </a:solidFill>
                <a:latin typeface="Comic Sans MS" charset="0"/>
                <a:cs typeface="+mn-cs"/>
              </a:rPr>
              <a:t> a 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  <a:cs typeface="+mn-cs"/>
              </a:rPr>
              <a:t>v</a:t>
            </a:r>
            <a:r>
              <a:rPr lang="it-IT" sz="2400" dirty="0">
                <a:solidFill>
                  <a:srgbClr val="1423AE"/>
                </a:solidFill>
                <a:latin typeface="Comic Sans MS" charset="0"/>
                <a:cs typeface="+mn-cs"/>
              </a:rPr>
              <a:t> è un cammino </a:t>
            </a:r>
            <a:r>
              <a:rPr lang="it-IT" sz="2400" dirty="0" err="1">
                <a:solidFill>
                  <a:srgbClr val="FF0000"/>
                </a:solidFill>
                <a:latin typeface="Comic Sans MS" charset="0"/>
                <a:cs typeface="+mn-cs"/>
              </a:rPr>
              <a:t>p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  <a:cs typeface="+mn-cs"/>
              </a:rPr>
              <a:t> </a:t>
            </a:r>
            <a:r>
              <a:rPr lang="it-IT" sz="2400" dirty="0">
                <a:solidFill>
                  <a:srgbClr val="1423AE"/>
                </a:solidFill>
                <a:latin typeface="Comic Sans MS" charset="0"/>
                <a:cs typeface="+mn-cs"/>
              </a:rPr>
              <a:t>da 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  <a:cs typeface="+mn-cs"/>
              </a:rPr>
              <a:t>u</a:t>
            </a:r>
            <a:r>
              <a:rPr lang="it-IT" sz="2400" dirty="0">
                <a:solidFill>
                  <a:srgbClr val="1423AE"/>
                </a:solidFill>
                <a:latin typeface="Comic Sans MS" charset="0"/>
                <a:cs typeface="+mn-cs"/>
              </a:rPr>
              <a:t> a 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  <a:cs typeface="+mn-cs"/>
              </a:rPr>
              <a:t>v</a:t>
            </a:r>
            <a:r>
              <a:rPr lang="it-IT" sz="2400" dirty="0">
                <a:solidFill>
                  <a:srgbClr val="1423AE"/>
                </a:solidFill>
                <a:latin typeface="Comic Sans MS" charset="0"/>
                <a:cs typeface="+mn-cs"/>
              </a:rPr>
              <a:t> di costo </a:t>
            </a:r>
            <a:r>
              <a:rPr lang="it-IT" sz="2400" dirty="0" err="1">
                <a:solidFill>
                  <a:srgbClr val="FF0000"/>
                </a:solidFill>
                <a:latin typeface="Comic Sans MS" charset="0"/>
                <a:cs typeface="+mn-cs"/>
              </a:rPr>
              <a:t>W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  <a:cs typeface="+mn-cs"/>
              </a:rPr>
              <a:t>(</a:t>
            </a:r>
            <a:r>
              <a:rPr lang="it-IT" sz="2400" dirty="0" err="1">
                <a:solidFill>
                  <a:srgbClr val="FF0000"/>
                </a:solidFill>
                <a:latin typeface="Comic Sans MS" charset="0"/>
                <a:cs typeface="+mn-cs"/>
              </a:rPr>
              <a:t>p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  <a:cs typeface="+mn-cs"/>
              </a:rPr>
              <a:t>) = 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  <a:cs typeface="+mn-cs"/>
                <a:sym typeface="Symbol" charset="0"/>
              </a:rPr>
              <a:t></a:t>
            </a:r>
            <a:r>
              <a:rPr lang="it-IT" sz="2400" dirty="0">
                <a:solidFill>
                  <a:srgbClr val="FF0000"/>
                </a:solidFill>
                <a:latin typeface="Comic Sans MS" charset="0"/>
                <a:cs typeface="+mn-cs"/>
              </a:rPr>
              <a:t>(</a:t>
            </a:r>
            <a:r>
              <a:rPr lang="it-IT" sz="2400" dirty="0" err="1">
                <a:solidFill>
                  <a:srgbClr val="FF0000"/>
                </a:solidFill>
                <a:latin typeface="Comic Sans MS" charset="0"/>
                <a:cs typeface="+mn-cs"/>
              </a:rPr>
              <a:t>u,v</a:t>
            </a:r>
            <a:r>
              <a:rPr lang="it-IT" sz="2400" dirty="0" smtClean="0">
                <a:solidFill>
                  <a:srgbClr val="FF0000"/>
                </a:solidFill>
                <a:latin typeface="Comic Sans MS" charset="0"/>
                <a:cs typeface="+mn-cs"/>
              </a:rPr>
              <a:t>)</a:t>
            </a:r>
            <a:endParaRPr lang="it-IT" sz="2400" dirty="0">
              <a:solidFill>
                <a:srgbClr val="1423AE"/>
              </a:solidFill>
              <a:latin typeface="Comic Sans MS" charset="0"/>
              <a:cs typeface="+mn-cs"/>
            </a:endParaRPr>
          </a:p>
          <a:p>
            <a:pPr marL="342900" indent="-342900">
              <a:spcBef>
                <a:spcPct val="50000"/>
              </a:spcBef>
              <a:buClr>
                <a:schemeClr val="hlink"/>
              </a:buClr>
              <a:buSzPct val="100000"/>
              <a:buFont typeface="Wingdings" charset="0"/>
              <a:buChar char="Ø"/>
              <a:defRPr/>
            </a:pPr>
            <a:r>
              <a:rPr lang="it-IT" sz="2400" dirty="0">
                <a:solidFill>
                  <a:srgbClr val="1423AE"/>
                </a:solidFill>
                <a:latin typeface="Comic Sans MS" charset="0"/>
                <a:cs typeface="+mn-cs"/>
              </a:rPr>
              <a:t>Nel problema dei cammini minimi viene richiesto di determinare i cammini minimi e il loro costo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7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416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mtClean="0">
                <a:cs typeface="+mj-cs"/>
              </a:rPr>
              <a:t>Cammini minimi</a:t>
            </a:r>
          </a:p>
        </p:txBody>
      </p:sp>
      <p:sp>
        <p:nvSpPr>
          <p:cNvPr id="657417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 eaLnBrk="1" hangingPunct="1">
              <a:defRPr/>
            </a:pPr>
            <a:r>
              <a:rPr lang="it-IT" dirty="0" smtClean="0">
                <a:cs typeface="+mn-cs"/>
              </a:rPr>
              <a:t>Vi sono quattro versioni del problema:</a:t>
            </a:r>
          </a:p>
          <a:p>
            <a:pPr marL="876300" lvl="1" indent="-419100" eaLnBrk="1" hangingPunct="1">
              <a:lnSpc>
                <a:spcPct val="150000"/>
              </a:lnSpc>
              <a:buFont typeface="Arial" charset="0"/>
              <a:buAutoNum type="arabicPeriod"/>
              <a:defRPr/>
            </a:pPr>
            <a:r>
              <a:rPr lang="it-IT" dirty="0" smtClean="0"/>
              <a:t>Cammini minimi da un'unica sorgente ad un’unica destinazione</a:t>
            </a:r>
          </a:p>
          <a:p>
            <a:pPr marL="876300" lvl="1" indent="-419100" eaLnBrk="1" hangingPunct="1">
              <a:lnSpc>
                <a:spcPct val="150000"/>
              </a:lnSpc>
              <a:buFont typeface="Arial" charset="0"/>
              <a:buAutoNum type="arabicPeriod"/>
              <a:defRPr/>
            </a:pPr>
            <a:r>
              <a:rPr lang="it-IT" dirty="0" smtClean="0"/>
              <a:t>Cammini minimi da un'unica sorgente a ogni altro vertice</a:t>
            </a:r>
          </a:p>
          <a:p>
            <a:pPr marL="876300" lvl="1" indent="-419100" eaLnBrk="1" hangingPunct="1">
              <a:lnSpc>
                <a:spcPct val="150000"/>
              </a:lnSpc>
              <a:buFont typeface="Arial" charset="0"/>
              <a:buAutoNum type="arabicPeriod"/>
              <a:defRPr/>
            </a:pPr>
            <a:r>
              <a:rPr lang="it-IT" dirty="0" smtClean="0"/>
              <a:t>Cammini minimi da ogni vertice ad un'unica destinazione</a:t>
            </a:r>
          </a:p>
          <a:p>
            <a:pPr marL="876300" lvl="1" indent="-419100" eaLnBrk="1" hangingPunct="1">
              <a:lnSpc>
                <a:spcPct val="150000"/>
              </a:lnSpc>
              <a:buFont typeface="Arial" charset="0"/>
              <a:buAutoNum type="arabicPeriod"/>
              <a:defRPr/>
            </a:pPr>
            <a:r>
              <a:rPr lang="it-IT" dirty="0" smtClean="0"/>
              <a:t>Cammini minimi da ogni vertice ad ogni altro vertice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46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mtClean="0">
                <a:cs typeface="+mj-cs"/>
              </a:rPr>
              <a:t>Cammini minimi</a:t>
            </a:r>
          </a:p>
        </p:txBody>
      </p:sp>
      <p:sp>
        <p:nvSpPr>
          <p:cNvPr id="659462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dirty="0" smtClean="0">
                <a:cs typeface="+mn-cs"/>
              </a:rPr>
              <a:t>Noi risolveremo la seconda istanza</a:t>
            </a:r>
          </a:p>
          <a:p>
            <a:pPr eaLnBrk="1" hangingPunct="1">
              <a:defRPr/>
            </a:pPr>
            <a:r>
              <a:rPr lang="it-IT" dirty="0" smtClean="0">
                <a:cs typeface="+mn-cs"/>
              </a:rPr>
              <a:t>La terza istanza si risolve simmetricamente</a:t>
            </a:r>
          </a:p>
          <a:p>
            <a:pPr eaLnBrk="1" hangingPunct="1">
              <a:defRPr/>
            </a:pPr>
            <a:r>
              <a:rPr lang="it-IT" dirty="0" smtClean="0">
                <a:cs typeface="+mn-cs"/>
              </a:rPr>
              <a:t>La prima si può risolvere usando la soluzione della seconda (non si conosce tuttora alcun algoritmo che risolva la prima istanza in tempo asintoticamente migliore della seconda)</a:t>
            </a:r>
          </a:p>
          <a:p>
            <a:pPr eaLnBrk="1" hangingPunct="1">
              <a:defRPr/>
            </a:pPr>
            <a:r>
              <a:rPr lang="it-IT" dirty="0" smtClean="0">
                <a:cs typeface="+mn-cs"/>
              </a:rPr>
              <a:t>La quarta si può risolvere usando la soluzione della seconda per ogni vertice del grafo ma in genere si può fare di meglio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50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dirty="0" smtClean="0">
                <a:cs typeface="+mj-cs"/>
              </a:rPr>
              <a:t>Archi di costo negativo</a:t>
            </a:r>
          </a:p>
        </p:txBody>
      </p:sp>
      <p:sp>
        <p:nvSpPr>
          <p:cNvPr id="661510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dirty="0" smtClean="0">
                <a:cs typeface="+mn-cs"/>
              </a:rPr>
              <a:t>In alcuni casi il costo degli archi può anche essere negativo</a:t>
            </a:r>
          </a:p>
          <a:p>
            <a:pPr eaLnBrk="1" hangingPunct="1">
              <a:defRPr/>
            </a:pPr>
            <a:r>
              <a:rPr lang="it-IT" dirty="0" smtClean="0">
                <a:cs typeface="+mn-cs"/>
              </a:rPr>
              <a:t>Questo non crea problemi nella ricerca dei cammini minimi da una sorgente </a:t>
            </a:r>
            <a:r>
              <a:rPr lang="it-IT" dirty="0" err="1" smtClean="0">
                <a:solidFill>
                  <a:srgbClr val="FF0000"/>
                </a:solidFill>
                <a:cs typeface="+mn-cs"/>
              </a:rPr>
              <a:t>s</a:t>
            </a:r>
            <a:r>
              <a:rPr lang="it-IT" dirty="0" smtClean="0">
                <a:solidFill>
                  <a:srgbClr val="FF0000"/>
                </a:solidFill>
                <a:cs typeface="+mn-cs"/>
              </a:rPr>
              <a:t> </a:t>
            </a:r>
            <a:r>
              <a:rPr lang="it-IT" dirty="0" smtClean="0">
                <a:cs typeface="+mn-cs"/>
              </a:rPr>
              <a:t>a meno che vi siano </a:t>
            </a:r>
            <a:r>
              <a:rPr lang="it-IT" dirty="0" smtClean="0">
                <a:solidFill>
                  <a:srgbClr val="FF0000"/>
                </a:solidFill>
                <a:cs typeface="+mn-cs"/>
              </a:rPr>
              <a:t>cicli</a:t>
            </a:r>
            <a:r>
              <a:rPr lang="it-IT" dirty="0" smtClean="0">
                <a:cs typeface="+mn-cs"/>
              </a:rPr>
              <a:t> di costo negativo raggiungibili da </a:t>
            </a:r>
            <a:r>
              <a:rPr lang="it-IT" dirty="0" err="1" smtClean="0">
                <a:solidFill>
                  <a:srgbClr val="FF0000"/>
                </a:solidFill>
                <a:cs typeface="+mn-cs"/>
              </a:rPr>
              <a:t>s</a:t>
            </a:r>
            <a:endParaRPr lang="it-IT" dirty="0" smtClean="0">
              <a:cs typeface="+mn-cs"/>
            </a:endParaRPr>
          </a:p>
          <a:p>
            <a:pPr eaLnBrk="1" hangingPunct="1">
              <a:defRPr/>
            </a:pPr>
            <a:r>
              <a:rPr lang="it-IT" dirty="0" smtClean="0">
                <a:cs typeface="+mn-cs"/>
              </a:rPr>
              <a:t>Se </a:t>
            </a:r>
            <a:r>
              <a:rPr lang="it-IT" dirty="0" smtClean="0">
                <a:solidFill>
                  <a:srgbClr val="FF0000"/>
                </a:solidFill>
                <a:cs typeface="+mn-cs"/>
              </a:rPr>
              <a:t>u</a:t>
            </a:r>
            <a:r>
              <a:rPr lang="it-IT" dirty="0" smtClean="0">
                <a:cs typeface="+mn-cs"/>
              </a:rPr>
              <a:t> è un vertice raggiungibile da </a:t>
            </a:r>
            <a:r>
              <a:rPr lang="it-IT" dirty="0" err="1" smtClean="0">
                <a:solidFill>
                  <a:srgbClr val="FF0000"/>
                </a:solidFill>
                <a:cs typeface="+mn-cs"/>
              </a:rPr>
              <a:t>s</a:t>
            </a:r>
            <a:r>
              <a:rPr lang="it-IT" dirty="0" smtClean="0">
                <a:solidFill>
                  <a:srgbClr val="FF0000"/>
                </a:solidFill>
                <a:cs typeface="+mn-cs"/>
              </a:rPr>
              <a:t> </a:t>
            </a:r>
            <a:r>
              <a:rPr lang="it-IT" dirty="0" smtClean="0">
                <a:cs typeface="+mn-cs"/>
              </a:rPr>
              <a:t>con un cammino </a:t>
            </a:r>
            <a:r>
              <a:rPr lang="it-IT" dirty="0" err="1" smtClean="0">
                <a:solidFill>
                  <a:srgbClr val="FF0000"/>
                </a:solidFill>
                <a:cs typeface="+mn-cs"/>
              </a:rPr>
              <a:t>p</a:t>
            </a:r>
            <a:r>
              <a:rPr lang="it-IT" dirty="0" smtClean="0">
                <a:solidFill>
                  <a:srgbClr val="FF0000"/>
                </a:solidFill>
                <a:cs typeface="+mn-cs"/>
              </a:rPr>
              <a:t> </a:t>
            </a:r>
            <a:r>
              <a:rPr lang="it-IT" dirty="0" smtClean="0">
                <a:cs typeface="+mn-cs"/>
              </a:rPr>
              <a:t>passante per un vertice </a:t>
            </a:r>
            <a:r>
              <a:rPr lang="it-IT" dirty="0" smtClean="0">
                <a:solidFill>
                  <a:srgbClr val="FF0000"/>
                </a:solidFill>
                <a:cs typeface="+mn-cs"/>
              </a:rPr>
              <a:t>v</a:t>
            </a:r>
            <a:r>
              <a:rPr lang="it-IT" dirty="0" smtClean="0">
                <a:cs typeface="+mn-cs"/>
              </a:rPr>
              <a:t> di un ciclo negativo allora esistono cammini da </a:t>
            </a:r>
            <a:r>
              <a:rPr lang="it-IT" dirty="0" err="1" smtClean="0">
                <a:solidFill>
                  <a:srgbClr val="FF0000"/>
                </a:solidFill>
                <a:cs typeface="+mn-cs"/>
              </a:rPr>
              <a:t>s</a:t>
            </a:r>
            <a:r>
              <a:rPr lang="it-IT" dirty="0" smtClean="0">
                <a:solidFill>
                  <a:srgbClr val="FF0000"/>
                </a:solidFill>
                <a:cs typeface="+mn-cs"/>
              </a:rPr>
              <a:t> </a:t>
            </a:r>
            <a:r>
              <a:rPr lang="it-IT" dirty="0" smtClean="0">
                <a:cs typeface="+mn-cs"/>
              </a:rPr>
              <a:t>a </a:t>
            </a:r>
            <a:r>
              <a:rPr lang="it-IT" dirty="0" smtClean="0">
                <a:solidFill>
                  <a:srgbClr val="FF0000"/>
                </a:solidFill>
                <a:cs typeface="+mn-cs"/>
              </a:rPr>
              <a:t>u</a:t>
            </a:r>
            <a:r>
              <a:rPr lang="it-IT" dirty="0" smtClean="0">
                <a:cs typeface="+mn-cs"/>
              </a:rPr>
              <a:t> di costi sempre minori e il costo di cammino minimo </a:t>
            </a:r>
            <a:r>
              <a:rPr lang="it-IT" dirty="0" smtClean="0">
                <a:solidFill>
                  <a:srgbClr val="FF0000"/>
                </a:solidFill>
                <a:cs typeface="+mn-cs"/>
                <a:sym typeface="Symbol" charset="0"/>
              </a:rPr>
              <a:t></a:t>
            </a:r>
            <a:r>
              <a:rPr lang="it-IT" dirty="0" smtClean="0">
                <a:solidFill>
                  <a:srgbClr val="FF0000"/>
                </a:solidFill>
                <a:cs typeface="+mn-cs"/>
              </a:rPr>
              <a:t>(</a:t>
            </a:r>
            <a:r>
              <a:rPr lang="it-IT" dirty="0" err="1" smtClean="0">
                <a:solidFill>
                  <a:srgbClr val="FF0000"/>
                </a:solidFill>
                <a:cs typeface="+mn-cs"/>
              </a:rPr>
              <a:t>s,u</a:t>
            </a:r>
            <a:r>
              <a:rPr lang="it-IT" dirty="0" smtClean="0">
                <a:solidFill>
                  <a:srgbClr val="FF0000"/>
                </a:solidFill>
                <a:cs typeface="+mn-cs"/>
              </a:rPr>
              <a:t>) </a:t>
            </a:r>
            <a:r>
              <a:rPr lang="it-IT" dirty="0" smtClean="0">
                <a:cs typeface="+mn-cs"/>
              </a:rPr>
              <a:t>non è definito</a:t>
            </a:r>
          </a:p>
          <a:p>
            <a:pPr eaLnBrk="1" hangingPunct="1">
              <a:defRPr/>
            </a:pPr>
            <a:r>
              <a:rPr lang="it-IT" dirty="0" smtClean="0">
                <a:cs typeface="+mn-cs"/>
              </a:rPr>
              <a:t>In questo caso poniamo </a:t>
            </a:r>
            <a:r>
              <a:rPr lang="it-IT" dirty="0" smtClean="0">
                <a:solidFill>
                  <a:srgbClr val="FF0000"/>
                </a:solidFill>
                <a:cs typeface="+mn-cs"/>
                <a:sym typeface="Symbol" charset="0"/>
              </a:rPr>
              <a:t></a:t>
            </a:r>
            <a:r>
              <a:rPr lang="it-IT" dirty="0" smtClean="0">
                <a:solidFill>
                  <a:srgbClr val="FF0000"/>
                </a:solidFill>
                <a:cs typeface="+mn-cs"/>
              </a:rPr>
              <a:t>(</a:t>
            </a:r>
            <a:r>
              <a:rPr lang="it-IT" dirty="0" err="1" smtClean="0">
                <a:solidFill>
                  <a:srgbClr val="FF0000"/>
                </a:solidFill>
                <a:cs typeface="+mn-cs"/>
              </a:rPr>
              <a:t>s,u</a:t>
            </a:r>
            <a:r>
              <a:rPr lang="it-IT" dirty="0" smtClean="0">
                <a:solidFill>
                  <a:srgbClr val="FF0000"/>
                </a:solidFill>
                <a:cs typeface="+mn-cs"/>
              </a:rPr>
              <a:t>) = -</a:t>
            </a:r>
            <a:r>
              <a:rPr lang="it-IT" dirty="0" smtClean="0">
                <a:solidFill>
                  <a:srgbClr val="FF0000"/>
                </a:solidFill>
                <a:cs typeface="+mn-cs"/>
                <a:sym typeface="Symbol" charset="0"/>
              </a:rPr>
              <a:t></a:t>
            </a:r>
            <a:endParaRPr lang="it-IT" dirty="0" smtClean="0"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7" name="Rectangle 39"/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it-IT">
                <a:latin typeface="Arial" charset="0"/>
                <a:ea typeface="ＭＳ Ｐゴシック" charset="0"/>
              </a:rPr>
              <a:t>Cicli di costo negativo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55576" y="1700808"/>
            <a:ext cx="7384716" cy="3208422"/>
            <a:chOff x="323528" y="1196752"/>
            <a:chExt cx="7384716" cy="3208422"/>
          </a:xfrm>
        </p:grpSpPr>
        <p:sp>
          <p:nvSpPr>
            <p:cNvPr id="17410" name="Oval 3"/>
            <p:cNvSpPr>
              <a:spLocks noChangeArrowheads="1"/>
            </p:cNvSpPr>
            <p:nvPr/>
          </p:nvSpPr>
          <p:spPr bwMode="auto">
            <a:xfrm>
              <a:off x="1739280" y="2696344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000" b="1">
                  <a:latin typeface="Times New Roman" charset="0"/>
                  <a:sym typeface="Symbol" charset="0"/>
                </a:rPr>
                <a:t>5</a:t>
              </a:r>
              <a:endParaRPr lang="it-IT" sz="2000" b="1">
                <a:latin typeface="Times New Roman" charset="0"/>
              </a:endParaRPr>
            </a:p>
          </p:txBody>
        </p:sp>
        <p:sp>
          <p:nvSpPr>
            <p:cNvPr id="17411" name="Text Box 4"/>
            <p:cNvSpPr txBox="1">
              <a:spLocks noChangeArrowheads="1"/>
            </p:cNvSpPr>
            <p:nvPr/>
          </p:nvSpPr>
          <p:spPr bwMode="auto">
            <a:xfrm>
              <a:off x="323528" y="2564904"/>
              <a:ext cx="28447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err="1">
                  <a:latin typeface="Times New Roman" charset="0"/>
                </a:rPr>
                <a:t>s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17412" name="Oval 5"/>
            <p:cNvSpPr>
              <a:spLocks noChangeArrowheads="1"/>
            </p:cNvSpPr>
            <p:nvPr/>
          </p:nvSpPr>
          <p:spPr bwMode="auto">
            <a:xfrm>
              <a:off x="1739280" y="1629544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000" b="1">
                  <a:latin typeface="Times New Roman" charset="0"/>
                  <a:sym typeface="Symbol" charset="0"/>
                </a:rPr>
                <a:t>3</a:t>
              </a:r>
              <a:endParaRPr lang="it-IT" sz="2000" b="1">
                <a:latin typeface="Times New Roman" charset="0"/>
              </a:endParaRPr>
            </a:p>
          </p:txBody>
        </p:sp>
        <p:sp>
          <p:nvSpPr>
            <p:cNvPr id="17413" name="Oval 6"/>
            <p:cNvSpPr>
              <a:spLocks noChangeArrowheads="1"/>
            </p:cNvSpPr>
            <p:nvPr/>
          </p:nvSpPr>
          <p:spPr bwMode="auto">
            <a:xfrm>
              <a:off x="6985992" y="2602632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000" b="1">
                  <a:latin typeface="Times New Roman" charset="0"/>
                  <a:sym typeface="Symbol" charset="0"/>
                </a:rPr>
                <a:t></a:t>
              </a:r>
              <a:endParaRPr lang="it-IT" sz="2000" b="1">
                <a:latin typeface="Times New Roman" charset="0"/>
              </a:endParaRPr>
            </a:p>
          </p:txBody>
        </p:sp>
        <p:sp>
          <p:nvSpPr>
            <p:cNvPr id="17414" name="Oval 7"/>
            <p:cNvSpPr>
              <a:spLocks noChangeArrowheads="1"/>
            </p:cNvSpPr>
            <p:nvPr/>
          </p:nvSpPr>
          <p:spPr bwMode="auto">
            <a:xfrm>
              <a:off x="5919192" y="3669432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000" b="1">
                  <a:latin typeface="Times New Roman" charset="0"/>
                  <a:sym typeface="Symbol" charset="0"/>
                </a:rPr>
                <a:t></a:t>
              </a:r>
              <a:endParaRPr lang="it-IT" sz="2000" b="1">
                <a:latin typeface="Times New Roman" charset="0"/>
              </a:endParaRPr>
            </a:p>
          </p:txBody>
        </p:sp>
        <p:sp>
          <p:nvSpPr>
            <p:cNvPr id="17415" name="Oval 8"/>
            <p:cNvSpPr>
              <a:spLocks noChangeArrowheads="1"/>
            </p:cNvSpPr>
            <p:nvPr/>
          </p:nvSpPr>
          <p:spPr bwMode="auto">
            <a:xfrm>
              <a:off x="5919192" y="1535832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000" b="1">
                  <a:latin typeface="Times New Roman" charset="0"/>
                  <a:sym typeface="Symbol" charset="0"/>
                </a:rPr>
                <a:t></a:t>
              </a:r>
              <a:endParaRPr lang="it-IT" sz="2000" b="1">
                <a:latin typeface="Times New Roman" charset="0"/>
              </a:endParaRPr>
            </a:p>
          </p:txBody>
        </p:sp>
        <p:sp>
          <p:nvSpPr>
            <p:cNvPr id="17416" name="Oval 9"/>
            <p:cNvSpPr>
              <a:spLocks noChangeArrowheads="1"/>
            </p:cNvSpPr>
            <p:nvPr/>
          </p:nvSpPr>
          <p:spPr bwMode="auto">
            <a:xfrm>
              <a:off x="4101480" y="2696344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000" b="1">
                  <a:latin typeface="Times New Roman" charset="0"/>
                  <a:sym typeface="Symbol" charset="0"/>
                </a:rPr>
                <a:t>-</a:t>
              </a:r>
              <a:endParaRPr lang="it-IT" sz="2000" b="1">
                <a:latin typeface="Times New Roman" charset="0"/>
              </a:endParaRPr>
            </a:p>
          </p:txBody>
        </p:sp>
        <p:sp>
          <p:nvSpPr>
            <p:cNvPr id="17417" name="Oval 10"/>
            <p:cNvSpPr>
              <a:spLocks noChangeArrowheads="1"/>
            </p:cNvSpPr>
            <p:nvPr/>
          </p:nvSpPr>
          <p:spPr bwMode="auto">
            <a:xfrm>
              <a:off x="3034680" y="3763144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000" b="1">
                  <a:latin typeface="Times New Roman" charset="0"/>
                  <a:sym typeface="Symbol" charset="0"/>
                </a:rPr>
                <a:t>-</a:t>
              </a:r>
              <a:endParaRPr lang="it-IT" sz="2000" b="1">
                <a:latin typeface="Times New Roman" charset="0"/>
              </a:endParaRPr>
            </a:p>
          </p:txBody>
        </p:sp>
        <p:sp>
          <p:nvSpPr>
            <p:cNvPr id="17418" name="Oval 11"/>
            <p:cNvSpPr>
              <a:spLocks noChangeArrowheads="1"/>
            </p:cNvSpPr>
            <p:nvPr/>
          </p:nvSpPr>
          <p:spPr bwMode="auto">
            <a:xfrm>
              <a:off x="3034680" y="2696344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000" b="1" dirty="0">
                  <a:latin typeface="Times New Roman" charset="0"/>
                  <a:sym typeface="Symbol" charset="0"/>
                </a:rPr>
                <a:t>11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17419" name="Oval 12"/>
            <p:cNvSpPr>
              <a:spLocks noChangeArrowheads="1"/>
            </p:cNvSpPr>
            <p:nvPr/>
          </p:nvSpPr>
          <p:spPr bwMode="auto">
            <a:xfrm>
              <a:off x="3034680" y="1629544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000" b="1">
                  <a:latin typeface="Times New Roman" charset="0"/>
                  <a:sym typeface="Symbol" charset="0"/>
                </a:rPr>
                <a:t>-1</a:t>
              </a:r>
              <a:endParaRPr lang="it-IT" sz="2000" b="1">
                <a:latin typeface="Times New Roman" charset="0"/>
              </a:endParaRPr>
            </a:p>
          </p:txBody>
        </p:sp>
        <p:sp>
          <p:nvSpPr>
            <p:cNvPr id="17420" name="Oval 13"/>
            <p:cNvSpPr>
              <a:spLocks noChangeArrowheads="1"/>
            </p:cNvSpPr>
            <p:nvPr/>
          </p:nvSpPr>
          <p:spPr bwMode="auto">
            <a:xfrm>
              <a:off x="672480" y="2696344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000" b="1">
                  <a:latin typeface="Times New Roman" charset="0"/>
                  <a:sym typeface="Symbol" charset="0"/>
                </a:rPr>
                <a:t>0</a:t>
              </a:r>
              <a:endParaRPr lang="it-IT" sz="2000" b="1">
                <a:latin typeface="Times New Roman" charset="0"/>
              </a:endParaRPr>
            </a:p>
          </p:txBody>
        </p:sp>
        <p:sp>
          <p:nvSpPr>
            <p:cNvPr id="17421" name="Oval 14"/>
            <p:cNvSpPr>
              <a:spLocks noChangeArrowheads="1"/>
            </p:cNvSpPr>
            <p:nvPr/>
          </p:nvSpPr>
          <p:spPr bwMode="auto">
            <a:xfrm>
              <a:off x="1739280" y="3763144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000" b="1">
                  <a:latin typeface="Times New Roman" charset="0"/>
                  <a:sym typeface="Symbol" charset="0"/>
                </a:rPr>
                <a:t>-</a:t>
              </a:r>
              <a:endParaRPr lang="it-IT" sz="2000" b="1">
                <a:latin typeface="Times New Roman" charset="0"/>
              </a:endParaRPr>
            </a:p>
          </p:txBody>
        </p:sp>
        <p:sp>
          <p:nvSpPr>
            <p:cNvPr id="17422" name="Line 15"/>
            <p:cNvSpPr>
              <a:spLocks noChangeShapeType="1"/>
            </p:cNvSpPr>
            <p:nvPr/>
          </p:nvSpPr>
          <p:spPr bwMode="auto">
            <a:xfrm flipV="1">
              <a:off x="1053480" y="2010544"/>
              <a:ext cx="762000" cy="762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7423" name="Line 16"/>
            <p:cNvSpPr>
              <a:spLocks noChangeShapeType="1"/>
            </p:cNvSpPr>
            <p:nvPr/>
          </p:nvSpPr>
          <p:spPr bwMode="auto">
            <a:xfrm flipV="1">
              <a:off x="1129680" y="2924944"/>
              <a:ext cx="609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7424" name="Line 17"/>
            <p:cNvSpPr>
              <a:spLocks noChangeShapeType="1"/>
            </p:cNvSpPr>
            <p:nvPr/>
          </p:nvSpPr>
          <p:spPr bwMode="auto">
            <a:xfrm>
              <a:off x="1053480" y="3077344"/>
              <a:ext cx="762000" cy="762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7425" name="Line 18"/>
            <p:cNvSpPr>
              <a:spLocks noChangeShapeType="1"/>
            </p:cNvSpPr>
            <p:nvPr/>
          </p:nvSpPr>
          <p:spPr bwMode="auto">
            <a:xfrm flipV="1">
              <a:off x="2196480" y="2848744"/>
              <a:ext cx="838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7426" name="Line 19"/>
            <p:cNvSpPr>
              <a:spLocks noChangeShapeType="1"/>
            </p:cNvSpPr>
            <p:nvPr/>
          </p:nvSpPr>
          <p:spPr bwMode="auto">
            <a:xfrm flipH="1" flipV="1">
              <a:off x="2196480" y="3001144"/>
              <a:ext cx="838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7427" name="Line 20"/>
            <p:cNvSpPr>
              <a:spLocks noChangeShapeType="1"/>
            </p:cNvSpPr>
            <p:nvPr/>
          </p:nvSpPr>
          <p:spPr bwMode="auto">
            <a:xfrm flipV="1">
              <a:off x="2196480" y="3915544"/>
              <a:ext cx="838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7428" name="Line 21"/>
            <p:cNvSpPr>
              <a:spLocks noChangeShapeType="1"/>
            </p:cNvSpPr>
            <p:nvPr/>
          </p:nvSpPr>
          <p:spPr bwMode="auto">
            <a:xfrm flipH="1" flipV="1">
              <a:off x="2196480" y="4067944"/>
              <a:ext cx="838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7429" name="Line 22"/>
            <p:cNvSpPr>
              <a:spLocks noChangeShapeType="1"/>
            </p:cNvSpPr>
            <p:nvPr/>
          </p:nvSpPr>
          <p:spPr bwMode="auto">
            <a:xfrm flipV="1">
              <a:off x="2196480" y="1858144"/>
              <a:ext cx="838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7430" name="Line 23"/>
            <p:cNvSpPr>
              <a:spLocks noChangeShapeType="1"/>
            </p:cNvSpPr>
            <p:nvPr/>
          </p:nvSpPr>
          <p:spPr bwMode="auto">
            <a:xfrm>
              <a:off x="3415680" y="2010544"/>
              <a:ext cx="762000" cy="762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7431" name="Line 24"/>
            <p:cNvSpPr>
              <a:spLocks noChangeShapeType="1"/>
            </p:cNvSpPr>
            <p:nvPr/>
          </p:nvSpPr>
          <p:spPr bwMode="auto">
            <a:xfrm flipV="1">
              <a:off x="3491880" y="2924944"/>
              <a:ext cx="609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7432" name="Line 25"/>
            <p:cNvSpPr>
              <a:spLocks noChangeShapeType="1"/>
            </p:cNvSpPr>
            <p:nvPr/>
          </p:nvSpPr>
          <p:spPr bwMode="auto">
            <a:xfrm flipV="1">
              <a:off x="3415680" y="3077344"/>
              <a:ext cx="762000" cy="762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7433" name="Line 26"/>
            <p:cNvSpPr>
              <a:spLocks noChangeShapeType="1"/>
            </p:cNvSpPr>
            <p:nvPr/>
          </p:nvSpPr>
          <p:spPr bwMode="auto">
            <a:xfrm>
              <a:off x="6300192" y="1916832"/>
              <a:ext cx="762000" cy="762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7434" name="Line 27"/>
            <p:cNvSpPr>
              <a:spLocks noChangeShapeType="1"/>
            </p:cNvSpPr>
            <p:nvPr/>
          </p:nvSpPr>
          <p:spPr bwMode="auto">
            <a:xfrm flipH="1">
              <a:off x="6300192" y="2983632"/>
              <a:ext cx="762000" cy="762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7435" name="Line 28"/>
            <p:cNvSpPr>
              <a:spLocks noChangeShapeType="1"/>
            </p:cNvSpPr>
            <p:nvPr/>
          </p:nvSpPr>
          <p:spPr bwMode="auto">
            <a:xfrm flipV="1">
              <a:off x="6147792" y="1993032"/>
              <a:ext cx="0" cy="1676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7436" name="Text Box 29"/>
            <p:cNvSpPr txBox="1">
              <a:spLocks noChangeArrowheads="1"/>
            </p:cNvSpPr>
            <p:nvPr/>
          </p:nvSpPr>
          <p:spPr bwMode="auto">
            <a:xfrm>
              <a:off x="5690592" y="2602632"/>
              <a:ext cx="39831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>
                  <a:latin typeface="Times New Roman" charset="0"/>
                </a:rPr>
                <a:t>-8</a:t>
              </a:r>
            </a:p>
          </p:txBody>
        </p:sp>
        <p:sp>
          <p:nvSpPr>
            <p:cNvPr id="17437" name="Text Box 30"/>
            <p:cNvSpPr txBox="1">
              <a:spLocks noChangeArrowheads="1"/>
            </p:cNvSpPr>
            <p:nvPr/>
          </p:nvSpPr>
          <p:spPr bwMode="auto">
            <a:xfrm>
              <a:off x="6604992" y="3212232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>
                  <a:latin typeface="Times New Roman" charset="0"/>
                </a:rPr>
                <a:t>3</a:t>
              </a:r>
            </a:p>
          </p:txBody>
        </p:sp>
        <p:sp>
          <p:nvSpPr>
            <p:cNvPr id="17438" name="Text Box 31"/>
            <p:cNvSpPr txBox="1">
              <a:spLocks noChangeArrowheads="1"/>
            </p:cNvSpPr>
            <p:nvPr/>
          </p:nvSpPr>
          <p:spPr bwMode="auto">
            <a:xfrm>
              <a:off x="6604992" y="1840632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>
                  <a:latin typeface="Times New Roman" charset="0"/>
                </a:rPr>
                <a:t>2</a:t>
              </a:r>
            </a:p>
          </p:txBody>
        </p:sp>
        <p:sp>
          <p:nvSpPr>
            <p:cNvPr id="17439" name="Text Box 32"/>
            <p:cNvSpPr txBox="1">
              <a:spLocks noChangeArrowheads="1"/>
            </p:cNvSpPr>
            <p:nvPr/>
          </p:nvSpPr>
          <p:spPr bwMode="auto">
            <a:xfrm>
              <a:off x="2425080" y="3991744"/>
              <a:ext cx="39831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>
                  <a:latin typeface="Times New Roman" charset="0"/>
                </a:rPr>
                <a:t>-6</a:t>
              </a:r>
            </a:p>
          </p:txBody>
        </p:sp>
        <p:sp>
          <p:nvSpPr>
            <p:cNvPr id="17440" name="Text Box 33"/>
            <p:cNvSpPr txBox="1">
              <a:spLocks noChangeArrowheads="1"/>
            </p:cNvSpPr>
            <p:nvPr/>
          </p:nvSpPr>
          <p:spPr bwMode="auto">
            <a:xfrm>
              <a:off x="2425080" y="3458344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>
                  <a:latin typeface="Times New Roman" charset="0"/>
                </a:rPr>
                <a:t>3</a:t>
              </a:r>
            </a:p>
          </p:txBody>
        </p:sp>
        <p:sp>
          <p:nvSpPr>
            <p:cNvPr id="17441" name="Text Box 34"/>
            <p:cNvSpPr txBox="1">
              <a:spLocks noChangeArrowheads="1"/>
            </p:cNvSpPr>
            <p:nvPr/>
          </p:nvSpPr>
          <p:spPr bwMode="auto">
            <a:xfrm>
              <a:off x="2425080" y="2924944"/>
              <a:ext cx="39831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>
                  <a:latin typeface="Times New Roman" charset="0"/>
                </a:rPr>
                <a:t>-3</a:t>
              </a:r>
            </a:p>
          </p:txBody>
        </p:sp>
        <p:sp>
          <p:nvSpPr>
            <p:cNvPr id="17442" name="Text Box 35"/>
            <p:cNvSpPr txBox="1">
              <a:spLocks noChangeArrowheads="1"/>
            </p:cNvSpPr>
            <p:nvPr/>
          </p:nvSpPr>
          <p:spPr bwMode="auto">
            <a:xfrm>
              <a:off x="2425080" y="2391544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>
                  <a:latin typeface="Times New Roman" charset="0"/>
                </a:rPr>
                <a:t>6</a:t>
              </a:r>
            </a:p>
          </p:txBody>
        </p:sp>
        <p:sp>
          <p:nvSpPr>
            <p:cNvPr id="17443" name="Text Box 36"/>
            <p:cNvSpPr txBox="1">
              <a:spLocks noChangeArrowheads="1"/>
            </p:cNvSpPr>
            <p:nvPr/>
          </p:nvSpPr>
          <p:spPr bwMode="auto">
            <a:xfrm>
              <a:off x="2425080" y="1400944"/>
              <a:ext cx="39831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>
                  <a:latin typeface="Times New Roman" charset="0"/>
                </a:rPr>
                <a:t>-4</a:t>
              </a:r>
            </a:p>
          </p:txBody>
        </p:sp>
        <p:sp>
          <p:nvSpPr>
            <p:cNvPr id="17444" name="Text Box 37"/>
            <p:cNvSpPr txBox="1">
              <a:spLocks noChangeArrowheads="1"/>
            </p:cNvSpPr>
            <p:nvPr/>
          </p:nvSpPr>
          <p:spPr bwMode="auto">
            <a:xfrm>
              <a:off x="1129680" y="3305944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>
                  <a:latin typeface="Times New Roman" charset="0"/>
                </a:rPr>
                <a:t>2</a:t>
              </a:r>
            </a:p>
          </p:txBody>
        </p:sp>
        <p:sp>
          <p:nvSpPr>
            <p:cNvPr id="17445" name="Text Box 38"/>
            <p:cNvSpPr txBox="1">
              <a:spLocks noChangeArrowheads="1"/>
            </p:cNvSpPr>
            <p:nvPr/>
          </p:nvSpPr>
          <p:spPr bwMode="auto">
            <a:xfrm>
              <a:off x="1282080" y="2467744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>
                  <a:latin typeface="Times New Roman" charset="0"/>
                </a:rPr>
                <a:t>5</a:t>
              </a:r>
            </a:p>
          </p:txBody>
        </p:sp>
        <p:sp>
          <p:nvSpPr>
            <p:cNvPr id="17446" name="Text Box 39"/>
            <p:cNvSpPr txBox="1">
              <a:spLocks noChangeArrowheads="1"/>
            </p:cNvSpPr>
            <p:nvPr/>
          </p:nvSpPr>
          <p:spPr bwMode="auto">
            <a:xfrm>
              <a:off x="1129680" y="2010544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>
                  <a:latin typeface="Times New Roman" charset="0"/>
                </a:rPr>
                <a:t>3</a:t>
              </a:r>
            </a:p>
          </p:txBody>
        </p:sp>
        <p:sp>
          <p:nvSpPr>
            <p:cNvPr id="42" name="Text Box 4"/>
            <p:cNvSpPr txBox="1">
              <a:spLocks noChangeArrowheads="1"/>
            </p:cNvSpPr>
            <p:nvPr/>
          </p:nvSpPr>
          <p:spPr bwMode="auto">
            <a:xfrm>
              <a:off x="1403648" y="1196752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err="1">
                  <a:latin typeface="Times New Roman" charset="0"/>
                </a:rPr>
                <a:t>a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419872" y="1196752"/>
              <a:ext cx="32730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err="1">
                  <a:latin typeface="Times New Roman" charset="0"/>
                </a:rPr>
                <a:t>b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44" name="Text Box 4"/>
            <p:cNvSpPr txBox="1">
              <a:spLocks noChangeArrowheads="1"/>
            </p:cNvSpPr>
            <p:nvPr/>
          </p:nvSpPr>
          <p:spPr bwMode="auto">
            <a:xfrm>
              <a:off x="1835696" y="2132856"/>
              <a:ext cx="29850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err="1">
                  <a:latin typeface="Times New Roman" charset="0"/>
                </a:rPr>
                <a:t>c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45" name="Text Box 4"/>
            <p:cNvSpPr txBox="1">
              <a:spLocks noChangeArrowheads="1"/>
            </p:cNvSpPr>
            <p:nvPr/>
          </p:nvSpPr>
          <p:spPr bwMode="auto">
            <a:xfrm>
              <a:off x="3131840" y="2132856"/>
              <a:ext cx="32730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err="1">
                  <a:latin typeface="Times New Roman" charset="0"/>
                </a:rPr>
                <a:t>d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46" name="Text Box 4"/>
            <p:cNvSpPr txBox="1">
              <a:spLocks noChangeArrowheads="1"/>
            </p:cNvSpPr>
            <p:nvPr/>
          </p:nvSpPr>
          <p:spPr bwMode="auto">
            <a:xfrm>
              <a:off x="1403648" y="4005064"/>
              <a:ext cx="30008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err="1">
                  <a:latin typeface="Times New Roman" charset="0"/>
                </a:rPr>
                <a:t>e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47" name="Text Box 4"/>
            <p:cNvSpPr txBox="1">
              <a:spLocks noChangeArrowheads="1"/>
            </p:cNvSpPr>
            <p:nvPr/>
          </p:nvSpPr>
          <p:spPr bwMode="auto">
            <a:xfrm>
              <a:off x="3419872" y="4005064"/>
              <a:ext cx="30008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err="1">
                  <a:latin typeface="Times New Roman" charset="0"/>
                </a:rPr>
                <a:t>f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48" name="Text Box 4"/>
            <p:cNvSpPr txBox="1">
              <a:spLocks noChangeArrowheads="1"/>
            </p:cNvSpPr>
            <p:nvPr/>
          </p:nvSpPr>
          <p:spPr bwMode="auto">
            <a:xfrm>
              <a:off x="4572000" y="2564904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err="1">
                  <a:latin typeface="Times New Roman" charset="0"/>
                </a:rPr>
                <a:t>g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49" name="Text Box 4"/>
            <p:cNvSpPr txBox="1">
              <a:spLocks noChangeArrowheads="1"/>
            </p:cNvSpPr>
            <p:nvPr/>
          </p:nvSpPr>
          <p:spPr bwMode="auto">
            <a:xfrm>
              <a:off x="5652120" y="1196752"/>
              <a:ext cx="32730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err="1">
                  <a:latin typeface="Times New Roman" charset="0"/>
                </a:rPr>
                <a:t>h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50" name="Text Box 4"/>
            <p:cNvSpPr txBox="1">
              <a:spLocks noChangeArrowheads="1"/>
            </p:cNvSpPr>
            <p:nvPr/>
          </p:nvSpPr>
          <p:spPr bwMode="auto">
            <a:xfrm>
              <a:off x="5652120" y="3789040"/>
              <a:ext cx="27007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err="1">
                  <a:latin typeface="Times New Roman" charset="0"/>
                </a:rPr>
                <a:t>j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51" name="Text Box 4"/>
            <p:cNvSpPr txBox="1">
              <a:spLocks noChangeArrowheads="1"/>
            </p:cNvSpPr>
            <p:nvPr/>
          </p:nvSpPr>
          <p:spPr bwMode="auto">
            <a:xfrm>
              <a:off x="7452320" y="2564904"/>
              <a:ext cx="25592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err="1">
                  <a:latin typeface="Times New Roman" charset="0"/>
                </a:rPr>
                <a:t>i</a:t>
              </a:r>
              <a:endParaRPr lang="it-IT" sz="2000" b="1" dirty="0">
                <a:latin typeface="Times New Roman" charset="0"/>
              </a:endParaRPr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5"/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it-IT">
                <a:latin typeface="Arial" charset="0"/>
                <a:ea typeface="ＭＳ Ｐゴシック" charset="0"/>
              </a:rPr>
              <a:t>Sottostruttura ottima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it-IT" dirty="0">
                <a:latin typeface="Comic Sans MS" charset="0"/>
                <a:ea typeface="ＭＳ Ｐゴシック" charset="0"/>
              </a:rPr>
              <a:t>FATTO</a:t>
            </a:r>
          </a:p>
          <a:p>
            <a:pPr marL="457200" lvl="1" indent="0">
              <a:buNone/>
            </a:pPr>
            <a:r>
              <a:rPr lang="it-IT" dirty="0">
                <a:solidFill>
                  <a:schemeClr val="tx1"/>
                </a:solidFill>
                <a:latin typeface="Comic Sans MS" charset="0"/>
                <a:ea typeface="ＭＳ Ｐゴシック" charset="0"/>
              </a:rPr>
              <a:t>Se il cammino </a:t>
            </a:r>
            <a:r>
              <a:rPr lang="it-IT" dirty="0" err="1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p</a:t>
            </a:r>
            <a:r>
              <a:rPr lang="it-IT" dirty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 = (v</a:t>
            </a:r>
            <a:r>
              <a:rPr lang="it-IT" baseline="-25000" dirty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0</a:t>
            </a:r>
            <a:r>
              <a:rPr lang="it-IT" dirty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,v</a:t>
            </a:r>
            <a:r>
              <a:rPr lang="it-IT" baseline="-25000" dirty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1</a:t>
            </a:r>
            <a:r>
              <a:rPr lang="it-IT" dirty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,...,</a:t>
            </a:r>
            <a:r>
              <a:rPr lang="it-IT" dirty="0" err="1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v</a:t>
            </a:r>
            <a:r>
              <a:rPr lang="it-IT" baseline="-25000" dirty="0" err="1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k</a:t>
            </a:r>
            <a:r>
              <a:rPr lang="it-IT" dirty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) </a:t>
            </a:r>
            <a:r>
              <a:rPr lang="it-IT" dirty="0">
                <a:solidFill>
                  <a:schemeClr val="tx1"/>
                </a:solidFill>
                <a:latin typeface="Comic Sans MS" charset="0"/>
                <a:ea typeface="ＭＳ Ｐゴシック" charset="0"/>
              </a:rPr>
              <a:t>è minimo allora sono minimi anche tutti i </a:t>
            </a:r>
            <a:r>
              <a:rPr lang="it-IT" dirty="0" err="1">
                <a:solidFill>
                  <a:schemeClr val="tx1"/>
                </a:solidFill>
                <a:latin typeface="Comic Sans MS" charset="0"/>
                <a:ea typeface="ＭＳ Ｐゴシック" charset="0"/>
              </a:rPr>
              <a:t>sottocammini</a:t>
            </a:r>
            <a:r>
              <a:rPr lang="it-IT" dirty="0">
                <a:solidFill>
                  <a:schemeClr val="tx1"/>
                </a:solidFill>
                <a:latin typeface="Comic Sans MS" charset="0"/>
                <a:ea typeface="ＭＳ Ｐゴシック" charset="0"/>
              </a:rPr>
              <a:t> </a:t>
            </a:r>
            <a:r>
              <a:rPr lang="it-IT" dirty="0" err="1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p</a:t>
            </a:r>
            <a:r>
              <a:rPr lang="it-IT" baseline="-25000" dirty="0" err="1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ij</a:t>
            </a:r>
            <a:r>
              <a:rPr lang="it-IT" dirty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 = (v</a:t>
            </a:r>
            <a:r>
              <a:rPr lang="it-IT" baseline="-25000" dirty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i</a:t>
            </a:r>
            <a:r>
              <a:rPr lang="it-IT" dirty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,...,</a:t>
            </a:r>
            <a:r>
              <a:rPr lang="it-IT" dirty="0" err="1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v</a:t>
            </a:r>
            <a:r>
              <a:rPr lang="it-IT" baseline="-25000" dirty="0" err="1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j</a:t>
            </a:r>
            <a:r>
              <a:rPr lang="it-IT" dirty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) </a:t>
            </a:r>
            <a:r>
              <a:rPr lang="it-IT" dirty="0">
                <a:solidFill>
                  <a:schemeClr val="tx1"/>
                </a:solidFill>
                <a:latin typeface="Comic Sans MS" charset="0"/>
                <a:ea typeface="ＭＳ Ｐゴシック" charset="0"/>
              </a:rPr>
              <a:t>per </a:t>
            </a:r>
            <a:r>
              <a:rPr lang="it-IT" dirty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0≤i&lt;</a:t>
            </a:r>
            <a:r>
              <a:rPr lang="it-IT" dirty="0" err="1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j≤</a:t>
            </a:r>
            <a:r>
              <a:rPr lang="it-IT" dirty="0" err="1" smtClean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k</a:t>
            </a:r>
            <a:endParaRPr lang="it-IT" dirty="0">
              <a:solidFill>
                <a:srgbClr val="FF0000"/>
              </a:solidFill>
              <a:latin typeface="Comic Sans MS" charset="0"/>
              <a:ea typeface="ＭＳ Ｐゴシック" charset="0"/>
            </a:endParaRPr>
          </a:p>
          <a:p>
            <a:r>
              <a:rPr lang="it-IT" dirty="0">
                <a:latin typeface="Comic Sans MS" charset="0"/>
                <a:ea typeface="ＭＳ Ｐゴシック" charset="0"/>
              </a:rPr>
              <a:t>DIMOSTRAZIONE</a:t>
            </a:r>
          </a:p>
          <a:p>
            <a:pPr marL="457200" lvl="1" indent="0">
              <a:buNone/>
            </a:pPr>
            <a:r>
              <a:rPr lang="it-IT" dirty="0">
                <a:solidFill>
                  <a:srgbClr val="000000"/>
                </a:solidFill>
                <a:latin typeface="Comic Sans MS" charset="0"/>
                <a:ea typeface="ＭＳ Ｐゴシック" charset="0"/>
              </a:rPr>
              <a:t>Se esistesse un cammino </a:t>
            </a:r>
            <a:r>
              <a:rPr lang="it-IT" dirty="0" err="1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q</a:t>
            </a:r>
            <a:r>
              <a:rPr lang="it-IT" dirty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 </a:t>
            </a:r>
            <a:r>
              <a:rPr lang="it-IT" dirty="0">
                <a:solidFill>
                  <a:srgbClr val="000000"/>
                </a:solidFill>
                <a:latin typeface="Comic Sans MS" charset="0"/>
                <a:ea typeface="ＭＳ Ｐゴシック" charset="0"/>
              </a:rPr>
              <a:t>da </a:t>
            </a:r>
            <a:r>
              <a:rPr lang="it-IT" dirty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v</a:t>
            </a:r>
            <a:r>
              <a:rPr lang="it-IT" baseline="-25000" dirty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i</a:t>
            </a:r>
            <a:r>
              <a:rPr lang="it-IT" dirty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 </a:t>
            </a:r>
            <a:r>
              <a:rPr lang="it-IT" dirty="0">
                <a:solidFill>
                  <a:srgbClr val="000000"/>
                </a:solidFill>
                <a:latin typeface="Comic Sans MS" charset="0"/>
                <a:ea typeface="ＭＳ Ｐゴシック" charset="0"/>
              </a:rPr>
              <a:t>a </a:t>
            </a:r>
            <a:r>
              <a:rPr lang="it-IT" dirty="0" err="1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v</a:t>
            </a:r>
            <a:r>
              <a:rPr lang="it-IT" baseline="-25000" dirty="0" err="1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j</a:t>
            </a:r>
            <a:r>
              <a:rPr lang="it-IT" dirty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 </a:t>
            </a:r>
            <a:r>
              <a:rPr lang="it-IT" dirty="0">
                <a:solidFill>
                  <a:srgbClr val="000000"/>
                </a:solidFill>
                <a:latin typeface="Comic Sans MS" charset="0"/>
                <a:ea typeface="ＭＳ Ｐゴシック" charset="0"/>
              </a:rPr>
              <a:t>di costo minore di </a:t>
            </a:r>
            <a:r>
              <a:rPr lang="it-IT" dirty="0" err="1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p</a:t>
            </a:r>
            <a:r>
              <a:rPr lang="it-IT" baseline="-25000" dirty="0" err="1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ij</a:t>
            </a:r>
            <a:r>
              <a:rPr lang="it-IT" dirty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 </a:t>
            </a:r>
            <a:r>
              <a:rPr lang="it-IT" dirty="0">
                <a:solidFill>
                  <a:srgbClr val="000000"/>
                </a:solidFill>
                <a:latin typeface="Comic Sans MS" charset="0"/>
                <a:ea typeface="ＭＳ Ｐゴシック" charset="0"/>
              </a:rPr>
              <a:t>allora sostituendo nel cammino </a:t>
            </a:r>
            <a:r>
              <a:rPr lang="it-IT" dirty="0" err="1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p</a:t>
            </a:r>
            <a:r>
              <a:rPr lang="it-IT" dirty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 </a:t>
            </a:r>
            <a:r>
              <a:rPr lang="it-IT" dirty="0">
                <a:solidFill>
                  <a:srgbClr val="000000"/>
                </a:solidFill>
                <a:latin typeface="Comic Sans MS" charset="0"/>
                <a:ea typeface="ＭＳ Ｐゴシック" charset="0"/>
              </a:rPr>
              <a:t>il </a:t>
            </a:r>
            <a:r>
              <a:rPr lang="it-IT" dirty="0" err="1">
                <a:solidFill>
                  <a:srgbClr val="000000"/>
                </a:solidFill>
                <a:latin typeface="Comic Sans MS" charset="0"/>
                <a:ea typeface="ＭＳ Ｐゴシック" charset="0"/>
              </a:rPr>
              <a:t>sottocammino</a:t>
            </a:r>
            <a:r>
              <a:rPr lang="it-IT" dirty="0">
                <a:solidFill>
                  <a:srgbClr val="000000"/>
                </a:solidFill>
                <a:latin typeface="Comic Sans MS" charset="0"/>
                <a:ea typeface="ＭＳ Ｐゴシック" charset="0"/>
              </a:rPr>
              <a:t> </a:t>
            </a:r>
            <a:r>
              <a:rPr lang="it-IT" dirty="0" err="1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p</a:t>
            </a:r>
            <a:r>
              <a:rPr lang="it-IT" baseline="-25000" dirty="0" err="1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ij</a:t>
            </a:r>
            <a:r>
              <a:rPr lang="it-IT" dirty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 </a:t>
            </a:r>
            <a:r>
              <a:rPr lang="it-IT" dirty="0">
                <a:solidFill>
                  <a:srgbClr val="000000"/>
                </a:solidFill>
                <a:latin typeface="Comic Sans MS" charset="0"/>
                <a:ea typeface="ＭＳ Ｐゴシック" charset="0"/>
              </a:rPr>
              <a:t>con il cammino </a:t>
            </a:r>
            <a:r>
              <a:rPr lang="it-IT" dirty="0" err="1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q</a:t>
            </a:r>
            <a:r>
              <a:rPr lang="it-IT" dirty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 </a:t>
            </a:r>
            <a:r>
              <a:rPr lang="it-IT" dirty="0">
                <a:solidFill>
                  <a:srgbClr val="000000"/>
                </a:solidFill>
                <a:latin typeface="Comic Sans MS" charset="0"/>
                <a:ea typeface="ＭＳ Ｐゴシック" charset="0"/>
              </a:rPr>
              <a:t>si otterrebbe un cammino da </a:t>
            </a:r>
            <a:r>
              <a:rPr lang="it-IT" dirty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v</a:t>
            </a:r>
            <a:r>
              <a:rPr lang="it-IT" baseline="-25000" dirty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0</a:t>
            </a:r>
            <a:r>
              <a:rPr lang="it-IT" dirty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 </a:t>
            </a:r>
            <a:r>
              <a:rPr lang="it-IT" dirty="0">
                <a:solidFill>
                  <a:srgbClr val="000000"/>
                </a:solidFill>
                <a:latin typeface="Comic Sans MS" charset="0"/>
                <a:ea typeface="ＭＳ Ｐゴシック" charset="0"/>
              </a:rPr>
              <a:t>a </a:t>
            </a:r>
            <a:r>
              <a:rPr lang="it-IT" dirty="0" err="1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v</a:t>
            </a:r>
            <a:r>
              <a:rPr lang="it-IT" baseline="-25000" dirty="0" err="1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k</a:t>
            </a:r>
            <a:r>
              <a:rPr lang="it-IT" dirty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 </a:t>
            </a:r>
            <a:r>
              <a:rPr lang="it-IT" dirty="0">
                <a:solidFill>
                  <a:srgbClr val="000000"/>
                </a:solidFill>
                <a:latin typeface="Comic Sans MS" charset="0"/>
                <a:ea typeface="ＭＳ Ｐゴシック" charset="0"/>
              </a:rPr>
              <a:t>di costo minore di </a:t>
            </a:r>
            <a:r>
              <a:rPr lang="it-IT" dirty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p</a:t>
            </a:r>
            <a:r>
              <a:rPr lang="it-IT" dirty="0">
                <a:solidFill>
                  <a:srgbClr val="000000"/>
                </a:solidFill>
                <a:latin typeface="Comic Sans MS" charset="0"/>
                <a:ea typeface="ＭＳ Ｐゴシック" charset="0"/>
              </a:rPr>
              <a:t>. Impossibile se </a:t>
            </a:r>
            <a:r>
              <a:rPr lang="it-IT" dirty="0" err="1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p</a:t>
            </a:r>
            <a:r>
              <a:rPr lang="it-IT" dirty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 </a:t>
            </a:r>
            <a:r>
              <a:rPr lang="it-IT" dirty="0">
                <a:solidFill>
                  <a:srgbClr val="000000"/>
                </a:solidFill>
                <a:latin typeface="Comic Sans MS" charset="0"/>
                <a:ea typeface="ＭＳ Ｐゴシック" charset="0"/>
              </a:rPr>
              <a:t>è </a:t>
            </a:r>
            <a:r>
              <a:rPr lang="it-IT" dirty="0" smtClean="0">
                <a:solidFill>
                  <a:srgbClr val="000000"/>
                </a:solidFill>
                <a:latin typeface="Comic Sans MS" charset="0"/>
                <a:ea typeface="ＭＳ Ｐゴシック" charset="0"/>
              </a:rPr>
              <a:t>minimo</a:t>
            </a:r>
            <a:endParaRPr lang="it-IT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2" grpId="0" build="p" bldLvl="3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5" name="Group 22"/>
          <p:cNvGrpSpPr>
            <a:grpSpLocks/>
          </p:cNvGrpSpPr>
          <p:nvPr/>
        </p:nvGrpSpPr>
        <p:grpSpPr bwMode="auto">
          <a:xfrm>
            <a:off x="1114425" y="1447800"/>
            <a:ext cx="7127875" cy="1692275"/>
            <a:chOff x="702" y="912"/>
            <a:chExt cx="4490" cy="1066"/>
          </a:xfrm>
        </p:grpSpPr>
        <p:sp>
          <p:nvSpPr>
            <p:cNvPr id="730114" name="Rectangle 2"/>
            <p:cNvSpPr>
              <a:spLocks noChangeArrowheads="1"/>
            </p:cNvSpPr>
            <p:nvPr/>
          </p:nvSpPr>
          <p:spPr bwMode="auto">
            <a:xfrm>
              <a:off x="702" y="1301"/>
              <a:ext cx="25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it-IT" sz="2000">
                  <a:latin typeface="Arial" charset="0"/>
                  <a:cs typeface="+mn-cs"/>
                </a:rPr>
                <a:t>v</a:t>
              </a:r>
              <a:r>
                <a:rPr lang="it-IT" sz="2000" baseline="-25000">
                  <a:latin typeface="Arial" charset="0"/>
                  <a:cs typeface="+mn-cs"/>
                </a:rPr>
                <a:t>1</a:t>
              </a:r>
              <a:endParaRPr lang="it-IT">
                <a:cs typeface="+mn-cs"/>
              </a:endParaRPr>
            </a:p>
          </p:txBody>
        </p:sp>
        <p:sp>
          <p:nvSpPr>
            <p:cNvPr id="730115" name="Rectangle 3"/>
            <p:cNvSpPr>
              <a:spLocks noChangeArrowheads="1"/>
            </p:cNvSpPr>
            <p:nvPr/>
          </p:nvSpPr>
          <p:spPr bwMode="auto">
            <a:xfrm>
              <a:off x="1968" y="1248"/>
              <a:ext cx="21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it-IT" sz="2000">
                  <a:latin typeface="Arial" charset="0"/>
                  <a:cs typeface="+mn-cs"/>
                </a:rPr>
                <a:t>v</a:t>
              </a:r>
              <a:r>
                <a:rPr lang="it-IT" sz="2000" baseline="-25000">
                  <a:latin typeface="Arial" charset="0"/>
                  <a:cs typeface="+mn-cs"/>
                </a:rPr>
                <a:t>i</a:t>
              </a:r>
              <a:endParaRPr lang="it-IT">
                <a:cs typeface="+mn-cs"/>
              </a:endParaRPr>
            </a:p>
          </p:txBody>
        </p:sp>
        <p:sp>
          <p:nvSpPr>
            <p:cNvPr id="730116" name="Rectangle 4"/>
            <p:cNvSpPr>
              <a:spLocks noChangeArrowheads="1"/>
            </p:cNvSpPr>
            <p:nvPr/>
          </p:nvSpPr>
          <p:spPr bwMode="auto">
            <a:xfrm>
              <a:off x="3696" y="1248"/>
              <a:ext cx="21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it-IT" sz="2000">
                  <a:latin typeface="Arial" charset="0"/>
                  <a:cs typeface="+mn-cs"/>
                </a:rPr>
                <a:t>v</a:t>
              </a:r>
              <a:r>
                <a:rPr lang="it-IT" sz="2000" baseline="-25000">
                  <a:latin typeface="Arial" charset="0"/>
                  <a:cs typeface="+mn-cs"/>
                </a:rPr>
                <a:t>j</a:t>
              </a:r>
              <a:endParaRPr lang="it-IT">
                <a:cs typeface="+mn-cs"/>
              </a:endParaRPr>
            </a:p>
          </p:txBody>
        </p:sp>
        <p:sp>
          <p:nvSpPr>
            <p:cNvPr id="730117" name="Rectangle 5"/>
            <p:cNvSpPr>
              <a:spLocks noChangeArrowheads="1"/>
            </p:cNvSpPr>
            <p:nvPr/>
          </p:nvSpPr>
          <p:spPr bwMode="auto">
            <a:xfrm>
              <a:off x="4944" y="1296"/>
              <a:ext cx="24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it-IT" sz="2000">
                  <a:latin typeface="Arial" charset="0"/>
                  <a:cs typeface="+mn-cs"/>
                </a:rPr>
                <a:t>v</a:t>
              </a:r>
              <a:r>
                <a:rPr lang="it-IT" sz="2000" baseline="-25000">
                  <a:latin typeface="Arial" charset="0"/>
                  <a:cs typeface="+mn-cs"/>
                </a:rPr>
                <a:t>k</a:t>
              </a:r>
              <a:endParaRPr lang="it-IT">
                <a:cs typeface="+mn-cs"/>
              </a:endParaRPr>
            </a:p>
          </p:txBody>
        </p:sp>
        <p:sp>
          <p:nvSpPr>
            <p:cNvPr id="730121" name="Oval 9"/>
            <p:cNvSpPr>
              <a:spLocks noChangeArrowheads="1"/>
            </p:cNvSpPr>
            <p:nvPr/>
          </p:nvSpPr>
          <p:spPr bwMode="auto">
            <a:xfrm>
              <a:off x="768" y="1584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730122" name="Oval 10"/>
            <p:cNvSpPr>
              <a:spLocks noChangeArrowheads="1"/>
            </p:cNvSpPr>
            <p:nvPr/>
          </p:nvSpPr>
          <p:spPr bwMode="auto">
            <a:xfrm>
              <a:off x="2064" y="1584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730123" name="Oval 11"/>
            <p:cNvSpPr>
              <a:spLocks noChangeArrowheads="1"/>
            </p:cNvSpPr>
            <p:nvPr/>
          </p:nvSpPr>
          <p:spPr bwMode="auto">
            <a:xfrm>
              <a:off x="5040" y="1632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730124" name="Oval 12"/>
            <p:cNvSpPr>
              <a:spLocks noChangeArrowheads="1"/>
            </p:cNvSpPr>
            <p:nvPr/>
          </p:nvSpPr>
          <p:spPr bwMode="auto">
            <a:xfrm>
              <a:off x="3744" y="1584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730126" name="Freeform 14"/>
            <p:cNvSpPr>
              <a:spLocks/>
            </p:cNvSpPr>
            <p:nvPr/>
          </p:nvSpPr>
          <p:spPr bwMode="auto">
            <a:xfrm>
              <a:off x="800" y="1509"/>
              <a:ext cx="1301" cy="161"/>
            </a:xfrm>
            <a:custGeom>
              <a:avLst/>
              <a:gdLst>
                <a:gd name="T0" fmla="*/ 0 w 1301"/>
                <a:gd name="T1" fmla="*/ 107 h 161"/>
                <a:gd name="T2" fmla="*/ 24 w 1301"/>
                <a:gd name="T3" fmla="*/ 91 h 161"/>
                <a:gd name="T4" fmla="*/ 40 w 1301"/>
                <a:gd name="T5" fmla="*/ 67 h 161"/>
                <a:gd name="T6" fmla="*/ 71 w 1301"/>
                <a:gd name="T7" fmla="*/ 51 h 161"/>
                <a:gd name="T8" fmla="*/ 119 w 1301"/>
                <a:gd name="T9" fmla="*/ 20 h 161"/>
                <a:gd name="T10" fmla="*/ 214 w 1301"/>
                <a:gd name="T11" fmla="*/ 75 h 161"/>
                <a:gd name="T12" fmla="*/ 245 w 1301"/>
                <a:gd name="T13" fmla="*/ 123 h 161"/>
                <a:gd name="T14" fmla="*/ 309 w 1301"/>
                <a:gd name="T15" fmla="*/ 115 h 161"/>
                <a:gd name="T16" fmla="*/ 341 w 1301"/>
                <a:gd name="T17" fmla="*/ 67 h 161"/>
                <a:gd name="T18" fmla="*/ 364 w 1301"/>
                <a:gd name="T19" fmla="*/ 51 h 161"/>
                <a:gd name="T20" fmla="*/ 507 w 1301"/>
                <a:gd name="T21" fmla="*/ 28 h 161"/>
                <a:gd name="T22" fmla="*/ 546 w 1301"/>
                <a:gd name="T23" fmla="*/ 59 h 161"/>
                <a:gd name="T24" fmla="*/ 594 w 1301"/>
                <a:gd name="T25" fmla="*/ 107 h 161"/>
                <a:gd name="T26" fmla="*/ 705 w 1301"/>
                <a:gd name="T27" fmla="*/ 123 h 161"/>
                <a:gd name="T28" fmla="*/ 784 w 1301"/>
                <a:gd name="T29" fmla="*/ 75 h 161"/>
                <a:gd name="T30" fmla="*/ 863 w 1301"/>
                <a:gd name="T31" fmla="*/ 44 h 161"/>
                <a:gd name="T32" fmla="*/ 950 w 1301"/>
                <a:gd name="T33" fmla="*/ 139 h 161"/>
                <a:gd name="T34" fmla="*/ 1053 w 1301"/>
                <a:gd name="T35" fmla="*/ 123 h 161"/>
                <a:gd name="T36" fmla="*/ 1085 w 1301"/>
                <a:gd name="T37" fmla="*/ 115 h 161"/>
                <a:gd name="T38" fmla="*/ 1109 w 1301"/>
                <a:gd name="T39" fmla="*/ 59 h 161"/>
                <a:gd name="T40" fmla="*/ 1156 w 1301"/>
                <a:gd name="T41" fmla="*/ 44 h 161"/>
                <a:gd name="T42" fmla="*/ 1180 w 1301"/>
                <a:gd name="T43" fmla="*/ 36 h 161"/>
                <a:gd name="T44" fmla="*/ 1251 w 1301"/>
                <a:gd name="T45" fmla="*/ 51 h 161"/>
                <a:gd name="T46" fmla="*/ 1291 w 1301"/>
                <a:gd name="T47" fmla="*/ 99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301" h="161">
                  <a:moveTo>
                    <a:pt x="0" y="107"/>
                  </a:moveTo>
                  <a:cubicBezTo>
                    <a:pt x="8" y="101"/>
                    <a:pt x="17" y="97"/>
                    <a:pt x="24" y="91"/>
                  </a:cubicBezTo>
                  <a:cubicBezTo>
                    <a:pt x="30" y="84"/>
                    <a:pt x="32" y="73"/>
                    <a:pt x="40" y="67"/>
                  </a:cubicBezTo>
                  <a:cubicBezTo>
                    <a:pt x="48" y="59"/>
                    <a:pt x="61" y="56"/>
                    <a:pt x="71" y="51"/>
                  </a:cubicBezTo>
                  <a:cubicBezTo>
                    <a:pt x="87" y="41"/>
                    <a:pt x="119" y="20"/>
                    <a:pt x="119" y="20"/>
                  </a:cubicBezTo>
                  <a:cubicBezTo>
                    <a:pt x="200" y="30"/>
                    <a:pt x="170" y="10"/>
                    <a:pt x="214" y="75"/>
                  </a:cubicBezTo>
                  <a:cubicBezTo>
                    <a:pt x="224" y="90"/>
                    <a:pt x="245" y="123"/>
                    <a:pt x="245" y="123"/>
                  </a:cubicBezTo>
                  <a:cubicBezTo>
                    <a:pt x="266" y="120"/>
                    <a:pt x="290" y="125"/>
                    <a:pt x="309" y="115"/>
                  </a:cubicBezTo>
                  <a:cubicBezTo>
                    <a:pt x="325" y="105"/>
                    <a:pt x="325" y="77"/>
                    <a:pt x="341" y="67"/>
                  </a:cubicBezTo>
                  <a:cubicBezTo>
                    <a:pt x="348" y="61"/>
                    <a:pt x="356" y="56"/>
                    <a:pt x="364" y="51"/>
                  </a:cubicBezTo>
                  <a:cubicBezTo>
                    <a:pt x="399" y="0"/>
                    <a:pt x="446" y="22"/>
                    <a:pt x="507" y="28"/>
                  </a:cubicBezTo>
                  <a:cubicBezTo>
                    <a:pt x="552" y="93"/>
                    <a:pt x="492" y="16"/>
                    <a:pt x="546" y="59"/>
                  </a:cubicBezTo>
                  <a:cubicBezTo>
                    <a:pt x="563" y="73"/>
                    <a:pt x="594" y="107"/>
                    <a:pt x="594" y="107"/>
                  </a:cubicBezTo>
                  <a:cubicBezTo>
                    <a:pt x="612" y="161"/>
                    <a:pt x="652" y="133"/>
                    <a:pt x="705" y="123"/>
                  </a:cubicBezTo>
                  <a:cubicBezTo>
                    <a:pt x="761" y="84"/>
                    <a:pt x="735" y="99"/>
                    <a:pt x="784" y="75"/>
                  </a:cubicBezTo>
                  <a:cubicBezTo>
                    <a:pt x="825" y="14"/>
                    <a:pt x="798" y="21"/>
                    <a:pt x="863" y="44"/>
                  </a:cubicBezTo>
                  <a:cubicBezTo>
                    <a:pt x="905" y="105"/>
                    <a:pt x="870" y="118"/>
                    <a:pt x="950" y="139"/>
                  </a:cubicBezTo>
                  <a:cubicBezTo>
                    <a:pt x="984" y="133"/>
                    <a:pt x="1018" y="129"/>
                    <a:pt x="1053" y="123"/>
                  </a:cubicBezTo>
                  <a:cubicBezTo>
                    <a:pt x="1063" y="121"/>
                    <a:pt x="1076" y="122"/>
                    <a:pt x="1085" y="115"/>
                  </a:cubicBezTo>
                  <a:cubicBezTo>
                    <a:pt x="1100" y="101"/>
                    <a:pt x="1092" y="70"/>
                    <a:pt x="1109" y="59"/>
                  </a:cubicBezTo>
                  <a:cubicBezTo>
                    <a:pt x="1122" y="49"/>
                    <a:pt x="1140" y="49"/>
                    <a:pt x="1156" y="44"/>
                  </a:cubicBezTo>
                  <a:cubicBezTo>
                    <a:pt x="1164" y="41"/>
                    <a:pt x="1180" y="36"/>
                    <a:pt x="1180" y="36"/>
                  </a:cubicBezTo>
                  <a:cubicBezTo>
                    <a:pt x="1203" y="39"/>
                    <a:pt x="1233" y="33"/>
                    <a:pt x="1251" y="51"/>
                  </a:cubicBezTo>
                  <a:cubicBezTo>
                    <a:pt x="1301" y="101"/>
                    <a:pt x="1261" y="99"/>
                    <a:pt x="1291" y="99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730127" name="Freeform 15"/>
            <p:cNvSpPr>
              <a:spLocks/>
            </p:cNvSpPr>
            <p:nvPr/>
          </p:nvSpPr>
          <p:spPr bwMode="auto">
            <a:xfrm>
              <a:off x="2112" y="1498"/>
              <a:ext cx="1682" cy="186"/>
            </a:xfrm>
            <a:custGeom>
              <a:avLst/>
              <a:gdLst>
                <a:gd name="T0" fmla="*/ 11 w 1682"/>
                <a:gd name="T1" fmla="*/ 94 h 186"/>
                <a:gd name="T2" fmla="*/ 50 w 1682"/>
                <a:gd name="T3" fmla="*/ 62 h 186"/>
                <a:gd name="T4" fmla="*/ 122 w 1682"/>
                <a:gd name="T5" fmla="*/ 7 h 186"/>
                <a:gd name="T6" fmla="*/ 232 w 1682"/>
                <a:gd name="T7" fmla="*/ 70 h 186"/>
                <a:gd name="T8" fmla="*/ 415 w 1682"/>
                <a:gd name="T9" fmla="*/ 47 h 186"/>
                <a:gd name="T10" fmla="*/ 478 w 1682"/>
                <a:gd name="T11" fmla="*/ 55 h 186"/>
                <a:gd name="T12" fmla="*/ 557 w 1682"/>
                <a:gd name="T13" fmla="*/ 94 h 186"/>
                <a:gd name="T14" fmla="*/ 644 w 1682"/>
                <a:gd name="T15" fmla="*/ 86 h 186"/>
                <a:gd name="T16" fmla="*/ 700 w 1682"/>
                <a:gd name="T17" fmla="*/ 55 h 186"/>
                <a:gd name="T18" fmla="*/ 723 w 1682"/>
                <a:gd name="T19" fmla="*/ 39 h 186"/>
                <a:gd name="T20" fmla="*/ 747 w 1682"/>
                <a:gd name="T21" fmla="*/ 86 h 186"/>
                <a:gd name="T22" fmla="*/ 787 w 1682"/>
                <a:gd name="T23" fmla="*/ 134 h 186"/>
                <a:gd name="T24" fmla="*/ 914 w 1682"/>
                <a:gd name="T25" fmla="*/ 118 h 186"/>
                <a:gd name="T26" fmla="*/ 1001 w 1682"/>
                <a:gd name="T27" fmla="*/ 78 h 186"/>
                <a:gd name="T28" fmla="*/ 1024 w 1682"/>
                <a:gd name="T29" fmla="*/ 62 h 186"/>
                <a:gd name="T30" fmla="*/ 1088 w 1682"/>
                <a:gd name="T31" fmla="*/ 78 h 186"/>
                <a:gd name="T32" fmla="*/ 1167 w 1682"/>
                <a:gd name="T33" fmla="*/ 126 h 186"/>
                <a:gd name="T34" fmla="*/ 1317 w 1682"/>
                <a:gd name="T35" fmla="*/ 118 h 186"/>
                <a:gd name="T36" fmla="*/ 1460 w 1682"/>
                <a:gd name="T37" fmla="*/ 78 h 186"/>
                <a:gd name="T38" fmla="*/ 1563 w 1682"/>
                <a:gd name="T39" fmla="*/ 94 h 186"/>
                <a:gd name="T40" fmla="*/ 1595 w 1682"/>
                <a:gd name="T41" fmla="*/ 118 h 186"/>
                <a:gd name="T42" fmla="*/ 1682 w 1682"/>
                <a:gd name="T43" fmla="*/ 118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82" h="186">
                  <a:moveTo>
                    <a:pt x="11" y="94"/>
                  </a:moveTo>
                  <a:cubicBezTo>
                    <a:pt x="49" y="32"/>
                    <a:pt x="0" y="100"/>
                    <a:pt x="50" y="62"/>
                  </a:cubicBezTo>
                  <a:cubicBezTo>
                    <a:pt x="131" y="0"/>
                    <a:pt x="66" y="25"/>
                    <a:pt x="122" y="7"/>
                  </a:cubicBezTo>
                  <a:cubicBezTo>
                    <a:pt x="204" y="22"/>
                    <a:pt x="209" y="6"/>
                    <a:pt x="232" y="70"/>
                  </a:cubicBezTo>
                  <a:cubicBezTo>
                    <a:pt x="322" y="64"/>
                    <a:pt x="347" y="69"/>
                    <a:pt x="415" y="47"/>
                  </a:cubicBezTo>
                  <a:cubicBezTo>
                    <a:pt x="436" y="49"/>
                    <a:pt x="457" y="49"/>
                    <a:pt x="478" y="55"/>
                  </a:cubicBezTo>
                  <a:cubicBezTo>
                    <a:pt x="504" y="61"/>
                    <a:pt x="529" y="84"/>
                    <a:pt x="557" y="94"/>
                  </a:cubicBezTo>
                  <a:cubicBezTo>
                    <a:pt x="586" y="91"/>
                    <a:pt x="615" y="93"/>
                    <a:pt x="644" y="86"/>
                  </a:cubicBezTo>
                  <a:cubicBezTo>
                    <a:pt x="664" y="80"/>
                    <a:pt x="679" y="60"/>
                    <a:pt x="700" y="55"/>
                  </a:cubicBezTo>
                  <a:cubicBezTo>
                    <a:pt x="707" y="49"/>
                    <a:pt x="713" y="37"/>
                    <a:pt x="723" y="39"/>
                  </a:cubicBezTo>
                  <a:cubicBezTo>
                    <a:pt x="735" y="41"/>
                    <a:pt x="743" y="78"/>
                    <a:pt x="747" y="86"/>
                  </a:cubicBezTo>
                  <a:cubicBezTo>
                    <a:pt x="763" y="123"/>
                    <a:pt x="756" y="113"/>
                    <a:pt x="787" y="134"/>
                  </a:cubicBezTo>
                  <a:cubicBezTo>
                    <a:pt x="829" y="128"/>
                    <a:pt x="872" y="128"/>
                    <a:pt x="914" y="118"/>
                  </a:cubicBezTo>
                  <a:cubicBezTo>
                    <a:pt x="944" y="110"/>
                    <a:pt x="970" y="88"/>
                    <a:pt x="1001" y="78"/>
                  </a:cubicBezTo>
                  <a:cubicBezTo>
                    <a:pt x="1008" y="72"/>
                    <a:pt x="1014" y="62"/>
                    <a:pt x="1024" y="62"/>
                  </a:cubicBezTo>
                  <a:cubicBezTo>
                    <a:pt x="1045" y="62"/>
                    <a:pt x="1088" y="78"/>
                    <a:pt x="1088" y="78"/>
                  </a:cubicBezTo>
                  <a:cubicBezTo>
                    <a:pt x="1108" y="109"/>
                    <a:pt x="1132" y="114"/>
                    <a:pt x="1167" y="126"/>
                  </a:cubicBezTo>
                  <a:cubicBezTo>
                    <a:pt x="1227" y="186"/>
                    <a:pt x="1249" y="138"/>
                    <a:pt x="1317" y="118"/>
                  </a:cubicBezTo>
                  <a:cubicBezTo>
                    <a:pt x="1364" y="103"/>
                    <a:pt x="1411" y="86"/>
                    <a:pt x="1460" y="78"/>
                  </a:cubicBezTo>
                  <a:cubicBezTo>
                    <a:pt x="1469" y="78"/>
                    <a:pt x="1538" y="80"/>
                    <a:pt x="1563" y="94"/>
                  </a:cubicBezTo>
                  <a:cubicBezTo>
                    <a:pt x="1574" y="100"/>
                    <a:pt x="1581" y="115"/>
                    <a:pt x="1595" y="118"/>
                  </a:cubicBezTo>
                  <a:cubicBezTo>
                    <a:pt x="1623" y="123"/>
                    <a:pt x="1653" y="118"/>
                    <a:pt x="1682" y="118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730128" name="Freeform 16"/>
            <p:cNvSpPr>
              <a:spLocks/>
            </p:cNvSpPr>
            <p:nvPr/>
          </p:nvSpPr>
          <p:spPr bwMode="auto">
            <a:xfrm>
              <a:off x="3786" y="1568"/>
              <a:ext cx="1283" cy="143"/>
            </a:xfrm>
            <a:custGeom>
              <a:avLst/>
              <a:gdLst>
                <a:gd name="T0" fmla="*/ 0 w 1283"/>
                <a:gd name="T1" fmla="*/ 48 h 143"/>
                <a:gd name="T2" fmla="*/ 119 w 1283"/>
                <a:gd name="T3" fmla="*/ 8 h 143"/>
                <a:gd name="T4" fmla="*/ 269 w 1283"/>
                <a:gd name="T5" fmla="*/ 32 h 143"/>
                <a:gd name="T6" fmla="*/ 309 w 1283"/>
                <a:gd name="T7" fmla="*/ 80 h 143"/>
                <a:gd name="T8" fmla="*/ 372 w 1283"/>
                <a:gd name="T9" fmla="*/ 127 h 143"/>
                <a:gd name="T10" fmla="*/ 428 w 1283"/>
                <a:gd name="T11" fmla="*/ 64 h 143"/>
                <a:gd name="T12" fmla="*/ 475 w 1283"/>
                <a:gd name="T13" fmla="*/ 0 h 143"/>
                <a:gd name="T14" fmla="*/ 515 w 1283"/>
                <a:gd name="T15" fmla="*/ 8 h 143"/>
                <a:gd name="T16" fmla="*/ 531 w 1283"/>
                <a:gd name="T17" fmla="*/ 32 h 143"/>
                <a:gd name="T18" fmla="*/ 602 w 1283"/>
                <a:gd name="T19" fmla="*/ 88 h 143"/>
                <a:gd name="T20" fmla="*/ 713 w 1283"/>
                <a:gd name="T21" fmla="*/ 111 h 143"/>
                <a:gd name="T22" fmla="*/ 760 w 1283"/>
                <a:gd name="T23" fmla="*/ 80 h 143"/>
                <a:gd name="T24" fmla="*/ 808 w 1283"/>
                <a:gd name="T25" fmla="*/ 64 h 143"/>
                <a:gd name="T26" fmla="*/ 919 w 1283"/>
                <a:gd name="T27" fmla="*/ 143 h 143"/>
                <a:gd name="T28" fmla="*/ 982 w 1283"/>
                <a:gd name="T29" fmla="*/ 135 h 143"/>
                <a:gd name="T30" fmla="*/ 1045 w 1283"/>
                <a:gd name="T31" fmla="*/ 80 h 143"/>
                <a:gd name="T32" fmla="*/ 1180 w 1283"/>
                <a:gd name="T33" fmla="*/ 80 h 143"/>
                <a:gd name="T34" fmla="*/ 1251 w 1283"/>
                <a:gd name="T35" fmla="*/ 88 h 143"/>
                <a:gd name="T36" fmla="*/ 1283 w 1283"/>
                <a:gd name="T37" fmla="*/ 95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83" h="143">
                  <a:moveTo>
                    <a:pt x="0" y="48"/>
                  </a:moveTo>
                  <a:cubicBezTo>
                    <a:pt x="42" y="37"/>
                    <a:pt x="81" y="32"/>
                    <a:pt x="119" y="8"/>
                  </a:cubicBezTo>
                  <a:cubicBezTo>
                    <a:pt x="129" y="8"/>
                    <a:pt x="237" y="0"/>
                    <a:pt x="269" y="32"/>
                  </a:cubicBezTo>
                  <a:cubicBezTo>
                    <a:pt x="350" y="113"/>
                    <a:pt x="225" y="24"/>
                    <a:pt x="309" y="80"/>
                  </a:cubicBezTo>
                  <a:cubicBezTo>
                    <a:pt x="327" y="106"/>
                    <a:pt x="341" y="116"/>
                    <a:pt x="372" y="127"/>
                  </a:cubicBezTo>
                  <a:cubicBezTo>
                    <a:pt x="409" y="72"/>
                    <a:pt x="388" y="90"/>
                    <a:pt x="428" y="64"/>
                  </a:cubicBezTo>
                  <a:cubicBezTo>
                    <a:pt x="437" y="31"/>
                    <a:pt x="446" y="18"/>
                    <a:pt x="475" y="0"/>
                  </a:cubicBezTo>
                  <a:cubicBezTo>
                    <a:pt x="488" y="2"/>
                    <a:pt x="503" y="1"/>
                    <a:pt x="515" y="8"/>
                  </a:cubicBezTo>
                  <a:cubicBezTo>
                    <a:pt x="523" y="12"/>
                    <a:pt x="524" y="24"/>
                    <a:pt x="531" y="32"/>
                  </a:cubicBezTo>
                  <a:cubicBezTo>
                    <a:pt x="575" y="83"/>
                    <a:pt x="559" y="73"/>
                    <a:pt x="602" y="88"/>
                  </a:cubicBezTo>
                  <a:cubicBezTo>
                    <a:pt x="632" y="131"/>
                    <a:pt x="660" y="117"/>
                    <a:pt x="713" y="111"/>
                  </a:cubicBezTo>
                  <a:cubicBezTo>
                    <a:pt x="720" y="105"/>
                    <a:pt x="751" y="83"/>
                    <a:pt x="760" y="80"/>
                  </a:cubicBezTo>
                  <a:cubicBezTo>
                    <a:pt x="775" y="73"/>
                    <a:pt x="808" y="64"/>
                    <a:pt x="808" y="64"/>
                  </a:cubicBezTo>
                  <a:cubicBezTo>
                    <a:pt x="892" y="76"/>
                    <a:pt x="876" y="79"/>
                    <a:pt x="919" y="143"/>
                  </a:cubicBezTo>
                  <a:cubicBezTo>
                    <a:pt x="940" y="140"/>
                    <a:pt x="962" y="142"/>
                    <a:pt x="982" y="135"/>
                  </a:cubicBezTo>
                  <a:cubicBezTo>
                    <a:pt x="1011" y="124"/>
                    <a:pt x="1007" y="92"/>
                    <a:pt x="1045" y="80"/>
                  </a:cubicBezTo>
                  <a:cubicBezTo>
                    <a:pt x="1088" y="14"/>
                    <a:pt x="1131" y="67"/>
                    <a:pt x="1180" y="80"/>
                  </a:cubicBezTo>
                  <a:cubicBezTo>
                    <a:pt x="1203" y="85"/>
                    <a:pt x="1227" y="85"/>
                    <a:pt x="1251" y="88"/>
                  </a:cubicBezTo>
                  <a:cubicBezTo>
                    <a:pt x="1277" y="95"/>
                    <a:pt x="1266" y="95"/>
                    <a:pt x="1283" y="95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730129" name="Freeform 17"/>
            <p:cNvSpPr>
              <a:spLocks/>
            </p:cNvSpPr>
            <p:nvPr/>
          </p:nvSpPr>
          <p:spPr bwMode="auto">
            <a:xfrm>
              <a:off x="2091" y="1177"/>
              <a:ext cx="1656" cy="431"/>
            </a:xfrm>
            <a:custGeom>
              <a:avLst/>
              <a:gdLst>
                <a:gd name="T0" fmla="*/ 0 w 1656"/>
                <a:gd name="T1" fmla="*/ 407 h 431"/>
                <a:gd name="T2" fmla="*/ 47 w 1656"/>
                <a:gd name="T3" fmla="*/ 257 h 431"/>
                <a:gd name="T4" fmla="*/ 71 w 1656"/>
                <a:gd name="T5" fmla="*/ 201 h 431"/>
                <a:gd name="T6" fmla="*/ 119 w 1656"/>
                <a:gd name="T7" fmla="*/ 178 h 431"/>
                <a:gd name="T8" fmla="*/ 166 w 1656"/>
                <a:gd name="T9" fmla="*/ 162 h 431"/>
                <a:gd name="T10" fmla="*/ 301 w 1656"/>
                <a:gd name="T11" fmla="*/ 178 h 431"/>
                <a:gd name="T12" fmla="*/ 325 w 1656"/>
                <a:gd name="T13" fmla="*/ 106 h 431"/>
                <a:gd name="T14" fmla="*/ 428 w 1656"/>
                <a:gd name="T15" fmla="*/ 43 h 431"/>
                <a:gd name="T16" fmla="*/ 578 w 1656"/>
                <a:gd name="T17" fmla="*/ 82 h 431"/>
                <a:gd name="T18" fmla="*/ 649 w 1656"/>
                <a:gd name="T19" fmla="*/ 67 h 431"/>
                <a:gd name="T20" fmla="*/ 729 w 1656"/>
                <a:gd name="T21" fmla="*/ 3 h 431"/>
                <a:gd name="T22" fmla="*/ 839 w 1656"/>
                <a:gd name="T23" fmla="*/ 11 h 431"/>
                <a:gd name="T24" fmla="*/ 887 w 1656"/>
                <a:gd name="T25" fmla="*/ 130 h 431"/>
                <a:gd name="T26" fmla="*/ 935 w 1656"/>
                <a:gd name="T27" fmla="*/ 154 h 431"/>
                <a:gd name="T28" fmla="*/ 1069 w 1656"/>
                <a:gd name="T29" fmla="*/ 98 h 431"/>
                <a:gd name="T30" fmla="*/ 1093 w 1656"/>
                <a:gd name="T31" fmla="*/ 75 h 431"/>
                <a:gd name="T32" fmla="*/ 1180 w 1656"/>
                <a:gd name="T33" fmla="*/ 51 h 431"/>
                <a:gd name="T34" fmla="*/ 1259 w 1656"/>
                <a:gd name="T35" fmla="*/ 122 h 431"/>
                <a:gd name="T36" fmla="*/ 1331 w 1656"/>
                <a:gd name="T37" fmla="*/ 106 h 431"/>
                <a:gd name="T38" fmla="*/ 1394 w 1656"/>
                <a:gd name="T39" fmla="*/ 67 h 431"/>
                <a:gd name="T40" fmla="*/ 1449 w 1656"/>
                <a:gd name="T41" fmla="*/ 51 h 431"/>
                <a:gd name="T42" fmla="*/ 1505 w 1656"/>
                <a:gd name="T43" fmla="*/ 75 h 431"/>
                <a:gd name="T44" fmla="*/ 1536 w 1656"/>
                <a:gd name="T45" fmla="*/ 122 h 431"/>
                <a:gd name="T46" fmla="*/ 1608 w 1656"/>
                <a:gd name="T47" fmla="*/ 233 h 431"/>
                <a:gd name="T48" fmla="*/ 1647 w 1656"/>
                <a:gd name="T49" fmla="*/ 336 h 431"/>
                <a:gd name="T50" fmla="*/ 1655 w 1656"/>
                <a:gd name="T51" fmla="*/ 431 h 4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656" h="431">
                  <a:moveTo>
                    <a:pt x="0" y="407"/>
                  </a:moveTo>
                  <a:cubicBezTo>
                    <a:pt x="24" y="358"/>
                    <a:pt x="32" y="309"/>
                    <a:pt x="47" y="257"/>
                  </a:cubicBezTo>
                  <a:cubicBezTo>
                    <a:pt x="53" y="231"/>
                    <a:pt x="51" y="220"/>
                    <a:pt x="71" y="201"/>
                  </a:cubicBezTo>
                  <a:cubicBezTo>
                    <a:pt x="88" y="183"/>
                    <a:pt x="97" y="184"/>
                    <a:pt x="119" y="178"/>
                  </a:cubicBezTo>
                  <a:cubicBezTo>
                    <a:pt x="134" y="172"/>
                    <a:pt x="166" y="162"/>
                    <a:pt x="166" y="162"/>
                  </a:cubicBezTo>
                  <a:cubicBezTo>
                    <a:pt x="231" y="170"/>
                    <a:pt x="239" y="186"/>
                    <a:pt x="301" y="178"/>
                  </a:cubicBezTo>
                  <a:cubicBezTo>
                    <a:pt x="337" y="123"/>
                    <a:pt x="296" y="192"/>
                    <a:pt x="325" y="106"/>
                  </a:cubicBezTo>
                  <a:cubicBezTo>
                    <a:pt x="336" y="70"/>
                    <a:pt x="395" y="51"/>
                    <a:pt x="428" y="43"/>
                  </a:cubicBezTo>
                  <a:cubicBezTo>
                    <a:pt x="498" y="49"/>
                    <a:pt x="525" y="44"/>
                    <a:pt x="578" y="82"/>
                  </a:cubicBezTo>
                  <a:cubicBezTo>
                    <a:pt x="611" y="132"/>
                    <a:pt x="601" y="83"/>
                    <a:pt x="649" y="67"/>
                  </a:cubicBezTo>
                  <a:cubicBezTo>
                    <a:pt x="677" y="45"/>
                    <a:pt x="703" y="28"/>
                    <a:pt x="729" y="3"/>
                  </a:cubicBezTo>
                  <a:cubicBezTo>
                    <a:pt x="765" y="5"/>
                    <a:pt x="803" y="0"/>
                    <a:pt x="839" y="11"/>
                  </a:cubicBezTo>
                  <a:cubicBezTo>
                    <a:pt x="876" y="22"/>
                    <a:pt x="869" y="105"/>
                    <a:pt x="887" y="130"/>
                  </a:cubicBezTo>
                  <a:cubicBezTo>
                    <a:pt x="897" y="144"/>
                    <a:pt x="920" y="144"/>
                    <a:pt x="935" y="154"/>
                  </a:cubicBezTo>
                  <a:cubicBezTo>
                    <a:pt x="988" y="144"/>
                    <a:pt x="1024" y="129"/>
                    <a:pt x="1069" y="98"/>
                  </a:cubicBezTo>
                  <a:cubicBezTo>
                    <a:pt x="1078" y="91"/>
                    <a:pt x="1083" y="80"/>
                    <a:pt x="1093" y="75"/>
                  </a:cubicBezTo>
                  <a:cubicBezTo>
                    <a:pt x="1119" y="60"/>
                    <a:pt x="1151" y="59"/>
                    <a:pt x="1180" y="51"/>
                  </a:cubicBezTo>
                  <a:cubicBezTo>
                    <a:pt x="1241" y="66"/>
                    <a:pt x="1228" y="76"/>
                    <a:pt x="1259" y="122"/>
                  </a:cubicBezTo>
                  <a:cubicBezTo>
                    <a:pt x="1283" y="116"/>
                    <a:pt x="1307" y="113"/>
                    <a:pt x="1331" y="106"/>
                  </a:cubicBezTo>
                  <a:cubicBezTo>
                    <a:pt x="1362" y="96"/>
                    <a:pt x="1365" y="82"/>
                    <a:pt x="1394" y="67"/>
                  </a:cubicBezTo>
                  <a:cubicBezTo>
                    <a:pt x="1402" y="62"/>
                    <a:pt x="1442" y="52"/>
                    <a:pt x="1449" y="51"/>
                  </a:cubicBezTo>
                  <a:cubicBezTo>
                    <a:pt x="1467" y="59"/>
                    <a:pt x="1487" y="63"/>
                    <a:pt x="1505" y="75"/>
                  </a:cubicBezTo>
                  <a:cubicBezTo>
                    <a:pt x="1508" y="77"/>
                    <a:pt x="1534" y="118"/>
                    <a:pt x="1536" y="122"/>
                  </a:cubicBezTo>
                  <a:cubicBezTo>
                    <a:pt x="1559" y="163"/>
                    <a:pt x="1574" y="199"/>
                    <a:pt x="1608" y="233"/>
                  </a:cubicBezTo>
                  <a:cubicBezTo>
                    <a:pt x="1619" y="268"/>
                    <a:pt x="1635" y="300"/>
                    <a:pt x="1647" y="336"/>
                  </a:cubicBezTo>
                  <a:cubicBezTo>
                    <a:pt x="1656" y="409"/>
                    <a:pt x="1655" y="377"/>
                    <a:pt x="1655" y="431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730130" name="Rectangle 18"/>
            <p:cNvSpPr>
              <a:spLocks noChangeArrowheads="1"/>
            </p:cNvSpPr>
            <p:nvPr/>
          </p:nvSpPr>
          <p:spPr bwMode="auto">
            <a:xfrm>
              <a:off x="2832" y="1728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it-IT" sz="2000">
                  <a:latin typeface="Arial" charset="0"/>
                  <a:cs typeface="+mn-cs"/>
                </a:rPr>
                <a:t>b</a:t>
              </a:r>
              <a:endParaRPr lang="it-IT">
                <a:cs typeface="+mn-cs"/>
              </a:endParaRPr>
            </a:p>
          </p:txBody>
        </p:sp>
        <p:sp>
          <p:nvSpPr>
            <p:cNvPr id="730131" name="Rectangle 19"/>
            <p:cNvSpPr>
              <a:spLocks noChangeArrowheads="1"/>
            </p:cNvSpPr>
            <p:nvPr/>
          </p:nvSpPr>
          <p:spPr bwMode="auto">
            <a:xfrm>
              <a:off x="1296" y="1680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it-IT" sz="2000">
                  <a:latin typeface="Arial" charset="0"/>
                  <a:cs typeface="+mn-cs"/>
                </a:rPr>
                <a:t>a</a:t>
              </a:r>
              <a:endParaRPr lang="it-IT">
                <a:cs typeface="+mn-cs"/>
              </a:endParaRPr>
            </a:p>
          </p:txBody>
        </p:sp>
        <p:sp>
          <p:nvSpPr>
            <p:cNvPr id="730132" name="Rectangle 20"/>
            <p:cNvSpPr>
              <a:spLocks noChangeArrowheads="1"/>
            </p:cNvSpPr>
            <p:nvPr/>
          </p:nvSpPr>
          <p:spPr bwMode="auto">
            <a:xfrm>
              <a:off x="2928" y="912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>
                  <a:latin typeface="Arial" charset="0"/>
                </a:rPr>
                <a:t>q</a:t>
              </a:r>
              <a:endParaRPr lang="it-IT"/>
            </a:p>
          </p:txBody>
        </p:sp>
        <p:sp>
          <p:nvSpPr>
            <p:cNvPr id="730133" name="Rectangle 21"/>
            <p:cNvSpPr>
              <a:spLocks noChangeArrowheads="1"/>
            </p:cNvSpPr>
            <p:nvPr/>
          </p:nvSpPr>
          <p:spPr bwMode="auto">
            <a:xfrm>
              <a:off x="4416" y="172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it-IT" sz="2000">
                  <a:latin typeface="Arial" charset="0"/>
                  <a:cs typeface="+mn-cs"/>
                </a:rPr>
                <a:t>c</a:t>
              </a:r>
              <a:endParaRPr lang="it-IT">
                <a:cs typeface="+mn-cs"/>
              </a:endParaRPr>
            </a:p>
          </p:txBody>
        </p:sp>
      </p:grpSp>
      <p:sp>
        <p:nvSpPr>
          <p:cNvPr id="730135" name="Rectangle 2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dirty="0">
                <a:latin typeface="Arial" charset="0"/>
                <a:ea typeface="ＭＳ Ｐゴシック" charset="0"/>
              </a:rPr>
              <a:t>Sottostruttura ottima</a:t>
            </a:r>
          </a:p>
        </p:txBody>
      </p:sp>
      <p:sp>
        <p:nvSpPr>
          <p:cNvPr id="730136" name="Rectangle 24"/>
          <p:cNvSpPr>
            <a:spLocks noGrp="1" noChangeArrowheads="1"/>
          </p:cNvSpPr>
          <p:nvPr>
            <p:ph type="body" idx="1"/>
          </p:nvPr>
        </p:nvSpPr>
        <p:spPr>
          <a:xfrm>
            <a:off x="381000" y="3124200"/>
            <a:ext cx="8305800" cy="3200400"/>
          </a:xfrm>
        </p:spPr>
        <p:txBody>
          <a:bodyPr/>
          <a:lstStyle/>
          <a:p>
            <a:pPr eaLnBrk="1" hangingPunct="1"/>
            <a:r>
              <a:rPr lang="it-IT" dirty="0">
                <a:latin typeface="Comic Sans MS" charset="0"/>
                <a:ea typeface="ＭＳ Ｐゴシック" charset="0"/>
              </a:rPr>
              <a:t>Ipotesi:  </a:t>
            </a:r>
            <a:r>
              <a:rPr lang="it-IT" dirty="0" err="1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w</a:t>
            </a:r>
            <a:r>
              <a:rPr lang="it-IT" dirty="0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(</a:t>
            </a:r>
            <a:r>
              <a:rPr lang="it-IT" dirty="0" err="1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p</a:t>
            </a:r>
            <a:r>
              <a:rPr lang="it-IT" dirty="0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) = </a:t>
            </a:r>
            <a:r>
              <a:rPr lang="it-IT" dirty="0" err="1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w</a:t>
            </a:r>
            <a:r>
              <a:rPr lang="it-IT" dirty="0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(a) + </a:t>
            </a:r>
            <a:r>
              <a:rPr lang="it-IT" dirty="0" err="1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w</a:t>
            </a:r>
            <a:r>
              <a:rPr lang="it-IT" dirty="0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(b) + </a:t>
            </a:r>
            <a:r>
              <a:rPr lang="it-IT" dirty="0" err="1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w</a:t>
            </a:r>
            <a:r>
              <a:rPr lang="it-IT" dirty="0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(c)</a:t>
            </a:r>
            <a:r>
              <a:rPr lang="it-IT" dirty="0">
                <a:latin typeface="Comic Sans MS" charset="0"/>
                <a:ea typeface="ＭＳ Ｐゴシック" charset="0"/>
              </a:rPr>
              <a:t>  minimo</a:t>
            </a:r>
          </a:p>
          <a:p>
            <a:pPr eaLnBrk="1" hangingPunct="1"/>
            <a:r>
              <a:rPr lang="it-IT" dirty="0">
                <a:latin typeface="Comic Sans MS" charset="0"/>
                <a:ea typeface="ＭＳ Ｐゴシック" charset="0"/>
              </a:rPr>
              <a:t>Tesi: </a:t>
            </a:r>
            <a:r>
              <a:rPr lang="it-IT" dirty="0" err="1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w</a:t>
            </a:r>
            <a:r>
              <a:rPr lang="it-IT" dirty="0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(b)</a:t>
            </a:r>
            <a:r>
              <a:rPr lang="it-IT" dirty="0">
                <a:latin typeface="Comic Sans MS" charset="0"/>
                <a:ea typeface="ＭＳ Ｐゴシック" charset="0"/>
              </a:rPr>
              <a:t> minimo</a:t>
            </a:r>
          </a:p>
          <a:p>
            <a:pPr eaLnBrk="1" hangingPunct="1"/>
            <a:r>
              <a:rPr lang="it-IT" dirty="0" smtClean="0">
                <a:latin typeface="Comic Sans MS" charset="0"/>
                <a:ea typeface="ＭＳ Ｐゴシック" charset="0"/>
              </a:rPr>
              <a:t>DIM: Se </a:t>
            </a:r>
            <a:r>
              <a:rPr lang="it-IT" dirty="0">
                <a:latin typeface="Comic Sans MS" charset="0"/>
                <a:ea typeface="ＭＳ Ｐゴシック" charset="0"/>
              </a:rPr>
              <a:t>esiste </a:t>
            </a:r>
            <a:r>
              <a:rPr lang="it-IT" dirty="0" err="1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q</a:t>
            </a:r>
            <a:r>
              <a:rPr lang="it-IT" dirty="0">
                <a:latin typeface="Comic Sans MS" charset="0"/>
                <a:ea typeface="ＭＳ Ｐゴシック" charset="0"/>
              </a:rPr>
              <a:t> tale che </a:t>
            </a:r>
            <a:r>
              <a:rPr lang="it-IT" dirty="0" err="1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w</a:t>
            </a:r>
            <a:r>
              <a:rPr lang="it-IT" dirty="0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(</a:t>
            </a:r>
            <a:r>
              <a:rPr lang="it-IT" dirty="0" err="1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q</a:t>
            </a:r>
            <a:r>
              <a:rPr lang="it-IT" dirty="0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) &lt; </a:t>
            </a:r>
            <a:r>
              <a:rPr lang="it-IT" dirty="0" err="1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w</a:t>
            </a:r>
            <a:r>
              <a:rPr lang="it-IT" dirty="0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(b)</a:t>
            </a:r>
            <a:r>
              <a:rPr lang="it-IT" dirty="0">
                <a:solidFill>
                  <a:schemeClr val="tx1"/>
                </a:solidFill>
                <a:latin typeface="Comic Sans MS" charset="0"/>
                <a:ea typeface="ＭＳ Ｐゴシック" charset="0"/>
              </a:rPr>
              <a:t>,</a:t>
            </a:r>
            <a:r>
              <a:rPr lang="it-IT" dirty="0">
                <a:latin typeface="Comic Sans MS" charset="0"/>
                <a:ea typeface="ＭＳ Ｐゴシック" charset="0"/>
              </a:rPr>
              <a:t> allora</a:t>
            </a:r>
          </a:p>
          <a:p>
            <a:pPr eaLnBrk="1" hangingPunct="1">
              <a:buFont typeface="Wingdings" charset="0"/>
              <a:buNone/>
            </a:pPr>
            <a:r>
              <a:rPr lang="it-IT" dirty="0">
                <a:latin typeface="Comic Sans MS" charset="0"/>
                <a:ea typeface="ＭＳ Ｐゴシック" charset="0"/>
              </a:rPr>
              <a:t>	 </a:t>
            </a:r>
            <a:r>
              <a:rPr lang="it-IT" dirty="0" err="1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w</a:t>
            </a:r>
            <a:r>
              <a:rPr lang="it-IT" dirty="0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(a) + </a:t>
            </a:r>
            <a:r>
              <a:rPr lang="it-IT" dirty="0" err="1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w</a:t>
            </a:r>
            <a:r>
              <a:rPr lang="it-IT" dirty="0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(</a:t>
            </a:r>
            <a:r>
              <a:rPr lang="it-IT" dirty="0" err="1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q</a:t>
            </a:r>
            <a:r>
              <a:rPr lang="it-IT" dirty="0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) + </a:t>
            </a:r>
            <a:r>
              <a:rPr lang="it-IT" dirty="0" err="1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w</a:t>
            </a:r>
            <a:r>
              <a:rPr lang="it-IT" dirty="0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(c) &lt; </a:t>
            </a:r>
            <a:r>
              <a:rPr lang="it-IT" dirty="0" err="1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w</a:t>
            </a:r>
            <a:r>
              <a:rPr lang="it-IT" dirty="0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(a) + </a:t>
            </a:r>
            <a:r>
              <a:rPr lang="it-IT" dirty="0" err="1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w</a:t>
            </a:r>
            <a:r>
              <a:rPr lang="it-IT" dirty="0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(b) + </a:t>
            </a:r>
            <a:r>
              <a:rPr lang="it-IT" dirty="0" err="1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w</a:t>
            </a:r>
            <a:r>
              <a:rPr lang="it-IT" dirty="0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(c)</a:t>
            </a:r>
            <a:r>
              <a:rPr lang="it-IT" dirty="0">
                <a:latin typeface="Comic Sans MS" charset="0"/>
                <a:ea typeface="ＭＳ Ｐゴシック" charset="0"/>
              </a:rPr>
              <a:t> </a:t>
            </a:r>
          </a:p>
          <a:p>
            <a:pPr eaLnBrk="1" hangingPunct="1">
              <a:buFont typeface="Wingdings" charset="0"/>
              <a:buNone/>
            </a:pPr>
            <a:r>
              <a:rPr lang="it-IT" dirty="0">
                <a:latin typeface="Comic Sans MS" charset="0"/>
                <a:ea typeface="ＭＳ Ｐゴシック" charset="0"/>
              </a:rPr>
              <a:t>	contro l’ipotesi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it-IT" dirty="0">
                <a:latin typeface="Arial" charset="0"/>
                <a:ea typeface="ＭＳ Ｐゴシック" charset="0"/>
              </a:rPr>
              <a:t>Rappresentazione </a:t>
            </a:r>
            <a:r>
              <a:rPr lang="it-IT" dirty="0" smtClean="0">
                <a:latin typeface="Arial" charset="0"/>
                <a:ea typeface="ＭＳ Ｐゴシック" charset="0"/>
              </a:rPr>
              <a:t>cammini </a:t>
            </a:r>
            <a:r>
              <a:rPr lang="it-IT" dirty="0">
                <a:latin typeface="Arial" charset="0"/>
                <a:ea typeface="ＭＳ Ｐゴシック" charset="0"/>
              </a:rPr>
              <a:t>minimi</a:t>
            </a:r>
          </a:p>
        </p:txBody>
      </p:sp>
      <p:sp>
        <p:nvSpPr>
          <p:cNvPr id="22533" name="Rectangle 5"/>
          <p:cNvSpPr>
            <a:spLocks noGrp="1" noChangeArrowheads="1"/>
          </p:cNvSpPr>
          <p:nvPr>
            <p:ph idx="1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it-IT" dirty="0">
                <a:latin typeface="Comic Sans MS" charset="0"/>
                <a:ea typeface="ＭＳ Ｐゴシック" charset="0"/>
              </a:rPr>
              <a:t>In genere ci interessa calcolare non solo i costi dei cammini minimi dalla sorgente </a:t>
            </a:r>
            <a:r>
              <a:rPr lang="it-IT" dirty="0" err="1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s</a:t>
            </a:r>
            <a:r>
              <a:rPr lang="it-IT" dirty="0">
                <a:latin typeface="Comic Sans MS" charset="0"/>
                <a:ea typeface="ＭＳ Ｐゴシック" charset="0"/>
              </a:rPr>
              <a:t> ad ogni vertice del grafo ma anche i cammini minimi </a:t>
            </a:r>
            <a:r>
              <a:rPr lang="it-IT" dirty="0" smtClean="0">
                <a:latin typeface="Comic Sans MS" charset="0"/>
                <a:ea typeface="ＭＳ Ｐゴシック" charset="0"/>
              </a:rPr>
              <a:t>stessi</a:t>
            </a:r>
            <a:endParaRPr lang="it-IT" dirty="0">
              <a:latin typeface="Comic Sans MS" charset="0"/>
              <a:ea typeface="ＭＳ Ｐゴシック" charset="0"/>
            </a:endParaRPr>
          </a:p>
          <a:p>
            <a:r>
              <a:rPr lang="it-IT" dirty="0">
                <a:latin typeface="Comic Sans MS" charset="0"/>
                <a:ea typeface="ＭＳ Ｐゴシック" charset="0"/>
              </a:rPr>
              <a:t>Siccome i cammini minimi hanno sottostruttura ottima possiamo rappresentarli associando ad ogni vertice un puntatore </a:t>
            </a:r>
            <a:r>
              <a:rPr lang="it-IT" dirty="0">
                <a:solidFill>
                  <a:schemeClr val="hlink"/>
                </a:solidFill>
                <a:latin typeface="Symbol" charset="0"/>
                <a:ea typeface="ＭＳ Ｐゴシック" charset="0"/>
                <a:sym typeface="Symbol" charset="0"/>
              </a:rPr>
              <a:t></a:t>
            </a:r>
            <a:r>
              <a:rPr lang="it-IT" dirty="0">
                <a:solidFill>
                  <a:schemeClr val="hlink"/>
                </a:solidFill>
                <a:latin typeface="Comic Sans MS" charset="0"/>
                <a:ea typeface="ＭＳ Ｐゴシック" charset="0"/>
                <a:sym typeface="Symbol" charset="0"/>
              </a:rPr>
              <a:t>[v]</a:t>
            </a:r>
            <a:r>
              <a:rPr lang="it-IT" dirty="0">
                <a:latin typeface="Comic Sans MS" charset="0"/>
                <a:ea typeface="ＭＳ Ｐゴシック" charset="0"/>
              </a:rPr>
              <a:t> al vertice precedente in un cammino minimo da </a:t>
            </a:r>
            <a:r>
              <a:rPr lang="it-IT" dirty="0" err="1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s</a:t>
            </a:r>
            <a:r>
              <a:rPr lang="it-IT" dirty="0">
                <a:latin typeface="Comic Sans MS" charset="0"/>
                <a:ea typeface="ＭＳ Ｐゴシック" charset="0"/>
              </a:rPr>
              <a:t> a </a:t>
            </a:r>
            <a:r>
              <a:rPr lang="it-IT" dirty="0" smtClean="0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v</a:t>
            </a:r>
            <a:endParaRPr lang="it-IT" dirty="0">
              <a:latin typeface="Comic Sans MS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3" grpId="0" build="p" bldLvl="3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Rectangle 5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it-IT" dirty="0">
                <a:latin typeface="Arial" charset="0"/>
                <a:ea typeface="ＭＳ Ｐゴシック" charset="0"/>
              </a:rPr>
              <a:t>Scomposizione dei </a:t>
            </a:r>
            <a:r>
              <a:rPr lang="it-IT" dirty="0" smtClean="0">
                <a:latin typeface="Arial" charset="0"/>
                <a:ea typeface="ＭＳ Ｐゴシック" charset="0"/>
              </a:rPr>
              <a:t>costi</a:t>
            </a:r>
            <a:endParaRPr lang="it-IT" dirty="0">
              <a:latin typeface="Arial" charset="0"/>
              <a:ea typeface="ＭＳ Ｐゴシック" charset="0"/>
            </a:endParaRPr>
          </a:p>
        </p:txBody>
      </p:sp>
      <p:sp>
        <p:nvSpPr>
          <p:cNvPr id="24582" name="Rectangle 6"/>
          <p:cNvSpPr>
            <a:spLocks noGrp="1" noChangeArrowheads="1"/>
          </p:cNvSpPr>
          <p:nvPr>
            <p:ph idx="1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it-IT" dirty="0">
                <a:latin typeface="Comic Sans MS" charset="0"/>
                <a:ea typeface="ＭＳ Ｐゴシック" charset="0"/>
              </a:rPr>
              <a:t> </a:t>
            </a:r>
            <a:r>
              <a:rPr lang="it-IT" dirty="0" smtClean="0">
                <a:latin typeface="Comic Sans MS" charset="0"/>
                <a:ea typeface="ＭＳ Ｐゴシック" charset="0"/>
              </a:rPr>
              <a:t>TEOREMA</a:t>
            </a:r>
          </a:p>
          <a:p>
            <a:pPr marL="457200" lvl="1" indent="0">
              <a:buNone/>
            </a:pPr>
            <a:r>
              <a:rPr lang="it-IT" dirty="0" smtClean="0">
                <a:solidFill>
                  <a:schemeClr val="tx1"/>
                </a:solidFill>
                <a:latin typeface="Comic Sans MS" charset="0"/>
                <a:ea typeface="ＭＳ Ｐゴシック" charset="0"/>
              </a:rPr>
              <a:t>Se </a:t>
            </a:r>
            <a:r>
              <a:rPr lang="it-IT" dirty="0" err="1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p</a:t>
            </a:r>
            <a:r>
              <a:rPr lang="it-IT" dirty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 </a:t>
            </a:r>
            <a:r>
              <a:rPr lang="it-IT" dirty="0">
                <a:solidFill>
                  <a:schemeClr val="tx1"/>
                </a:solidFill>
                <a:latin typeface="Comic Sans MS" charset="0"/>
                <a:ea typeface="ＭＳ Ｐゴシック" charset="0"/>
              </a:rPr>
              <a:t>è un cammino minimo da </a:t>
            </a:r>
            <a:r>
              <a:rPr lang="it-IT" dirty="0" err="1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s</a:t>
            </a:r>
            <a:r>
              <a:rPr lang="it-IT" dirty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 </a:t>
            </a:r>
            <a:r>
              <a:rPr lang="it-IT" dirty="0">
                <a:solidFill>
                  <a:schemeClr val="tx1"/>
                </a:solidFill>
                <a:latin typeface="Comic Sans MS" charset="0"/>
                <a:ea typeface="ＭＳ Ｐゴシック" charset="0"/>
              </a:rPr>
              <a:t>ad un vertice </a:t>
            </a:r>
            <a:r>
              <a:rPr lang="it-IT" dirty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v</a:t>
            </a:r>
            <a:r>
              <a:rPr lang="it-IT" dirty="0">
                <a:solidFill>
                  <a:schemeClr val="tx1"/>
                </a:solidFill>
                <a:latin typeface="Comic Sans MS" charset="0"/>
                <a:ea typeface="ＭＳ Ｐゴシック" charset="0"/>
              </a:rPr>
              <a:t> </a:t>
            </a:r>
            <a:r>
              <a:rPr lang="it-IT" dirty="0">
                <a:solidFill>
                  <a:schemeClr val="tx1"/>
                </a:solidFill>
                <a:latin typeface="Comic Sans MS" charset="0"/>
                <a:ea typeface="ＭＳ Ｐゴシック" charset="0"/>
                <a:sym typeface="Symbol" charset="0"/>
              </a:rPr>
              <a:t>diverso da </a:t>
            </a:r>
            <a:r>
              <a:rPr lang="it-IT" dirty="0" err="1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s</a:t>
            </a:r>
            <a:r>
              <a:rPr lang="it-IT" dirty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 </a:t>
            </a:r>
            <a:r>
              <a:rPr lang="it-IT" dirty="0">
                <a:solidFill>
                  <a:schemeClr val="tx1"/>
                </a:solidFill>
                <a:latin typeface="Comic Sans MS" charset="0"/>
                <a:ea typeface="ＭＳ Ｐゴシック" charset="0"/>
              </a:rPr>
              <a:t>ed </a:t>
            </a:r>
            <a:r>
              <a:rPr lang="it-IT" dirty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u</a:t>
            </a:r>
            <a:r>
              <a:rPr lang="it-IT" dirty="0">
                <a:solidFill>
                  <a:schemeClr val="tx1"/>
                </a:solidFill>
                <a:latin typeface="Comic Sans MS" charset="0"/>
                <a:ea typeface="ＭＳ Ｐゴシック" charset="0"/>
              </a:rPr>
              <a:t> è il vertice che precede </a:t>
            </a:r>
            <a:r>
              <a:rPr lang="it-IT" dirty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v</a:t>
            </a:r>
            <a:r>
              <a:rPr lang="it-IT" dirty="0">
                <a:solidFill>
                  <a:schemeClr val="tx1"/>
                </a:solidFill>
                <a:latin typeface="Comic Sans MS" charset="0"/>
                <a:ea typeface="ＭＳ Ｐゴシック" charset="0"/>
              </a:rPr>
              <a:t> nel cammino allora</a:t>
            </a:r>
          </a:p>
          <a:p>
            <a:pPr algn="ctr">
              <a:buFont typeface="Wingdings" charset="0"/>
              <a:buNone/>
            </a:pPr>
            <a:r>
              <a:rPr lang="it-IT" dirty="0">
                <a:solidFill>
                  <a:schemeClr val="hlink"/>
                </a:solidFill>
                <a:latin typeface="Comic Sans MS" charset="0"/>
                <a:ea typeface="ＭＳ Ｐゴシック" charset="0"/>
                <a:sym typeface="Symbol" charset="0"/>
              </a:rPr>
              <a:t></a:t>
            </a:r>
            <a:r>
              <a:rPr lang="it-IT" dirty="0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(</a:t>
            </a:r>
            <a:r>
              <a:rPr lang="it-IT" dirty="0" err="1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s,v</a:t>
            </a:r>
            <a:r>
              <a:rPr lang="it-IT" dirty="0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) = </a:t>
            </a:r>
            <a:r>
              <a:rPr lang="it-IT" dirty="0">
                <a:solidFill>
                  <a:schemeClr val="hlink"/>
                </a:solidFill>
                <a:latin typeface="Comic Sans MS" charset="0"/>
                <a:ea typeface="ＭＳ Ｐゴシック" charset="0"/>
                <a:sym typeface="Symbol" charset="0"/>
              </a:rPr>
              <a:t></a:t>
            </a:r>
            <a:r>
              <a:rPr lang="it-IT" dirty="0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(</a:t>
            </a:r>
            <a:r>
              <a:rPr lang="it-IT" dirty="0" err="1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s,u</a:t>
            </a:r>
            <a:r>
              <a:rPr lang="it-IT" dirty="0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) + </a:t>
            </a:r>
            <a:r>
              <a:rPr lang="it-IT" dirty="0" err="1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W</a:t>
            </a:r>
            <a:r>
              <a:rPr lang="it-IT" dirty="0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(</a:t>
            </a:r>
            <a:r>
              <a:rPr lang="it-IT" dirty="0" err="1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u,v</a:t>
            </a:r>
            <a:r>
              <a:rPr lang="it-IT" dirty="0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)</a:t>
            </a:r>
            <a:endParaRPr lang="it-IT" dirty="0">
              <a:latin typeface="Comic Sans MS" charset="0"/>
              <a:ea typeface="ＭＳ Ｐゴシック" charset="0"/>
            </a:endParaRPr>
          </a:p>
          <a:p>
            <a:r>
              <a:rPr lang="it-IT" dirty="0" smtClean="0">
                <a:latin typeface="Comic Sans MS" charset="0"/>
                <a:ea typeface="ＭＳ Ｐゴシック" charset="0"/>
              </a:rPr>
              <a:t>DIMOSTRAZIONE</a:t>
            </a:r>
          </a:p>
          <a:p>
            <a:pPr marL="457200" lvl="1" indent="0">
              <a:buNone/>
            </a:pPr>
            <a:r>
              <a:rPr lang="it-IT" dirty="0" smtClean="0">
                <a:solidFill>
                  <a:srgbClr val="000000"/>
                </a:solidFill>
                <a:latin typeface="Comic Sans MS" charset="0"/>
                <a:ea typeface="ＭＳ Ｐゴシック" charset="0"/>
              </a:rPr>
              <a:t>Conseguenza </a:t>
            </a:r>
            <a:r>
              <a:rPr lang="it-IT" dirty="0">
                <a:solidFill>
                  <a:srgbClr val="000000"/>
                </a:solidFill>
                <a:latin typeface="Comic Sans MS" charset="0"/>
                <a:ea typeface="ＭＳ Ｐゴシック" charset="0"/>
              </a:rPr>
              <a:t>della sottostruttura ottima:  </a:t>
            </a:r>
          </a:p>
          <a:p>
            <a:pPr algn="ctr">
              <a:buFont typeface="Wingdings" charset="0"/>
              <a:buNone/>
            </a:pPr>
            <a:r>
              <a:rPr lang="it-IT" dirty="0">
                <a:solidFill>
                  <a:schemeClr val="hlink"/>
                </a:solidFill>
                <a:latin typeface="Comic Sans MS" charset="0"/>
                <a:ea typeface="ＭＳ Ｐゴシック" charset="0"/>
                <a:sym typeface="Symbol" charset="0"/>
              </a:rPr>
              <a:t></a:t>
            </a:r>
            <a:r>
              <a:rPr lang="it-IT" dirty="0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(</a:t>
            </a:r>
            <a:r>
              <a:rPr lang="it-IT" dirty="0" err="1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s,v</a:t>
            </a:r>
            <a:r>
              <a:rPr lang="it-IT" dirty="0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) = </a:t>
            </a:r>
            <a:r>
              <a:rPr lang="it-IT" dirty="0" err="1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W</a:t>
            </a:r>
            <a:r>
              <a:rPr lang="it-IT" dirty="0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(</a:t>
            </a:r>
            <a:r>
              <a:rPr lang="it-IT" dirty="0" err="1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p</a:t>
            </a:r>
            <a:r>
              <a:rPr lang="it-IT" dirty="0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) = </a:t>
            </a:r>
            <a:r>
              <a:rPr lang="it-IT" dirty="0">
                <a:solidFill>
                  <a:schemeClr val="hlink"/>
                </a:solidFill>
                <a:latin typeface="Comic Sans MS" charset="0"/>
                <a:ea typeface="ＭＳ Ｐゴシック" charset="0"/>
                <a:sym typeface="Symbol" charset="0"/>
              </a:rPr>
              <a:t></a:t>
            </a:r>
            <a:r>
              <a:rPr lang="it-IT" dirty="0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(</a:t>
            </a:r>
            <a:r>
              <a:rPr lang="it-IT" dirty="0" err="1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s,u</a:t>
            </a:r>
            <a:r>
              <a:rPr lang="it-IT" dirty="0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) + </a:t>
            </a:r>
            <a:r>
              <a:rPr lang="it-IT" dirty="0" err="1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W</a:t>
            </a:r>
            <a:r>
              <a:rPr lang="it-IT" dirty="0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(</a:t>
            </a:r>
            <a:r>
              <a:rPr lang="it-IT" dirty="0" err="1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u,v</a:t>
            </a:r>
            <a:r>
              <a:rPr lang="it-IT" dirty="0" smtClean="0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)</a:t>
            </a:r>
            <a:endParaRPr lang="it-IT" dirty="0">
              <a:latin typeface="Comic Sans MS" charset="0"/>
              <a:ea typeface="ＭＳ Ｐゴシック" charset="0"/>
            </a:endParaRPr>
          </a:p>
          <a:p>
            <a:endParaRPr lang="it-IT" dirty="0">
              <a:latin typeface="Comic Sans MS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2" grpId="0" build="p" bldLvl="3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Rectangle 5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it-IT" sz="2800" dirty="0" smtClean="0">
                <a:latin typeface="Arial" charset="0"/>
                <a:ea typeface="ＭＳ Ｐゴシック" charset="0"/>
              </a:rPr>
              <a:t>Limite superiore costi </a:t>
            </a:r>
            <a:r>
              <a:rPr lang="it-IT" sz="2800" dirty="0">
                <a:latin typeface="Arial" charset="0"/>
                <a:ea typeface="ＭＳ Ｐゴシック" charset="0"/>
              </a:rPr>
              <a:t>di cammino minimo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idx="1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it-IT" dirty="0">
                <a:latin typeface="Comic Sans MS" charset="0"/>
                <a:ea typeface="ＭＳ Ｐゴシック" charset="0"/>
              </a:rPr>
              <a:t> </a:t>
            </a:r>
            <a:r>
              <a:rPr lang="it-IT" dirty="0" smtClean="0">
                <a:latin typeface="Comic Sans MS" charset="0"/>
                <a:ea typeface="ＭＳ Ｐゴシック" charset="0"/>
              </a:rPr>
              <a:t>TEOREMA</a:t>
            </a:r>
          </a:p>
          <a:p>
            <a:pPr marL="457200" lvl="1" indent="0">
              <a:buNone/>
            </a:pPr>
            <a:r>
              <a:rPr lang="it-IT" dirty="0" smtClean="0">
                <a:solidFill>
                  <a:srgbClr val="000000"/>
                </a:solidFill>
              </a:rPr>
              <a:t>Per ogni arco </a:t>
            </a:r>
            <a:r>
              <a:rPr lang="it-IT" b="1" i="1" dirty="0" err="1" smtClean="0">
                <a:solidFill>
                  <a:srgbClr val="FF0000"/>
                </a:solidFill>
              </a:rPr>
              <a:t>uv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rgbClr val="000000"/>
                </a:solidFill>
              </a:rPr>
              <a:t>vale la </a:t>
            </a:r>
            <a:r>
              <a:rPr lang="it-IT" i="1" dirty="0" smtClean="0">
                <a:solidFill>
                  <a:srgbClr val="000000"/>
                </a:solidFill>
              </a:rPr>
              <a:t>disuguaglianza triangolare</a:t>
            </a:r>
            <a:r>
              <a:rPr lang="it-IT" dirty="0" smtClean="0">
                <a:solidFill>
                  <a:srgbClr val="000000"/>
                </a:solidFill>
              </a:rPr>
              <a:t>: </a:t>
            </a:r>
          </a:p>
          <a:p>
            <a:pPr marL="0" indent="0" algn="ctr">
              <a:spcBef>
                <a:spcPct val="20000"/>
              </a:spcBef>
              <a:buNone/>
            </a:pPr>
            <a:r>
              <a:rPr lang="it-IT" dirty="0" smtClean="0">
                <a:solidFill>
                  <a:schemeClr val="hlink"/>
                </a:solidFill>
                <a:latin typeface="Comic Sans MS" charset="0"/>
                <a:ea typeface="ＭＳ Ｐゴシック" charset="0"/>
                <a:sym typeface="Symbol" charset="0"/>
              </a:rPr>
              <a:t></a:t>
            </a:r>
            <a:r>
              <a:rPr lang="it-IT" dirty="0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(</a:t>
            </a:r>
            <a:r>
              <a:rPr lang="it-IT" dirty="0" err="1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s,v</a:t>
            </a:r>
            <a:r>
              <a:rPr lang="it-IT" dirty="0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) </a:t>
            </a:r>
            <a:r>
              <a:rPr lang="it-IT" dirty="0" smtClean="0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≤ </a:t>
            </a:r>
            <a:r>
              <a:rPr lang="it-IT" dirty="0">
                <a:solidFill>
                  <a:schemeClr val="hlink"/>
                </a:solidFill>
                <a:latin typeface="Comic Sans MS" charset="0"/>
                <a:ea typeface="ＭＳ Ｐゴシック" charset="0"/>
                <a:sym typeface="Symbol" charset="0"/>
              </a:rPr>
              <a:t></a:t>
            </a:r>
            <a:r>
              <a:rPr lang="it-IT" dirty="0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(</a:t>
            </a:r>
            <a:r>
              <a:rPr lang="it-IT" dirty="0" err="1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s,u</a:t>
            </a:r>
            <a:r>
              <a:rPr lang="it-IT" dirty="0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) + </a:t>
            </a:r>
            <a:r>
              <a:rPr lang="it-IT" dirty="0" err="1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W</a:t>
            </a:r>
            <a:r>
              <a:rPr lang="it-IT" dirty="0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(</a:t>
            </a:r>
            <a:r>
              <a:rPr lang="it-IT" dirty="0" err="1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u,v</a:t>
            </a:r>
            <a:r>
              <a:rPr lang="it-IT" dirty="0">
                <a:solidFill>
                  <a:schemeClr val="hlink"/>
                </a:solidFill>
                <a:latin typeface="Comic Sans MS" charset="0"/>
                <a:ea typeface="ＭＳ Ｐゴシック" charset="0"/>
              </a:rPr>
              <a:t>)</a:t>
            </a:r>
            <a:endParaRPr lang="it-IT" dirty="0">
              <a:latin typeface="Comic Sans MS" charset="0"/>
              <a:ea typeface="ＭＳ Ｐゴシック" charset="0"/>
            </a:endParaRPr>
          </a:p>
          <a:p>
            <a:r>
              <a:rPr lang="it-IT" dirty="0" smtClean="0">
                <a:latin typeface="Comic Sans MS" charset="0"/>
                <a:ea typeface="ＭＳ Ｐゴシック" charset="0"/>
              </a:rPr>
              <a:t>DIMOSTRAZIONE</a:t>
            </a:r>
          </a:p>
          <a:p>
            <a:pPr lvl="1"/>
            <a:r>
              <a:rPr lang="it-IT" dirty="0" smtClean="0">
                <a:solidFill>
                  <a:schemeClr val="tx1"/>
                </a:solidFill>
              </a:rPr>
              <a:t>Se </a:t>
            </a:r>
            <a:r>
              <a:rPr lang="it-IT" b="1" i="1" dirty="0" smtClean="0">
                <a:solidFill>
                  <a:srgbClr val="FF0000"/>
                </a:solidFill>
              </a:rPr>
              <a:t>u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chemeClr val="tx1"/>
                </a:solidFill>
              </a:rPr>
              <a:t>non è raggiungibile da </a:t>
            </a:r>
            <a:r>
              <a:rPr lang="it-IT" i="1" dirty="0" err="1" smtClean="0">
                <a:solidFill>
                  <a:srgbClr val="FF0000"/>
                </a:solidFill>
              </a:rPr>
              <a:t>s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chemeClr val="tx1"/>
                </a:solidFill>
              </a:rPr>
              <a:t>allora banalmente vale </a:t>
            </a:r>
          </a:p>
          <a:p>
            <a:pPr marL="457200" lvl="1" indent="0" algn="ctr">
              <a:spcBef>
                <a:spcPts val="0"/>
              </a:spcBef>
              <a:buNone/>
            </a:pPr>
            <a:r>
              <a:rPr lang="it-IT" u="sng" dirty="0" smtClean="0">
                <a:solidFill>
                  <a:srgbClr val="FF0000"/>
                </a:solidFill>
                <a:sym typeface="Symbol" charset="0"/>
              </a:rPr>
              <a:t></a:t>
            </a:r>
            <a:r>
              <a:rPr lang="it-IT" u="sng" dirty="0" smtClean="0">
                <a:solidFill>
                  <a:srgbClr val="FF0000"/>
                </a:solidFill>
              </a:rPr>
              <a:t>(</a:t>
            </a:r>
            <a:r>
              <a:rPr lang="it-IT" i="1" u="sng" dirty="0" err="1" smtClean="0">
                <a:solidFill>
                  <a:srgbClr val="FF0000"/>
                </a:solidFill>
              </a:rPr>
              <a:t>s,u</a:t>
            </a:r>
            <a:r>
              <a:rPr lang="it-IT" u="sng" dirty="0" smtClean="0">
                <a:solidFill>
                  <a:srgbClr val="FF0000"/>
                </a:solidFill>
              </a:rPr>
              <a:t>)</a:t>
            </a:r>
            <a:r>
              <a:rPr lang="it-IT" dirty="0" smtClean="0"/>
              <a:t> </a:t>
            </a:r>
            <a:r>
              <a:rPr lang="it-IT" b="1" dirty="0" smtClean="0">
                <a:solidFill>
                  <a:srgbClr val="FF0000"/>
                </a:solidFill>
              </a:rPr>
              <a:t>=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sz="2400" b="1" dirty="0" smtClean="0">
                <a:solidFill>
                  <a:srgbClr val="FF0000"/>
                </a:solidFill>
                <a:sym typeface="Symbol" charset="0"/>
              </a:rPr>
              <a:t></a:t>
            </a:r>
            <a:r>
              <a:rPr lang="it-IT" sz="3400" b="1" dirty="0" smtClean="0">
                <a:sym typeface="Symbol" charset="0"/>
              </a:rPr>
              <a:t>  </a:t>
            </a:r>
            <a:r>
              <a:rPr lang="it-IT" dirty="0" smtClean="0">
                <a:solidFill>
                  <a:schemeClr val="tx1"/>
                </a:solidFill>
              </a:rPr>
              <a:t>e</a:t>
            </a:r>
            <a:r>
              <a:rPr lang="it-IT" dirty="0" smtClean="0"/>
              <a:t>      </a:t>
            </a:r>
            <a:r>
              <a:rPr lang="it-IT" i="1" dirty="0" smtClean="0">
                <a:solidFill>
                  <a:srgbClr val="FF0000"/>
                </a:solidFill>
                <a:sym typeface="Symbol" charset="0"/>
              </a:rPr>
              <a:t></a:t>
            </a:r>
            <a:r>
              <a:rPr lang="it-IT" i="1" dirty="0" smtClean="0">
                <a:solidFill>
                  <a:srgbClr val="FF0000"/>
                </a:solidFill>
              </a:rPr>
              <a:t>(</a:t>
            </a:r>
            <a:r>
              <a:rPr lang="it-IT" i="1" dirty="0" err="1" smtClean="0">
                <a:solidFill>
                  <a:srgbClr val="FF0000"/>
                </a:solidFill>
              </a:rPr>
              <a:t>s,v</a:t>
            </a:r>
            <a:r>
              <a:rPr lang="it-IT" i="1" dirty="0" smtClean="0">
                <a:solidFill>
                  <a:srgbClr val="FF0000"/>
                </a:solidFill>
              </a:rPr>
              <a:t>) </a:t>
            </a:r>
            <a:r>
              <a:rPr lang="it-IT" i="1" dirty="0" smtClean="0">
                <a:solidFill>
                  <a:srgbClr val="FF0000"/>
                </a:solidFill>
                <a:sym typeface="Symbol" charset="0"/>
              </a:rPr>
              <a:t></a:t>
            </a:r>
            <a:r>
              <a:rPr lang="it-IT" i="1" dirty="0" smtClean="0">
                <a:solidFill>
                  <a:srgbClr val="FF0000"/>
                </a:solidFill>
              </a:rPr>
              <a:t> </a:t>
            </a:r>
            <a:r>
              <a:rPr lang="it-IT" sz="2400" i="1" dirty="0" smtClean="0">
                <a:solidFill>
                  <a:srgbClr val="FF0000"/>
                </a:solidFill>
                <a:sym typeface="Symbol" charset="0"/>
              </a:rPr>
              <a:t></a:t>
            </a:r>
            <a:r>
              <a:rPr lang="it-IT" i="1" dirty="0" smtClean="0">
                <a:solidFill>
                  <a:srgbClr val="FF0000"/>
                </a:solidFill>
              </a:rPr>
              <a:t> + </a:t>
            </a:r>
            <a:r>
              <a:rPr lang="it-IT" i="1" dirty="0" err="1" smtClean="0">
                <a:solidFill>
                  <a:srgbClr val="FF0000"/>
                </a:solidFill>
              </a:rPr>
              <a:t>W</a:t>
            </a:r>
            <a:r>
              <a:rPr lang="it-IT" i="1" dirty="0" smtClean="0">
                <a:solidFill>
                  <a:srgbClr val="FF0000"/>
                </a:solidFill>
              </a:rPr>
              <a:t>(</a:t>
            </a:r>
            <a:r>
              <a:rPr lang="it-IT" i="1" dirty="0" err="1" smtClean="0">
                <a:solidFill>
                  <a:srgbClr val="FF0000"/>
                </a:solidFill>
              </a:rPr>
              <a:t>u,v</a:t>
            </a:r>
            <a:r>
              <a:rPr lang="it-IT" i="1" dirty="0" smtClean="0">
                <a:solidFill>
                  <a:srgbClr val="FF0000"/>
                </a:solidFill>
              </a:rPr>
              <a:t>)</a:t>
            </a:r>
            <a:endParaRPr lang="it-IT" dirty="0" smtClean="0"/>
          </a:p>
          <a:p>
            <a:pPr lvl="1"/>
            <a:r>
              <a:rPr lang="it-IT" dirty="0" smtClean="0">
                <a:solidFill>
                  <a:srgbClr val="000000"/>
                </a:solidFill>
              </a:rPr>
              <a:t>Se </a:t>
            </a:r>
            <a:r>
              <a:rPr lang="it-IT" b="1" i="1" dirty="0" smtClean="0">
                <a:solidFill>
                  <a:srgbClr val="FF0000"/>
                </a:solidFill>
              </a:rPr>
              <a:t>u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rgbClr val="000000"/>
                </a:solidFill>
              </a:rPr>
              <a:t>è raggiungibile da </a:t>
            </a:r>
            <a:r>
              <a:rPr lang="it-IT" b="1" i="1" dirty="0" err="1" smtClean="0">
                <a:solidFill>
                  <a:srgbClr val="FF0000"/>
                </a:solidFill>
              </a:rPr>
              <a:t>s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rgbClr val="000000"/>
                </a:solidFill>
              </a:rPr>
              <a:t>allora </a:t>
            </a:r>
            <a:r>
              <a:rPr lang="it-IT" dirty="0" smtClean="0">
                <a:solidFill>
                  <a:srgbClr val="FF0000"/>
                </a:solidFill>
                <a:latin typeface="Comic Sans MS" charset="0"/>
                <a:ea typeface="ＭＳ Ｐゴシック" charset="0"/>
                <a:sym typeface="Symbol" charset="0"/>
              </a:rPr>
              <a:t></a:t>
            </a:r>
            <a:r>
              <a:rPr lang="it-IT" dirty="0" smtClean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(</a:t>
            </a:r>
            <a:r>
              <a:rPr lang="it-IT" dirty="0" err="1" smtClean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s,u</a:t>
            </a:r>
            <a:r>
              <a:rPr lang="it-IT" dirty="0" smtClean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) + </a:t>
            </a:r>
            <a:r>
              <a:rPr lang="it-IT" dirty="0" err="1" smtClean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W</a:t>
            </a:r>
            <a:r>
              <a:rPr lang="it-IT" dirty="0" smtClean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(</a:t>
            </a:r>
            <a:r>
              <a:rPr lang="it-IT" dirty="0" err="1" smtClean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u,v</a:t>
            </a:r>
            <a:r>
              <a:rPr lang="it-IT" dirty="0" smtClean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) </a:t>
            </a:r>
            <a:r>
              <a:rPr lang="it-IT" dirty="0" smtClean="0">
                <a:solidFill>
                  <a:srgbClr val="000000"/>
                </a:solidFill>
              </a:rPr>
              <a:t>è il costo di un cammino da </a:t>
            </a:r>
            <a:r>
              <a:rPr lang="it-IT" b="1" i="1" dirty="0" err="1" smtClean="0">
                <a:solidFill>
                  <a:srgbClr val="FF0000"/>
                </a:solidFill>
              </a:rPr>
              <a:t>s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rgbClr val="000000"/>
                </a:solidFill>
              </a:rPr>
              <a:t>a </a:t>
            </a:r>
            <a:r>
              <a:rPr lang="it-IT" b="1" i="1" dirty="0" smtClean="0">
                <a:solidFill>
                  <a:srgbClr val="FF0000"/>
                </a:solidFill>
              </a:rPr>
              <a:t>v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rgbClr val="000000"/>
                </a:solidFill>
              </a:rPr>
              <a:t>ed è quindi maggiore o uguale di </a:t>
            </a:r>
            <a:r>
              <a:rPr lang="it-IT" dirty="0" smtClean="0">
                <a:solidFill>
                  <a:srgbClr val="FF0000"/>
                </a:solidFill>
                <a:latin typeface="Comic Sans MS" charset="0"/>
                <a:ea typeface="ＭＳ Ｐゴシック" charset="0"/>
                <a:sym typeface="Symbol" charset="0"/>
              </a:rPr>
              <a:t></a:t>
            </a:r>
            <a:r>
              <a:rPr lang="it-IT" dirty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(</a:t>
            </a:r>
            <a:r>
              <a:rPr lang="it-IT" dirty="0" err="1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s,v</a:t>
            </a:r>
            <a:r>
              <a:rPr lang="it-IT" dirty="0" smtClean="0">
                <a:solidFill>
                  <a:srgbClr val="FF0000"/>
                </a:solidFill>
                <a:latin typeface="Comic Sans MS" charset="0"/>
                <a:ea typeface="ＭＳ Ｐゴシック" charset="0"/>
              </a:rPr>
              <a:t>)</a:t>
            </a:r>
            <a:endParaRPr lang="it-IT" dirty="0">
              <a:solidFill>
                <a:srgbClr val="FF0000"/>
              </a:solidFill>
              <a:latin typeface="Comic Sans MS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5039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2" grpId="0" build="p" bldLvl="3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Tecnica del rilassamento</a:t>
            </a:r>
            <a:endParaRPr lang="it-IT"/>
          </a:p>
        </p:txBody>
      </p:sp>
      <p:sp>
        <p:nvSpPr>
          <p:cNvPr id="28677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Gli algoritmi che studieremo per il problema dei cammini minimi usano la </a:t>
            </a:r>
            <a:r>
              <a:rPr lang="it-IT" dirty="0" smtClean="0">
                <a:solidFill>
                  <a:srgbClr val="FF0000"/>
                </a:solidFill>
              </a:rPr>
              <a:t>tecnica del rilassamento</a:t>
            </a:r>
          </a:p>
          <a:p>
            <a:r>
              <a:rPr lang="it-IT" dirty="0" smtClean="0"/>
              <a:t>Aggiungiamo ad ogni vertice </a:t>
            </a:r>
            <a:r>
              <a:rPr lang="it-IT" dirty="0" smtClean="0">
                <a:solidFill>
                  <a:srgbClr val="FF0000"/>
                </a:solidFill>
              </a:rPr>
              <a:t>v</a:t>
            </a:r>
            <a:r>
              <a:rPr lang="it-IT" dirty="0" smtClean="0"/>
              <a:t> del grafo un campo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d[v]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/>
              <a:t>che durante tutta l’esecuzione dell’algoritmo è un limite superiore per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</a:t>
            </a:r>
            <a:r>
              <a:rPr lang="it-IT" dirty="0" smtClean="0">
                <a:solidFill>
                  <a:srgbClr val="FF0000"/>
                </a:solidFill>
              </a:rPr>
              <a:t>(</a:t>
            </a:r>
            <a:r>
              <a:rPr lang="it-IT" dirty="0" err="1" smtClean="0">
                <a:solidFill>
                  <a:srgbClr val="FF0000"/>
                </a:solidFill>
              </a:rPr>
              <a:t>s,v</a:t>
            </a:r>
            <a:r>
              <a:rPr lang="it-IT" dirty="0" smtClean="0">
                <a:solidFill>
                  <a:srgbClr val="FF0000"/>
                </a:solidFill>
              </a:rPr>
              <a:t>)</a:t>
            </a:r>
            <a:r>
              <a:rPr lang="it-IT" dirty="0" smtClean="0"/>
              <a:t> mentre alla fine è proprio uguale a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</a:t>
            </a:r>
            <a:r>
              <a:rPr lang="it-IT" dirty="0" smtClean="0">
                <a:solidFill>
                  <a:srgbClr val="FF0000"/>
                </a:solidFill>
              </a:rPr>
              <a:t>(</a:t>
            </a:r>
            <a:r>
              <a:rPr lang="it-IT" dirty="0" err="1" smtClean="0">
                <a:solidFill>
                  <a:srgbClr val="FF0000"/>
                </a:solidFill>
              </a:rPr>
              <a:t>s,v</a:t>
            </a:r>
            <a:r>
              <a:rPr lang="it-IT" dirty="0" smtClean="0">
                <a:solidFill>
                  <a:srgbClr val="FF0000"/>
                </a:solidFill>
              </a:rPr>
              <a:t>)</a:t>
            </a:r>
            <a:endParaRPr lang="it-IT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7" grpId="0" build="p" bldLvl="3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3"/>
          <p:cNvSpPr txBox="1">
            <a:spLocks noChangeArrowheads="1"/>
          </p:cNvSpPr>
          <p:nvPr/>
        </p:nvSpPr>
        <p:spPr bwMode="auto">
          <a:xfrm>
            <a:off x="533400" y="3352800"/>
            <a:ext cx="8077200" cy="2179058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it-IT" sz="2800" b="1" i="1" dirty="0">
                <a:latin typeface="Times New Roman" charset="0"/>
                <a:sym typeface="Symbol" charset="0"/>
              </a:rPr>
              <a:t>Inizializza</a:t>
            </a:r>
            <a:r>
              <a:rPr lang="it-IT" sz="2800" b="1" dirty="0">
                <a:latin typeface="Times New Roman" charset="0"/>
                <a:sym typeface="Symbol" charset="0"/>
              </a:rPr>
              <a:t>(</a:t>
            </a:r>
            <a:r>
              <a:rPr lang="it-IT" sz="2800" b="1" i="1" dirty="0">
                <a:latin typeface="Times New Roman" charset="0"/>
                <a:sym typeface="Symbol" charset="0"/>
              </a:rPr>
              <a:t>G</a:t>
            </a:r>
            <a:r>
              <a:rPr lang="it-IT" sz="2800" b="1" dirty="0">
                <a:latin typeface="Times New Roman" charset="0"/>
                <a:sym typeface="Symbol" charset="0"/>
              </a:rPr>
              <a:t>, </a:t>
            </a:r>
            <a:r>
              <a:rPr lang="it-IT" sz="2800" b="1" i="1" dirty="0" err="1">
                <a:latin typeface="Times New Roman" charset="0"/>
                <a:sym typeface="Symbol" charset="0"/>
              </a:rPr>
              <a:t>s</a:t>
            </a:r>
            <a:r>
              <a:rPr lang="it-IT" sz="2800" b="1" dirty="0">
                <a:latin typeface="Times New Roman" charset="0"/>
                <a:sym typeface="Symbol" charset="0"/>
              </a:rPr>
              <a:t>)                    </a:t>
            </a:r>
            <a:r>
              <a:rPr lang="it-IT" sz="2400" b="1" i="1" dirty="0">
                <a:solidFill>
                  <a:srgbClr val="008000"/>
                </a:solidFill>
                <a:latin typeface="Times New Roman" charset="0"/>
                <a:sym typeface="Symbol" charset="0"/>
              </a:rPr>
              <a:t>G</a:t>
            </a:r>
            <a:r>
              <a:rPr lang="it-IT" sz="2400" b="1" dirty="0">
                <a:solidFill>
                  <a:srgbClr val="008000"/>
                </a:solidFill>
                <a:latin typeface="Times New Roman" charset="0"/>
                <a:sym typeface="Symbol" charset="0"/>
              </a:rPr>
              <a:t> grafo </a:t>
            </a:r>
            <a:r>
              <a:rPr lang="it-IT" sz="2400" b="1" dirty="0" smtClean="0">
                <a:solidFill>
                  <a:srgbClr val="008000"/>
                </a:solidFill>
                <a:latin typeface="Times New Roman" charset="0"/>
                <a:sym typeface="Symbol" charset="0"/>
              </a:rPr>
              <a:t>pesato</a:t>
            </a:r>
            <a:endParaRPr lang="it-IT" sz="2400" b="1" dirty="0">
              <a:solidFill>
                <a:srgbClr val="008000"/>
              </a:solidFill>
              <a:latin typeface="Times New Roman" charset="0"/>
              <a:sym typeface="Symbol" charset="0"/>
            </a:endParaRPr>
          </a:p>
          <a:p>
            <a:r>
              <a:rPr lang="it-IT" sz="2800" b="1" dirty="0">
                <a:latin typeface="Times New Roman" charset="0"/>
                <a:sym typeface="Symbol" charset="0"/>
              </a:rPr>
              <a:t>    for “ogni </a:t>
            </a:r>
            <a:r>
              <a:rPr lang="it-IT" sz="2800" b="1" i="1" dirty="0">
                <a:latin typeface="Times New Roman" charset="0"/>
                <a:sym typeface="Symbol" charset="0"/>
              </a:rPr>
              <a:t>v</a:t>
            </a:r>
            <a:r>
              <a:rPr lang="it-IT" sz="2800" b="1" dirty="0">
                <a:latin typeface="Times New Roman" charset="0"/>
                <a:sym typeface="Symbol" charset="0"/>
              </a:rPr>
              <a:t>  </a:t>
            </a:r>
            <a:r>
              <a:rPr lang="it-IT" sz="2800" b="1" i="1" dirty="0">
                <a:latin typeface="Times New Roman" charset="0"/>
                <a:sym typeface="Symbol" charset="0"/>
              </a:rPr>
              <a:t>V</a:t>
            </a:r>
            <a:r>
              <a:rPr lang="it-IT" sz="2800" b="1" dirty="0">
                <a:latin typeface="Times New Roman" charset="0"/>
                <a:sym typeface="Symbol" charset="0"/>
              </a:rPr>
              <a:t>[</a:t>
            </a:r>
            <a:r>
              <a:rPr lang="it-IT" sz="2800" b="1" i="1" dirty="0">
                <a:latin typeface="Times New Roman" charset="0"/>
                <a:sym typeface="Symbol" charset="0"/>
              </a:rPr>
              <a:t>G</a:t>
            </a:r>
            <a:r>
              <a:rPr lang="it-IT" sz="2800" b="1" dirty="0">
                <a:latin typeface="Times New Roman" charset="0"/>
                <a:sym typeface="Symbol" charset="0"/>
              </a:rPr>
              <a:t>]” do</a:t>
            </a:r>
          </a:p>
          <a:p>
            <a:r>
              <a:rPr lang="it-IT" sz="2800" b="1" dirty="0">
                <a:latin typeface="Times New Roman" charset="0"/>
                <a:sym typeface="Symbol" charset="0"/>
              </a:rPr>
              <a:t>         </a:t>
            </a:r>
            <a:r>
              <a:rPr lang="it-IT" sz="2800" b="1" dirty="0" smtClean="0">
                <a:latin typeface="Symbol" charset="0"/>
                <a:sym typeface="Symbol" charset="0"/>
              </a:rPr>
              <a:t></a:t>
            </a:r>
            <a:r>
              <a:rPr lang="it-IT" sz="2800" b="1" dirty="0" smtClean="0">
                <a:latin typeface="Times New Roman" charset="0"/>
                <a:sym typeface="Symbol" charset="0"/>
              </a:rPr>
              <a:t>[</a:t>
            </a:r>
            <a:r>
              <a:rPr lang="it-IT" sz="2800" b="1" i="1" dirty="0">
                <a:latin typeface="Times New Roman" charset="0"/>
                <a:sym typeface="Symbol" charset="0"/>
              </a:rPr>
              <a:t>v</a:t>
            </a:r>
            <a:r>
              <a:rPr lang="it-IT" sz="2800" b="1" dirty="0">
                <a:latin typeface="Times New Roman" charset="0"/>
                <a:sym typeface="Symbol" charset="0"/>
              </a:rPr>
              <a:t>] </a:t>
            </a:r>
            <a:r>
              <a:rPr lang="it-IT" sz="2800" b="1" dirty="0" smtClean="0">
                <a:latin typeface="Times New Roman" charset="0"/>
                <a:sym typeface="Symbol" charset="0"/>
              </a:rPr>
              <a:t>:= </a:t>
            </a:r>
            <a:r>
              <a:rPr lang="it-IT" sz="2800" b="1" dirty="0" err="1">
                <a:latin typeface="Times New Roman" charset="0"/>
                <a:sym typeface="Symbol" charset="0"/>
              </a:rPr>
              <a:t>nil</a:t>
            </a:r>
            <a:endParaRPr lang="it-IT" sz="2800" b="1" dirty="0">
              <a:latin typeface="Times New Roman" charset="0"/>
              <a:sym typeface="Symbol" charset="0"/>
            </a:endParaRPr>
          </a:p>
          <a:p>
            <a:pPr>
              <a:lnSpc>
                <a:spcPct val="70000"/>
              </a:lnSpc>
            </a:pPr>
            <a:r>
              <a:rPr lang="it-IT" sz="2800" b="1" dirty="0">
                <a:latin typeface="Times New Roman" charset="0"/>
                <a:sym typeface="Symbol" charset="0"/>
              </a:rPr>
              <a:t>         </a:t>
            </a:r>
            <a:r>
              <a:rPr lang="it-IT" sz="2800" b="1" i="1" dirty="0">
                <a:latin typeface="Times New Roman" charset="0"/>
                <a:sym typeface="Symbol" charset="0"/>
              </a:rPr>
              <a:t>d</a:t>
            </a:r>
            <a:r>
              <a:rPr lang="it-IT" sz="2800" b="1" dirty="0">
                <a:latin typeface="Times New Roman" charset="0"/>
                <a:sym typeface="Symbol" charset="0"/>
              </a:rPr>
              <a:t>[</a:t>
            </a:r>
            <a:r>
              <a:rPr lang="it-IT" sz="2800" b="1" i="1" dirty="0">
                <a:latin typeface="Times New Roman" charset="0"/>
                <a:sym typeface="Symbol" charset="0"/>
              </a:rPr>
              <a:t>v</a:t>
            </a:r>
            <a:r>
              <a:rPr lang="it-IT" sz="2800" b="1" dirty="0">
                <a:latin typeface="Times New Roman" charset="0"/>
                <a:sym typeface="Symbol" charset="0"/>
              </a:rPr>
              <a:t>] </a:t>
            </a:r>
            <a:r>
              <a:rPr lang="it-IT" sz="2800" b="1" dirty="0" smtClean="0">
                <a:latin typeface="Times New Roman" charset="0"/>
                <a:sym typeface="Symbol" charset="0"/>
              </a:rPr>
              <a:t>:= </a:t>
            </a:r>
            <a:r>
              <a:rPr lang="it-IT" sz="2800" b="1" dirty="0">
                <a:latin typeface="Times New Roman" charset="0"/>
                <a:sym typeface="Symbol" charset="0"/>
              </a:rPr>
              <a:t></a:t>
            </a:r>
          </a:p>
          <a:p>
            <a:r>
              <a:rPr lang="it-IT" sz="2800" b="1" dirty="0">
                <a:latin typeface="Times New Roman" charset="0"/>
                <a:sym typeface="Symbol" charset="0"/>
              </a:rPr>
              <a:t>    </a:t>
            </a:r>
            <a:r>
              <a:rPr lang="it-IT" sz="2800" b="1" i="1" dirty="0">
                <a:latin typeface="Times New Roman" charset="0"/>
                <a:sym typeface="Symbol" charset="0"/>
              </a:rPr>
              <a:t>d</a:t>
            </a:r>
            <a:r>
              <a:rPr lang="it-IT" sz="2800" b="1" dirty="0">
                <a:latin typeface="Times New Roman" charset="0"/>
                <a:sym typeface="Symbol" charset="0"/>
              </a:rPr>
              <a:t>[</a:t>
            </a:r>
            <a:r>
              <a:rPr lang="it-IT" sz="2800" b="1" i="1" dirty="0" err="1">
                <a:latin typeface="Times New Roman" charset="0"/>
                <a:sym typeface="Symbol" charset="0"/>
              </a:rPr>
              <a:t>s</a:t>
            </a:r>
            <a:r>
              <a:rPr lang="it-IT" sz="2800" b="1" dirty="0">
                <a:latin typeface="Times New Roman" charset="0"/>
                <a:sym typeface="Symbol" charset="0"/>
              </a:rPr>
              <a:t>] </a:t>
            </a:r>
            <a:r>
              <a:rPr lang="it-IT" sz="2800" b="1" dirty="0" smtClean="0">
                <a:latin typeface="Times New Roman" charset="0"/>
                <a:sym typeface="Symbol" charset="0"/>
              </a:rPr>
              <a:t>:= </a:t>
            </a:r>
            <a:r>
              <a:rPr lang="it-IT" sz="2800" b="1" dirty="0">
                <a:latin typeface="Times New Roman" charset="0"/>
                <a:sym typeface="Symbol" charset="0"/>
              </a:rPr>
              <a:t>0</a:t>
            </a:r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it-IT" dirty="0">
                <a:latin typeface="Arial" charset="0"/>
                <a:ea typeface="ＭＳ Ｐゴシック" charset="0"/>
              </a:rPr>
              <a:t>Tecnica del rilassamento</a:t>
            </a:r>
          </a:p>
        </p:txBody>
      </p:sp>
      <p:sp>
        <p:nvSpPr>
          <p:cNvPr id="30726" name="Rectangle 6"/>
          <p:cNvSpPr>
            <a:spLocks noGrp="1" noChangeArrowheads="1"/>
          </p:cNvSpPr>
          <p:nvPr>
            <p:ph idx="1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it-IT" dirty="0">
                <a:latin typeface="Comic Sans MS" charset="0"/>
                <a:ea typeface="ＭＳ Ｐゴシック" charset="0"/>
              </a:rPr>
              <a:t>L’inizializzazione dei campi </a:t>
            </a:r>
            <a:r>
              <a:rPr lang="it-IT" dirty="0" smtClean="0">
                <a:solidFill>
                  <a:schemeClr val="hlink"/>
                </a:solidFill>
                <a:latin typeface="Symbol" charset="0"/>
                <a:ea typeface="ＭＳ Ｐゴシック" charset="0"/>
                <a:sym typeface="Symbol" charset="0"/>
              </a:rPr>
              <a:t></a:t>
            </a:r>
            <a:r>
              <a:rPr lang="it-IT" dirty="0" smtClean="0">
                <a:solidFill>
                  <a:srgbClr val="FF0000"/>
                </a:solidFill>
                <a:latin typeface="Comic Sans MS" charset="0"/>
                <a:ea typeface="ＭＳ Ｐゴシック" charset="0"/>
                <a:sym typeface="Symbol" charset="0"/>
              </a:rPr>
              <a:t>[</a:t>
            </a:r>
            <a:r>
              <a:rPr lang="it-IT" dirty="0">
                <a:solidFill>
                  <a:srgbClr val="FF0000"/>
                </a:solidFill>
                <a:latin typeface="Comic Sans MS" charset="0"/>
                <a:ea typeface="ＭＳ Ｐゴシック" charset="0"/>
                <a:sym typeface="Symbol" charset="0"/>
              </a:rPr>
              <a:t>v]</a:t>
            </a:r>
            <a:r>
              <a:rPr lang="it-IT" dirty="0">
                <a:latin typeface="Comic Sans MS" charset="0"/>
                <a:ea typeface="ＭＳ Ｐゴシック" charset="0"/>
              </a:rPr>
              <a:t> e </a:t>
            </a:r>
            <a:r>
              <a:rPr lang="it-IT" dirty="0">
                <a:solidFill>
                  <a:srgbClr val="FF0000"/>
                </a:solidFill>
                <a:latin typeface="Comic Sans MS" charset="0"/>
                <a:ea typeface="ＭＳ Ｐゴシック" charset="0"/>
                <a:sym typeface="Symbol" charset="0"/>
              </a:rPr>
              <a:t>d[v]</a:t>
            </a:r>
            <a:r>
              <a:rPr lang="it-IT" dirty="0">
                <a:latin typeface="Comic Sans MS" charset="0"/>
                <a:ea typeface="ＭＳ Ｐゴシック" charset="0"/>
              </a:rPr>
              <a:t> è la stessa per tutti gli </a:t>
            </a:r>
            <a:r>
              <a:rPr lang="it-IT" dirty="0" smtClean="0">
                <a:latin typeface="Comic Sans MS" charset="0"/>
                <a:ea typeface="ＭＳ Ｐゴシック" charset="0"/>
              </a:rPr>
              <a:t>algoritmi</a:t>
            </a:r>
            <a:endParaRPr lang="it-IT" dirty="0">
              <a:latin typeface="Comic Sans MS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3"/>
          <p:cNvSpPr txBox="1">
            <a:spLocks noChangeArrowheads="1"/>
          </p:cNvSpPr>
          <p:nvPr/>
        </p:nvSpPr>
        <p:spPr bwMode="auto">
          <a:xfrm>
            <a:off x="611560" y="4005064"/>
            <a:ext cx="8077200" cy="1877437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it-IT" sz="2800" b="1" i="1" dirty="0">
                <a:latin typeface="Times New Roman" charset="0"/>
                <a:sym typeface="Symbol" charset="0"/>
              </a:rPr>
              <a:t>Rilassa</a:t>
            </a:r>
            <a:r>
              <a:rPr lang="it-IT" sz="2800" b="1" dirty="0">
                <a:latin typeface="Times New Roman" charset="0"/>
                <a:sym typeface="Symbol" charset="0"/>
              </a:rPr>
              <a:t>(</a:t>
            </a:r>
            <a:r>
              <a:rPr lang="it-IT" sz="2800" b="1" i="1" dirty="0">
                <a:latin typeface="Times New Roman" charset="0"/>
                <a:sym typeface="Symbol" charset="0"/>
              </a:rPr>
              <a:t>G</a:t>
            </a:r>
            <a:r>
              <a:rPr lang="it-IT" sz="2800" b="1" dirty="0">
                <a:latin typeface="Times New Roman" charset="0"/>
                <a:sym typeface="Symbol" charset="0"/>
              </a:rPr>
              <a:t>, </a:t>
            </a:r>
            <a:r>
              <a:rPr lang="it-IT" sz="2800" b="1" i="1" dirty="0">
                <a:latin typeface="Times New Roman" charset="0"/>
                <a:sym typeface="Symbol" charset="0"/>
              </a:rPr>
              <a:t>u</a:t>
            </a:r>
            <a:r>
              <a:rPr lang="it-IT" sz="2800" b="1" dirty="0">
                <a:latin typeface="Times New Roman" charset="0"/>
                <a:sym typeface="Symbol" charset="0"/>
              </a:rPr>
              <a:t>, </a:t>
            </a:r>
            <a:r>
              <a:rPr lang="it-IT" sz="2800" b="1" i="1" dirty="0">
                <a:latin typeface="Times New Roman" charset="0"/>
                <a:sym typeface="Symbol" charset="0"/>
              </a:rPr>
              <a:t>v</a:t>
            </a:r>
            <a:r>
              <a:rPr lang="it-IT" sz="2800" b="1" dirty="0">
                <a:latin typeface="Times New Roman" charset="0"/>
                <a:sym typeface="Symbol" charset="0"/>
              </a:rPr>
              <a:t>) </a:t>
            </a:r>
          </a:p>
          <a:p>
            <a:r>
              <a:rPr lang="it-IT" sz="2800" b="1" dirty="0">
                <a:latin typeface="Times New Roman" charset="0"/>
                <a:sym typeface="Symbol" charset="0"/>
              </a:rPr>
              <a:t>    </a:t>
            </a:r>
            <a:r>
              <a:rPr lang="it-IT" sz="2800" b="1" dirty="0" err="1">
                <a:latin typeface="Times New Roman" charset="0"/>
                <a:sym typeface="Symbol" charset="0"/>
              </a:rPr>
              <a:t>if</a:t>
            </a:r>
            <a:r>
              <a:rPr lang="it-IT" sz="2800" b="1" dirty="0">
                <a:latin typeface="Times New Roman" charset="0"/>
                <a:sym typeface="Symbol" charset="0"/>
              </a:rPr>
              <a:t> </a:t>
            </a:r>
            <a:r>
              <a:rPr lang="it-IT" sz="2800" b="1" i="1" dirty="0">
                <a:latin typeface="Times New Roman" charset="0"/>
                <a:sym typeface="Symbol" charset="0"/>
              </a:rPr>
              <a:t>d</a:t>
            </a:r>
            <a:r>
              <a:rPr lang="it-IT" sz="2800" b="1" dirty="0">
                <a:latin typeface="Times New Roman" charset="0"/>
                <a:sym typeface="Symbol" charset="0"/>
              </a:rPr>
              <a:t>[</a:t>
            </a:r>
            <a:r>
              <a:rPr lang="it-IT" sz="2800" b="1" i="1" dirty="0">
                <a:latin typeface="Times New Roman" charset="0"/>
                <a:sym typeface="Symbol" charset="0"/>
              </a:rPr>
              <a:t>v</a:t>
            </a:r>
            <a:r>
              <a:rPr lang="it-IT" sz="2800" b="1" dirty="0">
                <a:latin typeface="Times New Roman" charset="0"/>
                <a:sym typeface="Symbol" charset="0"/>
              </a:rPr>
              <a:t>] &gt; </a:t>
            </a:r>
            <a:r>
              <a:rPr lang="it-IT" sz="2800" b="1" i="1" dirty="0">
                <a:latin typeface="Times New Roman" charset="0"/>
                <a:sym typeface="Symbol" charset="0"/>
              </a:rPr>
              <a:t>d</a:t>
            </a:r>
            <a:r>
              <a:rPr lang="it-IT" sz="2800" b="1" dirty="0">
                <a:latin typeface="Times New Roman" charset="0"/>
                <a:sym typeface="Symbol" charset="0"/>
              </a:rPr>
              <a:t>[</a:t>
            </a:r>
            <a:r>
              <a:rPr lang="it-IT" sz="2800" b="1" i="1" dirty="0">
                <a:latin typeface="Times New Roman" charset="0"/>
                <a:sym typeface="Symbol" charset="0"/>
              </a:rPr>
              <a:t>u</a:t>
            </a:r>
            <a:r>
              <a:rPr lang="it-IT" sz="2800" b="1" dirty="0">
                <a:latin typeface="Times New Roman" charset="0"/>
                <a:sym typeface="Symbol" charset="0"/>
              </a:rPr>
              <a:t>] + </a:t>
            </a:r>
            <a:r>
              <a:rPr lang="it-IT" sz="2800" b="1" i="1" dirty="0" err="1">
                <a:latin typeface="Times New Roman" charset="0"/>
                <a:sym typeface="Symbol" charset="0"/>
              </a:rPr>
              <a:t>W</a:t>
            </a:r>
            <a:r>
              <a:rPr lang="it-IT" sz="2800" b="1" dirty="0">
                <a:latin typeface="Times New Roman" charset="0"/>
                <a:sym typeface="Symbol" charset="0"/>
              </a:rPr>
              <a:t>(</a:t>
            </a:r>
            <a:r>
              <a:rPr lang="it-IT" sz="2800" b="1" i="1" dirty="0" err="1">
                <a:latin typeface="Times New Roman" charset="0"/>
                <a:sym typeface="Symbol" charset="0"/>
              </a:rPr>
              <a:t>u</a:t>
            </a:r>
            <a:r>
              <a:rPr lang="it-IT" sz="2800" b="1" dirty="0" err="1">
                <a:latin typeface="Times New Roman" charset="0"/>
                <a:sym typeface="Symbol" charset="0"/>
              </a:rPr>
              <a:t>,</a:t>
            </a:r>
            <a:r>
              <a:rPr lang="it-IT" sz="2800" b="1" i="1" dirty="0" err="1">
                <a:latin typeface="Times New Roman" charset="0"/>
                <a:sym typeface="Symbol" charset="0"/>
              </a:rPr>
              <a:t>v</a:t>
            </a:r>
            <a:r>
              <a:rPr lang="it-IT" sz="2800" b="1" dirty="0">
                <a:latin typeface="Times New Roman" charset="0"/>
                <a:sym typeface="Symbol" charset="0"/>
              </a:rPr>
              <a:t>) </a:t>
            </a:r>
            <a:r>
              <a:rPr lang="it-IT" sz="2800" b="1" dirty="0" err="1">
                <a:latin typeface="Times New Roman" charset="0"/>
                <a:sym typeface="Symbol" charset="0"/>
              </a:rPr>
              <a:t>then</a:t>
            </a:r>
            <a:endParaRPr lang="it-IT" sz="2800" b="1" dirty="0">
              <a:latin typeface="Times New Roman" charset="0"/>
              <a:sym typeface="Symbol" charset="0"/>
            </a:endParaRPr>
          </a:p>
          <a:p>
            <a:r>
              <a:rPr lang="it-IT" sz="2800" b="1" dirty="0">
                <a:latin typeface="Times New Roman" charset="0"/>
                <a:sym typeface="Symbol" charset="0"/>
              </a:rPr>
              <a:t>        </a:t>
            </a:r>
            <a:r>
              <a:rPr lang="it-IT" sz="2800" b="1" i="1" dirty="0">
                <a:latin typeface="Times New Roman" charset="0"/>
                <a:sym typeface="Symbol" charset="0"/>
              </a:rPr>
              <a:t>d</a:t>
            </a:r>
            <a:r>
              <a:rPr lang="it-IT" sz="2800" b="1" dirty="0">
                <a:latin typeface="Times New Roman" charset="0"/>
                <a:sym typeface="Symbol" charset="0"/>
              </a:rPr>
              <a:t>[</a:t>
            </a:r>
            <a:r>
              <a:rPr lang="it-IT" sz="2800" b="1" i="1" dirty="0">
                <a:latin typeface="Times New Roman" charset="0"/>
                <a:sym typeface="Symbol" charset="0"/>
              </a:rPr>
              <a:t>v</a:t>
            </a:r>
            <a:r>
              <a:rPr lang="it-IT" sz="2800" b="1" dirty="0">
                <a:latin typeface="Times New Roman" charset="0"/>
                <a:sym typeface="Symbol" charset="0"/>
              </a:rPr>
              <a:t>] </a:t>
            </a:r>
            <a:r>
              <a:rPr lang="it-IT" sz="2800" b="1" dirty="0" smtClean="0">
                <a:latin typeface="Times New Roman" charset="0"/>
                <a:sym typeface="Symbol" charset="0"/>
              </a:rPr>
              <a:t>:= </a:t>
            </a:r>
            <a:r>
              <a:rPr lang="it-IT" sz="2800" b="1" i="1" dirty="0">
                <a:latin typeface="Times New Roman" charset="0"/>
                <a:sym typeface="Symbol" charset="0"/>
              </a:rPr>
              <a:t>d</a:t>
            </a:r>
            <a:r>
              <a:rPr lang="it-IT" sz="2800" b="1" dirty="0">
                <a:latin typeface="Times New Roman" charset="0"/>
                <a:sym typeface="Symbol" charset="0"/>
              </a:rPr>
              <a:t>[</a:t>
            </a:r>
            <a:r>
              <a:rPr lang="it-IT" sz="2800" b="1" i="1" dirty="0">
                <a:latin typeface="Times New Roman" charset="0"/>
                <a:sym typeface="Symbol" charset="0"/>
              </a:rPr>
              <a:t>u</a:t>
            </a:r>
            <a:r>
              <a:rPr lang="it-IT" sz="2800" b="1" dirty="0">
                <a:latin typeface="Times New Roman" charset="0"/>
                <a:sym typeface="Symbol" charset="0"/>
              </a:rPr>
              <a:t>] + </a:t>
            </a:r>
            <a:r>
              <a:rPr lang="it-IT" sz="2800" b="1" i="1" dirty="0" err="1">
                <a:latin typeface="Times New Roman" charset="0"/>
                <a:sym typeface="Symbol" charset="0"/>
              </a:rPr>
              <a:t>W</a:t>
            </a:r>
            <a:r>
              <a:rPr lang="it-IT" sz="2800" b="1" dirty="0">
                <a:latin typeface="Times New Roman" charset="0"/>
                <a:sym typeface="Symbol" charset="0"/>
              </a:rPr>
              <a:t>(</a:t>
            </a:r>
            <a:r>
              <a:rPr lang="it-IT" sz="2800" b="1" i="1" dirty="0" err="1">
                <a:latin typeface="Times New Roman" charset="0"/>
                <a:sym typeface="Symbol" charset="0"/>
              </a:rPr>
              <a:t>u</a:t>
            </a:r>
            <a:r>
              <a:rPr lang="it-IT" sz="2800" b="1" dirty="0" err="1">
                <a:latin typeface="Times New Roman" charset="0"/>
                <a:sym typeface="Symbol" charset="0"/>
              </a:rPr>
              <a:t>,</a:t>
            </a:r>
            <a:r>
              <a:rPr lang="it-IT" sz="2800" b="1" i="1" dirty="0" err="1">
                <a:latin typeface="Times New Roman" charset="0"/>
                <a:sym typeface="Symbol" charset="0"/>
              </a:rPr>
              <a:t>v</a:t>
            </a:r>
            <a:r>
              <a:rPr lang="it-IT" sz="2800" b="1" dirty="0">
                <a:latin typeface="Times New Roman" charset="0"/>
                <a:sym typeface="Symbol" charset="0"/>
              </a:rPr>
              <a:t>)</a:t>
            </a:r>
          </a:p>
          <a:p>
            <a:r>
              <a:rPr lang="it-IT" sz="2800" b="1" dirty="0">
                <a:latin typeface="Times New Roman" charset="0"/>
                <a:sym typeface="Symbol" charset="0"/>
              </a:rPr>
              <a:t>        </a:t>
            </a:r>
            <a:r>
              <a:rPr lang="it-IT" sz="2800" dirty="0" smtClean="0">
                <a:solidFill>
                  <a:srgbClr val="000000"/>
                </a:solidFill>
                <a:latin typeface="Symbol" charset="0"/>
                <a:sym typeface="Symbol" charset="0"/>
              </a:rPr>
              <a:t></a:t>
            </a:r>
            <a:r>
              <a:rPr lang="it-IT" sz="2800" b="1" dirty="0" smtClean="0">
                <a:latin typeface="Times New Roman" charset="0"/>
                <a:sym typeface="Symbol" charset="0"/>
              </a:rPr>
              <a:t>[</a:t>
            </a:r>
            <a:r>
              <a:rPr lang="it-IT" sz="2800" b="1" i="1" dirty="0">
                <a:latin typeface="Times New Roman" charset="0"/>
                <a:sym typeface="Symbol" charset="0"/>
              </a:rPr>
              <a:t>v</a:t>
            </a:r>
            <a:r>
              <a:rPr lang="it-IT" sz="2800" b="1" dirty="0">
                <a:latin typeface="Times New Roman" charset="0"/>
                <a:sym typeface="Symbol" charset="0"/>
              </a:rPr>
              <a:t>] </a:t>
            </a:r>
            <a:r>
              <a:rPr lang="it-IT" sz="2800" b="1" dirty="0" smtClean="0">
                <a:latin typeface="Times New Roman" charset="0"/>
                <a:sym typeface="Symbol" charset="0"/>
              </a:rPr>
              <a:t>:= </a:t>
            </a:r>
            <a:r>
              <a:rPr lang="it-IT" sz="2800" b="1" i="1" dirty="0">
                <a:latin typeface="Times New Roman" charset="0"/>
                <a:sym typeface="Symbol" charset="0"/>
              </a:rPr>
              <a:t>u</a:t>
            </a:r>
            <a:endParaRPr lang="it-IT" sz="2800" b="1" dirty="0">
              <a:latin typeface="Times New Roman" charset="0"/>
              <a:sym typeface="Symbo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Tecnica del rilassamento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96752"/>
            <a:ext cx="8496944" cy="2160240"/>
          </a:xfrm>
        </p:spPr>
        <p:txBody>
          <a:bodyPr/>
          <a:lstStyle/>
          <a:p>
            <a:r>
              <a:rPr lang="it-IT" dirty="0" smtClean="0"/>
              <a:t>Il rilassamento rispetto ad un arco </a:t>
            </a:r>
            <a:r>
              <a:rPr lang="it-IT" dirty="0" err="1" smtClean="0">
                <a:solidFill>
                  <a:srgbClr val="FF0000"/>
                </a:solidFill>
              </a:rPr>
              <a:t>uv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/>
              <a:t>consiste nel controllare se è possibile migliorare il cammino finora trovato per </a:t>
            </a:r>
            <a:r>
              <a:rPr lang="it-IT" dirty="0" smtClean="0">
                <a:solidFill>
                  <a:srgbClr val="FF0000"/>
                </a:solidFill>
              </a:rPr>
              <a:t>v</a:t>
            </a:r>
            <a:r>
              <a:rPr lang="it-IT" dirty="0" smtClean="0"/>
              <a:t> allungando il cammino trovato per </a:t>
            </a:r>
            <a:r>
              <a:rPr lang="it-IT" dirty="0" smtClean="0">
                <a:solidFill>
                  <a:srgbClr val="FF0000"/>
                </a:solidFill>
              </a:rPr>
              <a:t>u</a:t>
            </a:r>
            <a:r>
              <a:rPr lang="it-IT" dirty="0" smtClean="0"/>
              <a:t> con l’arco </a:t>
            </a:r>
            <a:r>
              <a:rPr lang="it-IT" dirty="0" err="1" smtClean="0">
                <a:solidFill>
                  <a:srgbClr val="FF0000"/>
                </a:solidFill>
              </a:rPr>
              <a:t>uv</a:t>
            </a:r>
            <a:endParaRPr lang="it-IT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Tecnica del rilassamento</a:t>
            </a:r>
            <a:endParaRPr lang="it-IT" dirty="0"/>
          </a:p>
        </p:txBody>
      </p:sp>
      <p:sp>
        <p:nvSpPr>
          <p:cNvPr id="24582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 TEOREMA</a:t>
            </a:r>
          </a:p>
          <a:p>
            <a:pPr marL="457200" lvl="1" indent="0">
              <a:buNone/>
            </a:pPr>
            <a:r>
              <a:rPr lang="it-IT" dirty="0" smtClean="0">
                <a:solidFill>
                  <a:srgbClr val="000000"/>
                </a:solidFill>
              </a:rPr>
              <a:t>Dopo aver eseguito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Rilassa(</a:t>
            </a:r>
            <a:r>
              <a:rPr lang="it-IT" dirty="0" err="1" smtClean="0">
                <a:solidFill>
                  <a:srgbClr val="FF0000"/>
                </a:solidFill>
                <a:sym typeface="Symbol" charset="0"/>
              </a:rPr>
              <a:t>G,u,v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) </a:t>
            </a:r>
            <a:r>
              <a:rPr lang="it-IT" dirty="0" smtClean="0">
                <a:solidFill>
                  <a:srgbClr val="000000"/>
                </a:solidFill>
              </a:rPr>
              <a:t>vale la disuguaglianza: </a:t>
            </a:r>
          </a:p>
          <a:p>
            <a:pPr marL="0" indent="0" algn="ctr">
              <a:buNone/>
            </a:pPr>
            <a:r>
              <a:rPr lang="it-IT" sz="2000" dirty="0">
                <a:solidFill>
                  <a:srgbClr val="FF0000"/>
                </a:solidFill>
                <a:sym typeface="Symbol" charset="0"/>
              </a:rPr>
              <a:t>d[v] </a:t>
            </a:r>
            <a:r>
              <a:rPr lang="it-IT" sz="2000" dirty="0" smtClean="0">
                <a:solidFill>
                  <a:srgbClr val="FF0000"/>
                </a:solidFill>
              </a:rPr>
              <a:t>≤ </a:t>
            </a:r>
            <a:r>
              <a:rPr lang="it-IT" sz="2000" dirty="0">
                <a:solidFill>
                  <a:srgbClr val="FF0000"/>
                </a:solidFill>
                <a:sym typeface="Symbol" charset="0"/>
              </a:rPr>
              <a:t>d</a:t>
            </a:r>
            <a:r>
              <a:rPr lang="it-IT" sz="2000" dirty="0" smtClean="0">
                <a:solidFill>
                  <a:srgbClr val="FF0000"/>
                </a:solidFill>
                <a:sym typeface="Symbol" charset="0"/>
              </a:rPr>
              <a:t>[u] </a:t>
            </a:r>
            <a:r>
              <a:rPr lang="it-IT" sz="2000" dirty="0" smtClean="0">
                <a:solidFill>
                  <a:srgbClr val="FF0000"/>
                </a:solidFill>
              </a:rPr>
              <a:t>+ </a:t>
            </a:r>
            <a:r>
              <a:rPr lang="it-IT" sz="2000" dirty="0" err="1" smtClean="0">
                <a:solidFill>
                  <a:srgbClr val="FF0000"/>
                </a:solidFill>
              </a:rPr>
              <a:t>W</a:t>
            </a:r>
            <a:r>
              <a:rPr lang="it-IT" sz="2000" dirty="0" smtClean="0">
                <a:solidFill>
                  <a:srgbClr val="FF0000"/>
                </a:solidFill>
              </a:rPr>
              <a:t>(</a:t>
            </a:r>
            <a:r>
              <a:rPr lang="it-IT" sz="2000" dirty="0" err="1" smtClean="0">
                <a:solidFill>
                  <a:srgbClr val="FF0000"/>
                </a:solidFill>
              </a:rPr>
              <a:t>u,v</a:t>
            </a:r>
            <a:r>
              <a:rPr lang="it-IT" sz="2000" dirty="0" smtClean="0">
                <a:solidFill>
                  <a:srgbClr val="FF0000"/>
                </a:solidFill>
              </a:rPr>
              <a:t>)</a:t>
            </a:r>
          </a:p>
          <a:p>
            <a:r>
              <a:rPr lang="it-IT" dirty="0" smtClean="0"/>
              <a:t>DIMOSTRAZIONE</a:t>
            </a:r>
          </a:p>
          <a:p>
            <a:pPr lvl="1"/>
            <a:r>
              <a:rPr lang="it-IT" dirty="0" smtClean="0">
                <a:solidFill>
                  <a:srgbClr val="000000"/>
                </a:solidFill>
              </a:rPr>
              <a:t>Se </a:t>
            </a:r>
            <a:r>
              <a:rPr lang="it-IT" dirty="0">
                <a:solidFill>
                  <a:srgbClr val="000000"/>
                </a:solidFill>
              </a:rPr>
              <a:t>prima del rilassamento </a:t>
            </a:r>
            <a:r>
              <a:rPr lang="it-IT" dirty="0" smtClean="0">
                <a:solidFill>
                  <a:srgbClr val="000000"/>
                </a:solidFill>
              </a:rPr>
              <a:t>vale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d[v] &gt; d[u] + </a:t>
            </a:r>
            <a:r>
              <a:rPr lang="it-IT" dirty="0" err="1" smtClean="0">
                <a:solidFill>
                  <a:srgbClr val="FF0000"/>
                </a:solidFill>
                <a:sym typeface="Symbol" charset="0"/>
              </a:rPr>
              <a:t>W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(</a:t>
            </a:r>
            <a:r>
              <a:rPr lang="it-IT" dirty="0" err="1" smtClean="0">
                <a:solidFill>
                  <a:srgbClr val="FF0000"/>
                </a:solidFill>
                <a:sym typeface="Symbol" charset="0"/>
              </a:rPr>
              <a:t>u,v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)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rgbClr val="000000"/>
                </a:solidFill>
              </a:rPr>
              <a:t>il valore di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d[v] </a:t>
            </a:r>
            <a:r>
              <a:rPr lang="it-IT" dirty="0" smtClean="0">
                <a:solidFill>
                  <a:srgbClr val="000000"/>
                </a:solidFill>
              </a:rPr>
              <a:t>viene aggiornato a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d[u] + </a:t>
            </a:r>
            <a:r>
              <a:rPr lang="it-IT" dirty="0" err="1" smtClean="0">
                <a:solidFill>
                  <a:srgbClr val="FF0000"/>
                </a:solidFill>
                <a:sym typeface="Symbol" charset="0"/>
              </a:rPr>
              <a:t>W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(</a:t>
            </a:r>
            <a:r>
              <a:rPr lang="it-IT" dirty="0" err="1" smtClean="0">
                <a:solidFill>
                  <a:srgbClr val="FF0000"/>
                </a:solidFill>
                <a:sym typeface="Symbol" charset="0"/>
              </a:rPr>
              <a:t>u,v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)</a:t>
            </a:r>
            <a:r>
              <a:rPr lang="it-IT" dirty="0" smtClean="0">
                <a:solidFill>
                  <a:srgbClr val="000000"/>
                </a:solidFill>
              </a:rPr>
              <a:t>, quindi la disuguaglianza vale</a:t>
            </a:r>
            <a:endParaRPr lang="it-IT" dirty="0" smtClean="0">
              <a:solidFill>
                <a:srgbClr val="FF0000"/>
              </a:solidFill>
              <a:sym typeface="Symbol" charset="0"/>
            </a:endParaRPr>
          </a:p>
          <a:p>
            <a:pPr lvl="1"/>
            <a:r>
              <a:rPr lang="it-IT" dirty="0" smtClean="0">
                <a:solidFill>
                  <a:srgbClr val="000000"/>
                </a:solidFill>
              </a:rPr>
              <a:t>Se </a:t>
            </a:r>
            <a:r>
              <a:rPr lang="it-IT" dirty="0">
                <a:solidFill>
                  <a:srgbClr val="000000"/>
                </a:solidFill>
              </a:rPr>
              <a:t>prima del rilassamento vale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d[v]  d[u] + </a:t>
            </a:r>
            <a:r>
              <a:rPr lang="it-IT" dirty="0" err="1" smtClean="0">
                <a:solidFill>
                  <a:srgbClr val="FF0000"/>
                </a:solidFill>
                <a:sym typeface="Symbol" charset="0"/>
              </a:rPr>
              <a:t>W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(</a:t>
            </a:r>
            <a:r>
              <a:rPr lang="it-IT" dirty="0" err="1" smtClean="0">
                <a:solidFill>
                  <a:srgbClr val="FF0000"/>
                </a:solidFill>
                <a:sym typeface="Symbol" charset="0"/>
              </a:rPr>
              <a:t>u,v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)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rgbClr val="000000"/>
                </a:solidFill>
              </a:rPr>
              <a:t>non si fanno modifiche, quindi </a:t>
            </a:r>
            <a:r>
              <a:rPr lang="it-IT" dirty="0">
                <a:solidFill>
                  <a:srgbClr val="000000"/>
                </a:solidFill>
              </a:rPr>
              <a:t>la </a:t>
            </a:r>
            <a:r>
              <a:rPr lang="it-IT" dirty="0" smtClean="0">
                <a:solidFill>
                  <a:srgbClr val="000000"/>
                </a:solidFill>
              </a:rPr>
              <a:t>disuguaglianza rimane vera</a:t>
            </a:r>
            <a:endParaRPr lang="it-IT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5730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2" grpId="0" build="p" bldLvl="3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Invariante del rilassamento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 TEOREMA</a:t>
            </a:r>
          </a:p>
          <a:p>
            <a:pPr marL="457200" lvl="1" indent="0">
              <a:buNone/>
            </a:pPr>
            <a:r>
              <a:rPr lang="it-IT" dirty="0" smtClean="0">
                <a:solidFill>
                  <a:schemeClr val="tx1"/>
                </a:solidFill>
              </a:rPr>
              <a:t>Dopo l’inizializzazione per ogni vertice </a:t>
            </a:r>
            <a:r>
              <a:rPr lang="it-IT" dirty="0" smtClean="0">
                <a:solidFill>
                  <a:srgbClr val="FF0000"/>
                </a:solidFill>
              </a:rPr>
              <a:t>v</a:t>
            </a:r>
            <a:r>
              <a:rPr lang="it-IT" dirty="0" smtClean="0">
                <a:solidFill>
                  <a:schemeClr val="tx1"/>
                </a:solidFill>
              </a:rPr>
              <a:t> vale la disuguaglianza 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d[v]  </a:t>
            </a:r>
            <a:r>
              <a:rPr lang="it-IT" dirty="0" smtClean="0">
                <a:solidFill>
                  <a:srgbClr val="FF0000"/>
                </a:solidFill>
              </a:rPr>
              <a:t>(</a:t>
            </a:r>
            <a:r>
              <a:rPr lang="it-IT" dirty="0" err="1" smtClean="0">
                <a:solidFill>
                  <a:srgbClr val="FF0000"/>
                </a:solidFill>
              </a:rPr>
              <a:t>s,v</a:t>
            </a:r>
            <a:r>
              <a:rPr lang="it-IT" dirty="0" smtClean="0">
                <a:solidFill>
                  <a:srgbClr val="FF0000"/>
                </a:solidFill>
              </a:rPr>
              <a:t>) </a:t>
            </a:r>
            <a:r>
              <a:rPr lang="it-IT" dirty="0" smtClean="0">
                <a:solidFill>
                  <a:schemeClr val="tx1"/>
                </a:solidFill>
              </a:rPr>
              <a:t>che rimane vera anche dopo un numero qualsiasi di rilassamenti</a:t>
            </a:r>
          </a:p>
          <a:p>
            <a:pPr marL="457200" lvl="1" indent="0">
              <a:buNone/>
            </a:pPr>
            <a:r>
              <a:rPr lang="it-IT" dirty="0" smtClean="0">
                <a:solidFill>
                  <a:schemeClr val="tx1"/>
                </a:solidFill>
              </a:rPr>
              <a:t>Inoltre se a un certo punto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d[v] = </a:t>
            </a:r>
            <a:r>
              <a:rPr lang="it-IT" dirty="0" smtClean="0">
                <a:solidFill>
                  <a:srgbClr val="FF0000"/>
                </a:solidFill>
              </a:rPr>
              <a:t>(</a:t>
            </a:r>
            <a:r>
              <a:rPr lang="it-IT" dirty="0" err="1" smtClean="0">
                <a:solidFill>
                  <a:srgbClr val="FF0000"/>
                </a:solidFill>
              </a:rPr>
              <a:t>s,v</a:t>
            </a:r>
            <a:r>
              <a:rPr lang="it-IT" dirty="0" smtClean="0">
                <a:solidFill>
                  <a:srgbClr val="FF0000"/>
                </a:solidFill>
              </a:rPr>
              <a:t>) </a:t>
            </a:r>
            <a:r>
              <a:rPr lang="it-IT" dirty="0" smtClean="0">
                <a:solidFill>
                  <a:schemeClr val="tx1"/>
                </a:solidFill>
              </a:rPr>
              <a:t>il suo valore non può più cambiare</a:t>
            </a:r>
          </a:p>
          <a:p>
            <a:r>
              <a:rPr lang="it-IT" dirty="0" smtClean="0"/>
              <a:t>DIMOSTRAZIONE</a:t>
            </a:r>
          </a:p>
          <a:p>
            <a:pPr lvl="1"/>
            <a:r>
              <a:rPr lang="it-IT" dirty="0" smtClean="0">
                <a:solidFill>
                  <a:srgbClr val="000000"/>
                </a:solidFill>
              </a:rPr>
              <a:t>Dopo l’inizializzazione abbiamo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d[</a:t>
            </a:r>
            <a:r>
              <a:rPr lang="it-IT" dirty="0" err="1" smtClean="0">
                <a:solidFill>
                  <a:srgbClr val="FF0000"/>
                </a:solidFill>
                <a:sym typeface="Symbol" charset="0"/>
              </a:rPr>
              <a:t>s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] = 0  </a:t>
            </a:r>
            <a:r>
              <a:rPr lang="it-IT" dirty="0" smtClean="0">
                <a:solidFill>
                  <a:srgbClr val="FF0000"/>
                </a:solidFill>
              </a:rPr>
              <a:t>(</a:t>
            </a:r>
            <a:r>
              <a:rPr lang="it-IT" dirty="0" err="1" smtClean="0">
                <a:solidFill>
                  <a:srgbClr val="FF0000"/>
                </a:solidFill>
              </a:rPr>
              <a:t>s,s</a:t>
            </a:r>
            <a:r>
              <a:rPr lang="it-IT" dirty="0" smtClean="0">
                <a:solidFill>
                  <a:srgbClr val="FF0000"/>
                </a:solidFill>
              </a:rPr>
              <a:t>) </a:t>
            </a:r>
            <a:r>
              <a:rPr lang="it-IT" dirty="0" smtClean="0">
                <a:solidFill>
                  <a:srgbClr val="000000"/>
                </a:solidFill>
              </a:rPr>
              <a:t>(in quali casi vale il &gt; stretto?) </a:t>
            </a:r>
          </a:p>
          <a:p>
            <a:pPr lvl="1"/>
            <a:r>
              <a:rPr lang="it-IT" dirty="0" smtClean="0">
                <a:solidFill>
                  <a:srgbClr val="000000"/>
                </a:solidFill>
              </a:rPr>
              <a:t>e per ogni altro vertice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d[v] =   </a:t>
            </a:r>
            <a:r>
              <a:rPr lang="it-IT" dirty="0" smtClean="0">
                <a:solidFill>
                  <a:srgbClr val="FF0000"/>
                </a:solidFill>
              </a:rPr>
              <a:t>(</a:t>
            </a:r>
            <a:r>
              <a:rPr lang="it-IT" dirty="0" err="1" smtClean="0">
                <a:solidFill>
                  <a:srgbClr val="FF0000"/>
                </a:solidFill>
              </a:rPr>
              <a:t>s,v</a:t>
            </a:r>
            <a:r>
              <a:rPr lang="it-IT" dirty="0" smtClean="0">
                <a:solidFill>
                  <a:srgbClr val="FF0000"/>
                </a:solidFill>
              </a:rPr>
              <a:t>)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Invariante del rilassamento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340768"/>
            <a:ext cx="8496944" cy="4896544"/>
          </a:xfrm>
        </p:spPr>
        <p:txBody>
          <a:bodyPr/>
          <a:lstStyle/>
          <a:p>
            <a:pPr lvl="1"/>
            <a:r>
              <a:rPr lang="it-IT" dirty="0" smtClean="0">
                <a:solidFill>
                  <a:schemeClr val="tx1"/>
                </a:solidFill>
              </a:rPr>
              <a:t>Supponiamo che la disuguaglianza sia vera per ogni vertice prima di eseguire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Rilassa(</a:t>
            </a:r>
            <a:r>
              <a:rPr lang="it-IT" dirty="0" err="1" smtClean="0">
                <a:solidFill>
                  <a:srgbClr val="FF0000"/>
                </a:solidFill>
                <a:sym typeface="Symbol" charset="0"/>
              </a:rPr>
              <a:t>G,u,v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)</a:t>
            </a:r>
            <a:endParaRPr lang="it-IT" dirty="0" smtClean="0">
              <a:solidFill>
                <a:srgbClr val="FF0000"/>
              </a:solidFill>
            </a:endParaRPr>
          </a:p>
          <a:p>
            <a:pPr lvl="1"/>
            <a:r>
              <a:rPr lang="it-IT" dirty="0" smtClean="0">
                <a:solidFill>
                  <a:schemeClr val="tx1"/>
                </a:solidFill>
              </a:rPr>
              <a:t>Se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d[v]</a:t>
            </a:r>
            <a:r>
              <a:rPr lang="it-IT" dirty="0" smtClean="0">
                <a:solidFill>
                  <a:schemeClr val="tx1"/>
                </a:solidFill>
                <a:sym typeface="Symbol" charset="0"/>
              </a:rPr>
              <a:t> </a:t>
            </a:r>
            <a:r>
              <a:rPr lang="it-IT" dirty="0" smtClean="0">
                <a:solidFill>
                  <a:schemeClr val="tx1"/>
                </a:solidFill>
              </a:rPr>
              <a:t>non viene modificata la disuguaglianza resta ovviamente vera</a:t>
            </a:r>
          </a:p>
          <a:p>
            <a:pPr lvl="1"/>
            <a:r>
              <a:rPr lang="it-IT" dirty="0" smtClean="0">
                <a:solidFill>
                  <a:schemeClr val="tx1"/>
                </a:solidFill>
              </a:rPr>
              <a:t>Se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d[v]</a:t>
            </a:r>
            <a:r>
              <a:rPr lang="it-IT" dirty="0" smtClean="0">
                <a:solidFill>
                  <a:schemeClr val="tx1"/>
                </a:solidFill>
                <a:sym typeface="Symbol" charset="0"/>
              </a:rPr>
              <a:t> </a:t>
            </a:r>
            <a:r>
              <a:rPr lang="it-IT" dirty="0" smtClean="0">
                <a:solidFill>
                  <a:schemeClr val="tx1"/>
                </a:solidFill>
              </a:rPr>
              <a:t>viene modificata allora dopo aver eseguito il rilassamento vale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d[v] = d[u] + </a:t>
            </a:r>
            <a:r>
              <a:rPr lang="it-IT" dirty="0" err="1" smtClean="0">
                <a:solidFill>
                  <a:srgbClr val="FF0000"/>
                </a:solidFill>
                <a:sym typeface="Symbol" charset="0"/>
              </a:rPr>
              <a:t>W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(</a:t>
            </a:r>
            <a:r>
              <a:rPr lang="it-IT" dirty="0" err="1" smtClean="0">
                <a:solidFill>
                  <a:srgbClr val="FF0000"/>
                </a:solidFill>
                <a:sym typeface="Symbol" charset="0"/>
              </a:rPr>
              <a:t>u,v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)</a:t>
            </a:r>
            <a:endParaRPr lang="it-IT" dirty="0" smtClean="0">
              <a:solidFill>
                <a:srgbClr val="FF0000"/>
              </a:solidFill>
            </a:endParaRPr>
          </a:p>
          <a:p>
            <a:pPr lvl="1"/>
            <a:r>
              <a:rPr lang="it-IT" dirty="0" smtClean="0">
                <a:solidFill>
                  <a:schemeClr val="tx1"/>
                </a:solidFill>
              </a:rPr>
              <a:t>Siccome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d[u]</a:t>
            </a:r>
            <a:r>
              <a:rPr lang="it-IT" dirty="0" smtClean="0">
                <a:solidFill>
                  <a:schemeClr val="tx1"/>
                </a:solidFill>
                <a:sym typeface="Symbol" charset="0"/>
              </a:rPr>
              <a:t> </a:t>
            </a:r>
            <a:r>
              <a:rPr lang="it-IT" dirty="0" smtClean="0">
                <a:solidFill>
                  <a:schemeClr val="tx1"/>
                </a:solidFill>
              </a:rPr>
              <a:t>non è stata modificata vale la disuguaglianza   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d[u]  </a:t>
            </a:r>
            <a:r>
              <a:rPr lang="it-IT" dirty="0" smtClean="0">
                <a:solidFill>
                  <a:srgbClr val="FF0000"/>
                </a:solidFill>
              </a:rPr>
              <a:t>(</a:t>
            </a:r>
            <a:r>
              <a:rPr lang="it-IT" dirty="0" err="1" smtClean="0">
                <a:solidFill>
                  <a:srgbClr val="FF0000"/>
                </a:solidFill>
              </a:rPr>
              <a:t>s,u</a:t>
            </a:r>
            <a:r>
              <a:rPr lang="it-IT" dirty="0" smtClean="0">
                <a:solidFill>
                  <a:srgbClr val="FF0000"/>
                </a:solidFill>
              </a:rPr>
              <a:t>) </a:t>
            </a:r>
            <a:r>
              <a:rPr lang="it-IT" dirty="0" smtClean="0">
                <a:solidFill>
                  <a:schemeClr val="tx1"/>
                </a:solidFill>
              </a:rPr>
              <a:t>e quindi, </a:t>
            </a:r>
            <a:r>
              <a:rPr lang="it-IT" dirty="0">
                <a:solidFill>
                  <a:schemeClr val="tx1"/>
                </a:solidFill>
              </a:rPr>
              <a:t>per il limite superiore dei costi di cammino </a:t>
            </a:r>
            <a:r>
              <a:rPr lang="it-IT" dirty="0" smtClean="0">
                <a:solidFill>
                  <a:schemeClr val="tx1"/>
                </a:solidFill>
              </a:rPr>
              <a:t>minimo,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d[v]  </a:t>
            </a:r>
            <a:r>
              <a:rPr lang="it-IT" dirty="0" smtClean="0">
                <a:solidFill>
                  <a:srgbClr val="FF0000"/>
                </a:solidFill>
              </a:rPr>
              <a:t>(</a:t>
            </a:r>
            <a:r>
              <a:rPr lang="it-IT" dirty="0" err="1" smtClean="0">
                <a:solidFill>
                  <a:srgbClr val="FF0000"/>
                </a:solidFill>
              </a:rPr>
              <a:t>s,u</a:t>
            </a:r>
            <a:r>
              <a:rPr lang="it-IT" dirty="0" smtClean="0">
                <a:solidFill>
                  <a:srgbClr val="FF0000"/>
                </a:solidFill>
              </a:rPr>
              <a:t>)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+ </a:t>
            </a:r>
            <a:r>
              <a:rPr lang="it-IT" dirty="0" err="1" smtClean="0">
                <a:solidFill>
                  <a:srgbClr val="FF0000"/>
                </a:solidFill>
                <a:sym typeface="Symbol" charset="0"/>
              </a:rPr>
              <a:t>W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(</a:t>
            </a:r>
            <a:r>
              <a:rPr lang="it-IT" dirty="0" err="1" smtClean="0">
                <a:solidFill>
                  <a:srgbClr val="FF0000"/>
                </a:solidFill>
                <a:sym typeface="Symbol" charset="0"/>
              </a:rPr>
              <a:t>u,v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)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 </a:t>
            </a:r>
            <a:r>
              <a:rPr lang="it-IT" dirty="0" smtClean="0">
                <a:solidFill>
                  <a:srgbClr val="FF0000"/>
                </a:solidFill>
              </a:rPr>
              <a:t>(</a:t>
            </a:r>
            <a:r>
              <a:rPr lang="it-IT" dirty="0" err="1" smtClean="0">
                <a:solidFill>
                  <a:srgbClr val="FF0000"/>
                </a:solidFill>
              </a:rPr>
              <a:t>s,v</a:t>
            </a:r>
            <a:r>
              <a:rPr lang="it-IT" dirty="0" smtClean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it-IT" dirty="0" smtClean="0">
                <a:solidFill>
                  <a:schemeClr val="tx1"/>
                </a:solidFill>
              </a:rPr>
              <a:t>Infine siccome il valore di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d[v] </a:t>
            </a:r>
            <a:r>
              <a:rPr lang="it-IT" dirty="0" smtClean="0">
                <a:solidFill>
                  <a:schemeClr val="tx1"/>
                </a:solidFill>
              </a:rPr>
              <a:t>può soltanto diminuire e        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d[v]  </a:t>
            </a:r>
            <a:r>
              <a:rPr lang="it-IT" dirty="0" smtClean="0">
                <a:solidFill>
                  <a:srgbClr val="FF0000"/>
                </a:solidFill>
              </a:rPr>
              <a:t>(</a:t>
            </a:r>
            <a:r>
              <a:rPr lang="it-IT" dirty="0" err="1" smtClean="0">
                <a:solidFill>
                  <a:srgbClr val="FF0000"/>
                </a:solidFill>
              </a:rPr>
              <a:t>s,v</a:t>
            </a:r>
            <a:r>
              <a:rPr lang="it-IT" dirty="0" smtClean="0">
                <a:solidFill>
                  <a:srgbClr val="FF0000"/>
                </a:solidFill>
              </a:rPr>
              <a:t>) </a:t>
            </a:r>
            <a:r>
              <a:rPr lang="it-IT" dirty="0" smtClean="0">
                <a:solidFill>
                  <a:schemeClr val="tx1"/>
                </a:solidFill>
              </a:rPr>
              <a:t>se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d[v] = </a:t>
            </a:r>
            <a:r>
              <a:rPr lang="it-IT" dirty="0" smtClean="0">
                <a:solidFill>
                  <a:srgbClr val="FF0000"/>
                </a:solidFill>
              </a:rPr>
              <a:t>(</a:t>
            </a:r>
            <a:r>
              <a:rPr lang="it-IT" dirty="0" err="1" smtClean="0">
                <a:solidFill>
                  <a:srgbClr val="FF0000"/>
                </a:solidFill>
              </a:rPr>
              <a:t>s,v</a:t>
            </a:r>
            <a:r>
              <a:rPr lang="it-IT" dirty="0" smtClean="0">
                <a:solidFill>
                  <a:srgbClr val="FF0000"/>
                </a:solidFill>
              </a:rPr>
              <a:t>) </a:t>
            </a:r>
            <a:r>
              <a:rPr lang="it-IT" dirty="0" smtClean="0">
                <a:solidFill>
                  <a:schemeClr val="tx1"/>
                </a:solidFill>
              </a:rPr>
              <a:t>allora il suo valore non può più cambiare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08" y="188640"/>
            <a:ext cx="7992888" cy="720080"/>
          </a:xfrm>
        </p:spPr>
        <p:txBody>
          <a:bodyPr/>
          <a:lstStyle/>
          <a:p>
            <a:r>
              <a:rPr lang="it-IT" sz="2800" dirty="0" smtClean="0"/>
              <a:t>Correttezza per vertici non raggiungibili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 TEOREMA</a:t>
            </a:r>
          </a:p>
          <a:p>
            <a:pPr marL="457200" lvl="1" indent="0">
              <a:buNone/>
            </a:pPr>
            <a:r>
              <a:rPr lang="it-IT" dirty="0" smtClean="0">
                <a:solidFill>
                  <a:schemeClr val="tx1"/>
                </a:solidFill>
              </a:rPr>
              <a:t>Dopo l’inizializzazione per ogni vertice </a:t>
            </a:r>
            <a:r>
              <a:rPr lang="it-IT" dirty="0" smtClean="0">
                <a:solidFill>
                  <a:srgbClr val="FF0000"/>
                </a:solidFill>
              </a:rPr>
              <a:t>v</a:t>
            </a:r>
            <a:r>
              <a:rPr lang="it-IT" dirty="0" smtClean="0">
                <a:solidFill>
                  <a:schemeClr val="tx1"/>
                </a:solidFill>
              </a:rPr>
              <a:t> non raggiungibile da </a:t>
            </a:r>
            <a:r>
              <a:rPr lang="it-IT" dirty="0" err="1" smtClean="0">
                <a:solidFill>
                  <a:srgbClr val="FF0000"/>
                </a:solidFill>
              </a:rPr>
              <a:t>s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chemeClr val="tx1"/>
                </a:solidFill>
              </a:rPr>
              <a:t>vale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d[v] = </a:t>
            </a:r>
            <a:r>
              <a:rPr lang="it-IT" dirty="0" smtClean="0">
                <a:solidFill>
                  <a:srgbClr val="FF0000"/>
                </a:solidFill>
              </a:rPr>
              <a:t>(</a:t>
            </a:r>
            <a:r>
              <a:rPr lang="it-IT" dirty="0" err="1" smtClean="0">
                <a:solidFill>
                  <a:srgbClr val="FF0000"/>
                </a:solidFill>
              </a:rPr>
              <a:t>s,v</a:t>
            </a:r>
            <a:r>
              <a:rPr lang="it-IT" dirty="0" smtClean="0">
                <a:solidFill>
                  <a:srgbClr val="FF0000"/>
                </a:solidFill>
              </a:rPr>
              <a:t>) </a:t>
            </a:r>
            <a:r>
              <a:rPr lang="it-IT" dirty="0" smtClean="0">
                <a:solidFill>
                  <a:schemeClr val="tx1"/>
                </a:solidFill>
              </a:rPr>
              <a:t>e tale uguaglianza rimane vera anche dopo un numero qualsiasi di rilassamenti</a:t>
            </a:r>
          </a:p>
          <a:p>
            <a:r>
              <a:rPr lang="it-IT" dirty="0" smtClean="0"/>
              <a:t>DIMOSTRAZIONE</a:t>
            </a:r>
          </a:p>
          <a:p>
            <a:pPr lvl="1"/>
            <a:r>
              <a:rPr lang="it-IT" dirty="0" smtClean="0">
                <a:solidFill>
                  <a:srgbClr val="000000"/>
                </a:solidFill>
              </a:rPr>
              <a:t>Dopo l’inizializzazione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d[v] = 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rgbClr val="000000"/>
                </a:solidFill>
              </a:rPr>
              <a:t>per ogni vertice diverso da </a:t>
            </a:r>
            <a:r>
              <a:rPr lang="it-IT" dirty="0" err="1" smtClean="0">
                <a:solidFill>
                  <a:srgbClr val="FF0000"/>
                </a:solidFill>
              </a:rPr>
              <a:t>s</a:t>
            </a:r>
            <a:endParaRPr lang="it-IT" dirty="0" smtClean="0">
              <a:solidFill>
                <a:srgbClr val="FF0000"/>
              </a:solidFill>
            </a:endParaRPr>
          </a:p>
          <a:p>
            <a:pPr lvl="1"/>
            <a:r>
              <a:rPr lang="it-IT" dirty="0" smtClean="0">
                <a:solidFill>
                  <a:srgbClr val="000000"/>
                </a:solidFill>
              </a:rPr>
              <a:t>Se </a:t>
            </a:r>
            <a:r>
              <a:rPr lang="it-IT" dirty="0" smtClean="0">
                <a:solidFill>
                  <a:srgbClr val="FF0000"/>
                </a:solidFill>
              </a:rPr>
              <a:t>v</a:t>
            </a:r>
            <a:r>
              <a:rPr lang="it-IT" dirty="0" smtClean="0">
                <a:solidFill>
                  <a:srgbClr val="000000"/>
                </a:solidFill>
              </a:rPr>
              <a:t> non è raggiungibile da </a:t>
            </a:r>
            <a:r>
              <a:rPr lang="it-IT" dirty="0" err="1" smtClean="0">
                <a:solidFill>
                  <a:srgbClr val="FF0000"/>
                </a:solidFill>
              </a:rPr>
              <a:t>s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rgbClr val="000000"/>
                </a:solidFill>
              </a:rPr>
              <a:t>allora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</a:t>
            </a:r>
            <a:r>
              <a:rPr lang="it-IT" dirty="0" smtClean="0">
                <a:solidFill>
                  <a:srgbClr val="FF0000"/>
                </a:solidFill>
              </a:rPr>
              <a:t>(</a:t>
            </a:r>
            <a:r>
              <a:rPr lang="it-IT" dirty="0" err="1" smtClean="0">
                <a:solidFill>
                  <a:srgbClr val="FF0000"/>
                </a:solidFill>
              </a:rPr>
              <a:t>s,v</a:t>
            </a:r>
            <a:r>
              <a:rPr lang="it-IT" dirty="0" smtClean="0">
                <a:solidFill>
                  <a:srgbClr val="FF0000"/>
                </a:solidFill>
              </a:rPr>
              <a:t>)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=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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= d[v] </a:t>
            </a:r>
            <a:r>
              <a:rPr lang="it-IT" dirty="0" smtClean="0">
                <a:solidFill>
                  <a:srgbClr val="000000"/>
                </a:solidFill>
              </a:rPr>
              <a:t>e per l’invariante del rilassamento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d[v]</a:t>
            </a:r>
            <a:r>
              <a:rPr lang="it-IT" dirty="0" smtClean="0">
                <a:solidFill>
                  <a:srgbClr val="000000"/>
                </a:solidFill>
                <a:sym typeface="Symbol" charset="0"/>
              </a:rPr>
              <a:t> </a:t>
            </a:r>
            <a:r>
              <a:rPr lang="it-IT" dirty="0" smtClean="0">
                <a:solidFill>
                  <a:srgbClr val="000000"/>
                </a:solidFill>
              </a:rPr>
              <a:t>non può più cambiare</a:t>
            </a:r>
            <a:endParaRPr lang="it-IT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Correttezza per vertici raggiungibili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 TEOREMA</a:t>
            </a:r>
          </a:p>
          <a:p>
            <a:pPr marL="457200" lvl="1" indent="0">
              <a:buNone/>
            </a:pPr>
            <a:r>
              <a:rPr lang="it-IT" dirty="0" smtClean="0">
                <a:solidFill>
                  <a:schemeClr val="tx1"/>
                </a:solidFill>
              </a:rPr>
              <a:t>Se </a:t>
            </a:r>
            <a:r>
              <a:rPr lang="it-IT" dirty="0" err="1" smtClean="0">
                <a:solidFill>
                  <a:srgbClr val="FF0000"/>
                </a:solidFill>
              </a:rPr>
              <a:t>uv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chemeClr val="tx1"/>
                </a:solidFill>
              </a:rPr>
              <a:t>è l’ultimo arco di un cammino minimo da </a:t>
            </a:r>
            <a:r>
              <a:rPr lang="it-IT" dirty="0" err="1" smtClean="0">
                <a:solidFill>
                  <a:srgbClr val="FF0000"/>
                </a:solidFill>
              </a:rPr>
              <a:t>s</a:t>
            </a:r>
            <a:r>
              <a:rPr lang="it-IT" dirty="0" smtClean="0">
                <a:solidFill>
                  <a:schemeClr val="tx1"/>
                </a:solidFill>
              </a:rPr>
              <a:t> a </a:t>
            </a:r>
            <a:r>
              <a:rPr lang="it-IT" dirty="0" smtClean="0">
                <a:solidFill>
                  <a:srgbClr val="FF0000"/>
                </a:solidFill>
              </a:rPr>
              <a:t>v</a:t>
            </a:r>
            <a:r>
              <a:rPr lang="it-IT" dirty="0" smtClean="0">
                <a:solidFill>
                  <a:schemeClr val="tx1"/>
                </a:solidFill>
              </a:rPr>
              <a:t>  e prima di eseguire il rilassamento dell’arco </a:t>
            </a:r>
            <a:r>
              <a:rPr lang="it-IT" dirty="0" err="1" smtClean="0">
                <a:solidFill>
                  <a:srgbClr val="FF0000"/>
                </a:solidFill>
              </a:rPr>
              <a:t>uv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chemeClr val="tx1"/>
                </a:solidFill>
              </a:rPr>
              <a:t>vale 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d[u] = </a:t>
            </a:r>
            <a:r>
              <a:rPr lang="it-IT" dirty="0">
                <a:solidFill>
                  <a:srgbClr val="FF0000"/>
                </a:solidFill>
              </a:rPr>
              <a:t>(</a:t>
            </a:r>
            <a:r>
              <a:rPr lang="it-IT" dirty="0" err="1">
                <a:solidFill>
                  <a:srgbClr val="FF0000"/>
                </a:solidFill>
              </a:rPr>
              <a:t>s,u</a:t>
            </a:r>
            <a:r>
              <a:rPr lang="it-IT" dirty="0">
                <a:solidFill>
                  <a:srgbClr val="FF0000"/>
                </a:solidFill>
              </a:rPr>
              <a:t>)</a:t>
            </a:r>
            <a:r>
              <a:rPr lang="it-IT" dirty="0">
                <a:solidFill>
                  <a:schemeClr val="tx1"/>
                </a:solidFill>
              </a:rPr>
              <a:t>, </a:t>
            </a:r>
            <a:r>
              <a:rPr lang="it-IT" dirty="0" smtClean="0">
                <a:solidFill>
                  <a:schemeClr val="tx1"/>
                </a:solidFill>
              </a:rPr>
              <a:t>allora dopo il rilassamento vale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d[v] = </a:t>
            </a:r>
            <a:r>
              <a:rPr lang="it-IT" dirty="0" smtClean="0">
                <a:solidFill>
                  <a:srgbClr val="FF0000"/>
                </a:solidFill>
              </a:rPr>
              <a:t>(</a:t>
            </a:r>
            <a:r>
              <a:rPr lang="it-IT" dirty="0" err="1" smtClean="0">
                <a:solidFill>
                  <a:srgbClr val="FF0000"/>
                </a:solidFill>
              </a:rPr>
              <a:t>s,v</a:t>
            </a:r>
            <a:r>
              <a:rPr lang="it-IT" dirty="0" smtClean="0">
                <a:solidFill>
                  <a:srgbClr val="FF0000"/>
                </a:solidFill>
              </a:rPr>
              <a:t>)</a:t>
            </a:r>
          </a:p>
          <a:p>
            <a:r>
              <a:rPr lang="it-IT" dirty="0" smtClean="0"/>
              <a:t>DIMOSTRAZIONE</a:t>
            </a:r>
          </a:p>
          <a:p>
            <a:pPr lvl="1"/>
            <a:r>
              <a:rPr lang="it-IT" dirty="0" smtClean="0">
                <a:solidFill>
                  <a:srgbClr val="000000"/>
                </a:solidFill>
              </a:rPr>
              <a:t>Dopo il rilassamento vale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d[v]  </a:t>
            </a:r>
            <a:r>
              <a:rPr lang="it-IT" dirty="0" smtClean="0">
                <a:solidFill>
                  <a:srgbClr val="FF0000"/>
                </a:solidFill>
              </a:rPr>
              <a:t>(</a:t>
            </a:r>
            <a:r>
              <a:rPr lang="it-IT" dirty="0" err="1" smtClean="0">
                <a:solidFill>
                  <a:srgbClr val="FF0000"/>
                </a:solidFill>
              </a:rPr>
              <a:t>s,u</a:t>
            </a:r>
            <a:r>
              <a:rPr lang="it-IT" dirty="0" smtClean="0">
                <a:solidFill>
                  <a:srgbClr val="FF0000"/>
                </a:solidFill>
              </a:rPr>
              <a:t>) + </a:t>
            </a:r>
            <a:r>
              <a:rPr lang="it-IT" dirty="0" err="1" smtClean="0">
                <a:solidFill>
                  <a:srgbClr val="FF0000"/>
                </a:solidFill>
              </a:rPr>
              <a:t>W</a:t>
            </a:r>
            <a:r>
              <a:rPr lang="it-IT" dirty="0" smtClean="0">
                <a:solidFill>
                  <a:srgbClr val="FF0000"/>
                </a:solidFill>
              </a:rPr>
              <a:t>(</a:t>
            </a:r>
            <a:r>
              <a:rPr lang="it-IT" dirty="0" err="1" smtClean="0">
                <a:solidFill>
                  <a:srgbClr val="FF0000"/>
                </a:solidFill>
              </a:rPr>
              <a:t>u,v</a:t>
            </a:r>
            <a:r>
              <a:rPr lang="it-IT" dirty="0" smtClean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it-IT" dirty="0" smtClean="0">
                <a:solidFill>
                  <a:srgbClr val="000000"/>
                </a:solidFill>
              </a:rPr>
              <a:t>Siccome </a:t>
            </a:r>
            <a:r>
              <a:rPr lang="it-IT" dirty="0" err="1" smtClean="0">
                <a:solidFill>
                  <a:srgbClr val="FF0000"/>
                </a:solidFill>
              </a:rPr>
              <a:t>uv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rgbClr val="000000"/>
                </a:solidFill>
              </a:rPr>
              <a:t>è l’ultimo arco di un cammino minimo, si ha        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</a:t>
            </a:r>
            <a:r>
              <a:rPr lang="it-IT" dirty="0" smtClean="0">
                <a:solidFill>
                  <a:srgbClr val="FF0000"/>
                </a:solidFill>
              </a:rPr>
              <a:t>(</a:t>
            </a:r>
            <a:r>
              <a:rPr lang="it-IT" dirty="0" err="1" smtClean="0">
                <a:solidFill>
                  <a:srgbClr val="FF0000"/>
                </a:solidFill>
              </a:rPr>
              <a:t>s,v</a:t>
            </a:r>
            <a:r>
              <a:rPr lang="it-IT" dirty="0" smtClean="0">
                <a:solidFill>
                  <a:srgbClr val="FF0000"/>
                </a:solidFill>
              </a:rPr>
              <a:t>)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= </a:t>
            </a:r>
            <a:r>
              <a:rPr lang="it-IT" dirty="0" smtClean="0">
                <a:solidFill>
                  <a:srgbClr val="FF0000"/>
                </a:solidFill>
              </a:rPr>
              <a:t>(</a:t>
            </a:r>
            <a:r>
              <a:rPr lang="it-IT" dirty="0" err="1" smtClean="0">
                <a:solidFill>
                  <a:srgbClr val="FF0000"/>
                </a:solidFill>
              </a:rPr>
              <a:t>s,u</a:t>
            </a:r>
            <a:r>
              <a:rPr lang="it-IT" dirty="0" smtClean="0">
                <a:solidFill>
                  <a:srgbClr val="FF0000"/>
                </a:solidFill>
              </a:rPr>
              <a:t>) + </a:t>
            </a:r>
            <a:r>
              <a:rPr lang="it-IT" dirty="0" err="1" smtClean="0">
                <a:solidFill>
                  <a:srgbClr val="FF0000"/>
                </a:solidFill>
              </a:rPr>
              <a:t>W</a:t>
            </a:r>
            <a:r>
              <a:rPr lang="it-IT" dirty="0" smtClean="0">
                <a:solidFill>
                  <a:srgbClr val="FF0000"/>
                </a:solidFill>
              </a:rPr>
              <a:t>(</a:t>
            </a:r>
            <a:r>
              <a:rPr lang="it-IT" dirty="0" err="1" smtClean="0">
                <a:solidFill>
                  <a:srgbClr val="FF0000"/>
                </a:solidFill>
              </a:rPr>
              <a:t>u,v</a:t>
            </a:r>
            <a:r>
              <a:rPr lang="it-IT" dirty="0" smtClean="0">
                <a:solidFill>
                  <a:srgbClr val="FF0000"/>
                </a:solidFill>
              </a:rPr>
              <a:t>) </a:t>
            </a:r>
            <a:r>
              <a:rPr lang="it-IT" dirty="0" smtClean="0">
                <a:solidFill>
                  <a:srgbClr val="000000"/>
                </a:solidFill>
              </a:rPr>
              <a:t>e quindi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d[v]  </a:t>
            </a:r>
            <a:r>
              <a:rPr lang="it-IT" dirty="0" smtClean="0">
                <a:solidFill>
                  <a:srgbClr val="FF0000"/>
                </a:solidFill>
              </a:rPr>
              <a:t>(</a:t>
            </a:r>
            <a:r>
              <a:rPr lang="it-IT" dirty="0" err="1" smtClean="0">
                <a:solidFill>
                  <a:srgbClr val="FF0000"/>
                </a:solidFill>
              </a:rPr>
              <a:t>s,v</a:t>
            </a:r>
            <a:r>
              <a:rPr lang="it-IT" dirty="0" smtClean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it-IT" dirty="0" smtClean="0">
                <a:solidFill>
                  <a:srgbClr val="000000"/>
                </a:solidFill>
              </a:rPr>
              <a:t>Per l’invariante del rilassamento 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d[v] = </a:t>
            </a:r>
            <a:r>
              <a:rPr lang="it-IT" dirty="0">
                <a:solidFill>
                  <a:srgbClr val="FF0000"/>
                </a:solidFill>
              </a:rPr>
              <a:t>(</a:t>
            </a:r>
            <a:r>
              <a:rPr lang="it-IT" dirty="0" err="1">
                <a:solidFill>
                  <a:srgbClr val="FF0000"/>
                </a:solidFill>
              </a:rPr>
              <a:t>s,v</a:t>
            </a:r>
            <a:r>
              <a:rPr lang="it-IT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137179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22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Grafo dei predecessori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Il grafo dei predecessori </a:t>
            </a:r>
          </a:p>
          <a:p>
            <a:pPr marL="0" indent="0" algn="ctr">
              <a:buNone/>
            </a:pPr>
            <a:r>
              <a:rPr lang="it-IT" dirty="0" err="1" smtClean="0">
                <a:solidFill>
                  <a:srgbClr val="FF0000"/>
                </a:solidFill>
              </a:rPr>
              <a:t>G</a:t>
            </a:r>
            <a:r>
              <a:rPr lang="it-IT" baseline="-25000" dirty="0" err="1" smtClean="0">
                <a:solidFill>
                  <a:srgbClr val="FF0000"/>
                </a:solidFill>
              </a:rPr>
              <a:t>pred</a:t>
            </a:r>
            <a:r>
              <a:rPr lang="it-IT" dirty="0" smtClean="0">
                <a:solidFill>
                  <a:srgbClr val="FF0000"/>
                </a:solidFill>
              </a:rPr>
              <a:t> = (</a:t>
            </a:r>
            <a:r>
              <a:rPr lang="it-IT" dirty="0" err="1" smtClean="0">
                <a:solidFill>
                  <a:srgbClr val="FF0000"/>
                </a:solidFill>
              </a:rPr>
              <a:t>V</a:t>
            </a:r>
            <a:r>
              <a:rPr lang="it-IT" baseline="-25000" dirty="0" err="1">
                <a:solidFill>
                  <a:srgbClr val="FF0000"/>
                </a:solidFill>
              </a:rPr>
              <a:t>pred</a:t>
            </a:r>
            <a:r>
              <a:rPr lang="it-IT" dirty="0" smtClean="0">
                <a:solidFill>
                  <a:srgbClr val="FF0000"/>
                </a:solidFill>
              </a:rPr>
              <a:t> ,</a:t>
            </a:r>
            <a:r>
              <a:rPr lang="it-IT" dirty="0" err="1" smtClean="0">
                <a:solidFill>
                  <a:srgbClr val="FF0000"/>
                </a:solidFill>
              </a:rPr>
              <a:t>E</a:t>
            </a:r>
            <a:r>
              <a:rPr lang="it-IT" baseline="-25000" dirty="0" err="1">
                <a:solidFill>
                  <a:srgbClr val="FF0000"/>
                </a:solidFill>
              </a:rPr>
              <a:t>pred</a:t>
            </a:r>
            <a:r>
              <a:rPr lang="it-IT" dirty="0" smtClean="0">
                <a:solidFill>
                  <a:srgbClr val="FF0000"/>
                </a:solidFill>
              </a:rPr>
              <a:t>) </a:t>
            </a:r>
          </a:p>
          <a:p>
            <a:pPr marL="0" indent="0">
              <a:buNone/>
            </a:pPr>
            <a:r>
              <a:rPr lang="it-IT" dirty="0"/>
              <a:t>	</a:t>
            </a:r>
            <a:r>
              <a:rPr lang="it-IT" dirty="0" smtClean="0"/>
              <a:t>è il </a:t>
            </a:r>
            <a:r>
              <a:rPr lang="it-IT" dirty="0" err="1" smtClean="0"/>
              <a:t>sottografo</a:t>
            </a:r>
            <a:r>
              <a:rPr lang="it-IT" dirty="0" smtClean="0"/>
              <a:t> di </a:t>
            </a:r>
            <a:r>
              <a:rPr lang="it-IT" dirty="0" smtClean="0">
                <a:solidFill>
                  <a:srgbClr val="FF0000"/>
                </a:solidFill>
              </a:rPr>
              <a:t>G = (V,E) </a:t>
            </a:r>
            <a:r>
              <a:rPr lang="it-IT" dirty="0" smtClean="0"/>
              <a:t>con vertici</a:t>
            </a:r>
          </a:p>
          <a:p>
            <a:pPr marL="0" indent="0" algn="ctr">
              <a:buNone/>
            </a:pPr>
            <a:r>
              <a:rPr lang="it-IT" dirty="0" smtClean="0"/>
              <a:t>    </a:t>
            </a:r>
            <a:r>
              <a:rPr lang="it-IT" dirty="0" err="1" smtClean="0">
                <a:solidFill>
                  <a:srgbClr val="FF0000"/>
                </a:solidFill>
              </a:rPr>
              <a:t>V</a:t>
            </a:r>
            <a:r>
              <a:rPr lang="it-IT" baseline="-25000" dirty="0" err="1">
                <a:solidFill>
                  <a:srgbClr val="FF0000"/>
                </a:solidFill>
              </a:rPr>
              <a:t>pred</a:t>
            </a:r>
            <a:r>
              <a:rPr lang="it-IT" dirty="0" smtClean="0">
                <a:solidFill>
                  <a:srgbClr val="FF0000"/>
                </a:solidFill>
              </a:rPr>
              <a:t>  = {</a:t>
            </a:r>
            <a:r>
              <a:rPr lang="it-IT" dirty="0" err="1" smtClean="0">
                <a:solidFill>
                  <a:srgbClr val="FF0000"/>
                </a:solidFill>
              </a:rPr>
              <a:t>s</a:t>
            </a:r>
            <a:r>
              <a:rPr lang="it-IT" dirty="0" smtClean="0">
                <a:solidFill>
                  <a:srgbClr val="FF0000"/>
                </a:solidFill>
              </a:rPr>
              <a:t>}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 {v  V: </a:t>
            </a:r>
            <a:r>
              <a:rPr lang="it-IT" dirty="0" err="1" smtClean="0">
                <a:solidFill>
                  <a:srgbClr val="FF0000"/>
                </a:solidFill>
                <a:latin typeface="Symbol" charset="2"/>
                <a:cs typeface="Symbol" charset="2"/>
                <a:sym typeface="Symbol" charset="0"/>
              </a:rPr>
              <a:t>p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[v]  </a:t>
            </a:r>
            <a:r>
              <a:rPr lang="it-IT" dirty="0" err="1" smtClean="0">
                <a:solidFill>
                  <a:srgbClr val="FF0000"/>
                </a:solidFill>
                <a:sym typeface="Symbol" charset="0"/>
              </a:rPr>
              <a:t>nil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}</a:t>
            </a:r>
            <a:endParaRPr lang="it-IT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it-IT" dirty="0" smtClean="0"/>
              <a:t>	e archi </a:t>
            </a:r>
          </a:p>
          <a:p>
            <a:pPr marL="0" indent="0" algn="ctr">
              <a:buNone/>
            </a:pPr>
            <a:r>
              <a:rPr lang="it-IT" dirty="0" smtClean="0"/>
              <a:t>    </a:t>
            </a:r>
            <a:r>
              <a:rPr lang="it-IT" dirty="0" err="1" smtClean="0">
                <a:solidFill>
                  <a:srgbClr val="FF0000"/>
                </a:solidFill>
              </a:rPr>
              <a:t>E</a:t>
            </a:r>
            <a:r>
              <a:rPr lang="it-IT" baseline="-25000" dirty="0" err="1">
                <a:solidFill>
                  <a:srgbClr val="FF0000"/>
                </a:solidFill>
              </a:rPr>
              <a:t>pred</a:t>
            </a:r>
            <a:r>
              <a:rPr lang="it-IT" dirty="0" smtClean="0">
                <a:solidFill>
                  <a:srgbClr val="FF0000"/>
                </a:solidFill>
              </a:rPr>
              <a:t>  =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{ </a:t>
            </a:r>
            <a:r>
              <a:rPr lang="it-IT" dirty="0" err="1" smtClean="0">
                <a:solidFill>
                  <a:srgbClr val="FF0000"/>
                </a:solidFill>
                <a:sym typeface="Symbol" charset="0"/>
              </a:rPr>
              <a:t>uv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 E : u = </a:t>
            </a:r>
            <a:r>
              <a:rPr lang="it-IT" dirty="0" err="1" smtClean="0">
                <a:solidFill>
                  <a:srgbClr val="FF0000"/>
                </a:solidFill>
                <a:latin typeface="Symbol" charset="2"/>
                <a:cs typeface="Symbol" charset="2"/>
                <a:sym typeface="Symbol" charset="0"/>
              </a:rPr>
              <a:t>p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[v]}</a:t>
            </a:r>
            <a:endParaRPr lang="it-IT" dirty="0">
              <a:solidFill>
                <a:srgbClr val="FF0000"/>
              </a:solidFill>
              <a:sym typeface="Symbol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Grafo dei predecessori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 TEOREMA</a:t>
            </a:r>
          </a:p>
          <a:p>
            <a:pPr marL="457200" lvl="1" indent="0">
              <a:buNone/>
            </a:pPr>
            <a:r>
              <a:rPr lang="it-IT" dirty="0" smtClean="0">
                <a:solidFill>
                  <a:schemeClr val="tx1"/>
                </a:solidFill>
              </a:rPr>
              <a:t>Se il grafo </a:t>
            </a:r>
            <a:r>
              <a:rPr lang="it-IT" dirty="0" smtClean="0">
                <a:solidFill>
                  <a:srgbClr val="FF0000"/>
                </a:solidFill>
              </a:rPr>
              <a:t>G</a:t>
            </a:r>
            <a:r>
              <a:rPr lang="it-IT" dirty="0" smtClean="0">
                <a:solidFill>
                  <a:schemeClr val="tx1"/>
                </a:solidFill>
              </a:rPr>
              <a:t> non contiene cicli negativi raggiungibili dalla sorgente </a:t>
            </a:r>
            <a:r>
              <a:rPr lang="it-IT" dirty="0" err="1" smtClean="0">
                <a:solidFill>
                  <a:srgbClr val="FF0000"/>
                </a:solidFill>
              </a:rPr>
              <a:t>s</a:t>
            </a:r>
            <a:r>
              <a:rPr lang="it-IT" dirty="0" smtClean="0">
                <a:solidFill>
                  <a:schemeClr val="tx1"/>
                </a:solidFill>
              </a:rPr>
              <a:t>, allora dopo l’inizializzazione ed un numero arbitrario di rilassamenti il grafo dei predecessori è un albero radicato in </a:t>
            </a:r>
            <a:r>
              <a:rPr lang="it-IT" dirty="0" err="1" smtClean="0">
                <a:solidFill>
                  <a:srgbClr val="FF0000"/>
                </a:solidFill>
              </a:rPr>
              <a:t>s</a:t>
            </a:r>
            <a:endParaRPr lang="it-IT" dirty="0" smtClean="0">
              <a:solidFill>
                <a:schemeClr val="tx1"/>
              </a:solidFill>
            </a:endParaRPr>
          </a:p>
          <a:p>
            <a:r>
              <a:rPr lang="it-IT" dirty="0" smtClean="0"/>
              <a:t>DIMOSTRAZIONE</a:t>
            </a:r>
          </a:p>
          <a:p>
            <a:pPr lvl="1"/>
            <a:r>
              <a:rPr lang="it-IT" dirty="0" smtClean="0">
                <a:solidFill>
                  <a:srgbClr val="000000"/>
                </a:solidFill>
              </a:rPr>
              <a:t>Dopo l’inizializzazione il grafo dei predecessori contiene soltanto la radice </a:t>
            </a:r>
            <a:r>
              <a:rPr lang="it-IT" dirty="0" err="1" smtClean="0">
                <a:solidFill>
                  <a:srgbClr val="FF0000"/>
                </a:solidFill>
              </a:rPr>
              <a:t>s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rgbClr val="000000"/>
                </a:solidFill>
              </a:rPr>
              <a:t>e quindi la tesi è vera</a:t>
            </a:r>
          </a:p>
          <a:p>
            <a:pPr lvl="1"/>
            <a:r>
              <a:rPr lang="it-IT" dirty="0">
                <a:solidFill>
                  <a:srgbClr val="000000"/>
                </a:solidFill>
              </a:rPr>
              <a:t>Dobbiamo quindi dimostrare che dopo un numero arbitrario di rilassamenti</a:t>
            </a:r>
            <a:r>
              <a:rPr lang="it-IT" dirty="0" smtClean="0">
                <a:solidFill>
                  <a:srgbClr val="000000"/>
                </a:solidFill>
              </a:rPr>
              <a:t>:</a:t>
            </a:r>
          </a:p>
          <a:p>
            <a:pPr marL="1098000">
              <a:spcBef>
                <a:spcPct val="20000"/>
              </a:spcBef>
              <a:buFontTx/>
              <a:buAutoNum type="alphaLcParenR"/>
            </a:pPr>
            <a:r>
              <a:rPr lang="it-IT" sz="2000" dirty="0">
                <a:solidFill>
                  <a:srgbClr val="000000"/>
                </a:solidFill>
              </a:rPr>
              <a:t>il grafo dei predecessori </a:t>
            </a:r>
            <a:r>
              <a:rPr lang="it-IT" sz="2000" b="1" i="1" dirty="0" err="1">
                <a:solidFill>
                  <a:srgbClr val="FF0000"/>
                </a:solidFill>
              </a:rPr>
              <a:t>G</a:t>
            </a:r>
            <a:r>
              <a:rPr lang="it-IT" sz="2000" b="1" i="1" baseline="-25000" dirty="0" err="1">
                <a:solidFill>
                  <a:srgbClr val="FF0000"/>
                </a:solidFill>
              </a:rPr>
              <a:t>pred</a:t>
            </a:r>
            <a:r>
              <a:rPr lang="it-IT" sz="2000" b="1" dirty="0"/>
              <a:t> </a:t>
            </a:r>
            <a:r>
              <a:rPr lang="it-IT" sz="2000" dirty="0">
                <a:solidFill>
                  <a:srgbClr val="000000"/>
                </a:solidFill>
              </a:rPr>
              <a:t>è </a:t>
            </a:r>
            <a:r>
              <a:rPr lang="it-IT" sz="2000" dirty="0" smtClean="0">
                <a:solidFill>
                  <a:srgbClr val="000000"/>
                </a:solidFill>
              </a:rPr>
              <a:t>aciclico</a:t>
            </a:r>
            <a:endParaRPr lang="it-IT" sz="2000" dirty="0"/>
          </a:p>
          <a:p>
            <a:pPr marL="1098000">
              <a:spcBef>
                <a:spcPct val="20000"/>
              </a:spcBef>
              <a:buFontTx/>
              <a:buAutoNum type="alphaLcParenR"/>
            </a:pPr>
            <a:r>
              <a:rPr lang="it-IT" sz="2000" dirty="0">
                <a:solidFill>
                  <a:srgbClr val="000000"/>
                </a:solidFill>
              </a:rPr>
              <a:t>in</a:t>
            </a:r>
            <a:r>
              <a:rPr lang="it-IT" sz="2000" dirty="0"/>
              <a:t> </a:t>
            </a:r>
            <a:r>
              <a:rPr lang="it-IT" sz="2000" b="1" i="1" dirty="0" err="1">
                <a:solidFill>
                  <a:srgbClr val="FF0000"/>
                </a:solidFill>
              </a:rPr>
              <a:t>G</a:t>
            </a:r>
            <a:r>
              <a:rPr lang="it-IT" sz="2000" b="1" i="1" baseline="-25000" dirty="0" err="1">
                <a:solidFill>
                  <a:srgbClr val="FF0000"/>
                </a:solidFill>
              </a:rPr>
              <a:t>pred</a:t>
            </a:r>
            <a:r>
              <a:rPr lang="it-IT" sz="2000" b="1" dirty="0">
                <a:solidFill>
                  <a:srgbClr val="FF0000"/>
                </a:solidFill>
              </a:rPr>
              <a:t> = (</a:t>
            </a:r>
            <a:r>
              <a:rPr lang="it-IT" sz="2000" b="1" i="1" dirty="0" err="1">
                <a:solidFill>
                  <a:srgbClr val="FF0000"/>
                </a:solidFill>
              </a:rPr>
              <a:t>V</a:t>
            </a:r>
            <a:r>
              <a:rPr lang="it-IT" sz="2000" b="1" i="1" baseline="-25000" dirty="0" err="1">
                <a:solidFill>
                  <a:srgbClr val="FF0000"/>
                </a:solidFill>
              </a:rPr>
              <a:t>pred</a:t>
            </a:r>
            <a:r>
              <a:rPr lang="it-IT" sz="2000" b="1" i="1" baseline="-25000" dirty="0">
                <a:solidFill>
                  <a:srgbClr val="FF0000"/>
                </a:solidFill>
              </a:rPr>
              <a:t> </a:t>
            </a:r>
            <a:r>
              <a:rPr lang="it-IT" sz="2000" b="1" i="1" dirty="0">
                <a:solidFill>
                  <a:srgbClr val="FF0000"/>
                </a:solidFill>
              </a:rPr>
              <a:t>,</a:t>
            </a:r>
            <a:r>
              <a:rPr lang="it-IT" sz="2000" b="1" i="1" dirty="0" err="1">
                <a:solidFill>
                  <a:srgbClr val="FF0000"/>
                </a:solidFill>
              </a:rPr>
              <a:t>E</a:t>
            </a:r>
            <a:r>
              <a:rPr lang="it-IT" sz="2000" b="1" i="1" baseline="-25000" dirty="0" err="1">
                <a:solidFill>
                  <a:srgbClr val="FF0000"/>
                </a:solidFill>
              </a:rPr>
              <a:t>pred</a:t>
            </a:r>
            <a:r>
              <a:rPr lang="it-IT" sz="2000" b="1" dirty="0">
                <a:solidFill>
                  <a:srgbClr val="FF0000"/>
                </a:solidFill>
              </a:rPr>
              <a:t>)</a:t>
            </a:r>
            <a:r>
              <a:rPr lang="it-IT" sz="2000" dirty="0">
                <a:solidFill>
                  <a:srgbClr val="FF0000"/>
                </a:solidFill>
              </a:rPr>
              <a:t> </a:t>
            </a:r>
            <a:r>
              <a:rPr lang="it-IT" sz="2000" dirty="0">
                <a:solidFill>
                  <a:srgbClr val="000000"/>
                </a:solidFill>
              </a:rPr>
              <a:t>vi è uno ed un solo cammino da </a:t>
            </a:r>
            <a:r>
              <a:rPr lang="it-IT" sz="2000" b="1" i="1" dirty="0" err="1">
                <a:solidFill>
                  <a:srgbClr val="FF0000"/>
                </a:solidFill>
              </a:rPr>
              <a:t>s</a:t>
            </a:r>
            <a:r>
              <a:rPr lang="it-IT" sz="2000" dirty="0">
                <a:solidFill>
                  <a:srgbClr val="FF0000"/>
                </a:solidFill>
              </a:rPr>
              <a:t> </a:t>
            </a:r>
            <a:r>
              <a:rPr lang="it-IT" sz="2000" dirty="0">
                <a:solidFill>
                  <a:srgbClr val="000000"/>
                </a:solidFill>
              </a:rPr>
              <a:t>ad ogni altro vertice</a:t>
            </a:r>
            <a:r>
              <a:rPr lang="it-IT" sz="2000" dirty="0"/>
              <a:t> </a:t>
            </a:r>
            <a:r>
              <a:rPr lang="it-IT" sz="2000" b="1" i="1" dirty="0">
                <a:solidFill>
                  <a:srgbClr val="FF0000"/>
                </a:solidFill>
                <a:sym typeface="Symbol" charset="0"/>
              </a:rPr>
              <a:t>v </a:t>
            </a:r>
            <a:r>
              <a:rPr lang="it-IT" sz="2000" b="1" dirty="0">
                <a:solidFill>
                  <a:srgbClr val="FF0000"/>
                </a:solidFill>
                <a:sym typeface="Symbol" charset="0"/>
              </a:rPr>
              <a:t></a:t>
            </a:r>
            <a:r>
              <a:rPr lang="it-IT" sz="2000" dirty="0">
                <a:solidFill>
                  <a:srgbClr val="FF0000"/>
                </a:solidFill>
              </a:rPr>
              <a:t> </a:t>
            </a:r>
            <a:r>
              <a:rPr lang="it-IT" sz="2000" b="1" i="1" dirty="0" err="1">
                <a:solidFill>
                  <a:srgbClr val="FF0000"/>
                </a:solidFill>
              </a:rPr>
              <a:t>V</a:t>
            </a:r>
            <a:r>
              <a:rPr lang="it-IT" sz="2000" b="1" i="1" baseline="-25000" dirty="0" err="1">
                <a:solidFill>
                  <a:srgbClr val="FF0000"/>
                </a:solidFill>
              </a:rPr>
              <a:t>pred</a:t>
            </a:r>
            <a:r>
              <a:rPr lang="it-IT" sz="2000" b="1" i="1" baseline="-25000" dirty="0">
                <a:solidFill>
                  <a:srgbClr val="FF0000"/>
                </a:solidFill>
              </a:rPr>
              <a:t> </a:t>
            </a:r>
            <a:endParaRPr lang="it-IT" sz="2000" dirty="0">
              <a:solidFill>
                <a:srgbClr val="FF0000"/>
              </a:solidFill>
            </a:endParaRPr>
          </a:p>
          <a:p>
            <a:pPr lvl="1"/>
            <a:endParaRPr lang="it-IT" dirty="0">
              <a:solidFill>
                <a:srgbClr val="000000"/>
              </a:solidFill>
            </a:endParaRPr>
          </a:p>
          <a:p>
            <a:pPr lvl="1"/>
            <a:endParaRPr lang="it-IT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7044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Grafo dei predecessori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23528" y="1196752"/>
            <a:ext cx="8424936" cy="5112568"/>
          </a:xfrm>
        </p:spPr>
        <p:txBody>
          <a:bodyPr/>
          <a:lstStyle/>
          <a:p>
            <a:pPr marL="914400" lvl="1" indent="-457200">
              <a:buClr>
                <a:srgbClr val="FF0000"/>
              </a:buClr>
              <a:buFont typeface="+mj-lt"/>
              <a:buAutoNum type="alphaLcParenR"/>
            </a:pPr>
            <a:r>
              <a:rPr lang="it-IT" dirty="0" smtClean="0">
                <a:solidFill>
                  <a:schemeClr val="tx1"/>
                </a:solidFill>
              </a:rPr>
              <a:t>Supponiamo, per assurdo, che ad un certo punto il grafo </a:t>
            </a:r>
            <a:r>
              <a:rPr lang="it-IT" i="1" dirty="0" err="1" smtClean="0">
                <a:solidFill>
                  <a:srgbClr val="FF0000"/>
                </a:solidFill>
              </a:rPr>
              <a:t>G</a:t>
            </a:r>
            <a:r>
              <a:rPr lang="it-IT" i="1" baseline="-25000" dirty="0" err="1" smtClean="0">
                <a:solidFill>
                  <a:srgbClr val="FF0000"/>
                </a:solidFill>
              </a:rPr>
              <a:t>pred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chemeClr val="tx1"/>
                </a:solidFill>
              </a:rPr>
              <a:t>contenga un ciclo </a:t>
            </a:r>
            <a:r>
              <a:rPr lang="it-IT" dirty="0" smtClean="0">
                <a:solidFill>
                  <a:srgbClr val="FF0000"/>
                </a:solidFill>
              </a:rPr>
              <a:t>(</a:t>
            </a:r>
            <a:r>
              <a:rPr lang="it-IT" i="1" dirty="0" smtClean="0">
                <a:solidFill>
                  <a:srgbClr val="FF0000"/>
                </a:solidFill>
              </a:rPr>
              <a:t>v</a:t>
            </a:r>
            <a:r>
              <a:rPr lang="it-IT" baseline="-25000" dirty="0" smtClean="0">
                <a:solidFill>
                  <a:srgbClr val="FF0000"/>
                </a:solidFill>
              </a:rPr>
              <a:t>0</a:t>
            </a:r>
            <a:r>
              <a:rPr lang="it-IT" i="1" dirty="0" smtClean="0">
                <a:solidFill>
                  <a:srgbClr val="FF0000"/>
                </a:solidFill>
              </a:rPr>
              <a:t>,v</a:t>
            </a:r>
            <a:r>
              <a:rPr lang="it-IT" baseline="-25000" dirty="0" smtClean="0">
                <a:solidFill>
                  <a:srgbClr val="FF0000"/>
                </a:solidFill>
              </a:rPr>
              <a:t>1</a:t>
            </a:r>
            <a:r>
              <a:rPr lang="it-IT" i="1" dirty="0" smtClean="0">
                <a:solidFill>
                  <a:srgbClr val="FF0000"/>
                </a:solidFill>
              </a:rPr>
              <a:t>,...,</a:t>
            </a:r>
            <a:r>
              <a:rPr lang="it-IT" i="1" dirty="0" err="1" smtClean="0">
                <a:solidFill>
                  <a:srgbClr val="FF0000"/>
                </a:solidFill>
              </a:rPr>
              <a:t>v</a:t>
            </a:r>
            <a:r>
              <a:rPr lang="it-IT" i="1" baseline="-25000" dirty="0" err="1" smtClean="0">
                <a:solidFill>
                  <a:srgbClr val="FF0000"/>
                </a:solidFill>
              </a:rPr>
              <a:t>k</a:t>
            </a:r>
            <a:r>
              <a:rPr lang="it-IT" dirty="0" smtClean="0">
                <a:solidFill>
                  <a:srgbClr val="FF0000"/>
                </a:solidFill>
              </a:rPr>
              <a:t> = </a:t>
            </a:r>
            <a:r>
              <a:rPr lang="it-IT" i="1" dirty="0" smtClean="0">
                <a:solidFill>
                  <a:srgbClr val="FF0000"/>
                </a:solidFill>
              </a:rPr>
              <a:t>v</a:t>
            </a:r>
            <a:r>
              <a:rPr lang="it-IT" baseline="-25000" dirty="0" smtClean="0">
                <a:solidFill>
                  <a:srgbClr val="FF0000"/>
                </a:solidFill>
              </a:rPr>
              <a:t>0</a:t>
            </a:r>
            <a:r>
              <a:rPr lang="it-IT" dirty="0" smtClean="0">
                <a:solidFill>
                  <a:srgbClr val="FF0000"/>
                </a:solidFill>
              </a:rPr>
              <a:t>)</a:t>
            </a:r>
          </a:p>
          <a:p>
            <a:pPr marL="925200" lvl="1" indent="0">
              <a:buNone/>
            </a:pPr>
            <a:r>
              <a:rPr lang="it-IT" dirty="0" smtClean="0">
                <a:solidFill>
                  <a:schemeClr val="tx1"/>
                </a:solidFill>
              </a:rPr>
              <a:t>Per ogni </a:t>
            </a:r>
            <a:r>
              <a:rPr lang="it-IT" i="1" dirty="0" smtClean="0">
                <a:solidFill>
                  <a:srgbClr val="FF0000"/>
                </a:solidFill>
              </a:rPr>
              <a:t>i</a:t>
            </a:r>
            <a:r>
              <a:rPr lang="it-IT" dirty="0" smtClean="0">
                <a:solidFill>
                  <a:srgbClr val="FF0000"/>
                </a:solidFill>
              </a:rPr>
              <a:t> = </a:t>
            </a:r>
            <a:r>
              <a:rPr lang="it-IT" i="1" dirty="0" smtClean="0">
                <a:solidFill>
                  <a:srgbClr val="FF0000"/>
                </a:solidFill>
              </a:rPr>
              <a:t>1,...,k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chemeClr val="tx1"/>
                </a:solidFill>
              </a:rPr>
              <a:t>quando è stata effettuata l’ultima assegnazione </a:t>
            </a:r>
            <a:r>
              <a:rPr lang="it-IT" i="1" dirty="0" err="1" smtClean="0">
                <a:solidFill>
                  <a:srgbClr val="FF0000"/>
                </a:solidFill>
                <a:latin typeface="Symbol" charset="2"/>
                <a:cs typeface="Symbol" charset="2"/>
                <a:sym typeface="Symbol" charset="0"/>
              </a:rPr>
              <a:t>p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[</a:t>
            </a:r>
            <a:r>
              <a:rPr lang="it-IT" i="1" dirty="0" smtClean="0">
                <a:solidFill>
                  <a:srgbClr val="FF0000"/>
                </a:solidFill>
                <a:sym typeface="Symbol" charset="0"/>
              </a:rPr>
              <a:t>v</a:t>
            </a:r>
            <a:r>
              <a:rPr lang="it-IT" i="1" baseline="-25000" dirty="0" smtClean="0">
                <a:solidFill>
                  <a:srgbClr val="FF0000"/>
                </a:solidFill>
              </a:rPr>
              <a:t>i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]</a:t>
            </a:r>
            <a:r>
              <a:rPr lang="it-IT" dirty="0" smtClean="0">
                <a:solidFill>
                  <a:srgbClr val="FF0000"/>
                </a:solidFill>
              </a:rPr>
              <a:t> = </a:t>
            </a:r>
            <a:r>
              <a:rPr lang="it-IT" i="1" dirty="0" smtClean="0">
                <a:solidFill>
                  <a:srgbClr val="FF0000"/>
                </a:solidFill>
              </a:rPr>
              <a:t>v</a:t>
            </a:r>
            <a:r>
              <a:rPr lang="it-IT" i="1" baseline="-25000" dirty="0" smtClean="0">
                <a:solidFill>
                  <a:srgbClr val="FF0000"/>
                </a:solidFill>
              </a:rPr>
              <a:t>i-1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chemeClr val="tx1"/>
                </a:solidFill>
              </a:rPr>
              <a:t>si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chemeClr val="tx1"/>
                </a:solidFill>
              </a:rPr>
              <a:t>è anche posto</a:t>
            </a:r>
          </a:p>
          <a:p>
            <a:pPr marL="457200" lvl="1" indent="0" algn="ctr">
              <a:buNone/>
            </a:pPr>
            <a:r>
              <a:rPr lang="it-IT" i="1" dirty="0" smtClean="0">
                <a:solidFill>
                  <a:srgbClr val="FF0000"/>
                </a:solidFill>
                <a:sym typeface="Symbol" charset="0"/>
              </a:rPr>
              <a:t>d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[</a:t>
            </a:r>
            <a:r>
              <a:rPr lang="it-IT" i="1" dirty="0" smtClean="0">
                <a:solidFill>
                  <a:srgbClr val="FF0000"/>
                </a:solidFill>
                <a:sym typeface="Symbol" charset="0"/>
              </a:rPr>
              <a:t>v</a:t>
            </a:r>
            <a:r>
              <a:rPr lang="it-IT" i="1" baseline="-25000" dirty="0" smtClean="0">
                <a:solidFill>
                  <a:srgbClr val="FF0000"/>
                </a:solidFill>
              </a:rPr>
              <a:t>i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]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= </a:t>
            </a:r>
            <a:r>
              <a:rPr lang="it-IT" i="1" dirty="0" smtClean="0">
                <a:solidFill>
                  <a:srgbClr val="FF0000"/>
                </a:solidFill>
                <a:sym typeface="Symbol" charset="0"/>
              </a:rPr>
              <a:t>d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[</a:t>
            </a:r>
            <a:r>
              <a:rPr lang="it-IT" i="1" dirty="0" smtClean="0">
                <a:solidFill>
                  <a:srgbClr val="FF0000"/>
                </a:solidFill>
                <a:sym typeface="Symbol" charset="0"/>
              </a:rPr>
              <a:t>v</a:t>
            </a:r>
            <a:r>
              <a:rPr lang="it-IT" i="1" baseline="-25000" dirty="0" smtClean="0">
                <a:solidFill>
                  <a:srgbClr val="FF0000"/>
                </a:solidFill>
              </a:rPr>
              <a:t>i</a:t>
            </a:r>
            <a:r>
              <a:rPr lang="it-IT" baseline="-25000" dirty="0" smtClean="0">
                <a:solidFill>
                  <a:srgbClr val="FF0000"/>
                </a:solidFill>
              </a:rPr>
              <a:t>-1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] + </a:t>
            </a:r>
            <a:r>
              <a:rPr lang="it-IT" i="1" dirty="0" err="1" smtClean="0">
                <a:solidFill>
                  <a:srgbClr val="FF0000"/>
                </a:solidFill>
                <a:sym typeface="Symbol" charset="0"/>
              </a:rPr>
              <a:t>W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(</a:t>
            </a:r>
            <a:r>
              <a:rPr lang="it-IT" i="1" dirty="0" smtClean="0">
                <a:solidFill>
                  <a:srgbClr val="FF0000"/>
                </a:solidFill>
              </a:rPr>
              <a:t>v</a:t>
            </a:r>
            <a:r>
              <a:rPr lang="it-IT" i="1" baseline="-25000" dirty="0" smtClean="0">
                <a:solidFill>
                  <a:srgbClr val="FF0000"/>
                </a:solidFill>
              </a:rPr>
              <a:t>i </a:t>
            </a:r>
            <a:r>
              <a:rPr lang="it-IT" i="1" dirty="0" smtClean="0">
                <a:solidFill>
                  <a:srgbClr val="FF0000"/>
                </a:solidFill>
                <a:sym typeface="Symbol" charset="0"/>
              </a:rPr>
              <a:t>,</a:t>
            </a:r>
            <a:r>
              <a:rPr lang="it-IT" i="1" dirty="0" smtClean="0">
                <a:solidFill>
                  <a:srgbClr val="FF0000"/>
                </a:solidFill>
              </a:rPr>
              <a:t>v</a:t>
            </a:r>
            <a:r>
              <a:rPr lang="it-IT" i="1" baseline="-25000" dirty="0" smtClean="0">
                <a:solidFill>
                  <a:srgbClr val="FF0000"/>
                </a:solidFill>
              </a:rPr>
              <a:t>i</a:t>
            </a:r>
            <a:r>
              <a:rPr lang="it-IT" baseline="-25000" dirty="0" smtClean="0">
                <a:solidFill>
                  <a:srgbClr val="FF0000"/>
                </a:solidFill>
              </a:rPr>
              <a:t>-1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)</a:t>
            </a:r>
          </a:p>
          <a:p>
            <a:pPr marL="925200" lvl="1" indent="0">
              <a:buNone/>
            </a:pPr>
            <a:r>
              <a:rPr lang="it-IT" dirty="0">
                <a:solidFill>
                  <a:schemeClr val="tx1"/>
                </a:solidFill>
              </a:rPr>
              <a:t>Da allora </a:t>
            </a:r>
            <a:r>
              <a:rPr lang="it-IT" i="1" dirty="0">
                <a:solidFill>
                  <a:srgbClr val="FF0000"/>
                </a:solidFill>
                <a:sym typeface="Symbol" charset="0"/>
              </a:rPr>
              <a:t>d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[</a:t>
            </a:r>
            <a:r>
              <a:rPr lang="it-IT" i="1" dirty="0">
                <a:solidFill>
                  <a:srgbClr val="FF0000"/>
                </a:solidFill>
                <a:sym typeface="Symbol" charset="0"/>
              </a:rPr>
              <a:t>v</a:t>
            </a:r>
            <a:r>
              <a:rPr lang="it-IT" i="1" baseline="-25000" dirty="0">
                <a:solidFill>
                  <a:srgbClr val="FF0000"/>
                </a:solidFill>
              </a:rPr>
              <a:t>i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]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>
                <a:solidFill>
                  <a:schemeClr val="tx1"/>
                </a:solidFill>
              </a:rPr>
              <a:t>non è più cambiato mentre </a:t>
            </a:r>
            <a:r>
              <a:rPr lang="it-IT" i="1" dirty="0">
                <a:solidFill>
                  <a:srgbClr val="FF0000"/>
                </a:solidFill>
                <a:sym typeface="Symbol" charset="0"/>
              </a:rPr>
              <a:t>d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[</a:t>
            </a:r>
            <a:r>
              <a:rPr lang="it-IT" i="1" dirty="0">
                <a:solidFill>
                  <a:srgbClr val="FF0000"/>
                </a:solidFill>
                <a:sym typeface="Symbol" charset="0"/>
              </a:rPr>
              <a:t>v</a:t>
            </a:r>
            <a:r>
              <a:rPr lang="it-IT" i="1" baseline="-25000" dirty="0">
                <a:solidFill>
                  <a:srgbClr val="FF0000"/>
                </a:solidFill>
              </a:rPr>
              <a:t>i</a:t>
            </a:r>
            <a:r>
              <a:rPr lang="it-IT" baseline="-25000" dirty="0">
                <a:solidFill>
                  <a:srgbClr val="FF0000"/>
                </a:solidFill>
              </a:rPr>
              <a:t>-1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]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>
                <a:solidFill>
                  <a:schemeClr val="tx1"/>
                </a:solidFill>
              </a:rPr>
              <a:t>può </a:t>
            </a:r>
            <a:r>
              <a:rPr lang="it-IT" dirty="0" smtClean="0">
                <a:solidFill>
                  <a:schemeClr val="tx1"/>
                </a:solidFill>
              </a:rPr>
              <a:t>solo essere </a:t>
            </a:r>
            <a:r>
              <a:rPr lang="it-IT" dirty="0">
                <a:solidFill>
                  <a:schemeClr val="tx1"/>
                </a:solidFill>
              </a:rPr>
              <a:t>diminuito</a:t>
            </a:r>
            <a:r>
              <a:rPr lang="it-IT" dirty="0" smtClean="0">
                <a:solidFill>
                  <a:schemeClr val="tx1"/>
                </a:solidFill>
              </a:rPr>
              <a:t>. Quindi vale </a:t>
            </a:r>
            <a:r>
              <a:rPr lang="it-IT" i="1" dirty="0" smtClean="0">
                <a:solidFill>
                  <a:srgbClr val="FF0000"/>
                </a:solidFill>
                <a:sym typeface="Symbol" charset="0"/>
              </a:rPr>
              <a:t>d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[</a:t>
            </a:r>
            <a:r>
              <a:rPr lang="it-IT" i="1" dirty="0">
                <a:solidFill>
                  <a:srgbClr val="FF0000"/>
                </a:solidFill>
                <a:sym typeface="Symbol" charset="0"/>
              </a:rPr>
              <a:t>v</a:t>
            </a:r>
            <a:r>
              <a:rPr lang="it-IT" i="1" baseline="-25000" dirty="0">
                <a:solidFill>
                  <a:srgbClr val="FF0000"/>
                </a:solidFill>
              </a:rPr>
              <a:t>i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]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 </a:t>
            </a:r>
            <a:r>
              <a:rPr lang="it-IT" i="1" dirty="0">
                <a:solidFill>
                  <a:srgbClr val="FF0000"/>
                </a:solidFill>
                <a:sym typeface="Symbol" charset="0"/>
              </a:rPr>
              <a:t>d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[</a:t>
            </a:r>
            <a:r>
              <a:rPr lang="it-IT" i="1" dirty="0">
                <a:solidFill>
                  <a:srgbClr val="FF0000"/>
                </a:solidFill>
                <a:sym typeface="Symbol" charset="0"/>
              </a:rPr>
              <a:t>v</a:t>
            </a:r>
            <a:r>
              <a:rPr lang="it-IT" i="1" baseline="-25000" dirty="0">
                <a:solidFill>
                  <a:srgbClr val="FF0000"/>
                </a:solidFill>
              </a:rPr>
              <a:t>i</a:t>
            </a:r>
            <a:r>
              <a:rPr lang="it-IT" baseline="-25000" dirty="0">
                <a:solidFill>
                  <a:srgbClr val="FF0000"/>
                </a:solidFill>
              </a:rPr>
              <a:t>-1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]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+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i="1" dirty="0" err="1">
                <a:solidFill>
                  <a:srgbClr val="FF0000"/>
                </a:solidFill>
                <a:sym typeface="Symbol" charset="0"/>
              </a:rPr>
              <a:t>W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(</a:t>
            </a:r>
            <a:r>
              <a:rPr lang="it-IT" i="1" dirty="0" smtClean="0">
                <a:solidFill>
                  <a:srgbClr val="FF0000"/>
                </a:solidFill>
              </a:rPr>
              <a:t>v</a:t>
            </a:r>
            <a:r>
              <a:rPr lang="it-IT" i="1" baseline="-25000" dirty="0" smtClean="0">
                <a:solidFill>
                  <a:srgbClr val="FF0000"/>
                </a:solidFill>
              </a:rPr>
              <a:t>i</a:t>
            </a:r>
            <a:r>
              <a:rPr lang="it-IT" i="1" dirty="0" smtClean="0">
                <a:solidFill>
                  <a:srgbClr val="FF0000"/>
                </a:solidFill>
                <a:sym typeface="Symbol" charset="0"/>
              </a:rPr>
              <a:t>,</a:t>
            </a:r>
            <a:r>
              <a:rPr lang="it-IT" i="1" dirty="0">
                <a:solidFill>
                  <a:srgbClr val="FF0000"/>
                </a:solidFill>
              </a:rPr>
              <a:t>v</a:t>
            </a:r>
            <a:r>
              <a:rPr lang="it-IT" i="1" baseline="-25000" dirty="0">
                <a:solidFill>
                  <a:srgbClr val="FF0000"/>
                </a:solidFill>
              </a:rPr>
              <a:t>i-1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).</a:t>
            </a:r>
          </a:p>
          <a:p>
            <a:pPr marL="925200" lvl="1" indent="0">
              <a:buNone/>
            </a:pPr>
            <a:r>
              <a:rPr lang="it-IT" dirty="0">
                <a:solidFill>
                  <a:schemeClr val="tx1"/>
                </a:solidFill>
              </a:rPr>
              <a:t>Possiamo assumere che il ciclo si sia formato rilassando l’arco </a:t>
            </a:r>
            <a:r>
              <a:rPr lang="it-IT" i="1" dirty="0">
                <a:solidFill>
                  <a:srgbClr val="FF0000"/>
                </a:solidFill>
              </a:rPr>
              <a:t>v</a:t>
            </a:r>
            <a:r>
              <a:rPr lang="it-IT" i="1" baseline="-25000" dirty="0">
                <a:solidFill>
                  <a:srgbClr val="FF0000"/>
                </a:solidFill>
              </a:rPr>
              <a:t>k</a:t>
            </a:r>
            <a:r>
              <a:rPr lang="it-IT" baseline="-25000" dirty="0">
                <a:solidFill>
                  <a:srgbClr val="FF0000"/>
                </a:solidFill>
              </a:rPr>
              <a:t>-1</a:t>
            </a:r>
            <a:r>
              <a:rPr lang="it-IT" i="1" dirty="0">
                <a:solidFill>
                  <a:srgbClr val="FF0000"/>
                </a:solidFill>
              </a:rPr>
              <a:t>v</a:t>
            </a:r>
            <a:r>
              <a:rPr lang="it-IT" i="1" baseline="-25000" dirty="0">
                <a:solidFill>
                  <a:srgbClr val="FF0000"/>
                </a:solidFill>
              </a:rPr>
              <a:t>k</a:t>
            </a:r>
            <a:r>
              <a:rPr lang="it-IT" dirty="0">
                <a:solidFill>
                  <a:schemeClr val="tx1"/>
                </a:solidFill>
              </a:rPr>
              <a:t>. Prima di tale rilassamento </a:t>
            </a:r>
            <a:r>
              <a:rPr lang="it-IT" i="1" dirty="0">
                <a:solidFill>
                  <a:srgbClr val="FF0000"/>
                </a:solidFill>
                <a:sym typeface="Symbol" charset="0"/>
              </a:rPr>
              <a:t>d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[</a:t>
            </a:r>
            <a:r>
              <a:rPr lang="it-IT" i="1" dirty="0" err="1">
                <a:solidFill>
                  <a:srgbClr val="FF0000"/>
                </a:solidFill>
                <a:sym typeface="Symbol" charset="0"/>
              </a:rPr>
              <a:t>v</a:t>
            </a:r>
            <a:r>
              <a:rPr lang="it-IT" i="1" baseline="-25000" dirty="0" err="1">
                <a:solidFill>
                  <a:srgbClr val="FF0000"/>
                </a:solidFill>
              </a:rPr>
              <a:t>k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]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&gt;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i="1" dirty="0">
                <a:solidFill>
                  <a:srgbClr val="FF0000"/>
                </a:solidFill>
                <a:sym typeface="Symbol" charset="0"/>
              </a:rPr>
              <a:t>d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[</a:t>
            </a:r>
            <a:r>
              <a:rPr lang="it-IT" i="1" dirty="0">
                <a:solidFill>
                  <a:srgbClr val="FF0000"/>
                </a:solidFill>
                <a:sym typeface="Symbol" charset="0"/>
              </a:rPr>
              <a:t>v</a:t>
            </a:r>
            <a:r>
              <a:rPr lang="it-IT" i="1" baseline="-25000" dirty="0">
                <a:solidFill>
                  <a:srgbClr val="FF0000"/>
                </a:solidFill>
              </a:rPr>
              <a:t>k</a:t>
            </a:r>
            <a:r>
              <a:rPr lang="it-IT" baseline="-25000" dirty="0">
                <a:solidFill>
                  <a:srgbClr val="FF0000"/>
                </a:solidFill>
              </a:rPr>
              <a:t>-1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]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+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i="1" dirty="0" err="1">
                <a:solidFill>
                  <a:srgbClr val="FF0000"/>
                </a:solidFill>
                <a:sym typeface="Symbol" charset="0"/>
              </a:rPr>
              <a:t>W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(</a:t>
            </a:r>
            <a:r>
              <a:rPr lang="it-IT" i="1" dirty="0" err="1">
                <a:solidFill>
                  <a:srgbClr val="FF0000"/>
                </a:solidFill>
              </a:rPr>
              <a:t>v</a:t>
            </a:r>
            <a:r>
              <a:rPr lang="it-IT" i="1" baseline="-25000" dirty="0" err="1">
                <a:solidFill>
                  <a:srgbClr val="FF0000"/>
                </a:solidFill>
              </a:rPr>
              <a:t>k</a:t>
            </a:r>
            <a:r>
              <a:rPr lang="it-IT" i="1" baseline="-25000" dirty="0">
                <a:solidFill>
                  <a:srgbClr val="FF0000"/>
                </a:solidFill>
              </a:rPr>
              <a:t> </a:t>
            </a:r>
            <a:r>
              <a:rPr lang="it-IT" i="1" dirty="0">
                <a:solidFill>
                  <a:srgbClr val="FF0000"/>
                </a:solidFill>
                <a:sym typeface="Symbol" charset="0"/>
              </a:rPr>
              <a:t>,</a:t>
            </a:r>
            <a:r>
              <a:rPr lang="it-IT" i="1" dirty="0">
                <a:solidFill>
                  <a:srgbClr val="FF0000"/>
                </a:solidFill>
              </a:rPr>
              <a:t>v</a:t>
            </a:r>
            <a:r>
              <a:rPr lang="it-IT" i="1" baseline="-25000" dirty="0">
                <a:solidFill>
                  <a:srgbClr val="FF0000"/>
                </a:solidFill>
              </a:rPr>
              <a:t>k-1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)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>
                <a:solidFill>
                  <a:schemeClr val="tx1"/>
                </a:solidFill>
              </a:rPr>
              <a:t>per cui</a:t>
            </a:r>
            <a:r>
              <a:rPr lang="it-IT" dirty="0" smtClean="0">
                <a:solidFill>
                  <a:schemeClr val="tx1"/>
                </a:solidFill>
              </a:rPr>
              <a:t>:</a:t>
            </a:r>
          </a:p>
          <a:p>
            <a:pPr marL="925200" lvl="1" indent="0">
              <a:buNone/>
            </a:pPr>
            <a:endParaRPr lang="it-IT" dirty="0">
              <a:solidFill>
                <a:schemeClr val="tx1"/>
              </a:solidFill>
            </a:endParaRPr>
          </a:p>
          <a:p>
            <a:pPr marL="925200" lvl="1" indent="0">
              <a:buNone/>
            </a:pPr>
            <a:r>
              <a:rPr lang="it-IT" dirty="0">
                <a:solidFill>
                  <a:schemeClr val="tx1"/>
                </a:solidFill>
              </a:rPr>
              <a:t>e quindi                           </a:t>
            </a:r>
            <a:r>
              <a:rPr lang="it-IT" dirty="0" smtClean="0">
                <a:solidFill>
                  <a:schemeClr val="tx1"/>
                </a:solidFill>
              </a:rPr>
              <a:t>      </a:t>
            </a:r>
            <a:r>
              <a:rPr lang="it-IT" dirty="0">
                <a:solidFill>
                  <a:schemeClr val="tx1"/>
                </a:solidFill>
              </a:rPr>
              <a:t>, assurdo </a:t>
            </a:r>
            <a:r>
              <a:rPr lang="it-IT" dirty="0" err="1">
                <a:solidFill>
                  <a:schemeClr val="tx1"/>
                </a:solidFill>
              </a:rPr>
              <a:t>perchè</a:t>
            </a:r>
            <a:r>
              <a:rPr lang="it-IT" dirty="0">
                <a:solidFill>
                  <a:schemeClr val="tx1"/>
                </a:solidFill>
              </a:rPr>
              <a:t> non ci sono cicli negativi.</a:t>
            </a:r>
            <a:endParaRPr lang="it-IT" b="1" dirty="0">
              <a:solidFill>
                <a:schemeClr val="tx1"/>
              </a:solidFill>
            </a:endParaRPr>
          </a:p>
          <a:p>
            <a:pPr marL="925200" lvl="1" indent="0">
              <a:buNone/>
            </a:pPr>
            <a:endParaRPr lang="it-IT" dirty="0">
              <a:solidFill>
                <a:schemeClr val="tx1"/>
              </a:solidFill>
            </a:endParaRPr>
          </a:p>
          <a:p>
            <a:endParaRPr lang="it-IT" dirty="0">
              <a:solidFill>
                <a:srgbClr val="FF0000"/>
              </a:solidFill>
            </a:endParaRPr>
          </a:p>
        </p:txBody>
      </p:sp>
      <p:graphicFrame>
        <p:nvGraphicFramePr>
          <p:cNvPr id="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1797508"/>
              </p:ext>
            </p:extLst>
          </p:nvPr>
        </p:nvGraphicFramePr>
        <p:xfrm>
          <a:off x="2483768" y="4581128"/>
          <a:ext cx="4752528" cy="5814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7" name="Equation" r:id="rId4" imgW="2615184" imgH="283464" progId="Equation.3">
                  <p:embed/>
                </p:oleObj>
              </mc:Choice>
              <mc:Fallback>
                <p:oleObj name="Equation" r:id="rId4" imgW="2615184" imgH="28346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4581128"/>
                        <a:ext cx="4752528" cy="5814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8555930"/>
              </p:ext>
            </p:extLst>
          </p:nvPr>
        </p:nvGraphicFramePr>
        <p:xfrm>
          <a:off x="2483768" y="5157192"/>
          <a:ext cx="2054225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8" name="Equation" r:id="rId6" imgW="1130300" imgH="317500" progId="Equation.3">
                  <p:embed/>
                </p:oleObj>
              </mc:Choice>
              <mc:Fallback>
                <p:oleObj name="Equation" r:id="rId6" imgW="1130300" imgH="317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5157192"/>
                        <a:ext cx="2054225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Grafo dei predecessori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23528" y="1196752"/>
            <a:ext cx="8496944" cy="5040560"/>
          </a:xfrm>
        </p:spPr>
        <p:txBody>
          <a:bodyPr/>
          <a:lstStyle/>
          <a:p>
            <a:pPr marL="914400" lvl="1" indent="-457200">
              <a:buClr>
                <a:srgbClr val="FF0000"/>
              </a:buClr>
              <a:buFont typeface="+mj-lt"/>
              <a:buAutoNum type="alphaLcParenR" startAt="2"/>
            </a:pPr>
            <a:r>
              <a:rPr lang="it-IT" dirty="0" smtClean="0">
                <a:solidFill>
                  <a:schemeClr val="tx1"/>
                </a:solidFill>
              </a:rPr>
              <a:t>Supponiamo che </a:t>
            </a:r>
            <a:r>
              <a:rPr lang="it-IT" dirty="0">
                <a:solidFill>
                  <a:srgbClr val="000000"/>
                </a:solidFill>
              </a:rPr>
              <a:t>vi </a:t>
            </a:r>
            <a:r>
              <a:rPr lang="it-IT" dirty="0" smtClean="0">
                <a:solidFill>
                  <a:srgbClr val="000000"/>
                </a:solidFill>
              </a:rPr>
              <a:t>sia uno </a:t>
            </a:r>
            <a:r>
              <a:rPr lang="it-IT" dirty="0">
                <a:solidFill>
                  <a:srgbClr val="000000"/>
                </a:solidFill>
              </a:rPr>
              <a:t>ed un solo cammino da </a:t>
            </a:r>
            <a:r>
              <a:rPr lang="it-IT" i="1" dirty="0" err="1">
                <a:solidFill>
                  <a:srgbClr val="FF0000"/>
                </a:solidFill>
              </a:rPr>
              <a:t>s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>
                <a:solidFill>
                  <a:srgbClr val="000000"/>
                </a:solidFill>
              </a:rPr>
              <a:t>ad ogni altro vertice</a:t>
            </a:r>
            <a:r>
              <a:rPr lang="it-IT" dirty="0"/>
              <a:t> </a:t>
            </a:r>
            <a:r>
              <a:rPr lang="it-IT" i="1" dirty="0">
                <a:solidFill>
                  <a:srgbClr val="FF0000"/>
                </a:solidFill>
                <a:sym typeface="Symbol" charset="0"/>
              </a:rPr>
              <a:t>v 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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i="1" dirty="0" err="1">
                <a:solidFill>
                  <a:srgbClr val="FF0000"/>
                </a:solidFill>
              </a:rPr>
              <a:t>V</a:t>
            </a:r>
            <a:r>
              <a:rPr lang="it-IT" i="1" baseline="-25000" dirty="0" err="1">
                <a:solidFill>
                  <a:srgbClr val="FF0000"/>
                </a:solidFill>
              </a:rPr>
              <a:t>pred</a:t>
            </a:r>
            <a:r>
              <a:rPr lang="it-IT" i="1" baseline="-25000" dirty="0">
                <a:solidFill>
                  <a:srgbClr val="FF0000"/>
                </a:solidFill>
              </a:rPr>
              <a:t> </a:t>
            </a:r>
            <a:r>
              <a:rPr lang="it-IT" dirty="0">
                <a:solidFill>
                  <a:srgbClr val="000000"/>
                </a:solidFill>
              </a:rPr>
              <a:t>prima di rilassare l’arco </a:t>
            </a:r>
            <a:r>
              <a:rPr lang="it-IT" i="1" dirty="0" err="1" smtClean="0">
                <a:solidFill>
                  <a:srgbClr val="FF0000"/>
                </a:solidFill>
              </a:rPr>
              <a:t>uv</a:t>
            </a:r>
            <a:r>
              <a:rPr lang="it-IT" i="1" dirty="0" smtClean="0">
                <a:solidFill>
                  <a:srgbClr val="FF0000"/>
                </a:solidFill>
              </a:rPr>
              <a:t>.</a:t>
            </a:r>
          </a:p>
          <a:p>
            <a:pPr marL="900000" lvl="1" indent="0">
              <a:spcBef>
                <a:spcPct val="20000"/>
              </a:spcBef>
              <a:buNone/>
            </a:pPr>
            <a:r>
              <a:rPr lang="it-IT" dirty="0">
                <a:solidFill>
                  <a:schemeClr val="tx1"/>
                </a:solidFill>
              </a:rPr>
              <a:t>Se </a:t>
            </a:r>
            <a:r>
              <a:rPr lang="it-IT" i="1" dirty="0" err="1">
                <a:solidFill>
                  <a:srgbClr val="FF0000"/>
                </a:solidFill>
                <a:latin typeface="Symbol" charset="2"/>
                <a:cs typeface="Symbol" charset="2"/>
                <a:sym typeface="Symbol" charset="0"/>
              </a:rPr>
              <a:t>p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[</a:t>
            </a:r>
            <a:r>
              <a:rPr lang="it-IT" i="1" dirty="0">
                <a:solidFill>
                  <a:srgbClr val="FF0000"/>
                </a:solidFill>
                <a:sym typeface="Symbol" charset="0"/>
              </a:rPr>
              <a:t>v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] </a:t>
            </a:r>
            <a:r>
              <a:rPr lang="it-IT" dirty="0">
                <a:solidFill>
                  <a:schemeClr val="tx1"/>
                </a:solidFill>
              </a:rPr>
              <a:t>non viene modificato rimane vero anche dopo.</a:t>
            </a:r>
          </a:p>
          <a:p>
            <a:pPr marL="900000" lvl="1" indent="0">
              <a:spcBef>
                <a:spcPct val="20000"/>
              </a:spcBef>
              <a:buNone/>
            </a:pPr>
            <a:r>
              <a:rPr lang="it-IT" dirty="0">
                <a:solidFill>
                  <a:schemeClr val="tx1"/>
                </a:solidFill>
              </a:rPr>
              <a:t>Se </a:t>
            </a:r>
            <a:r>
              <a:rPr lang="it-IT" i="1" dirty="0" err="1">
                <a:solidFill>
                  <a:srgbClr val="FF0000"/>
                </a:solidFill>
                <a:latin typeface="Symbol" charset="2"/>
                <a:cs typeface="Symbol" charset="2"/>
                <a:sym typeface="Symbol" charset="0"/>
              </a:rPr>
              <a:t>p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[</a:t>
            </a:r>
            <a:r>
              <a:rPr lang="it-IT" i="1" dirty="0">
                <a:solidFill>
                  <a:srgbClr val="FF0000"/>
                </a:solidFill>
                <a:sym typeface="Symbol" charset="0"/>
              </a:rPr>
              <a:t>v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]</a:t>
            </a:r>
            <a:r>
              <a:rPr lang="it-IT" dirty="0">
                <a:solidFill>
                  <a:schemeClr val="tx1"/>
                </a:solidFill>
                <a:sym typeface="Symbol" charset="0"/>
              </a:rPr>
              <a:t> </a:t>
            </a:r>
            <a:r>
              <a:rPr lang="it-IT" dirty="0">
                <a:solidFill>
                  <a:schemeClr val="tx1"/>
                </a:solidFill>
              </a:rPr>
              <a:t>viene modificato allora prima del rilassamento </a:t>
            </a:r>
            <a:r>
              <a:rPr lang="it-IT" i="1" dirty="0">
                <a:solidFill>
                  <a:srgbClr val="FF0000"/>
                </a:solidFill>
                <a:sym typeface="Symbol" charset="0"/>
              </a:rPr>
              <a:t>d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[</a:t>
            </a:r>
            <a:r>
              <a:rPr lang="it-IT" i="1" dirty="0">
                <a:solidFill>
                  <a:srgbClr val="FF0000"/>
                </a:solidFill>
                <a:sym typeface="Symbol" charset="0"/>
              </a:rPr>
              <a:t>v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] &gt; </a:t>
            </a:r>
            <a:r>
              <a:rPr lang="it-IT" i="1" dirty="0">
                <a:solidFill>
                  <a:srgbClr val="FF0000"/>
                </a:solidFill>
                <a:sym typeface="Symbol" charset="0"/>
              </a:rPr>
              <a:t>d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[</a:t>
            </a:r>
            <a:r>
              <a:rPr lang="it-IT" i="1" dirty="0">
                <a:solidFill>
                  <a:srgbClr val="FF0000"/>
                </a:solidFill>
                <a:sym typeface="Symbol" charset="0"/>
              </a:rPr>
              <a:t>u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] + </a:t>
            </a:r>
            <a:r>
              <a:rPr lang="it-IT" i="1" dirty="0" err="1">
                <a:solidFill>
                  <a:srgbClr val="FF0000"/>
                </a:solidFill>
                <a:sym typeface="Symbol" charset="0"/>
              </a:rPr>
              <a:t>W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(</a:t>
            </a:r>
            <a:r>
              <a:rPr lang="it-IT" i="1" dirty="0" err="1">
                <a:solidFill>
                  <a:srgbClr val="FF0000"/>
                </a:solidFill>
                <a:sym typeface="Symbol" charset="0"/>
              </a:rPr>
              <a:t>u</a:t>
            </a:r>
            <a:r>
              <a:rPr lang="it-IT" dirty="0" err="1">
                <a:solidFill>
                  <a:srgbClr val="FF0000"/>
                </a:solidFill>
                <a:sym typeface="Symbol" charset="0"/>
              </a:rPr>
              <a:t>,</a:t>
            </a:r>
            <a:r>
              <a:rPr lang="it-IT" i="1" dirty="0" err="1">
                <a:solidFill>
                  <a:srgbClr val="FF0000"/>
                </a:solidFill>
                <a:sym typeface="Symbol" charset="0"/>
              </a:rPr>
              <a:t>v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)</a:t>
            </a:r>
            <a:r>
              <a:rPr lang="it-IT" dirty="0">
                <a:solidFill>
                  <a:srgbClr val="FF0000"/>
                </a:solidFill>
              </a:rPr>
              <a:t>. </a:t>
            </a:r>
          </a:p>
          <a:p>
            <a:pPr marL="900000" lvl="1" indent="0">
              <a:spcBef>
                <a:spcPct val="20000"/>
              </a:spcBef>
              <a:buNone/>
            </a:pPr>
            <a:r>
              <a:rPr lang="it-IT" dirty="0">
                <a:solidFill>
                  <a:schemeClr val="tx1"/>
                </a:solidFill>
              </a:rPr>
              <a:t>Quindi </a:t>
            </a:r>
            <a:r>
              <a:rPr lang="it-IT" i="1" dirty="0">
                <a:solidFill>
                  <a:srgbClr val="FF0000"/>
                </a:solidFill>
                <a:sym typeface="Symbol" charset="0"/>
              </a:rPr>
              <a:t>d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[</a:t>
            </a:r>
            <a:r>
              <a:rPr lang="it-IT" i="1" dirty="0">
                <a:solidFill>
                  <a:srgbClr val="FF0000"/>
                </a:solidFill>
                <a:sym typeface="Symbol" charset="0"/>
              </a:rPr>
              <a:t>u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]&lt;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chemeClr val="tx1"/>
                </a:solidFill>
              </a:rPr>
              <a:t>e </a:t>
            </a:r>
            <a:r>
              <a:rPr lang="it-IT" i="1" dirty="0">
                <a:solidFill>
                  <a:srgbClr val="FF0000"/>
                </a:solidFill>
              </a:rPr>
              <a:t>u</a:t>
            </a:r>
            <a:r>
              <a:rPr lang="it-IT" dirty="0">
                <a:solidFill>
                  <a:srgbClr val="FF0000"/>
                </a:solidFill>
              </a:rPr>
              <a:t> = </a:t>
            </a:r>
            <a:r>
              <a:rPr lang="it-IT" i="1" dirty="0" err="1">
                <a:solidFill>
                  <a:srgbClr val="FF0000"/>
                </a:solidFill>
              </a:rPr>
              <a:t>s</a:t>
            </a:r>
            <a:r>
              <a:rPr lang="it-IT" dirty="0">
                <a:solidFill>
                  <a:schemeClr val="tx1"/>
                </a:solidFill>
              </a:rPr>
              <a:t> oppure </a:t>
            </a:r>
            <a:r>
              <a:rPr lang="it-IT" i="1" dirty="0" err="1">
                <a:solidFill>
                  <a:srgbClr val="FF0000"/>
                </a:solidFill>
                <a:latin typeface="Symbol" charset="2"/>
                <a:cs typeface="Symbol" charset="2"/>
                <a:sym typeface="Symbol" charset="0"/>
              </a:rPr>
              <a:t>p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[</a:t>
            </a:r>
            <a:r>
              <a:rPr lang="it-IT" i="1" dirty="0">
                <a:solidFill>
                  <a:srgbClr val="FF0000"/>
                </a:solidFill>
                <a:sym typeface="Symbol" charset="0"/>
              </a:rPr>
              <a:t>u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]  </a:t>
            </a:r>
            <a:r>
              <a:rPr lang="it-IT" dirty="0" err="1">
                <a:solidFill>
                  <a:srgbClr val="FF0000"/>
                </a:solidFill>
                <a:sym typeface="Symbol" charset="0"/>
              </a:rPr>
              <a:t>nil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>
                <a:solidFill>
                  <a:schemeClr val="tx1"/>
                </a:solidFill>
              </a:rPr>
              <a:t>e dunque esiste un unico cammino </a:t>
            </a:r>
            <a:r>
              <a:rPr lang="it-IT" i="1" dirty="0" err="1">
                <a:solidFill>
                  <a:srgbClr val="FF0000"/>
                </a:solidFill>
              </a:rPr>
              <a:t>P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>
                <a:solidFill>
                  <a:schemeClr val="tx1"/>
                </a:solidFill>
              </a:rPr>
              <a:t>da </a:t>
            </a:r>
            <a:r>
              <a:rPr lang="it-IT" i="1" dirty="0" err="1">
                <a:solidFill>
                  <a:srgbClr val="FF0000"/>
                </a:solidFill>
              </a:rPr>
              <a:t>s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>
                <a:solidFill>
                  <a:schemeClr val="tx1"/>
                </a:solidFill>
              </a:rPr>
              <a:t>a </a:t>
            </a:r>
            <a:r>
              <a:rPr lang="it-IT" i="1" dirty="0">
                <a:solidFill>
                  <a:srgbClr val="FF0000"/>
                </a:solidFill>
              </a:rPr>
              <a:t>u</a:t>
            </a:r>
            <a:r>
              <a:rPr lang="it-IT" dirty="0" smtClean="0">
                <a:solidFill>
                  <a:schemeClr val="tx1"/>
                </a:solidFill>
              </a:rPr>
              <a:t>.</a:t>
            </a:r>
          </a:p>
          <a:p>
            <a:pPr marL="889200" lvl="1" indent="0">
              <a:spcBef>
                <a:spcPct val="20000"/>
              </a:spcBef>
              <a:buNone/>
            </a:pPr>
            <a:r>
              <a:rPr lang="it-IT" dirty="0">
                <a:solidFill>
                  <a:schemeClr val="tx1"/>
                </a:solidFill>
              </a:rPr>
              <a:t>Il rilassamento pone </a:t>
            </a:r>
            <a:r>
              <a:rPr lang="it-IT" i="1" dirty="0" err="1">
                <a:solidFill>
                  <a:srgbClr val="FF0000"/>
                </a:solidFill>
                <a:latin typeface="Symbol" charset="2"/>
                <a:cs typeface="Symbol" charset="2"/>
                <a:sym typeface="Symbol" charset="0"/>
              </a:rPr>
              <a:t>p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[</a:t>
            </a:r>
            <a:r>
              <a:rPr lang="it-IT" i="1" dirty="0">
                <a:solidFill>
                  <a:srgbClr val="FF0000"/>
                </a:solidFill>
                <a:sym typeface="Symbol" charset="0"/>
              </a:rPr>
              <a:t>v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] = </a:t>
            </a:r>
            <a:r>
              <a:rPr lang="it-IT" i="1" dirty="0">
                <a:solidFill>
                  <a:srgbClr val="FF0000"/>
                </a:solidFill>
                <a:sym typeface="Symbol" charset="0"/>
              </a:rPr>
              <a:t>u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>
                <a:solidFill>
                  <a:schemeClr val="tx1"/>
                </a:solidFill>
              </a:rPr>
              <a:t>e quindi dopo il rilassamento </a:t>
            </a:r>
            <a:r>
              <a:rPr lang="it-IT" i="1" dirty="0" err="1">
                <a:solidFill>
                  <a:srgbClr val="FF0000"/>
                </a:solidFill>
              </a:rPr>
              <a:t>uv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>
                <a:solidFill>
                  <a:schemeClr val="tx1"/>
                </a:solidFill>
              </a:rPr>
              <a:t>è l’unico arco in </a:t>
            </a:r>
            <a:r>
              <a:rPr lang="it-IT" i="1" dirty="0" err="1">
                <a:solidFill>
                  <a:srgbClr val="FF0000"/>
                </a:solidFill>
              </a:rPr>
              <a:t>E</a:t>
            </a:r>
            <a:r>
              <a:rPr lang="it-IT" i="1" baseline="-25000" dirty="0" err="1">
                <a:solidFill>
                  <a:srgbClr val="FF0000"/>
                </a:solidFill>
              </a:rPr>
              <a:t>pred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>
                <a:solidFill>
                  <a:schemeClr val="tx1"/>
                </a:solidFill>
              </a:rPr>
              <a:t>entrante in </a:t>
            </a:r>
            <a:r>
              <a:rPr lang="it-IT" i="1" dirty="0">
                <a:solidFill>
                  <a:srgbClr val="FF0000"/>
                </a:solidFill>
              </a:rPr>
              <a:t>v</a:t>
            </a:r>
            <a:r>
              <a:rPr lang="it-IT" dirty="0">
                <a:solidFill>
                  <a:schemeClr val="tx1"/>
                </a:solidFill>
              </a:rPr>
              <a:t>. </a:t>
            </a:r>
          </a:p>
          <a:p>
            <a:pPr marL="889200" lvl="1" indent="0">
              <a:spcBef>
                <a:spcPct val="20000"/>
              </a:spcBef>
              <a:buNone/>
            </a:pPr>
            <a:r>
              <a:rPr lang="it-IT" dirty="0">
                <a:solidFill>
                  <a:schemeClr val="tx1"/>
                </a:solidFill>
              </a:rPr>
              <a:t>Siccome non si formano cicli nessun cammino da </a:t>
            </a:r>
            <a:r>
              <a:rPr lang="it-IT" i="1" dirty="0" err="1">
                <a:solidFill>
                  <a:srgbClr val="FF0000"/>
                </a:solidFill>
              </a:rPr>
              <a:t>s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>
                <a:solidFill>
                  <a:schemeClr val="tx1"/>
                </a:solidFill>
              </a:rPr>
              <a:t>a </a:t>
            </a:r>
            <a:r>
              <a:rPr lang="it-IT" i="1" dirty="0">
                <a:solidFill>
                  <a:srgbClr val="FF0000"/>
                </a:solidFill>
                <a:sym typeface="Symbol" charset="0"/>
              </a:rPr>
              <a:t>u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chemeClr val="tx1"/>
                </a:solidFill>
              </a:rPr>
              <a:t>può </a:t>
            </a:r>
            <a:r>
              <a:rPr lang="it-IT" dirty="0">
                <a:solidFill>
                  <a:schemeClr val="tx1"/>
                </a:solidFill>
              </a:rPr>
              <a:t>contenere il vertice </a:t>
            </a:r>
            <a:r>
              <a:rPr lang="it-IT" i="1" dirty="0" smtClean="0">
                <a:solidFill>
                  <a:srgbClr val="FF0000"/>
                </a:solidFill>
              </a:rPr>
              <a:t>v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chemeClr val="tx1"/>
                </a:solidFill>
              </a:rPr>
              <a:t>. </a:t>
            </a:r>
            <a:endParaRPr lang="it-IT" dirty="0">
              <a:solidFill>
                <a:schemeClr val="tx1"/>
              </a:solidFill>
            </a:endParaRPr>
          </a:p>
          <a:p>
            <a:pPr marL="889200" lvl="1" indent="0">
              <a:spcBef>
                <a:spcPct val="20000"/>
              </a:spcBef>
              <a:buNone/>
            </a:pPr>
            <a:r>
              <a:rPr lang="it-IT" dirty="0">
                <a:solidFill>
                  <a:schemeClr val="tx1"/>
                </a:solidFill>
              </a:rPr>
              <a:t>Quindi anche dopo il rilassamento di </a:t>
            </a:r>
            <a:r>
              <a:rPr lang="it-IT" i="1" dirty="0" err="1">
                <a:solidFill>
                  <a:srgbClr val="FF0000"/>
                </a:solidFill>
              </a:rPr>
              <a:t>uv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chemeClr val="tx1"/>
                </a:solidFill>
              </a:rPr>
              <a:t>esiste </a:t>
            </a:r>
            <a:r>
              <a:rPr lang="it-IT" dirty="0">
                <a:solidFill>
                  <a:schemeClr val="tx1"/>
                </a:solidFill>
              </a:rPr>
              <a:t>l’unico cammino </a:t>
            </a:r>
            <a:r>
              <a:rPr lang="it-IT" i="1" dirty="0" err="1">
                <a:solidFill>
                  <a:srgbClr val="FF0000"/>
                </a:solidFill>
              </a:rPr>
              <a:t>P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>
                <a:solidFill>
                  <a:schemeClr val="tx1"/>
                </a:solidFill>
              </a:rPr>
              <a:t>da </a:t>
            </a:r>
            <a:r>
              <a:rPr lang="it-IT" i="1" dirty="0" err="1">
                <a:solidFill>
                  <a:srgbClr val="FF0000"/>
                </a:solidFill>
              </a:rPr>
              <a:t>s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>
                <a:solidFill>
                  <a:schemeClr val="tx1"/>
                </a:solidFill>
              </a:rPr>
              <a:t>a </a:t>
            </a:r>
            <a:r>
              <a:rPr lang="it-IT" i="1" dirty="0">
                <a:solidFill>
                  <a:srgbClr val="FF0000"/>
                </a:solidFill>
                <a:sym typeface="Symbol" charset="0"/>
              </a:rPr>
              <a:t>u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chemeClr val="tx1"/>
                </a:solidFill>
              </a:rPr>
              <a:t>. </a:t>
            </a:r>
            <a:endParaRPr lang="it-IT" dirty="0">
              <a:solidFill>
                <a:schemeClr val="tx1"/>
              </a:solidFill>
            </a:endParaRPr>
          </a:p>
          <a:p>
            <a:pPr marL="889200" lvl="1" indent="0">
              <a:spcBef>
                <a:spcPct val="20000"/>
              </a:spcBef>
              <a:buNone/>
            </a:pPr>
            <a:r>
              <a:rPr lang="it-IT" dirty="0">
                <a:solidFill>
                  <a:schemeClr val="tx1"/>
                </a:solidFill>
              </a:rPr>
              <a:t>Aggiungendo l’arco </a:t>
            </a:r>
            <a:r>
              <a:rPr lang="it-IT" i="1" dirty="0" err="1">
                <a:solidFill>
                  <a:srgbClr val="FF0000"/>
                </a:solidFill>
              </a:rPr>
              <a:t>uv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>
                <a:solidFill>
                  <a:schemeClr val="tx1"/>
                </a:solidFill>
              </a:rPr>
              <a:t>a </a:t>
            </a:r>
            <a:r>
              <a:rPr lang="it-IT" i="1" dirty="0" err="1">
                <a:solidFill>
                  <a:srgbClr val="FF0000"/>
                </a:solidFill>
              </a:rPr>
              <a:t>P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>
                <a:solidFill>
                  <a:schemeClr val="tx1"/>
                </a:solidFill>
              </a:rPr>
              <a:t>otteniamo quindi un unico cammino da </a:t>
            </a:r>
            <a:r>
              <a:rPr lang="it-IT" i="1" dirty="0" err="1">
                <a:solidFill>
                  <a:srgbClr val="FF0000"/>
                </a:solidFill>
              </a:rPr>
              <a:t>s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>
                <a:solidFill>
                  <a:schemeClr val="tx1"/>
                </a:solidFill>
              </a:rPr>
              <a:t>a </a:t>
            </a:r>
            <a:r>
              <a:rPr lang="it-IT" i="1" dirty="0">
                <a:solidFill>
                  <a:srgbClr val="FF0000"/>
                </a:solidFill>
                <a:sym typeface="Symbol" charset="0"/>
              </a:rPr>
              <a:t>v</a:t>
            </a:r>
            <a:r>
              <a:rPr lang="it-IT" dirty="0" smtClean="0">
                <a:solidFill>
                  <a:schemeClr val="tx1"/>
                </a:solidFill>
              </a:rPr>
              <a:t>.</a:t>
            </a:r>
            <a:endParaRPr lang="it-IT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2764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51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Cammini minimi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3528" y="980728"/>
            <a:ext cx="8496944" cy="5184576"/>
          </a:xfrm>
        </p:spPr>
        <p:txBody>
          <a:bodyPr/>
          <a:lstStyle/>
          <a:p>
            <a:r>
              <a:rPr lang="it-IT" dirty="0" smtClean="0"/>
              <a:t>TEOREMA</a:t>
            </a:r>
          </a:p>
          <a:p>
            <a:pPr marL="457200" lvl="1" indent="0">
              <a:buNone/>
            </a:pPr>
            <a:r>
              <a:rPr lang="it-IT" dirty="0" smtClean="0">
                <a:solidFill>
                  <a:schemeClr val="tx1"/>
                </a:solidFill>
              </a:rPr>
              <a:t>Se il grafo </a:t>
            </a:r>
            <a:r>
              <a:rPr lang="it-IT" dirty="0" smtClean="0">
                <a:solidFill>
                  <a:srgbClr val="FF0000"/>
                </a:solidFill>
              </a:rPr>
              <a:t>G</a:t>
            </a:r>
            <a:r>
              <a:rPr lang="it-IT" dirty="0" smtClean="0">
                <a:solidFill>
                  <a:schemeClr val="tx1"/>
                </a:solidFill>
              </a:rPr>
              <a:t> non contiene cicli negativi raggiungibili dalla sorgente </a:t>
            </a:r>
            <a:r>
              <a:rPr lang="it-IT" dirty="0" err="1" smtClean="0">
                <a:solidFill>
                  <a:srgbClr val="FF0000"/>
                </a:solidFill>
              </a:rPr>
              <a:t>s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chemeClr val="tx1"/>
                </a:solidFill>
              </a:rPr>
              <a:t>e dopo aver eseguito l’inizializzazione ed un certo numero di rilassamenti vale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d[v] = </a:t>
            </a:r>
            <a:r>
              <a:rPr lang="it-IT" dirty="0" smtClean="0">
                <a:solidFill>
                  <a:srgbClr val="FF0000"/>
                </a:solidFill>
              </a:rPr>
              <a:t>(</a:t>
            </a:r>
            <a:r>
              <a:rPr lang="it-IT" dirty="0" err="1" smtClean="0">
                <a:solidFill>
                  <a:srgbClr val="FF0000"/>
                </a:solidFill>
              </a:rPr>
              <a:t>s,v</a:t>
            </a:r>
            <a:r>
              <a:rPr lang="it-IT" dirty="0" smtClean="0">
                <a:solidFill>
                  <a:srgbClr val="FF0000"/>
                </a:solidFill>
              </a:rPr>
              <a:t>)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&lt;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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chemeClr val="tx1"/>
                </a:solidFill>
              </a:rPr>
              <a:t>per un vertice </a:t>
            </a:r>
            <a:r>
              <a:rPr lang="it-IT" dirty="0" smtClean="0">
                <a:solidFill>
                  <a:srgbClr val="FF0000"/>
                </a:solidFill>
              </a:rPr>
              <a:t>v</a:t>
            </a:r>
            <a:r>
              <a:rPr lang="it-IT" dirty="0" smtClean="0">
                <a:solidFill>
                  <a:schemeClr val="tx1"/>
                </a:solidFill>
              </a:rPr>
              <a:t> allora </a:t>
            </a:r>
            <a:r>
              <a:rPr lang="it-IT" dirty="0" smtClean="0">
                <a:solidFill>
                  <a:srgbClr val="FF0000"/>
                </a:solidFill>
              </a:rPr>
              <a:t>v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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err="1" smtClean="0">
                <a:solidFill>
                  <a:srgbClr val="FF0000"/>
                </a:solidFill>
              </a:rPr>
              <a:t>V</a:t>
            </a:r>
            <a:r>
              <a:rPr lang="it-IT" baseline="-25000" dirty="0" err="1">
                <a:solidFill>
                  <a:srgbClr val="FF0000"/>
                </a:solidFill>
              </a:rPr>
              <a:t>pred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chemeClr val="tx1"/>
                </a:solidFill>
              </a:rPr>
              <a:t>e il cammino </a:t>
            </a:r>
            <a:r>
              <a:rPr lang="it-IT" dirty="0" err="1" smtClean="0">
                <a:solidFill>
                  <a:srgbClr val="FF0000"/>
                </a:solidFill>
              </a:rPr>
              <a:t>P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chemeClr val="tx1"/>
                </a:solidFill>
              </a:rPr>
              <a:t>da </a:t>
            </a:r>
            <a:r>
              <a:rPr lang="it-IT" dirty="0" err="1" smtClean="0">
                <a:solidFill>
                  <a:srgbClr val="FF0000"/>
                </a:solidFill>
              </a:rPr>
              <a:t>s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chemeClr val="tx1"/>
                </a:solidFill>
              </a:rPr>
              <a:t>a </a:t>
            </a:r>
            <a:r>
              <a:rPr lang="it-IT" dirty="0" smtClean="0">
                <a:solidFill>
                  <a:srgbClr val="FF0000"/>
                </a:solidFill>
              </a:rPr>
              <a:t>v</a:t>
            </a:r>
            <a:r>
              <a:rPr lang="it-IT" dirty="0" smtClean="0">
                <a:solidFill>
                  <a:schemeClr val="tx1"/>
                </a:solidFill>
              </a:rPr>
              <a:t> in </a:t>
            </a:r>
            <a:r>
              <a:rPr lang="it-IT" dirty="0" err="1" smtClean="0">
                <a:solidFill>
                  <a:srgbClr val="FF0000"/>
                </a:solidFill>
              </a:rPr>
              <a:t>G</a:t>
            </a:r>
            <a:r>
              <a:rPr lang="it-IT" baseline="-25000" dirty="0" err="1" smtClean="0">
                <a:solidFill>
                  <a:srgbClr val="FF0000"/>
                </a:solidFill>
              </a:rPr>
              <a:t>pred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chemeClr val="tx1"/>
                </a:solidFill>
              </a:rPr>
              <a:t>è un cammino minimo. </a:t>
            </a:r>
          </a:p>
          <a:p>
            <a:r>
              <a:rPr lang="it-IT" dirty="0" smtClean="0"/>
              <a:t>DIMOSTRAZIONE</a:t>
            </a:r>
          </a:p>
          <a:p>
            <a:pPr marL="457200" lvl="1" indent="0">
              <a:buNone/>
            </a:pPr>
            <a:r>
              <a:rPr lang="it-IT" dirty="0" smtClean="0">
                <a:solidFill>
                  <a:srgbClr val="000000"/>
                </a:solidFill>
              </a:rPr>
              <a:t>Quando è stato assegnato un valore minore di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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rgbClr val="000000"/>
                </a:solidFill>
              </a:rPr>
              <a:t>a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d[v]</a:t>
            </a:r>
            <a:r>
              <a:rPr lang="it-IT" dirty="0" smtClean="0">
                <a:solidFill>
                  <a:srgbClr val="000000"/>
                </a:solidFill>
                <a:sym typeface="Symbol" charset="0"/>
              </a:rPr>
              <a:t> </a:t>
            </a:r>
            <a:r>
              <a:rPr lang="it-IT" dirty="0" smtClean="0">
                <a:solidFill>
                  <a:srgbClr val="000000"/>
                </a:solidFill>
              </a:rPr>
              <a:t>è stato anche assegnato un valore diverso da </a:t>
            </a:r>
            <a:r>
              <a:rPr lang="it-IT" dirty="0" err="1" smtClean="0">
                <a:solidFill>
                  <a:srgbClr val="FF0000"/>
                </a:solidFill>
              </a:rPr>
              <a:t>nil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rgbClr val="000000"/>
                </a:solidFill>
              </a:rPr>
              <a:t>a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err="1" smtClean="0">
                <a:solidFill>
                  <a:srgbClr val="FF0000"/>
                </a:solidFill>
                <a:latin typeface="Symbol" charset="2"/>
                <a:cs typeface="Symbol" charset="2"/>
                <a:sym typeface="Symbol" charset="0"/>
              </a:rPr>
              <a:t>p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[v] </a:t>
            </a:r>
            <a:r>
              <a:rPr lang="it-IT" dirty="0" smtClean="0">
                <a:solidFill>
                  <a:srgbClr val="000000"/>
                </a:solidFill>
              </a:rPr>
              <a:t>e quindi </a:t>
            </a:r>
            <a:r>
              <a:rPr lang="it-IT" dirty="0" err="1" smtClean="0">
                <a:solidFill>
                  <a:srgbClr val="FF0000"/>
                </a:solidFill>
              </a:rPr>
              <a:t>v</a:t>
            </a:r>
            <a:r>
              <a:rPr lang="it-IT" dirty="0" err="1" smtClean="0">
                <a:solidFill>
                  <a:srgbClr val="FF0000"/>
                </a:solidFill>
                <a:sym typeface="Symbol" charset="0"/>
              </a:rPr>
              <a:t></a:t>
            </a:r>
            <a:r>
              <a:rPr lang="it-IT" dirty="0" err="1" smtClean="0">
                <a:solidFill>
                  <a:srgbClr val="FF0000"/>
                </a:solidFill>
              </a:rPr>
              <a:t>V</a:t>
            </a:r>
            <a:r>
              <a:rPr lang="it-IT" baseline="-25000" dirty="0" err="1" smtClean="0">
                <a:solidFill>
                  <a:srgbClr val="FF0000"/>
                </a:solidFill>
              </a:rPr>
              <a:t>pred</a:t>
            </a:r>
            <a:r>
              <a:rPr lang="it-IT" dirty="0">
                <a:solidFill>
                  <a:srgbClr val="FF0000"/>
                </a:solidFill>
              </a:rPr>
              <a:t>.</a:t>
            </a:r>
            <a:endParaRPr lang="it-IT" dirty="0" smtClean="0">
              <a:solidFill>
                <a:srgbClr val="FF0000"/>
              </a:solidFill>
            </a:endParaRPr>
          </a:p>
          <a:p>
            <a:pPr marL="457200" lvl="1" indent="0">
              <a:spcBef>
                <a:spcPct val="20000"/>
              </a:spcBef>
              <a:buNone/>
            </a:pPr>
            <a:r>
              <a:rPr lang="it-IT" dirty="0">
                <a:solidFill>
                  <a:schemeClr val="tx1"/>
                </a:solidFill>
              </a:rPr>
              <a:t>Sia </a:t>
            </a:r>
            <a:r>
              <a:rPr lang="it-IT" dirty="0"/>
              <a:t>(</a:t>
            </a:r>
            <a:r>
              <a:rPr lang="it-IT" i="1" dirty="0" err="1"/>
              <a:t>s</a:t>
            </a:r>
            <a:r>
              <a:rPr lang="it-IT" dirty="0"/>
              <a:t> = </a:t>
            </a:r>
            <a:r>
              <a:rPr lang="it-IT" i="1" dirty="0"/>
              <a:t>u</a:t>
            </a:r>
            <a:r>
              <a:rPr lang="it-IT" baseline="-25000" dirty="0"/>
              <a:t>0</a:t>
            </a:r>
            <a:r>
              <a:rPr lang="it-IT" i="1" dirty="0"/>
              <a:t>,u</a:t>
            </a:r>
            <a:r>
              <a:rPr lang="it-IT" baseline="-25000" dirty="0"/>
              <a:t>1</a:t>
            </a:r>
            <a:r>
              <a:rPr lang="it-IT" i="1" dirty="0"/>
              <a:t>,...,</a:t>
            </a:r>
            <a:r>
              <a:rPr lang="it-IT" i="1" dirty="0" err="1"/>
              <a:t>u</a:t>
            </a:r>
            <a:r>
              <a:rPr lang="it-IT" i="1" baseline="-25000" dirty="0" err="1"/>
              <a:t>k</a:t>
            </a:r>
            <a:r>
              <a:rPr lang="it-IT" dirty="0"/>
              <a:t> = </a:t>
            </a:r>
            <a:r>
              <a:rPr lang="it-IT" i="1" dirty="0"/>
              <a:t>v</a:t>
            </a:r>
            <a:r>
              <a:rPr lang="it-IT" dirty="0">
                <a:solidFill>
                  <a:srgbClr val="FF0000"/>
                </a:solidFill>
              </a:rPr>
              <a:t>)</a:t>
            </a:r>
            <a:r>
              <a:rPr lang="it-IT" dirty="0">
                <a:solidFill>
                  <a:srgbClr val="000000"/>
                </a:solidFill>
              </a:rPr>
              <a:t> l’unico cammino da </a:t>
            </a:r>
            <a:r>
              <a:rPr lang="it-IT" i="1" dirty="0" err="1"/>
              <a:t>s</a:t>
            </a:r>
            <a:r>
              <a:rPr lang="it-IT" dirty="0"/>
              <a:t> </a:t>
            </a:r>
            <a:r>
              <a:rPr lang="it-IT" dirty="0">
                <a:solidFill>
                  <a:srgbClr val="000000"/>
                </a:solidFill>
              </a:rPr>
              <a:t>a</a:t>
            </a:r>
            <a:r>
              <a:rPr lang="it-IT" dirty="0"/>
              <a:t> </a:t>
            </a:r>
            <a:r>
              <a:rPr lang="it-IT" i="1" dirty="0"/>
              <a:t>v</a:t>
            </a:r>
            <a:r>
              <a:rPr lang="it-IT" dirty="0"/>
              <a:t> </a:t>
            </a:r>
            <a:r>
              <a:rPr lang="it-IT" dirty="0">
                <a:solidFill>
                  <a:srgbClr val="000000"/>
                </a:solidFill>
              </a:rPr>
              <a:t>in</a:t>
            </a:r>
            <a:r>
              <a:rPr lang="it-IT" dirty="0"/>
              <a:t> </a:t>
            </a:r>
            <a:r>
              <a:rPr lang="it-IT" i="1" dirty="0" err="1"/>
              <a:t>G</a:t>
            </a:r>
            <a:r>
              <a:rPr lang="it-IT" i="1" baseline="-25000" dirty="0" err="1"/>
              <a:t>pred</a:t>
            </a:r>
            <a:r>
              <a:rPr lang="it-IT" dirty="0"/>
              <a:t>. </a:t>
            </a:r>
          </a:p>
          <a:p>
            <a:pPr marL="457200" lvl="1" indent="0">
              <a:spcBef>
                <a:spcPct val="20000"/>
              </a:spcBef>
              <a:buNone/>
            </a:pPr>
            <a:r>
              <a:rPr lang="it-IT" dirty="0">
                <a:solidFill>
                  <a:srgbClr val="000000"/>
                </a:solidFill>
              </a:rPr>
              <a:t>Allora</a:t>
            </a:r>
            <a:r>
              <a:rPr lang="it-IT" dirty="0"/>
              <a:t> </a:t>
            </a:r>
            <a:r>
              <a:rPr lang="it-IT" i="1" dirty="0">
                <a:sym typeface="Symbol" charset="0"/>
              </a:rPr>
              <a:t>d</a:t>
            </a:r>
            <a:r>
              <a:rPr lang="it-IT" dirty="0">
                <a:sym typeface="Symbol" charset="0"/>
              </a:rPr>
              <a:t>[</a:t>
            </a:r>
            <a:r>
              <a:rPr lang="it-IT" i="1" dirty="0" err="1"/>
              <a:t>u</a:t>
            </a:r>
            <a:r>
              <a:rPr lang="it-IT" i="1" baseline="-25000" dirty="0" err="1"/>
              <a:t>i</a:t>
            </a:r>
            <a:r>
              <a:rPr lang="it-IT" dirty="0">
                <a:sym typeface="Symbol" charset="0"/>
              </a:rPr>
              <a:t>]  </a:t>
            </a:r>
            <a:r>
              <a:rPr lang="it-IT" i="1" dirty="0">
                <a:sym typeface="Symbol" charset="0"/>
              </a:rPr>
              <a:t>d</a:t>
            </a:r>
            <a:r>
              <a:rPr lang="it-IT" dirty="0">
                <a:sym typeface="Symbol" charset="0"/>
              </a:rPr>
              <a:t>[</a:t>
            </a:r>
            <a:r>
              <a:rPr lang="it-IT" i="1" dirty="0"/>
              <a:t>u</a:t>
            </a:r>
            <a:r>
              <a:rPr lang="it-IT" i="1" baseline="-25000" dirty="0"/>
              <a:t>i</a:t>
            </a:r>
            <a:r>
              <a:rPr lang="it-IT" baseline="-25000" dirty="0"/>
              <a:t>-1</a:t>
            </a:r>
            <a:r>
              <a:rPr lang="it-IT" dirty="0" smtClean="0">
                <a:sym typeface="Symbol" charset="0"/>
              </a:rPr>
              <a:t>]+</a:t>
            </a:r>
            <a:r>
              <a:rPr lang="it-IT" i="1" dirty="0" err="1" smtClean="0">
                <a:sym typeface="Symbol" charset="0"/>
              </a:rPr>
              <a:t>W</a:t>
            </a:r>
            <a:r>
              <a:rPr lang="it-IT" dirty="0">
                <a:sym typeface="Symbol" charset="0"/>
              </a:rPr>
              <a:t>(</a:t>
            </a:r>
            <a:r>
              <a:rPr lang="it-IT" i="1" dirty="0" err="1"/>
              <a:t>u</a:t>
            </a:r>
            <a:r>
              <a:rPr lang="it-IT" i="1" baseline="-25000" dirty="0" err="1"/>
              <a:t>i</a:t>
            </a:r>
            <a:r>
              <a:rPr lang="it-IT" i="1" baseline="-25000" dirty="0"/>
              <a:t> </a:t>
            </a:r>
            <a:r>
              <a:rPr lang="it-IT" i="1" dirty="0">
                <a:sym typeface="Symbol" charset="0"/>
              </a:rPr>
              <a:t>,</a:t>
            </a:r>
            <a:r>
              <a:rPr lang="it-IT" i="1" dirty="0"/>
              <a:t>u</a:t>
            </a:r>
            <a:r>
              <a:rPr lang="it-IT" i="1" baseline="-25000" dirty="0"/>
              <a:t>i</a:t>
            </a:r>
            <a:r>
              <a:rPr lang="it-IT" baseline="-25000" dirty="0"/>
              <a:t>-1</a:t>
            </a:r>
            <a:r>
              <a:rPr lang="it-IT" dirty="0">
                <a:sym typeface="Symbol" charset="0"/>
              </a:rPr>
              <a:t>)</a:t>
            </a:r>
            <a:r>
              <a:rPr lang="it-IT" dirty="0"/>
              <a:t> </a:t>
            </a:r>
            <a:r>
              <a:rPr lang="it-IT" dirty="0">
                <a:solidFill>
                  <a:srgbClr val="000000"/>
                </a:solidFill>
              </a:rPr>
              <a:t>per</a:t>
            </a:r>
            <a:r>
              <a:rPr lang="it-IT" dirty="0"/>
              <a:t> </a:t>
            </a:r>
            <a:r>
              <a:rPr lang="it-IT" dirty="0">
                <a:solidFill>
                  <a:srgbClr val="000000"/>
                </a:solidFill>
              </a:rPr>
              <a:t>ogni </a:t>
            </a:r>
            <a:r>
              <a:rPr lang="it-IT" b="1" i="1" dirty="0"/>
              <a:t>i</a:t>
            </a:r>
            <a:r>
              <a:rPr lang="it-IT" b="1" dirty="0"/>
              <a:t> </a:t>
            </a:r>
            <a:r>
              <a:rPr lang="it-IT" dirty="0" smtClean="0">
                <a:solidFill>
                  <a:srgbClr val="000000"/>
                </a:solidFill>
              </a:rPr>
              <a:t>e</a:t>
            </a:r>
          </a:p>
          <a:p>
            <a:pPr marL="457200" lvl="1" indent="0">
              <a:spcBef>
                <a:spcPct val="20000"/>
              </a:spcBef>
              <a:buNone/>
            </a:pPr>
            <a:endParaRPr lang="it-IT" dirty="0">
              <a:solidFill>
                <a:srgbClr val="000000"/>
              </a:solidFill>
            </a:endParaRPr>
          </a:p>
          <a:p>
            <a:pPr marL="457200" lvl="1" indent="0">
              <a:spcBef>
                <a:spcPct val="20000"/>
              </a:spcBef>
              <a:buNone/>
            </a:pPr>
            <a:endParaRPr lang="it-IT" dirty="0" smtClean="0">
              <a:solidFill>
                <a:srgbClr val="000000"/>
              </a:solidFill>
            </a:endParaRPr>
          </a:p>
          <a:p>
            <a:pPr marL="457200" lvl="1" indent="0">
              <a:spcBef>
                <a:spcPct val="20000"/>
              </a:spcBef>
              <a:buNone/>
            </a:pPr>
            <a:r>
              <a:rPr lang="it-IT" dirty="0" smtClean="0">
                <a:solidFill>
                  <a:srgbClr val="000000"/>
                </a:solidFill>
              </a:rPr>
              <a:t>Da cui</a:t>
            </a:r>
            <a:endParaRPr lang="it-IT" dirty="0">
              <a:solidFill>
                <a:srgbClr val="000000"/>
              </a:solidFill>
            </a:endParaRPr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5083135"/>
              </p:ext>
            </p:extLst>
          </p:nvPr>
        </p:nvGraphicFramePr>
        <p:xfrm>
          <a:off x="2195736" y="4941168"/>
          <a:ext cx="4470003" cy="5948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2" name="Equation" r:id="rId4" imgW="2413000" imgH="317500" progId="Equation.3">
                  <p:embed/>
                </p:oleObj>
              </mc:Choice>
              <mc:Fallback>
                <p:oleObj name="Equation" r:id="rId4" imgW="2413000" imgH="317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4941168"/>
                        <a:ext cx="4470003" cy="5948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2903545"/>
              </p:ext>
            </p:extLst>
          </p:nvPr>
        </p:nvGraphicFramePr>
        <p:xfrm>
          <a:off x="2051720" y="5805264"/>
          <a:ext cx="5025305" cy="571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3" name="Equation" r:id="rId6" imgW="3099816" imgH="292608" progId="Equation.3">
                  <p:embed/>
                </p:oleObj>
              </mc:Choice>
              <mc:Fallback>
                <p:oleObj name="Equation" r:id="rId6" imgW="3099816" imgH="29260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5805264"/>
                        <a:ext cx="5025305" cy="5718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Cammini minimi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Possiamo concludere che qualsiasi algoritmo che esegua l’inizializzazione ed una sequenza di rilassamenti per cui alla fine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d[v] = </a:t>
            </a:r>
            <a:r>
              <a:rPr lang="it-IT" dirty="0" smtClean="0">
                <a:solidFill>
                  <a:srgbClr val="FF0000"/>
                </a:solidFill>
              </a:rPr>
              <a:t>(</a:t>
            </a:r>
            <a:r>
              <a:rPr lang="it-IT" dirty="0" err="1" smtClean="0">
                <a:solidFill>
                  <a:srgbClr val="FF0000"/>
                </a:solidFill>
              </a:rPr>
              <a:t>s,v</a:t>
            </a:r>
            <a:r>
              <a:rPr lang="it-IT" dirty="0" smtClean="0">
                <a:solidFill>
                  <a:srgbClr val="FF0000"/>
                </a:solidFill>
              </a:rPr>
              <a:t>) </a:t>
            </a:r>
            <a:r>
              <a:rPr lang="it-IT" dirty="0" smtClean="0"/>
              <a:t>per ogni vertice </a:t>
            </a:r>
            <a:r>
              <a:rPr lang="it-IT" dirty="0" smtClean="0">
                <a:solidFill>
                  <a:srgbClr val="FF0000"/>
                </a:solidFill>
              </a:rPr>
              <a:t>v</a:t>
            </a:r>
            <a:r>
              <a:rPr lang="it-IT" dirty="0" smtClean="0"/>
              <a:t> calcola correttamente i cammini minimi</a:t>
            </a:r>
          </a:p>
          <a:p>
            <a:r>
              <a:rPr lang="it-IT" dirty="0" smtClean="0"/>
              <a:t>Vi sono due algoritmi classici di questo tipo, uno dovuto a </a:t>
            </a:r>
            <a:r>
              <a:rPr lang="it-IT" dirty="0" err="1" smtClean="0">
                <a:solidFill>
                  <a:srgbClr val="FF0000"/>
                </a:solidFill>
              </a:rPr>
              <a:t>Dijkstra</a:t>
            </a:r>
            <a:r>
              <a:rPr lang="it-IT" dirty="0" smtClean="0"/>
              <a:t> ed uno dovuto a </a:t>
            </a:r>
            <a:r>
              <a:rPr lang="it-IT" dirty="0" err="1" smtClean="0">
                <a:solidFill>
                  <a:srgbClr val="FF0000"/>
                </a:solidFill>
              </a:rPr>
              <a:t>Bellman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/>
              <a:t>e </a:t>
            </a:r>
            <a:r>
              <a:rPr lang="it-IT" dirty="0" smtClean="0">
                <a:solidFill>
                  <a:srgbClr val="FF0000"/>
                </a:solidFill>
              </a:rPr>
              <a:t>Ford</a:t>
            </a:r>
            <a:endParaRPr lang="it-IT" dirty="0" smtClean="0"/>
          </a:p>
          <a:p>
            <a:r>
              <a:rPr lang="it-IT" dirty="0" smtClean="0"/>
              <a:t>L’algoritmo di </a:t>
            </a:r>
            <a:r>
              <a:rPr lang="it-IT" dirty="0" err="1" smtClean="0"/>
              <a:t>Dijkstra</a:t>
            </a:r>
            <a:r>
              <a:rPr lang="it-IT" dirty="0" smtClean="0"/>
              <a:t> richiede che i pesi degli archi non siano negativi mentre quello di </a:t>
            </a:r>
            <a:r>
              <a:rPr lang="it-IT" dirty="0" err="1" smtClean="0"/>
              <a:t>Bellman</a:t>
            </a:r>
            <a:r>
              <a:rPr lang="it-IT" dirty="0" smtClean="0"/>
              <a:t>-Ford funziona anche nel caso generale.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Text Box 5"/>
          <p:cNvSpPr txBox="1">
            <a:spLocks noChangeArrowheads="1"/>
          </p:cNvSpPr>
          <p:nvPr/>
        </p:nvSpPr>
        <p:spPr bwMode="auto">
          <a:xfrm>
            <a:off x="633413" y="3200400"/>
            <a:ext cx="8077200" cy="3108544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it-IT" sz="2800" b="1" i="1" dirty="0" err="1">
                <a:latin typeface="Times New Roman" charset="0"/>
                <a:sym typeface="Symbol" charset="0"/>
              </a:rPr>
              <a:t>CammMinimiDAG</a:t>
            </a:r>
            <a:r>
              <a:rPr lang="it-IT" sz="2800" b="1" dirty="0">
                <a:latin typeface="Times New Roman" charset="0"/>
                <a:sym typeface="Symbol" charset="0"/>
              </a:rPr>
              <a:t>(</a:t>
            </a:r>
            <a:r>
              <a:rPr lang="it-IT" sz="2800" b="1" i="1" dirty="0">
                <a:latin typeface="Times New Roman" charset="0"/>
                <a:sym typeface="Symbol" charset="0"/>
              </a:rPr>
              <a:t>G</a:t>
            </a:r>
            <a:r>
              <a:rPr lang="it-IT" sz="2800" b="1" dirty="0">
                <a:latin typeface="Times New Roman" charset="0"/>
                <a:sym typeface="Symbol" charset="0"/>
              </a:rPr>
              <a:t>, </a:t>
            </a:r>
            <a:r>
              <a:rPr lang="it-IT" sz="2800" b="1" i="1" dirty="0" err="1">
                <a:latin typeface="Times New Roman" charset="0"/>
                <a:sym typeface="Symbol" charset="0"/>
              </a:rPr>
              <a:t>s</a:t>
            </a:r>
            <a:r>
              <a:rPr lang="it-IT" sz="2800" b="1" dirty="0">
                <a:latin typeface="Times New Roman" charset="0"/>
                <a:sym typeface="Symbol" charset="0"/>
              </a:rPr>
              <a:t>) </a:t>
            </a:r>
          </a:p>
          <a:p>
            <a:r>
              <a:rPr lang="it-IT" sz="2400" b="1" i="1" dirty="0">
                <a:solidFill>
                  <a:srgbClr val="008000"/>
                </a:solidFill>
                <a:latin typeface="Times New Roman" charset="0"/>
                <a:sym typeface="Symbol" charset="0"/>
              </a:rPr>
              <a:t>G</a:t>
            </a:r>
            <a:r>
              <a:rPr lang="it-IT" sz="2400" b="1" dirty="0">
                <a:solidFill>
                  <a:srgbClr val="008000"/>
                </a:solidFill>
                <a:latin typeface="Times New Roman" charset="0"/>
                <a:sym typeface="Symbol" charset="0"/>
              </a:rPr>
              <a:t> grafo diretto aciclico pesato sugli archi</a:t>
            </a:r>
            <a:endParaRPr lang="it-IT" sz="2800" b="1" dirty="0">
              <a:solidFill>
                <a:srgbClr val="008000"/>
              </a:solidFill>
              <a:latin typeface="Times New Roman" charset="0"/>
              <a:sym typeface="Symbol" charset="0"/>
            </a:endParaRPr>
          </a:p>
          <a:p>
            <a:r>
              <a:rPr lang="it-IT" sz="2800" b="1" dirty="0">
                <a:latin typeface="Times New Roman" charset="0"/>
                <a:sym typeface="Symbol" charset="0"/>
              </a:rPr>
              <a:t>   </a:t>
            </a:r>
            <a:r>
              <a:rPr lang="it-IT" sz="2800" b="1" i="1" dirty="0" err="1">
                <a:latin typeface="Times New Roman" charset="0"/>
                <a:sym typeface="Symbol" charset="0"/>
              </a:rPr>
              <a:t>OrdinamentoTopologico</a:t>
            </a:r>
            <a:r>
              <a:rPr lang="it-IT" sz="2800" b="1" dirty="0">
                <a:latin typeface="Times New Roman" charset="0"/>
                <a:sym typeface="Symbol" charset="0"/>
              </a:rPr>
              <a:t>(</a:t>
            </a:r>
            <a:r>
              <a:rPr lang="it-IT" sz="2800" b="1" i="1" dirty="0">
                <a:latin typeface="Times New Roman" charset="0"/>
                <a:sym typeface="Symbol" charset="0"/>
              </a:rPr>
              <a:t>G</a:t>
            </a:r>
            <a:r>
              <a:rPr lang="it-IT" sz="2800" b="1" dirty="0">
                <a:latin typeface="Times New Roman" charset="0"/>
                <a:sym typeface="Symbol" charset="0"/>
              </a:rPr>
              <a:t>, </a:t>
            </a:r>
            <a:r>
              <a:rPr lang="it-IT" sz="2800" b="1" i="1" dirty="0" err="1">
                <a:latin typeface="Times New Roman" charset="0"/>
                <a:sym typeface="Symbol" charset="0"/>
              </a:rPr>
              <a:t>OrdTop</a:t>
            </a:r>
            <a:r>
              <a:rPr lang="it-IT" sz="2800" b="1" dirty="0">
                <a:latin typeface="Times New Roman" charset="0"/>
                <a:sym typeface="Symbol" charset="0"/>
              </a:rPr>
              <a:t>)</a:t>
            </a:r>
          </a:p>
          <a:p>
            <a:r>
              <a:rPr lang="it-IT" sz="2800" b="1" dirty="0">
                <a:latin typeface="Times New Roman" charset="0"/>
                <a:sym typeface="Symbol" charset="0"/>
              </a:rPr>
              <a:t>   </a:t>
            </a:r>
            <a:r>
              <a:rPr lang="it-IT" sz="2800" b="1" i="1" dirty="0">
                <a:latin typeface="Times New Roman" charset="0"/>
                <a:sym typeface="Symbol" charset="0"/>
              </a:rPr>
              <a:t>Inizializza</a:t>
            </a:r>
            <a:r>
              <a:rPr lang="it-IT" sz="2800" b="1" dirty="0">
                <a:latin typeface="Times New Roman" charset="0"/>
                <a:sym typeface="Symbol" charset="0"/>
              </a:rPr>
              <a:t>(</a:t>
            </a:r>
            <a:r>
              <a:rPr lang="it-IT" sz="2800" b="1" i="1" dirty="0">
                <a:latin typeface="Times New Roman" charset="0"/>
                <a:sym typeface="Symbol" charset="0"/>
              </a:rPr>
              <a:t>G</a:t>
            </a:r>
            <a:r>
              <a:rPr lang="it-IT" sz="2800" b="1" dirty="0">
                <a:latin typeface="Times New Roman" charset="0"/>
                <a:sym typeface="Symbol" charset="0"/>
              </a:rPr>
              <a:t>, </a:t>
            </a:r>
            <a:r>
              <a:rPr lang="it-IT" sz="2800" b="1" i="1" dirty="0" err="1">
                <a:latin typeface="Times New Roman" charset="0"/>
                <a:sym typeface="Symbol" charset="0"/>
              </a:rPr>
              <a:t>s</a:t>
            </a:r>
            <a:r>
              <a:rPr lang="it-IT" sz="2800" b="1" dirty="0">
                <a:latin typeface="Times New Roman" charset="0"/>
                <a:sym typeface="Symbol" charset="0"/>
              </a:rPr>
              <a:t>)</a:t>
            </a:r>
          </a:p>
          <a:p>
            <a:r>
              <a:rPr lang="it-IT" sz="2800" b="1" dirty="0">
                <a:latin typeface="Times New Roman" charset="0"/>
                <a:sym typeface="Symbol" charset="0"/>
              </a:rPr>
              <a:t>   for </a:t>
            </a:r>
            <a:r>
              <a:rPr lang="it-IT" sz="2800" b="1" i="1" dirty="0">
                <a:latin typeface="Times New Roman" charset="0"/>
                <a:sym typeface="Symbol" charset="0"/>
              </a:rPr>
              <a:t>i</a:t>
            </a:r>
            <a:r>
              <a:rPr lang="it-IT" sz="2800" b="1" dirty="0">
                <a:latin typeface="Times New Roman" charset="0"/>
                <a:sym typeface="Symbol" charset="0"/>
              </a:rPr>
              <a:t>  1 to |</a:t>
            </a:r>
            <a:r>
              <a:rPr lang="it-IT" sz="2800" b="1" i="1" dirty="0">
                <a:latin typeface="Times New Roman" charset="0"/>
                <a:sym typeface="Symbol" charset="0"/>
              </a:rPr>
              <a:t>V</a:t>
            </a:r>
            <a:r>
              <a:rPr lang="it-IT" sz="2800" b="1" dirty="0">
                <a:latin typeface="Times New Roman" charset="0"/>
                <a:sym typeface="Symbol" charset="0"/>
              </a:rPr>
              <a:t>[</a:t>
            </a:r>
            <a:r>
              <a:rPr lang="it-IT" sz="2800" b="1" i="1" dirty="0">
                <a:latin typeface="Times New Roman" charset="0"/>
                <a:sym typeface="Symbol" charset="0"/>
              </a:rPr>
              <a:t>G</a:t>
            </a:r>
            <a:r>
              <a:rPr lang="it-IT" sz="2800" b="1" dirty="0">
                <a:latin typeface="Times New Roman" charset="0"/>
                <a:sym typeface="Symbol" charset="0"/>
              </a:rPr>
              <a:t>]| - 1 do</a:t>
            </a:r>
          </a:p>
          <a:p>
            <a:r>
              <a:rPr lang="it-IT" sz="2800" b="1" dirty="0">
                <a:latin typeface="Times New Roman" charset="0"/>
                <a:sym typeface="Symbol" charset="0"/>
              </a:rPr>
              <a:t>       </a:t>
            </a:r>
            <a:r>
              <a:rPr lang="it-IT" sz="2800" b="1" i="1" dirty="0">
                <a:latin typeface="Times New Roman" charset="0"/>
                <a:sym typeface="Symbol" charset="0"/>
              </a:rPr>
              <a:t>u</a:t>
            </a:r>
            <a:r>
              <a:rPr lang="it-IT" sz="2800" b="1" dirty="0">
                <a:latin typeface="Times New Roman" charset="0"/>
                <a:sym typeface="Symbol" charset="0"/>
              </a:rPr>
              <a:t>  </a:t>
            </a:r>
            <a:r>
              <a:rPr lang="it-IT" sz="2800" b="1" i="1" dirty="0" err="1">
                <a:latin typeface="Times New Roman" charset="0"/>
                <a:sym typeface="Symbol" charset="0"/>
              </a:rPr>
              <a:t>OrdTop</a:t>
            </a:r>
            <a:r>
              <a:rPr lang="it-IT" sz="2800" b="1" dirty="0">
                <a:latin typeface="Times New Roman" charset="0"/>
                <a:sym typeface="Symbol" charset="0"/>
              </a:rPr>
              <a:t>[</a:t>
            </a:r>
            <a:r>
              <a:rPr lang="it-IT" sz="2800" b="1" i="1" dirty="0">
                <a:latin typeface="Times New Roman" charset="0"/>
                <a:sym typeface="Symbol" charset="0"/>
              </a:rPr>
              <a:t>i</a:t>
            </a:r>
            <a:r>
              <a:rPr lang="it-IT" sz="2800" b="1" dirty="0">
                <a:latin typeface="Times New Roman" charset="0"/>
                <a:sym typeface="Symbol" charset="0"/>
              </a:rPr>
              <a:t>]</a:t>
            </a:r>
          </a:p>
          <a:p>
            <a:r>
              <a:rPr lang="it-IT" sz="2800" b="1" dirty="0">
                <a:latin typeface="Times New Roman" charset="0"/>
                <a:sym typeface="Symbol" charset="0"/>
              </a:rPr>
              <a:t>       for “ogni </a:t>
            </a:r>
            <a:r>
              <a:rPr lang="it-IT" sz="2800" b="1" i="1" dirty="0">
                <a:latin typeface="Times New Roman" charset="0"/>
                <a:sym typeface="Symbol" charset="0"/>
              </a:rPr>
              <a:t>v</a:t>
            </a:r>
            <a:r>
              <a:rPr lang="it-IT" sz="2800" b="1" dirty="0">
                <a:latin typeface="Times New Roman" charset="0"/>
                <a:sym typeface="Symbol" charset="0"/>
              </a:rPr>
              <a:t>  </a:t>
            </a:r>
            <a:r>
              <a:rPr lang="it-IT" sz="2800" b="1" i="1" dirty="0" err="1">
                <a:latin typeface="Times New Roman" charset="0"/>
                <a:sym typeface="Symbol" charset="0"/>
              </a:rPr>
              <a:t>Adj</a:t>
            </a:r>
            <a:r>
              <a:rPr lang="it-IT" sz="2800" b="1" dirty="0">
                <a:latin typeface="Times New Roman" charset="0"/>
                <a:sym typeface="Symbol" charset="0"/>
              </a:rPr>
              <a:t>[</a:t>
            </a:r>
            <a:r>
              <a:rPr lang="it-IT" sz="2800" b="1" i="1" dirty="0">
                <a:latin typeface="Times New Roman" charset="0"/>
                <a:sym typeface="Symbol" charset="0"/>
              </a:rPr>
              <a:t>u</a:t>
            </a:r>
            <a:r>
              <a:rPr lang="it-IT" sz="2800" b="1" dirty="0">
                <a:latin typeface="Times New Roman" charset="0"/>
                <a:sym typeface="Symbol" charset="0"/>
              </a:rPr>
              <a:t>]” do </a:t>
            </a:r>
            <a:r>
              <a:rPr lang="it-IT" sz="2800" b="1" i="1" dirty="0">
                <a:latin typeface="Times New Roman" charset="0"/>
                <a:sym typeface="Symbol" charset="0"/>
              </a:rPr>
              <a:t>Rilassa</a:t>
            </a:r>
            <a:r>
              <a:rPr lang="it-IT" sz="2800" b="1" dirty="0">
                <a:latin typeface="Times New Roman" charset="0"/>
                <a:sym typeface="Symbol" charset="0"/>
              </a:rPr>
              <a:t>(</a:t>
            </a:r>
            <a:r>
              <a:rPr lang="it-IT" sz="2800" b="1" i="1" dirty="0">
                <a:latin typeface="Times New Roman" charset="0"/>
                <a:sym typeface="Symbol" charset="0"/>
              </a:rPr>
              <a:t>G</a:t>
            </a:r>
            <a:r>
              <a:rPr lang="it-IT" sz="2800" b="1" dirty="0">
                <a:latin typeface="Times New Roman" charset="0"/>
                <a:sym typeface="Symbol" charset="0"/>
              </a:rPr>
              <a:t>, </a:t>
            </a:r>
            <a:r>
              <a:rPr lang="it-IT" sz="2800" b="1" i="1" dirty="0">
                <a:latin typeface="Times New Roman" charset="0"/>
                <a:sym typeface="Symbol" charset="0"/>
              </a:rPr>
              <a:t>u</a:t>
            </a:r>
            <a:r>
              <a:rPr lang="it-IT" sz="2800" b="1" dirty="0">
                <a:latin typeface="Times New Roman" charset="0"/>
                <a:sym typeface="Symbol" charset="0"/>
              </a:rPr>
              <a:t>, </a:t>
            </a:r>
            <a:r>
              <a:rPr lang="it-IT" sz="2800" b="1" i="1" dirty="0">
                <a:latin typeface="Times New Roman" charset="0"/>
                <a:sym typeface="Symbol" charset="0"/>
              </a:rPr>
              <a:t>v</a:t>
            </a:r>
            <a:r>
              <a:rPr lang="it-IT" sz="2800" b="1" dirty="0">
                <a:latin typeface="Times New Roman" charset="0"/>
                <a:sym typeface="Symbol" charset="0"/>
              </a:rPr>
              <a:t>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Cammini minimi in grafi aciclici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Rilassando gli archi di un grafo aciclico in ordine topologico possiamo calcolare i cammini minimi in tempo </a:t>
            </a:r>
            <a:r>
              <a:rPr lang="it-IT" dirty="0" smtClean="0">
                <a:solidFill>
                  <a:srgbClr val="FF0000"/>
                </a:solidFill>
              </a:rPr>
              <a:t>O(|V| + |E|)</a:t>
            </a:r>
          </a:p>
          <a:p>
            <a:r>
              <a:rPr lang="it-IT" dirty="0" smtClean="0"/>
              <a:t>L’algoritmo è il seguente: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585" name="Group 2"/>
          <p:cNvGrpSpPr>
            <a:grpSpLocks/>
          </p:cNvGrpSpPr>
          <p:nvPr/>
        </p:nvGrpSpPr>
        <p:grpSpPr bwMode="auto">
          <a:xfrm>
            <a:off x="620713" y="1676400"/>
            <a:ext cx="7761287" cy="2362200"/>
            <a:chOff x="432" y="240"/>
            <a:chExt cx="4889" cy="1488"/>
          </a:xfrm>
        </p:grpSpPr>
        <p:sp>
          <p:nvSpPr>
            <p:cNvPr id="67614" name="Line 3"/>
            <p:cNvSpPr>
              <a:spLocks noChangeShapeType="1"/>
            </p:cNvSpPr>
            <p:nvPr/>
          </p:nvSpPr>
          <p:spPr bwMode="auto">
            <a:xfrm flipV="1">
              <a:off x="768" y="912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15" name="Oval 4"/>
            <p:cNvSpPr>
              <a:spLocks noChangeArrowheads="1"/>
            </p:cNvSpPr>
            <p:nvPr/>
          </p:nvSpPr>
          <p:spPr bwMode="auto">
            <a:xfrm>
              <a:off x="432" y="768"/>
              <a:ext cx="329" cy="3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r/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7616" name="Text Box 5"/>
            <p:cNvSpPr txBox="1">
              <a:spLocks noChangeArrowheads="1"/>
            </p:cNvSpPr>
            <p:nvPr/>
          </p:nvSpPr>
          <p:spPr bwMode="auto">
            <a:xfrm>
              <a:off x="1872" y="67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400" b="1">
                  <a:latin typeface="Times New Roman" charset="0"/>
                </a:rPr>
                <a:t>2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7617" name="Text Box 6"/>
            <p:cNvSpPr txBox="1">
              <a:spLocks noChangeArrowheads="1"/>
            </p:cNvSpPr>
            <p:nvPr/>
          </p:nvSpPr>
          <p:spPr bwMode="auto">
            <a:xfrm>
              <a:off x="912" y="67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400" b="1">
                  <a:latin typeface="Times New Roman" charset="0"/>
                </a:rPr>
                <a:t>5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7618" name="Text Box 7"/>
            <p:cNvSpPr txBox="1">
              <a:spLocks noChangeArrowheads="1"/>
            </p:cNvSpPr>
            <p:nvPr/>
          </p:nvSpPr>
          <p:spPr bwMode="auto">
            <a:xfrm>
              <a:off x="1392" y="110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400" b="1">
                  <a:latin typeface="Times New Roman" charset="0"/>
                </a:rPr>
                <a:t>3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7619" name="Oval 8"/>
            <p:cNvSpPr>
              <a:spLocks noChangeArrowheads="1"/>
            </p:cNvSpPr>
            <p:nvPr/>
          </p:nvSpPr>
          <p:spPr bwMode="auto">
            <a:xfrm>
              <a:off x="1344" y="768"/>
              <a:ext cx="329" cy="3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s/0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7620" name="Text Box 9"/>
            <p:cNvSpPr txBox="1">
              <a:spLocks noChangeArrowheads="1"/>
            </p:cNvSpPr>
            <p:nvPr/>
          </p:nvSpPr>
          <p:spPr bwMode="auto">
            <a:xfrm>
              <a:off x="3168" y="105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400" b="1">
                  <a:latin typeface="Times New Roman" charset="0"/>
                </a:rPr>
                <a:t>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7621" name="Text Box 10"/>
            <p:cNvSpPr txBox="1">
              <a:spLocks noChangeArrowheads="1"/>
            </p:cNvSpPr>
            <p:nvPr/>
          </p:nvSpPr>
          <p:spPr bwMode="auto">
            <a:xfrm>
              <a:off x="4560" y="672"/>
              <a:ext cx="2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400" b="1">
                  <a:latin typeface="Times New Roman" charset="0"/>
                </a:rPr>
                <a:t>-2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7622" name="Text Box 11"/>
            <p:cNvSpPr txBox="1">
              <a:spLocks noChangeArrowheads="1"/>
            </p:cNvSpPr>
            <p:nvPr/>
          </p:nvSpPr>
          <p:spPr bwMode="auto">
            <a:xfrm>
              <a:off x="4080" y="24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400" b="1">
                  <a:latin typeface="Times New Roman" charset="0"/>
                </a:rPr>
                <a:t>1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7623" name="Text Box 12"/>
            <p:cNvSpPr txBox="1">
              <a:spLocks noChangeArrowheads="1"/>
            </p:cNvSpPr>
            <p:nvPr/>
          </p:nvSpPr>
          <p:spPr bwMode="auto">
            <a:xfrm>
              <a:off x="2304" y="24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400" b="1">
                  <a:latin typeface="Times New Roman" charset="0"/>
                </a:rPr>
                <a:t>6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7624" name="Text Box 13"/>
            <p:cNvSpPr txBox="1">
              <a:spLocks noChangeArrowheads="1"/>
            </p:cNvSpPr>
            <p:nvPr/>
          </p:nvSpPr>
          <p:spPr bwMode="auto">
            <a:xfrm>
              <a:off x="3696" y="144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400" b="1">
                  <a:latin typeface="Times New Roman" charset="0"/>
                </a:rPr>
                <a:t>2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7625" name="Text Box 14"/>
            <p:cNvSpPr txBox="1">
              <a:spLocks noChangeArrowheads="1"/>
            </p:cNvSpPr>
            <p:nvPr/>
          </p:nvSpPr>
          <p:spPr bwMode="auto">
            <a:xfrm>
              <a:off x="3648" y="672"/>
              <a:ext cx="2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400" b="1">
                  <a:latin typeface="Times New Roman" charset="0"/>
                </a:rPr>
                <a:t>-1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7626" name="Oval 15"/>
            <p:cNvSpPr>
              <a:spLocks noChangeArrowheads="1"/>
            </p:cNvSpPr>
            <p:nvPr/>
          </p:nvSpPr>
          <p:spPr bwMode="auto">
            <a:xfrm>
              <a:off x="2256" y="768"/>
              <a:ext cx="329" cy="3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t/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7627" name="Oval 16"/>
            <p:cNvSpPr>
              <a:spLocks noChangeArrowheads="1"/>
            </p:cNvSpPr>
            <p:nvPr/>
          </p:nvSpPr>
          <p:spPr bwMode="auto">
            <a:xfrm>
              <a:off x="3168" y="768"/>
              <a:ext cx="329" cy="3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u/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7628" name="Oval 17"/>
            <p:cNvSpPr>
              <a:spLocks noChangeArrowheads="1"/>
            </p:cNvSpPr>
            <p:nvPr/>
          </p:nvSpPr>
          <p:spPr bwMode="auto">
            <a:xfrm>
              <a:off x="4080" y="768"/>
              <a:ext cx="329" cy="3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v/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7629" name="Oval 18"/>
            <p:cNvSpPr>
              <a:spLocks noChangeArrowheads="1"/>
            </p:cNvSpPr>
            <p:nvPr/>
          </p:nvSpPr>
          <p:spPr bwMode="auto">
            <a:xfrm>
              <a:off x="4992" y="768"/>
              <a:ext cx="329" cy="3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x/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7630" name="Line 19"/>
            <p:cNvSpPr>
              <a:spLocks noChangeShapeType="1"/>
            </p:cNvSpPr>
            <p:nvPr/>
          </p:nvSpPr>
          <p:spPr bwMode="auto">
            <a:xfrm flipV="1">
              <a:off x="1680" y="912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31" name="Line 20"/>
            <p:cNvSpPr>
              <a:spLocks noChangeShapeType="1"/>
            </p:cNvSpPr>
            <p:nvPr/>
          </p:nvSpPr>
          <p:spPr bwMode="auto">
            <a:xfrm flipV="1">
              <a:off x="3504" y="912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32" name="Line 21"/>
            <p:cNvSpPr>
              <a:spLocks noChangeShapeType="1"/>
            </p:cNvSpPr>
            <p:nvPr/>
          </p:nvSpPr>
          <p:spPr bwMode="auto">
            <a:xfrm flipV="1">
              <a:off x="4416" y="912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67633" name="AutoShape 22"/>
            <p:cNvCxnSpPr>
              <a:cxnSpLocks noChangeShapeType="1"/>
              <a:stCxn id="67615" idx="5"/>
              <a:endCxn id="67626" idx="3"/>
            </p:cNvCxnSpPr>
            <p:nvPr/>
          </p:nvCxnSpPr>
          <p:spPr bwMode="auto">
            <a:xfrm rot="16200000" flipH="1">
              <a:off x="1508" y="250"/>
              <a:ext cx="1" cy="1591"/>
            </a:xfrm>
            <a:prstGeom prst="curvedConnector3">
              <a:avLst>
                <a:gd name="adj1" fmla="val 30699995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7634" name="AutoShape 23"/>
            <p:cNvCxnSpPr>
              <a:cxnSpLocks noChangeShapeType="1"/>
              <a:stCxn id="67619" idx="7"/>
              <a:endCxn id="67627" idx="1"/>
            </p:cNvCxnSpPr>
            <p:nvPr/>
          </p:nvCxnSpPr>
          <p:spPr bwMode="auto">
            <a:xfrm rot="5400000" flipV="1">
              <a:off x="2420" y="21"/>
              <a:ext cx="1" cy="1591"/>
            </a:xfrm>
            <a:prstGeom prst="curvedConnector3">
              <a:avLst>
                <a:gd name="adj1" fmla="val -32300005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7635" name="AutoShape 24"/>
            <p:cNvCxnSpPr>
              <a:cxnSpLocks noChangeShapeType="1"/>
              <a:stCxn id="67626" idx="5"/>
              <a:endCxn id="67628" idx="3"/>
            </p:cNvCxnSpPr>
            <p:nvPr/>
          </p:nvCxnSpPr>
          <p:spPr bwMode="auto">
            <a:xfrm rot="16200000" flipH="1">
              <a:off x="3332" y="250"/>
              <a:ext cx="1" cy="1591"/>
            </a:xfrm>
            <a:prstGeom prst="curvedConnector3">
              <a:avLst>
                <a:gd name="adj1" fmla="val 25799995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7636" name="AutoShape 25"/>
            <p:cNvCxnSpPr>
              <a:cxnSpLocks noChangeShapeType="1"/>
              <a:stCxn id="67626" idx="4"/>
              <a:endCxn id="67629" idx="4"/>
            </p:cNvCxnSpPr>
            <p:nvPr/>
          </p:nvCxnSpPr>
          <p:spPr bwMode="auto">
            <a:xfrm rot="16200000" flipH="1">
              <a:off x="3788" y="-274"/>
              <a:ext cx="1" cy="2736"/>
            </a:xfrm>
            <a:prstGeom prst="curvedConnector3">
              <a:avLst>
                <a:gd name="adj1" fmla="val 59599995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7637" name="AutoShape 26"/>
            <p:cNvCxnSpPr>
              <a:cxnSpLocks noChangeShapeType="1"/>
              <a:stCxn id="67627" idx="7"/>
              <a:endCxn id="67629" idx="1"/>
            </p:cNvCxnSpPr>
            <p:nvPr/>
          </p:nvCxnSpPr>
          <p:spPr bwMode="auto">
            <a:xfrm rot="5400000" flipV="1">
              <a:off x="4244" y="21"/>
              <a:ext cx="1" cy="1591"/>
            </a:xfrm>
            <a:prstGeom prst="curvedConnector3">
              <a:avLst>
                <a:gd name="adj1" fmla="val -31500005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2601913" y="2514600"/>
            <a:ext cx="1436687" cy="515938"/>
            <a:chOff x="1680" y="768"/>
            <a:chExt cx="905" cy="325"/>
          </a:xfrm>
        </p:grpSpPr>
        <p:sp>
          <p:nvSpPr>
            <p:cNvPr id="67611" name="Line 28"/>
            <p:cNvSpPr>
              <a:spLocks noChangeShapeType="1"/>
            </p:cNvSpPr>
            <p:nvPr/>
          </p:nvSpPr>
          <p:spPr bwMode="auto">
            <a:xfrm flipH="1" flipV="1">
              <a:off x="1680" y="912"/>
              <a:ext cx="576" cy="0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612" name="Oval 29"/>
            <p:cNvSpPr>
              <a:spLocks noChangeArrowheads="1"/>
            </p:cNvSpPr>
            <p:nvPr/>
          </p:nvSpPr>
          <p:spPr bwMode="auto">
            <a:xfrm>
              <a:off x="2256" y="768"/>
              <a:ext cx="329" cy="3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t/2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7613" name="Line 30"/>
            <p:cNvSpPr>
              <a:spLocks noChangeShapeType="1"/>
            </p:cNvSpPr>
            <p:nvPr/>
          </p:nvSpPr>
          <p:spPr bwMode="auto">
            <a:xfrm flipV="1">
              <a:off x="1680" y="912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2525713" y="2514600"/>
            <a:ext cx="2971800" cy="515938"/>
            <a:chOff x="1625" y="768"/>
            <a:chExt cx="1872" cy="325"/>
          </a:xfrm>
        </p:grpSpPr>
        <p:sp>
          <p:nvSpPr>
            <p:cNvPr id="67608" name="Oval 32"/>
            <p:cNvSpPr>
              <a:spLocks noChangeArrowheads="1"/>
            </p:cNvSpPr>
            <p:nvPr/>
          </p:nvSpPr>
          <p:spPr bwMode="auto">
            <a:xfrm>
              <a:off x="3168" y="768"/>
              <a:ext cx="329" cy="3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u/6</a:t>
              </a:r>
              <a:endParaRPr lang="it-IT" sz="2400" b="1">
                <a:latin typeface="Times New Roman" charset="0"/>
              </a:endParaRPr>
            </a:p>
          </p:txBody>
        </p:sp>
        <p:cxnSp>
          <p:nvCxnSpPr>
            <p:cNvPr id="67609" name="AutoShape 33"/>
            <p:cNvCxnSpPr>
              <a:cxnSpLocks noChangeShapeType="1"/>
              <a:stCxn id="67608" idx="1"/>
              <a:endCxn id="67619" idx="7"/>
            </p:cNvCxnSpPr>
            <p:nvPr/>
          </p:nvCxnSpPr>
          <p:spPr bwMode="auto">
            <a:xfrm rot="-5400000" flipH="1" flipV="1">
              <a:off x="2420" y="21"/>
              <a:ext cx="1" cy="1591"/>
            </a:xfrm>
            <a:prstGeom prst="curvedConnector3">
              <a:avLst>
                <a:gd name="adj1" fmla="val -32300005"/>
              </a:avLst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7610" name="AutoShape 34"/>
            <p:cNvCxnSpPr>
              <a:cxnSpLocks noChangeShapeType="1"/>
            </p:cNvCxnSpPr>
            <p:nvPr/>
          </p:nvCxnSpPr>
          <p:spPr bwMode="auto">
            <a:xfrm rot="16200000" flipH="1">
              <a:off x="2427" y="21"/>
              <a:ext cx="1" cy="1591"/>
            </a:xfrm>
            <a:prstGeom prst="curvedConnector3">
              <a:avLst>
                <a:gd name="adj1" fmla="val -33500005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5" name="Group 35"/>
          <p:cNvGrpSpPr>
            <a:grpSpLocks/>
          </p:cNvGrpSpPr>
          <p:nvPr/>
        </p:nvGrpSpPr>
        <p:grpSpPr bwMode="auto">
          <a:xfrm>
            <a:off x="3973513" y="2514600"/>
            <a:ext cx="2971800" cy="515938"/>
            <a:chOff x="2537" y="768"/>
            <a:chExt cx="1872" cy="325"/>
          </a:xfrm>
        </p:grpSpPr>
        <p:cxnSp>
          <p:nvCxnSpPr>
            <p:cNvPr id="67605" name="AutoShape 36"/>
            <p:cNvCxnSpPr>
              <a:cxnSpLocks noChangeShapeType="1"/>
              <a:stCxn id="67628" idx="3"/>
              <a:endCxn id="67612" idx="5"/>
            </p:cNvCxnSpPr>
            <p:nvPr/>
          </p:nvCxnSpPr>
          <p:spPr bwMode="auto">
            <a:xfrm rot="5400000">
              <a:off x="3332" y="250"/>
              <a:ext cx="1" cy="1591"/>
            </a:xfrm>
            <a:prstGeom prst="curvedConnector3">
              <a:avLst>
                <a:gd name="adj1" fmla="val 26599995"/>
              </a:avLst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7606" name="AutoShape 37"/>
            <p:cNvCxnSpPr>
              <a:cxnSpLocks noChangeShapeType="1"/>
              <a:stCxn id="67612" idx="5"/>
              <a:endCxn id="67628" idx="3"/>
            </p:cNvCxnSpPr>
            <p:nvPr/>
          </p:nvCxnSpPr>
          <p:spPr bwMode="auto">
            <a:xfrm rot="16200000" flipH="1">
              <a:off x="3332" y="250"/>
              <a:ext cx="1" cy="1591"/>
            </a:xfrm>
            <a:prstGeom prst="curvedConnector3">
              <a:avLst>
                <a:gd name="adj1" fmla="val 26599995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7607" name="Oval 38"/>
            <p:cNvSpPr>
              <a:spLocks noChangeArrowheads="1"/>
            </p:cNvSpPr>
            <p:nvPr/>
          </p:nvSpPr>
          <p:spPr bwMode="auto">
            <a:xfrm>
              <a:off x="4080" y="768"/>
              <a:ext cx="329" cy="3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v/6</a:t>
              </a:r>
              <a:endParaRPr lang="it-IT" sz="2400" b="1">
                <a:latin typeface="Times New Roman" charset="0"/>
              </a:endParaRPr>
            </a:p>
          </p:txBody>
        </p:sp>
      </p:grpSp>
      <p:grpSp>
        <p:nvGrpSpPr>
          <p:cNvPr id="6" name="Group 39"/>
          <p:cNvGrpSpPr>
            <a:grpSpLocks/>
          </p:cNvGrpSpPr>
          <p:nvPr/>
        </p:nvGrpSpPr>
        <p:grpSpPr bwMode="auto">
          <a:xfrm>
            <a:off x="3778250" y="2514600"/>
            <a:ext cx="4603750" cy="517525"/>
            <a:chOff x="2421" y="768"/>
            <a:chExt cx="2900" cy="326"/>
          </a:xfrm>
        </p:grpSpPr>
        <p:cxnSp>
          <p:nvCxnSpPr>
            <p:cNvPr id="67602" name="AutoShape 40"/>
            <p:cNvCxnSpPr>
              <a:cxnSpLocks noChangeShapeType="1"/>
              <a:stCxn id="67629" idx="4"/>
              <a:endCxn id="67612" idx="4"/>
            </p:cNvCxnSpPr>
            <p:nvPr/>
          </p:nvCxnSpPr>
          <p:spPr bwMode="auto">
            <a:xfrm rot="5400000">
              <a:off x="3788" y="-274"/>
              <a:ext cx="1" cy="2736"/>
            </a:xfrm>
            <a:prstGeom prst="curvedConnector3">
              <a:avLst>
                <a:gd name="adj1" fmla="val 59599995"/>
              </a:avLst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7603" name="AutoShape 41"/>
            <p:cNvCxnSpPr>
              <a:cxnSpLocks noChangeShapeType="1"/>
              <a:stCxn id="67612" idx="4"/>
              <a:endCxn id="67629" idx="4"/>
            </p:cNvCxnSpPr>
            <p:nvPr/>
          </p:nvCxnSpPr>
          <p:spPr bwMode="auto">
            <a:xfrm rot="16200000" flipH="1">
              <a:off x="3788" y="-274"/>
              <a:ext cx="1" cy="2736"/>
            </a:xfrm>
            <a:prstGeom prst="curvedConnector3">
              <a:avLst>
                <a:gd name="adj1" fmla="val 58699995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7604" name="Oval 42"/>
            <p:cNvSpPr>
              <a:spLocks noChangeArrowheads="1"/>
            </p:cNvSpPr>
            <p:nvPr/>
          </p:nvSpPr>
          <p:spPr bwMode="auto">
            <a:xfrm>
              <a:off x="4992" y="768"/>
              <a:ext cx="329" cy="3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x/4</a:t>
              </a:r>
              <a:endParaRPr lang="it-IT" sz="2400" b="1">
                <a:latin typeface="Times New Roman" charset="0"/>
              </a:endParaRPr>
            </a:p>
          </p:txBody>
        </p:sp>
      </p:grpSp>
      <p:grpSp>
        <p:nvGrpSpPr>
          <p:cNvPr id="7" name="Group 43"/>
          <p:cNvGrpSpPr>
            <a:grpSpLocks/>
          </p:cNvGrpSpPr>
          <p:nvPr/>
        </p:nvGrpSpPr>
        <p:grpSpPr bwMode="auto">
          <a:xfrm>
            <a:off x="3962400" y="2514600"/>
            <a:ext cx="2971800" cy="515938"/>
            <a:chOff x="2537" y="768"/>
            <a:chExt cx="1872" cy="325"/>
          </a:xfrm>
        </p:grpSpPr>
        <p:sp>
          <p:nvSpPr>
            <p:cNvPr id="67597" name="Line 44"/>
            <p:cNvSpPr>
              <a:spLocks noChangeShapeType="1"/>
            </p:cNvSpPr>
            <p:nvPr/>
          </p:nvSpPr>
          <p:spPr bwMode="auto">
            <a:xfrm flipH="1" flipV="1">
              <a:off x="3504" y="912"/>
              <a:ext cx="576" cy="0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598" name="Line 45"/>
            <p:cNvSpPr>
              <a:spLocks noChangeShapeType="1"/>
            </p:cNvSpPr>
            <p:nvPr/>
          </p:nvSpPr>
          <p:spPr bwMode="auto">
            <a:xfrm flipV="1">
              <a:off x="3504" y="912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599" name="Oval 46"/>
            <p:cNvSpPr>
              <a:spLocks noChangeArrowheads="1"/>
            </p:cNvSpPr>
            <p:nvPr/>
          </p:nvSpPr>
          <p:spPr bwMode="auto">
            <a:xfrm>
              <a:off x="4080" y="768"/>
              <a:ext cx="329" cy="3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v/5</a:t>
              </a:r>
              <a:endParaRPr lang="it-IT" sz="2400" b="1">
                <a:latin typeface="Times New Roman" charset="0"/>
              </a:endParaRPr>
            </a:p>
          </p:txBody>
        </p:sp>
        <p:cxnSp>
          <p:nvCxnSpPr>
            <p:cNvPr id="67600" name="AutoShape 47"/>
            <p:cNvCxnSpPr>
              <a:cxnSpLocks noChangeShapeType="1"/>
              <a:stCxn id="67599" idx="3"/>
              <a:endCxn id="67612" idx="5"/>
            </p:cNvCxnSpPr>
            <p:nvPr/>
          </p:nvCxnSpPr>
          <p:spPr bwMode="auto">
            <a:xfrm rot="5400000">
              <a:off x="3332" y="250"/>
              <a:ext cx="1" cy="1591"/>
            </a:xfrm>
            <a:prstGeom prst="curvedConnector3">
              <a:avLst>
                <a:gd name="adj1" fmla="val 27499995"/>
              </a:avLst>
            </a:prstGeom>
            <a:noFill/>
            <a:ln w="1524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7601" name="AutoShape 48"/>
            <p:cNvCxnSpPr>
              <a:cxnSpLocks noChangeShapeType="1"/>
              <a:stCxn id="67612" idx="5"/>
              <a:endCxn id="67599" idx="3"/>
            </p:cNvCxnSpPr>
            <p:nvPr/>
          </p:nvCxnSpPr>
          <p:spPr bwMode="auto">
            <a:xfrm rot="16200000" flipH="1">
              <a:off x="3332" y="250"/>
              <a:ext cx="1" cy="1591"/>
            </a:xfrm>
            <a:prstGeom prst="curvedConnector3">
              <a:avLst>
                <a:gd name="adj1" fmla="val 26599995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8" name="Group 49"/>
          <p:cNvGrpSpPr>
            <a:grpSpLocks/>
          </p:cNvGrpSpPr>
          <p:nvPr/>
        </p:nvGrpSpPr>
        <p:grpSpPr bwMode="auto">
          <a:xfrm>
            <a:off x="3778250" y="2514600"/>
            <a:ext cx="4603750" cy="517525"/>
            <a:chOff x="2421" y="768"/>
            <a:chExt cx="2900" cy="326"/>
          </a:xfrm>
        </p:grpSpPr>
        <p:sp>
          <p:nvSpPr>
            <p:cNvPr id="67592" name="Line 50"/>
            <p:cNvSpPr>
              <a:spLocks noChangeShapeType="1"/>
            </p:cNvSpPr>
            <p:nvPr/>
          </p:nvSpPr>
          <p:spPr bwMode="auto">
            <a:xfrm flipH="1" flipV="1">
              <a:off x="4416" y="912"/>
              <a:ext cx="576" cy="0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593" name="Line 51"/>
            <p:cNvSpPr>
              <a:spLocks noChangeShapeType="1"/>
            </p:cNvSpPr>
            <p:nvPr/>
          </p:nvSpPr>
          <p:spPr bwMode="auto">
            <a:xfrm flipV="1">
              <a:off x="4416" y="912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594" name="Oval 52"/>
            <p:cNvSpPr>
              <a:spLocks noChangeArrowheads="1"/>
            </p:cNvSpPr>
            <p:nvPr/>
          </p:nvSpPr>
          <p:spPr bwMode="auto">
            <a:xfrm>
              <a:off x="4992" y="768"/>
              <a:ext cx="329" cy="3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x/3</a:t>
              </a:r>
              <a:endParaRPr lang="it-IT" sz="2400" b="1">
                <a:latin typeface="Times New Roman" charset="0"/>
              </a:endParaRPr>
            </a:p>
          </p:txBody>
        </p:sp>
        <p:cxnSp>
          <p:nvCxnSpPr>
            <p:cNvPr id="67595" name="AutoShape 53"/>
            <p:cNvCxnSpPr>
              <a:cxnSpLocks noChangeShapeType="1"/>
              <a:stCxn id="67594" idx="4"/>
              <a:endCxn id="67612" idx="4"/>
            </p:cNvCxnSpPr>
            <p:nvPr/>
          </p:nvCxnSpPr>
          <p:spPr bwMode="auto">
            <a:xfrm rot="5400000">
              <a:off x="3788" y="-274"/>
              <a:ext cx="1" cy="2736"/>
            </a:xfrm>
            <a:prstGeom prst="curvedConnector3">
              <a:avLst>
                <a:gd name="adj1" fmla="val 60999995"/>
              </a:avLst>
            </a:prstGeom>
            <a:noFill/>
            <a:ln w="1619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7596" name="AutoShape 54"/>
            <p:cNvCxnSpPr>
              <a:cxnSpLocks noChangeShapeType="1"/>
              <a:stCxn id="67612" idx="4"/>
              <a:endCxn id="67594" idx="4"/>
            </p:cNvCxnSpPr>
            <p:nvPr/>
          </p:nvCxnSpPr>
          <p:spPr bwMode="auto">
            <a:xfrm rot="16200000" flipH="1">
              <a:off x="3788" y="-274"/>
              <a:ext cx="1" cy="2736"/>
            </a:xfrm>
            <a:prstGeom prst="curvedConnector3">
              <a:avLst>
                <a:gd name="adj1" fmla="val 61899995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Cammini minimi in grafi aciclici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Complessità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La complessità dell’algoritmo è </a:t>
            </a:r>
            <a:r>
              <a:rPr lang="it-IT" dirty="0" smtClean="0">
                <a:solidFill>
                  <a:srgbClr val="FF0000"/>
                </a:solidFill>
              </a:rPr>
              <a:t>O(|V|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+</a:t>
            </a:r>
            <a:r>
              <a:rPr lang="it-IT" dirty="0" smtClean="0">
                <a:solidFill>
                  <a:srgbClr val="FF0000"/>
                </a:solidFill>
              </a:rPr>
              <a:t>|E|)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#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5022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Correttezza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 smtClean="0"/>
              <a:t>Sia </a:t>
            </a:r>
            <a:r>
              <a:rPr lang="it-IT" dirty="0" smtClean="0">
                <a:solidFill>
                  <a:srgbClr val="FF0000"/>
                </a:solidFill>
              </a:rPr>
              <a:t>v</a:t>
            </a:r>
            <a:r>
              <a:rPr lang="it-IT" dirty="0" smtClean="0"/>
              <a:t> un vertice raggiungibile da </a:t>
            </a:r>
            <a:r>
              <a:rPr lang="it-IT" dirty="0" err="1" smtClean="0">
                <a:solidFill>
                  <a:srgbClr val="FF0000"/>
                </a:solidFill>
              </a:rPr>
              <a:t>s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/>
              <a:t>e sia </a:t>
            </a:r>
          </a:p>
          <a:p>
            <a:pPr marL="0" indent="0">
              <a:buNone/>
            </a:pPr>
            <a:r>
              <a:rPr lang="it-IT" dirty="0" smtClean="0"/>
              <a:t>             </a:t>
            </a:r>
            <a:r>
              <a:rPr lang="it-IT" dirty="0" err="1" smtClean="0">
                <a:solidFill>
                  <a:srgbClr val="FF0000"/>
                </a:solidFill>
              </a:rPr>
              <a:t>p</a:t>
            </a:r>
            <a:r>
              <a:rPr lang="it-IT" dirty="0" smtClean="0">
                <a:solidFill>
                  <a:srgbClr val="FF0000"/>
                </a:solidFill>
              </a:rPr>
              <a:t> = (</a:t>
            </a:r>
            <a:r>
              <a:rPr lang="it-IT" dirty="0" err="1" smtClean="0">
                <a:solidFill>
                  <a:srgbClr val="FF0000"/>
                </a:solidFill>
              </a:rPr>
              <a:t>s</a:t>
            </a:r>
            <a:r>
              <a:rPr lang="it-IT" dirty="0" smtClean="0">
                <a:solidFill>
                  <a:srgbClr val="FF0000"/>
                </a:solidFill>
              </a:rPr>
              <a:t> = u</a:t>
            </a:r>
            <a:r>
              <a:rPr lang="it-IT" baseline="-25000" dirty="0" smtClean="0">
                <a:solidFill>
                  <a:srgbClr val="FF0000"/>
                </a:solidFill>
              </a:rPr>
              <a:t>0</a:t>
            </a:r>
            <a:r>
              <a:rPr lang="it-IT" dirty="0" smtClean="0">
                <a:solidFill>
                  <a:srgbClr val="FF0000"/>
                </a:solidFill>
              </a:rPr>
              <a:t>, u</a:t>
            </a:r>
            <a:r>
              <a:rPr lang="it-IT" baseline="-25000" dirty="0">
                <a:solidFill>
                  <a:srgbClr val="FF0000"/>
                </a:solidFill>
              </a:rPr>
              <a:t>1</a:t>
            </a:r>
            <a:r>
              <a:rPr lang="it-IT" dirty="0" smtClean="0">
                <a:solidFill>
                  <a:srgbClr val="FF0000"/>
                </a:solidFill>
              </a:rPr>
              <a:t>, ..., </a:t>
            </a:r>
            <a:r>
              <a:rPr lang="it-IT" dirty="0" err="1" smtClean="0">
                <a:solidFill>
                  <a:srgbClr val="FF0000"/>
                </a:solidFill>
              </a:rPr>
              <a:t>u</a:t>
            </a:r>
            <a:r>
              <a:rPr lang="it-IT" baseline="-25000" dirty="0" err="1" smtClean="0">
                <a:solidFill>
                  <a:srgbClr val="FF0000"/>
                </a:solidFill>
              </a:rPr>
              <a:t>k</a:t>
            </a:r>
            <a:r>
              <a:rPr lang="it-IT" dirty="0" smtClean="0">
                <a:solidFill>
                  <a:srgbClr val="FF0000"/>
                </a:solidFill>
              </a:rPr>
              <a:t> = v)</a:t>
            </a:r>
            <a:r>
              <a:rPr lang="it-IT" dirty="0" smtClean="0"/>
              <a:t> </a:t>
            </a:r>
          </a:p>
          <a:p>
            <a:pPr marL="0" indent="0">
              <a:buNone/>
            </a:pPr>
            <a:r>
              <a:rPr lang="it-IT" dirty="0" smtClean="0"/>
              <a:t>un cammino minimo da </a:t>
            </a:r>
            <a:r>
              <a:rPr lang="it-IT" dirty="0" err="1" smtClean="0">
                <a:solidFill>
                  <a:srgbClr val="FF0000"/>
                </a:solidFill>
              </a:rPr>
              <a:t>s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/>
              <a:t>a </a:t>
            </a:r>
            <a:r>
              <a:rPr lang="it-IT" dirty="0" smtClean="0">
                <a:solidFill>
                  <a:srgbClr val="FF0000"/>
                </a:solidFill>
              </a:rPr>
              <a:t>v</a:t>
            </a:r>
            <a:r>
              <a:rPr lang="it-IT" dirty="0" smtClean="0"/>
              <a:t>. </a:t>
            </a:r>
          </a:p>
          <a:p>
            <a:pPr marL="0" indent="0">
              <a:buNone/>
            </a:pPr>
            <a:r>
              <a:rPr lang="it-IT" dirty="0" smtClean="0"/>
              <a:t>L’algoritmo rilassa gli archi del cammino nell’ordine </a:t>
            </a:r>
            <a:r>
              <a:rPr lang="it-IT" dirty="0" smtClean="0">
                <a:solidFill>
                  <a:srgbClr val="FF0000"/>
                </a:solidFill>
              </a:rPr>
              <a:t>u</a:t>
            </a:r>
            <a:r>
              <a:rPr lang="it-IT" baseline="-25000" dirty="0" smtClean="0">
                <a:solidFill>
                  <a:srgbClr val="FF0000"/>
                </a:solidFill>
              </a:rPr>
              <a:t>0</a:t>
            </a:r>
            <a:r>
              <a:rPr lang="it-IT" dirty="0" smtClean="0">
                <a:solidFill>
                  <a:srgbClr val="FF0000"/>
                </a:solidFill>
              </a:rPr>
              <a:t>u</a:t>
            </a:r>
            <a:r>
              <a:rPr lang="it-IT" baseline="-25000" dirty="0" smtClean="0">
                <a:solidFill>
                  <a:srgbClr val="FF0000"/>
                </a:solidFill>
              </a:rPr>
              <a:t>1</a:t>
            </a:r>
            <a:r>
              <a:rPr lang="it-IT" dirty="0" smtClean="0">
                <a:solidFill>
                  <a:srgbClr val="FF0000"/>
                </a:solidFill>
              </a:rPr>
              <a:t>, u</a:t>
            </a:r>
            <a:r>
              <a:rPr lang="it-IT" baseline="-25000" dirty="0" smtClean="0">
                <a:solidFill>
                  <a:srgbClr val="FF0000"/>
                </a:solidFill>
              </a:rPr>
              <a:t>1</a:t>
            </a:r>
            <a:r>
              <a:rPr lang="it-IT" dirty="0" smtClean="0">
                <a:solidFill>
                  <a:srgbClr val="FF0000"/>
                </a:solidFill>
              </a:rPr>
              <a:t>u</a:t>
            </a:r>
            <a:r>
              <a:rPr lang="it-IT" baseline="-25000" dirty="0" smtClean="0">
                <a:solidFill>
                  <a:srgbClr val="FF0000"/>
                </a:solidFill>
              </a:rPr>
              <a:t>2</a:t>
            </a:r>
            <a:r>
              <a:rPr lang="it-IT" dirty="0" smtClean="0">
                <a:solidFill>
                  <a:srgbClr val="FF0000"/>
                </a:solidFill>
              </a:rPr>
              <a:t>, ..., u</a:t>
            </a:r>
            <a:r>
              <a:rPr lang="it-IT" baseline="-25000" dirty="0" smtClean="0">
                <a:solidFill>
                  <a:srgbClr val="FF0000"/>
                </a:solidFill>
              </a:rPr>
              <a:t>k-1</a:t>
            </a:r>
            <a:r>
              <a:rPr lang="it-IT" dirty="0" smtClean="0">
                <a:solidFill>
                  <a:srgbClr val="FF0000"/>
                </a:solidFill>
              </a:rPr>
              <a:t>u</a:t>
            </a:r>
            <a:r>
              <a:rPr lang="it-IT" baseline="-25000" dirty="0" smtClean="0">
                <a:solidFill>
                  <a:srgbClr val="FF0000"/>
                </a:solidFill>
              </a:rPr>
              <a:t>k</a:t>
            </a:r>
            <a:r>
              <a:rPr lang="it-IT" dirty="0" smtClean="0"/>
              <a:t> e quindi alla fine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d[v] = </a:t>
            </a:r>
            <a:r>
              <a:rPr lang="it-IT" dirty="0" smtClean="0">
                <a:solidFill>
                  <a:srgbClr val="FF0000"/>
                </a:solidFill>
              </a:rPr>
              <a:t>(</a:t>
            </a:r>
            <a:r>
              <a:rPr lang="it-IT" dirty="0" err="1" smtClean="0">
                <a:solidFill>
                  <a:srgbClr val="FF0000"/>
                </a:solidFill>
              </a:rPr>
              <a:t>s,v</a:t>
            </a:r>
            <a:r>
              <a:rPr lang="it-IT" dirty="0" smtClean="0">
                <a:solidFill>
                  <a:srgbClr val="FF0000"/>
                </a:solidFill>
              </a:rPr>
              <a:t>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#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5708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Algoritmo di Dijkstra</a:t>
            </a:r>
          </a:p>
        </p:txBody>
      </p:sp>
      <p:sp>
        <p:nvSpPr>
          <p:cNvPr id="7168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Funziona per grafi orientati con pesi non negativi</a:t>
            </a:r>
          </a:p>
          <a:p>
            <a:r>
              <a:rPr lang="it-IT" dirty="0" smtClean="0"/>
              <a:t>Mantiene un </a:t>
            </a:r>
            <a:r>
              <a:rPr lang="it-IT" dirty="0" smtClean="0">
                <a:solidFill>
                  <a:srgbClr val="0000FF"/>
                </a:solidFill>
              </a:rPr>
              <a:t>insieme </a:t>
            </a:r>
            <a:r>
              <a:rPr lang="it-IT" dirty="0" err="1" smtClean="0">
                <a:solidFill>
                  <a:srgbClr val="FF0000"/>
                </a:solidFill>
              </a:rPr>
              <a:t>S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rgbClr val="0000FF"/>
                </a:solidFill>
              </a:rPr>
              <a:t>di vertici i cui pesi di cammino minimo dalla sorgente </a:t>
            </a:r>
            <a:r>
              <a:rPr lang="it-IT" dirty="0" err="1" smtClean="0">
                <a:solidFill>
                  <a:srgbClr val="0000FF"/>
                </a:solidFill>
              </a:rPr>
              <a:t>s</a:t>
            </a:r>
            <a:r>
              <a:rPr lang="it-IT" dirty="0" smtClean="0">
                <a:solidFill>
                  <a:srgbClr val="0000FF"/>
                </a:solidFill>
              </a:rPr>
              <a:t> sono già stati determinati</a:t>
            </a:r>
          </a:p>
          <a:p>
            <a:r>
              <a:rPr lang="it-IT" dirty="0" smtClean="0">
                <a:solidFill>
                  <a:srgbClr val="0000FF"/>
                </a:solidFill>
              </a:rPr>
              <a:t>Seleziona ripetutamente il vertice </a:t>
            </a:r>
            <a:r>
              <a:rPr lang="it-IT" dirty="0" err="1" smtClean="0">
                <a:solidFill>
                  <a:srgbClr val="FF0000"/>
                </a:solidFill>
              </a:rPr>
              <a:t>u</a:t>
            </a:r>
            <a:r>
              <a:rPr lang="it-IT" dirty="0" err="1" smtClean="0">
                <a:solidFill>
                  <a:srgbClr val="FF0000"/>
                </a:solidFill>
                <a:sym typeface="Symbol" charset="0"/>
              </a:rPr>
              <a:t>V-S</a:t>
            </a:r>
            <a:r>
              <a:rPr lang="it-IT" dirty="0" smtClean="0">
                <a:solidFill>
                  <a:srgbClr val="0000FF"/>
                </a:solidFill>
                <a:sym typeface="Symbol" charset="0"/>
              </a:rPr>
              <a:t> con il minor cammino minimo stimato, aggiunge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u</a:t>
            </a:r>
            <a:r>
              <a:rPr lang="it-IT" dirty="0" smtClean="0">
                <a:solidFill>
                  <a:srgbClr val="0000FF"/>
                </a:solidFill>
                <a:sym typeface="Symbol" charset="0"/>
              </a:rPr>
              <a:t> ad </a:t>
            </a:r>
            <a:r>
              <a:rPr lang="it-IT" dirty="0" err="1" smtClean="0">
                <a:solidFill>
                  <a:srgbClr val="FF0000"/>
                </a:solidFill>
                <a:sym typeface="Symbol" charset="0"/>
              </a:rPr>
              <a:t>S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dirty="0" smtClean="0">
                <a:solidFill>
                  <a:srgbClr val="0000FF"/>
                </a:solidFill>
                <a:sym typeface="Symbol" charset="0"/>
              </a:rPr>
              <a:t>e rilassa tutti gli archi uscenti da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u</a:t>
            </a:r>
            <a:endParaRPr lang="it-IT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03" grpId="0" build="p" bldLvl="3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Algoritmo di </a:t>
            </a:r>
            <a:r>
              <a:rPr lang="it-IT" dirty="0" err="1" smtClean="0"/>
              <a:t>Dijkstra</a:t>
            </a:r>
            <a:endParaRPr lang="it-IT" dirty="0" smtClean="0"/>
          </a:p>
        </p:txBody>
      </p:sp>
      <p:sp>
        <p:nvSpPr>
          <p:cNvPr id="73730" name="Text Box 5"/>
          <p:cNvSpPr txBox="1">
            <a:spLocks noChangeArrowheads="1"/>
          </p:cNvSpPr>
          <p:nvPr/>
        </p:nvSpPr>
        <p:spPr bwMode="auto">
          <a:xfrm>
            <a:off x="539552" y="1412776"/>
            <a:ext cx="8136904" cy="433965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it-IT" sz="2800" b="1" i="1" dirty="0" err="1">
                <a:latin typeface="Times New Roman" charset="0"/>
                <a:sym typeface="Symbol" charset="0"/>
              </a:rPr>
              <a:t>Dijkstra</a:t>
            </a:r>
            <a:r>
              <a:rPr lang="it-IT" sz="2800" b="1" dirty="0">
                <a:latin typeface="Times New Roman" charset="0"/>
                <a:sym typeface="Symbol" charset="0"/>
              </a:rPr>
              <a:t>(</a:t>
            </a:r>
            <a:r>
              <a:rPr lang="it-IT" sz="2800" b="1" i="1" dirty="0">
                <a:latin typeface="Times New Roman" charset="0"/>
                <a:sym typeface="Symbol" charset="0"/>
              </a:rPr>
              <a:t>G</a:t>
            </a:r>
            <a:r>
              <a:rPr lang="it-IT" sz="2800" b="1" dirty="0">
                <a:latin typeface="Times New Roman" charset="0"/>
                <a:sym typeface="Symbol" charset="0"/>
              </a:rPr>
              <a:t>, </a:t>
            </a:r>
            <a:r>
              <a:rPr lang="it-IT" sz="2800" b="1" dirty="0" err="1">
                <a:latin typeface="Times New Roman" charset="0"/>
                <a:sym typeface="Symbol" charset="0"/>
              </a:rPr>
              <a:t>w</a:t>
            </a:r>
            <a:r>
              <a:rPr lang="it-IT" sz="2800" b="1" dirty="0">
                <a:latin typeface="Times New Roman" charset="0"/>
                <a:sym typeface="Symbol" charset="0"/>
              </a:rPr>
              <a:t>, </a:t>
            </a:r>
            <a:r>
              <a:rPr lang="it-IT" sz="2800" b="1" i="1" dirty="0" err="1">
                <a:latin typeface="Times New Roman" charset="0"/>
                <a:sym typeface="Symbol" charset="0"/>
              </a:rPr>
              <a:t>s</a:t>
            </a:r>
            <a:r>
              <a:rPr lang="it-IT" sz="2800" b="1" dirty="0">
                <a:latin typeface="Times New Roman" charset="0"/>
                <a:sym typeface="Symbol" charset="0"/>
              </a:rPr>
              <a:t>) </a:t>
            </a:r>
          </a:p>
          <a:p>
            <a:r>
              <a:rPr lang="it-IT" sz="2400" b="1" i="1" dirty="0">
                <a:solidFill>
                  <a:srgbClr val="008000"/>
                </a:solidFill>
                <a:latin typeface="Times New Roman" charset="0"/>
                <a:sym typeface="Symbol" charset="0"/>
              </a:rPr>
              <a:t>G</a:t>
            </a:r>
            <a:r>
              <a:rPr lang="it-IT" sz="2400" b="1" dirty="0">
                <a:solidFill>
                  <a:srgbClr val="008000"/>
                </a:solidFill>
                <a:latin typeface="Times New Roman" charset="0"/>
                <a:sym typeface="Symbol" charset="0"/>
              </a:rPr>
              <a:t> grafo orientato pesato con pesi non negativi</a:t>
            </a:r>
            <a:endParaRPr lang="it-IT" sz="2800" b="1" dirty="0">
              <a:solidFill>
                <a:srgbClr val="008000"/>
              </a:solidFill>
              <a:latin typeface="Times New Roman" charset="0"/>
              <a:sym typeface="Symbol" charset="0"/>
            </a:endParaRPr>
          </a:p>
          <a:p>
            <a:r>
              <a:rPr lang="it-IT" sz="2800" b="1" dirty="0">
                <a:latin typeface="Times New Roman" charset="0"/>
                <a:sym typeface="Symbol" charset="0"/>
              </a:rPr>
              <a:t>  </a:t>
            </a:r>
            <a:r>
              <a:rPr lang="it-IT" sz="2800" b="1" dirty="0" smtClean="0">
                <a:latin typeface="Times New Roman" charset="0"/>
                <a:sym typeface="Symbol" charset="0"/>
              </a:rPr>
              <a:t>1 </a:t>
            </a:r>
            <a:r>
              <a:rPr lang="it-IT" sz="2800" b="1" i="1" dirty="0">
                <a:latin typeface="Times New Roman" charset="0"/>
                <a:sym typeface="Symbol" charset="0"/>
              </a:rPr>
              <a:t>Inizializza</a:t>
            </a:r>
            <a:r>
              <a:rPr lang="it-IT" sz="2800" b="1" dirty="0">
                <a:latin typeface="Times New Roman" charset="0"/>
                <a:sym typeface="Symbol" charset="0"/>
              </a:rPr>
              <a:t>(</a:t>
            </a:r>
            <a:r>
              <a:rPr lang="it-IT" sz="2800" b="1" i="1" dirty="0">
                <a:latin typeface="Times New Roman" charset="0"/>
                <a:sym typeface="Symbol" charset="0"/>
              </a:rPr>
              <a:t>G</a:t>
            </a:r>
            <a:r>
              <a:rPr lang="it-IT" sz="2800" b="1" dirty="0">
                <a:latin typeface="Times New Roman" charset="0"/>
                <a:sym typeface="Symbol" charset="0"/>
              </a:rPr>
              <a:t>, </a:t>
            </a:r>
            <a:r>
              <a:rPr lang="it-IT" sz="2800" b="1" i="1" dirty="0" err="1">
                <a:latin typeface="Times New Roman" charset="0"/>
                <a:sym typeface="Symbol" charset="0"/>
              </a:rPr>
              <a:t>s</a:t>
            </a:r>
            <a:r>
              <a:rPr lang="it-IT" sz="2800" b="1" dirty="0">
                <a:latin typeface="Times New Roman" charset="0"/>
                <a:sym typeface="Symbol" charset="0"/>
              </a:rPr>
              <a:t>)</a:t>
            </a:r>
          </a:p>
          <a:p>
            <a:r>
              <a:rPr lang="it-IT" sz="2800" b="1" dirty="0">
                <a:latin typeface="Times New Roman" charset="0"/>
                <a:sym typeface="Symbol" charset="0"/>
              </a:rPr>
              <a:t>  </a:t>
            </a:r>
            <a:r>
              <a:rPr lang="it-IT" sz="2800" b="1" dirty="0" smtClean="0">
                <a:latin typeface="Times New Roman" charset="0"/>
                <a:sym typeface="Symbol" charset="0"/>
              </a:rPr>
              <a:t>2 </a:t>
            </a:r>
            <a:r>
              <a:rPr lang="it-IT" sz="2800" b="1" dirty="0" err="1" smtClean="0">
                <a:latin typeface="Times New Roman" charset="0"/>
                <a:sym typeface="Symbol" charset="0"/>
              </a:rPr>
              <a:t>S</a:t>
            </a:r>
            <a:r>
              <a:rPr lang="it-IT" sz="2800" b="1" dirty="0" smtClean="0">
                <a:latin typeface="Times New Roman" charset="0"/>
                <a:sym typeface="Symbol" charset="0"/>
              </a:rPr>
              <a:t> := </a:t>
            </a:r>
            <a:r>
              <a:rPr lang="it-IT" sz="2800" b="1" dirty="0">
                <a:latin typeface="Times New Roman" charset="0"/>
                <a:sym typeface="Symbol" charset="0"/>
              </a:rPr>
              <a:t></a:t>
            </a:r>
          </a:p>
          <a:p>
            <a:r>
              <a:rPr lang="it-IT" sz="2800" b="1" dirty="0">
                <a:latin typeface="Times New Roman" charset="0"/>
                <a:sym typeface="Symbol" charset="0"/>
              </a:rPr>
              <a:t>  </a:t>
            </a:r>
            <a:r>
              <a:rPr lang="it-IT" sz="2800" b="1" dirty="0" smtClean="0">
                <a:latin typeface="Times New Roman" charset="0"/>
                <a:sym typeface="Symbol" charset="0"/>
              </a:rPr>
              <a:t>3 </a:t>
            </a:r>
            <a:r>
              <a:rPr lang="it-IT" sz="2800" b="1" dirty="0" err="1" smtClean="0">
                <a:latin typeface="Times New Roman" charset="0"/>
                <a:sym typeface="Symbol" charset="0"/>
              </a:rPr>
              <a:t>Q</a:t>
            </a:r>
            <a:r>
              <a:rPr lang="it-IT" sz="2800" b="1" dirty="0" smtClean="0">
                <a:latin typeface="Times New Roman" charset="0"/>
                <a:sym typeface="Symbol" charset="0"/>
              </a:rPr>
              <a:t> </a:t>
            </a:r>
            <a:r>
              <a:rPr lang="it-IT" sz="2800" b="1" dirty="0">
                <a:latin typeface="Times New Roman" charset="0"/>
                <a:sym typeface="Symbol" charset="0"/>
              </a:rPr>
              <a:t>:</a:t>
            </a:r>
            <a:r>
              <a:rPr lang="it-IT" sz="2800" b="1" dirty="0" smtClean="0">
                <a:latin typeface="Times New Roman" charset="0"/>
                <a:sym typeface="Symbol" charset="0"/>
              </a:rPr>
              <a:t>= V</a:t>
            </a:r>
            <a:r>
              <a:rPr lang="it-IT" sz="2800" b="1" dirty="0">
                <a:latin typeface="Times New Roman" charset="0"/>
                <a:sym typeface="Symbol" charset="0"/>
              </a:rPr>
              <a:t>	 	</a:t>
            </a:r>
            <a:r>
              <a:rPr lang="it-IT" sz="2400" b="1" dirty="0">
                <a:solidFill>
                  <a:srgbClr val="008000"/>
                </a:solidFill>
                <a:latin typeface="Times New Roman" charset="0"/>
                <a:sym typeface="Symbol" charset="0"/>
              </a:rPr>
              <a:t>coda con priorità </a:t>
            </a:r>
            <a:r>
              <a:rPr lang="it-IT" sz="2400" b="1" dirty="0" err="1">
                <a:solidFill>
                  <a:srgbClr val="008000"/>
                </a:solidFill>
                <a:latin typeface="Times New Roman" charset="0"/>
                <a:sym typeface="Symbol" charset="0"/>
              </a:rPr>
              <a:t>min</a:t>
            </a:r>
            <a:r>
              <a:rPr lang="it-IT" sz="2400" b="1" dirty="0">
                <a:solidFill>
                  <a:srgbClr val="008000"/>
                </a:solidFill>
                <a:latin typeface="Times New Roman" charset="0"/>
                <a:sym typeface="Symbol" charset="0"/>
              </a:rPr>
              <a:t> su d</a:t>
            </a:r>
            <a:r>
              <a:rPr lang="it-IT" sz="2400" b="1" i="1" dirty="0">
                <a:solidFill>
                  <a:srgbClr val="008000"/>
                </a:solidFill>
                <a:latin typeface="Times New Roman" charset="0"/>
                <a:sym typeface="Symbol" charset="0"/>
              </a:rPr>
              <a:t> </a:t>
            </a:r>
            <a:r>
              <a:rPr lang="it-IT" sz="2400" b="1" dirty="0">
                <a:solidFill>
                  <a:srgbClr val="008000"/>
                </a:solidFill>
                <a:latin typeface="Times New Roman" charset="0"/>
                <a:sym typeface="Symbol" charset="0"/>
              </a:rPr>
              <a:t> </a:t>
            </a:r>
            <a:endParaRPr lang="it-IT" sz="2800" b="1" dirty="0">
              <a:solidFill>
                <a:srgbClr val="008000"/>
              </a:solidFill>
              <a:latin typeface="Times New Roman" charset="0"/>
              <a:sym typeface="Symbol" charset="0"/>
            </a:endParaRPr>
          </a:p>
          <a:p>
            <a:r>
              <a:rPr lang="it-IT" sz="2800" b="1" dirty="0">
                <a:latin typeface="Times New Roman" charset="0"/>
                <a:sym typeface="Symbol" charset="0"/>
              </a:rPr>
              <a:t>  </a:t>
            </a:r>
            <a:r>
              <a:rPr lang="it-IT" sz="2800" b="1" dirty="0" smtClean="0">
                <a:latin typeface="Times New Roman" charset="0"/>
                <a:sym typeface="Symbol" charset="0"/>
              </a:rPr>
              <a:t>4 </a:t>
            </a:r>
            <a:r>
              <a:rPr lang="it-IT" sz="2800" b="1" dirty="0" err="1" smtClean="0">
                <a:latin typeface="Times New Roman" charset="0"/>
                <a:sym typeface="Symbol" charset="0"/>
              </a:rPr>
              <a:t>while</a:t>
            </a:r>
            <a:r>
              <a:rPr lang="it-IT" sz="2800" b="1" dirty="0" smtClean="0">
                <a:latin typeface="Times New Roman" charset="0"/>
                <a:sym typeface="Symbol" charset="0"/>
              </a:rPr>
              <a:t> </a:t>
            </a:r>
            <a:r>
              <a:rPr lang="it-IT" sz="2800" b="1" dirty="0" err="1">
                <a:latin typeface="Times New Roman" charset="0"/>
                <a:sym typeface="Symbol" charset="0"/>
              </a:rPr>
              <a:t>Q</a:t>
            </a:r>
            <a:r>
              <a:rPr lang="it-IT" sz="2800" b="1" dirty="0">
                <a:latin typeface="Times New Roman" charset="0"/>
                <a:sym typeface="Symbol" charset="0"/>
              </a:rPr>
              <a:t>  </a:t>
            </a:r>
          </a:p>
          <a:p>
            <a:r>
              <a:rPr lang="it-IT" sz="2800" b="1" dirty="0" smtClean="0">
                <a:latin typeface="Times New Roman" charset="0"/>
                <a:sym typeface="Symbol" charset="0"/>
              </a:rPr>
              <a:t>  5</a:t>
            </a:r>
            <a:r>
              <a:rPr lang="it-IT" sz="2800" b="1" dirty="0">
                <a:latin typeface="Times New Roman" charset="0"/>
                <a:sym typeface="Symbol" charset="0"/>
              </a:rPr>
              <a:t>	do </a:t>
            </a:r>
            <a:r>
              <a:rPr lang="it-IT" sz="2800" b="1" i="1" dirty="0">
                <a:latin typeface="Times New Roman" charset="0"/>
                <a:sym typeface="Symbol" charset="0"/>
              </a:rPr>
              <a:t>u</a:t>
            </a:r>
            <a:r>
              <a:rPr lang="it-IT" sz="2800" b="1" dirty="0">
                <a:latin typeface="Times New Roman" charset="0"/>
                <a:sym typeface="Symbol" charset="0"/>
              </a:rPr>
              <a:t> :</a:t>
            </a:r>
            <a:r>
              <a:rPr lang="it-IT" sz="2800" b="1" dirty="0" smtClean="0">
                <a:latin typeface="Times New Roman" charset="0"/>
                <a:sym typeface="Symbol" charset="0"/>
              </a:rPr>
              <a:t>= </a:t>
            </a:r>
            <a:r>
              <a:rPr lang="it-IT" sz="2800" b="1" i="1" dirty="0" err="1" smtClean="0">
                <a:latin typeface="Times New Roman" charset="0"/>
                <a:sym typeface="Symbol" charset="0"/>
              </a:rPr>
              <a:t>ExtractMin</a:t>
            </a:r>
            <a:r>
              <a:rPr lang="it-IT" sz="2800" b="1" i="1" dirty="0">
                <a:latin typeface="Times New Roman" charset="0"/>
                <a:sym typeface="Symbol" charset="0"/>
              </a:rPr>
              <a:t>(</a:t>
            </a:r>
            <a:r>
              <a:rPr lang="it-IT" sz="2800" b="1" i="1" dirty="0" err="1">
                <a:latin typeface="Times New Roman" charset="0"/>
                <a:sym typeface="Symbol" charset="0"/>
              </a:rPr>
              <a:t>Q</a:t>
            </a:r>
            <a:r>
              <a:rPr lang="it-IT" sz="2800" b="1" i="1" dirty="0">
                <a:latin typeface="Times New Roman" charset="0"/>
                <a:sym typeface="Symbol" charset="0"/>
              </a:rPr>
              <a:t>)</a:t>
            </a:r>
          </a:p>
          <a:p>
            <a:r>
              <a:rPr lang="it-IT" sz="2800" b="1" i="1" dirty="0" smtClean="0">
                <a:latin typeface="Times New Roman" charset="0"/>
                <a:sym typeface="Symbol" charset="0"/>
              </a:rPr>
              <a:t>  6</a:t>
            </a:r>
            <a:r>
              <a:rPr lang="it-IT" sz="2800" b="1" i="1" dirty="0">
                <a:latin typeface="Times New Roman" charset="0"/>
                <a:sym typeface="Symbol" charset="0"/>
              </a:rPr>
              <a:t>	</a:t>
            </a:r>
            <a:r>
              <a:rPr lang="it-IT" sz="2800" b="1" i="1" dirty="0" err="1">
                <a:latin typeface="Times New Roman" charset="0"/>
                <a:sym typeface="Symbol" charset="0"/>
              </a:rPr>
              <a:t>S</a:t>
            </a:r>
            <a:r>
              <a:rPr lang="it-IT" sz="2800" b="1" i="1" dirty="0">
                <a:latin typeface="Times New Roman" charset="0"/>
                <a:sym typeface="Symbol" charset="0"/>
              </a:rPr>
              <a:t> </a:t>
            </a:r>
            <a:r>
              <a:rPr lang="it-IT" sz="2800" b="1" dirty="0">
                <a:latin typeface="Times New Roman" charset="0"/>
                <a:sym typeface="Symbol" charset="0"/>
              </a:rPr>
              <a:t>:</a:t>
            </a:r>
            <a:r>
              <a:rPr lang="it-IT" sz="2800" b="1" dirty="0" smtClean="0">
                <a:latin typeface="Times New Roman" charset="0"/>
                <a:sym typeface="Symbol" charset="0"/>
              </a:rPr>
              <a:t>= </a:t>
            </a:r>
            <a:r>
              <a:rPr lang="it-IT" sz="2800" b="1" dirty="0" err="1" smtClean="0">
                <a:latin typeface="Times New Roman" charset="0"/>
                <a:sym typeface="Symbol" charset="0"/>
              </a:rPr>
              <a:t>S</a:t>
            </a:r>
            <a:r>
              <a:rPr lang="it-IT" sz="2800" b="1" dirty="0" smtClean="0">
                <a:latin typeface="Times New Roman" charset="0"/>
                <a:sym typeface="Symbol" charset="0"/>
              </a:rPr>
              <a:t> </a:t>
            </a:r>
            <a:r>
              <a:rPr lang="it-IT" sz="2800" b="1" dirty="0">
                <a:latin typeface="Times New Roman" charset="0"/>
                <a:sym typeface="Symbol" charset="0"/>
              </a:rPr>
              <a:t> {</a:t>
            </a:r>
            <a:r>
              <a:rPr lang="it-IT" sz="2800" b="1" i="1" dirty="0">
                <a:latin typeface="Times New Roman" charset="0"/>
                <a:sym typeface="Symbol" charset="0"/>
              </a:rPr>
              <a:t>u</a:t>
            </a:r>
            <a:r>
              <a:rPr lang="it-IT" sz="2800" b="1" dirty="0">
                <a:latin typeface="Times New Roman" charset="0"/>
                <a:sym typeface="Symbol" charset="0"/>
              </a:rPr>
              <a:t>}</a:t>
            </a:r>
          </a:p>
          <a:p>
            <a:r>
              <a:rPr lang="it-IT" sz="2800" b="1" dirty="0" smtClean="0">
                <a:latin typeface="Times New Roman" charset="0"/>
                <a:sym typeface="Symbol" charset="0"/>
              </a:rPr>
              <a:t>  7</a:t>
            </a:r>
            <a:r>
              <a:rPr lang="it-IT" sz="2800" b="1" dirty="0">
                <a:latin typeface="Times New Roman" charset="0"/>
                <a:sym typeface="Symbol" charset="0"/>
              </a:rPr>
              <a:t>	for “ogni </a:t>
            </a:r>
            <a:r>
              <a:rPr lang="it-IT" sz="2800" b="1" i="1" dirty="0">
                <a:latin typeface="Times New Roman" charset="0"/>
                <a:sym typeface="Symbol" charset="0"/>
              </a:rPr>
              <a:t>v</a:t>
            </a:r>
            <a:r>
              <a:rPr lang="it-IT" sz="2800" b="1" dirty="0">
                <a:latin typeface="Times New Roman" charset="0"/>
                <a:sym typeface="Symbol" charset="0"/>
              </a:rPr>
              <a:t>  </a:t>
            </a:r>
            <a:r>
              <a:rPr lang="it-IT" sz="2800" b="1" i="1" dirty="0" err="1">
                <a:latin typeface="Times New Roman" charset="0"/>
                <a:sym typeface="Symbol" charset="0"/>
              </a:rPr>
              <a:t>Adj</a:t>
            </a:r>
            <a:r>
              <a:rPr lang="it-IT" sz="2800" b="1" dirty="0">
                <a:latin typeface="Times New Roman" charset="0"/>
                <a:sym typeface="Symbol" charset="0"/>
              </a:rPr>
              <a:t>[</a:t>
            </a:r>
            <a:r>
              <a:rPr lang="it-IT" sz="2800" b="1" i="1" dirty="0">
                <a:latin typeface="Times New Roman" charset="0"/>
                <a:sym typeface="Symbol" charset="0"/>
              </a:rPr>
              <a:t>u</a:t>
            </a:r>
            <a:r>
              <a:rPr lang="it-IT" sz="2800" b="1" dirty="0">
                <a:latin typeface="Times New Roman" charset="0"/>
                <a:sym typeface="Symbol" charset="0"/>
              </a:rPr>
              <a:t>]” do</a:t>
            </a:r>
            <a:endParaRPr lang="it-IT" sz="2800" b="1" dirty="0" smtClean="0">
              <a:latin typeface="Times New Roman" charset="0"/>
              <a:sym typeface="Symbol" charset="0"/>
            </a:endParaRPr>
          </a:p>
          <a:p>
            <a:r>
              <a:rPr lang="it-IT" sz="2800" b="1" dirty="0">
                <a:latin typeface="Times New Roman" charset="0"/>
                <a:sym typeface="Symbol" charset="0"/>
              </a:rPr>
              <a:t> </a:t>
            </a:r>
            <a:r>
              <a:rPr lang="it-IT" sz="2800" b="1" dirty="0" smtClean="0">
                <a:latin typeface="Times New Roman" charset="0"/>
                <a:sym typeface="Symbol" charset="0"/>
              </a:rPr>
              <a:t> 8	 </a:t>
            </a:r>
            <a:r>
              <a:rPr lang="it-IT" sz="2800" b="1" i="1" dirty="0">
                <a:latin typeface="Times New Roman" charset="0"/>
                <a:sym typeface="Symbol" charset="0"/>
              </a:rPr>
              <a:t>Rilassa</a:t>
            </a:r>
            <a:r>
              <a:rPr lang="it-IT" sz="2800" b="1" dirty="0">
                <a:latin typeface="Times New Roman" charset="0"/>
                <a:sym typeface="Symbol" charset="0"/>
              </a:rPr>
              <a:t>(</a:t>
            </a:r>
            <a:r>
              <a:rPr lang="it-IT" sz="2800" b="1" i="1" dirty="0">
                <a:latin typeface="Times New Roman" charset="0"/>
                <a:sym typeface="Symbol" charset="0"/>
              </a:rPr>
              <a:t>G</a:t>
            </a:r>
            <a:r>
              <a:rPr lang="it-IT" sz="2800" b="1" dirty="0">
                <a:latin typeface="Times New Roman" charset="0"/>
                <a:sym typeface="Symbol" charset="0"/>
              </a:rPr>
              <a:t>, </a:t>
            </a:r>
            <a:r>
              <a:rPr lang="it-IT" sz="2800" b="1" i="1" dirty="0">
                <a:latin typeface="Times New Roman" charset="0"/>
                <a:sym typeface="Symbol" charset="0"/>
              </a:rPr>
              <a:t>u</a:t>
            </a:r>
            <a:r>
              <a:rPr lang="it-IT" sz="2800" b="1" dirty="0">
                <a:latin typeface="Times New Roman" charset="0"/>
                <a:sym typeface="Symbol" charset="0"/>
              </a:rPr>
              <a:t>, </a:t>
            </a:r>
            <a:r>
              <a:rPr lang="it-IT" sz="2800" b="1" i="1" dirty="0">
                <a:latin typeface="Times New Roman" charset="0"/>
                <a:sym typeface="Symbol" charset="0"/>
              </a:rPr>
              <a:t>v</a:t>
            </a:r>
            <a:r>
              <a:rPr lang="it-IT" sz="2800" b="1" dirty="0">
                <a:latin typeface="Times New Roman" charset="0"/>
                <a:sym typeface="Symbol" charset="0"/>
              </a:rPr>
              <a:t>)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Algoritmo di </a:t>
            </a:r>
            <a:r>
              <a:rPr lang="it-IT" dirty="0" err="1" smtClean="0"/>
              <a:t>Dijkstra</a:t>
            </a:r>
            <a:endParaRPr lang="it-IT" dirty="0" smtClean="0"/>
          </a:p>
        </p:txBody>
      </p:sp>
      <p:sp>
        <p:nvSpPr>
          <p:cNvPr id="7208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>
                <a:solidFill>
                  <a:srgbClr val="0000FF"/>
                </a:solidFill>
              </a:rPr>
              <a:t>Mantiene l’invariante </a:t>
            </a:r>
            <a:r>
              <a:rPr lang="it-IT" dirty="0" err="1" smtClean="0">
                <a:solidFill>
                  <a:srgbClr val="FF0000"/>
                </a:solidFill>
              </a:rPr>
              <a:t>Q</a:t>
            </a:r>
            <a:r>
              <a:rPr lang="it-IT" dirty="0" smtClean="0">
                <a:solidFill>
                  <a:srgbClr val="FF0000"/>
                </a:solidFill>
              </a:rPr>
              <a:t> = V-S</a:t>
            </a:r>
          </a:p>
          <a:p>
            <a:r>
              <a:rPr lang="it-IT" dirty="0" smtClean="0">
                <a:solidFill>
                  <a:srgbClr val="0000FF"/>
                </a:solidFill>
              </a:rPr>
              <a:t>Usa una strategia </a:t>
            </a:r>
            <a:r>
              <a:rPr lang="it-IT" dirty="0" err="1" smtClean="0">
                <a:solidFill>
                  <a:srgbClr val="0000FF"/>
                </a:solidFill>
              </a:rPr>
              <a:t>greedy</a:t>
            </a:r>
            <a:r>
              <a:rPr lang="it-IT" dirty="0" smtClean="0">
                <a:solidFill>
                  <a:srgbClr val="0000FF"/>
                </a:solidFill>
              </a:rPr>
              <a:t>, scegliendo ogni volta in </a:t>
            </a:r>
            <a:r>
              <a:rPr lang="it-IT" dirty="0" smtClean="0">
                <a:solidFill>
                  <a:srgbClr val="FF0000"/>
                </a:solidFill>
              </a:rPr>
              <a:t>V-S</a:t>
            </a:r>
            <a:r>
              <a:rPr lang="it-IT" dirty="0" smtClean="0">
                <a:solidFill>
                  <a:srgbClr val="0000FF"/>
                </a:solidFill>
              </a:rPr>
              <a:t> il vertice più vicino a </a:t>
            </a:r>
            <a:r>
              <a:rPr lang="it-IT" dirty="0" err="1" smtClean="0">
                <a:solidFill>
                  <a:srgbClr val="FF0000"/>
                </a:solidFill>
              </a:rPr>
              <a:t>s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rgbClr val="0000FF"/>
                </a:solidFill>
              </a:rPr>
              <a:t>da aggiungere a </a:t>
            </a:r>
            <a:r>
              <a:rPr lang="it-IT" dirty="0" err="1" smtClean="0">
                <a:solidFill>
                  <a:srgbClr val="FF0000"/>
                </a:solidFill>
              </a:rPr>
              <a:t>S</a:t>
            </a:r>
            <a:endParaRPr lang="it-IT" dirty="0" smtClean="0">
              <a:solidFill>
                <a:srgbClr val="FF0000"/>
              </a:solidFill>
            </a:endParaRPr>
          </a:p>
          <a:p>
            <a:r>
              <a:rPr lang="it-IT" dirty="0" smtClean="0">
                <a:solidFill>
                  <a:srgbClr val="0000FF"/>
                </a:solidFill>
              </a:rPr>
              <a:t>Trova l’ottimo (vedi Correttezza)</a:t>
            </a:r>
          </a:p>
          <a:p>
            <a:r>
              <a:rPr lang="it-IT" dirty="0" smtClean="0">
                <a:solidFill>
                  <a:srgbClr val="0000FF"/>
                </a:solidFill>
              </a:rPr>
              <a:t>Dopo aver scelto </a:t>
            </a:r>
            <a:r>
              <a:rPr lang="it-IT" dirty="0" smtClean="0">
                <a:solidFill>
                  <a:srgbClr val="FF0000"/>
                </a:solidFill>
              </a:rPr>
              <a:t>u</a:t>
            </a:r>
            <a:r>
              <a:rPr lang="it-IT" dirty="0" smtClean="0">
                <a:solidFill>
                  <a:srgbClr val="0000FF"/>
                </a:solidFill>
              </a:rPr>
              <a:t>, aggiorna le stime </a:t>
            </a:r>
            <a:r>
              <a:rPr lang="it-IT" dirty="0" err="1" smtClean="0">
                <a:solidFill>
                  <a:srgbClr val="FF0000"/>
                </a:solidFill>
                <a:latin typeface="Symbol" charset="2"/>
                <a:cs typeface="Symbol" charset="2"/>
                <a:sym typeface="Symbol" charset="0"/>
              </a:rPr>
              <a:t>p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[v]</a:t>
            </a:r>
            <a:r>
              <a:rPr lang="it-IT" dirty="0" smtClean="0">
                <a:solidFill>
                  <a:srgbClr val="0000FF"/>
                </a:solidFill>
                <a:sym typeface="Symbol" charset="0"/>
              </a:rPr>
              <a:t> </a:t>
            </a:r>
            <a:r>
              <a:rPr lang="it-IT" dirty="0" smtClean="0">
                <a:solidFill>
                  <a:srgbClr val="0000FF"/>
                </a:solidFill>
              </a:rPr>
              <a:t>e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d[v] </a:t>
            </a:r>
            <a:r>
              <a:rPr lang="it-IT" dirty="0" smtClean="0">
                <a:solidFill>
                  <a:srgbClr val="0000FF"/>
                </a:solidFill>
                <a:sym typeface="Symbol" charset="0"/>
              </a:rPr>
              <a:t>di tutti i vertici adiacenti se migliorano passando per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u</a:t>
            </a:r>
            <a:endParaRPr lang="it-IT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0899" grpId="0" build="p" bldLvl="3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Line 10"/>
          <p:cNvSpPr>
            <a:spLocks noChangeShapeType="1"/>
          </p:cNvSpPr>
          <p:nvPr/>
        </p:nvSpPr>
        <p:spPr bwMode="auto">
          <a:xfrm flipH="1" flipV="1">
            <a:off x="5724128" y="2492896"/>
            <a:ext cx="792088" cy="504056"/>
          </a:xfrm>
          <a:prstGeom prst="line">
            <a:avLst/>
          </a:prstGeom>
          <a:noFill/>
          <a:ln w="1016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Esempio</a:t>
            </a:r>
          </a:p>
        </p:txBody>
      </p:sp>
      <p:sp>
        <p:nvSpPr>
          <p:cNvPr id="77826" name="Line 10"/>
          <p:cNvSpPr>
            <a:spLocks noChangeShapeType="1"/>
          </p:cNvSpPr>
          <p:nvPr/>
        </p:nvSpPr>
        <p:spPr bwMode="auto">
          <a:xfrm flipH="1">
            <a:off x="5724128" y="1772816"/>
            <a:ext cx="792088" cy="418728"/>
          </a:xfrm>
          <a:prstGeom prst="line">
            <a:avLst/>
          </a:prstGeom>
          <a:noFill/>
          <a:ln w="1016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683568" y="980728"/>
            <a:ext cx="3337242" cy="2560350"/>
            <a:chOff x="827584" y="2132856"/>
            <a:chExt cx="3337242" cy="2560350"/>
          </a:xfrm>
        </p:grpSpPr>
        <p:sp>
          <p:nvSpPr>
            <p:cNvPr id="23" name="Text Box 4"/>
            <p:cNvSpPr txBox="1">
              <a:spLocks noChangeArrowheads="1"/>
            </p:cNvSpPr>
            <p:nvPr/>
          </p:nvSpPr>
          <p:spPr bwMode="auto">
            <a:xfrm>
              <a:off x="827584" y="3212976"/>
              <a:ext cx="28447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err="1">
                  <a:latin typeface="Times New Roman" charset="0"/>
                </a:rPr>
                <a:t>s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24" name="Oval 5"/>
            <p:cNvSpPr>
              <a:spLocks noChangeArrowheads="1"/>
            </p:cNvSpPr>
            <p:nvPr/>
          </p:nvSpPr>
          <p:spPr bwMode="auto">
            <a:xfrm>
              <a:off x="2243336" y="2493640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000" b="1" dirty="0" smtClean="0">
                  <a:latin typeface="Times New Roman" charset="0"/>
                  <a:sym typeface="Symbol" charset="0"/>
                </a:rPr>
                <a:t>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29" name="Oval 10"/>
            <p:cNvSpPr>
              <a:spLocks noChangeArrowheads="1"/>
            </p:cNvSpPr>
            <p:nvPr/>
          </p:nvSpPr>
          <p:spPr bwMode="auto">
            <a:xfrm>
              <a:off x="3563888" y="3933056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000" b="1" dirty="0" smtClean="0">
                  <a:latin typeface="Times New Roman" charset="0"/>
                  <a:sym typeface="Symbol" charset="0"/>
                </a:rPr>
                <a:t>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31" name="Oval 12"/>
            <p:cNvSpPr>
              <a:spLocks noChangeArrowheads="1"/>
            </p:cNvSpPr>
            <p:nvPr/>
          </p:nvSpPr>
          <p:spPr bwMode="auto">
            <a:xfrm>
              <a:off x="3563888" y="2492896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000" b="1" dirty="0" smtClean="0">
                  <a:latin typeface="Times New Roman" charset="0"/>
                  <a:sym typeface="Symbol" charset="0"/>
                </a:rPr>
                <a:t>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32" name="Oval 13"/>
            <p:cNvSpPr>
              <a:spLocks noChangeArrowheads="1"/>
            </p:cNvSpPr>
            <p:nvPr/>
          </p:nvSpPr>
          <p:spPr bwMode="auto">
            <a:xfrm>
              <a:off x="1104528" y="3200400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000" b="1">
                  <a:latin typeface="Times New Roman" charset="0"/>
                  <a:sym typeface="Symbol" charset="0"/>
                </a:rPr>
                <a:t>0</a:t>
              </a:r>
              <a:endParaRPr lang="it-IT" sz="2000" b="1">
                <a:latin typeface="Times New Roman" charset="0"/>
              </a:endParaRPr>
            </a:p>
          </p:txBody>
        </p:sp>
        <p:sp>
          <p:nvSpPr>
            <p:cNvPr id="33" name="Oval 14"/>
            <p:cNvSpPr>
              <a:spLocks noChangeArrowheads="1"/>
            </p:cNvSpPr>
            <p:nvPr/>
          </p:nvSpPr>
          <p:spPr bwMode="auto">
            <a:xfrm>
              <a:off x="2267744" y="3933056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000" b="1" dirty="0" smtClean="0">
                  <a:latin typeface="Times New Roman" charset="0"/>
                  <a:sym typeface="Symbol" charset="0"/>
                </a:rPr>
                <a:t>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34" name="Line 15"/>
            <p:cNvSpPr>
              <a:spLocks noChangeShapeType="1"/>
            </p:cNvSpPr>
            <p:nvPr/>
          </p:nvSpPr>
          <p:spPr bwMode="auto">
            <a:xfrm flipV="1">
              <a:off x="1485528" y="2852936"/>
              <a:ext cx="782216" cy="4236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6" name="Line 17"/>
            <p:cNvSpPr>
              <a:spLocks noChangeShapeType="1"/>
            </p:cNvSpPr>
            <p:nvPr/>
          </p:nvSpPr>
          <p:spPr bwMode="auto">
            <a:xfrm>
              <a:off x="1485528" y="3581400"/>
              <a:ext cx="782216" cy="495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0" name="Line 21"/>
            <p:cNvSpPr>
              <a:spLocks noChangeShapeType="1"/>
            </p:cNvSpPr>
            <p:nvPr/>
          </p:nvSpPr>
          <p:spPr bwMode="auto">
            <a:xfrm flipV="1">
              <a:off x="2699792" y="4221088"/>
              <a:ext cx="838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1" name="Line 22"/>
            <p:cNvSpPr>
              <a:spLocks noChangeShapeType="1"/>
            </p:cNvSpPr>
            <p:nvPr/>
          </p:nvSpPr>
          <p:spPr bwMode="auto">
            <a:xfrm flipV="1">
              <a:off x="2699792" y="2708920"/>
              <a:ext cx="838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2" name="Line 23"/>
            <p:cNvSpPr>
              <a:spLocks noChangeShapeType="1"/>
            </p:cNvSpPr>
            <p:nvPr/>
          </p:nvSpPr>
          <p:spPr bwMode="auto">
            <a:xfrm>
              <a:off x="3707904" y="2924944"/>
              <a:ext cx="0" cy="10081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4" name="Line 25"/>
            <p:cNvSpPr>
              <a:spLocks noChangeShapeType="1"/>
            </p:cNvSpPr>
            <p:nvPr/>
          </p:nvSpPr>
          <p:spPr bwMode="auto">
            <a:xfrm flipV="1">
              <a:off x="3923928" y="2924944"/>
              <a:ext cx="0" cy="10500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51" name="Text Box 32"/>
            <p:cNvSpPr txBox="1">
              <a:spLocks noChangeArrowheads="1"/>
            </p:cNvSpPr>
            <p:nvPr/>
          </p:nvSpPr>
          <p:spPr bwMode="auto">
            <a:xfrm>
              <a:off x="2987824" y="4149080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>
                  <a:latin typeface="Times New Roman" charset="0"/>
                </a:rPr>
                <a:t>2</a:t>
              </a:r>
            </a:p>
          </p:txBody>
        </p:sp>
        <p:sp>
          <p:nvSpPr>
            <p:cNvPr id="55" name="Text Box 36"/>
            <p:cNvSpPr txBox="1">
              <a:spLocks noChangeArrowheads="1"/>
            </p:cNvSpPr>
            <p:nvPr/>
          </p:nvSpPr>
          <p:spPr bwMode="auto">
            <a:xfrm>
              <a:off x="2915816" y="2348880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>
                  <a:latin typeface="Times New Roman" charset="0"/>
                </a:rPr>
                <a:t>1</a:t>
              </a:r>
            </a:p>
          </p:txBody>
        </p:sp>
        <p:sp>
          <p:nvSpPr>
            <p:cNvPr id="56" name="Text Box 37"/>
            <p:cNvSpPr txBox="1">
              <a:spLocks noChangeArrowheads="1"/>
            </p:cNvSpPr>
            <p:nvPr/>
          </p:nvSpPr>
          <p:spPr bwMode="auto">
            <a:xfrm>
              <a:off x="1561728" y="3810000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>
                  <a:latin typeface="Times New Roman" charset="0"/>
                </a:rPr>
                <a:t>5</a:t>
              </a:r>
            </a:p>
          </p:txBody>
        </p:sp>
        <p:sp>
          <p:nvSpPr>
            <p:cNvPr id="58" name="Text Box 39"/>
            <p:cNvSpPr txBox="1">
              <a:spLocks noChangeArrowheads="1"/>
            </p:cNvSpPr>
            <p:nvPr/>
          </p:nvSpPr>
          <p:spPr bwMode="auto">
            <a:xfrm>
              <a:off x="1547664" y="2636912"/>
              <a:ext cx="44114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smtClean="0">
                  <a:latin typeface="Times New Roman" charset="0"/>
                </a:rPr>
                <a:t>10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59" name="Text Box 4"/>
            <p:cNvSpPr txBox="1">
              <a:spLocks noChangeArrowheads="1"/>
            </p:cNvSpPr>
            <p:nvPr/>
          </p:nvSpPr>
          <p:spPr bwMode="auto">
            <a:xfrm>
              <a:off x="2339752" y="2132856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err="1">
                  <a:latin typeface="Times New Roman" charset="0"/>
                </a:rPr>
                <a:t>a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60" name="Text Box 4"/>
            <p:cNvSpPr txBox="1">
              <a:spLocks noChangeArrowheads="1"/>
            </p:cNvSpPr>
            <p:nvPr/>
          </p:nvSpPr>
          <p:spPr bwMode="auto">
            <a:xfrm>
              <a:off x="3635896" y="2132856"/>
              <a:ext cx="3600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err="1">
                  <a:latin typeface="Times New Roman" charset="0"/>
                </a:rPr>
                <a:t>b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63" name="Text Box 4"/>
            <p:cNvSpPr txBox="1">
              <a:spLocks noChangeArrowheads="1"/>
            </p:cNvSpPr>
            <p:nvPr/>
          </p:nvSpPr>
          <p:spPr bwMode="auto">
            <a:xfrm>
              <a:off x="2339752" y="4293096"/>
              <a:ext cx="30008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err="1">
                  <a:latin typeface="Times New Roman" charset="0"/>
                </a:rPr>
                <a:t>e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64" name="Text Box 4"/>
            <p:cNvSpPr txBox="1">
              <a:spLocks noChangeArrowheads="1"/>
            </p:cNvSpPr>
            <p:nvPr/>
          </p:nvSpPr>
          <p:spPr bwMode="auto">
            <a:xfrm>
              <a:off x="3707904" y="4293096"/>
              <a:ext cx="30008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err="1">
                  <a:latin typeface="Times New Roman" charset="0"/>
                </a:rPr>
                <a:t>f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69" name="Line 25"/>
            <p:cNvSpPr>
              <a:spLocks noChangeShapeType="1"/>
            </p:cNvSpPr>
            <p:nvPr/>
          </p:nvSpPr>
          <p:spPr bwMode="auto">
            <a:xfrm flipV="1">
              <a:off x="2627784" y="2924944"/>
              <a:ext cx="1080120" cy="10500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70" name="Line 23"/>
            <p:cNvSpPr>
              <a:spLocks noChangeShapeType="1"/>
            </p:cNvSpPr>
            <p:nvPr/>
          </p:nvSpPr>
          <p:spPr bwMode="auto">
            <a:xfrm>
              <a:off x="2411760" y="2924944"/>
              <a:ext cx="0" cy="10081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71" name="Line 25"/>
            <p:cNvSpPr>
              <a:spLocks noChangeShapeType="1"/>
            </p:cNvSpPr>
            <p:nvPr/>
          </p:nvSpPr>
          <p:spPr bwMode="auto">
            <a:xfrm flipV="1">
              <a:off x="2627784" y="2924944"/>
              <a:ext cx="0" cy="10500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72" name="Line 25"/>
            <p:cNvSpPr>
              <a:spLocks noChangeShapeType="1"/>
            </p:cNvSpPr>
            <p:nvPr/>
          </p:nvSpPr>
          <p:spPr bwMode="auto">
            <a:xfrm flipH="1" flipV="1">
              <a:off x="1547664" y="3501008"/>
              <a:ext cx="2016224" cy="6480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73" name="Text Box 32"/>
            <p:cNvSpPr txBox="1">
              <a:spLocks noChangeArrowheads="1"/>
            </p:cNvSpPr>
            <p:nvPr/>
          </p:nvSpPr>
          <p:spPr bwMode="auto">
            <a:xfrm>
              <a:off x="2123728" y="3068960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>
                  <a:latin typeface="Times New Roman" charset="0"/>
                </a:rPr>
                <a:t>2</a:t>
              </a:r>
            </a:p>
          </p:txBody>
        </p:sp>
        <p:sp>
          <p:nvSpPr>
            <p:cNvPr id="74" name="Text Box 32"/>
            <p:cNvSpPr txBox="1">
              <a:spLocks noChangeArrowheads="1"/>
            </p:cNvSpPr>
            <p:nvPr/>
          </p:nvSpPr>
          <p:spPr bwMode="auto">
            <a:xfrm>
              <a:off x="2627784" y="3068960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smtClean="0">
                  <a:latin typeface="Times New Roman" charset="0"/>
                </a:rPr>
                <a:t>3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75" name="Text Box 32"/>
            <p:cNvSpPr txBox="1">
              <a:spLocks noChangeArrowheads="1"/>
            </p:cNvSpPr>
            <p:nvPr/>
          </p:nvSpPr>
          <p:spPr bwMode="auto">
            <a:xfrm>
              <a:off x="3131840" y="2924944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smtClean="0">
                  <a:latin typeface="Times New Roman" charset="0"/>
                </a:rPr>
                <a:t>9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76" name="Text Box 32"/>
            <p:cNvSpPr txBox="1">
              <a:spLocks noChangeArrowheads="1"/>
            </p:cNvSpPr>
            <p:nvPr/>
          </p:nvSpPr>
          <p:spPr bwMode="auto">
            <a:xfrm>
              <a:off x="3419872" y="3284984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smtClean="0">
                  <a:latin typeface="Times New Roman" charset="0"/>
                </a:rPr>
                <a:t>4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77" name="Text Box 32"/>
            <p:cNvSpPr txBox="1">
              <a:spLocks noChangeArrowheads="1"/>
            </p:cNvSpPr>
            <p:nvPr/>
          </p:nvSpPr>
          <p:spPr bwMode="auto">
            <a:xfrm>
              <a:off x="3851920" y="3284984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>
                  <a:latin typeface="Times New Roman" charset="0"/>
                </a:rPr>
                <a:t>6</a:t>
              </a:r>
            </a:p>
          </p:txBody>
        </p:sp>
        <p:sp>
          <p:nvSpPr>
            <p:cNvPr id="78" name="Text Box 32"/>
            <p:cNvSpPr txBox="1">
              <a:spLocks noChangeArrowheads="1"/>
            </p:cNvSpPr>
            <p:nvPr/>
          </p:nvSpPr>
          <p:spPr bwMode="auto">
            <a:xfrm>
              <a:off x="3059832" y="3645024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smtClean="0">
                  <a:latin typeface="Times New Roman" charset="0"/>
                </a:rPr>
                <a:t>7</a:t>
              </a:r>
              <a:endParaRPr lang="it-IT" sz="2000" b="1" dirty="0">
                <a:latin typeface="Times New Roman" charset="0"/>
              </a:endParaRPr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5076056" y="3717032"/>
            <a:ext cx="3337242" cy="2560350"/>
            <a:chOff x="827584" y="2132856"/>
            <a:chExt cx="3337242" cy="2560350"/>
          </a:xfrm>
        </p:grpSpPr>
        <p:sp>
          <p:nvSpPr>
            <p:cNvPr id="81" name="Text Box 4"/>
            <p:cNvSpPr txBox="1">
              <a:spLocks noChangeArrowheads="1"/>
            </p:cNvSpPr>
            <p:nvPr/>
          </p:nvSpPr>
          <p:spPr bwMode="auto">
            <a:xfrm>
              <a:off x="827584" y="3212976"/>
              <a:ext cx="28447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err="1">
                  <a:latin typeface="Times New Roman" charset="0"/>
                </a:rPr>
                <a:t>s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82" name="Oval 5"/>
            <p:cNvSpPr>
              <a:spLocks noChangeArrowheads="1"/>
            </p:cNvSpPr>
            <p:nvPr/>
          </p:nvSpPr>
          <p:spPr bwMode="auto">
            <a:xfrm>
              <a:off x="2243336" y="2493640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000" b="1" dirty="0" smtClean="0">
                  <a:latin typeface="Times New Roman" charset="0"/>
                  <a:sym typeface="Symbol" charset="0"/>
                </a:rPr>
                <a:t>8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83" name="Oval 10"/>
            <p:cNvSpPr>
              <a:spLocks noChangeArrowheads="1"/>
            </p:cNvSpPr>
            <p:nvPr/>
          </p:nvSpPr>
          <p:spPr bwMode="auto">
            <a:xfrm>
              <a:off x="3563888" y="3933056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000" b="1" dirty="0" smtClean="0">
                  <a:latin typeface="Times New Roman" charset="0"/>
                  <a:sym typeface="Symbol" charset="0"/>
                </a:rPr>
                <a:t>7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84" name="Oval 12"/>
            <p:cNvSpPr>
              <a:spLocks noChangeArrowheads="1"/>
            </p:cNvSpPr>
            <p:nvPr/>
          </p:nvSpPr>
          <p:spPr bwMode="auto">
            <a:xfrm>
              <a:off x="3563888" y="2492896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000" b="1" dirty="0" smtClean="0">
                  <a:latin typeface="Times New Roman" charset="0"/>
                  <a:sym typeface="Symbol" charset="0"/>
                </a:rPr>
                <a:t>13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85" name="Oval 13"/>
            <p:cNvSpPr>
              <a:spLocks noChangeArrowheads="1"/>
            </p:cNvSpPr>
            <p:nvPr/>
          </p:nvSpPr>
          <p:spPr bwMode="auto">
            <a:xfrm>
              <a:off x="1104528" y="3200400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000" b="1">
                  <a:latin typeface="Times New Roman" charset="0"/>
                  <a:sym typeface="Symbol" charset="0"/>
                </a:rPr>
                <a:t>0</a:t>
              </a:r>
              <a:endParaRPr lang="it-IT" sz="2000" b="1">
                <a:latin typeface="Times New Roman" charset="0"/>
              </a:endParaRPr>
            </a:p>
          </p:txBody>
        </p:sp>
        <p:sp>
          <p:nvSpPr>
            <p:cNvPr id="86" name="Oval 14"/>
            <p:cNvSpPr>
              <a:spLocks noChangeArrowheads="1"/>
            </p:cNvSpPr>
            <p:nvPr/>
          </p:nvSpPr>
          <p:spPr bwMode="auto">
            <a:xfrm>
              <a:off x="2267744" y="3933056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000" b="1" dirty="0" smtClean="0">
                  <a:latin typeface="Times New Roman" charset="0"/>
                  <a:sym typeface="Symbol" charset="0"/>
                </a:rPr>
                <a:t>5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87" name="Line 15"/>
            <p:cNvSpPr>
              <a:spLocks noChangeShapeType="1"/>
            </p:cNvSpPr>
            <p:nvPr/>
          </p:nvSpPr>
          <p:spPr bwMode="auto">
            <a:xfrm flipV="1">
              <a:off x="1485528" y="2852936"/>
              <a:ext cx="782216" cy="4236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8" name="Line 17"/>
            <p:cNvSpPr>
              <a:spLocks noChangeShapeType="1"/>
            </p:cNvSpPr>
            <p:nvPr/>
          </p:nvSpPr>
          <p:spPr bwMode="auto">
            <a:xfrm>
              <a:off x="1485528" y="3581400"/>
              <a:ext cx="782216" cy="495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9" name="Line 21"/>
            <p:cNvSpPr>
              <a:spLocks noChangeShapeType="1"/>
            </p:cNvSpPr>
            <p:nvPr/>
          </p:nvSpPr>
          <p:spPr bwMode="auto">
            <a:xfrm flipV="1">
              <a:off x="2699792" y="4221088"/>
              <a:ext cx="838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0" name="Line 22"/>
            <p:cNvSpPr>
              <a:spLocks noChangeShapeType="1"/>
            </p:cNvSpPr>
            <p:nvPr/>
          </p:nvSpPr>
          <p:spPr bwMode="auto">
            <a:xfrm flipV="1">
              <a:off x="2699792" y="2708920"/>
              <a:ext cx="838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1" name="Line 23"/>
            <p:cNvSpPr>
              <a:spLocks noChangeShapeType="1"/>
            </p:cNvSpPr>
            <p:nvPr/>
          </p:nvSpPr>
          <p:spPr bwMode="auto">
            <a:xfrm>
              <a:off x="3707904" y="2924944"/>
              <a:ext cx="0" cy="10081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2" name="Line 25"/>
            <p:cNvSpPr>
              <a:spLocks noChangeShapeType="1"/>
            </p:cNvSpPr>
            <p:nvPr/>
          </p:nvSpPr>
          <p:spPr bwMode="auto">
            <a:xfrm flipV="1">
              <a:off x="3923928" y="2924944"/>
              <a:ext cx="0" cy="10500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3" name="Text Box 32"/>
            <p:cNvSpPr txBox="1">
              <a:spLocks noChangeArrowheads="1"/>
            </p:cNvSpPr>
            <p:nvPr/>
          </p:nvSpPr>
          <p:spPr bwMode="auto">
            <a:xfrm>
              <a:off x="2987824" y="4149080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>
                  <a:latin typeface="Times New Roman" charset="0"/>
                </a:rPr>
                <a:t>2</a:t>
              </a:r>
            </a:p>
          </p:txBody>
        </p:sp>
        <p:sp>
          <p:nvSpPr>
            <p:cNvPr id="94" name="Text Box 36"/>
            <p:cNvSpPr txBox="1">
              <a:spLocks noChangeArrowheads="1"/>
            </p:cNvSpPr>
            <p:nvPr/>
          </p:nvSpPr>
          <p:spPr bwMode="auto">
            <a:xfrm>
              <a:off x="2915816" y="2348880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>
                  <a:latin typeface="Times New Roman" charset="0"/>
                </a:rPr>
                <a:t>1</a:t>
              </a:r>
            </a:p>
          </p:txBody>
        </p:sp>
        <p:sp>
          <p:nvSpPr>
            <p:cNvPr id="95" name="Text Box 37"/>
            <p:cNvSpPr txBox="1">
              <a:spLocks noChangeArrowheads="1"/>
            </p:cNvSpPr>
            <p:nvPr/>
          </p:nvSpPr>
          <p:spPr bwMode="auto">
            <a:xfrm>
              <a:off x="1561728" y="3810000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>
                  <a:latin typeface="Times New Roman" charset="0"/>
                </a:rPr>
                <a:t>5</a:t>
              </a:r>
            </a:p>
          </p:txBody>
        </p:sp>
        <p:sp>
          <p:nvSpPr>
            <p:cNvPr id="96" name="Text Box 39"/>
            <p:cNvSpPr txBox="1">
              <a:spLocks noChangeArrowheads="1"/>
            </p:cNvSpPr>
            <p:nvPr/>
          </p:nvSpPr>
          <p:spPr bwMode="auto">
            <a:xfrm>
              <a:off x="1547664" y="2636912"/>
              <a:ext cx="44114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smtClean="0">
                  <a:latin typeface="Times New Roman" charset="0"/>
                </a:rPr>
                <a:t>10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97" name="Text Box 4"/>
            <p:cNvSpPr txBox="1">
              <a:spLocks noChangeArrowheads="1"/>
            </p:cNvSpPr>
            <p:nvPr/>
          </p:nvSpPr>
          <p:spPr bwMode="auto">
            <a:xfrm>
              <a:off x="2339752" y="2132856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err="1">
                  <a:latin typeface="Times New Roman" charset="0"/>
                </a:rPr>
                <a:t>a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98" name="Text Box 4"/>
            <p:cNvSpPr txBox="1">
              <a:spLocks noChangeArrowheads="1"/>
            </p:cNvSpPr>
            <p:nvPr/>
          </p:nvSpPr>
          <p:spPr bwMode="auto">
            <a:xfrm>
              <a:off x="3635896" y="2132856"/>
              <a:ext cx="3600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err="1">
                  <a:latin typeface="Times New Roman" charset="0"/>
                </a:rPr>
                <a:t>b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99" name="Text Box 4"/>
            <p:cNvSpPr txBox="1">
              <a:spLocks noChangeArrowheads="1"/>
            </p:cNvSpPr>
            <p:nvPr/>
          </p:nvSpPr>
          <p:spPr bwMode="auto">
            <a:xfrm>
              <a:off x="2339752" y="4293096"/>
              <a:ext cx="30008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err="1">
                  <a:latin typeface="Times New Roman" charset="0"/>
                </a:rPr>
                <a:t>e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100" name="Text Box 4"/>
            <p:cNvSpPr txBox="1">
              <a:spLocks noChangeArrowheads="1"/>
            </p:cNvSpPr>
            <p:nvPr/>
          </p:nvSpPr>
          <p:spPr bwMode="auto">
            <a:xfrm>
              <a:off x="3707904" y="4293096"/>
              <a:ext cx="30008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err="1">
                  <a:latin typeface="Times New Roman" charset="0"/>
                </a:rPr>
                <a:t>f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101" name="Line 25"/>
            <p:cNvSpPr>
              <a:spLocks noChangeShapeType="1"/>
            </p:cNvSpPr>
            <p:nvPr/>
          </p:nvSpPr>
          <p:spPr bwMode="auto">
            <a:xfrm flipV="1">
              <a:off x="2627784" y="2924944"/>
              <a:ext cx="1080120" cy="10500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02" name="Line 23"/>
            <p:cNvSpPr>
              <a:spLocks noChangeShapeType="1"/>
            </p:cNvSpPr>
            <p:nvPr/>
          </p:nvSpPr>
          <p:spPr bwMode="auto">
            <a:xfrm>
              <a:off x="2411760" y="2924944"/>
              <a:ext cx="0" cy="10081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03" name="Line 25"/>
            <p:cNvSpPr>
              <a:spLocks noChangeShapeType="1"/>
            </p:cNvSpPr>
            <p:nvPr/>
          </p:nvSpPr>
          <p:spPr bwMode="auto">
            <a:xfrm flipV="1">
              <a:off x="2627784" y="2924944"/>
              <a:ext cx="0" cy="10500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04" name="Line 25"/>
            <p:cNvSpPr>
              <a:spLocks noChangeShapeType="1"/>
            </p:cNvSpPr>
            <p:nvPr/>
          </p:nvSpPr>
          <p:spPr bwMode="auto">
            <a:xfrm flipH="1" flipV="1">
              <a:off x="1547664" y="3501008"/>
              <a:ext cx="2016224" cy="6480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05" name="Text Box 32"/>
            <p:cNvSpPr txBox="1">
              <a:spLocks noChangeArrowheads="1"/>
            </p:cNvSpPr>
            <p:nvPr/>
          </p:nvSpPr>
          <p:spPr bwMode="auto">
            <a:xfrm>
              <a:off x="2123728" y="3068960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>
                  <a:latin typeface="Times New Roman" charset="0"/>
                </a:rPr>
                <a:t>2</a:t>
              </a:r>
            </a:p>
          </p:txBody>
        </p:sp>
        <p:sp>
          <p:nvSpPr>
            <p:cNvPr id="106" name="Text Box 32"/>
            <p:cNvSpPr txBox="1">
              <a:spLocks noChangeArrowheads="1"/>
            </p:cNvSpPr>
            <p:nvPr/>
          </p:nvSpPr>
          <p:spPr bwMode="auto">
            <a:xfrm>
              <a:off x="2627784" y="3068960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smtClean="0">
                  <a:latin typeface="Times New Roman" charset="0"/>
                </a:rPr>
                <a:t>3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107" name="Text Box 32"/>
            <p:cNvSpPr txBox="1">
              <a:spLocks noChangeArrowheads="1"/>
            </p:cNvSpPr>
            <p:nvPr/>
          </p:nvSpPr>
          <p:spPr bwMode="auto">
            <a:xfrm>
              <a:off x="3131840" y="2924944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smtClean="0">
                  <a:latin typeface="Times New Roman" charset="0"/>
                </a:rPr>
                <a:t>9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108" name="Text Box 32"/>
            <p:cNvSpPr txBox="1">
              <a:spLocks noChangeArrowheads="1"/>
            </p:cNvSpPr>
            <p:nvPr/>
          </p:nvSpPr>
          <p:spPr bwMode="auto">
            <a:xfrm>
              <a:off x="3419872" y="3284984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smtClean="0">
                  <a:latin typeface="Times New Roman" charset="0"/>
                </a:rPr>
                <a:t>4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109" name="Text Box 32"/>
            <p:cNvSpPr txBox="1">
              <a:spLocks noChangeArrowheads="1"/>
            </p:cNvSpPr>
            <p:nvPr/>
          </p:nvSpPr>
          <p:spPr bwMode="auto">
            <a:xfrm>
              <a:off x="3851920" y="3284984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>
                  <a:latin typeface="Times New Roman" charset="0"/>
                </a:rPr>
                <a:t>6</a:t>
              </a:r>
            </a:p>
          </p:txBody>
        </p:sp>
        <p:sp>
          <p:nvSpPr>
            <p:cNvPr id="110" name="Text Box 32"/>
            <p:cNvSpPr txBox="1">
              <a:spLocks noChangeArrowheads="1"/>
            </p:cNvSpPr>
            <p:nvPr/>
          </p:nvSpPr>
          <p:spPr bwMode="auto">
            <a:xfrm>
              <a:off x="3059832" y="3645024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smtClean="0">
                  <a:latin typeface="Times New Roman" charset="0"/>
                </a:rPr>
                <a:t>7</a:t>
              </a:r>
              <a:endParaRPr lang="it-IT" sz="2000" b="1" dirty="0">
                <a:latin typeface="Times New Roman" charset="0"/>
              </a:endParaRPr>
            </a:p>
          </p:txBody>
        </p:sp>
      </p:grpSp>
      <p:grpSp>
        <p:nvGrpSpPr>
          <p:cNvPr id="111" name="Group 110"/>
          <p:cNvGrpSpPr/>
          <p:nvPr/>
        </p:nvGrpSpPr>
        <p:grpSpPr>
          <a:xfrm>
            <a:off x="755576" y="3645024"/>
            <a:ext cx="3337242" cy="2560350"/>
            <a:chOff x="827584" y="2132856"/>
            <a:chExt cx="3337242" cy="2560350"/>
          </a:xfrm>
        </p:grpSpPr>
        <p:sp>
          <p:nvSpPr>
            <p:cNvPr id="112" name="Text Box 4"/>
            <p:cNvSpPr txBox="1">
              <a:spLocks noChangeArrowheads="1"/>
            </p:cNvSpPr>
            <p:nvPr/>
          </p:nvSpPr>
          <p:spPr bwMode="auto">
            <a:xfrm>
              <a:off x="827584" y="3212976"/>
              <a:ext cx="28447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err="1">
                  <a:latin typeface="Times New Roman" charset="0"/>
                </a:rPr>
                <a:t>s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113" name="Oval 5"/>
            <p:cNvSpPr>
              <a:spLocks noChangeArrowheads="1"/>
            </p:cNvSpPr>
            <p:nvPr/>
          </p:nvSpPr>
          <p:spPr bwMode="auto">
            <a:xfrm>
              <a:off x="2243336" y="2493640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000" b="1" dirty="0" smtClean="0">
                  <a:latin typeface="Times New Roman" charset="0"/>
                  <a:sym typeface="Symbol" charset="0"/>
                </a:rPr>
                <a:t>8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114" name="Oval 10"/>
            <p:cNvSpPr>
              <a:spLocks noChangeArrowheads="1"/>
            </p:cNvSpPr>
            <p:nvPr/>
          </p:nvSpPr>
          <p:spPr bwMode="auto">
            <a:xfrm>
              <a:off x="3563888" y="3933056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000" b="1" dirty="0">
                  <a:latin typeface="Times New Roman" charset="0"/>
                  <a:sym typeface="Symbol" charset="0"/>
                </a:rPr>
                <a:t>7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115" name="Oval 12"/>
            <p:cNvSpPr>
              <a:spLocks noChangeArrowheads="1"/>
            </p:cNvSpPr>
            <p:nvPr/>
          </p:nvSpPr>
          <p:spPr bwMode="auto">
            <a:xfrm>
              <a:off x="3563888" y="2492896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000" b="1" dirty="0" smtClean="0">
                  <a:latin typeface="Times New Roman" charset="0"/>
                  <a:sym typeface="Symbol" charset="0"/>
                </a:rPr>
                <a:t>14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116" name="Oval 13"/>
            <p:cNvSpPr>
              <a:spLocks noChangeArrowheads="1"/>
            </p:cNvSpPr>
            <p:nvPr/>
          </p:nvSpPr>
          <p:spPr bwMode="auto">
            <a:xfrm>
              <a:off x="1104528" y="3200400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000" b="1">
                  <a:latin typeface="Times New Roman" charset="0"/>
                  <a:sym typeface="Symbol" charset="0"/>
                </a:rPr>
                <a:t>0</a:t>
              </a:r>
              <a:endParaRPr lang="it-IT" sz="2000" b="1">
                <a:latin typeface="Times New Roman" charset="0"/>
              </a:endParaRPr>
            </a:p>
          </p:txBody>
        </p:sp>
        <p:sp>
          <p:nvSpPr>
            <p:cNvPr id="117" name="Oval 14"/>
            <p:cNvSpPr>
              <a:spLocks noChangeArrowheads="1"/>
            </p:cNvSpPr>
            <p:nvPr/>
          </p:nvSpPr>
          <p:spPr bwMode="auto">
            <a:xfrm>
              <a:off x="2267744" y="3933056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000" b="1" dirty="0">
                  <a:latin typeface="Times New Roman" charset="0"/>
                  <a:sym typeface="Symbol" charset="0"/>
                </a:rPr>
                <a:t>5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118" name="Line 15"/>
            <p:cNvSpPr>
              <a:spLocks noChangeShapeType="1"/>
            </p:cNvSpPr>
            <p:nvPr/>
          </p:nvSpPr>
          <p:spPr bwMode="auto">
            <a:xfrm flipV="1">
              <a:off x="1485528" y="2852936"/>
              <a:ext cx="782216" cy="4236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19" name="Line 17"/>
            <p:cNvSpPr>
              <a:spLocks noChangeShapeType="1"/>
            </p:cNvSpPr>
            <p:nvPr/>
          </p:nvSpPr>
          <p:spPr bwMode="auto">
            <a:xfrm>
              <a:off x="1485528" y="3581400"/>
              <a:ext cx="782216" cy="495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20" name="Line 21"/>
            <p:cNvSpPr>
              <a:spLocks noChangeShapeType="1"/>
            </p:cNvSpPr>
            <p:nvPr/>
          </p:nvSpPr>
          <p:spPr bwMode="auto">
            <a:xfrm flipV="1">
              <a:off x="2699792" y="4221088"/>
              <a:ext cx="838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21" name="Line 22"/>
            <p:cNvSpPr>
              <a:spLocks noChangeShapeType="1"/>
            </p:cNvSpPr>
            <p:nvPr/>
          </p:nvSpPr>
          <p:spPr bwMode="auto">
            <a:xfrm flipV="1">
              <a:off x="2699792" y="2708920"/>
              <a:ext cx="838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22" name="Line 23"/>
            <p:cNvSpPr>
              <a:spLocks noChangeShapeType="1"/>
            </p:cNvSpPr>
            <p:nvPr/>
          </p:nvSpPr>
          <p:spPr bwMode="auto">
            <a:xfrm>
              <a:off x="3707904" y="2924944"/>
              <a:ext cx="0" cy="10081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23" name="Line 25"/>
            <p:cNvSpPr>
              <a:spLocks noChangeShapeType="1"/>
            </p:cNvSpPr>
            <p:nvPr/>
          </p:nvSpPr>
          <p:spPr bwMode="auto">
            <a:xfrm flipV="1">
              <a:off x="3923928" y="2924944"/>
              <a:ext cx="0" cy="10500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24" name="Text Box 32"/>
            <p:cNvSpPr txBox="1">
              <a:spLocks noChangeArrowheads="1"/>
            </p:cNvSpPr>
            <p:nvPr/>
          </p:nvSpPr>
          <p:spPr bwMode="auto">
            <a:xfrm>
              <a:off x="2987824" y="4149080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>
                  <a:latin typeface="Times New Roman" charset="0"/>
                </a:rPr>
                <a:t>2</a:t>
              </a:r>
            </a:p>
          </p:txBody>
        </p:sp>
        <p:sp>
          <p:nvSpPr>
            <p:cNvPr id="125" name="Text Box 36"/>
            <p:cNvSpPr txBox="1">
              <a:spLocks noChangeArrowheads="1"/>
            </p:cNvSpPr>
            <p:nvPr/>
          </p:nvSpPr>
          <p:spPr bwMode="auto">
            <a:xfrm>
              <a:off x="2915816" y="2348880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>
                  <a:latin typeface="Times New Roman" charset="0"/>
                </a:rPr>
                <a:t>1</a:t>
              </a:r>
            </a:p>
          </p:txBody>
        </p:sp>
        <p:sp>
          <p:nvSpPr>
            <p:cNvPr id="126" name="Text Box 37"/>
            <p:cNvSpPr txBox="1">
              <a:spLocks noChangeArrowheads="1"/>
            </p:cNvSpPr>
            <p:nvPr/>
          </p:nvSpPr>
          <p:spPr bwMode="auto">
            <a:xfrm>
              <a:off x="1561728" y="3810000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>
                  <a:latin typeface="Times New Roman" charset="0"/>
                </a:rPr>
                <a:t>5</a:t>
              </a:r>
            </a:p>
          </p:txBody>
        </p:sp>
        <p:sp>
          <p:nvSpPr>
            <p:cNvPr id="127" name="Text Box 39"/>
            <p:cNvSpPr txBox="1">
              <a:spLocks noChangeArrowheads="1"/>
            </p:cNvSpPr>
            <p:nvPr/>
          </p:nvSpPr>
          <p:spPr bwMode="auto">
            <a:xfrm>
              <a:off x="1547664" y="2636912"/>
              <a:ext cx="44114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smtClean="0">
                  <a:latin typeface="Times New Roman" charset="0"/>
                </a:rPr>
                <a:t>10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128" name="Text Box 4"/>
            <p:cNvSpPr txBox="1">
              <a:spLocks noChangeArrowheads="1"/>
            </p:cNvSpPr>
            <p:nvPr/>
          </p:nvSpPr>
          <p:spPr bwMode="auto">
            <a:xfrm>
              <a:off x="2339752" y="2132856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err="1">
                  <a:latin typeface="Times New Roman" charset="0"/>
                </a:rPr>
                <a:t>a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129" name="Text Box 4"/>
            <p:cNvSpPr txBox="1">
              <a:spLocks noChangeArrowheads="1"/>
            </p:cNvSpPr>
            <p:nvPr/>
          </p:nvSpPr>
          <p:spPr bwMode="auto">
            <a:xfrm>
              <a:off x="3635896" y="2132856"/>
              <a:ext cx="3600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err="1">
                  <a:latin typeface="Times New Roman" charset="0"/>
                </a:rPr>
                <a:t>b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130" name="Text Box 4"/>
            <p:cNvSpPr txBox="1">
              <a:spLocks noChangeArrowheads="1"/>
            </p:cNvSpPr>
            <p:nvPr/>
          </p:nvSpPr>
          <p:spPr bwMode="auto">
            <a:xfrm>
              <a:off x="2339752" y="4293096"/>
              <a:ext cx="30008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err="1">
                  <a:latin typeface="Times New Roman" charset="0"/>
                </a:rPr>
                <a:t>e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131" name="Text Box 4"/>
            <p:cNvSpPr txBox="1">
              <a:spLocks noChangeArrowheads="1"/>
            </p:cNvSpPr>
            <p:nvPr/>
          </p:nvSpPr>
          <p:spPr bwMode="auto">
            <a:xfrm>
              <a:off x="3707904" y="4293096"/>
              <a:ext cx="30008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err="1">
                  <a:latin typeface="Times New Roman" charset="0"/>
                </a:rPr>
                <a:t>f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132" name="Line 25"/>
            <p:cNvSpPr>
              <a:spLocks noChangeShapeType="1"/>
            </p:cNvSpPr>
            <p:nvPr/>
          </p:nvSpPr>
          <p:spPr bwMode="auto">
            <a:xfrm flipV="1">
              <a:off x="2627784" y="2924944"/>
              <a:ext cx="1080120" cy="10500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33" name="Line 23"/>
            <p:cNvSpPr>
              <a:spLocks noChangeShapeType="1"/>
            </p:cNvSpPr>
            <p:nvPr/>
          </p:nvSpPr>
          <p:spPr bwMode="auto">
            <a:xfrm>
              <a:off x="2411760" y="2924944"/>
              <a:ext cx="0" cy="10081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34" name="Line 25"/>
            <p:cNvSpPr>
              <a:spLocks noChangeShapeType="1"/>
            </p:cNvSpPr>
            <p:nvPr/>
          </p:nvSpPr>
          <p:spPr bwMode="auto">
            <a:xfrm flipV="1">
              <a:off x="2627784" y="2924944"/>
              <a:ext cx="0" cy="10500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35" name="Line 25"/>
            <p:cNvSpPr>
              <a:spLocks noChangeShapeType="1"/>
            </p:cNvSpPr>
            <p:nvPr/>
          </p:nvSpPr>
          <p:spPr bwMode="auto">
            <a:xfrm flipH="1" flipV="1">
              <a:off x="1547664" y="3501008"/>
              <a:ext cx="2016224" cy="6480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36" name="Text Box 32"/>
            <p:cNvSpPr txBox="1">
              <a:spLocks noChangeArrowheads="1"/>
            </p:cNvSpPr>
            <p:nvPr/>
          </p:nvSpPr>
          <p:spPr bwMode="auto">
            <a:xfrm>
              <a:off x="2123728" y="3068960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>
                  <a:latin typeface="Times New Roman" charset="0"/>
                </a:rPr>
                <a:t>2</a:t>
              </a:r>
            </a:p>
          </p:txBody>
        </p:sp>
        <p:sp>
          <p:nvSpPr>
            <p:cNvPr id="137" name="Text Box 32"/>
            <p:cNvSpPr txBox="1">
              <a:spLocks noChangeArrowheads="1"/>
            </p:cNvSpPr>
            <p:nvPr/>
          </p:nvSpPr>
          <p:spPr bwMode="auto">
            <a:xfrm>
              <a:off x="2627784" y="3068960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smtClean="0">
                  <a:latin typeface="Times New Roman" charset="0"/>
                </a:rPr>
                <a:t>3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138" name="Text Box 32"/>
            <p:cNvSpPr txBox="1">
              <a:spLocks noChangeArrowheads="1"/>
            </p:cNvSpPr>
            <p:nvPr/>
          </p:nvSpPr>
          <p:spPr bwMode="auto">
            <a:xfrm>
              <a:off x="3131840" y="2924944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smtClean="0">
                  <a:latin typeface="Times New Roman" charset="0"/>
                </a:rPr>
                <a:t>9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139" name="Text Box 32"/>
            <p:cNvSpPr txBox="1">
              <a:spLocks noChangeArrowheads="1"/>
            </p:cNvSpPr>
            <p:nvPr/>
          </p:nvSpPr>
          <p:spPr bwMode="auto">
            <a:xfrm>
              <a:off x="3419872" y="3284984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smtClean="0">
                  <a:latin typeface="Times New Roman" charset="0"/>
                </a:rPr>
                <a:t>4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140" name="Text Box 32"/>
            <p:cNvSpPr txBox="1">
              <a:spLocks noChangeArrowheads="1"/>
            </p:cNvSpPr>
            <p:nvPr/>
          </p:nvSpPr>
          <p:spPr bwMode="auto">
            <a:xfrm>
              <a:off x="3851920" y="3284984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>
                  <a:latin typeface="Times New Roman" charset="0"/>
                </a:rPr>
                <a:t>6</a:t>
              </a:r>
            </a:p>
          </p:txBody>
        </p:sp>
        <p:sp>
          <p:nvSpPr>
            <p:cNvPr id="141" name="Text Box 32"/>
            <p:cNvSpPr txBox="1">
              <a:spLocks noChangeArrowheads="1"/>
            </p:cNvSpPr>
            <p:nvPr/>
          </p:nvSpPr>
          <p:spPr bwMode="auto">
            <a:xfrm>
              <a:off x="3059832" y="3645024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smtClean="0">
                  <a:latin typeface="Times New Roman" charset="0"/>
                </a:rPr>
                <a:t>7</a:t>
              </a:r>
              <a:endParaRPr lang="it-IT" sz="2000" b="1" dirty="0">
                <a:latin typeface="Times New Roman" charset="0"/>
              </a:endParaRPr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5076056" y="1052736"/>
            <a:ext cx="3337242" cy="2560350"/>
            <a:chOff x="827584" y="2132856"/>
            <a:chExt cx="3337242" cy="2560350"/>
          </a:xfrm>
        </p:grpSpPr>
        <p:sp>
          <p:nvSpPr>
            <p:cNvPr id="143" name="Text Box 4"/>
            <p:cNvSpPr txBox="1">
              <a:spLocks noChangeArrowheads="1"/>
            </p:cNvSpPr>
            <p:nvPr/>
          </p:nvSpPr>
          <p:spPr bwMode="auto">
            <a:xfrm>
              <a:off x="827584" y="3212976"/>
              <a:ext cx="28447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err="1">
                  <a:latin typeface="Times New Roman" charset="0"/>
                </a:rPr>
                <a:t>s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144" name="Oval 5"/>
            <p:cNvSpPr>
              <a:spLocks noChangeArrowheads="1"/>
            </p:cNvSpPr>
            <p:nvPr/>
          </p:nvSpPr>
          <p:spPr bwMode="auto">
            <a:xfrm>
              <a:off x="2243336" y="2493640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000" b="1" dirty="0" smtClean="0">
                  <a:latin typeface="Times New Roman" charset="0"/>
                  <a:sym typeface="Symbol" charset="0"/>
                </a:rPr>
                <a:t>10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145" name="Oval 10"/>
            <p:cNvSpPr>
              <a:spLocks noChangeArrowheads="1"/>
            </p:cNvSpPr>
            <p:nvPr/>
          </p:nvSpPr>
          <p:spPr bwMode="auto">
            <a:xfrm>
              <a:off x="3563888" y="3933056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000" b="1" dirty="0" smtClean="0">
                  <a:latin typeface="Times New Roman" charset="0"/>
                  <a:sym typeface="Symbol" charset="0"/>
                </a:rPr>
                <a:t>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146" name="Oval 12"/>
            <p:cNvSpPr>
              <a:spLocks noChangeArrowheads="1"/>
            </p:cNvSpPr>
            <p:nvPr/>
          </p:nvSpPr>
          <p:spPr bwMode="auto">
            <a:xfrm>
              <a:off x="3563888" y="2492896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000" b="1" dirty="0" smtClean="0">
                  <a:latin typeface="Times New Roman" charset="0"/>
                  <a:sym typeface="Symbol" charset="0"/>
                </a:rPr>
                <a:t>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147" name="Oval 13"/>
            <p:cNvSpPr>
              <a:spLocks noChangeArrowheads="1"/>
            </p:cNvSpPr>
            <p:nvPr/>
          </p:nvSpPr>
          <p:spPr bwMode="auto">
            <a:xfrm>
              <a:off x="1104528" y="3200400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000" b="1">
                  <a:latin typeface="Times New Roman" charset="0"/>
                  <a:sym typeface="Symbol" charset="0"/>
                </a:rPr>
                <a:t>0</a:t>
              </a:r>
              <a:endParaRPr lang="it-IT" sz="2000" b="1">
                <a:latin typeface="Times New Roman" charset="0"/>
              </a:endParaRPr>
            </a:p>
          </p:txBody>
        </p:sp>
        <p:sp>
          <p:nvSpPr>
            <p:cNvPr id="148" name="Oval 14"/>
            <p:cNvSpPr>
              <a:spLocks noChangeArrowheads="1"/>
            </p:cNvSpPr>
            <p:nvPr/>
          </p:nvSpPr>
          <p:spPr bwMode="auto">
            <a:xfrm>
              <a:off x="2267744" y="3933056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000" b="1" dirty="0" smtClean="0">
                  <a:latin typeface="Times New Roman" charset="0"/>
                  <a:sym typeface="Symbol" charset="0"/>
                </a:rPr>
                <a:t>5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149" name="Line 15"/>
            <p:cNvSpPr>
              <a:spLocks noChangeShapeType="1"/>
            </p:cNvSpPr>
            <p:nvPr/>
          </p:nvSpPr>
          <p:spPr bwMode="auto">
            <a:xfrm flipV="1">
              <a:off x="1485528" y="2852936"/>
              <a:ext cx="782216" cy="4236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50" name="Line 17"/>
            <p:cNvSpPr>
              <a:spLocks noChangeShapeType="1"/>
            </p:cNvSpPr>
            <p:nvPr/>
          </p:nvSpPr>
          <p:spPr bwMode="auto">
            <a:xfrm>
              <a:off x="1485528" y="3581400"/>
              <a:ext cx="782216" cy="495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51" name="Line 21"/>
            <p:cNvSpPr>
              <a:spLocks noChangeShapeType="1"/>
            </p:cNvSpPr>
            <p:nvPr/>
          </p:nvSpPr>
          <p:spPr bwMode="auto">
            <a:xfrm flipV="1">
              <a:off x="2699792" y="4221088"/>
              <a:ext cx="838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52" name="Line 22"/>
            <p:cNvSpPr>
              <a:spLocks noChangeShapeType="1"/>
            </p:cNvSpPr>
            <p:nvPr/>
          </p:nvSpPr>
          <p:spPr bwMode="auto">
            <a:xfrm flipV="1">
              <a:off x="2699792" y="2708920"/>
              <a:ext cx="838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53" name="Line 23"/>
            <p:cNvSpPr>
              <a:spLocks noChangeShapeType="1"/>
            </p:cNvSpPr>
            <p:nvPr/>
          </p:nvSpPr>
          <p:spPr bwMode="auto">
            <a:xfrm>
              <a:off x="3707904" y="2924944"/>
              <a:ext cx="0" cy="10081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54" name="Line 25"/>
            <p:cNvSpPr>
              <a:spLocks noChangeShapeType="1"/>
            </p:cNvSpPr>
            <p:nvPr/>
          </p:nvSpPr>
          <p:spPr bwMode="auto">
            <a:xfrm flipV="1">
              <a:off x="3923928" y="2924944"/>
              <a:ext cx="0" cy="10500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55" name="Text Box 32"/>
            <p:cNvSpPr txBox="1">
              <a:spLocks noChangeArrowheads="1"/>
            </p:cNvSpPr>
            <p:nvPr/>
          </p:nvSpPr>
          <p:spPr bwMode="auto">
            <a:xfrm>
              <a:off x="2987824" y="4149080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>
                  <a:latin typeface="Times New Roman" charset="0"/>
                </a:rPr>
                <a:t>2</a:t>
              </a:r>
            </a:p>
          </p:txBody>
        </p:sp>
        <p:sp>
          <p:nvSpPr>
            <p:cNvPr id="156" name="Text Box 36"/>
            <p:cNvSpPr txBox="1">
              <a:spLocks noChangeArrowheads="1"/>
            </p:cNvSpPr>
            <p:nvPr/>
          </p:nvSpPr>
          <p:spPr bwMode="auto">
            <a:xfrm>
              <a:off x="2915816" y="2348880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>
                  <a:latin typeface="Times New Roman" charset="0"/>
                </a:rPr>
                <a:t>1</a:t>
              </a:r>
            </a:p>
          </p:txBody>
        </p:sp>
        <p:sp>
          <p:nvSpPr>
            <p:cNvPr id="157" name="Text Box 37"/>
            <p:cNvSpPr txBox="1">
              <a:spLocks noChangeArrowheads="1"/>
            </p:cNvSpPr>
            <p:nvPr/>
          </p:nvSpPr>
          <p:spPr bwMode="auto">
            <a:xfrm>
              <a:off x="1561728" y="3810000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>
                  <a:latin typeface="Times New Roman" charset="0"/>
                </a:rPr>
                <a:t>5</a:t>
              </a:r>
            </a:p>
          </p:txBody>
        </p:sp>
        <p:sp>
          <p:nvSpPr>
            <p:cNvPr id="158" name="Text Box 39"/>
            <p:cNvSpPr txBox="1">
              <a:spLocks noChangeArrowheads="1"/>
            </p:cNvSpPr>
            <p:nvPr/>
          </p:nvSpPr>
          <p:spPr bwMode="auto">
            <a:xfrm>
              <a:off x="1547664" y="2636912"/>
              <a:ext cx="44114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smtClean="0">
                  <a:latin typeface="Times New Roman" charset="0"/>
                </a:rPr>
                <a:t>10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159" name="Text Box 4"/>
            <p:cNvSpPr txBox="1">
              <a:spLocks noChangeArrowheads="1"/>
            </p:cNvSpPr>
            <p:nvPr/>
          </p:nvSpPr>
          <p:spPr bwMode="auto">
            <a:xfrm>
              <a:off x="2339752" y="2132856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err="1">
                  <a:latin typeface="Times New Roman" charset="0"/>
                </a:rPr>
                <a:t>a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160" name="Text Box 4"/>
            <p:cNvSpPr txBox="1">
              <a:spLocks noChangeArrowheads="1"/>
            </p:cNvSpPr>
            <p:nvPr/>
          </p:nvSpPr>
          <p:spPr bwMode="auto">
            <a:xfrm>
              <a:off x="3635896" y="2132856"/>
              <a:ext cx="3600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err="1">
                  <a:latin typeface="Times New Roman" charset="0"/>
                </a:rPr>
                <a:t>b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161" name="Text Box 4"/>
            <p:cNvSpPr txBox="1">
              <a:spLocks noChangeArrowheads="1"/>
            </p:cNvSpPr>
            <p:nvPr/>
          </p:nvSpPr>
          <p:spPr bwMode="auto">
            <a:xfrm>
              <a:off x="2339752" y="4293096"/>
              <a:ext cx="30008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err="1">
                  <a:latin typeface="Times New Roman" charset="0"/>
                </a:rPr>
                <a:t>e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162" name="Text Box 4"/>
            <p:cNvSpPr txBox="1">
              <a:spLocks noChangeArrowheads="1"/>
            </p:cNvSpPr>
            <p:nvPr/>
          </p:nvSpPr>
          <p:spPr bwMode="auto">
            <a:xfrm>
              <a:off x="3707904" y="4293096"/>
              <a:ext cx="30008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err="1">
                  <a:latin typeface="Times New Roman" charset="0"/>
                </a:rPr>
                <a:t>f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163" name="Line 25"/>
            <p:cNvSpPr>
              <a:spLocks noChangeShapeType="1"/>
            </p:cNvSpPr>
            <p:nvPr/>
          </p:nvSpPr>
          <p:spPr bwMode="auto">
            <a:xfrm flipV="1">
              <a:off x="2627784" y="2924944"/>
              <a:ext cx="1080120" cy="10500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64" name="Line 23"/>
            <p:cNvSpPr>
              <a:spLocks noChangeShapeType="1"/>
            </p:cNvSpPr>
            <p:nvPr/>
          </p:nvSpPr>
          <p:spPr bwMode="auto">
            <a:xfrm>
              <a:off x="2411760" y="2924944"/>
              <a:ext cx="0" cy="10081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65" name="Line 25"/>
            <p:cNvSpPr>
              <a:spLocks noChangeShapeType="1"/>
            </p:cNvSpPr>
            <p:nvPr/>
          </p:nvSpPr>
          <p:spPr bwMode="auto">
            <a:xfrm flipV="1">
              <a:off x="2627784" y="2924944"/>
              <a:ext cx="0" cy="10500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66" name="Line 25"/>
            <p:cNvSpPr>
              <a:spLocks noChangeShapeType="1"/>
            </p:cNvSpPr>
            <p:nvPr/>
          </p:nvSpPr>
          <p:spPr bwMode="auto">
            <a:xfrm flipH="1" flipV="1">
              <a:off x="1547664" y="3501008"/>
              <a:ext cx="2016224" cy="6480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67" name="Text Box 32"/>
            <p:cNvSpPr txBox="1">
              <a:spLocks noChangeArrowheads="1"/>
            </p:cNvSpPr>
            <p:nvPr/>
          </p:nvSpPr>
          <p:spPr bwMode="auto">
            <a:xfrm>
              <a:off x="2123728" y="3068960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>
                  <a:latin typeface="Times New Roman" charset="0"/>
                </a:rPr>
                <a:t>2</a:t>
              </a:r>
            </a:p>
          </p:txBody>
        </p:sp>
        <p:sp>
          <p:nvSpPr>
            <p:cNvPr id="168" name="Text Box 32"/>
            <p:cNvSpPr txBox="1">
              <a:spLocks noChangeArrowheads="1"/>
            </p:cNvSpPr>
            <p:nvPr/>
          </p:nvSpPr>
          <p:spPr bwMode="auto">
            <a:xfrm>
              <a:off x="2627784" y="3068960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smtClean="0">
                  <a:latin typeface="Times New Roman" charset="0"/>
                </a:rPr>
                <a:t>3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169" name="Text Box 32"/>
            <p:cNvSpPr txBox="1">
              <a:spLocks noChangeArrowheads="1"/>
            </p:cNvSpPr>
            <p:nvPr/>
          </p:nvSpPr>
          <p:spPr bwMode="auto">
            <a:xfrm>
              <a:off x="3131840" y="2924944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smtClean="0">
                  <a:latin typeface="Times New Roman" charset="0"/>
                </a:rPr>
                <a:t>9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170" name="Text Box 32"/>
            <p:cNvSpPr txBox="1">
              <a:spLocks noChangeArrowheads="1"/>
            </p:cNvSpPr>
            <p:nvPr/>
          </p:nvSpPr>
          <p:spPr bwMode="auto">
            <a:xfrm>
              <a:off x="3419872" y="3284984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smtClean="0">
                  <a:latin typeface="Times New Roman" charset="0"/>
                </a:rPr>
                <a:t>4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171" name="Text Box 32"/>
            <p:cNvSpPr txBox="1">
              <a:spLocks noChangeArrowheads="1"/>
            </p:cNvSpPr>
            <p:nvPr/>
          </p:nvSpPr>
          <p:spPr bwMode="auto">
            <a:xfrm>
              <a:off x="3851920" y="3284984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>
                  <a:latin typeface="Times New Roman" charset="0"/>
                </a:rPr>
                <a:t>6</a:t>
              </a:r>
            </a:p>
          </p:txBody>
        </p:sp>
        <p:sp>
          <p:nvSpPr>
            <p:cNvPr id="172" name="Text Box 32"/>
            <p:cNvSpPr txBox="1">
              <a:spLocks noChangeArrowheads="1"/>
            </p:cNvSpPr>
            <p:nvPr/>
          </p:nvSpPr>
          <p:spPr bwMode="auto">
            <a:xfrm>
              <a:off x="3059832" y="3645024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smtClean="0">
                  <a:latin typeface="Times New Roman" charset="0"/>
                </a:rPr>
                <a:t>7</a:t>
              </a:r>
              <a:endParaRPr lang="it-IT" sz="2000" b="1" dirty="0">
                <a:latin typeface="Times New Roman" charset="0"/>
              </a:endParaRPr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CB7864-E48A-A24E-9D04-923EB4B5302D}" type="slidenum">
              <a:rPr lang="en-US" smtClean="0"/>
              <a:t>35</a:t>
            </a:fld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467544" y="1916832"/>
            <a:ext cx="3337242" cy="2560350"/>
            <a:chOff x="827584" y="2132856"/>
            <a:chExt cx="3337242" cy="2560350"/>
          </a:xfrm>
        </p:grpSpPr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827584" y="3212976"/>
              <a:ext cx="28447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err="1">
                  <a:latin typeface="Times New Roman" charset="0"/>
                </a:rPr>
                <a:t>s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7" name="Oval 5"/>
            <p:cNvSpPr>
              <a:spLocks noChangeArrowheads="1"/>
            </p:cNvSpPr>
            <p:nvPr/>
          </p:nvSpPr>
          <p:spPr bwMode="auto">
            <a:xfrm>
              <a:off x="2243336" y="2493640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000" b="1" dirty="0" smtClean="0">
                  <a:latin typeface="Times New Roman" charset="0"/>
                  <a:sym typeface="Symbol" charset="0"/>
                </a:rPr>
                <a:t>8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8" name="Oval 10"/>
            <p:cNvSpPr>
              <a:spLocks noChangeArrowheads="1"/>
            </p:cNvSpPr>
            <p:nvPr/>
          </p:nvSpPr>
          <p:spPr bwMode="auto">
            <a:xfrm>
              <a:off x="3563888" y="3933056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000" b="1" dirty="0" smtClean="0">
                  <a:latin typeface="Times New Roman" charset="0"/>
                  <a:sym typeface="Symbol" charset="0"/>
                </a:rPr>
                <a:t>7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3563888" y="2492896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000" b="1" dirty="0" smtClean="0">
                  <a:latin typeface="Times New Roman" charset="0"/>
                  <a:sym typeface="Symbol" charset="0"/>
                </a:rPr>
                <a:t>9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1104528" y="3200400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000" b="1">
                  <a:latin typeface="Times New Roman" charset="0"/>
                  <a:sym typeface="Symbol" charset="0"/>
                </a:rPr>
                <a:t>0</a:t>
              </a:r>
              <a:endParaRPr lang="it-IT" sz="2000" b="1">
                <a:latin typeface="Times New Roman" charset="0"/>
              </a:endParaRPr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2267744" y="3933056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000" b="1" dirty="0" smtClean="0">
                  <a:latin typeface="Times New Roman" charset="0"/>
                  <a:sym typeface="Symbol" charset="0"/>
                </a:rPr>
                <a:t>5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12" name="Line 15"/>
            <p:cNvSpPr>
              <a:spLocks noChangeShapeType="1"/>
            </p:cNvSpPr>
            <p:nvPr/>
          </p:nvSpPr>
          <p:spPr bwMode="auto">
            <a:xfrm flipV="1">
              <a:off x="1485528" y="2852936"/>
              <a:ext cx="782216" cy="4236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3" name="Line 17"/>
            <p:cNvSpPr>
              <a:spLocks noChangeShapeType="1"/>
            </p:cNvSpPr>
            <p:nvPr/>
          </p:nvSpPr>
          <p:spPr bwMode="auto">
            <a:xfrm>
              <a:off x="1485528" y="3581400"/>
              <a:ext cx="782216" cy="495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4" name="Line 21"/>
            <p:cNvSpPr>
              <a:spLocks noChangeShapeType="1"/>
            </p:cNvSpPr>
            <p:nvPr/>
          </p:nvSpPr>
          <p:spPr bwMode="auto">
            <a:xfrm flipV="1">
              <a:off x="2699792" y="4221088"/>
              <a:ext cx="838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5" name="Line 22"/>
            <p:cNvSpPr>
              <a:spLocks noChangeShapeType="1"/>
            </p:cNvSpPr>
            <p:nvPr/>
          </p:nvSpPr>
          <p:spPr bwMode="auto">
            <a:xfrm flipV="1">
              <a:off x="2699792" y="2708920"/>
              <a:ext cx="838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6" name="Line 23"/>
            <p:cNvSpPr>
              <a:spLocks noChangeShapeType="1"/>
            </p:cNvSpPr>
            <p:nvPr/>
          </p:nvSpPr>
          <p:spPr bwMode="auto">
            <a:xfrm>
              <a:off x="3707904" y="2924944"/>
              <a:ext cx="0" cy="10081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7" name="Line 25"/>
            <p:cNvSpPr>
              <a:spLocks noChangeShapeType="1"/>
            </p:cNvSpPr>
            <p:nvPr/>
          </p:nvSpPr>
          <p:spPr bwMode="auto">
            <a:xfrm flipV="1">
              <a:off x="3923928" y="2924944"/>
              <a:ext cx="0" cy="10500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8" name="Text Box 32"/>
            <p:cNvSpPr txBox="1">
              <a:spLocks noChangeArrowheads="1"/>
            </p:cNvSpPr>
            <p:nvPr/>
          </p:nvSpPr>
          <p:spPr bwMode="auto">
            <a:xfrm>
              <a:off x="2987824" y="4149080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>
                  <a:latin typeface="Times New Roman" charset="0"/>
                </a:rPr>
                <a:t>2</a:t>
              </a:r>
            </a:p>
          </p:txBody>
        </p:sp>
        <p:sp>
          <p:nvSpPr>
            <p:cNvPr id="19" name="Text Box 36"/>
            <p:cNvSpPr txBox="1">
              <a:spLocks noChangeArrowheads="1"/>
            </p:cNvSpPr>
            <p:nvPr/>
          </p:nvSpPr>
          <p:spPr bwMode="auto">
            <a:xfrm>
              <a:off x="2915816" y="2348880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>
                  <a:latin typeface="Times New Roman" charset="0"/>
                </a:rPr>
                <a:t>1</a:t>
              </a:r>
            </a:p>
          </p:txBody>
        </p:sp>
        <p:sp>
          <p:nvSpPr>
            <p:cNvPr id="20" name="Text Box 37"/>
            <p:cNvSpPr txBox="1">
              <a:spLocks noChangeArrowheads="1"/>
            </p:cNvSpPr>
            <p:nvPr/>
          </p:nvSpPr>
          <p:spPr bwMode="auto">
            <a:xfrm>
              <a:off x="1561728" y="3810000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>
                  <a:latin typeface="Times New Roman" charset="0"/>
                </a:rPr>
                <a:t>5</a:t>
              </a:r>
            </a:p>
          </p:txBody>
        </p:sp>
        <p:sp>
          <p:nvSpPr>
            <p:cNvPr id="21" name="Text Box 39"/>
            <p:cNvSpPr txBox="1">
              <a:spLocks noChangeArrowheads="1"/>
            </p:cNvSpPr>
            <p:nvPr/>
          </p:nvSpPr>
          <p:spPr bwMode="auto">
            <a:xfrm>
              <a:off x="1547664" y="2636912"/>
              <a:ext cx="44114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smtClean="0">
                  <a:latin typeface="Times New Roman" charset="0"/>
                </a:rPr>
                <a:t>10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22" name="Text Box 4"/>
            <p:cNvSpPr txBox="1">
              <a:spLocks noChangeArrowheads="1"/>
            </p:cNvSpPr>
            <p:nvPr/>
          </p:nvSpPr>
          <p:spPr bwMode="auto">
            <a:xfrm>
              <a:off x="2339752" y="2132856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err="1">
                  <a:latin typeface="Times New Roman" charset="0"/>
                </a:rPr>
                <a:t>a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23" name="Text Box 4"/>
            <p:cNvSpPr txBox="1">
              <a:spLocks noChangeArrowheads="1"/>
            </p:cNvSpPr>
            <p:nvPr/>
          </p:nvSpPr>
          <p:spPr bwMode="auto">
            <a:xfrm>
              <a:off x="3635896" y="2132856"/>
              <a:ext cx="3600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err="1">
                  <a:latin typeface="Times New Roman" charset="0"/>
                </a:rPr>
                <a:t>b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24" name="Text Box 4"/>
            <p:cNvSpPr txBox="1">
              <a:spLocks noChangeArrowheads="1"/>
            </p:cNvSpPr>
            <p:nvPr/>
          </p:nvSpPr>
          <p:spPr bwMode="auto">
            <a:xfrm>
              <a:off x="2339752" y="4293096"/>
              <a:ext cx="30008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err="1">
                  <a:latin typeface="Times New Roman" charset="0"/>
                </a:rPr>
                <a:t>e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25" name="Text Box 4"/>
            <p:cNvSpPr txBox="1">
              <a:spLocks noChangeArrowheads="1"/>
            </p:cNvSpPr>
            <p:nvPr/>
          </p:nvSpPr>
          <p:spPr bwMode="auto">
            <a:xfrm>
              <a:off x="3707904" y="4293096"/>
              <a:ext cx="30008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err="1">
                  <a:latin typeface="Times New Roman" charset="0"/>
                </a:rPr>
                <a:t>f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26" name="Line 25"/>
            <p:cNvSpPr>
              <a:spLocks noChangeShapeType="1"/>
            </p:cNvSpPr>
            <p:nvPr/>
          </p:nvSpPr>
          <p:spPr bwMode="auto">
            <a:xfrm flipV="1">
              <a:off x="2627784" y="2924944"/>
              <a:ext cx="1080120" cy="10500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7" name="Line 23"/>
            <p:cNvSpPr>
              <a:spLocks noChangeShapeType="1"/>
            </p:cNvSpPr>
            <p:nvPr/>
          </p:nvSpPr>
          <p:spPr bwMode="auto">
            <a:xfrm>
              <a:off x="2411760" y="2924944"/>
              <a:ext cx="0" cy="10081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8" name="Line 25"/>
            <p:cNvSpPr>
              <a:spLocks noChangeShapeType="1"/>
            </p:cNvSpPr>
            <p:nvPr/>
          </p:nvSpPr>
          <p:spPr bwMode="auto">
            <a:xfrm flipV="1">
              <a:off x="2627784" y="2924944"/>
              <a:ext cx="0" cy="10500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9" name="Line 25"/>
            <p:cNvSpPr>
              <a:spLocks noChangeShapeType="1"/>
            </p:cNvSpPr>
            <p:nvPr/>
          </p:nvSpPr>
          <p:spPr bwMode="auto">
            <a:xfrm flipH="1" flipV="1">
              <a:off x="1547664" y="3501008"/>
              <a:ext cx="2016224" cy="6480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0" name="Text Box 32"/>
            <p:cNvSpPr txBox="1">
              <a:spLocks noChangeArrowheads="1"/>
            </p:cNvSpPr>
            <p:nvPr/>
          </p:nvSpPr>
          <p:spPr bwMode="auto">
            <a:xfrm>
              <a:off x="2123728" y="3068960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>
                  <a:latin typeface="Times New Roman" charset="0"/>
                </a:rPr>
                <a:t>2</a:t>
              </a:r>
            </a:p>
          </p:txBody>
        </p:sp>
        <p:sp>
          <p:nvSpPr>
            <p:cNvPr id="31" name="Text Box 32"/>
            <p:cNvSpPr txBox="1">
              <a:spLocks noChangeArrowheads="1"/>
            </p:cNvSpPr>
            <p:nvPr/>
          </p:nvSpPr>
          <p:spPr bwMode="auto">
            <a:xfrm>
              <a:off x="2627784" y="3068960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smtClean="0">
                  <a:latin typeface="Times New Roman" charset="0"/>
                </a:rPr>
                <a:t>3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32" name="Text Box 32"/>
            <p:cNvSpPr txBox="1">
              <a:spLocks noChangeArrowheads="1"/>
            </p:cNvSpPr>
            <p:nvPr/>
          </p:nvSpPr>
          <p:spPr bwMode="auto">
            <a:xfrm>
              <a:off x="3131840" y="2924944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smtClean="0">
                  <a:latin typeface="Times New Roman" charset="0"/>
                </a:rPr>
                <a:t>9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33" name="Text Box 32"/>
            <p:cNvSpPr txBox="1">
              <a:spLocks noChangeArrowheads="1"/>
            </p:cNvSpPr>
            <p:nvPr/>
          </p:nvSpPr>
          <p:spPr bwMode="auto">
            <a:xfrm>
              <a:off x="3419872" y="3284984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smtClean="0">
                  <a:latin typeface="Times New Roman" charset="0"/>
                </a:rPr>
                <a:t>4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34" name="Text Box 32"/>
            <p:cNvSpPr txBox="1">
              <a:spLocks noChangeArrowheads="1"/>
            </p:cNvSpPr>
            <p:nvPr/>
          </p:nvSpPr>
          <p:spPr bwMode="auto">
            <a:xfrm>
              <a:off x="3851920" y="3284984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>
                  <a:latin typeface="Times New Roman" charset="0"/>
                </a:rPr>
                <a:t>6</a:t>
              </a:r>
            </a:p>
          </p:txBody>
        </p:sp>
        <p:sp>
          <p:nvSpPr>
            <p:cNvPr id="35" name="Text Box 32"/>
            <p:cNvSpPr txBox="1">
              <a:spLocks noChangeArrowheads="1"/>
            </p:cNvSpPr>
            <p:nvPr/>
          </p:nvSpPr>
          <p:spPr bwMode="auto">
            <a:xfrm>
              <a:off x="3059832" y="3645024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smtClean="0">
                  <a:latin typeface="Times New Roman" charset="0"/>
                </a:rPr>
                <a:t>7</a:t>
              </a:r>
              <a:endParaRPr lang="it-IT" sz="2000" b="1" dirty="0">
                <a:latin typeface="Times New Roman" charset="0"/>
              </a:endParaRP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5076056" y="1916832"/>
            <a:ext cx="3337242" cy="2560350"/>
            <a:chOff x="827584" y="2132856"/>
            <a:chExt cx="3337242" cy="2560350"/>
          </a:xfrm>
        </p:grpSpPr>
        <p:sp>
          <p:nvSpPr>
            <p:cNvPr id="37" name="Text Box 4"/>
            <p:cNvSpPr txBox="1">
              <a:spLocks noChangeArrowheads="1"/>
            </p:cNvSpPr>
            <p:nvPr/>
          </p:nvSpPr>
          <p:spPr bwMode="auto">
            <a:xfrm>
              <a:off x="827584" y="3212976"/>
              <a:ext cx="28447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err="1">
                  <a:latin typeface="Times New Roman" charset="0"/>
                </a:rPr>
                <a:t>s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38" name="Oval 5"/>
            <p:cNvSpPr>
              <a:spLocks noChangeArrowheads="1"/>
            </p:cNvSpPr>
            <p:nvPr/>
          </p:nvSpPr>
          <p:spPr bwMode="auto">
            <a:xfrm>
              <a:off x="2243336" y="2493640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000" b="1" dirty="0" smtClean="0">
                  <a:latin typeface="Times New Roman" charset="0"/>
                  <a:sym typeface="Symbol" charset="0"/>
                </a:rPr>
                <a:t>8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39" name="Oval 10"/>
            <p:cNvSpPr>
              <a:spLocks noChangeArrowheads="1"/>
            </p:cNvSpPr>
            <p:nvPr/>
          </p:nvSpPr>
          <p:spPr bwMode="auto">
            <a:xfrm>
              <a:off x="3563888" y="3933056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000" b="1" dirty="0" smtClean="0">
                  <a:latin typeface="Times New Roman" charset="0"/>
                  <a:sym typeface="Symbol" charset="0"/>
                </a:rPr>
                <a:t>7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40" name="Oval 12"/>
            <p:cNvSpPr>
              <a:spLocks noChangeArrowheads="1"/>
            </p:cNvSpPr>
            <p:nvPr/>
          </p:nvSpPr>
          <p:spPr bwMode="auto">
            <a:xfrm>
              <a:off x="3563888" y="2492896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000" b="1" dirty="0" smtClean="0">
                  <a:latin typeface="Times New Roman" charset="0"/>
                  <a:sym typeface="Symbol" charset="0"/>
                </a:rPr>
                <a:t>9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41" name="Oval 13"/>
            <p:cNvSpPr>
              <a:spLocks noChangeArrowheads="1"/>
            </p:cNvSpPr>
            <p:nvPr/>
          </p:nvSpPr>
          <p:spPr bwMode="auto">
            <a:xfrm>
              <a:off x="1104528" y="3200400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000" b="1">
                  <a:latin typeface="Times New Roman" charset="0"/>
                  <a:sym typeface="Symbol" charset="0"/>
                </a:rPr>
                <a:t>0</a:t>
              </a:r>
              <a:endParaRPr lang="it-IT" sz="2000" b="1">
                <a:latin typeface="Times New Roman" charset="0"/>
              </a:endParaRPr>
            </a:p>
          </p:txBody>
        </p:sp>
        <p:sp>
          <p:nvSpPr>
            <p:cNvPr id="42" name="Oval 14"/>
            <p:cNvSpPr>
              <a:spLocks noChangeArrowheads="1"/>
            </p:cNvSpPr>
            <p:nvPr/>
          </p:nvSpPr>
          <p:spPr bwMode="auto">
            <a:xfrm>
              <a:off x="2267744" y="3933056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it-IT" sz="2000" b="1" dirty="0" smtClean="0">
                  <a:latin typeface="Times New Roman" charset="0"/>
                  <a:sym typeface="Symbol" charset="0"/>
                </a:rPr>
                <a:t>5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43" name="Line 15"/>
            <p:cNvSpPr>
              <a:spLocks noChangeShapeType="1"/>
            </p:cNvSpPr>
            <p:nvPr/>
          </p:nvSpPr>
          <p:spPr bwMode="auto">
            <a:xfrm flipV="1">
              <a:off x="1485528" y="2852936"/>
              <a:ext cx="782216" cy="4236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4" name="Line 17"/>
            <p:cNvSpPr>
              <a:spLocks noChangeShapeType="1"/>
            </p:cNvSpPr>
            <p:nvPr/>
          </p:nvSpPr>
          <p:spPr bwMode="auto">
            <a:xfrm>
              <a:off x="1485528" y="3581400"/>
              <a:ext cx="782216" cy="495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5" name="Line 21"/>
            <p:cNvSpPr>
              <a:spLocks noChangeShapeType="1"/>
            </p:cNvSpPr>
            <p:nvPr/>
          </p:nvSpPr>
          <p:spPr bwMode="auto">
            <a:xfrm flipV="1">
              <a:off x="2699792" y="4221088"/>
              <a:ext cx="838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6" name="Line 22"/>
            <p:cNvSpPr>
              <a:spLocks noChangeShapeType="1"/>
            </p:cNvSpPr>
            <p:nvPr/>
          </p:nvSpPr>
          <p:spPr bwMode="auto">
            <a:xfrm flipV="1">
              <a:off x="2699792" y="2708920"/>
              <a:ext cx="838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7" name="Line 23"/>
            <p:cNvSpPr>
              <a:spLocks noChangeShapeType="1"/>
            </p:cNvSpPr>
            <p:nvPr/>
          </p:nvSpPr>
          <p:spPr bwMode="auto">
            <a:xfrm>
              <a:off x="3707904" y="2924944"/>
              <a:ext cx="0" cy="10081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8" name="Line 25"/>
            <p:cNvSpPr>
              <a:spLocks noChangeShapeType="1"/>
            </p:cNvSpPr>
            <p:nvPr/>
          </p:nvSpPr>
          <p:spPr bwMode="auto">
            <a:xfrm flipV="1">
              <a:off x="3923928" y="2924944"/>
              <a:ext cx="0" cy="10500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9" name="Text Box 32"/>
            <p:cNvSpPr txBox="1">
              <a:spLocks noChangeArrowheads="1"/>
            </p:cNvSpPr>
            <p:nvPr/>
          </p:nvSpPr>
          <p:spPr bwMode="auto">
            <a:xfrm>
              <a:off x="2987824" y="4149080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>
                  <a:latin typeface="Times New Roman" charset="0"/>
                </a:rPr>
                <a:t>2</a:t>
              </a:r>
            </a:p>
          </p:txBody>
        </p:sp>
        <p:sp>
          <p:nvSpPr>
            <p:cNvPr id="50" name="Text Box 36"/>
            <p:cNvSpPr txBox="1">
              <a:spLocks noChangeArrowheads="1"/>
            </p:cNvSpPr>
            <p:nvPr/>
          </p:nvSpPr>
          <p:spPr bwMode="auto">
            <a:xfrm>
              <a:off x="2915816" y="2348880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>
                  <a:latin typeface="Times New Roman" charset="0"/>
                </a:rPr>
                <a:t>1</a:t>
              </a:r>
            </a:p>
          </p:txBody>
        </p:sp>
        <p:sp>
          <p:nvSpPr>
            <p:cNvPr id="51" name="Text Box 37"/>
            <p:cNvSpPr txBox="1">
              <a:spLocks noChangeArrowheads="1"/>
            </p:cNvSpPr>
            <p:nvPr/>
          </p:nvSpPr>
          <p:spPr bwMode="auto">
            <a:xfrm>
              <a:off x="1561728" y="3810000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>
                  <a:latin typeface="Times New Roman" charset="0"/>
                </a:rPr>
                <a:t>5</a:t>
              </a:r>
            </a:p>
          </p:txBody>
        </p:sp>
        <p:sp>
          <p:nvSpPr>
            <p:cNvPr id="52" name="Text Box 39"/>
            <p:cNvSpPr txBox="1">
              <a:spLocks noChangeArrowheads="1"/>
            </p:cNvSpPr>
            <p:nvPr/>
          </p:nvSpPr>
          <p:spPr bwMode="auto">
            <a:xfrm>
              <a:off x="1547664" y="2636912"/>
              <a:ext cx="44114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smtClean="0">
                  <a:latin typeface="Times New Roman" charset="0"/>
                </a:rPr>
                <a:t>10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53" name="Text Box 4"/>
            <p:cNvSpPr txBox="1">
              <a:spLocks noChangeArrowheads="1"/>
            </p:cNvSpPr>
            <p:nvPr/>
          </p:nvSpPr>
          <p:spPr bwMode="auto">
            <a:xfrm>
              <a:off x="2339752" y="2132856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err="1">
                  <a:latin typeface="Times New Roman" charset="0"/>
                </a:rPr>
                <a:t>a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54" name="Text Box 4"/>
            <p:cNvSpPr txBox="1">
              <a:spLocks noChangeArrowheads="1"/>
            </p:cNvSpPr>
            <p:nvPr/>
          </p:nvSpPr>
          <p:spPr bwMode="auto">
            <a:xfrm>
              <a:off x="3635896" y="2132856"/>
              <a:ext cx="3600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err="1">
                  <a:latin typeface="Times New Roman" charset="0"/>
                </a:rPr>
                <a:t>b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55" name="Text Box 4"/>
            <p:cNvSpPr txBox="1">
              <a:spLocks noChangeArrowheads="1"/>
            </p:cNvSpPr>
            <p:nvPr/>
          </p:nvSpPr>
          <p:spPr bwMode="auto">
            <a:xfrm>
              <a:off x="2339752" y="4293096"/>
              <a:ext cx="30008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err="1">
                  <a:latin typeface="Times New Roman" charset="0"/>
                </a:rPr>
                <a:t>e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56" name="Text Box 4"/>
            <p:cNvSpPr txBox="1">
              <a:spLocks noChangeArrowheads="1"/>
            </p:cNvSpPr>
            <p:nvPr/>
          </p:nvSpPr>
          <p:spPr bwMode="auto">
            <a:xfrm>
              <a:off x="3707904" y="4293096"/>
              <a:ext cx="30008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err="1">
                  <a:latin typeface="Times New Roman" charset="0"/>
                </a:rPr>
                <a:t>f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57" name="Line 25"/>
            <p:cNvSpPr>
              <a:spLocks noChangeShapeType="1"/>
            </p:cNvSpPr>
            <p:nvPr/>
          </p:nvSpPr>
          <p:spPr bwMode="auto">
            <a:xfrm flipV="1">
              <a:off x="2627784" y="2924944"/>
              <a:ext cx="1080120" cy="10500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58" name="Line 23"/>
            <p:cNvSpPr>
              <a:spLocks noChangeShapeType="1"/>
            </p:cNvSpPr>
            <p:nvPr/>
          </p:nvSpPr>
          <p:spPr bwMode="auto">
            <a:xfrm>
              <a:off x="2411760" y="2924944"/>
              <a:ext cx="0" cy="10081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59" name="Line 25"/>
            <p:cNvSpPr>
              <a:spLocks noChangeShapeType="1"/>
            </p:cNvSpPr>
            <p:nvPr/>
          </p:nvSpPr>
          <p:spPr bwMode="auto">
            <a:xfrm flipV="1">
              <a:off x="2627784" y="2924944"/>
              <a:ext cx="0" cy="10500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60" name="Line 25"/>
            <p:cNvSpPr>
              <a:spLocks noChangeShapeType="1"/>
            </p:cNvSpPr>
            <p:nvPr/>
          </p:nvSpPr>
          <p:spPr bwMode="auto">
            <a:xfrm flipH="1" flipV="1">
              <a:off x="1547664" y="3501008"/>
              <a:ext cx="2016224" cy="6480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61" name="Text Box 32"/>
            <p:cNvSpPr txBox="1">
              <a:spLocks noChangeArrowheads="1"/>
            </p:cNvSpPr>
            <p:nvPr/>
          </p:nvSpPr>
          <p:spPr bwMode="auto">
            <a:xfrm>
              <a:off x="2123728" y="3068960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>
                  <a:latin typeface="Times New Roman" charset="0"/>
                </a:rPr>
                <a:t>2</a:t>
              </a:r>
            </a:p>
          </p:txBody>
        </p:sp>
        <p:sp>
          <p:nvSpPr>
            <p:cNvPr id="62" name="Text Box 32"/>
            <p:cNvSpPr txBox="1">
              <a:spLocks noChangeArrowheads="1"/>
            </p:cNvSpPr>
            <p:nvPr/>
          </p:nvSpPr>
          <p:spPr bwMode="auto">
            <a:xfrm>
              <a:off x="2627784" y="3068960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smtClean="0">
                  <a:latin typeface="Times New Roman" charset="0"/>
                </a:rPr>
                <a:t>3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63" name="Text Box 32"/>
            <p:cNvSpPr txBox="1">
              <a:spLocks noChangeArrowheads="1"/>
            </p:cNvSpPr>
            <p:nvPr/>
          </p:nvSpPr>
          <p:spPr bwMode="auto">
            <a:xfrm>
              <a:off x="3131840" y="2924944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smtClean="0">
                  <a:latin typeface="Times New Roman" charset="0"/>
                </a:rPr>
                <a:t>9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64" name="Text Box 32"/>
            <p:cNvSpPr txBox="1">
              <a:spLocks noChangeArrowheads="1"/>
            </p:cNvSpPr>
            <p:nvPr/>
          </p:nvSpPr>
          <p:spPr bwMode="auto">
            <a:xfrm>
              <a:off x="3419872" y="3284984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smtClean="0">
                  <a:latin typeface="Times New Roman" charset="0"/>
                </a:rPr>
                <a:t>4</a:t>
              </a:r>
              <a:endParaRPr lang="it-IT" sz="2000" b="1" dirty="0">
                <a:latin typeface="Times New Roman" charset="0"/>
              </a:endParaRPr>
            </a:p>
          </p:txBody>
        </p:sp>
        <p:sp>
          <p:nvSpPr>
            <p:cNvPr id="65" name="Text Box 32"/>
            <p:cNvSpPr txBox="1">
              <a:spLocks noChangeArrowheads="1"/>
            </p:cNvSpPr>
            <p:nvPr/>
          </p:nvSpPr>
          <p:spPr bwMode="auto">
            <a:xfrm>
              <a:off x="3851920" y="3284984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>
                  <a:latin typeface="Times New Roman" charset="0"/>
                </a:rPr>
                <a:t>6</a:t>
              </a:r>
            </a:p>
          </p:txBody>
        </p:sp>
        <p:sp>
          <p:nvSpPr>
            <p:cNvPr id="66" name="Text Box 32"/>
            <p:cNvSpPr txBox="1">
              <a:spLocks noChangeArrowheads="1"/>
            </p:cNvSpPr>
            <p:nvPr/>
          </p:nvSpPr>
          <p:spPr bwMode="auto">
            <a:xfrm>
              <a:off x="3059832" y="3645024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it-IT" sz="2000" b="1" dirty="0" smtClean="0">
                  <a:latin typeface="Times New Roman" charset="0"/>
                </a:rPr>
                <a:t>7</a:t>
              </a:r>
              <a:endParaRPr lang="it-IT" sz="2000" b="1" dirty="0">
                <a:latin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96345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Complessità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Inizializzazione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FF0000"/>
                </a:solidFill>
              </a:rPr>
              <a:t>2n+1</a:t>
            </a:r>
            <a:r>
              <a:rPr lang="en-US" dirty="0" smtClean="0"/>
              <a:t> </a:t>
            </a:r>
            <a:r>
              <a:rPr lang="en-US" dirty="0" err="1" smtClean="0"/>
              <a:t>assegnamenti</a:t>
            </a:r>
            <a:endParaRPr lang="en-US" dirty="0" smtClean="0"/>
          </a:p>
          <a:p>
            <a:r>
              <a:rPr lang="en-US" dirty="0" smtClean="0"/>
              <a:t>Riga 2: </a:t>
            </a:r>
            <a:r>
              <a:rPr lang="en-US" dirty="0" err="1" smtClean="0">
                <a:solidFill>
                  <a:srgbClr val="FF0000"/>
                </a:solidFill>
              </a:rPr>
              <a:t>una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/>
              <a:t>operazione</a:t>
            </a:r>
            <a:endParaRPr lang="en-US" dirty="0" smtClean="0"/>
          </a:p>
          <a:p>
            <a:r>
              <a:rPr lang="en-US" dirty="0" smtClean="0"/>
              <a:t>Riga 3: </a:t>
            </a:r>
            <a:r>
              <a:rPr lang="en-US" dirty="0" smtClean="0">
                <a:solidFill>
                  <a:srgbClr val="FF0000"/>
                </a:solidFill>
              </a:rPr>
              <a:t>n</a:t>
            </a:r>
            <a:r>
              <a:rPr lang="en-US" dirty="0" smtClean="0"/>
              <a:t> INSERT</a:t>
            </a:r>
          </a:p>
          <a:p>
            <a:r>
              <a:rPr lang="en-US" dirty="0" smtClean="0"/>
              <a:t>Riga 4: </a:t>
            </a:r>
            <a:r>
              <a:rPr lang="en-US" dirty="0" smtClean="0">
                <a:solidFill>
                  <a:srgbClr val="FF0000"/>
                </a:solidFill>
              </a:rPr>
              <a:t>un</a:t>
            </a:r>
            <a:r>
              <a:rPr lang="en-US" dirty="0" smtClean="0"/>
              <a:t> test</a:t>
            </a:r>
          </a:p>
          <a:p>
            <a:r>
              <a:rPr lang="en-US" dirty="0"/>
              <a:t>Riga </a:t>
            </a:r>
            <a:r>
              <a:rPr lang="en-US" dirty="0" smtClean="0"/>
              <a:t>5: </a:t>
            </a:r>
            <a:r>
              <a:rPr lang="en-US" dirty="0" smtClean="0">
                <a:solidFill>
                  <a:srgbClr val="FF0000"/>
                </a:solidFill>
              </a:rPr>
              <a:t>n</a:t>
            </a:r>
            <a:r>
              <a:rPr lang="en-US" dirty="0" smtClean="0"/>
              <a:t> EXTRACTMIN</a:t>
            </a:r>
          </a:p>
          <a:p>
            <a:r>
              <a:rPr lang="en-US" dirty="0"/>
              <a:t>Riga </a:t>
            </a:r>
            <a:r>
              <a:rPr lang="en-US" dirty="0" smtClean="0"/>
              <a:t>6: </a:t>
            </a:r>
            <a:r>
              <a:rPr lang="en-US" dirty="0" err="1" smtClean="0">
                <a:solidFill>
                  <a:srgbClr val="FF0000"/>
                </a:solidFill>
              </a:rPr>
              <a:t>una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/>
              <a:t>Unione</a:t>
            </a:r>
            <a:endParaRPr lang="en-US" dirty="0" smtClean="0"/>
          </a:p>
          <a:p>
            <a:r>
              <a:rPr lang="en-US" dirty="0"/>
              <a:t>Riga </a:t>
            </a:r>
            <a:r>
              <a:rPr lang="en-US" dirty="0" smtClean="0"/>
              <a:t>7-8: </a:t>
            </a:r>
            <a:r>
              <a:rPr lang="en-US" dirty="0" err="1" smtClean="0"/>
              <a:t>ogni</a:t>
            </a:r>
            <a:r>
              <a:rPr lang="en-US" dirty="0" smtClean="0"/>
              <a:t> </a:t>
            </a:r>
            <a:r>
              <a:rPr lang="en-US" dirty="0" err="1" smtClean="0"/>
              <a:t>arco</a:t>
            </a:r>
            <a:r>
              <a:rPr lang="en-US" dirty="0" smtClean="0"/>
              <a:t> </a:t>
            </a:r>
            <a:r>
              <a:rPr lang="en-US" dirty="0" err="1" smtClean="0"/>
              <a:t>viene</a:t>
            </a:r>
            <a:r>
              <a:rPr lang="en-US" dirty="0" smtClean="0"/>
              <a:t> </a:t>
            </a:r>
            <a:r>
              <a:rPr lang="en-US" dirty="0" err="1" smtClean="0"/>
              <a:t>esaminato</a:t>
            </a:r>
            <a:r>
              <a:rPr lang="en-US" dirty="0" smtClean="0"/>
              <a:t> </a:t>
            </a:r>
            <a:r>
              <a:rPr lang="en-US" dirty="0" err="1" smtClean="0"/>
              <a:t>esattamente</a:t>
            </a:r>
            <a:r>
              <a:rPr lang="en-US" dirty="0" smtClean="0"/>
              <a:t> </a:t>
            </a:r>
            <a:r>
              <a:rPr lang="en-US" dirty="0" err="1" smtClean="0"/>
              <a:t>una</a:t>
            </a:r>
            <a:r>
              <a:rPr lang="en-US" dirty="0" smtClean="0"/>
              <a:t> 		</a:t>
            </a:r>
            <a:r>
              <a:rPr lang="en-US" dirty="0" err="1" smtClean="0"/>
              <a:t>volta</a:t>
            </a:r>
            <a:r>
              <a:rPr lang="en-US" dirty="0" smtClean="0"/>
              <a:t>, </a:t>
            </a:r>
            <a:r>
              <a:rPr lang="en-US" dirty="0" err="1" smtClean="0"/>
              <a:t>quindi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|E|</a:t>
            </a:r>
            <a:r>
              <a:rPr lang="en-US" dirty="0" smtClean="0"/>
              <a:t> </a:t>
            </a:r>
            <a:r>
              <a:rPr lang="en-US" dirty="0" err="1" smtClean="0"/>
              <a:t>iterazioni</a:t>
            </a:r>
            <a:r>
              <a:rPr lang="en-US" dirty="0" smtClean="0"/>
              <a:t> e max </a:t>
            </a:r>
            <a:r>
              <a:rPr lang="en-US" dirty="0" smtClean="0">
                <a:solidFill>
                  <a:srgbClr val="FF0000"/>
                </a:solidFill>
              </a:rPr>
              <a:t>|E|</a:t>
            </a:r>
            <a:r>
              <a:rPr lang="en-US" dirty="0" smtClean="0"/>
              <a:t> Update-		key (</a:t>
            </a:r>
            <a:r>
              <a:rPr lang="en-US" dirty="0" err="1" smtClean="0"/>
              <a:t>implicito</a:t>
            </a:r>
            <a:r>
              <a:rPr lang="en-US" dirty="0" smtClean="0"/>
              <a:t> in </a:t>
            </a:r>
            <a:r>
              <a:rPr lang="en-US" dirty="0" err="1" smtClean="0"/>
              <a:t>Rilassa</a:t>
            </a:r>
            <a:r>
              <a:rPr lang="en-US" dirty="0" smtClean="0"/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CB7864-E48A-A24E-9D04-923EB4B5302D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4318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Complessità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Dipende</a:t>
            </a:r>
            <a:r>
              <a:rPr lang="en-US" dirty="0" smtClean="0"/>
              <a:t> </a:t>
            </a:r>
            <a:r>
              <a:rPr lang="en-US" dirty="0" err="1" smtClean="0"/>
              <a:t>tutto</a:t>
            </a:r>
            <a:r>
              <a:rPr lang="en-US" dirty="0" smtClean="0"/>
              <a:t> da come </a:t>
            </a:r>
            <a:r>
              <a:rPr lang="en-US" dirty="0" err="1" smtClean="0"/>
              <a:t>viene</a:t>
            </a:r>
            <a:r>
              <a:rPr lang="en-US" dirty="0" smtClean="0"/>
              <a:t> </a:t>
            </a:r>
            <a:r>
              <a:rPr lang="en-US" dirty="0" err="1" smtClean="0"/>
              <a:t>implementata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Q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 smtClean="0">
                <a:solidFill>
                  <a:schemeClr val="tx1"/>
                </a:solidFill>
              </a:rPr>
              <a:t>Con la </a:t>
            </a:r>
            <a:r>
              <a:rPr lang="en-US" dirty="0" err="1" smtClean="0">
                <a:solidFill>
                  <a:schemeClr val="tx1"/>
                </a:solidFill>
              </a:rPr>
              <a:t>numerazione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dei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vertici</a:t>
            </a:r>
            <a:r>
              <a:rPr lang="en-US" dirty="0" smtClean="0">
                <a:solidFill>
                  <a:schemeClr val="tx1"/>
                </a:solidFill>
              </a:rPr>
              <a:t>, le </a:t>
            </a:r>
            <a:r>
              <a:rPr lang="en-US" dirty="0" err="1" smtClean="0">
                <a:solidFill>
                  <a:schemeClr val="tx1"/>
                </a:solidFill>
              </a:rPr>
              <a:t>chiavi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stanno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nell’array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d</a:t>
            </a:r>
          </a:p>
          <a:p>
            <a:pPr marL="857250" lvl="2" indent="0">
              <a:buNone/>
            </a:pPr>
            <a:r>
              <a:rPr lang="en-US" dirty="0" smtClean="0"/>
              <a:t>INSERT e </a:t>
            </a:r>
            <a:r>
              <a:rPr lang="en-US" dirty="0"/>
              <a:t>Update</a:t>
            </a:r>
            <a:r>
              <a:rPr lang="en-US" dirty="0" smtClean="0"/>
              <a:t>-key: tempo </a:t>
            </a:r>
            <a:r>
              <a:rPr lang="en-US" dirty="0" smtClean="0">
                <a:solidFill>
                  <a:srgbClr val="FF0000"/>
                </a:solidFill>
              </a:rPr>
              <a:t>O(1)</a:t>
            </a:r>
          </a:p>
          <a:p>
            <a:pPr marL="857250" lvl="2" indent="0">
              <a:buNone/>
            </a:pPr>
            <a:r>
              <a:rPr lang="en-US" dirty="0" smtClean="0"/>
              <a:t>EXTRACTMIN: tempo </a:t>
            </a:r>
            <a:r>
              <a:rPr lang="en-US" dirty="0" smtClean="0">
                <a:solidFill>
                  <a:srgbClr val="FF0000"/>
                </a:solidFill>
              </a:rPr>
              <a:t>O(V)</a:t>
            </a:r>
          </a:p>
          <a:p>
            <a:pPr marL="857250" lvl="2" indent="0">
              <a:buNone/>
            </a:pPr>
            <a:r>
              <a:rPr lang="en-US" dirty="0" smtClean="0"/>
              <a:t>TOTALE: </a:t>
            </a:r>
            <a:r>
              <a:rPr lang="en-US" dirty="0" smtClean="0">
                <a:solidFill>
                  <a:srgbClr val="FF0000"/>
                </a:solidFill>
              </a:rPr>
              <a:t>O(V</a:t>
            </a:r>
            <a:r>
              <a:rPr lang="en-US" baseline="30000" dirty="0" smtClean="0">
                <a:solidFill>
                  <a:srgbClr val="FF0000"/>
                </a:solidFill>
              </a:rPr>
              <a:t>2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 smtClean="0">
                <a:solidFill>
                  <a:schemeClr val="tx1"/>
                </a:solidFill>
              </a:rPr>
              <a:t>Per </a:t>
            </a:r>
            <a:r>
              <a:rPr lang="en-US" dirty="0" err="1" smtClean="0">
                <a:solidFill>
                  <a:schemeClr val="tx1"/>
                </a:solidFill>
              </a:rPr>
              <a:t>grafi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sparsi</a:t>
            </a:r>
            <a:r>
              <a:rPr lang="en-US" dirty="0" smtClean="0">
                <a:solidFill>
                  <a:schemeClr val="tx1"/>
                </a:solidFill>
              </a:rPr>
              <a:t>, </a:t>
            </a:r>
            <a:r>
              <a:rPr lang="en-US" dirty="0" err="1" smtClean="0">
                <a:solidFill>
                  <a:schemeClr val="tx1"/>
                </a:solidFill>
              </a:rPr>
              <a:t>più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efficace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l’uso</a:t>
            </a:r>
            <a:r>
              <a:rPr lang="en-US" dirty="0" smtClean="0">
                <a:solidFill>
                  <a:schemeClr val="tx1"/>
                </a:solidFill>
              </a:rPr>
              <a:t> di min-heap </a:t>
            </a:r>
            <a:r>
              <a:rPr lang="en-US" dirty="0" err="1" smtClean="0">
                <a:solidFill>
                  <a:schemeClr val="tx1"/>
                </a:solidFill>
              </a:rPr>
              <a:t>binario</a:t>
            </a:r>
            <a:endParaRPr lang="en-US" dirty="0" smtClean="0">
              <a:solidFill>
                <a:schemeClr val="tx1"/>
              </a:solidFill>
            </a:endParaRPr>
          </a:p>
          <a:p>
            <a:pPr marL="857250" lvl="2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O(E </a:t>
            </a:r>
            <a:r>
              <a:rPr lang="en-US" dirty="0" err="1" smtClean="0">
                <a:solidFill>
                  <a:srgbClr val="FF0000"/>
                </a:solidFill>
              </a:rPr>
              <a:t>logV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 smtClean="0">
                <a:solidFill>
                  <a:schemeClr val="tx1"/>
                </a:solidFill>
              </a:rPr>
              <a:t>Con heap di Fibonacci</a:t>
            </a:r>
          </a:p>
          <a:p>
            <a:pPr marL="857250" lvl="2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O(</a:t>
            </a:r>
            <a:r>
              <a:rPr lang="en-US" dirty="0" err="1" smtClean="0">
                <a:solidFill>
                  <a:srgbClr val="FF0000"/>
                </a:solidFill>
              </a:rPr>
              <a:t>VlogV</a:t>
            </a:r>
            <a:r>
              <a:rPr lang="en-US" dirty="0" smtClean="0">
                <a:solidFill>
                  <a:srgbClr val="FF0000"/>
                </a:solidFill>
              </a:rPr>
              <a:t> + E)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CB7864-E48A-A24E-9D04-923EB4B5302D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2945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Algoritmo di </a:t>
            </a:r>
            <a:r>
              <a:rPr lang="it-IT" dirty="0" err="1"/>
              <a:t>Bellman</a:t>
            </a:r>
            <a:r>
              <a:rPr lang="it-IT" dirty="0"/>
              <a:t>-Ford</a:t>
            </a:r>
            <a:endParaRPr lang="it-IT" dirty="0" smtClean="0"/>
          </a:p>
        </p:txBody>
      </p:sp>
      <p:sp>
        <p:nvSpPr>
          <p:cNvPr id="7168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>
                <a:solidFill>
                  <a:srgbClr val="0000FF"/>
                </a:solidFill>
              </a:rPr>
              <a:t>Funziona per grafi orientati con pesi anche negativi</a:t>
            </a:r>
          </a:p>
          <a:p>
            <a:r>
              <a:rPr lang="it-IT" dirty="0" smtClean="0">
                <a:solidFill>
                  <a:srgbClr val="0000FF"/>
                </a:solidFill>
              </a:rPr>
              <a:t>Restituisce un valore booleano che indica se esiste o no un ciclo di peso negativo raggiungibile da </a:t>
            </a:r>
            <a:r>
              <a:rPr lang="it-IT" dirty="0" err="1" smtClean="0">
                <a:solidFill>
                  <a:srgbClr val="FF0000"/>
                </a:solidFill>
              </a:rPr>
              <a:t>s</a:t>
            </a:r>
            <a:endParaRPr lang="it-IT" dirty="0" smtClean="0">
              <a:solidFill>
                <a:srgbClr val="FF0000"/>
              </a:solidFill>
            </a:endParaRPr>
          </a:p>
          <a:p>
            <a:r>
              <a:rPr lang="it-IT" dirty="0" smtClean="0">
                <a:solidFill>
                  <a:srgbClr val="0000FF"/>
                </a:solidFill>
              </a:rPr>
              <a:t>Se un tale ciclo non esiste, fornisce i cammini minimi e i loro pesi</a:t>
            </a:r>
          </a:p>
          <a:p>
            <a:r>
              <a:rPr lang="it-IT" dirty="0" smtClean="0">
                <a:solidFill>
                  <a:srgbClr val="0000FF"/>
                </a:solidFill>
              </a:rPr>
              <a:t>Riduce progressivamente (per rilassamento) il </a:t>
            </a:r>
            <a:r>
              <a:rPr lang="it-IT" dirty="0">
                <a:solidFill>
                  <a:srgbClr val="0000FF"/>
                </a:solidFill>
              </a:rPr>
              <a:t>costo minimo stimato </a:t>
            </a:r>
            <a:r>
              <a:rPr lang="it-IT" dirty="0" smtClean="0">
                <a:solidFill>
                  <a:srgbClr val="FF0000"/>
                </a:solidFill>
              </a:rPr>
              <a:t>d(v)</a:t>
            </a:r>
            <a:r>
              <a:rPr lang="it-IT" dirty="0" smtClean="0">
                <a:solidFill>
                  <a:srgbClr val="0000FF"/>
                </a:solidFill>
              </a:rPr>
              <a:t> per ogni vertice </a:t>
            </a:r>
            <a:r>
              <a:rPr lang="it-IT" dirty="0" smtClean="0">
                <a:solidFill>
                  <a:srgbClr val="FF0000"/>
                </a:solidFill>
              </a:rPr>
              <a:t>v</a:t>
            </a:r>
            <a:r>
              <a:rPr lang="it-IT" dirty="0" smtClean="0">
                <a:solidFill>
                  <a:srgbClr val="0000FF"/>
                </a:solidFill>
              </a:rPr>
              <a:t> </a:t>
            </a:r>
            <a:r>
              <a:rPr lang="it-IT" dirty="0" smtClean="0">
                <a:solidFill>
                  <a:srgbClr val="0000FF"/>
                </a:solidFill>
                <a:sym typeface="Symbol" charset="0"/>
              </a:rPr>
              <a:t>fino al minimo effettivo </a:t>
            </a:r>
            <a:r>
              <a:rPr lang="it-IT" dirty="0" smtClean="0">
                <a:solidFill>
                  <a:srgbClr val="FF0000"/>
                </a:solidFill>
                <a:latin typeface="Symbol" charset="2"/>
                <a:cs typeface="Symbol" charset="2"/>
                <a:sym typeface="Symbol" charset="0"/>
              </a:rPr>
              <a:t>d</a:t>
            </a:r>
            <a:r>
              <a:rPr lang="it-IT" dirty="0" smtClean="0">
                <a:solidFill>
                  <a:srgbClr val="FF0000"/>
                </a:solidFill>
                <a:cs typeface="Symbol" charset="2"/>
                <a:sym typeface="Symbol" charset="0"/>
              </a:rPr>
              <a:t>(</a:t>
            </a:r>
            <a:r>
              <a:rPr lang="it-IT" dirty="0" err="1" smtClean="0">
                <a:solidFill>
                  <a:srgbClr val="FF0000"/>
                </a:solidFill>
                <a:cs typeface="Symbol" charset="2"/>
                <a:sym typeface="Symbol" charset="0"/>
              </a:rPr>
              <a:t>s,v</a:t>
            </a:r>
            <a:r>
              <a:rPr lang="it-IT" dirty="0" smtClean="0">
                <a:solidFill>
                  <a:srgbClr val="FF0000"/>
                </a:solidFill>
                <a:cs typeface="Symbol" charset="2"/>
                <a:sym typeface="Symbol" charset="0"/>
              </a:rPr>
              <a:t>)</a:t>
            </a:r>
            <a:endParaRPr lang="it-IT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14468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03" grpId="0" build="p" bldLvl="3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Algoritmo di </a:t>
            </a:r>
            <a:r>
              <a:rPr lang="it-IT" dirty="0" err="1" smtClean="0"/>
              <a:t>Bellman</a:t>
            </a:r>
            <a:r>
              <a:rPr lang="it-IT" dirty="0" smtClean="0"/>
              <a:t>-Ford</a:t>
            </a:r>
          </a:p>
        </p:txBody>
      </p:sp>
      <p:sp>
        <p:nvSpPr>
          <p:cNvPr id="73730" name="Text Box 5"/>
          <p:cNvSpPr txBox="1">
            <a:spLocks noChangeArrowheads="1"/>
          </p:cNvSpPr>
          <p:nvPr/>
        </p:nvSpPr>
        <p:spPr bwMode="auto">
          <a:xfrm>
            <a:off x="539552" y="1412776"/>
            <a:ext cx="8136904" cy="433965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it-IT" sz="2800" b="1" i="1" dirty="0" smtClean="0">
                <a:latin typeface="Times New Roman" charset="0"/>
                <a:sym typeface="Symbol" charset="0"/>
              </a:rPr>
              <a:t>B-F</a:t>
            </a:r>
            <a:r>
              <a:rPr lang="it-IT" sz="2800" b="1" dirty="0" smtClean="0">
                <a:latin typeface="Times New Roman" charset="0"/>
                <a:sym typeface="Symbol" charset="0"/>
              </a:rPr>
              <a:t>(</a:t>
            </a:r>
            <a:r>
              <a:rPr lang="it-IT" sz="2800" b="1" i="1" dirty="0">
                <a:latin typeface="Times New Roman" charset="0"/>
                <a:sym typeface="Symbol" charset="0"/>
              </a:rPr>
              <a:t>G</a:t>
            </a:r>
            <a:r>
              <a:rPr lang="it-IT" sz="2800" b="1" dirty="0">
                <a:latin typeface="Times New Roman" charset="0"/>
                <a:sym typeface="Symbol" charset="0"/>
              </a:rPr>
              <a:t>, </a:t>
            </a:r>
            <a:r>
              <a:rPr lang="it-IT" sz="2800" b="1" dirty="0" err="1">
                <a:latin typeface="Times New Roman" charset="0"/>
                <a:sym typeface="Symbol" charset="0"/>
              </a:rPr>
              <a:t>w</a:t>
            </a:r>
            <a:r>
              <a:rPr lang="it-IT" sz="2800" b="1" dirty="0">
                <a:latin typeface="Times New Roman" charset="0"/>
                <a:sym typeface="Symbol" charset="0"/>
              </a:rPr>
              <a:t>, </a:t>
            </a:r>
            <a:r>
              <a:rPr lang="it-IT" sz="2800" b="1" i="1" dirty="0" err="1">
                <a:latin typeface="Times New Roman" charset="0"/>
                <a:sym typeface="Symbol" charset="0"/>
              </a:rPr>
              <a:t>s</a:t>
            </a:r>
            <a:r>
              <a:rPr lang="it-IT" sz="2800" b="1" dirty="0">
                <a:latin typeface="Times New Roman" charset="0"/>
                <a:sym typeface="Symbol" charset="0"/>
              </a:rPr>
              <a:t>) </a:t>
            </a:r>
          </a:p>
          <a:p>
            <a:r>
              <a:rPr lang="it-IT" sz="2400" b="1" i="1" dirty="0">
                <a:solidFill>
                  <a:srgbClr val="008000"/>
                </a:solidFill>
                <a:latin typeface="Times New Roman" charset="0"/>
                <a:sym typeface="Symbol" charset="0"/>
              </a:rPr>
              <a:t>G</a:t>
            </a:r>
            <a:r>
              <a:rPr lang="it-IT" sz="2400" b="1" dirty="0">
                <a:solidFill>
                  <a:srgbClr val="008000"/>
                </a:solidFill>
                <a:latin typeface="Times New Roman" charset="0"/>
                <a:sym typeface="Symbol" charset="0"/>
              </a:rPr>
              <a:t> grafo orientato pesato </a:t>
            </a:r>
            <a:endParaRPr lang="it-IT" sz="2400" b="1" dirty="0" smtClean="0">
              <a:solidFill>
                <a:srgbClr val="008000"/>
              </a:solidFill>
              <a:latin typeface="Times New Roman" charset="0"/>
              <a:sym typeface="Symbol" charset="0"/>
            </a:endParaRPr>
          </a:p>
          <a:p>
            <a:r>
              <a:rPr lang="it-IT" sz="2400" b="1" dirty="0">
                <a:solidFill>
                  <a:srgbClr val="008000"/>
                </a:solidFill>
                <a:latin typeface="Times New Roman" charset="0"/>
                <a:sym typeface="Symbol" charset="0"/>
              </a:rPr>
              <a:t> </a:t>
            </a:r>
            <a:r>
              <a:rPr lang="it-IT" sz="2400" b="1" dirty="0" smtClean="0">
                <a:solidFill>
                  <a:srgbClr val="008000"/>
                </a:solidFill>
                <a:latin typeface="Times New Roman" charset="0"/>
                <a:sym typeface="Symbol" charset="0"/>
              </a:rPr>
              <a:t> </a:t>
            </a:r>
            <a:r>
              <a:rPr lang="it-IT" sz="2800" b="1" dirty="0" smtClean="0">
                <a:latin typeface="Times New Roman" charset="0"/>
                <a:sym typeface="Symbol" charset="0"/>
              </a:rPr>
              <a:t>1 </a:t>
            </a:r>
            <a:r>
              <a:rPr lang="it-IT" sz="2800" b="1" i="1" dirty="0" err="1" smtClean="0">
                <a:latin typeface="Times New Roman" charset="0"/>
                <a:sym typeface="Symbol" charset="0"/>
              </a:rPr>
              <a:t>Initialize</a:t>
            </a:r>
            <a:r>
              <a:rPr lang="it-IT" sz="2800" b="1" dirty="0" smtClean="0">
                <a:latin typeface="Times New Roman" charset="0"/>
                <a:sym typeface="Symbol" charset="0"/>
              </a:rPr>
              <a:t>(</a:t>
            </a:r>
            <a:r>
              <a:rPr lang="it-IT" sz="2800" b="1" i="1" dirty="0">
                <a:latin typeface="Times New Roman" charset="0"/>
                <a:sym typeface="Symbol" charset="0"/>
              </a:rPr>
              <a:t>G</a:t>
            </a:r>
            <a:r>
              <a:rPr lang="it-IT" sz="2800" b="1" dirty="0">
                <a:latin typeface="Times New Roman" charset="0"/>
                <a:sym typeface="Symbol" charset="0"/>
              </a:rPr>
              <a:t>, </a:t>
            </a:r>
            <a:r>
              <a:rPr lang="it-IT" sz="2800" b="1" i="1" dirty="0" err="1">
                <a:latin typeface="Times New Roman" charset="0"/>
                <a:sym typeface="Symbol" charset="0"/>
              </a:rPr>
              <a:t>s</a:t>
            </a:r>
            <a:r>
              <a:rPr lang="it-IT" sz="2800" b="1" dirty="0">
                <a:latin typeface="Times New Roman" charset="0"/>
                <a:sym typeface="Symbol" charset="0"/>
              </a:rPr>
              <a:t>)</a:t>
            </a:r>
          </a:p>
          <a:p>
            <a:r>
              <a:rPr lang="it-IT" sz="2800" b="1" dirty="0">
                <a:latin typeface="Times New Roman" charset="0"/>
                <a:sym typeface="Symbol" charset="0"/>
              </a:rPr>
              <a:t>  </a:t>
            </a:r>
            <a:r>
              <a:rPr lang="it-IT" sz="2800" b="1" dirty="0" smtClean="0">
                <a:latin typeface="Times New Roman" charset="0"/>
                <a:sym typeface="Symbol" charset="0"/>
              </a:rPr>
              <a:t>2 for i := 1 to n-1</a:t>
            </a:r>
            <a:endParaRPr lang="it-IT" sz="2800" b="1" dirty="0">
              <a:latin typeface="Times New Roman" charset="0"/>
              <a:sym typeface="Symbol" charset="0"/>
            </a:endParaRPr>
          </a:p>
          <a:p>
            <a:r>
              <a:rPr lang="it-IT" sz="2800" b="1" dirty="0">
                <a:latin typeface="Times New Roman" charset="0"/>
                <a:sym typeface="Symbol" charset="0"/>
              </a:rPr>
              <a:t>  </a:t>
            </a:r>
            <a:r>
              <a:rPr lang="it-IT" sz="2800" b="1" dirty="0" smtClean="0">
                <a:latin typeface="Times New Roman" charset="0"/>
                <a:sym typeface="Symbol" charset="0"/>
              </a:rPr>
              <a:t>3 	do for </a:t>
            </a:r>
            <a:r>
              <a:rPr lang="it-IT" sz="2800" b="1" dirty="0" err="1" smtClean="0">
                <a:latin typeface="Times New Roman" charset="0"/>
                <a:sym typeface="Symbol" charset="0"/>
              </a:rPr>
              <a:t>each</a:t>
            </a:r>
            <a:r>
              <a:rPr lang="it-IT" sz="2800" b="1" dirty="0" smtClean="0">
                <a:latin typeface="Times New Roman" charset="0"/>
                <a:sym typeface="Symbol" charset="0"/>
              </a:rPr>
              <a:t> (</a:t>
            </a:r>
            <a:r>
              <a:rPr lang="it-IT" sz="2800" b="1" dirty="0" err="1" smtClean="0">
                <a:latin typeface="Times New Roman" charset="0"/>
                <a:sym typeface="Symbol" charset="0"/>
              </a:rPr>
              <a:t>u,v</a:t>
            </a:r>
            <a:r>
              <a:rPr lang="it-IT" sz="2800" b="1" dirty="0">
                <a:latin typeface="Times New Roman" charset="0"/>
                <a:sym typeface="Symbol" charset="0"/>
              </a:rPr>
              <a:t>)  </a:t>
            </a:r>
            <a:r>
              <a:rPr lang="it-IT" sz="2800" b="1" dirty="0" smtClean="0">
                <a:latin typeface="Times New Roman" charset="0"/>
                <a:sym typeface="Symbol" charset="0"/>
              </a:rPr>
              <a:t>E(G)</a:t>
            </a:r>
            <a:endParaRPr lang="it-IT" sz="2800" b="1" dirty="0">
              <a:solidFill>
                <a:srgbClr val="008000"/>
              </a:solidFill>
              <a:latin typeface="Times New Roman" charset="0"/>
              <a:sym typeface="Symbol" charset="0"/>
            </a:endParaRPr>
          </a:p>
          <a:p>
            <a:r>
              <a:rPr lang="it-IT" sz="2800" b="1" dirty="0">
                <a:latin typeface="Times New Roman" charset="0"/>
                <a:sym typeface="Symbol" charset="0"/>
              </a:rPr>
              <a:t>  </a:t>
            </a:r>
            <a:r>
              <a:rPr lang="it-IT" sz="2800" b="1" dirty="0" smtClean="0">
                <a:latin typeface="Times New Roman" charset="0"/>
                <a:sym typeface="Symbol" charset="0"/>
              </a:rPr>
              <a:t>4 		do REL(</a:t>
            </a:r>
            <a:r>
              <a:rPr lang="it-IT" sz="2800" b="1" dirty="0" err="1" smtClean="0">
                <a:latin typeface="Times New Roman" charset="0"/>
                <a:sym typeface="Symbol" charset="0"/>
              </a:rPr>
              <a:t>u,v,w</a:t>
            </a:r>
            <a:r>
              <a:rPr lang="it-IT" sz="2800" b="1" dirty="0" smtClean="0">
                <a:latin typeface="Times New Roman" charset="0"/>
                <a:sym typeface="Symbol" charset="0"/>
              </a:rPr>
              <a:t>)</a:t>
            </a:r>
            <a:endParaRPr lang="it-IT" sz="2800" b="1" dirty="0">
              <a:latin typeface="Times New Roman" charset="0"/>
              <a:sym typeface="Symbol" charset="0"/>
            </a:endParaRPr>
          </a:p>
          <a:p>
            <a:r>
              <a:rPr lang="it-IT" sz="2800" b="1" dirty="0" smtClean="0">
                <a:latin typeface="Times New Roman" charset="0"/>
                <a:sym typeface="Symbol" charset="0"/>
              </a:rPr>
              <a:t>  </a:t>
            </a:r>
            <a:r>
              <a:rPr lang="it-IT" sz="2800" b="1" dirty="0">
                <a:latin typeface="Times New Roman" charset="0"/>
                <a:sym typeface="Symbol" charset="0"/>
              </a:rPr>
              <a:t>5 for </a:t>
            </a:r>
            <a:r>
              <a:rPr lang="it-IT" sz="2800" b="1" dirty="0" err="1" smtClean="0">
                <a:latin typeface="Times New Roman" charset="0"/>
                <a:sym typeface="Symbol" charset="0"/>
              </a:rPr>
              <a:t>each</a:t>
            </a:r>
            <a:r>
              <a:rPr lang="it-IT" sz="2800" b="1" dirty="0" smtClean="0">
                <a:latin typeface="Times New Roman" charset="0"/>
                <a:sym typeface="Symbol" charset="0"/>
              </a:rPr>
              <a:t> (</a:t>
            </a:r>
            <a:r>
              <a:rPr lang="it-IT" sz="2800" b="1" dirty="0" err="1">
                <a:latin typeface="Times New Roman" charset="0"/>
                <a:sym typeface="Symbol" charset="0"/>
              </a:rPr>
              <a:t>u,v</a:t>
            </a:r>
            <a:r>
              <a:rPr lang="it-IT" sz="2800" b="1" dirty="0">
                <a:latin typeface="Times New Roman" charset="0"/>
                <a:sym typeface="Symbol" charset="0"/>
              </a:rPr>
              <a:t>)  E(G)</a:t>
            </a:r>
            <a:endParaRPr lang="it-IT" sz="2800" b="1" dirty="0">
              <a:solidFill>
                <a:srgbClr val="008000"/>
              </a:solidFill>
              <a:latin typeface="Times New Roman" charset="0"/>
              <a:sym typeface="Symbol" charset="0"/>
            </a:endParaRPr>
          </a:p>
          <a:p>
            <a:r>
              <a:rPr lang="it-IT" sz="2800" b="1" dirty="0">
                <a:latin typeface="Times New Roman" charset="0"/>
                <a:sym typeface="Symbol" charset="0"/>
              </a:rPr>
              <a:t> </a:t>
            </a:r>
            <a:r>
              <a:rPr lang="it-IT" sz="2800" b="1" dirty="0" smtClean="0">
                <a:latin typeface="Times New Roman" charset="0"/>
                <a:sym typeface="Symbol" charset="0"/>
              </a:rPr>
              <a:t> 6</a:t>
            </a:r>
            <a:r>
              <a:rPr lang="it-IT" sz="2800" b="1" i="1" dirty="0">
                <a:latin typeface="Times New Roman" charset="0"/>
                <a:sym typeface="Symbol" charset="0"/>
              </a:rPr>
              <a:t>	</a:t>
            </a:r>
            <a:r>
              <a:rPr lang="it-IT" sz="2800" b="1" dirty="0" smtClean="0">
                <a:latin typeface="Times New Roman" charset="0"/>
                <a:sym typeface="Symbol" charset="0"/>
              </a:rPr>
              <a:t>do </a:t>
            </a:r>
            <a:r>
              <a:rPr lang="it-IT" sz="2800" b="1" dirty="0" err="1" smtClean="0">
                <a:latin typeface="Times New Roman" charset="0"/>
                <a:sym typeface="Symbol" charset="0"/>
              </a:rPr>
              <a:t>if</a:t>
            </a:r>
            <a:r>
              <a:rPr lang="it-IT" sz="2800" b="1" dirty="0" smtClean="0">
                <a:latin typeface="Times New Roman" charset="0"/>
                <a:sym typeface="Symbol" charset="0"/>
              </a:rPr>
              <a:t> d(v) &gt; d(u)+</a:t>
            </a:r>
            <a:r>
              <a:rPr lang="it-IT" sz="2800" b="1" dirty="0" err="1" smtClean="0">
                <a:latin typeface="Times New Roman" charset="0"/>
                <a:sym typeface="Symbol" charset="0"/>
              </a:rPr>
              <a:t>w</a:t>
            </a:r>
            <a:r>
              <a:rPr lang="it-IT" sz="2800" b="1" dirty="0" smtClean="0">
                <a:latin typeface="Times New Roman" charset="0"/>
                <a:sym typeface="Symbol" charset="0"/>
              </a:rPr>
              <a:t>(</a:t>
            </a:r>
            <a:r>
              <a:rPr lang="it-IT" sz="2800" b="1" dirty="0" err="1" smtClean="0">
                <a:latin typeface="Times New Roman" charset="0"/>
                <a:sym typeface="Symbol" charset="0"/>
              </a:rPr>
              <a:t>u,v</a:t>
            </a:r>
            <a:r>
              <a:rPr lang="it-IT" sz="2800" b="1" dirty="0" smtClean="0">
                <a:latin typeface="Times New Roman" charset="0"/>
                <a:sym typeface="Symbol" charset="0"/>
              </a:rPr>
              <a:t>)</a:t>
            </a:r>
          </a:p>
          <a:p>
            <a:r>
              <a:rPr lang="it-IT" sz="2800" b="1" dirty="0" smtClean="0">
                <a:latin typeface="Times New Roman" charset="0"/>
                <a:sym typeface="Symbol" charset="0"/>
              </a:rPr>
              <a:t>  7</a:t>
            </a:r>
            <a:r>
              <a:rPr lang="it-IT" sz="2800" b="1" dirty="0">
                <a:latin typeface="Times New Roman" charset="0"/>
                <a:sym typeface="Symbol" charset="0"/>
              </a:rPr>
              <a:t>	</a:t>
            </a:r>
            <a:r>
              <a:rPr lang="it-IT" sz="2800" b="1" dirty="0" smtClean="0">
                <a:latin typeface="Times New Roman" charset="0"/>
                <a:sym typeface="Symbol" charset="0"/>
              </a:rPr>
              <a:t>	</a:t>
            </a:r>
            <a:r>
              <a:rPr lang="it-IT" sz="2800" b="1" dirty="0" err="1" smtClean="0">
                <a:latin typeface="Times New Roman" charset="0"/>
                <a:sym typeface="Symbol" charset="0"/>
              </a:rPr>
              <a:t>then</a:t>
            </a:r>
            <a:r>
              <a:rPr lang="it-IT" sz="2800" b="1" dirty="0" smtClean="0">
                <a:latin typeface="Times New Roman" charset="0"/>
                <a:sym typeface="Symbol" charset="0"/>
              </a:rPr>
              <a:t> </a:t>
            </a:r>
            <a:r>
              <a:rPr lang="it-IT" sz="2800" b="1" dirty="0" err="1" smtClean="0">
                <a:latin typeface="Times New Roman" charset="0"/>
                <a:sym typeface="Symbol" charset="0"/>
              </a:rPr>
              <a:t>return</a:t>
            </a:r>
            <a:r>
              <a:rPr lang="it-IT" sz="2800" b="1" dirty="0" smtClean="0">
                <a:latin typeface="Times New Roman" charset="0"/>
                <a:sym typeface="Symbol" charset="0"/>
              </a:rPr>
              <a:t> FALSE</a:t>
            </a:r>
          </a:p>
          <a:p>
            <a:r>
              <a:rPr lang="it-IT" sz="2800" b="1" dirty="0">
                <a:latin typeface="Times New Roman" charset="0"/>
                <a:sym typeface="Symbol" charset="0"/>
              </a:rPr>
              <a:t> </a:t>
            </a:r>
            <a:r>
              <a:rPr lang="it-IT" sz="2800" b="1" dirty="0" smtClean="0">
                <a:latin typeface="Times New Roman" charset="0"/>
                <a:sym typeface="Symbol" charset="0"/>
              </a:rPr>
              <a:t> 8</a:t>
            </a:r>
            <a:r>
              <a:rPr lang="it-IT" sz="2800" b="1" dirty="0">
                <a:latin typeface="Times New Roman" charset="0"/>
                <a:sym typeface="Symbol" charset="0"/>
              </a:rPr>
              <a:t> </a:t>
            </a:r>
            <a:r>
              <a:rPr lang="it-IT" sz="2800" b="1" dirty="0" err="1" smtClean="0">
                <a:latin typeface="Times New Roman" charset="0"/>
                <a:sym typeface="Symbol" charset="0"/>
              </a:rPr>
              <a:t>return</a:t>
            </a:r>
            <a:r>
              <a:rPr lang="it-IT" sz="2800" b="1" dirty="0" smtClean="0">
                <a:latin typeface="Times New Roman" charset="0"/>
                <a:sym typeface="Symbol" charset="0"/>
              </a:rPr>
              <a:t> TRUE</a:t>
            </a:r>
            <a:endParaRPr lang="it-IT" sz="2800" b="1" dirty="0">
              <a:latin typeface="Times New Roman" charset="0"/>
              <a:sym typeface="Symbo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3860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Single-source shortest </a:t>
            </a:r>
            <a:r>
              <a:rPr lang="en-US" dirty="0" smtClean="0"/>
              <a:t>paths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 smtClean="0"/>
              <a:t>Nonnegative </a:t>
            </a:r>
            <a:r>
              <a:rPr lang="en-US" dirty="0"/>
              <a:t>edge weights</a:t>
            </a:r>
          </a:p>
          <a:p>
            <a:pPr lvl="1"/>
            <a:r>
              <a:rPr lang="en-US" dirty="0" err="1" smtClean="0">
                <a:solidFill>
                  <a:schemeClr val="tx1"/>
                </a:solidFill>
              </a:rPr>
              <a:t>Dijkstra’s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algorith</a:t>
            </a:r>
            <a:r>
              <a:rPr lang="en-US" dirty="0">
                <a:solidFill>
                  <a:srgbClr val="000000"/>
                </a:solidFill>
              </a:rPr>
              <a:t>m: </a:t>
            </a:r>
            <a:r>
              <a:rPr lang="en-US" dirty="0"/>
              <a:t>O(</a:t>
            </a:r>
            <a:r>
              <a:rPr lang="en-US" dirty="0" err="1"/>
              <a:t>E</a:t>
            </a:r>
            <a:r>
              <a:rPr lang="en-US" dirty="0" err="1" smtClean="0"/>
              <a:t>+VlgV</a:t>
            </a:r>
            <a:r>
              <a:rPr lang="en-US" dirty="0"/>
              <a:t>)</a:t>
            </a:r>
          </a:p>
          <a:p>
            <a:r>
              <a:rPr lang="en-US" dirty="0" smtClean="0"/>
              <a:t>General</a:t>
            </a:r>
            <a:endParaRPr lang="en-US" dirty="0"/>
          </a:p>
          <a:p>
            <a:pPr lvl="1"/>
            <a:r>
              <a:rPr lang="en-US" dirty="0" smtClean="0">
                <a:solidFill>
                  <a:srgbClr val="000000"/>
                </a:solidFill>
              </a:rPr>
              <a:t>Bellman</a:t>
            </a:r>
            <a:r>
              <a:rPr lang="en-US" dirty="0">
                <a:solidFill>
                  <a:srgbClr val="000000"/>
                </a:solidFill>
              </a:rPr>
              <a:t>-Ford algorithm: </a:t>
            </a:r>
            <a:r>
              <a:rPr lang="en-US" dirty="0"/>
              <a:t>O(VE)</a:t>
            </a:r>
          </a:p>
          <a:p>
            <a:r>
              <a:rPr lang="en-US" dirty="0" smtClean="0"/>
              <a:t>DAG</a:t>
            </a:r>
            <a:endParaRPr lang="en-US" dirty="0"/>
          </a:p>
          <a:p>
            <a:pPr lvl="1"/>
            <a:r>
              <a:rPr lang="en-US" dirty="0" smtClean="0">
                <a:solidFill>
                  <a:srgbClr val="000000"/>
                </a:solidFill>
              </a:rPr>
              <a:t>One </a:t>
            </a:r>
            <a:r>
              <a:rPr lang="en-US" dirty="0">
                <a:solidFill>
                  <a:srgbClr val="000000"/>
                </a:solidFill>
              </a:rPr>
              <a:t>pass of Bellman-Ford: </a:t>
            </a:r>
            <a:r>
              <a:rPr lang="en-US" dirty="0"/>
              <a:t>O(V</a:t>
            </a:r>
            <a:r>
              <a:rPr lang="en-US" dirty="0" smtClean="0"/>
              <a:t>+E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#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9343790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zione">
  <a:themeElements>
    <a:clrScheme name="Presentazione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Presentazione">
      <a:majorFont>
        <a:latin typeface="Times New Roman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lnDef>
  </a:objectDefaults>
  <a:extraClrSchemeLst>
    <a:extraClrScheme>
      <a:clrScheme name="Presentazion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zione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zion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2004:Templates:My Templates:Presentazione.pot</Template>
  <TotalTime>4028</TotalTime>
  <Words>3189</Words>
  <Application>Microsoft Macintosh PowerPoint</Application>
  <PresentationFormat>On-screen Show (4:3)</PresentationFormat>
  <Paragraphs>489</Paragraphs>
  <Slides>40</Slides>
  <Notes>33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2" baseType="lpstr">
      <vt:lpstr>Presentazione</vt:lpstr>
      <vt:lpstr>Equation</vt:lpstr>
      <vt:lpstr>UNIVERSITA’ DI MILANO-BICOCCA CdL IN INFORMATICA</vt:lpstr>
      <vt:lpstr>Cammini minimi</vt:lpstr>
      <vt:lpstr>Cammini minimi</vt:lpstr>
      <vt:lpstr>Cammini minimi</vt:lpstr>
      <vt:lpstr>Cammini minimi</vt:lpstr>
      <vt:lpstr>Archi di costo negativo</vt:lpstr>
      <vt:lpstr>Cicli di costo negativo</vt:lpstr>
      <vt:lpstr>Sottostruttura ottima</vt:lpstr>
      <vt:lpstr>Sottostruttura ottima</vt:lpstr>
      <vt:lpstr>Rappresentazione cammini minimi</vt:lpstr>
      <vt:lpstr>Scomposizione dei costi</vt:lpstr>
      <vt:lpstr>Limite superiore costi di cammino minimo</vt:lpstr>
      <vt:lpstr>Tecnica del rilassamento</vt:lpstr>
      <vt:lpstr>Tecnica del rilassamento</vt:lpstr>
      <vt:lpstr>Tecnica del rilassamento</vt:lpstr>
      <vt:lpstr>Tecnica del rilassamento</vt:lpstr>
      <vt:lpstr>Invariante del rilassamento</vt:lpstr>
      <vt:lpstr>Invariante del rilassamento</vt:lpstr>
      <vt:lpstr>Correttezza per vertici non raggiungibili</vt:lpstr>
      <vt:lpstr>Correttezza per vertici raggiungibili</vt:lpstr>
      <vt:lpstr>Grafo dei predecessori</vt:lpstr>
      <vt:lpstr>Grafo dei predecessori</vt:lpstr>
      <vt:lpstr>Grafo dei predecessori</vt:lpstr>
      <vt:lpstr>Grafo dei predecessori</vt:lpstr>
      <vt:lpstr>Cammini minimi</vt:lpstr>
      <vt:lpstr>Cammini minimi</vt:lpstr>
      <vt:lpstr>Cammini minimi in grafi aciclici</vt:lpstr>
      <vt:lpstr>Cammini minimi in grafi aciclici</vt:lpstr>
      <vt:lpstr>Complessità</vt:lpstr>
      <vt:lpstr>Correttezza</vt:lpstr>
      <vt:lpstr>Algoritmo di Dijkstra</vt:lpstr>
      <vt:lpstr>Algoritmo di Dijkstra</vt:lpstr>
      <vt:lpstr>Algoritmo di Dijkstra</vt:lpstr>
      <vt:lpstr>Esempio</vt:lpstr>
      <vt:lpstr>Esempio</vt:lpstr>
      <vt:lpstr>Complessità</vt:lpstr>
      <vt:lpstr>Complessità</vt:lpstr>
      <vt:lpstr>Algoritmo di Bellman-Ford</vt:lpstr>
      <vt:lpstr>Algoritmo di Bellman-Ford</vt:lpstr>
      <vt:lpstr>Single-source shortest paths</vt:lpstr>
    </vt:vector>
  </TitlesOfParts>
  <Company>DISCo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UNIVERSITA’ DI MILANO-BICOCCA CdL IN INFORMATICA</dc:title>
  <dc:subject>Bioinformatics</dc:subject>
  <dc:creator>Giancarlo Mauri</dc:creator>
  <cp:lastModifiedBy>Giancarlo Mauri</cp:lastModifiedBy>
  <cp:revision>88</cp:revision>
  <cp:lastPrinted>2002-02-01T12:39:25Z</cp:lastPrinted>
  <dcterms:created xsi:type="dcterms:W3CDTF">2010-03-03T07:29:28Z</dcterms:created>
  <dcterms:modified xsi:type="dcterms:W3CDTF">2016-12-16T14:40:34Z</dcterms:modified>
</cp:coreProperties>
</file>