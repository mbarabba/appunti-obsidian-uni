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11"/>
  </p:notesMasterIdLst>
  <p:handoutMasterIdLst>
    <p:handoutMasterId r:id="rId12"/>
  </p:handoutMasterIdLst>
  <p:sldIdLst>
    <p:sldId id="454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76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9F7DC59A-6E90-7B46-99E3-88C20F5F77A9}" type="slidenum">
              <a:rPr lang="en-US" sz="1200" smtClean="0"/>
              <a:pPr eaLnBrk="1" hangingPunct="1">
                <a:defRPr/>
              </a:pPr>
              <a:t>3</a:t>
            </a:fld>
            <a:endParaRPr lang="en-US" sz="1200" smtClean="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623B0CA0-CE8C-DF4B-8C35-55C51438089C}" type="slidenum">
              <a:rPr lang="en-US" sz="1200" smtClean="0"/>
              <a:pPr eaLnBrk="1" hangingPunct="1">
                <a:defRPr/>
              </a:pPr>
              <a:t>4</a:t>
            </a:fld>
            <a:endParaRPr lang="en-US" sz="1200" smtClean="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kumimoji="0" lang="it-IT" sz="3200" smtClean="0">
              <a:latin typeface="Tahoma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8AE4A255-CE22-DE44-9C50-D3A552D57EB1}" type="slidenum">
              <a:rPr lang="en-US" sz="1200" smtClean="0"/>
              <a:pPr eaLnBrk="1" hangingPunct="1">
                <a:defRPr/>
              </a:pPr>
              <a:t>5</a:t>
            </a:fld>
            <a:endParaRPr lang="en-US" sz="1200" smtClean="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kumimoji="0" lang="it-IT" sz="3200" smtClean="0">
              <a:latin typeface="Tahoma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  <a:buFont typeface="Wingdings" charset="0"/>
              <a:buNone/>
            </a:pPr>
            <a:r>
              <a:rPr lang="it-IT" sz="2800" dirty="0">
                <a:solidFill>
                  <a:schemeClr val="hlink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ALGORITMI E </a:t>
            </a:r>
            <a:r>
              <a:rPr lang="it-IT" sz="2800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RICERCA OPERATIVA</a:t>
            </a:r>
          </a:p>
          <a:p>
            <a:pPr eaLnBrk="1" hangingPunct="1">
              <a:spcBef>
                <a:spcPts val="600"/>
              </a:spcBef>
              <a:buFont typeface="Wingdings" charset="0"/>
              <a:buNone/>
            </a:pPr>
            <a:r>
              <a:rPr lang="it-IT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Modulo Algoritmi</a:t>
            </a:r>
            <a:endParaRPr lang="it-IT" dirty="0">
              <a:solidFill>
                <a:schemeClr val="hlink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Comic Sans MS" charset="0"/>
                <a:ea typeface="ＭＳ Ｐゴシック" charset="0"/>
                <a:cs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</a:t>
            </a: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2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Numeri</a:t>
            </a:r>
            <a:r>
              <a:rPr lang="en-US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di Fibonacci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Numeri di Fibonacci</a:t>
            </a:r>
          </a:p>
        </p:txBody>
      </p:sp>
      <p:sp>
        <p:nvSpPr>
          <p:cNvPr id="447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305800" cy="48006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it-IT" sz="2000" dirty="0" smtClean="0">
                <a:cs typeface="+mn-cs"/>
              </a:rPr>
              <a:t>Obiettivo</a:t>
            </a:r>
          </a:p>
          <a:p>
            <a:pPr lvl="1" eaLnBrk="1" hangingPunct="1">
              <a:defRPr/>
            </a:pPr>
            <a:r>
              <a:rPr lang="it-IT" sz="1800" dirty="0" smtClean="0"/>
              <a:t>dare un modello matematico della crescita di una popolazione di conigli</a:t>
            </a:r>
          </a:p>
          <a:p>
            <a:pPr eaLnBrk="1" hangingPunct="1">
              <a:lnSpc>
                <a:spcPct val="100000"/>
              </a:lnSpc>
              <a:spcBef>
                <a:spcPts val="1800"/>
              </a:spcBef>
              <a:defRPr/>
            </a:pPr>
            <a:r>
              <a:rPr lang="it-IT" sz="2000" dirty="0" smtClean="0">
                <a:cs typeface="+mn-cs"/>
              </a:rPr>
              <a:t>Assunzioni:</a:t>
            </a:r>
          </a:p>
          <a:p>
            <a:pPr lvl="1" eaLnBrk="1" hangingPunct="1">
              <a:defRPr/>
            </a:pPr>
            <a:r>
              <a:rPr lang="it-IT" sz="1800" dirty="0" smtClean="0"/>
              <a:t>Si parte (tempo 0) con una coppia di conigli neonati</a:t>
            </a:r>
          </a:p>
          <a:p>
            <a:pPr lvl="1" eaLnBrk="1" hangingPunct="1">
              <a:defRPr/>
            </a:pPr>
            <a:r>
              <a:rPr lang="it-IT" sz="1800" dirty="0" smtClean="0"/>
              <a:t>Ogni coppia genera una nuova coppia ad ogni unità di tempo, a partire dalla seconda unità dopo la nascita</a:t>
            </a:r>
          </a:p>
          <a:p>
            <a:pPr lvl="1" eaLnBrk="1" hangingPunct="1">
              <a:defRPr/>
            </a:pPr>
            <a:r>
              <a:rPr lang="it-IT" sz="1800" dirty="0" smtClean="0"/>
              <a:t>I conigli non muoiono mai</a:t>
            </a:r>
          </a:p>
          <a:p>
            <a:pPr algn="ctr" eaLnBrk="1" hangingPunct="1">
              <a:lnSpc>
                <a:spcPct val="100000"/>
              </a:lnSpc>
              <a:spcBef>
                <a:spcPts val="1800"/>
              </a:spcBef>
              <a:buFont typeface="Wingdings" charset="0"/>
              <a:buNone/>
              <a:defRPr/>
            </a:pPr>
            <a:r>
              <a:rPr lang="it-IT" sz="2000" dirty="0" smtClean="0">
                <a:cs typeface="+mn-cs"/>
              </a:rPr>
              <a:t>NUMERO DI COPPIE AL TEMPO </a:t>
            </a:r>
            <a:r>
              <a:rPr lang="it-IT" sz="2000" dirty="0" err="1" smtClean="0">
                <a:cs typeface="+mn-cs"/>
              </a:rPr>
              <a:t>n</a:t>
            </a:r>
            <a:r>
              <a:rPr lang="it-IT" sz="2000" dirty="0" smtClean="0">
                <a:cs typeface="+mn-cs"/>
              </a:rPr>
              <a:t> ?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it-IT" sz="2000" dirty="0" smtClean="0">
                <a:cs typeface="+mn-cs"/>
              </a:rPr>
              <a:t>Modello matematico: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defRPr/>
            </a:pPr>
            <a:r>
              <a:rPr lang="it-IT" sz="2000" dirty="0" smtClean="0">
                <a:cs typeface="+mn-cs"/>
              </a:rPr>
              <a:t>		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) := 	se 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=0) o 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=1),  allora 1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it-IT" sz="1800" dirty="0" smtClean="0">
                <a:solidFill>
                  <a:schemeClr val="hlink"/>
                </a:solidFill>
                <a:cs typeface="+mn-cs"/>
              </a:rPr>
              <a:t>					altrimenti 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(n-1)+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(n-2)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98F2DF35-6024-9341-ABBF-DF28476BC35E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3</a:t>
            </a:fld>
            <a:endParaRPr lang="en-US" sz="1400" smtClean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395536" y="1556792"/>
            <a:ext cx="4392488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</a:pPr>
            <a:r>
              <a:rPr lang="it-IT" sz="2200" u="sng" dirty="0">
                <a:latin typeface="Comic Sans MS" charset="0"/>
              </a:rPr>
              <a:t>Esempio</a:t>
            </a:r>
            <a:r>
              <a:rPr lang="it-IT" sz="2200" dirty="0">
                <a:latin typeface="Comic Sans MS" charset="0"/>
              </a:rPr>
              <a:t>: </a:t>
            </a:r>
            <a:r>
              <a:rPr lang="it-IT" sz="2200" dirty="0">
                <a:solidFill>
                  <a:schemeClr val="folHlink"/>
                </a:solidFill>
                <a:latin typeface="Comic Sans MS" charset="0"/>
              </a:rPr>
              <a:t>procedura ricorsiva per il calcolo dei numeri di Fibonacci</a:t>
            </a:r>
            <a:endParaRPr lang="it-IT" sz="2400" dirty="0">
              <a:latin typeface="Comic Sans MS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57200" y="2895600"/>
            <a:ext cx="4114800" cy="3581400"/>
            <a:chOff x="288" y="1824"/>
            <a:chExt cx="2592" cy="2256"/>
          </a:xfrm>
        </p:grpSpPr>
        <p:sp>
          <p:nvSpPr>
            <p:cNvPr id="8291" name="AutoShape 5"/>
            <p:cNvSpPr>
              <a:spLocks noChangeArrowheads="1"/>
            </p:cNvSpPr>
            <p:nvPr/>
          </p:nvSpPr>
          <p:spPr bwMode="auto">
            <a:xfrm>
              <a:off x="288" y="1824"/>
              <a:ext cx="2592" cy="2256"/>
            </a:xfrm>
            <a:prstGeom prst="flowChartDocumen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0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292" name="Text Box 6"/>
            <p:cNvSpPr txBox="1">
              <a:spLocks noChangeArrowheads="1"/>
            </p:cNvSpPr>
            <p:nvPr/>
          </p:nvSpPr>
          <p:spPr bwMode="auto">
            <a:xfrm>
              <a:off x="628" y="1920"/>
              <a:ext cx="1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800">
                  <a:latin typeface="Arial" charset="0"/>
                </a:rPr>
                <a:t>Procedura FIB(n)</a:t>
              </a:r>
              <a:endParaRPr lang="it-IT" sz="1800" baseline="30000">
                <a:solidFill>
                  <a:srgbClr val="FF00FF"/>
                </a:solidFill>
                <a:latin typeface="Arial" charset="0"/>
              </a:endParaRPr>
            </a:p>
          </p:txBody>
        </p:sp>
        <p:sp>
          <p:nvSpPr>
            <p:cNvPr id="8293" name="Rectangle 7"/>
            <p:cNvSpPr>
              <a:spLocks noChangeArrowheads="1"/>
            </p:cNvSpPr>
            <p:nvPr/>
          </p:nvSpPr>
          <p:spPr bwMode="auto">
            <a:xfrm>
              <a:off x="480" y="2112"/>
              <a:ext cx="2256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begin 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if n=0 or n=1 then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	return </a:t>
              </a:r>
              <a:r>
                <a:rPr lang="it-IT" sz="1600">
                  <a:solidFill>
                    <a:schemeClr val="folHlink"/>
                  </a:solidFill>
                  <a:latin typeface="Courier New" charset="0"/>
                </a:rPr>
                <a:t>1</a:t>
              </a:r>
              <a:r>
                <a:rPr lang="it-IT" sz="1600">
                  <a:latin typeface="Courier New" charset="0"/>
                </a:rPr>
                <a:t>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	a:=n-1;b:=n-2;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f1:=FIBONACCI(a);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f2:=FIBONACCI(b);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return f1+f2;	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end</a:t>
              </a:r>
            </a:p>
          </p:txBody>
        </p:sp>
      </p:grpSp>
      <p:sp>
        <p:nvSpPr>
          <p:cNvPr id="358409" name="Rectangle 9"/>
          <p:cNvSpPr>
            <a:spLocks noChangeArrowheads="1"/>
          </p:cNvSpPr>
          <p:nvPr/>
        </p:nvSpPr>
        <p:spPr bwMode="auto">
          <a:xfrm>
            <a:off x="4953000" y="1371600"/>
            <a:ext cx="3352800" cy="502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GB">
              <a:ea typeface="+mn-ea"/>
              <a:cs typeface="+mn-cs"/>
            </a:endParaRPr>
          </a:p>
        </p:txBody>
      </p:sp>
      <p:sp>
        <p:nvSpPr>
          <p:cNvPr id="358411" name="Rectangle 11"/>
          <p:cNvSpPr>
            <a:spLocks noChangeArrowheads="1"/>
          </p:cNvSpPr>
          <p:nvPr/>
        </p:nvSpPr>
        <p:spPr bwMode="auto">
          <a:xfrm>
            <a:off x="5029200" y="1524000"/>
            <a:ext cx="2362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1700"/>
              <a:t>Esempio di chiamata FIB(4)</a:t>
            </a:r>
          </a:p>
        </p:txBody>
      </p:sp>
      <p:grpSp>
        <p:nvGrpSpPr>
          <p:cNvPr id="3" name="Group 121"/>
          <p:cNvGrpSpPr>
            <a:grpSpLocks/>
          </p:cNvGrpSpPr>
          <p:nvPr/>
        </p:nvGrpSpPr>
        <p:grpSpPr bwMode="auto">
          <a:xfrm>
            <a:off x="5181600" y="1981200"/>
            <a:ext cx="1524000" cy="3200400"/>
            <a:chOff x="3264" y="1248"/>
            <a:chExt cx="960" cy="2016"/>
          </a:xfrm>
        </p:grpSpPr>
        <p:grpSp>
          <p:nvGrpSpPr>
            <p:cNvPr id="8282" name="Group 29"/>
            <p:cNvGrpSpPr>
              <a:grpSpLocks/>
            </p:cNvGrpSpPr>
            <p:nvPr/>
          </p:nvGrpSpPr>
          <p:grpSpPr bwMode="auto">
            <a:xfrm>
              <a:off x="3408" y="1488"/>
              <a:ext cx="288" cy="192"/>
              <a:chOff x="3504" y="2304"/>
              <a:chExt cx="192" cy="192"/>
            </a:xfrm>
          </p:grpSpPr>
          <p:sp>
            <p:nvSpPr>
              <p:cNvPr id="8289" name="Line 3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90" name="Line 3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83" name="Group 44"/>
            <p:cNvGrpSpPr>
              <a:grpSpLocks/>
            </p:cNvGrpSpPr>
            <p:nvPr/>
          </p:nvGrpSpPr>
          <p:grpSpPr bwMode="auto">
            <a:xfrm>
              <a:off x="3408" y="1680"/>
              <a:ext cx="288" cy="1488"/>
              <a:chOff x="3504" y="2304"/>
              <a:chExt cx="192" cy="192"/>
            </a:xfrm>
          </p:grpSpPr>
          <p:sp>
            <p:nvSpPr>
              <p:cNvPr id="8287" name="Line 45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88" name="Line 46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84" name="Rectangle 47"/>
            <p:cNvSpPr>
              <a:spLocks noChangeArrowheads="1"/>
            </p:cNvSpPr>
            <p:nvPr/>
          </p:nvSpPr>
          <p:spPr bwMode="auto">
            <a:xfrm>
              <a:off x="3696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85" name="Rectangle 48"/>
            <p:cNvSpPr>
              <a:spLocks noChangeArrowheads="1"/>
            </p:cNvSpPr>
            <p:nvPr/>
          </p:nvSpPr>
          <p:spPr bwMode="auto">
            <a:xfrm>
              <a:off x="3696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86" name="Rectangle 62"/>
            <p:cNvSpPr>
              <a:spLocks noChangeArrowheads="1"/>
            </p:cNvSpPr>
            <p:nvPr/>
          </p:nvSpPr>
          <p:spPr bwMode="auto">
            <a:xfrm>
              <a:off x="3264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</p:grpSp>
      <p:grpSp>
        <p:nvGrpSpPr>
          <p:cNvPr id="6" name="Group 156"/>
          <p:cNvGrpSpPr>
            <a:grpSpLocks/>
          </p:cNvGrpSpPr>
          <p:nvPr/>
        </p:nvGrpSpPr>
        <p:grpSpPr bwMode="auto">
          <a:xfrm>
            <a:off x="5181600" y="1981200"/>
            <a:ext cx="2209800" cy="3200400"/>
            <a:chOff x="4512" y="1248"/>
            <a:chExt cx="1392" cy="2016"/>
          </a:xfrm>
        </p:grpSpPr>
        <p:grpSp>
          <p:nvGrpSpPr>
            <p:cNvPr id="8265" name="Group 88"/>
            <p:cNvGrpSpPr>
              <a:grpSpLocks/>
            </p:cNvGrpSpPr>
            <p:nvPr/>
          </p:nvGrpSpPr>
          <p:grpSpPr bwMode="auto">
            <a:xfrm>
              <a:off x="4656" y="1488"/>
              <a:ext cx="288" cy="192"/>
              <a:chOff x="3504" y="2304"/>
              <a:chExt cx="192" cy="192"/>
            </a:xfrm>
          </p:grpSpPr>
          <p:sp>
            <p:nvSpPr>
              <p:cNvPr id="8280" name="Line 8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81" name="Line 9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66" name="Group 91"/>
            <p:cNvGrpSpPr>
              <a:grpSpLocks/>
            </p:cNvGrpSpPr>
            <p:nvPr/>
          </p:nvGrpSpPr>
          <p:grpSpPr bwMode="auto">
            <a:xfrm>
              <a:off x="4656" y="1680"/>
              <a:ext cx="288" cy="1488"/>
              <a:chOff x="3504" y="2304"/>
              <a:chExt cx="192" cy="192"/>
            </a:xfrm>
          </p:grpSpPr>
          <p:sp>
            <p:nvSpPr>
              <p:cNvPr id="8278" name="Line 9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9" name="Line 9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67" name="Rectangle 94"/>
            <p:cNvSpPr>
              <a:spLocks noChangeArrowheads="1"/>
            </p:cNvSpPr>
            <p:nvPr/>
          </p:nvSpPr>
          <p:spPr bwMode="auto">
            <a:xfrm>
              <a:off x="4944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68" name="Rectangle 95"/>
            <p:cNvSpPr>
              <a:spLocks noChangeArrowheads="1"/>
            </p:cNvSpPr>
            <p:nvPr/>
          </p:nvSpPr>
          <p:spPr bwMode="auto">
            <a:xfrm>
              <a:off x="4944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69" name="Group 96"/>
            <p:cNvGrpSpPr>
              <a:grpSpLocks/>
            </p:cNvGrpSpPr>
            <p:nvPr/>
          </p:nvGrpSpPr>
          <p:grpSpPr bwMode="auto">
            <a:xfrm>
              <a:off x="5088" y="1776"/>
              <a:ext cx="288" cy="192"/>
              <a:chOff x="3504" y="2304"/>
              <a:chExt cx="192" cy="192"/>
            </a:xfrm>
          </p:grpSpPr>
          <p:sp>
            <p:nvSpPr>
              <p:cNvPr id="8276" name="Line 9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7" name="Line 9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70" name="Rectangle 99"/>
            <p:cNvSpPr>
              <a:spLocks noChangeArrowheads="1"/>
            </p:cNvSpPr>
            <p:nvPr/>
          </p:nvSpPr>
          <p:spPr bwMode="auto">
            <a:xfrm>
              <a:off x="5376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71" name="Rectangle 106"/>
            <p:cNvSpPr>
              <a:spLocks noChangeArrowheads="1"/>
            </p:cNvSpPr>
            <p:nvPr/>
          </p:nvSpPr>
          <p:spPr bwMode="auto">
            <a:xfrm>
              <a:off x="4512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grpSp>
          <p:nvGrpSpPr>
            <p:cNvPr id="8272" name="Group 109"/>
            <p:cNvGrpSpPr>
              <a:grpSpLocks/>
            </p:cNvGrpSpPr>
            <p:nvPr/>
          </p:nvGrpSpPr>
          <p:grpSpPr bwMode="auto">
            <a:xfrm>
              <a:off x="5088" y="1968"/>
              <a:ext cx="288" cy="912"/>
              <a:chOff x="3504" y="2304"/>
              <a:chExt cx="192" cy="192"/>
            </a:xfrm>
          </p:grpSpPr>
          <p:sp>
            <p:nvSpPr>
              <p:cNvPr id="8274" name="Line 11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5" name="Line 11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73" name="Rectangle 112"/>
            <p:cNvSpPr>
              <a:spLocks noChangeArrowheads="1"/>
            </p:cNvSpPr>
            <p:nvPr/>
          </p:nvSpPr>
          <p:spPr bwMode="auto">
            <a:xfrm>
              <a:off x="5376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</p:grpSp>
      <p:grpSp>
        <p:nvGrpSpPr>
          <p:cNvPr id="11" name="Group 192"/>
          <p:cNvGrpSpPr>
            <a:grpSpLocks/>
          </p:cNvGrpSpPr>
          <p:nvPr/>
        </p:nvGrpSpPr>
        <p:grpSpPr bwMode="auto">
          <a:xfrm>
            <a:off x="5181600" y="1981200"/>
            <a:ext cx="2209800" cy="4114800"/>
            <a:chOff x="4896" y="1248"/>
            <a:chExt cx="1392" cy="2592"/>
          </a:xfrm>
        </p:grpSpPr>
        <p:grpSp>
          <p:nvGrpSpPr>
            <p:cNvPr id="8240" name="Group 123"/>
            <p:cNvGrpSpPr>
              <a:grpSpLocks/>
            </p:cNvGrpSpPr>
            <p:nvPr/>
          </p:nvGrpSpPr>
          <p:grpSpPr bwMode="auto">
            <a:xfrm>
              <a:off x="5040" y="1488"/>
              <a:ext cx="288" cy="192"/>
              <a:chOff x="3504" y="2304"/>
              <a:chExt cx="192" cy="192"/>
            </a:xfrm>
          </p:grpSpPr>
          <p:sp>
            <p:nvSpPr>
              <p:cNvPr id="8263" name="Line 12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4" name="Line 12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41" name="Group 126"/>
            <p:cNvGrpSpPr>
              <a:grpSpLocks/>
            </p:cNvGrpSpPr>
            <p:nvPr/>
          </p:nvGrpSpPr>
          <p:grpSpPr bwMode="auto">
            <a:xfrm>
              <a:off x="5040" y="1680"/>
              <a:ext cx="288" cy="1488"/>
              <a:chOff x="3504" y="2304"/>
              <a:chExt cx="192" cy="192"/>
            </a:xfrm>
          </p:grpSpPr>
          <p:sp>
            <p:nvSpPr>
              <p:cNvPr id="8261" name="Line 12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2" name="Line 12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2" name="Rectangle 129"/>
            <p:cNvSpPr>
              <a:spLocks noChangeArrowheads="1"/>
            </p:cNvSpPr>
            <p:nvPr/>
          </p:nvSpPr>
          <p:spPr bwMode="auto">
            <a:xfrm>
              <a:off x="5328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43" name="Rectangle 130"/>
            <p:cNvSpPr>
              <a:spLocks noChangeArrowheads="1"/>
            </p:cNvSpPr>
            <p:nvPr/>
          </p:nvSpPr>
          <p:spPr bwMode="auto">
            <a:xfrm>
              <a:off x="5328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44" name="Group 131"/>
            <p:cNvGrpSpPr>
              <a:grpSpLocks/>
            </p:cNvGrpSpPr>
            <p:nvPr/>
          </p:nvGrpSpPr>
          <p:grpSpPr bwMode="auto">
            <a:xfrm>
              <a:off x="5472" y="1776"/>
              <a:ext cx="288" cy="192"/>
              <a:chOff x="3504" y="2304"/>
              <a:chExt cx="192" cy="192"/>
            </a:xfrm>
          </p:grpSpPr>
          <p:sp>
            <p:nvSpPr>
              <p:cNvPr id="8259" name="Line 13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0" name="Line 13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5" name="Rectangle 134"/>
            <p:cNvSpPr>
              <a:spLocks noChangeArrowheads="1"/>
            </p:cNvSpPr>
            <p:nvPr/>
          </p:nvSpPr>
          <p:spPr bwMode="auto">
            <a:xfrm>
              <a:off x="5760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46" name="Rectangle 141"/>
            <p:cNvSpPr>
              <a:spLocks noChangeArrowheads="1"/>
            </p:cNvSpPr>
            <p:nvPr/>
          </p:nvSpPr>
          <p:spPr bwMode="auto">
            <a:xfrm>
              <a:off x="4896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grpSp>
          <p:nvGrpSpPr>
            <p:cNvPr id="8247" name="Group 144"/>
            <p:cNvGrpSpPr>
              <a:grpSpLocks/>
            </p:cNvGrpSpPr>
            <p:nvPr/>
          </p:nvGrpSpPr>
          <p:grpSpPr bwMode="auto">
            <a:xfrm>
              <a:off x="5472" y="1968"/>
              <a:ext cx="288" cy="912"/>
              <a:chOff x="3504" y="2304"/>
              <a:chExt cx="192" cy="192"/>
            </a:xfrm>
          </p:grpSpPr>
          <p:sp>
            <p:nvSpPr>
              <p:cNvPr id="8257" name="Line 145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8" name="Line 146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8" name="Rectangle 147"/>
            <p:cNvSpPr>
              <a:spLocks noChangeArrowheads="1"/>
            </p:cNvSpPr>
            <p:nvPr/>
          </p:nvSpPr>
          <p:spPr bwMode="auto">
            <a:xfrm>
              <a:off x="5760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grpSp>
          <p:nvGrpSpPr>
            <p:cNvPr id="8249" name="Group 148"/>
            <p:cNvGrpSpPr>
              <a:grpSpLocks/>
            </p:cNvGrpSpPr>
            <p:nvPr/>
          </p:nvGrpSpPr>
          <p:grpSpPr bwMode="auto">
            <a:xfrm>
              <a:off x="5472" y="3264"/>
              <a:ext cx="288" cy="192"/>
              <a:chOff x="3504" y="2304"/>
              <a:chExt cx="192" cy="192"/>
            </a:xfrm>
          </p:grpSpPr>
          <p:sp>
            <p:nvSpPr>
              <p:cNvPr id="8255" name="Line 14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6" name="Line 15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0" name="Group 151"/>
            <p:cNvGrpSpPr>
              <a:grpSpLocks/>
            </p:cNvGrpSpPr>
            <p:nvPr/>
          </p:nvGrpSpPr>
          <p:grpSpPr bwMode="auto">
            <a:xfrm>
              <a:off x="5472" y="3456"/>
              <a:ext cx="288" cy="288"/>
              <a:chOff x="3504" y="2304"/>
              <a:chExt cx="192" cy="192"/>
            </a:xfrm>
          </p:grpSpPr>
          <p:sp>
            <p:nvSpPr>
              <p:cNvPr id="8253" name="Line 15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4" name="Line 15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51" name="Rectangle 154"/>
            <p:cNvSpPr>
              <a:spLocks noChangeArrowheads="1"/>
            </p:cNvSpPr>
            <p:nvPr/>
          </p:nvSpPr>
          <p:spPr bwMode="auto">
            <a:xfrm>
              <a:off x="5760" y="33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52" name="Rectangle 155"/>
            <p:cNvSpPr>
              <a:spLocks noChangeArrowheads="1"/>
            </p:cNvSpPr>
            <p:nvPr/>
          </p:nvSpPr>
          <p:spPr bwMode="auto">
            <a:xfrm>
              <a:off x="5760" y="36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</p:grpSp>
      <p:grpSp>
        <p:nvGrpSpPr>
          <p:cNvPr id="18" name="Group 157"/>
          <p:cNvGrpSpPr>
            <a:grpSpLocks/>
          </p:cNvGrpSpPr>
          <p:nvPr/>
        </p:nvGrpSpPr>
        <p:grpSpPr bwMode="auto">
          <a:xfrm>
            <a:off x="5181600" y="1981200"/>
            <a:ext cx="2895600" cy="4114800"/>
            <a:chOff x="3168" y="1248"/>
            <a:chExt cx="1824" cy="2592"/>
          </a:xfrm>
        </p:grpSpPr>
        <p:grpSp>
          <p:nvGrpSpPr>
            <p:cNvPr id="8207" name="Group 158"/>
            <p:cNvGrpSpPr>
              <a:grpSpLocks/>
            </p:cNvGrpSpPr>
            <p:nvPr/>
          </p:nvGrpSpPr>
          <p:grpSpPr bwMode="auto">
            <a:xfrm>
              <a:off x="3312" y="1488"/>
              <a:ext cx="288" cy="192"/>
              <a:chOff x="3504" y="2304"/>
              <a:chExt cx="192" cy="192"/>
            </a:xfrm>
          </p:grpSpPr>
          <p:sp>
            <p:nvSpPr>
              <p:cNvPr id="8238" name="Line 15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9" name="Line 16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08" name="Group 161"/>
            <p:cNvGrpSpPr>
              <a:grpSpLocks/>
            </p:cNvGrpSpPr>
            <p:nvPr/>
          </p:nvGrpSpPr>
          <p:grpSpPr bwMode="auto">
            <a:xfrm>
              <a:off x="3312" y="1680"/>
              <a:ext cx="288" cy="1488"/>
              <a:chOff x="3504" y="2304"/>
              <a:chExt cx="192" cy="192"/>
            </a:xfrm>
          </p:grpSpPr>
          <p:sp>
            <p:nvSpPr>
              <p:cNvPr id="8236" name="Line 16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7" name="Line 16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09" name="Rectangle 164"/>
            <p:cNvSpPr>
              <a:spLocks noChangeArrowheads="1"/>
            </p:cNvSpPr>
            <p:nvPr/>
          </p:nvSpPr>
          <p:spPr bwMode="auto">
            <a:xfrm>
              <a:off x="3600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10" name="Rectangle 165"/>
            <p:cNvSpPr>
              <a:spLocks noChangeArrowheads="1"/>
            </p:cNvSpPr>
            <p:nvPr/>
          </p:nvSpPr>
          <p:spPr bwMode="auto">
            <a:xfrm>
              <a:off x="3600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11" name="Group 166"/>
            <p:cNvGrpSpPr>
              <a:grpSpLocks/>
            </p:cNvGrpSpPr>
            <p:nvPr/>
          </p:nvGrpSpPr>
          <p:grpSpPr bwMode="auto">
            <a:xfrm>
              <a:off x="3744" y="1776"/>
              <a:ext cx="288" cy="192"/>
              <a:chOff x="3504" y="2304"/>
              <a:chExt cx="192" cy="192"/>
            </a:xfrm>
          </p:grpSpPr>
          <p:sp>
            <p:nvSpPr>
              <p:cNvPr id="8234" name="Line 16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5" name="Line 16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2" name="Rectangle 169"/>
            <p:cNvSpPr>
              <a:spLocks noChangeArrowheads="1"/>
            </p:cNvSpPr>
            <p:nvPr/>
          </p:nvSpPr>
          <p:spPr bwMode="auto">
            <a:xfrm>
              <a:off x="4032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13" name="Group 170"/>
            <p:cNvGrpSpPr>
              <a:grpSpLocks/>
            </p:cNvGrpSpPr>
            <p:nvPr/>
          </p:nvGrpSpPr>
          <p:grpSpPr bwMode="auto">
            <a:xfrm>
              <a:off x="4176" y="2064"/>
              <a:ext cx="288" cy="192"/>
              <a:chOff x="3504" y="2304"/>
              <a:chExt cx="192" cy="192"/>
            </a:xfrm>
          </p:grpSpPr>
          <p:sp>
            <p:nvSpPr>
              <p:cNvPr id="8232" name="Line 171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3" name="Line 172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4" name="Group 173"/>
            <p:cNvGrpSpPr>
              <a:grpSpLocks/>
            </p:cNvGrpSpPr>
            <p:nvPr/>
          </p:nvGrpSpPr>
          <p:grpSpPr bwMode="auto">
            <a:xfrm>
              <a:off x="4176" y="2256"/>
              <a:ext cx="288" cy="288"/>
              <a:chOff x="3504" y="2304"/>
              <a:chExt cx="192" cy="192"/>
            </a:xfrm>
          </p:grpSpPr>
          <p:sp>
            <p:nvSpPr>
              <p:cNvPr id="8230" name="Line 17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1" name="Line 17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5" name="Rectangle 176"/>
            <p:cNvSpPr>
              <a:spLocks noChangeArrowheads="1"/>
            </p:cNvSpPr>
            <p:nvPr/>
          </p:nvSpPr>
          <p:spPr bwMode="auto">
            <a:xfrm>
              <a:off x="3168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sp>
          <p:nvSpPr>
            <p:cNvPr id="8216" name="Rectangle 177"/>
            <p:cNvSpPr>
              <a:spLocks noChangeArrowheads="1"/>
            </p:cNvSpPr>
            <p:nvPr/>
          </p:nvSpPr>
          <p:spPr bwMode="auto">
            <a:xfrm>
              <a:off x="4464" y="21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17" name="Rectangle 178"/>
            <p:cNvSpPr>
              <a:spLocks noChangeArrowheads="1"/>
            </p:cNvSpPr>
            <p:nvPr/>
          </p:nvSpPr>
          <p:spPr bwMode="auto">
            <a:xfrm>
              <a:off x="4464" y="24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  <p:grpSp>
          <p:nvGrpSpPr>
            <p:cNvPr id="8218" name="Group 179"/>
            <p:cNvGrpSpPr>
              <a:grpSpLocks/>
            </p:cNvGrpSpPr>
            <p:nvPr/>
          </p:nvGrpSpPr>
          <p:grpSpPr bwMode="auto">
            <a:xfrm>
              <a:off x="3744" y="1968"/>
              <a:ext cx="288" cy="912"/>
              <a:chOff x="3504" y="2304"/>
              <a:chExt cx="192" cy="192"/>
            </a:xfrm>
          </p:grpSpPr>
          <p:sp>
            <p:nvSpPr>
              <p:cNvPr id="8228" name="Line 18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9" name="Line 18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9" name="Rectangle 182"/>
            <p:cNvSpPr>
              <a:spLocks noChangeArrowheads="1"/>
            </p:cNvSpPr>
            <p:nvPr/>
          </p:nvSpPr>
          <p:spPr bwMode="auto">
            <a:xfrm>
              <a:off x="4032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grpSp>
          <p:nvGrpSpPr>
            <p:cNvPr id="8220" name="Group 183"/>
            <p:cNvGrpSpPr>
              <a:grpSpLocks/>
            </p:cNvGrpSpPr>
            <p:nvPr/>
          </p:nvGrpSpPr>
          <p:grpSpPr bwMode="auto">
            <a:xfrm>
              <a:off x="3744" y="3264"/>
              <a:ext cx="288" cy="192"/>
              <a:chOff x="3504" y="2304"/>
              <a:chExt cx="192" cy="192"/>
            </a:xfrm>
          </p:grpSpPr>
          <p:sp>
            <p:nvSpPr>
              <p:cNvPr id="8226" name="Line 18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7" name="Line 18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1" name="Group 186"/>
            <p:cNvGrpSpPr>
              <a:grpSpLocks/>
            </p:cNvGrpSpPr>
            <p:nvPr/>
          </p:nvGrpSpPr>
          <p:grpSpPr bwMode="auto">
            <a:xfrm>
              <a:off x="3744" y="3456"/>
              <a:ext cx="288" cy="288"/>
              <a:chOff x="3504" y="2304"/>
              <a:chExt cx="192" cy="192"/>
            </a:xfrm>
          </p:grpSpPr>
          <p:sp>
            <p:nvSpPr>
              <p:cNvPr id="8224" name="Line 18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5" name="Line 18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22" name="Rectangle 189"/>
            <p:cNvSpPr>
              <a:spLocks noChangeArrowheads="1"/>
            </p:cNvSpPr>
            <p:nvPr/>
          </p:nvSpPr>
          <p:spPr bwMode="auto">
            <a:xfrm>
              <a:off x="4032" y="33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23" name="Rectangle 190"/>
            <p:cNvSpPr>
              <a:spLocks noChangeArrowheads="1"/>
            </p:cNvSpPr>
            <p:nvPr/>
          </p:nvSpPr>
          <p:spPr bwMode="auto">
            <a:xfrm>
              <a:off x="4032" y="36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</p:grpSp>
      <p:grpSp>
        <p:nvGrpSpPr>
          <p:cNvPr id="27" name="Group 199"/>
          <p:cNvGrpSpPr>
            <a:grpSpLocks/>
          </p:cNvGrpSpPr>
          <p:nvPr/>
        </p:nvGrpSpPr>
        <p:grpSpPr bwMode="auto">
          <a:xfrm>
            <a:off x="304800" y="2841625"/>
            <a:ext cx="7924800" cy="3482975"/>
            <a:chOff x="192" y="1790"/>
            <a:chExt cx="4992" cy="2194"/>
          </a:xfrm>
        </p:grpSpPr>
        <p:sp>
          <p:nvSpPr>
            <p:cNvPr id="8204" name="Rectangle 193"/>
            <p:cNvSpPr>
              <a:spLocks noChangeArrowheads="1"/>
            </p:cNvSpPr>
            <p:nvPr/>
          </p:nvSpPr>
          <p:spPr bwMode="auto">
            <a:xfrm>
              <a:off x="4032" y="1790"/>
              <a:ext cx="1152" cy="912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205" name="Rectangle 194"/>
            <p:cNvSpPr>
              <a:spLocks noChangeArrowheads="1"/>
            </p:cNvSpPr>
            <p:nvPr/>
          </p:nvSpPr>
          <p:spPr bwMode="auto">
            <a:xfrm>
              <a:off x="3600" y="2992"/>
              <a:ext cx="1152" cy="912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58598" name="Rectangle 198"/>
            <p:cNvSpPr>
              <a:spLocks noChangeArrowheads="1"/>
            </p:cNvSpPr>
            <p:nvPr/>
          </p:nvSpPr>
          <p:spPr bwMode="auto">
            <a:xfrm>
              <a:off x="192" y="3552"/>
              <a:ext cx="3216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NB: nella chiamata FIB(4), il numero di</a:t>
              </a:r>
            </a:p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Fibonacci per n=2 viene calcolato 2 volte</a:t>
              </a:r>
              <a:endParaRPr lang="en-GB" sz="2000">
                <a:latin typeface="Arial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 autoUpdateAnimBg="0"/>
      <p:bldP spid="358409" grpId="0" animBg="1" autoUpdateAnimBg="0"/>
      <p:bldP spid="358411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EFBB890D-F42A-EB4E-8A56-5129527DB2CA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4</a:t>
            </a:fld>
            <a:endParaRPr lang="en-US" sz="1400" smtClean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533400"/>
          </a:xfrm>
        </p:spPr>
        <p:txBody>
          <a:bodyPr/>
          <a:lstStyle/>
          <a:p>
            <a:pPr eaLnBrk="1" hangingPunct="1">
              <a:buFont typeface="Wingdings" charset="0"/>
              <a:buNone/>
              <a:defRPr/>
            </a:pPr>
            <a:r>
              <a:rPr lang="it-IT" b="1" smtClean="0">
                <a:latin typeface="Comic Sans MS" charset="0"/>
                <a:ea typeface="ＭＳ Ｐゴシック" charset="0"/>
              </a:rPr>
              <a:t>Algoritmo alternativo a FIB(n)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" y="1905000"/>
            <a:ext cx="7086600" cy="4572000"/>
            <a:chOff x="288" y="1200"/>
            <a:chExt cx="4464" cy="2880"/>
          </a:xfrm>
        </p:grpSpPr>
        <p:sp>
          <p:nvSpPr>
            <p:cNvPr id="10246" name="AutoShape 7"/>
            <p:cNvSpPr>
              <a:spLocks noChangeArrowheads="1"/>
            </p:cNvSpPr>
            <p:nvPr/>
          </p:nvSpPr>
          <p:spPr bwMode="auto">
            <a:xfrm>
              <a:off x="288" y="1200"/>
              <a:ext cx="4464" cy="2880"/>
            </a:xfrm>
            <a:prstGeom prst="flowChartDocumen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0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0247" name="Text Box 8"/>
            <p:cNvSpPr txBox="1">
              <a:spLocks noChangeArrowheads="1"/>
            </p:cNvSpPr>
            <p:nvPr/>
          </p:nvSpPr>
          <p:spPr bwMode="auto">
            <a:xfrm>
              <a:off x="874" y="1296"/>
              <a:ext cx="129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700">
                  <a:latin typeface="Arial" charset="0"/>
                </a:rPr>
                <a:t>Procedura FIB2(n)</a:t>
              </a:r>
              <a:endParaRPr lang="it-IT" sz="1700" baseline="30000">
                <a:solidFill>
                  <a:srgbClr val="FF00FF"/>
                </a:solidFill>
                <a:latin typeface="Arial" charset="0"/>
              </a:endParaRPr>
            </a:p>
          </p:txBody>
        </p:sp>
        <p:sp>
          <p:nvSpPr>
            <p:cNvPr id="10248" name="Rectangle 9"/>
            <p:cNvSpPr>
              <a:spLocks noChangeArrowheads="1"/>
            </p:cNvSpPr>
            <p:nvPr/>
          </p:nvSpPr>
          <p:spPr bwMode="auto">
            <a:xfrm>
              <a:off x="619" y="1536"/>
              <a:ext cx="3885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begin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for i=0 to n do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begin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 if i=0 or i=1 then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	F[i]:=1;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 else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	F[i]:=F[i-1]+F[i-2];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end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return F(n);	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end</a:t>
              </a:r>
            </a:p>
          </p:txBody>
        </p:sp>
      </p:grpSp>
      <p:sp>
        <p:nvSpPr>
          <p:cNvPr id="334865" name="Rectangle 17"/>
          <p:cNvSpPr>
            <a:spLocks noChangeArrowheads="1"/>
          </p:cNvSpPr>
          <p:nvPr/>
        </p:nvSpPr>
        <p:spPr bwMode="auto">
          <a:xfrm>
            <a:off x="3505200" y="5638800"/>
            <a:ext cx="5105400" cy="6858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it-IT" sz="2000">
                <a:latin typeface="Arial" charset="0"/>
                <a:cs typeface="+mn-cs"/>
              </a:rPr>
              <a:t>NB: nella chiamata FIB2(4), il valore F[2]</a:t>
            </a:r>
          </a:p>
          <a:p>
            <a:pPr>
              <a:defRPr/>
            </a:pPr>
            <a:r>
              <a:rPr lang="it-IT" sz="2000">
                <a:latin typeface="Arial" charset="0"/>
                <a:cs typeface="+mn-cs"/>
              </a:rPr>
              <a:t>viene sfruttato 2 volte ma calcolato 1 volta</a:t>
            </a:r>
            <a:endParaRPr lang="en-GB" sz="2000">
              <a:latin typeface="Arial" charset="0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6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00832DDC-7018-704A-B043-4DADE222397A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5</a:t>
            </a:fld>
            <a:endParaRPr lang="en-US" sz="1400" smtClean="0"/>
          </a:p>
        </p:txBody>
      </p:sp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Passi fondamentali della Programmazione Dinamica</a:t>
            </a: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Riduzione del problema in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endParaRPr lang="it-IT" dirty="0" smtClean="0">
              <a:latin typeface="Comic Sans MS" charset="0"/>
              <a:ea typeface="ＭＳ Ｐゴシック" charset="0"/>
            </a:endParaRP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Risoluzione di tutti i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r>
              <a:rPr lang="it-IT" dirty="0" smtClean="0">
                <a:latin typeface="Comic Sans MS" charset="0"/>
                <a:ea typeface="ＭＳ Ｐゴシック" charset="0"/>
              </a:rPr>
              <a:t> possibili</a:t>
            </a: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Risoluzione del problema originale tramite l’utilizzo delle soluzioni dei suoi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endParaRPr lang="it-IT" dirty="0" smtClean="0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it-IT" smtClean="0">
              <a:cs typeface="+mj-cs"/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it-IT" smtClean="0">
              <a:solidFill>
                <a:srgbClr val="FF0000"/>
              </a:solidFill>
              <a:latin typeface="Times New Roman" charset="0"/>
              <a:cs typeface="+mn-cs"/>
            </a:endParaRPr>
          </a:p>
          <a:p>
            <a:pPr eaLnBrk="1" hangingPunct="1">
              <a:defRPr/>
            </a:pPr>
            <a:endParaRPr lang="it-IT" smtClean="0">
              <a:solidFill>
                <a:srgbClr val="FF0000"/>
              </a:solidFill>
              <a:latin typeface="Times New Roman" charset="0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solidFill>
                  <a:srgbClr val="FF0000"/>
                </a:solidFill>
                <a:cs typeface="+mj-cs"/>
              </a:rPr>
              <a:t>Prodotto di matrici n*n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ALGORITMO IMMEDIATO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O(n</a:t>
            </a:r>
            <a:r>
              <a:rPr lang="it-IT" baseline="30000" dirty="0" smtClean="0">
                <a:cs typeface="Arial"/>
              </a:rPr>
              <a:t>3</a:t>
            </a:r>
            <a:r>
              <a:rPr lang="it-IT" dirty="0" smtClean="0">
                <a:cs typeface="Arial"/>
              </a:rPr>
              <a:t>) somme/prodotti di reali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ALGORITMO DI STRASSEN (1969)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solidFill>
                  <a:srgbClr val="FF0000"/>
                </a:solidFill>
                <a:cs typeface="Arial"/>
              </a:rPr>
              <a:t>Per </a:t>
            </a:r>
            <a:r>
              <a:rPr lang="it-IT" dirty="0" err="1" smtClean="0">
                <a:solidFill>
                  <a:srgbClr val="FF0000"/>
                </a:solidFill>
                <a:cs typeface="Arial"/>
              </a:rPr>
              <a:t>n</a:t>
            </a:r>
            <a:r>
              <a:rPr lang="it-IT" dirty="0" smtClean="0">
                <a:solidFill>
                  <a:srgbClr val="FF0000"/>
                </a:solidFill>
                <a:cs typeface="Arial"/>
              </a:rPr>
              <a:t> = 1: 1 prodotto e 0 somme di reali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solidFill>
                  <a:srgbClr val="FF0000"/>
                </a:solidFill>
                <a:cs typeface="Arial"/>
              </a:rPr>
              <a:t>Per </a:t>
            </a:r>
            <a:r>
              <a:rPr lang="it-IT" dirty="0" err="1" smtClean="0">
                <a:solidFill>
                  <a:srgbClr val="FF0000"/>
                </a:solidFill>
                <a:cs typeface="Arial"/>
              </a:rPr>
              <a:t>n</a:t>
            </a:r>
            <a:r>
              <a:rPr lang="it-IT" dirty="0" smtClean="0">
                <a:solidFill>
                  <a:srgbClr val="FF0000"/>
                </a:solidFill>
                <a:cs typeface="Arial"/>
              </a:rPr>
              <a:t> = 2: 7 moltiplicazioni e 18 addizioni (sarebbero 8 e 4 con l’algoritmo immediato)</a:t>
            </a:r>
          </a:p>
        </p:txBody>
      </p:sp>
      <p:graphicFrame>
        <p:nvGraphicFramePr>
          <p:cNvPr id="448530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09799"/>
              </p:ext>
            </p:extLst>
          </p:nvPr>
        </p:nvGraphicFramePr>
        <p:xfrm>
          <a:off x="2434208" y="4446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854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94060"/>
              </p:ext>
            </p:extLst>
          </p:nvPr>
        </p:nvGraphicFramePr>
        <p:xfrm>
          <a:off x="5939408" y="4446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8544" name="Text Box 32"/>
          <p:cNvSpPr txBox="1">
            <a:spLocks noChangeArrowheads="1"/>
          </p:cNvSpPr>
          <p:nvPr/>
        </p:nvSpPr>
        <p:spPr bwMode="auto">
          <a:xfrm>
            <a:off x="1519808" y="4598640"/>
            <a:ext cx="68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 dirty="0">
                <a:cs typeface="+mn-cs"/>
              </a:rPr>
              <a:t>A =</a:t>
            </a:r>
          </a:p>
        </p:txBody>
      </p:sp>
      <p:sp>
        <p:nvSpPr>
          <p:cNvPr id="448545" name="Text Box 33"/>
          <p:cNvSpPr txBox="1">
            <a:spLocks noChangeArrowheads="1"/>
          </p:cNvSpPr>
          <p:nvPr/>
        </p:nvSpPr>
        <p:spPr bwMode="auto">
          <a:xfrm>
            <a:off x="4948808" y="4598640"/>
            <a:ext cx="68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>
                <a:cs typeface="+mn-cs"/>
              </a:rPr>
              <a:t>B =</a:t>
            </a:r>
          </a:p>
        </p:txBody>
      </p:sp>
      <p:sp>
        <p:nvSpPr>
          <p:cNvPr id="448546" name="Text Box 34"/>
          <p:cNvSpPr txBox="1">
            <a:spLocks noChangeArrowheads="1"/>
          </p:cNvSpPr>
          <p:nvPr/>
        </p:nvSpPr>
        <p:spPr bwMode="auto">
          <a:xfrm>
            <a:off x="2815208" y="5817840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>
                <a:cs typeface="+mn-cs"/>
              </a:rPr>
              <a:t>C = A*B =</a:t>
            </a:r>
          </a:p>
        </p:txBody>
      </p:sp>
      <p:graphicFrame>
        <p:nvGraphicFramePr>
          <p:cNvPr id="44856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408453"/>
              </p:ext>
            </p:extLst>
          </p:nvPr>
        </p:nvGraphicFramePr>
        <p:xfrm>
          <a:off x="4644008" y="5589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L’algoritmo di Strassen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352928" cy="5040560"/>
          </a:xfrm>
        </p:spPr>
        <p:txBody>
          <a:bodyPr/>
          <a:lstStyle/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3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4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5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7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11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4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-P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5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7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12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3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5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21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4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22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3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-P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L’algoritmo di Strassen</a:t>
            </a:r>
          </a:p>
        </p:txBody>
      </p:sp>
      <p:sp>
        <p:nvSpPr>
          <p:cNvPr id="4515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Per </a:t>
            </a:r>
            <a:r>
              <a:rPr lang="it-IT" dirty="0" err="1" smtClean="0">
                <a:cs typeface="+mn-cs"/>
              </a:rPr>
              <a:t>n</a:t>
            </a:r>
            <a:r>
              <a:rPr lang="it-IT" dirty="0" smtClean="0">
                <a:cs typeface="+mn-cs"/>
              </a:rPr>
              <a:t> = 2</a:t>
            </a:r>
            <a:r>
              <a:rPr lang="it-IT" baseline="30000" dirty="0" smtClean="0">
                <a:cs typeface="+mn-cs"/>
              </a:rPr>
              <a:t>k+1</a:t>
            </a:r>
            <a:r>
              <a:rPr lang="it-IT" dirty="0" smtClean="0">
                <a:cs typeface="+mn-cs"/>
              </a:rPr>
              <a:t> : riducibile a 7 moltiplicazioni e 18 somme di matrici di ordine 2</a:t>
            </a:r>
            <a:r>
              <a:rPr lang="it-IT" baseline="30000" dirty="0" smtClean="0">
                <a:cs typeface="+mn-cs"/>
              </a:rPr>
              <a:t>k</a:t>
            </a:r>
            <a:r>
              <a:rPr lang="it-IT" dirty="0" smtClean="0">
                <a:cs typeface="+mn-cs"/>
              </a:rPr>
              <a:t>.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Numero di prodotti: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(1) = 1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(2</a:t>
            </a:r>
            <a:r>
              <a:rPr lang="it-IT" baseline="30000" dirty="0" smtClean="0"/>
              <a:t>k+1</a:t>
            </a:r>
            <a:r>
              <a:rPr lang="it-IT" dirty="0" smtClean="0"/>
              <a:t>) = 7*</a:t>
            </a:r>
            <a:r>
              <a:rPr lang="it-IT" dirty="0" err="1" smtClean="0"/>
              <a:t>P</a:t>
            </a:r>
            <a:r>
              <a:rPr lang="it-IT" dirty="0" smtClean="0"/>
              <a:t>(2</a:t>
            </a:r>
            <a:r>
              <a:rPr lang="it-IT" baseline="30000" dirty="0" smtClean="0"/>
              <a:t>k</a:t>
            </a:r>
            <a:r>
              <a:rPr lang="it-IT" dirty="0" smtClean="0"/>
              <a:t>) 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Numero di somme:</a:t>
            </a:r>
          </a:p>
          <a:p>
            <a:pPr lvl="1" eaLnBrk="1" hangingPunct="1">
              <a:defRPr/>
            </a:pPr>
            <a:r>
              <a:rPr lang="it-IT" dirty="0" err="1" smtClean="0"/>
              <a:t>S</a:t>
            </a:r>
            <a:r>
              <a:rPr lang="it-IT" dirty="0" smtClean="0"/>
              <a:t>(1) = 0</a:t>
            </a:r>
          </a:p>
          <a:p>
            <a:pPr lvl="1" eaLnBrk="1" hangingPunct="1">
              <a:defRPr/>
            </a:pPr>
            <a:r>
              <a:rPr lang="it-IT" dirty="0" err="1" smtClean="0"/>
              <a:t>S</a:t>
            </a:r>
            <a:r>
              <a:rPr lang="it-IT" dirty="0" smtClean="0"/>
              <a:t>(2</a:t>
            </a:r>
            <a:r>
              <a:rPr lang="it-IT" baseline="30000" dirty="0" smtClean="0"/>
              <a:t>k+1</a:t>
            </a:r>
            <a:r>
              <a:rPr lang="it-IT" dirty="0" smtClean="0"/>
              <a:t>) = 7*</a:t>
            </a:r>
            <a:r>
              <a:rPr lang="it-IT" dirty="0" err="1" smtClean="0"/>
              <a:t>S</a:t>
            </a:r>
            <a:r>
              <a:rPr lang="it-IT" dirty="0" smtClean="0"/>
              <a:t>(2</a:t>
            </a:r>
            <a:r>
              <a:rPr lang="it-IT" baseline="30000" dirty="0" smtClean="0"/>
              <a:t>k</a:t>
            </a:r>
            <a:r>
              <a:rPr lang="it-IT" dirty="0" smtClean="0"/>
              <a:t>) + 18</a:t>
            </a:r>
            <a:r>
              <a:rPr lang="it-IT" smtClean="0"/>
              <a:t>*2</a:t>
            </a:r>
            <a:r>
              <a:rPr lang="it-IT" baseline="30000" smtClean="0"/>
              <a:t>2k</a:t>
            </a:r>
            <a:endParaRPr lang="it-IT" baseline="30000" dirty="0" smtClean="0"/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La soluzione: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</a:t>
            </a:r>
            <a:r>
              <a:rPr lang="it-IT" dirty="0" err="1" smtClean="0"/>
              <a:t>n</a:t>
            </a:r>
            <a:r>
              <a:rPr lang="it-IT" dirty="0" smtClean="0"/>
              <a:t>) = </a:t>
            </a:r>
            <a:r>
              <a:rPr lang="it-IT" dirty="0" err="1" smtClean="0"/>
              <a:t>S</a:t>
            </a:r>
            <a:r>
              <a:rPr lang="it-IT" dirty="0" smtClean="0"/>
              <a:t>(</a:t>
            </a:r>
            <a:r>
              <a:rPr lang="it-IT" dirty="0" err="1" smtClean="0"/>
              <a:t>n</a:t>
            </a:r>
            <a:r>
              <a:rPr lang="it-IT" dirty="0" smtClean="0"/>
              <a:t>) = O(n</a:t>
            </a:r>
            <a:r>
              <a:rPr lang="it-IT" baseline="30000" dirty="0" smtClean="0"/>
              <a:t>log7</a:t>
            </a:r>
            <a:r>
              <a:rPr lang="it-IT" dirty="0" smtClean="0"/>
              <a:t>) = O(n</a:t>
            </a:r>
            <a:r>
              <a:rPr lang="it-IT" baseline="30000" dirty="0" smtClean="0"/>
              <a:t>2,81</a:t>
            </a:r>
            <a:r>
              <a:rPr lang="it-IT" dirty="0" smtClean="0"/>
              <a:t>)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848</TotalTime>
  <Words>579</Words>
  <Application>Microsoft Macintosh PowerPoint</Application>
  <PresentationFormat>On-screen Show (4:3)</PresentationFormat>
  <Paragraphs>132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Presentazione</vt:lpstr>
      <vt:lpstr>UNIVERSITA’ DI MILANO-BICOCCA CdL IN INFORMATICA</vt:lpstr>
      <vt:lpstr>Numeri di Fibonacci</vt:lpstr>
      <vt:lpstr>Programmazione Dinamica</vt:lpstr>
      <vt:lpstr>Programmazione Dinamica</vt:lpstr>
      <vt:lpstr>Programmazione Dinamica</vt:lpstr>
      <vt:lpstr>PowerPoint Presentation</vt:lpstr>
      <vt:lpstr>Prodotto di matrici n*n</vt:lpstr>
      <vt:lpstr>L’algoritmo di Strassen</vt:lpstr>
      <vt:lpstr>L’algoritmo di Strassen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38</cp:revision>
  <cp:lastPrinted>2002-02-01T12:39:25Z</cp:lastPrinted>
  <dcterms:created xsi:type="dcterms:W3CDTF">2010-03-03T07:29:28Z</dcterms:created>
  <dcterms:modified xsi:type="dcterms:W3CDTF">2012-04-08T19:57:02Z</dcterms:modified>
</cp:coreProperties>
</file>