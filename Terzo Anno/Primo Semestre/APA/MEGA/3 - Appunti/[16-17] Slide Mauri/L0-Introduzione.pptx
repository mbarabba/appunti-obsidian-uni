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11"/>
  </p:notesMasterIdLst>
  <p:handoutMasterIdLst>
    <p:handoutMasterId r:id="rId12"/>
  </p:handoutMasterIdLst>
  <p:sldIdLst>
    <p:sldId id="453" r:id="rId2"/>
    <p:sldId id="462" r:id="rId3"/>
    <p:sldId id="468" r:id="rId4"/>
    <p:sldId id="469" r:id="rId5"/>
    <p:sldId id="470" r:id="rId6"/>
    <p:sldId id="471" r:id="rId7"/>
    <p:sldId id="477" r:id="rId8"/>
    <p:sldId id="476" r:id="rId9"/>
    <p:sldId id="47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648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84576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2400" y="6525344"/>
            <a:ext cx="720080" cy="272752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A5CB7864-E48A-A24E-9D04-923EB4B530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586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4014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79512" y="188640"/>
            <a:ext cx="8617272" cy="959768"/>
            <a:chOff x="203200" y="381000"/>
            <a:chExt cx="8556625" cy="1052513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493713" y="488950"/>
              <a:ext cx="438150" cy="474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ltGray">
            <a:xfrm>
              <a:off x="876300" y="488950"/>
              <a:ext cx="328613" cy="474663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ltGray">
            <a:xfrm>
              <a:off x="617538" y="911225"/>
              <a:ext cx="422275" cy="47466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ltGray">
            <a:xfrm>
              <a:off x="987425" y="911225"/>
              <a:ext cx="368300" cy="47466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ltGray">
            <a:xfrm>
              <a:off x="203200" y="838200"/>
              <a:ext cx="560388" cy="42227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gray">
            <a:xfrm>
              <a:off x="838200" y="3810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gray">
            <a:xfrm>
              <a:off x="533400" y="1143000"/>
              <a:ext cx="8226425" cy="3175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</p:grp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87624" y="260648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96752"/>
            <a:ext cx="842493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0" r:id="rId3"/>
    <p:sldLayoutId id="2147483721" r:id="rId4"/>
    <p:sldLayoutId id="2147483722" r:id="rId5"/>
    <p:sldLayoutId id="2147483723" r:id="rId6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 dirty="0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 dirty="0">
                <a:ea typeface="ＭＳ Ｐゴシック" charset="0"/>
                <a:cs typeface="ＭＳ Ｐゴシック" charset="0"/>
              </a:rPr>
            </a:br>
            <a:r>
              <a:rPr lang="it-IT" dirty="0" err="1">
                <a:ea typeface="ＭＳ Ｐゴシック" charset="0"/>
                <a:cs typeface="ＭＳ Ｐゴシック" charset="0"/>
              </a:rPr>
              <a:t>CdL</a:t>
            </a:r>
            <a:r>
              <a:rPr lang="it-IT" dirty="0">
                <a:ea typeface="ＭＳ Ｐゴシック" charset="0"/>
                <a:cs typeface="ＭＳ Ｐゴシック" charset="0"/>
              </a:rPr>
              <a:t>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</a:t>
            </a:r>
            <a:r>
              <a:rPr lang="it-IT" sz="2800" b="1" dirty="0" smtClean="0">
                <a:solidFill>
                  <a:srgbClr val="FF0000"/>
                </a:solidFill>
              </a:rPr>
              <a:t>ALGORITMI</a:t>
            </a:r>
            <a:endParaRPr lang="it-IT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Lezione 0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  <a:buFont typeface="Wingdings" charset="0"/>
              <a:buNone/>
            </a:pPr>
            <a:r>
              <a:rPr lang="en-US" dirty="0" err="1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Introduzione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Cosa sapete di </a:t>
            </a:r>
            <a:r>
              <a:rPr lang="en-US" smtClean="0"/>
              <a:t>…</a:t>
            </a:r>
            <a:endParaRPr lang="it-IT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Teorema di </a:t>
            </a:r>
            <a:r>
              <a:rPr lang="it-IT" dirty="0" err="1">
                <a:latin typeface="Comic Sans MS" charset="0"/>
                <a:ea typeface="ＭＳ Ｐゴシック" charset="0"/>
                <a:cs typeface="ＭＳ Ｐゴシック" charset="0"/>
              </a:rPr>
              <a:t>Perron-Frobenius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en-US" dirty="0">
                <a:latin typeface="Comic Sans MS" charset="0"/>
                <a:ea typeface="ＭＳ Ｐゴシック" charset="0"/>
              </a:rPr>
              <a:t>Se A </a:t>
            </a:r>
            <a:r>
              <a:rPr lang="en-US" dirty="0" err="1">
                <a:latin typeface="Comic Sans MS" charset="0"/>
                <a:ea typeface="ＭＳ Ｐゴシック" charset="0"/>
              </a:rPr>
              <a:t>è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una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matrice</a:t>
            </a:r>
            <a:r>
              <a:rPr lang="en-US" dirty="0">
                <a:latin typeface="Comic Sans MS" charset="0"/>
                <a:ea typeface="ＭＳ Ｐゴシック" charset="0"/>
              </a:rPr>
              <a:t> non </a:t>
            </a:r>
            <a:r>
              <a:rPr lang="en-US" dirty="0" err="1">
                <a:latin typeface="Comic Sans MS" charset="0"/>
                <a:ea typeface="ＭＳ Ｐゴシック" charset="0"/>
              </a:rPr>
              <a:t>negativa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irriducibile</a:t>
            </a:r>
            <a:r>
              <a:rPr lang="en-US" dirty="0">
                <a:latin typeface="Comic Sans MS" charset="0"/>
                <a:ea typeface="ＭＳ Ｐゴシック" charset="0"/>
              </a:rPr>
              <a:t>, </a:t>
            </a:r>
            <a:r>
              <a:rPr lang="en-US" dirty="0" err="1">
                <a:latin typeface="Comic Sans MS" charset="0"/>
                <a:ea typeface="ＭＳ Ｐゴシック" charset="0"/>
              </a:rPr>
              <a:t>allora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2" eaLnBrk="1" hangingPunct="1">
              <a:buNone/>
            </a:pPr>
            <a:r>
              <a:rPr lang="en-US" dirty="0">
                <a:latin typeface="Comic Sans MS" charset="0"/>
                <a:ea typeface="ＭＳ Ｐゴシック" charset="0"/>
              </a:rPr>
              <a:t>1. </a:t>
            </a:r>
            <a:r>
              <a:rPr lang="en-US" dirty="0" err="1">
                <a:latin typeface="Comic Sans MS" charset="0"/>
                <a:ea typeface="ＭＳ Ｐゴシック" charset="0"/>
              </a:rPr>
              <a:t>L'autovalore</a:t>
            </a:r>
            <a:r>
              <a:rPr lang="en-US" dirty="0">
                <a:latin typeface="Comic Sans MS" charset="0"/>
                <a:ea typeface="ＭＳ Ｐゴシック" charset="0"/>
              </a:rPr>
              <a:t> di modulo </a:t>
            </a:r>
            <a:r>
              <a:rPr lang="en-US" dirty="0" err="1">
                <a:latin typeface="Comic Sans MS" charset="0"/>
                <a:ea typeface="ＭＳ Ｐゴシック" charset="0"/>
              </a:rPr>
              <a:t>massimo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Symbol" charset="0"/>
                <a:ea typeface="ＭＳ Ｐゴシック" charset="0"/>
                <a:cs typeface="Symbol" charset="0"/>
              </a:rPr>
              <a:t>λ</a:t>
            </a:r>
            <a:r>
              <a:rPr lang="en-US" dirty="0">
                <a:latin typeface="Comic Sans MS" charset="0"/>
                <a:ea typeface="ＭＳ Ｐゴシック" charset="0"/>
              </a:rPr>
              <a:t> di A </a:t>
            </a:r>
            <a:r>
              <a:rPr lang="en-US" dirty="0" err="1">
                <a:latin typeface="Comic Sans MS" charset="0"/>
                <a:ea typeface="ＭＳ Ｐゴシック" charset="0"/>
              </a:rPr>
              <a:t>è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reale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positivo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2" eaLnBrk="1" hangingPunct="1">
              <a:buNone/>
            </a:pPr>
            <a:r>
              <a:rPr lang="en-US" dirty="0">
                <a:latin typeface="Comic Sans MS" charset="0"/>
                <a:ea typeface="ＭＳ Ｐゴシック" charset="0"/>
              </a:rPr>
              <a:t>2. Esso </a:t>
            </a:r>
            <a:r>
              <a:rPr lang="en-US" dirty="0" err="1">
                <a:latin typeface="Comic Sans MS" charset="0"/>
                <a:ea typeface="ＭＳ Ｐゴシック" charset="0"/>
              </a:rPr>
              <a:t>è</a:t>
            </a:r>
            <a:r>
              <a:rPr lang="en-US" dirty="0">
                <a:latin typeface="Comic Sans MS" charset="0"/>
                <a:ea typeface="ＭＳ Ｐゴシック" charset="0"/>
              </a:rPr>
              <a:t> un </a:t>
            </a:r>
            <a:r>
              <a:rPr lang="en-US" dirty="0" err="1">
                <a:latin typeface="Comic Sans MS" charset="0"/>
                <a:ea typeface="ＭＳ Ｐゴシック" charset="0"/>
              </a:rPr>
              <a:t>autovalore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semplice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2" eaLnBrk="1" hangingPunct="1">
              <a:buNone/>
            </a:pPr>
            <a:r>
              <a:rPr lang="en-US" dirty="0">
                <a:latin typeface="Comic Sans MS" charset="0"/>
                <a:ea typeface="ＭＳ Ｐゴシック" charset="0"/>
              </a:rPr>
              <a:t>3. </a:t>
            </a:r>
            <a:r>
              <a:rPr lang="en-US" dirty="0" err="1">
                <a:latin typeface="Comic Sans MS" charset="0"/>
                <a:ea typeface="ＭＳ Ｐゴシック" charset="0"/>
              </a:rPr>
              <a:t>L'autovettore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corrispondente</a:t>
            </a:r>
            <a:r>
              <a:rPr lang="en-US" dirty="0">
                <a:latin typeface="Comic Sans MS" charset="0"/>
                <a:ea typeface="ＭＳ Ｐゴシック" charset="0"/>
              </a:rPr>
              <a:t> ha </a:t>
            </a:r>
            <a:r>
              <a:rPr lang="en-US" dirty="0" err="1">
                <a:latin typeface="Comic Sans MS" charset="0"/>
                <a:ea typeface="ＭＳ Ｐゴシック" charset="0"/>
              </a:rPr>
              <a:t>tutte</a:t>
            </a:r>
            <a:r>
              <a:rPr lang="en-US" dirty="0">
                <a:latin typeface="Comic Sans MS" charset="0"/>
                <a:ea typeface="ＭＳ Ｐゴシック" charset="0"/>
              </a:rPr>
              <a:t> le </a:t>
            </a:r>
            <a:r>
              <a:rPr lang="en-US" dirty="0" err="1">
                <a:latin typeface="Comic Sans MS" charset="0"/>
                <a:ea typeface="ＭＳ Ｐゴシック" charset="0"/>
              </a:rPr>
              <a:t>componenti</a:t>
            </a:r>
            <a:r>
              <a:rPr lang="en-US" dirty="0">
                <a:latin typeface="Comic Sans MS" charset="0"/>
                <a:ea typeface="ＭＳ Ｐゴシック" charset="0"/>
              </a:rPr>
              <a:t> positive</a:t>
            </a:r>
          </a:p>
          <a:p>
            <a:pPr lvl="2" eaLnBrk="1" hangingPunct="1">
              <a:buNone/>
            </a:pPr>
            <a:r>
              <a:rPr lang="en-US" dirty="0">
                <a:latin typeface="Comic Sans MS" charset="0"/>
                <a:ea typeface="ＭＳ Ｐゴシック" charset="0"/>
              </a:rPr>
              <a:t>4. </a:t>
            </a:r>
            <a:r>
              <a:rPr lang="en-US" dirty="0" err="1">
                <a:latin typeface="Comic Sans MS" charset="0"/>
                <a:ea typeface="ＭＳ Ｐゴシック" charset="0"/>
              </a:rPr>
              <a:t>L'autovettore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corrispondente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è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l'unico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autovettore</a:t>
            </a:r>
            <a:r>
              <a:rPr lang="en-US" dirty="0">
                <a:latin typeface="Comic Sans MS" charset="0"/>
                <a:ea typeface="ＭＳ Ｐゴシック" charset="0"/>
              </a:rPr>
              <a:t> non </a:t>
            </a:r>
            <a:r>
              <a:rPr lang="en-US" dirty="0" err="1">
                <a:latin typeface="Comic Sans MS" charset="0"/>
                <a:ea typeface="ＭＳ Ｐゴシック" charset="0"/>
              </a:rPr>
              <a:t>negativo</a:t>
            </a:r>
            <a:r>
              <a:rPr lang="en-US" dirty="0">
                <a:latin typeface="Comic Sans MS" charset="0"/>
                <a:ea typeface="ＭＳ Ｐゴシック" charset="0"/>
              </a:rPr>
              <a:t> di A</a:t>
            </a:r>
          </a:p>
          <a:p>
            <a:pPr lvl="2" eaLnBrk="1" hangingPunct="1">
              <a:buNone/>
            </a:pPr>
            <a:r>
              <a:rPr lang="en-US" dirty="0">
                <a:latin typeface="Comic Sans MS" charset="0"/>
                <a:ea typeface="ＭＳ Ｐゴシック" charset="0"/>
              </a:rPr>
              <a:t>5. </a:t>
            </a:r>
            <a:r>
              <a:rPr lang="en-US" dirty="0" err="1">
                <a:latin typeface="Comic Sans MS" charset="0"/>
                <a:ea typeface="ＭＳ Ｐゴシック" charset="0"/>
              </a:rPr>
              <a:t>L'autovalore</a:t>
            </a:r>
            <a:r>
              <a:rPr lang="en-US" dirty="0">
                <a:latin typeface="Comic Sans MS" charset="0"/>
                <a:ea typeface="ＭＳ Ｐゴシック" charset="0"/>
              </a:rPr>
              <a:t> di modulo </a:t>
            </a:r>
            <a:r>
              <a:rPr lang="en-US" dirty="0" err="1">
                <a:latin typeface="Comic Sans MS" charset="0"/>
                <a:ea typeface="ＭＳ Ｐゴシック" charset="0"/>
              </a:rPr>
              <a:t>massimo</a:t>
            </a:r>
            <a:r>
              <a:rPr lang="en-US" dirty="0">
                <a:latin typeface="Comic Sans MS" charset="0"/>
                <a:ea typeface="ＭＳ Ｐゴシック" charset="0"/>
              </a:rPr>
              <a:t>, </a:t>
            </a:r>
            <a:r>
              <a:rPr lang="en-US" dirty="0" err="1">
                <a:latin typeface="Comic Sans MS" charset="0"/>
                <a:ea typeface="ＭＳ Ｐゴシック" charset="0"/>
              </a:rPr>
              <a:t>visto</a:t>
            </a:r>
            <a:r>
              <a:rPr lang="en-US" dirty="0">
                <a:latin typeface="Comic Sans MS" charset="0"/>
                <a:ea typeface="ＭＳ Ｐゴシック" charset="0"/>
              </a:rPr>
              <a:t> come </a:t>
            </a:r>
            <a:r>
              <a:rPr lang="en-US" dirty="0" err="1">
                <a:latin typeface="Comic Sans MS" charset="0"/>
                <a:ea typeface="ＭＳ Ｐゴシック" charset="0"/>
              </a:rPr>
              <a:t>funzione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Symbol" charset="0"/>
                <a:ea typeface="ＭＳ Ｐゴシック" charset="0"/>
                <a:cs typeface="Symbol" charset="0"/>
              </a:rPr>
              <a:t>ρ</a:t>
            </a:r>
            <a:r>
              <a:rPr lang="en-US" dirty="0">
                <a:latin typeface="Comic Sans MS" charset="0"/>
                <a:ea typeface="ＭＳ Ｐゴシック" charset="0"/>
              </a:rPr>
              <a:t>(A) </a:t>
            </a:r>
            <a:r>
              <a:rPr lang="en-US" dirty="0" err="1">
                <a:latin typeface="Comic Sans MS" charset="0"/>
                <a:ea typeface="ＭＳ Ｐゴシック" charset="0"/>
              </a:rPr>
              <a:t>della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matrice</a:t>
            </a:r>
            <a:r>
              <a:rPr lang="en-US" dirty="0">
                <a:latin typeface="Comic Sans MS" charset="0"/>
                <a:ea typeface="ＭＳ Ｐゴシック" charset="0"/>
              </a:rPr>
              <a:t> A, </a:t>
            </a:r>
            <a:r>
              <a:rPr lang="en-US" dirty="0" err="1">
                <a:latin typeface="Comic Sans MS" charset="0"/>
                <a:ea typeface="ＭＳ Ｐゴシック" charset="0"/>
              </a:rPr>
              <a:t>è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una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funzione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strettamente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crescente</a:t>
            </a:r>
            <a:r>
              <a:rPr lang="en-US" dirty="0">
                <a:latin typeface="Comic Sans MS" charset="0"/>
                <a:ea typeface="ＭＳ Ｐゴシック" charset="0"/>
              </a:rPr>
              <a:t> in </a:t>
            </a:r>
            <a:r>
              <a:rPr lang="en-US" dirty="0" err="1">
                <a:latin typeface="Comic Sans MS" charset="0"/>
                <a:ea typeface="ＭＳ Ｐゴシック" charset="0"/>
              </a:rPr>
              <a:t>ognuno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dei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suoi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elementi</a:t>
            </a:r>
            <a:r>
              <a:rPr lang="en-US" dirty="0">
                <a:latin typeface="Comic Sans MS" charset="0"/>
                <a:ea typeface="ＭＳ Ｐゴシック" charset="0"/>
              </a:rPr>
              <a:t>: </a:t>
            </a:r>
            <a:r>
              <a:rPr lang="en-US" dirty="0" err="1">
                <a:latin typeface="Comic Sans MS" charset="0"/>
                <a:ea typeface="ＭＳ Ｐゴシック" charset="0"/>
              </a:rPr>
              <a:t>cioè</a:t>
            </a:r>
            <a:r>
              <a:rPr lang="en-US" dirty="0">
                <a:latin typeface="Comic Sans MS" charset="0"/>
                <a:ea typeface="ＭＳ Ｐゴシック" charset="0"/>
              </a:rPr>
              <a:t>, se B ≥ A (</a:t>
            </a:r>
            <a:r>
              <a:rPr lang="en-US" dirty="0" err="1">
                <a:latin typeface="Comic Sans MS" charset="0"/>
                <a:ea typeface="ＭＳ Ｐゴシック" charset="0"/>
              </a:rPr>
              <a:t>s'intende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che</a:t>
            </a:r>
            <a:r>
              <a:rPr lang="en-US" dirty="0">
                <a:latin typeface="Comic Sans MS" charset="0"/>
                <a:ea typeface="ＭＳ Ｐゴシック" charset="0"/>
              </a:rPr>
              <a:t> tale </a:t>
            </a:r>
            <a:r>
              <a:rPr lang="en-US" dirty="0" err="1">
                <a:latin typeface="Comic Sans MS" charset="0"/>
                <a:ea typeface="ＭＳ Ｐゴシック" charset="0"/>
              </a:rPr>
              <a:t>disuguaglianza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valga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err="1">
                <a:latin typeface="Comic Sans MS" charset="0"/>
                <a:ea typeface="ＭＳ Ｐゴシック" charset="0"/>
              </a:rPr>
              <a:t>elemento</a:t>
            </a:r>
            <a:r>
              <a:rPr lang="en-US" dirty="0">
                <a:latin typeface="Comic Sans MS" charset="0"/>
                <a:ea typeface="ＭＳ Ｐゴシック" charset="0"/>
              </a:rPr>
              <a:t> per </a:t>
            </a:r>
            <a:r>
              <a:rPr lang="en-US" dirty="0" err="1">
                <a:latin typeface="Comic Sans MS" charset="0"/>
                <a:ea typeface="ＭＳ Ｐゴシック" charset="0"/>
              </a:rPr>
              <a:t>elemento</a:t>
            </a:r>
            <a:r>
              <a:rPr lang="en-US" dirty="0">
                <a:latin typeface="Comic Sans MS" charset="0"/>
                <a:ea typeface="ＭＳ Ｐゴシック" charset="0"/>
              </a:rPr>
              <a:t>) e B ≠A, </a:t>
            </a:r>
            <a:r>
              <a:rPr lang="en-US" dirty="0" err="1">
                <a:latin typeface="Comic Sans MS" charset="0"/>
                <a:ea typeface="ＭＳ Ｐゴシック" charset="0"/>
              </a:rPr>
              <a:t>allora</a:t>
            </a:r>
            <a:r>
              <a:rPr lang="en-US" dirty="0">
                <a:latin typeface="Comic Sans MS" charset="0"/>
                <a:ea typeface="ＭＳ Ｐゴシック" charset="0"/>
              </a:rPr>
              <a:t>  </a:t>
            </a:r>
            <a:r>
              <a:rPr lang="en-US" dirty="0" err="1">
                <a:latin typeface="ヒラギノ明朝 ProN W3" charset="0"/>
                <a:ea typeface="ＭＳ Ｐゴシック" charset="0"/>
              </a:rPr>
              <a:t>ρ</a:t>
            </a:r>
            <a:r>
              <a:rPr lang="en-US" dirty="0">
                <a:latin typeface="Comic Sans MS" charset="0"/>
                <a:ea typeface="ＭＳ Ｐゴシック" charset="0"/>
              </a:rPr>
              <a:t>(B) &gt; </a:t>
            </a:r>
            <a:r>
              <a:rPr lang="en-US" dirty="0" err="1">
                <a:latin typeface="ヒラギノ明朝 ProN W3" charset="0"/>
                <a:ea typeface="ＭＳ Ｐゴシック" charset="0"/>
              </a:rPr>
              <a:t>ρ</a:t>
            </a:r>
            <a:r>
              <a:rPr lang="en-US" dirty="0">
                <a:latin typeface="Comic Sans MS" charset="0"/>
                <a:ea typeface="ＭＳ Ｐゴシック" charset="0"/>
              </a:rPr>
              <a:t>(A</a:t>
            </a:r>
            <a:r>
              <a:rPr lang="en-US" dirty="0" smtClean="0">
                <a:latin typeface="Comic Sans MS" charset="0"/>
                <a:ea typeface="ＭＳ Ｐゴシック" charset="0"/>
              </a:rPr>
              <a:t>)</a:t>
            </a:r>
            <a:endParaRPr lang="en-US" dirty="0">
              <a:latin typeface="Comic Sans MS" charset="0"/>
              <a:ea typeface="ＭＳ Ｐゴシック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Cosa sapete di 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PageRank</a:t>
            </a:r>
            <a:endParaRPr lang="it-IT" dirty="0"/>
          </a:p>
          <a:p>
            <a:pPr lvl="1"/>
            <a:r>
              <a:rPr lang="en-US" dirty="0" err="1"/>
              <a:t>Algoritmo</a:t>
            </a:r>
            <a:r>
              <a:rPr lang="en-US" dirty="0"/>
              <a:t> di </a:t>
            </a:r>
            <a:r>
              <a:rPr lang="en-US" dirty="0" err="1"/>
              <a:t>analisi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assegna</a:t>
            </a:r>
            <a:r>
              <a:rPr lang="en-US" dirty="0"/>
              <a:t> un peso </a:t>
            </a:r>
            <a:r>
              <a:rPr lang="en-US" dirty="0" err="1"/>
              <a:t>numerico</a:t>
            </a:r>
            <a:r>
              <a:rPr lang="en-US" dirty="0"/>
              <a:t> ad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elemento</a:t>
            </a:r>
            <a:r>
              <a:rPr lang="en-US" dirty="0"/>
              <a:t> di un </a:t>
            </a:r>
            <a:r>
              <a:rPr lang="en-US" dirty="0" err="1"/>
              <a:t>collegamento</a:t>
            </a:r>
            <a:r>
              <a:rPr lang="en-US" dirty="0"/>
              <a:t> </a:t>
            </a:r>
            <a:r>
              <a:rPr lang="en-US" dirty="0" err="1"/>
              <a:t>ipertestuale</a:t>
            </a:r>
            <a:r>
              <a:rPr lang="en-US" dirty="0"/>
              <a:t> d'un </a:t>
            </a:r>
            <a:r>
              <a:rPr lang="en-US" dirty="0" err="1"/>
              <a:t>insieme</a:t>
            </a:r>
            <a:r>
              <a:rPr lang="en-US" dirty="0"/>
              <a:t> di </a:t>
            </a:r>
            <a:r>
              <a:rPr lang="en-US" dirty="0" err="1"/>
              <a:t>documenti</a:t>
            </a:r>
            <a:r>
              <a:rPr lang="en-US" dirty="0"/>
              <a:t>, </a:t>
            </a:r>
            <a:r>
              <a:rPr lang="en-US" dirty="0" err="1"/>
              <a:t>basato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</a:t>
            </a:r>
            <a:r>
              <a:rPr lang="en-US" dirty="0" err="1"/>
              <a:t>teorema</a:t>
            </a:r>
            <a:r>
              <a:rPr lang="en-US" dirty="0"/>
              <a:t> di </a:t>
            </a:r>
            <a:r>
              <a:rPr lang="en-US" dirty="0" err="1"/>
              <a:t>Perron-Frobenius</a:t>
            </a:r>
            <a:endParaRPr lang="it-IT" dirty="0"/>
          </a:p>
          <a:p>
            <a:r>
              <a:rPr lang="it-IT" dirty="0"/>
              <a:t>Larry Page</a:t>
            </a:r>
          </a:p>
          <a:p>
            <a:pPr lvl="1"/>
            <a:r>
              <a:rPr lang="it-IT" dirty="0"/>
              <a:t>Inventore di </a:t>
            </a:r>
            <a:r>
              <a:rPr lang="it-IT" dirty="0" err="1"/>
              <a:t>PageRank</a:t>
            </a:r>
            <a:endParaRPr lang="it-IT" dirty="0"/>
          </a:p>
          <a:p>
            <a:r>
              <a:rPr lang="it-IT" dirty="0"/>
              <a:t>Google</a:t>
            </a:r>
          </a:p>
          <a:p>
            <a:pPr lvl="1"/>
            <a:r>
              <a:rPr lang="it-IT" dirty="0"/>
              <a:t>Motore di ricerca fondato da Page e </a:t>
            </a:r>
            <a:r>
              <a:rPr lang="it-IT" dirty="0" err="1" smtClean="0"/>
              <a:t>Brin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6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Argomenti collegati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Cammini casuali su grafi</a:t>
            </a:r>
          </a:p>
          <a:p>
            <a:r>
              <a:rPr lang="it-IT" dirty="0"/>
              <a:t>Catene di </a:t>
            </a:r>
            <a:r>
              <a:rPr lang="it-IT" dirty="0" err="1"/>
              <a:t>Markov</a:t>
            </a:r>
            <a:endParaRPr lang="it-IT" dirty="0"/>
          </a:p>
          <a:p>
            <a:r>
              <a:rPr lang="it-IT" dirty="0"/>
              <a:t>Gruppi di </a:t>
            </a:r>
            <a:r>
              <a:rPr lang="it-IT" dirty="0" err="1" smtClean="0"/>
              <a:t>Lie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8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Informazioni logistiche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Quando</a:t>
            </a:r>
          </a:p>
          <a:p>
            <a:pPr lvl="1" eaLnBrk="1" hangingPunct="1"/>
            <a:r>
              <a:rPr lang="it-IT" dirty="0">
                <a:latin typeface="Comic Sans MS" charset="0"/>
                <a:ea typeface="ＭＳ Ｐゴシック" charset="0"/>
              </a:rPr>
              <a:t>Inizio corso: 	</a:t>
            </a:r>
            <a:r>
              <a:rPr lang="it-IT" dirty="0" smtClean="0">
                <a:solidFill>
                  <a:srgbClr val="000090"/>
                </a:solidFill>
              </a:rPr>
              <a:t>30 ottobre 2016</a:t>
            </a:r>
            <a:endParaRPr lang="it-IT" dirty="0">
              <a:solidFill>
                <a:srgbClr val="000090"/>
              </a:solidFill>
              <a:latin typeface="Comic Sans MS" charset="0"/>
              <a:ea typeface="ＭＳ Ｐゴシック" charset="0"/>
            </a:endParaRPr>
          </a:p>
          <a:p>
            <a:pPr lvl="1" eaLnBrk="1" hangingPunct="1"/>
            <a:r>
              <a:rPr lang="it-IT" dirty="0">
                <a:latin typeface="Comic Sans MS" charset="0"/>
                <a:ea typeface="ＭＳ Ｐゴシック" charset="0"/>
              </a:rPr>
              <a:t>Fine corso:	</a:t>
            </a:r>
            <a:r>
              <a:rPr lang="it-IT" dirty="0" smtClean="0">
                <a:solidFill>
                  <a:srgbClr val="000090"/>
                </a:solidFill>
                <a:latin typeface="Comic Sans MS" charset="0"/>
                <a:ea typeface="ＭＳ Ｐゴシック" charset="0"/>
              </a:rPr>
              <a:t>13 </a:t>
            </a:r>
            <a:r>
              <a:rPr lang="it-IT" dirty="0" smtClean="0">
                <a:solidFill>
                  <a:srgbClr val="000090"/>
                </a:solidFill>
                <a:latin typeface="Comic Sans MS" charset="0"/>
                <a:ea typeface="ＭＳ Ｐゴシック" charset="0"/>
              </a:rPr>
              <a:t>gennaio </a:t>
            </a:r>
            <a:r>
              <a:rPr lang="it-IT" dirty="0" smtClean="0">
                <a:solidFill>
                  <a:srgbClr val="000090"/>
                </a:solidFill>
                <a:latin typeface="Comic Sans MS" charset="0"/>
                <a:ea typeface="ＭＳ Ｐゴシック" charset="0"/>
              </a:rPr>
              <a:t>2017</a:t>
            </a:r>
            <a:endParaRPr lang="it-IT" dirty="0" smtClean="0">
              <a:latin typeface="Comic Sans MS" charset="0"/>
              <a:ea typeface="ＭＳ Ｐゴシック" charset="0"/>
            </a:endParaRPr>
          </a:p>
          <a:p>
            <a:pPr lvl="1" eaLnBrk="1" hangingPunct="1"/>
            <a:r>
              <a:rPr lang="it-IT" dirty="0" smtClean="0">
                <a:latin typeface="Comic Sans MS" charset="0"/>
                <a:ea typeface="ＭＳ Ｐゴシック" charset="0"/>
              </a:rPr>
              <a:t>Orario:		</a:t>
            </a:r>
            <a:r>
              <a:rPr lang="it-IT" dirty="0" smtClean="0">
                <a:solidFill>
                  <a:srgbClr val="000090"/>
                </a:solidFill>
                <a:latin typeface="Comic Sans MS" charset="0"/>
                <a:ea typeface="ＭＳ Ｐゴシック" charset="0"/>
              </a:rPr>
              <a:t>Vedi calendario			</a:t>
            </a:r>
          </a:p>
          <a:p>
            <a:pPr eaLnBrk="1" hangingPunct="1">
              <a:buClr>
                <a:srgbClr val="FF0000"/>
              </a:buClr>
            </a:pPr>
            <a:r>
              <a:rPr lang="it-IT" dirty="0" smtClean="0">
                <a:latin typeface="Comic Sans MS" charset="0"/>
                <a:ea typeface="ＭＳ Ｐゴシック" charset="0"/>
                <a:cs typeface="ＭＳ Ｐゴシック" charset="0"/>
              </a:rPr>
              <a:t>Dove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it-IT" dirty="0">
                <a:latin typeface="Comic Sans MS" charset="0"/>
                <a:ea typeface="ＭＳ Ｐゴシック" charset="0"/>
              </a:rPr>
              <a:t>Aula </a:t>
            </a:r>
            <a:r>
              <a:rPr lang="it-IT" dirty="0" smtClean="0">
                <a:latin typeface="Comic Sans MS" charset="0"/>
                <a:ea typeface="ＭＳ Ｐゴシック" charset="0"/>
              </a:rPr>
              <a:t>U3-02</a:t>
            </a:r>
            <a:r>
              <a:rPr lang="it-IT" dirty="0" smtClean="0">
                <a:latin typeface="Comic Sans MS" charset="0"/>
                <a:ea typeface="ＭＳ Ｐゴシック" charset="0"/>
              </a:rPr>
              <a:t>		Lezioni</a:t>
            </a:r>
          </a:p>
          <a:p>
            <a:pPr lvl="1" eaLnBrk="1" hangingPunct="1"/>
            <a:r>
              <a:rPr lang="it-IT" dirty="0">
                <a:latin typeface="Comic Sans MS" charset="0"/>
                <a:ea typeface="ＭＳ Ｐゴシック" charset="0"/>
              </a:rPr>
              <a:t>Aula U9-</a:t>
            </a:r>
            <a:r>
              <a:rPr lang="it-IT" dirty="0" smtClean="0">
                <a:latin typeface="Comic Sans MS" charset="0"/>
                <a:ea typeface="ＭＳ Ｐゴシック" charset="0"/>
              </a:rPr>
              <a:t>06</a:t>
            </a:r>
            <a:r>
              <a:rPr lang="it-IT" dirty="0" smtClean="0">
                <a:latin typeface="Comic Sans MS" charset="0"/>
                <a:ea typeface="ＭＳ Ｐゴシック" charset="0"/>
              </a:rPr>
              <a:t>		Esercitazioni</a:t>
            </a:r>
            <a:endParaRPr lang="it-IT" dirty="0">
              <a:latin typeface="Comic Sans MS" charset="0"/>
              <a:ea typeface="ＭＳ Ｐゴシック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47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Argomenti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Programmazione dinamica con esempi</a:t>
            </a:r>
          </a:p>
          <a:p>
            <a:r>
              <a:rPr lang="it-IT" dirty="0" smtClean="0"/>
              <a:t>Algoritmi </a:t>
            </a:r>
            <a:r>
              <a:rPr lang="it-IT" dirty="0" err="1" smtClean="0"/>
              <a:t>greedy</a:t>
            </a:r>
            <a:endParaRPr lang="it-IT" dirty="0" smtClean="0"/>
          </a:p>
          <a:p>
            <a:r>
              <a:rPr lang="it-IT" dirty="0" smtClean="0"/>
              <a:t>Algoritmi </a:t>
            </a:r>
            <a:r>
              <a:rPr lang="it-IT" dirty="0"/>
              <a:t>di visita di grafi</a:t>
            </a:r>
          </a:p>
          <a:p>
            <a:r>
              <a:rPr lang="it-IT" dirty="0"/>
              <a:t>Problemi di cammino minimo</a:t>
            </a:r>
          </a:p>
          <a:p>
            <a:r>
              <a:rPr lang="it-IT" dirty="0"/>
              <a:t>Problemi di flusso massimo</a:t>
            </a:r>
          </a:p>
          <a:p>
            <a:r>
              <a:rPr lang="it-IT" dirty="0"/>
              <a:t>Complessità strutturale: classi </a:t>
            </a:r>
            <a:r>
              <a:rPr lang="it-IT" dirty="0" err="1"/>
              <a:t>P</a:t>
            </a:r>
            <a:r>
              <a:rPr lang="it-IT" dirty="0"/>
              <a:t>, NP e problemi NP-</a:t>
            </a:r>
            <a:r>
              <a:rPr lang="it-IT" dirty="0" smtClean="0"/>
              <a:t>completi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056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materiale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Testo</a:t>
            </a:r>
          </a:p>
          <a:p>
            <a:pPr lvl="1"/>
            <a:r>
              <a:rPr lang="it-IT" dirty="0" err="1"/>
              <a:t>Cormen</a:t>
            </a:r>
            <a:r>
              <a:rPr lang="it-IT" dirty="0"/>
              <a:t>, </a:t>
            </a:r>
            <a:r>
              <a:rPr lang="it-IT" dirty="0" err="1"/>
              <a:t>Leiserson</a:t>
            </a:r>
            <a:r>
              <a:rPr lang="it-IT" dirty="0"/>
              <a:t>, </a:t>
            </a:r>
            <a:r>
              <a:rPr lang="it-IT" dirty="0" err="1"/>
              <a:t>Rivest</a:t>
            </a:r>
            <a:r>
              <a:rPr lang="it-IT" dirty="0"/>
              <a:t>, Stein</a:t>
            </a:r>
          </a:p>
          <a:p>
            <a:pPr marL="457200" lvl="1" indent="0">
              <a:buNone/>
            </a:pPr>
            <a:r>
              <a:rPr lang="it-IT" dirty="0"/>
              <a:t>	Introduzione agli algoritmi e strutture dati</a:t>
            </a:r>
          </a:p>
          <a:p>
            <a:pPr marL="457200" lvl="1" indent="0">
              <a:buNone/>
            </a:pPr>
            <a:r>
              <a:rPr lang="it-IT" dirty="0"/>
              <a:t>	</a:t>
            </a:r>
            <a:r>
              <a:rPr lang="it-IT" dirty="0" smtClean="0"/>
              <a:t>3° </a:t>
            </a:r>
            <a:r>
              <a:rPr lang="it-IT" dirty="0"/>
              <a:t>Edizione, </a:t>
            </a:r>
            <a:r>
              <a:rPr lang="it-IT" dirty="0" err="1"/>
              <a:t>McGraw</a:t>
            </a:r>
            <a:r>
              <a:rPr lang="it-IT" dirty="0"/>
              <a:t> Hill</a:t>
            </a:r>
          </a:p>
          <a:p>
            <a:r>
              <a:rPr lang="it-IT" dirty="0" err="1"/>
              <a:t>Slides</a:t>
            </a:r>
            <a:r>
              <a:rPr lang="it-IT" dirty="0"/>
              <a:t> e materiale integrativo</a:t>
            </a:r>
          </a:p>
          <a:p>
            <a:pPr lvl="1"/>
            <a:r>
              <a:rPr lang="en-US" dirty="0" err="1" smtClean="0"/>
              <a:t>moodle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58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Modalità di esame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Compitini: </a:t>
            </a:r>
            <a:endParaRPr lang="it-IT" dirty="0" smtClean="0"/>
          </a:p>
          <a:p>
            <a:pPr lvl="1"/>
            <a:r>
              <a:rPr lang="it-IT" dirty="0" smtClean="0"/>
              <a:t>1° nella settimana </a:t>
            </a:r>
            <a:r>
              <a:rPr lang="it-IT" dirty="0"/>
              <a:t>dal </a:t>
            </a:r>
            <a:r>
              <a:rPr lang="it-IT" dirty="0" smtClean="0"/>
              <a:t>14 </a:t>
            </a:r>
            <a:r>
              <a:rPr lang="it-IT" dirty="0" smtClean="0"/>
              <a:t>al </a:t>
            </a:r>
            <a:r>
              <a:rPr lang="it-IT" dirty="0" smtClean="0"/>
              <a:t>18</a:t>
            </a:r>
            <a:r>
              <a:rPr lang="it-IT" dirty="0" smtClean="0"/>
              <a:t> </a:t>
            </a:r>
            <a:r>
              <a:rPr lang="it-IT" dirty="0" smtClean="0"/>
              <a:t>novembre </a:t>
            </a:r>
          </a:p>
          <a:p>
            <a:pPr lvl="1"/>
            <a:r>
              <a:rPr lang="it-IT" dirty="0" smtClean="0"/>
              <a:t>2° il </a:t>
            </a:r>
            <a:r>
              <a:rPr lang="it-IT" dirty="0" smtClean="0"/>
              <a:t>24 </a:t>
            </a:r>
            <a:r>
              <a:rPr lang="it-IT" dirty="0" smtClean="0"/>
              <a:t>gennaio, data dello scritto completo</a:t>
            </a:r>
          </a:p>
          <a:p>
            <a:pPr lvl="1"/>
            <a:r>
              <a:rPr lang="it-IT" dirty="0" smtClean="0"/>
              <a:t>Gli </a:t>
            </a:r>
            <a:r>
              <a:rPr lang="it-IT" dirty="0"/>
              <a:t>studenti che ottengono votazioni positive </a:t>
            </a:r>
            <a:r>
              <a:rPr lang="it-IT" dirty="0" smtClean="0"/>
              <a:t>in ambedue i compitini </a:t>
            </a:r>
            <a:r>
              <a:rPr lang="it-IT" dirty="0"/>
              <a:t>possono sostenere </a:t>
            </a:r>
            <a:r>
              <a:rPr lang="it-IT" dirty="0" smtClean="0"/>
              <a:t>l'orale</a:t>
            </a:r>
          </a:p>
          <a:p>
            <a:pPr lvl="1"/>
            <a:r>
              <a:rPr lang="it-IT" dirty="0"/>
              <a:t>E’ possibile recuperare uno dei </a:t>
            </a:r>
            <a:r>
              <a:rPr lang="it-IT" dirty="0" smtClean="0"/>
              <a:t>compitini </a:t>
            </a:r>
            <a:r>
              <a:rPr lang="it-IT" dirty="0"/>
              <a:t>nell'appello di febbraio </a:t>
            </a:r>
          </a:p>
          <a:p>
            <a:pPr lvl="0"/>
            <a:r>
              <a:rPr lang="it-IT" dirty="0" smtClean="0"/>
              <a:t>Esame </a:t>
            </a:r>
            <a:r>
              <a:rPr lang="it-IT" dirty="0"/>
              <a:t>standard: </a:t>
            </a:r>
            <a:endParaRPr lang="it-IT" dirty="0" smtClean="0"/>
          </a:p>
          <a:p>
            <a:pPr lvl="1"/>
            <a:r>
              <a:rPr lang="it-IT" dirty="0" smtClean="0"/>
              <a:t>Prova </a:t>
            </a:r>
            <a:r>
              <a:rPr lang="it-IT" dirty="0"/>
              <a:t>Scritta: Esercizi sugli argomenti del corso. Per superare la p</a:t>
            </a:r>
            <a:r>
              <a:rPr lang="it-IT" dirty="0" smtClean="0"/>
              <a:t>rova occorre </a:t>
            </a:r>
            <a:r>
              <a:rPr lang="it-IT" dirty="0"/>
              <a:t>ottenere una valutazione non inferiore a 15/</a:t>
            </a:r>
            <a:r>
              <a:rPr lang="it-IT" dirty="0" smtClean="0"/>
              <a:t>30</a:t>
            </a:r>
            <a:endParaRPr lang="it-IT" dirty="0"/>
          </a:p>
          <a:p>
            <a:pPr lvl="1"/>
            <a:r>
              <a:rPr lang="it-IT" dirty="0"/>
              <a:t>Prova </a:t>
            </a:r>
            <a:r>
              <a:rPr lang="it-IT" dirty="0" smtClean="0"/>
              <a:t>Orale</a:t>
            </a:r>
          </a:p>
          <a:p>
            <a:r>
              <a:rPr lang="it-IT" b="1" dirty="0"/>
              <a:t>NB: </a:t>
            </a:r>
            <a:r>
              <a:rPr lang="it-IT" dirty="0" smtClean="0"/>
              <a:t>La </a:t>
            </a:r>
            <a:r>
              <a:rPr lang="it-IT" dirty="0"/>
              <a:t>Prova Scritta di coloro che non si presentano alla Prova Orale dello stesso appello </a:t>
            </a:r>
            <a:r>
              <a:rPr lang="it-IT" dirty="0" smtClean="0"/>
              <a:t>sarà invalidata</a:t>
            </a:r>
            <a:endParaRPr lang="it-IT" dirty="0"/>
          </a:p>
          <a:p>
            <a:pPr lvl="1"/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86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Orario di ricevimento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Lunedì ore </a:t>
            </a:r>
            <a:r>
              <a:rPr lang="it-IT" dirty="0" smtClean="0"/>
              <a:t>16-18</a:t>
            </a:r>
            <a:endParaRPr lang="it-IT" dirty="0"/>
          </a:p>
          <a:p>
            <a:r>
              <a:rPr lang="it-IT" dirty="0"/>
              <a:t>U14 </a:t>
            </a:r>
            <a:r>
              <a:rPr lang="en-US" dirty="0"/>
              <a:t>–</a:t>
            </a:r>
            <a:r>
              <a:rPr lang="it-IT" dirty="0"/>
              <a:t> Secondo piano</a:t>
            </a:r>
          </a:p>
          <a:p>
            <a:r>
              <a:rPr lang="it-IT" dirty="0"/>
              <a:t>mail: </a:t>
            </a:r>
            <a:r>
              <a:rPr lang="it-IT" dirty="0" err="1"/>
              <a:t>mauri@</a:t>
            </a:r>
            <a:r>
              <a:rPr lang="it-IT" dirty="0" err="1" smtClean="0"/>
              <a:t>disco.unimib.it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43339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927</TotalTime>
  <Words>364</Words>
  <Application>Microsoft Macintosh PowerPoint</Application>
  <PresentationFormat>On-screen Show (4:3)</PresentationFormat>
  <Paragraphs>70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Presentazione</vt:lpstr>
      <vt:lpstr>UNIVERSITA’ DI MILANO-BICOCCA CdL IN INFORMATICA</vt:lpstr>
      <vt:lpstr>Cosa sapete di …</vt:lpstr>
      <vt:lpstr>Cosa sapete di …</vt:lpstr>
      <vt:lpstr>Argomenti collegati</vt:lpstr>
      <vt:lpstr>Informazioni logistiche</vt:lpstr>
      <vt:lpstr>Argomenti</vt:lpstr>
      <vt:lpstr>Il materiale</vt:lpstr>
      <vt:lpstr>Modalità di esame</vt:lpstr>
      <vt:lpstr>Orario di ricevimento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50</cp:revision>
  <cp:lastPrinted>2002-02-01T12:39:25Z</cp:lastPrinted>
  <dcterms:created xsi:type="dcterms:W3CDTF">2010-03-03T07:29:28Z</dcterms:created>
  <dcterms:modified xsi:type="dcterms:W3CDTF">2016-09-30T10:53:29Z</dcterms:modified>
</cp:coreProperties>
</file>