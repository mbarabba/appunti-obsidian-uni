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embeddings/oleObject7.bin" ContentType="application/vnd.openxmlformats-officedocument.oleObject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embeddings/oleObject8.bin" ContentType="application/vnd.openxmlformats-officedocument.oleObject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notesSlides/notesSlide28.xml" ContentType="application/vnd.openxmlformats-officedocument.presentationml.notesSlide+xml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embeddings/oleObject14.bin" ContentType="application/vnd.openxmlformats-officedocument.oleObject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notesSlides/notesSlide47.xml" ContentType="application/vnd.openxmlformats-officedocument.presentationml.notesSlide+xml"/>
  <Override PartName="/ppt/embeddings/oleObject17.bin" ContentType="application/vnd.openxmlformats-officedocument.oleObject"/>
  <Override PartName="/ppt/notesSlides/notesSlide48.xml" ContentType="application/vnd.openxmlformats-officedocument.presentationml.notesSlide+xml"/>
  <Override PartName="/ppt/embeddings/oleObject18.bin" ContentType="application/vnd.openxmlformats-officedocument.oleObject"/>
  <Override PartName="/ppt/notesSlides/notesSlide49.xml" ContentType="application/vnd.openxmlformats-officedocument.presentationml.notesSlide+xml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embeddings/oleObject21.bin" ContentType="application/vnd.openxmlformats-officedocument.oleObject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7" r:id="rId1"/>
  </p:sldMasterIdLst>
  <p:notesMasterIdLst>
    <p:notesMasterId r:id="rId63"/>
  </p:notesMasterIdLst>
  <p:handoutMasterIdLst>
    <p:handoutMasterId r:id="rId64"/>
  </p:handoutMasterIdLst>
  <p:sldIdLst>
    <p:sldId id="515" r:id="rId2"/>
    <p:sldId id="455" r:id="rId3"/>
    <p:sldId id="456" r:id="rId4"/>
    <p:sldId id="457" r:id="rId5"/>
    <p:sldId id="458" r:id="rId6"/>
    <p:sldId id="459" r:id="rId7"/>
    <p:sldId id="460" r:id="rId8"/>
    <p:sldId id="461" r:id="rId9"/>
    <p:sldId id="462" r:id="rId10"/>
    <p:sldId id="463" r:id="rId11"/>
    <p:sldId id="464" r:id="rId12"/>
    <p:sldId id="465" r:id="rId13"/>
    <p:sldId id="466" r:id="rId14"/>
    <p:sldId id="467" r:id="rId15"/>
    <p:sldId id="468" r:id="rId16"/>
    <p:sldId id="469" r:id="rId17"/>
    <p:sldId id="516" r:id="rId18"/>
    <p:sldId id="517" r:id="rId19"/>
    <p:sldId id="518" r:id="rId20"/>
    <p:sldId id="470" r:id="rId21"/>
    <p:sldId id="471" r:id="rId22"/>
    <p:sldId id="472" r:id="rId23"/>
    <p:sldId id="473" r:id="rId24"/>
    <p:sldId id="474" r:id="rId25"/>
    <p:sldId id="514" r:id="rId26"/>
    <p:sldId id="476" r:id="rId27"/>
    <p:sldId id="477" r:id="rId28"/>
    <p:sldId id="478" r:id="rId29"/>
    <p:sldId id="479" r:id="rId30"/>
    <p:sldId id="480" r:id="rId31"/>
    <p:sldId id="481" r:id="rId32"/>
    <p:sldId id="482" r:id="rId33"/>
    <p:sldId id="483" r:id="rId34"/>
    <p:sldId id="484" r:id="rId35"/>
    <p:sldId id="485" r:id="rId36"/>
    <p:sldId id="486" r:id="rId37"/>
    <p:sldId id="487" r:id="rId38"/>
    <p:sldId id="488" r:id="rId39"/>
    <p:sldId id="489" r:id="rId40"/>
    <p:sldId id="490" r:id="rId41"/>
    <p:sldId id="491" r:id="rId42"/>
    <p:sldId id="492" r:id="rId43"/>
    <p:sldId id="493" r:id="rId44"/>
    <p:sldId id="494" r:id="rId45"/>
    <p:sldId id="495" r:id="rId46"/>
    <p:sldId id="496" r:id="rId47"/>
    <p:sldId id="497" r:id="rId48"/>
    <p:sldId id="498" r:id="rId49"/>
    <p:sldId id="499" r:id="rId50"/>
    <p:sldId id="500" r:id="rId51"/>
    <p:sldId id="501" r:id="rId52"/>
    <p:sldId id="502" r:id="rId53"/>
    <p:sldId id="503" r:id="rId54"/>
    <p:sldId id="504" r:id="rId55"/>
    <p:sldId id="505" r:id="rId56"/>
    <p:sldId id="506" r:id="rId57"/>
    <p:sldId id="507" r:id="rId58"/>
    <p:sldId id="508" r:id="rId59"/>
    <p:sldId id="509" r:id="rId60"/>
    <p:sldId id="510" r:id="rId61"/>
    <p:sldId id="511" r:id="rId6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0"/>
    <a:srgbClr val="004070"/>
    <a:srgbClr val="005FA6"/>
    <a:srgbClr val="F97407"/>
    <a:srgbClr val="013C69"/>
    <a:srgbClr val="60E6E1"/>
    <a:srgbClr val="201FF0"/>
    <a:srgbClr val="3D9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376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notesMaster" Target="notesMasters/notesMaster1.xml"/><Relationship Id="rId64" Type="http://schemas.openxmlformats.org/officeDocument/2006/relationships/handoutMaster" Target="handoutMasters/handoutMaster1.xml"/><Relationship Id="rId65" Type="http://schemas.openxmlformats.org/officeDocument/2006/relationships/printerSettings" Target="printerSettings/printerSettings1.bin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Relationship Id="rId2" Type="http://schemas.openxmlformats.org/officeDocument/2006/relationships/image" Target="../media/image7.emf"/><Relationship Id="rId3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Relationship Id="rId2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Relationship Id="rId2" Type="http://schemas.openxmlformats.org/officeDocument/2006/relationships/image" Target="../media/image14.emf"/><Relationship Id="rId3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Relationship Id="rId2" Type="http://schemas.openxmlformats.org/officeDocument/2006/relationships/image" Target="../media/image1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Relationship Id="rId2" Type="http://schemas.openxmlformats.org/officeDocument/2006/relationships/image" Target="../media/image2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C0C0A947-1BBA-AD47-880C-8075A2EF103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518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69DC7B21-583F-CD44-B53F-C88A2417C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fld id="{7D39BA04-5008-0745-BDA3-82A84C11E4B3}" type="slidenum">
              <a:rPr lang="en-US" sz="1200">
                <a:latin typeface="Tahoma" charset="0"/>
              </a:rPr>
              <a:pPr eaLnBrk="1" hangingPunct="1"/>
              <a:t>1</a:t>
            </a:fld>
            <a:endParaRPr lang="en-US" sz="1200">
              <a:latin typeface="Tahoma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284CB5-FD8E-394A-A006-FEFCEC41E620}" type="slidenum">
              <a:rPr lang="it-IT"/>
              <a:pPr/>
              <a:t>2</a:t>
            </a:fld>
            <a:endParaRPr lang="it-IT"/>
          </a:p>
        </p:txBody>
      </p:sp>
      <p:sp>
        <p:nvSpPr>
          <p:cNvPr id="75673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5673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51BC3D-89D4-4F4E-B32A-00AB905B929B}" type="slidenum">
              <a:rPr lang="it-IT"/>
              <a:pPr/>
              <a:t>3</a:t>
            </a:fld>
            <a:endParaRPr lang="it-IT"/>
          </a:p>
        </p:txBody>
      </p:sp>
      <p:sp>
        <p:nvSpPr>
          <p:cNvPr id="75776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5776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3F3826-0CF5-7B48-B381-A170531DC29B}" type="slidenum">
              <a:rPr lang="it-IT"/>
              <a:pPr/>
              <a:t>4</a:t>
            </a:fld>
            <a:endParaRPr lang="it-IT"/>
          </a:p>
        </p:txBody>
      </p:sp>
      <p:sp>
        <p:nvSpPr>
          <p:cNvPr id="75878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5878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43889E-D471-4645-A673-5E32190026C8}" type="slidenum">
              <a:rPr lang="it-IT"/>
              <a:pPr/>
              <a:t>5</a:t>
            </a:fld>
            <a:endParaRPr lang="it-IT"/>
          </a:p>
        </p:txBody>
      </p:sp>
      <p:sp>
        <p:nvSpPr>
          <p:cNvPr id="75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5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42FA16-AAB0-F446-A38A-6917E7244F9E}" type="slidenum">
              <a:rPr lang="it-IT"/>
              <a:pPr/>
              <a:t>6</a:t>
            </a:fld>
            <a:endParaRPr lang="it-IT"/>
          </a:p>
        </p:txBody>
      </p:sp>
      <p:sp>
        <p:nvSpPr>
          <p:cNvPr id="76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6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F3F2E5-0BCA-1449-93E3-7703E0A036E8}" type="slidenum">
              <a:rPr lang="it-IT"/>
              <a:pPr/>
              <a:t>7</a:t>
            </a:fld>
            <a:endParaRPr lang="it-IT"/>
          </a:p>
        </p:txBody>
      </p:sp>
      <p:sp>
        <p:nvSpPr>
          <p:cNvPr id="76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6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8BF478-31B4-2C44-BEA9-638A810C7CCF}" type="slidenum">
              <a:rPr lang="it-IT"/>
              <a:pPr/>
              <a:t>8</a:t>
            </a:fld>
            <a:endParaRPr lang="it-IT"/>
          </a:p>
        </p:txBody>
      </p:sp>
      <p:sp>
        <p:nvSpPr>
          <p:cNvPr id="76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6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072AEE-DEA9-1D48-89D5-8F70AC8675A4}" type="slidenum">
              <a:rPr lang="it-IT"/>
              <a:pPr/>
              <a:t>9</a:t>
            </a:fld>
            <a:endParaRPr lang="it-IT"/>
          </a:p>
        </p:txBody>
      </p:sp>
      <p:sp>
        <p:nvSpPr>
          <p:cNvPr id="76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6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3EE82F-17F0-F346-95ED-D5B05D92D533}" type="slidenum">
              <a:rPr lang="it-IT"/>
              <a:pPr/>
              <a:t>10</a:t>
            </a:fld>
            <a:endParaRPr lang="it-IT"/>
          </a:p>
        </p:txBody>
      </p:sp>
      <p:sp>
        <p:nvSpPr>
          <p:cNvPr id="76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6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AF7808-959A-354B-BD4B-1B97E95D75EC}" type="slidenum">
              <a:rPr lang="it-IT"/>
              <a:pPr/>
              <a:t>11</a:t>
            </a:fld>
            <a:endParaRPr lang="it-IT"/>
          </a:p>
        </p:txBody>
      </p:sp>
      <p:sp>
        <p:nvSpPr>
          <p:cNvPr id="76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6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486B1C-9673-644A-BE39-67B1389C7334}" type="slidenum">
              <a:rPr lang="it-IT"/>
              <a:pPr/>
              <a:t>12</a:t>
            </a:fld>
            <a:endParaRPr lang="it-IT"/>
          </a:p>
        </p:txBody>
      </p:sp>
      <p:sp>
        <p:nvSpPr>
          <p:cNvPr id="76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3DB716-7010-594E-8501-54E1F90C1213}" type="slidenum">
              <a:rPr lang="it-IT"/>
              <a:pPr/>
              <a:t>13</a:t>
            </a:fld>
            <a:endParaRPr lang="it-IT"/>
          </a:p>
        </p:txBody>
      </p:sp>
      <p:sp>
        <p:nvSpPr>
          <p:cNvPr id="76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6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3E7306-A76C-D14E-B9C1-9A053040CEA5}" type="slidenum">
              <a:rPr lang="it-IT"/>
              <a:pPr/>
              <a:t>14</a:t>
            </a:fld>
            <a:endParaRPr lang="it-IT"/>
          </a:p>
        </p:txBody>
      </p:sp>
      <p:sp>
        <p:nvSpPr>
          <p:cNvPr id="76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6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49971B-D63B-4F4A-9E2F-4F403374D311}" type="slidenum">
              <a:rPr lang="it-IT"/>
              <a:pPr/>
              <a:t>15</a:t>
            </a:fld>
            <a:endParaRPr lang="it-IT"/>
          </a:p>
        </p:txBody>
      </p:sp>
      <p:sp>
        <p:nvSpPr>
          <p:cNvPr id="77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2F1649-DB48-DE45-9265-E9837B5AAFC2}" type="slidenum">
              <a:rPr lang="it-IT"/>
              <a:pPr/>
              <a:t>16</a:t>
            </a:fld>
            <a:endParaRPr lang="it-IT"/>
          </a:p>
        </p:txBody>
      </p:sp>
      <p:sp>
        <p:nvSpPr>
          <p:cNvPr id="80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FD9B0B-00B7-7E4F-9EEA-CC74072E6AE1}" type="slidenum">
              <a:rPr lang="it-IT"/>
              <a:pPr/>
              <a:t>20</a:t>
            </a:fld>
            <a:endParaRPr lang="it-IT"/>
          </a:p>
        </p:txBody>
      </p:sp>
      <p:sp>
        <p:nvSpPr>
          <p:cNvPr id="77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7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B79791-795F-8C49-AB8C-8D7E5EE8D47C}" type="slidenum">
              <a:rPr lang="it-IT"/>
              <a:pPr/>
              <a:t>21</a:t>
            </a:fld>
            <a:endParaRPr lang="it-IT"/>
          </a:p>
        </p:txBody>
      </p:sp>
      <p:sp>
        <p:nvSpPr>
          <p:cNvPr id="77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7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F35526-123E-D54C-AA7B-C5594401D694}" type="slidenum">
              <a:rPr lang="it-IT"/>
              <a:pPr/>
              <a:t>22</a:t>
            </a:fld>
            <a:endParaRPr lang="it-IT"/>
          </a:p>
        </p:txBody>
      </p:sp>
      <p:sp>
        <p:nvSpPr>
          <p:cNvPr id="77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B6445D-A4FD-BE47-BEA8-7C1744102CD6}" type="slidenum">
              <a:rPr lang="it-IT"/>
              <a:pPr/>
              <a:t>23</a:t>
            </a:fld>
            <a:endParaRPr lang="it-IT"/>
          </a:p>
        </p:txBody>
      </p:sp>
      <p:sp>
        <p:nvSpPr>
          <p:cNvPr id="77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7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5E3B8D-322D-0B40-BBDF-F51C4673051F}" type="slidenum">
              <a:rPr lang="it-IT"/>
              <a:pPr/>
              <a:t>24</a:t>
            </a:fld>
            <a:endParaRPr lang="it-IT"/>
          </a:p>
        </p:txBody>
      </p:sp>
      <p:sp>
        <p:nvSpPr>
          <p:cNvPr id="77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7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B6445D-A4FD-BE47-BEA8-7C1744102CD6}" type="slidenum">
              <a:rPr lang="it-IT"/>
              <a:pPr/>
              <a:t>25</a:t>
            </a:fld>
            <a:endParaRPr lang="it-IT"/>
          </a:p>
        </p:txBody>
      </p:sp>
      <p:sp>
        <p:nvSpPr>
          <p:cNvPr id="77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7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7B07D4-EF87-2C4E-A002-D7F6C873CC58}" type="slidenum">
              <a:rPr lang="it-IT"/>
              <a:pPr/>
              <a:t>26</a:t>
            </a:fld>
            <a:endParaRPr lang="it-IT"/>
          </a:p>
        </p:txBody>
      </p:sp>
      <p:sp>
        <p:nvSpPr>
          <p:cNvPr id="77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7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DC28FC-B04A-B94A-BE22-86B8374C8F8E}" type="slidenum">
              <a:rPr lang="it-IT"/>
              <a:pPr/>
              <a:t>27</a:t>
            </a:fld>
            <a:endParaRPr lang="it-IT"/>
          </a:p>
        </p:txBody>
      </p:sp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BBB04A-1C7B-234E-BC93-1C70E7C3338A}" type="slidenum">
              <a:rPr lang="it-IT"/>
              <a:pPr/>
              <a:t>28</a:t>
            </a:fld>
            <a:endParaRPr lang="it-IT"/>
          </a:p>
        </p:txBody>
      </p:sp>
      <p:sp>
        <p:nvSpPr>
          <p:cNvPr id="77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7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763128-9892-DC48-B20D-1F2714C6F163}" type="slidenum">
              <a:rPr lang="it-IT"/>
              <a:pPr/>
              <a:t>29</a:t>
            </a:fld>
            <a:endParaRPr lang="it-IT"/>
          </a:p>
        </p:txBody>
      </p:sp>
      <p:sp>
        <p:nvSpPr>
          <p:cNvPr id="78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8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1A7242-ECC9-6A4C-88BF-92A25C427890}" type="slidenum">
              <a:rPr lang="it-IT"/>
              <a:pPr/>
              <a:t>30</a:t>
            </a:fld>
            <a:endParaRPr lang="it-IT"/>
          </a:p>
        </p:txBody>
      </p:sp>
      <p:sp>
        <p:nvSpPr>
          <p:cNvPr id="78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8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499661-F5ED-8546-9EF7-3A6881BDF06C}" type="slidenum">
              <a:rPr lang="it-IT"/>
              <a:pPr/>
              <a:t>31</a:t>
            </a:fld>
            <a:endParaRPr lang="it-IT"/>
          </a:p>
        </p:txBody>
      </p:sp>
      <p:sp>
        <p:nvSpPr>
          <p:cNvPr id="78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8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679E23-DB82-6C4D-AE4E-E39F1DFBB090}" type="slidenum">
              <a:rPr lang="it-IT"/>
              <a:pPr/>
              <a:t>32</a:t>
            </a:fld>
            <a:endParaRPr lang="it-IT"/>
          </a:p>
        </p:txBody>
      </p:sp>
      <p:sp>
        <p:nvSpPr>
          <p:cNvPr id="78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8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B03E59-2540-6847-B737-2DCD77E86124}" type="slidenum">
              <a:rPr lang="it-IT"/>
              <a:pPr/>
              <a:t>33</a:t>
            </a:fld>
            <a:endParaRPr lang="it-IT"/>
          </a:p>
        </p:txBody>
      </p:sp>
      <p:sp>
        <p:nvSpPr>
          <p:cNvPr id="78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8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1EBC33-4EA9-D146-BFB9-0592A54437CB}" type="slidenum">
              <a:rPr lang="it-IT"/>
              <a:pPr/>
              <a:t>34</a:t>
            </a:fld>
            <a:endParaRPr lang="it-IT"/>
          </a:p>
        </p:txBody>
      </p:sp>
      <p:sp>
        <p:nvSpPr>
          <p:cNvPr id="78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8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35369F-1963-1A4D-AAA7-5DB51CBE26BE}" type="slidenum">
              <a:rPr lang="it-IT"/>
              <a:pPr/>
              <a:t>35</a:t>
            </a:fld>
            <a:endParaRPr lang="it-IT"/>
          </a:p>
        </p:txBody>
      </p:sp>
      <p:sp>
        <p:nvSpPr>
          <p:cNvPr id="78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8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9D4A7A-4F7A-C84D-A076-AA97D3EFD59D}" type="slidenum">
              <a:rPr lang="it-IT"/>
              <a:pPr/>
              <a:t>36</a:t>
            </a:fld>
            <a:endParaRPr lang="it-IT"/>
          </a:p>
        </p:txBody>
      </p:sp>
      <p:sp>
        <p:nvSpPr>
          <p:cNvPr id="81101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1101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CFE0BA-A27E-3D4C-BB13-6C812E4DD56D}" type="slidenum">
              <a:rPr lang="it-IT"/>
              <a:pPr/>
              <a:t>37</a:t>
            </a:fld>
            <a:endParaRPr lang="it-IT"/>
          </a:p>
        </p:txBody>
      </p:sp>
      <p:sp>
        <p:nvSpPr>
          <p:cNvPr id="81203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1203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0B649A-E718-B942-9884-DA6E7D7B8A16}" type="slidenum">
              <a:rPr lang="it-IT"/>
              <a:pPr/>
              <a:t>38</a:t>
            </a:fld>
            <a:endParaRPr lang="it-IT"/>
          </a:p>
        </p:txBody>
      </p:sp>
      <p:sp>
        <p:nvSpPr>
          <p:cNvPr id="78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8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53D7AA-8E21-B546-9A90-1CAB722AB126}" type="slidenum">
              <a:rPr lang="it-IT"/>
              <a:pPr/>
              <a:t>39</a:t>
            </a:fld>
            <a:endParaRPr lang="it-IT"/>
          </a:p>
        </p:txBody>
      </p:sp>
      <p:sp>
        <p:nvSpPr>
          <p:cNvPr id="78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8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B16B9A-B49B-FE46-8A5E-6093D04DB3A7}" type="slidenum">
              <a:rPr lang="it-IT"/>
              <a:pPr/>
              <a:t>40</a:t>
            </a:fld>
            <a:endParaRPr lang="it-IT"/>
          </a:p>
        </p:txBody>
      </p:sp>
      <p:sp>
        <p:nvSpPr>
          <p:cNvPr id="78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DBC1A7-0D61-C04F-A51E-11FD9A41EC3B}" type="slidenum">
              <a:rPr lang="it-IT"/>
              <a:pPr/>
              <a:t>41</a:t>
            </a:fld>
            <a:endParaRPr lang="it-IT"/>
          </a:p>
        </p:txBody>
      </p:sp>
      <p:sp>
        <p:nvSpPr>
          <p:cNvPr id="79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9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D4F838-A405-DD48-83DD-AC7C0C8ABB59}" type="slidenum">
              <a:rPr lang="it-IT"/>
              <a:pPr/>
              <a:t>42</a:t>
            </a:fld>
            <a:endParaRPr lang="it-IT"/>
          </a:p>
        </p:txBody>
      </p:sp>
      <p:sp>
        <p:nvSpPr>
          <p:cNvPr id="79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9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0827CF-2CE4-0B48-8C31-E967A6ACA723}" type="slidenum">
              <a:rPr lang="it-IT"/>
              <a:pPr/>
              <a:t>43</a:t>
            </a:fld>
            <a:endParaRPr lang="it-IT"/>
          </a:p>
        </p:txBody>
      </p:sp>
      <p:sp>
        <p:nvSpPr>
          <p:cNvPr id="79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9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4B8BC5-016A-D64A-89E7-6F17BF170BDD}" type="slidenum">
              <a:rPr lang="it-IT"/>
              <a:pPr/>
              <a:t>44</a:t>
            </a:fld>
            <a:endParaRPr lang="it-IT"/>
          </a:p>
        </p:txBody>
      </p:sp>
      <p:sp>
        <p:nvSpPr>
          <p:cNvPr id="79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9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894EDA-4FEA-3E44-8313-8BF4C08151EA}" type="slidenum">
              <a:rPr lang="it-IT"/>
              <a:pPr/>
              <a:t>45</a:t>
            </a:fld>
            <a:endParaRPr lang="it-IT"/>
          </a:p>
        </p:txBody>
      </p:sp>
      <p:sp>
        <p:nvSpPr>
          <p:cNvPr id="79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9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64E5AF-831B-EE42-89BF-F3955E404B68}" type="slidenum">
              <a:rPr lang="it-IT"/>
              <a:pPr/>
              <a:t>46</a:t>
            </a:fld>
            <a:endParaRPr lang="it-IT"/>
          </a:p>
        </p:txBody>
      </p:sp>
      <p:sp>
        <p:nvSpPr>
          <p:cNvPr id="79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9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F5BC12-F558-C745-BF1F-9EF06C47FA04}" type="slidenum">
              <a:rPr lang="it-IT"/>
              <a:pPr/>
              <a:t>47</a:t>
            </a:fld>
            <a:endParaRPr lang="it-IT"/>
          </a:p>
        </p:txBody>
      </p:sp>
      <p:sp>
        <p:nvSpPr>
          <p:cNvPr id="79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9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7AD8E7-395A-AC4D-A1AA-67D5EBA6F115}" type="slidenum">
              <a:rPr lang="it-IT"/>
              <a:pPr/>
              <a:t>48</a:t>
            </a:fld>
            <a:endParaRPr lang="it-IT"/>
          </a:p>
        </p:txBody>
      </p:sp>
      <p:sp>
        <p:nvSpPr>
          <p:cNvPr id="79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9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6806C0-4193-C64C-946C-25691D354B5E}" type="slidenum">
              <a:rPr lang="it-IT"/>
              <a:pPr/>
              <a:t>49</a:t>
            </a:fld>
            <a:endParaRPr lang="it-IT"/>
          </a:p>
        </p:txBody>
      </p:sp>
      <p:sp>
        <p:nvSpPr>
          <p:cNvPr id="79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9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0F87E0-7106-5B4C-9D0E-F9C15C9B2A21}" type="slidenum">
              <a:rPr lang="it-IT"/>
              <a:pPr/>
              <a:t>50</a:t>
            </a:fld>
            <a:endParaRPr lang="it-IT"/>
          </a:p>
        </p:txBody>
      </p:sp>
      <p:sp>
        <p:nvSpPr>
          <p:cNvPr id="79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9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7142AA-0671-1F43-A7D3-6FEDD8A35A2C}" type="slidenum">
              <a:rPr lang="it-IT"/>
              <a:pPr/>
              <a:t>51</a:t>
            </a:fld>
            <a:endParaRPr lang="it-IT"/>
          </a:p>
        </p:txBody>
      </p:sp>
      <p:sp>
        <p:nvSpPr>
          <p:cNvPr id="80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A434FB-5BEE-1F43-BF0B-5732F4CE9B16}" type="slidenum">
              <a:rPr lang="it-IT"/>
              <a:pPr/>
              <a:t>52</a:t>
            </a:fld>
            <a:endParaRPr lang="it-IT"/>
          </a:p>
        </p:txBody>
      </p:sp>
      <p:sp>
        <p:nvSpPr>
          <p:cNvPr id="80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79FCA1-73A8-3347-B94B-6E4061B81122}" type="slidenum">
              <a:rPr lang="it-IT"/>
              <a:pPr/>
              <a:t>53</a:t>
            </a:fld>
            <a:endParaRPr lang="it-IT"/>
          </a:p>
        </p:txBody>
      </p:sp>
      <p:sp>
        <p:nvSpPr>
          <p:cNvPr id="80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2F1D36-9340-0542-AF72-2C90FA180403}" type="slidenum">
              <a:rPr lang="it-IT"/>
              <a:pPr/>
              <a:t>54</a:t>
            </a:fld>
            <a:endParaRPr lang="it-IT"/>
          </a:p>
        </p:txBody>
      </p:sp>
      <p:sp>
        <p:nvSpPr>
          <p:cNvPr id="80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E6E030-9E26-7148-95E3-81DF931A62B3}" type="slidenum">
              <a:rPr lang="it-IT"/>
              <a:pPr/>
              <a:t>55</a:t>
            </a:fld>
            <a:endParaRPr lang="it-IT"/>
          </a:p>
        </p:txBody>
      </p:sp>
      <p:sp>
        <p:nvSpPr>
          <p:cNvPr id="80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0143B4-64AF-F44E-B347-7F143B2709CA}" type="slidenum">
              <a:rPr lang="it-IT"/>
              <a:pPr/>
              <a:t>56</a:t>
            </a:fld>
            <a:endParaRPr lang="it-IT"/>
          </a:p>
        </p:txBody>
      </p:sp>
      <p:sp>
        <p:nvSpPr>
          <p:cNvPr id="81305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1305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D4279F-2C67-574E-BDC1-DF1D0AF35725}" type="slidenum">
              <a:rPr lang="it-IT"/>
              <a:pPr/>
              <a:t>57</a:t>
            </a:fld>
            <a:endParaRPr lang="it-IT"/>
          </a:p>
        </p:txBody>
      </p:sp>
      <p:sp>
        <p:nvSpPr>
          <p:cNvPr id="81408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1408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F9E191-3A1F-3B42-A1F6-033D9E95AE36}" type="slidenum">
              <a:rPr lang="it-IT"/>
              <a:pPr/>
              <a:t>58</a:t>
            </a:fld>
            <a:endParaRPr lang="it-IT"/>
          </a:p>
        </p:txBody>
      </p:sp>
      <p:sp>
        <p:nvSpPr>
          <p:cNvPr id="80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B7BC20-D0AF-BD44-B366-EE174784936B}" type="slidenum">
              <a:rPr lang="it-IT"/>
              <a:pPr/>
              <a:t>59</a:t>
            </a:fld>
            <a:endParaRPr lang="it-IT"/>
          </a:p>
        </p:txBody>
      </p:sp>
      <p:sp>
        <p:nvSpPr>
          <p:cNvPr id="80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742476-51DF-9C40-9BAC-1B86A18D1744}" type="slidenum">
              <a:rPr lang="it-IT"/>
              <a:pPr/>
              <a:t>60</a:t>
            </a:fld>
            <a:endParaRPr lang="it-IT"/>
          </a:p>
        </p:txBody>
      </p:sp>
      <p:sp>
        <p:nvSpPr>
          <p:cNvPr id="80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D0307E-8893-8241-B921-6098D4136376}" type="slidenum">
              <a:rPr lang="it-IT"/>
              <a:pPr/>
              <a:t>61</a:t>
            </a:fld>
            <a:endParaRPr lang="it-IT"/>
          </a:p>
        </p:txBody>
      </p:sp>
      <p:sp>
        <p:nvSpPr>
          <p:cNvPr id="80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906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304800"/>
            <a:ext cx="7772400" cy="1143000"/>
          </a:xfrm>
        </p:spPr>
        <p:txBody>
          <a:bodyPr/>
          <a:lstStyle>
            <a:lvl1pPr algn="ctr">
              <a:defRPr sz="2800">
                <a:solidFill>
                  <a:schemeClr val="folHlink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90800"/>
            <a:ext cx="7010400" cy="3352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120000"/>
              </a:spcBef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321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94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86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014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250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08970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6335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93713" y="488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it-IT" sz="2400">
              <a:latin typeface="Tahoma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738436" y="25467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it-IT" sz="2400">
              <a:latin typeface="Tahoma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479674" y="67694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it-IT" sz="2400">
              <a:latin typeface="Tahoma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849561" y="67694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it-IT" sz="2400">
              <a:latin typeface="Tahoma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65336" y="60392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it-IT" sz="2400">
              <a:latin typeface="Tahoma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00336" y="14672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it-IT" sz="2400">
              <a:latin typeface="Tahoma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395536" y="90872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it-IT" sz="2400">
              <a:latin typeface="Tahoma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15616" y="188640"/>
            <a:ext cx="75358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536" y="1196752"/>
            <a:ext cx="8352928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auto">
          <a:xfrm>
            <a:off x="107504" y="6381328"/>
            <a:ext cx="8892480" cy="38735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1000" b="1"/>
              <a:t>Introduzione agli algoritmi e strutture dati 2/ed</a:t>
            </a:r>
            <a:r>
              <a:rPr lang="it-IT" sz="1000"/>
              <a:t/>
            </a:r>
            <a:br>
              <a:rPr lang="it-IT" sz="1000"/>
            </a:br>
            <a:r>
              <a:rPr lang="it-IT" sz="1000"/>
              <a:t>T. H. Cormen, C. E. Leiserson, R. L. Rivest, C. Stein</a:t>
            </a:r>
          </a:p>
        </p:txBody>
      </p:sp>
      <p:pic>
        <p:nvPicPr>
          <p:cNvPr id="15" name="Picture 9" descr="McGraw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448" y="6400315"/>
            <a:ext cx="4143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0" descr="6251-7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16632"/>
            <a:ext cx="560387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5364088" y="6453336"/>
            <a:ext cx="29225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1000" dirty="0"/>
              <a:t>Copyright © 2005 – The McGraw-Hill Companies </a:t>
            </a:r>
            <a:r>
              <a:rPr lang="it-IT" sz="1000" dirty="0" err="1"/>
              <a:t>srl</a:t>
            </a:r>
            <a:endParaRPr lang="it-IT" sz="1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8" r:id="rId2"/>
    <p:sldLayoutId id="2147483720" r:id="rId3"/>
    <p:sldLayoutId id="2147483721" r:id="rId4"/>
    <p:sldLayoutId id="2147483722" r:id="rId5"/>
    <p:sldLayoutId id="2147483723" r:id="rId6"/>
    <p:sldLayoutId id="2147483725" r:id="rId7"/>
  </p:sldLayoutIdLs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build="p" bldLvl="3" autoUpdateAnimBg="0">
        <p:tmplLst>
          <p:tmpl lvl="1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/>
          <a:ea typeface="ＭＳ Ｐゴシック" charset="-128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charset="0"/>
        <a:buChar char="Ø"/>
        <a:defRPr sz="2400">
          <a:solidFill>
            <a:srgbClr val="201FF0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folHlink"/>
        </a:buClr>
        <a:buSzPct val="95000"/>
        <a:buFont typeface="Wingdings" charset="0"/>
        <a:buChar char="ü"/>
        <a:defRPr sz="2000">
          <a:solidFill>
            <a:schemeClr val="hlink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3.emf"/><Relationship Id="rId6" Type="http://schemas.openxmlformats.org/officeDocument/2006/relationships/oleObject" Target="../embeddings/oleObject2.bin"/><Relationship Id="rId7" Type="http://schemas.openxmlformats.org/officeDocument/2006/relationships/image" Target="../media/image4.emf"/><Relationship Id="rId8" Type="http://schemas.openxmlformats.org/officeDocument/2006/relationships/oleObject" Target="../embeddings/oleObject3.bin"/><Relationship Id="rId9" Type="http://schemas.openxmlformats.org/officeDocument/2006/relationships/image" Target="../media/image5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6.emf"/><Relationship Id="rId6" Type="http://schemas.openxmlformats.org/officeDocument/2006/relationships/oleObject" Target="../embeddings/oleObject5.bin"/><Relationship Id="rId7" Type="http://schemas.openxmlformats.org/officeDocument/2006/relationships/image" Target="../media/image7.emf"/><Relationship Id="rId8" Type="http://schemas.openxmlformats.org/officeDocument/2006/relationships/oleObject" Target="../embeddings/oleObject6.bin"/><Relationship Id="rId9" Type="http://schemas.openxmlformats.org/officeDocument/2006/relationships/image" Target="../media/image8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9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0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1.emf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2.e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13.emf"/><Relationship Id="rId6" Type="http://schemas.openxmlformats.org/officeDocument/2006/relationships/oleObject" Target="../embeddings/oleObject12.bin"/><Relationship Id="rId7" Type="http://schemas.openxmlformats.org/officeDocument/2006/relationships/image" Target="../media/image14.emf"/><Relationship Id="rId8" Type="http://schemas.openxmlformats.org/officeDocument/2006/relationships/oleObject" Target="../embeddings/oleObject13.bin"/><Relationship Id="rId9" Type="http://schemas.openxmlformats.org/officeDocument/2006/relationships/image" Target="../media/image15.e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4" Type="http://schemas.openxmlformats.org/officeDocument/2006/relationships/oleObject" Target="../embeddings/oleObject14.bin"/><Relationship Id="rId5" Type="http://schemas.openxmlformats.org/officeDocument/2006/relationships/image" Target="../media/image16.e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17.emf"/><Relationship Id="rId6" Type="http://schemas.openxmlformats.org/officeDocument/2006/relationships/oleObject" Target="../embeddings/oleObject16.bin"/><Relationship Id="rId7" Type="http://schemas.openxmlformats.org/officeDocument/2006/relationships/image" Target="../media/image18.e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4" Type="http://schemas.openxmlformats.org/officeDocument/2006/relationships/oleObject" Target="../embeddings/oleObject17.bin"/><Relationship Id="rId5" Type="http://schemas.openxmlformats.org/officeDocument/2006/relationships/image" Target="../media/image19.e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20.emf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4" Type="http://schemas.openxmlformats.org/officeDocument/2006/relationships/oleObject" Target="../embeddings/oleObject19.bin"/><Relationship Id="rId5" Type="http://schemas.openxmlformats.org/officeDocument/2006/relationships/image" Target="../media/image21.emf"/><Relationship Id="rId6" Type="http://schemas.openxmlformats.org/officeDocument/2006/relationships/oleObject" Target="../embeddings/oleObject20.bin"/><Relationship Id="rId7" Type="http://schemas.openxmlformats.org/officeDocument/2006/relationships/image" Target="../media/image22.emf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3.emf"/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>
                <a:ea typeface="ＭＳ Ｐゴシック" charset="0"/>
                <a:cs typeface="ＭＳ Ｐゴシック" charset="0"/>
              </a:rPr>
              <a:t>UNIVERSITA’ DI MILANO-BICOCCA</a:t>
            </a:r>
            <a:br>
              <a:rPr lang="it-IT">
                <a:ea typeface="ＭＳ Ｐゴシック" charset="0"/>
                <a:cs typeface="ＭＳ Ｐゴシック" charset="0"/>
              </a:rPr>
            </a:br>
            <a:r>
              <a:rPr lang="it-IT">
                <a:ea typeface="ＭＳ Ｐゴシック" charset="0"/>
                <a:cs typeface="ＭＳ Ｐゴシック" charset="0"/>
              </a:rPr>
              <a:t>CdL IN INFORMATICA</a:t>
            </a:r>
          </a:p>
        </p:txBody>
      </p:sp>
      <p:sp>
        <p:nvSpPr>
          <p:cNvPr id="15362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2204864"/>
            <a:ext cx="7086600" cy="3886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Corso di</a:t>
            </a:r>
          </a:p>
          <a:p>
            <a:pPr eaLnBrk="1" hangingPunct="1">
              <a:spcBef>
                <a:spcPts val="1200"/>
              </a:spcBef>
            </a:pPr>
            <a:r>
              <a:rPr lang="it-IT" sz="2800" b="1" dirty="0">
                <a:solidFill>
                  <a:srgbClr val="FF0000"/>
                </a:solidFill>
              </a:rPr>
              <a:t>ANALISI E PROGETTO DI </a:t>
            </a:r>
            <a:r>
              <a:rPr lang="it-IT" sz="2800" b="1" dirty="0" smtClean="0">
                <a:solidFill>
                  <a:srgbClr val="FF0000"/>
                </a:solidFill>
              </a:rPr>
              <a:t>ALGORITMI</a:t>
            </a:r>
            <a:endParaRPr lang="it-IT" sz="280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>
                <a:latin typeface="Comic Sans MS" charset="0"/>
                <a:ea typeface="ＭＳ Ｐゴシック" charset="0"/>
              </a:rPr>
              <a:t>Prof. Giancarlo Mauri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Lezioni 4</a:t>
            </a: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-</a:t>
            </a: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7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dirty="0" err="1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Programmazione</a:t>
            </a:r>
            <a:r>
              <a:rPr lang="en-US" dirty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Dinamica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5010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6" name="Text Box 2"/>
          <p:cNvSpPr txBox="1">
            <a:spLocks noChangeArrowheads="1"/>
          </p:cNvSpPr>
          <p:nvPr/>
        </p:nvSpPr>
        <p:spPr bwMode="auto">
          <a:xfrm>
            <a:off x="381000" y="1676400"/>
            <a:ext cx="8229600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La tecnica </a:t>
            </a:r>
            <a:r>
              <a:rPr lang="it-IT" sz="2400" dirty="0" smtClean="0">
                <a:solidFill>
                  <a:srgbClr val="0000CC"/>
                </a:solidFill>
                <a:latin typeface="Comic Sans MS" charset="0"/>
              </a:rPr>
              <a:t>della</a:t>
            </a:r>
            <a:endParaRPr lang="it-IT" sz="2400" dirty="0">
              <a:solidFill>
                <a:srgbClr val="0000CC"/>
              </a:solidFill>
              <a:latin typeface="Comic Sans MS" charset="0"/>
            </a:endParaRPr>
          </a:p>
          <a:p>
            <a:pPr algn="ctr">
              <a:spcBef>
                <a:spcPct val="50000"/>
              </a:spcBef>
            </a:pPr>
            <a:r>
              <a:rPr lang="it-IT" sz="2800" i="1" dirty="0">
                <a:solidFill>
                  <a:srgbClr val="FF0000"/>
                </a:solidFill>
                <a:latin typeface="Comic Sans MS" charset="0"/>
              </a:rPr>
              <a:t>programmazione dinamica</a:t>
            </a:r>
            <a:r>
              <a:rPr lang="it-IT" sz="2800" dirty="0">
                <a:latin typeface="Comic Sans MS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permette di risolvere efficientemente un problema algoritmico quando i sottoproblemi in cui esso si può scomporre non sono </a:t>
            </a:r>
            <a:r>
              <a:rPr lang="it-IT" sz="2400" dirty="0" smtClean="0">
                <a:solidFill>
                  <a:srgbClr val="0000CC"/>
                </a:solidFill>
                <a:latin typeface="Comic Sans MS" charset="0"/>
              </a:rPr>
              <a:t>indipendenti</a:t>
            </a:r>
            <a:endParaRPr lang="it-IT" sz="2400" dirty="0">
              <a:solidFill>
                <a:srgbClr val="0000CC"/>
              </a:solidFill>
              <a:latin typeface="Comic Sans MS" charset="0"/>
            </a:endParaRPr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La programmazione dinamica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2" name="Text Box 4"/>
          <p:cNvSpPr txBox="1">
            <a:spLocks noChangeArrowheads="1"/>
          </p:cNvSpPr>
          <p:nvPr/>
        </p:nvSpPr>
        <p:spPr bwMode="auto">
          <a:xfrm>
            <a:off x="611560" y="1412776"/>
            <a:ext cx="807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sz="2400">
                <a:solidFill>
                  <a:srgbClr val="0000CC"/>
                </a:solidFill>
                <a:latin typeface="Comic Sans MS" charset="0"/>
              </a:rPr>
              <a:t>In una fabbrica di automobili ci sono due catene di montaggio ciascuna con </a:t>
            </a:r>
            <a:r>
              <a:rPr lang="it-IT" sz="2400" i="1">
                <a:solidFill>
                  <a:srgbClr val="0000CC"/>
                </a:solidFill>
                <a:latin typeface="Comic Sans MS" charset="0"/>
              </a:rPr>
              <a:t>n</a:t>
            </a:r>
            <a:r>
              <a:rPr lang="it-IT" sz="2400">
                <a:solidFill>
                  <a:srgbClr val="0000CC"/>
                </a:solidFill>
                <a:latin typeface="Comic Sans MS" charset="0"/>
              </a:rPr>
              <a:t> stazioni: </a:t>
            </a:r>
          </a:p>
        </p:txBody>
      </p:sp>
      <p:grpSp>
        <p:nvGrpSpPr>
          <p:cNvPr id="677919" name="Group 31"/>
          <p:cNvGrpSpPr>
            <a:grpSpLocks/>
          </p:cNvGrpSpPr>
          <p:nvPr/>
        </p:nvGrpSpPr>
        <p:grpSpPr bwMode="auto">
          <a:xfrm>
            <a:off x="762000" y="3048000"/>
            <a:ext cx="7620000" cy="2743200"/>
            <a:chOff x="384" y="2208"/>
            <a:chExt cx="4800" cy="1728"/>
          </a:xfrm>
        </p:grpSpPr>
        <p:sp>
          <p:nvSpPr>
            <p:cNvPr id="677893" name="AutoShape 5"/>
            <p:cNvSpPr>
              <a:spLocks noChangeArrowheads="1"/>
            </p:cNvSpPr>
            <p:nvPr/>
          </p:nvSpPr>
          <p:spPr bwMode="auto">
            <a:xfrm>
              <a:off x="720" y="3408"/>
              <a:ext cx="3984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7894" name="AutoShape 6"/>
            <p:cNvSpPr>
              <a:spLocks noChangeArrowheads="1"/>
            </p:cNvSpPr>
            <p:nvPr/>
          </p:nvSpPr>
          <p:spPr bwMode="auto">
            <a:xfrm>
              <a:off x="720" y="2208"/>
              <a:ext cx="3984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7895" name="Oval 7"/>
            <p:cNvSpPr>
              <a:spLocks noChangeArrowheads="1"/>
            </p:cNvSpPr>
            <p:nvPr/>
          </p:nvSpPr>
          <p:spPr bwMode="auto">
            <a:xfrm>
              <a:off x="816" y="23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S</a:t>
              </a:r>
              <a:r>
                <a:rPr lang="it-IT" sz="2000" baseline="-25000"/>
                <a:t>1,1</a:t>
              </a:r>
              <a:endParaRPr lang="en-US" sz="2000" baseline="-25000"/>
            </a:p>
          </p:txBody>
        </p:sp>
        <p:sp>
          <p:nvSpPr>
            <p:cNvPr id="677896" name="Line 8"/>
            <p:cNvSpPr>
              <a:spLocks noChangeShapeType="1"/>
            </p:cNvSpPr>
            <p:nvPr/>
          </p:nvSpPr>
          <p:spPr bwMode="auto">
            <a:xfrm>
              <a:off x="384" y="3072"/>
              <a:ext cx="2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897" name="Line 9"/>
            <p:cNvSpPr>
              <a:spLocks noChangeShapeType="1"/>
            </p:cNvSpPr>
            <p:nvPr/>
          </p:nvSpPr>
          <p:spPr bwMode="auto">
            <a:xfrm flipV="1">
              <a:off x="672" y="2640"/>
              <a:ext cx="240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898" name="Line 10"/>
            <p:cNvSpPr>
              <a:spLocks noChangeShapeType="1"/>
            </p:cNvSpPr>
            <p:nvPr/>
          </p:nvSpPr>
          <p:spPr bwMode="auto">
            <a:xfrm>
              <a:off x="672" y="3072"/>
              <a:ext cx="240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899" name="Oval 11"/>
            <p:cNvSpPr>
              <a:spLocks noChangeArrowheads="1"/>
            </p:cNvSpPr>
            <p:nvPr/>
          </p:nvSpPr>
          <p:spPr bwMode="auto">
            <a:xfrm>
              <a:off x="816" y="35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S</a:t>
              </a:r>
              <a:r>
                <a:rPr lang="it-IT" sz="2000" baseline="-25000"/>
                <a:t>2,1</a:t>
              </a:r>
              <a:endParaRPr lang="en-US" sz="2000" baseline="-25000"/>
            </a:p>
          </p:txBody>
        </p:sp>
        <p:sp>
          <p:nvSpPr>
            <p:cNvPr id="677900" name="Oval 12"/>
            <p:cNvSpPr>
              <a:spLocks noChangeArrowheads="1"/>
            </p:cNvSpPr>
            <p:nvPr/>
          </p:nvSpPr>
          <p:spPr bwMode="auto">
            <a:xfrm>
              <a:off x="4272" y="35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S</a:t>
              </a:r>
              <a:r>
                <a:rPr lang="it-IT" sz="2000" baseline="-25000"/>
                <a:t>2,n</a:t>
              </a:r>
              <a:endParaRPr lang="en-US" sz="2000" baseline="-25000"/>
            </a:p>
          </p:txBody>
        </p:sp>
        <p:sp>
          <p:nvSpPr>
            <p:cNvPr id="677901" name="Oval 13"/>
            <p:cNvSpPr>
              <a:spLocks noChangeArrowheads="1"/>
            </p:cNvSpPr>
            <p:nvPr/>
          </p:nvSpPr>
          <p:spPr bwMode="auto">
            <a:xfrm>
              <a:off x="3552" y="35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S</a:t>
              </a:r>
              <a:r>
                <a:rPr lang="it-IT" sz="2000" baseline="-25000"/>
                <a:t>2,n-1</a:t>
              </a:r>
              <a:endParaRPr lang="en-US" sz="2000" baseline="-25000"/>
            </a:p>
          </p:txBody>
        </p:sp>
        <p:sp>
          <p:nvSpPr>
            <p:cNvPr id="677902" name="Oval 14"/>
            <p:cNvSpPr>
              <a:spLocks noChangeArrowheads="1"/>
            </p:cNvSpPr>
            <p:nvPr/>
          </p:nvSpPr>
          <p:spPr bwMode="auto">
            <a:xfrm>
              <a:off x="2256" y="35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S</a:t>
              </a:r>
              <a:r>
                <a:rPr lang="it-IT" sz="2000" baseline="-25000"/>
                <a:t>2,3</a:t>
              </a:r>
              <a:endParaRPr lang="en-US" sz="2000" baseline="-25000"/>
            </a:p>
          </p:txBody>
        </p:sp>
        <p:sp>
          <p:nvSpPr>
            <p:cNvPr id="677903" name="Oval 15"/>
            <p:cNvSpPr>
              <a:spLocks noChangeArrowheads="1"/>
            </p:cNvSpPr>
            <p:nvPr/>
          </p:nvSpPr>
          <p:spPr bwMode="auto">
            <a:xfrm>
              <a:off x="1536" y="35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S</a:t>
              </a:r>
              <a:r>
                <a:rPr lang="it-IT" sz="2000" baseline="-25000"/>
                <a:t>2,2</a:t>
              </a:r>
              <a:endParaRPr lang="en-US" sz="2000" baseline="-25000"/>
            </a:p>
          </p:txBody>
        </p:sp>
        <p:sp>
          <p:nvSpPr>
            <p:cNvPr id="677904" name="Oval 16"/>
            <p:cNvSpPr>
              <a:spLocks noChangeArrowheads="1"/>
            </p:cNvSpPr>
            <p:nvPr/>
          </p:nvSpPr>
          <p:spPr bwMode="auto">
            <a:xfrm>
              <a:off x="4272" y="23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S</a:t>
              </a:r>
              <a:r>
                <a:rPr lang="it-IT" sz="2000" baseline="-25000"/>
                <a:t>1,n</a:t>
              </a:r>
              <a:endParaRPr lang="en-US" sz="2000" baseline="-25000"/>
            </a:p>
          </p:txBody>
        </p:sp>
        <p:sp>
          <p:nvSpPr>
            <p:cNvPr id="677905" name="Oval 17"/>
            <p:cNvSpPr>
              <a:spLocks noChangeArrowheads="1"/>
            </p:cNvSpPr>
            <p:nvPr/>
          </p:nvSpPr>
          <p:spPr bwMode="auto">
            <a:xfrm>
              <a:off x="3552" y="23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S</a:t>
              </a:r>
              <a:r>
                <a:rPr lang="it-IT" sz="2000" baseline="-25000"/>
                <a:t>1,n-1</a:t>
              </a:r>
              <a:endParaRPr lang="en-US" sz="2000" baseline="-25000"/>
            </a:p>
          </p:txBody>
        </p:sp>
        <p:sp>
          <p:nvSpPr>
            <p:cNvPr id="677906" name="Oval 18"/>
            <p:cNvSpPr>
              <a:spLocks noChangeArrowheads="1"/>
            </p:cNvSpPr>
            <p:nvPr/>
          </p:nvSpPr>
          <p:spPr bwMode="auto">
            <a:xfrm>
              <a:off x="2256" y="23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S</a:t>
              </a:r>
              <a:r>
                <a:rPr lang="it-IT" sz="2000" baseline="-25000"/>
                <a:t>1,3</a:t>
              </a:r>
              <a:endParaRPr lang="en-US" sz="2000" baseline="-25000"/>
            </a:p>
          </p:txBody>
        </p:sp>
        <p:sp>
          <p:nvSpPr>
            <p:cNvPr id="677907" name="Oval 19"/>
            <p:cNvSpPr>
              <a:spLocks noChangeArrowheads="1"/>
            </p:cNvSpPr>
            <p:nvPr/>
          </p:nvSpPr>
          <p:spPr bwMode="auto">
            <a:xfrm>
              <a:off x="1536" y="23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S</a:t>
              </a:r>
              <a:r>
                <a:rPr lang="it-IT" sz="2000" baseline="-25000"/>
                <a:t>1,2</a:t>
              </a:r>
              <a:endParaRPr lang="en-US" sz="2000" baseline="-25000"/>
            </a:p>
          </p:txBody>
        </p:sp>
        <p:sp>
          <p:nvSpPr>
            <p:cNvPr id="677908" name="Line 20"/>
            <p:cNvSpPr>
              <a:spLocks noChangeShapeType="1"/>
            </p:cNvSpPr>
            <p:nvPr/>
          </p:nvSpPr>
          <p:spPr bwMode="auto">
            <a:xfrm flipV="1">
              <a:off x="4560" y="3072"/>
              <a:ext cx="336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909" name="Line 21"/>
            <p:cNvSpPr>
              <a:spLocks noChangeShapeType="1"/>
            </p:cNvSpPr>
            <p:nvPr/>
          </p:nvSpPr>
          <p:spPr bwMode="auto">
            <a:xfrm>
              <a:off x="4560" y="2592"/>
              <a:ext cx="336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910" name="Line 22"/>
            <p:cNvSpPr>
              <a:spLocks noChangeShapeType="1"/>
            </p:cNvSpPr>
            <p:nvPr/>
          </p:nvSpPr>
          <p:spPr bwMode="auto">
            <a:xfrm>
              <a:off x="4896" y="3072"/>
              <a:ext cx="2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911" name="Line 23"/>
            <p:cNvSpPr>
              <a:spLocks noChangeShapeType="1"/>
            </p:cNvSpPr>
            <p:nvPr/>
          </p:nvSpPr>
          <p:spPr bwMode="auto">
            <a:xfrm>
              <a:off x="1152" y="2496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912" name="Line 24"/>
            <p:cNvSpPr>
              <a:spLocks noChangeShapeType="1"/>
            </p:cNvSpPr>
            <p:nvPr/>
          </p:nvSpPr>
          <p:spPr bwMode="auto">
            <a:xfrm>
              <a:off x="1152" y="3648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913" name="Line 25"/>
            <p:cNvSpPr>
              <a:spLocks noChangeShapeType="1"/>
            </p:cNvSpPr>
            <p:nvPr/>
          </p:nvSpPr>
          <p:spPr bwMode="auto">
            <a:xfrm>
              <a:off x="1872" y="2496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914" name="Line 26"/>
            <p:cNvSpPr>
              <a:spLocks noChangeShapeType="1"/>
            </p:cNvSpPr>
            <p:nvPr/>
          </p:nvSpPr>
          <p:spPr bwMode="auto">
            <a:xfrm>
              <a:off x="3888" y="3648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915" name="Line 27"/>
            <p:cNvSpPr>
              <a:spLocks noChangeShapeType="1"/>
            </p:cNvSpPr>
            <p:nvPr/>
          </p:nvSpPr>
          <p:spPr bwMode="auto">
            <a:xfrm>
              <a:off x="3888" y="2496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916" name="Line 28"/>
            <p:cNvSpPr>
              <a:spLocks noChangeShapeType="1"/>
            </p:cNvSpPr>
            <p:nvPr/>
          </p:nvSpPr>
          <p:spPr bwMode="auto">
            <a:xfrm>
              <a:off x="1872" y="3648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917" name="Line 29"/>
            <p:cNvSpPr>
              <a:spLocks noChangeShapeType="1"/>
            </p:cNvSpPr>
            <p:nvPr/>
          </p:nvSpPr>
          <p:spPr bwMode="auto">
            <a:xfrm>
              <a:off x="2592" y="2496"/>
              <a:ext cx="9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918" name="Line 30"/>
            <p:cNvSpPr>
              <a:spLocks noChangeShapeType="1"/>
            </p:cNvSpPr>
            <p:nvPr/>
          </p:nvSpPr>
          <p:spPr bwMode="auto">
            <a:xfrm>
              <a:off x="2592" y="3648"/>
              <a:ext cx="9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77922" name="Rectangle 3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ym typeface="Symbol" charset="0"/>
              </a:rPr>
              <a:t>Il problema della catena di montaggio</a:t>
            </a:r>
            <a:endParaRPr lang="en-US">
              <a:sym typeface="Symbo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Text Box 2"/>
          <p:cNvSpPr txBox="1">
            <a:spLocks noChangeArrowheads="1"/>
          </p:cNvSpPr>
          <p:nvPr/>
        </p:nvSpPr>
        <p:spPr bwMode="auto">
          <a:xfrm>
            <a:off x="539552" y="1124744"/>
            <a:ext cx="8077200" cy="195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Due stazioni corrispondenti </a:t>
            </a:r>
            <a:r>
              <a:rPr lang="it-IT" sz="2400" i="1" dirty="0">
                <a:solidFill>
                  <a:srgbClr val="CC3300"/>
                </a:solidFill>
                <a:latin typeface="Comic Sans MS" charset="0"/>
              </a:rPr>
              <a:t>S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1,</a:t>
            </a:r>
            <a:r>
              <a:rPr lang="it-IT" sz="2400" i="1" baseline="-25000" dirty="0">
                <a:solidFill>
                  <a:srgbClr val="CC33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 ed </a:t>
            </a:r>
            <a:r>
              <a:rPr lang="it-IT" sz="2400" i="1" dirty="0">
                <a:solidFill>
                  <a:srgbClr val="CC3300"/>
                </a:solidFill>
                <a:latin typeface="Comic Sans MS" charset="0"/>
              </a:rPr>
              <a:t>S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2,</a:t>
            </a:r>
            <a:r>
              <a:rPr lang="it-IT" sz="2400" i="1" baseline="-25000" dirty="0">
                <a:solidFill>
                  <a:srgbClr val="CC33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 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delle due catene effettuano la stessa operazione ma con tempi di esecuzione </a:t>
            </a:r>
            <a:r>
              <a:rPr lang="it-IT" sz="2400" i="1" dirty="0">
                <a:solidFill>
                  <a:srgbClr val="CC3300"/>
                </a:solidFill>
                <a:latin typeface="Comic Sans MS" charset="0"/>
              </a:rPr>
              <a:t>a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1,</a:t>
            </a:r>
            <a:r>
              <a:rPr lang="it-IT" sz="2400" i="1" baseline="-25000" dirty="0">
                <a:solidFill>
                  <a:srgbClr val="CC33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 ed </a:t>
            </a:r>
            <a:r>
              <a:rPr lang="it-IT" sz="2400" i="1" dirty="0">
                <a:solidFill>
                  <a:srgbClr val="CC3300"/>
                </a:solidFill>
                <a:latin typeface="Comic Sans MS" charset="0"/>
              </a:rPr>
              <a:t>a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2,</a:t>
            </a:r>
            <a:r>
              <a:rPr lang="it-IT" sz="2400" i="1" baseline="-25000" dirty="0">
                <a:solidFill>
                  <a:srgbClr val="CC3300"/>
                </a:solidFill>
                <a:latin typeface="Comic Sans MS" charset="0"/>
              </a:rPr>
              <a:t>j</a:t>
            </a:r>
            <a:r>
              <a:rPr lang="it-IT" sz="2400" baseline="-25000" dirty="0">
                <a:solidFill>
                  <a:srgbClr val="0000CC"/>
                </a:solidFill>
                <a:latin typeface="Comic Sans MS" charset="0"/>
              </a:rPr>
              <a:t> 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 differenti. </a:t>
            </a:r>
          </a:p>
          <a:p>
            <a:pPr>
              <a:spcBef>
                <a:spcPct val="10000"/>
              </a:spcBef>
            </a:pP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Possono essere pure differenti i tempi </a:t>
            </a:r>
            <a:r>
              <a:rPr lang="it-IT" sz="2400" i="1" dirty="0">
                <a:solidFill>
                  <a:srgbClr val="CC3300"/>
                </a:solidFill>
                <a:latin typeface="Comic Sans MS" charset="0"/>
              </a:rPr>
              <a:t>e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1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 ed </a:t>
            </a:r>
            <a:r>
              <a:rPr lang="it-IT" sz="2400" i="1" dirty="0">
                <a:solidFill>
                  <a:srgbClr val="CC3300"/>
                </a:solidFill>
                <a:latin typeface="Comic Sans MS" charset="0"/>
              </a:rPr>
              <a:t>e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2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 di entrata e i tempi </a:t>
            </a:r>
            <a:r>
              <a:rPr lang="it-IT" sz="2400" i="1" dirty="0">
                <a:solidFill>
                  <a:srgbClr val="CC3300"/>
                </a:solidFill>
                <a:latin typeface="Comic Sans MS" charset="0"/>
              </a:rPr>
              <a:t>x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1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 ed </a:t>
            </a:r>
            <a:r>
              <a:rPr lang="it-IT" sz="2400" i="1" dirty="0">
                <a:solidFill>
                  <a:srgbClr val="CC3300"/>
                </a:solidFill>
                <a:latin typeface="Comic Sans MS" charset="0"/>
              </a:rPr>
              <a:t>x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2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 di uscita dalle catene.</a:t>
            </a:r>
          </a:p>
        </p:txBody>
      </p:sp>
      <p:grpSp>
        <p:nvGrpSpPr>
          <p:cNvPr id="678945" name="Group 33"/>
          <p:cNvGrpSpPr>
            <a:grpSpLocks/>
          </p:cNvGrpSpPr>
          <p:nvPr/>
        </p:nvGrpSpPr>
        <p:grpSpPr bwMode="auto">
          <a:xfrm>
            <a:off x="685800" y="3429000"/>
            <a:ext cx="7620000" cy="2743200"/>
            <a:chOff x="432" y="2160"/>
            <a:chExt cx="4800" cy="1728"/>
          </a:xfrm>
        </p:grpSpPr>
        <p:sp>
          <p:nvSpPr>
            <p:cNvPr id="678915" name="AutoShape 3"/>
            <p:cNvSpPr>
              <a:spLocks noChangeArrowheads="1"/>
            </p:cNvSpPr>
            <p:nvPr/>
          </p:nvSpPr>
          <p:spPr bwMode="auto">
            <a:xfrm>
              <a:off x="768" y="3360"/>
              <a:ext cx="3984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916" name="AutoShape 4"/>
            <p:cNvSpPr>
              <a:spLocks noChangeArrowheads="1"/>
            </p:cNvSpPr>
            <p:nvPr/>
          </p:nvSpPr>
          <p:spPr bwMode="auto">
            <a:xfrm>
              <a:off x="768" y="2160"/>
              <a:ext cx="3984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917" name="Oval 5"/>
            <p:cNvSpPr>
              <a:spLocks noChangeArrowheads="1"/>
            </p:cNvSpPr>
            <p:nvPr/>
          </p:nvSpPr>
          <p:spPr bwMode="auto">
            <a:xfrm>
              <a:off x="864" y="225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1,1</a:t>
              </a:r>
              <a:endParaRPr lang="en-US" sz="2000" baseline="-25000"/>
            </a:p>
          </p:txBody>
        </p:sp>
        <p:sp>
          <p:nvSpPr>
            <p:cNvPr id="678918" name="Line 6"/>
            <p:cNvSpPr>
              <a:spLocks noChangeShapeType="1"/>
            </p:cNvSpPr>
            <p:nvPr/>
          </p:nvSpPr>
          <p:spPr bwMode="auto">
            <a:xfrm>
              <a:off x="432" y="3024"/>
              <a:ext cx="2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919" name="Line 7"/>
            <p:cNvSpPr>
              <a:spLocks noChangeShapeType="1"/>
            </p:cNvSpPr>
            <p:nvPr/>
          </p:nvSpPr>
          <p:spPr bwMode="auto">
            <a:xfrm flipV="1">
              <a:off x="720" y="2592"/>
              <a:ext cx="240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920" name="Line 8"/>
            <p:cNvSpPr>
              <a:spLocks noChangeShapeType="1"/>
            </p:cNvSpPr>
            <p:nvPr/>
          </p:nvSpPr>
          <p:spPr bwMode="auto">
            <a:xfrm>
              <a:off x="720" y="3024"/>
              <a:ext cx="240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921" name="Oval 9"/>
            <p:cNvSpPr>
              <a:spLocks noChangeArrowheads="1"/>
            </p:cNvSpPr>
            <p:nvPr/>
          </p:nvSpPr>
          <p:spPr bwMode="auto">
            <a:xfrm>
              <a:off x="864" y="345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2,1</a:t>
              </a:r>
              <a:endParaRPr lang="en-US" sz="2000" baseline="-25000"/>
            </a:p>
          </p:txBody>
        </p:sp>
        <p:sp>
          <p:nvSpPr>
            <p:cNvPr id="678922" name="Oval 10"/>
            <p:cNvSpPr>
              <a:spLocks noChangeArrowheads="1"/>
            </p:cNvSpPr>
            <p:nvPr/>
          </p:nvSpPr>
          <p:spPr bwMode="auto">
            <a:xfrm>
              <a:off x="4320" y="345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2,n</a:t>
              </a:r>
              <a:endParaRPr lang="en-US" sz="2000" baseline="-25000"/>
            </a:p>
          </p:txBody>
        </p:sp>
        <p:sp>
          <p:nvSpPr>
            <p:cNvPr id="678923" name="Oval 11"/>
            <p:cNvSpPr>
              <a:spLocks noChangeArrowheads="1"/>
            </p:cNvSpPr>
            <p:nvPr/>
          </p:nvSpPr>
          <p:spPr bwMode="auto">
            <a:xfrm>
              <a:off x="3600" y="345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2,n-1</a:t>
              </a:r>
              <a:endParaRPr lang="en-US" sz="2000" baseline="-25000"/>
            </a:p>
          </p:txBody>
        </p:sp>
        <p:sp>
          <p:nvSpPr>
            <p:cNvPr id="678924" name="Oval 12"/>
            <p:cNvSpPr>
              <a:spLocks noChangeArrowheads="1"/>
            </p:cNvSpPr>
            <p:nvPr/>
          </p:nvSpPr>
          <p:spPr bwMode="auto">
            <a:xfrm>
              <a:off x="2304" y="345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2,3</a:t>
              </a:r>
              <a:endParaRPr lang="en-US" sz="2000" baseline="-25000"/>
            </a:p>
          </p:txBody>
        </p:sp>
        <p:sp>
          <p:nvSpPr>
            <p:cNvPr id="678925" name="Oval 13"/>
            <p:cNvSpPr>
              <a:spLocks noChangeArrowheads="1"/>
            </p:cNvSpPr>
            <p:nvPr/>
          </p:nvSpPr>
          <p:spPr bwMode="auto">
            <a:xfrm>
              <a:off x="1584" y="345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2,2</a:t>
              </a:r>
              <a:endParaRPr lang="en-US" sz="2000" baseline="-25000"/>
            </a:p>
          </p:txBody>
        </p:sp>
        <p:sp>
          <p:nvSpPr>
            <p:cNvPr id="678926" name="Oval 14"/>
            <p:cNvSpPr>
              <a:spLocks noChangeArrowheads="1"/>
            </p:cNvSpPr>
            <p:nvPr/>
          </p:nvSpPr>
          <p:spPr bwMode="auto">
            <a:xfrm>
              <a:off x="4320" y="225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1,n</a:t>
              </a:r>
              <a:endParaRPr lang="en-US" sz="2000" baseline="-25000"/>
            </a:p>
          </p:txBody>
        </p:sp>
        <p:sp>
          <p:nvSpPr>
            <p:cNvPr id="678927" name="Oval 15"/>
            <p:cNvSpPr>
              <a:spLocks noChangeArrowheads="1"/>
            </p:cNvSpPr>
            <p:nvPr/>
          </p:nvSpPr>
          <p:spPr bwMode="auto">
            <a:xfrm>
              <a:off x="3600" y="225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1,n-1</a:t>
              </a:r>
              <a:endParaRPr lang="en-US" sz="2000" baseline="-25000"/>
            </a:p>
          </p:txBody>
        </p:sp>
        <p:sp>
          <p:nvSpPr>
            <p:cNvPr id="678928" name="Oval 16"/>
            <p:cNvSpPr>
              <a:spLocks noChangeArrowheads="1"/>
            </p:cNvSpPr>
            <p:nvPr/>
          </p:nvSpPr>
          <p:spPr bwMode="auto">
            <a:xfrm>
              <a:off x="2304" y="225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1,3</a:t>
              </a:r>
              <a:endParaRPr lang="en-US" sz="2000" baseline="-25000"/>
            </a:p>
          </p:txBody>
        </p:sp>
        <p:sp>
          <p:nvSpPr>
            <p:cNvPr id="678929" name="Oval 17"/>
            <p:cNvSpPr>
              <a:spLocks noChangeArrowheads="1"/>
            </p:cNvSpPr>
            <p:nvPr/>
          </p:nvSpPr>
          <p:spPr bwMode="auto">
            <a:xfrm>
              <a:off x="1584" y="225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1,2</a:t>
              </a:r>
              <a:endParaRPr lang="en-US" sz="2000" baseline="-25000"/>
            </a:p>
          </p:txBody>
        </p:sp>
        <p:sp>
          <p:nvSpPr>
            <p:cNvPr id="678930" name="Line 18"/>
            <p:cNvSpPr>
              <a:spLocks noChangeShapeType="1"/>
            </p:cNvSpPr>
            <p:nvPr/>
          </p:nvSpPr>
          <p:spPr bwMode="auto">
            <a:xfrm flipV="1">
              <a:off x="4608" y="3024"/>
              <a:ext cx="336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931" name="Line 19"/>
            <p:cNvSpPr>
              <a:spLocks noChangeShapeType="1"/>
            </p:cNvSpPr>
            <p:nvPr/>
          </p:nvSpPr>
          <p:spPr bwMode="auto">
            <a:xfrm>
              <a:off x="4608" y="2544"/>
              <a:ext cx="336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932" name="Line 20"/>
            <p:cNvSpPr>
              <a:spLocks noChangeShapeType="1"/>
            </p:cNvSpPr>
            <p:nvPr/>
          </p:nvSpPr>
          <p:spPr bwMode="auto">
            <a:xfrm>
              <a:off x="4944" y="3024"/>
              <a:ext cx="2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933" name="Line 21"/>
            <p:cNvSpPr>
              <a:spLocks noChangeShapeType="1"/>
            </p:cNvSpPr>
            <p:nvPr/>
          </p:nvSpPr>
          <p:spPr bwMode="auto">
            <a:xfrm>
              <a:off x="1200" y="2448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934" name="Line 22"/>
            <p:cNvSpPr>
              <a:spLocks noChangeShapeType="1"/>
            </p:cNvSpPr>
            <p:nvPr/>
          </p:nvSpPr>
          <p:spPr bwMode="auto">
            <a:xfrm>
              <a:off x="1200" y="3600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935" name="Line 23"/>
            <p:cNvSpPr>
              <a:spLocks noChangeShapeType="1"/>
            </p:cNvSpPr>
            <p:nvPr/>
          </p:nvSpPr>
          <p:spPr bwMode="auto">
            <a:xfrm>
              <a:off x="1920" y="2448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936" name="Line 24"/>
            <p:cNvSpPr>
              <a:spLocks noChangeShapeType="1"/>
            </p:cNvSpPr>
            <p:nvPr/>
          </p:nvSpPr>
          <p:spPr bwMode="auto">
            <a:xfrm>
              <a:off x="3936" y="3600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937" name="Line 25"/>
            <p:cNvSpPr>
              <a:spLocks noChangeShapeType="1"/>
            </p:cNvSpPr>
            <p:nvPr/>
          </p:nvSpPr>
          <p:spPr bwMode="auto">
            <a:xfrm>
              <a:off x="3936" y="2448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938" name="Line 26"/>
            <p:cNvSpPr>
              <a:spLocks noChangeShapeType="1"/>
            </p:cNvSpPr>
            <p:nvPr/>
          </p:nvSpPr>
          <p:spPr bwMode="auto">
            <a:xfrm>
              <a:off x="1920" y="3600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939" name="Line 27"/>
            <p:cNvSpPr>
              <a:spLocks noChangeShapeType="1"/>
            </p:cNvSpPr>
            <p:nvPr/>
          </p:nvSpPr>
          <p:spPr bwMode="auto">
            <a:xfrm>
              <a:off x="2640" y="2448"/>
              <a:ext cx="9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940" name="Line 28"/>
            <p:cNvSpPr>
              <a:spLocks noChangeShapeType="1"/>
            </p:cNvSpPr>
            <p:nvPr/>
          </p:nvSpPr>
          <p:spPr bwMode="auto">
            <a:xfrm>
              <a:off x="2640" y="3600"/>
              <a:ext cx="9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941" name="Rectangle 29"/>
            <p:cNvSpPr>
              <a:spLocks noChangeArrowheads="1"/>
            </p:cNvSpPr>
            <p:nvPr/>
          </p:nvSpPr>
          <p:spPr bwMode="auto">
            <a:xfrm>
              <a:off x="480" y="264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e</a:t>
              </a:r>
              <a:r>
                <a:rPr lang="it-IT" sz="2000" baseline="-25000"/>
                <a:t>1</a:t>
              </a:r>
              <a:endParaRPr lang="en-US" sz="2000"/>
            </a:p>
          </p:txBody>
        </p:sp>
        <p:sp>
          <p:nvSpPr>
            <p:cNvPr id="678942" name="Rectangle 30"/>
            <p:cNvSpPr>
              <a:spLocks noChangeArrowheads="1"/>
            </p:cNvSpPr>
            <p:nvPr/>
          </p:nvSpPr>
          <p:spPr bwMode="auto">
            <a:xfrm>
              <a:off x="480" y="307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e</a:t>
              </a:r>
              <a:r>
                <a:rPr lang="it-IT" sz="2000" baseline="-25000"/>
                <a:t>2</a:t>
              </a:r>
              <a:endParaRPr lang="en-US" sz="2000"/>
            </a:p>
          </p:txBody>
        </p:sp>
        <p:sp>
          <p:nvSpPr>
            <p:cNvPr id="678943" name="Rectangle 31"/>
            <p:cNvSpPr>
              <a:spLocks noChangeArrowheads="1"/>
            </p:cNvSpPr>
            <p:nvPr/>
          </p:nvSpPr>
          <p:spPr bwMode="auto">
            <a:xfrm>
              <a:off x="4656" y="25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x</a:t>
              </a:r>
              <a:r>
                <a:rPr lang="it-IT" sz="2000" baseline="-25000"/>
                <a:t>1</a:t>
              </a:r>
              <a:endParaRPr lang="en-US" sz="2000"/>
            </a:p>
          </p:txBody>
        </p:sp>
        <p:sp>
          <p:nvSpPr>
            <p:cNvPr id="678944" name="Rectangle 32"/>
            <p:cNvSpPr>
              <a:spLocks noChangeArrowheads="1"/>
            </p:cNvSpPr>
            <p:nvPr/>
          </p:nvSpPr>
          <p:spPr bwMode="auto">
            <a:xfrm>
              <a:off x="4656" y="321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x</a:t>
              </a:r>
              <a:r>
                <a:rPr lang="it-IT" sz="2000" baseline="-25000"/>
                <a:t>2</a:t>
              </a:r>
              <a:endParaRPr lang="en-US" sz="2000"/>
            </a:p>
          </p:txBody>
        </p:sp>
      </p:grpSp>
      <p:sp>
        <p:nvSpPr>
          <p:cNvPr id="678946" name="Rectangle 3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ym typeface="Symbol" charset="0"/>
              </a:rPr>
              <a:t>Il problema della catena di montaggio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8" name="Text Box 2"/>
          <p:cNvSpPr txBox="1">
            <a:spLocks noChangeArrowheads="1"/>
          </p:cNvSpPr>
          <p:nvPr/>
        </p:nvSpPr>
        <p:spPr bwMode="auto">
          <a:xfrm>
            <a:off x="457200" y="1219200"/>
            <a:ext cx="82296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>
                <a:solidFill>
                  <a:srgbClr val="0000CC"/>
                </a:solidFill>
                <a:latin typeface="Comic Sans MS" charset="0"/>
              </a:rPr>
              <a:t>Normalmente l’auto che entra in una catena di montaggio prosegue lungo la stessa catena.</a:t>
            </a:r>
          </a:p>
          <a:p>
            <a:pPr>
              <a:spcBef>
                <a:spcPct val="50000"/>
              </a:spcBef>
            </a:pPr>
            <a:r>
              <a:rPr lang="it-IT" sz="2400">
                <a:solidFill>
                  <a:srgbClr val="0000CC"/>
                </a:solidFill>
                <a:latin typeface="Comic Sans MS" charset="0"/>
              </a:rPr>
              <a:t>Assumiamo che il passaggio da una stazione alla stazione successiva della stessa catena richieda un tempo trascurabile.</a:t>
            </a:r>
          </a:p>
        </p:txBody>
      </p:sp>
      <p:grpSp>
        <p:nvGrpSpPr>
          <p:cNvPr id="679975" name="Group 39"/>
          <p:cNvGrpSpPr>
            <a:grpSpLocks/>
          </p:cNvGrpSpPr>
          <p:nvPr/>
        </p:nvGrpSpPr>
        <p:grpSpPr bwMode="auto">
          <a:xfrm>
            <a:off x="685800" y="3505200"/>
            <a:ext cx="7620000" cy="2743200"/>
            <a:chOff x="432" y="2208"/>
            <a:chExt cx="4800" cy="1728"/>
          </a:xfrm>
        </p:grpSpPr>
        <p:sp>
          <p:nvSpPr>
            <p:cNvPr id="679939" name="AutoShape 3"/>
            <p:cNvSpPr>
              <a:spLocks noChangeArrowheads="1"/>
            </p:cNvSpPr>
            <p:nvPr/>
          </p:nvSpPr>
          <p:spPr bwMode="auto">
            <a:xfrm>
              <a:off x="768" y="3408"/>
              <a:ext cx="3984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40" name="AutoShape 4"/>
            <p:cNvSpPr>
              <a:spLocks noChangeArrowheads="1"/>
            </p:cNvSpPr>
            <p:nvPr/>
          </p:nvSpPr>
          <p:spPr bwMode="auto">
            <a:xfrm>
              <a:off x="768" y="2208"/>
              <a:ext cx="3984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941" name="Oval 5"/>
            <p:cNvSpPr>
              <a:spLocks noChangeArrowheads="1"/>
            </p:cNvSpPr>
            <p:nvPr/>
          </p:nvSpPr>
          <p:spPr bwMode="auto">
            <a:xfrm>
              <a:off x="864" y="23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1,1</a:t>
              </a:r>
              <a:endParaRPr lang="en-US" sz="2000" baseline="-25000"/>
            </a:p>
          </p:txBody>
        </p:sp>
        <p:sp>
          <p:nvSpPr>
            <p:cNvPr id="679942" name="Line 6"/>
            <p:cNvSpPr>
              <a:spLocks noChangeShapeType="1"/>
            </p:cNvSpPr>
            <p:nvPr/>
          </p:nvSpPr>
          <p:spPr bwMode="auto">
            <a:xfrm>
              <a:off x="432" y="3072"/>
              <a:ext cx="2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943" name="Line 7"/>
            <p:cNvSpPr>
              <a:spLocks noChangeShapeType="1"/>
            </p:cNvSpPr>
            <p:nvPr/>
          </p:nvSpPr>
          <p:spPr bwMode="auto">
            <a:xfrm flipV="1">
              <a:off x="720" y="2640"/>
              <a:ext cx="240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944" name="Line 8"/>
            <p:cNvSpPr>
              <a:spLocks noChangeShapeType="1"/>
            </p:cNvSpPr>
            <p:nvPr/>
          </p:nvSpPr>
          <p:spPr bwMode="auto">
            <a:xfrm>
              <a:off x="720" y="3072"/>
              <a:ext cx="240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945" name="Oval 9"/>
            <p:cNvSpPr>
              <a:spLocks noChangeArrowheads="1"/>
            </p:cNvSpPr>
            <p:nvPr/>
          </p:nvSpPr>
          <p:spPr bwMode="auto">
            <a:xfrm>
              <a:off x="864" y="35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2,1</a:t>
              </a:r>
              <a:endParaRPr lang="en-US" sz="2000" baseline="-25000"/>
            </a:p>
          </p:txBody>
        </p:sp>
        <p:sp>
          <p:nvSpPr>
            <p:cNvPr id="679946" name="Oval 10"/>
            <p:cNvSpPr>
              <a:spLocks noChangeArrowheads="1"/>
            </p:cNvSpPr>
            <p:nvPr/>
          </p:nvSpPr>
          <p:spPr bwMode="auto">
            <a:xfrm>
              <a:off x="4320" y="35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2,n</a:t>
              </a:r>
              <a:endParaRPr lang="en-US" sz="2000" baseline="-25000"/>
            </a:p>
          </p:txBody>
        </p:sp>
        <p:sp>
          <p:nvSpPr>
            <p:cNvPr id="679947" name="Oval 11"/>
            <p:cNvSpPr>
              <a:spLocks noChangeArrowheads="1"/>
            </p:cNvSpPr>
            <p:nvPr/>
          </p:nvSpPr>
          <p:spPr bwMode="auto">
            <a:xfrm>
              <a:off x="3600" y="35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2,n-1</a:t>
              </a:r>
              <a:endParaRPr lang="en-US" sz="2000" baseline="-25000"/>
            </a:p>
          </p:txBody>
        </p:sp>
        <p:sp>
          <p:nvSpPr>
            <p:cNvPr id="679948" name="Oval 12"/>
            <p:cNvSpPr>
              <a:spLocks noChangeArrowheads="1"/>
            </p:cNvSpPr>
            <p:nvPr/>
          </p:nvSpPr>
          <p:spPr bwMode="auto">
            <a:xfrm>
              <a:off x="2304" y="35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2,3</a:t>
              </a:r>
              <a:endParaRPr lang="en-US" sz="2000" baseline="-25000"/>
            </a:p>
          </p:txBody>
        </p:sp>
        <p:sp>
          <p:nvSpPr>
            <p:cNvPr id="679949" name="Oval 13"/>
            <p:cNvSpPr>
              <a:spLocks noChangeArrowheads="1"/>
            </p:cNvSpPr>
            <p:nvPr/>
          </p:nvSpPr>
          <p:spPr bwMode="auto">
            <a:xfrm>
              <a:off x="1584" y="35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2,2</a:t>
              </a:r>
              <a:endParaRPr lang="en-US" sz="2000" baseline="-25000"/>
            </a:p>
          </p:txBody>
        </p:sp>
        <p:sp>
          <p:nvSpPr>
            <p:cNvPr id="679950" name="Oval 14"/>
            <p:cNvSpPr>
              <a:spLocks noChangeArrowheads="1"/>
            </p:cNvSpPr>
            <p:nvPr/>
          </p:nvSpPr>
          <p:spPr bwMode="auto">
            <a:xfrm>
              <a:off x="4320" y="23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1,n</a:t>
              </a:r>
              <a:endParaRPr lang="en-US" sz="2000" baseline="-25000"/>
            </a:p>
          </p:txBody>
        </p:sp>
        <p:sp>
          <p:nvSpPr>
            <p:cNvPr id="679951" name="Oval 15"/>
            <p:cNvSpPr>
              <a:spLocks noChangeArrowheads="1"/>
            </p:cNvSpPr>
            <p:nvPr/>
          </p:nvSpPr>
          <p:spPr bwMode="auto">
            <a:xfrm>
              <a:off x="3600" y="23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1,n-1</a:t>
              </a:r>
              <a:endParaRPr lang="en-US" sz="2000" baseline="-25000"/>
            </a:p>
          </p:txBody>
        </p:sp>
        <p:sp>
          <p:nvSpPr>
            <p:cNvPr id="679952" name="Oval 16"/>
            <p:cNvSpPr>
              <a:spLocks noChangeArrowheads="1"/>
            </p:cNvSpPr>
            <p:nvPr/>
          </p:nvSpPr>
          <p:spPr bwMode="auto">
            <a:xfrm>
              <a:off x="2304" y="23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1,3</a:t>
              </a:r>
              <a:endParaRPr lang="en-US" sz="2000" baseline="-25000"/>
            </a:p>
          </p:txBody>
        </p:sp>
        <p:sp>
          <p:nvSpPr>
            <p:cNvPr id="679953" name="Oval 17"/>
            <p:cNvSpPr>
              <a:spLocks noChangeArrowheads="1"/>
            </p:cNvSpPr>
            <p:nvPr/>
          </p:nvSpPr>
          <p:spPr bwMode="auto">
            <a:xfrm>
              <a:off x="1584" y="2304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1,2</a:t>
              </a:r>
              <a:endParaRPr lang="en-US" sz="2000" baseline="-25000"/>
            </a:p>
          </p:txBody>
        </p:sp>
        <p:sp>
          <p:nvSpPr>
            <p:cNvPr id="679954" name="Line 18"/>
            <p:cNvSpPr>
              <a:spLocks noChangeShapeType="1"/>
            </p:cNvSpPr>
            <p:nvPr/>
          </p:nvSpPr>
          <p:spPr bwMode="auto">
            <a:xfrm flipV="1">
              <a:off x="4608" y="3072"/>
              <a:ext cx="336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955" name="Line 19"/>
            <p:cNvSpPr>
              <a:spLocks noChangeShapeType="1"/>
            </p:cNvSpPr>
            <p:nvPr/>
          </p:nvSpPr>
          <p:spPr bwMode="auto">
            <a:xfrm>
              <a:off x="4608" y="2592"/>
              <a:ext cx="336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956" name="Line 20"/>
            <p:cNvSpPr>
              <a:spLocks noChangeShapeType="1"/>
            </p:cNvSpPr>
            <p:nvPr/>
          </p:nvSpPr>
          <p:spPr bwMode="auto">
            <a:xfrm>
              <a:off x="4944" y="3072"/>
              <a:ext cx="2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957" name="Line 21"/>
            <p:cNvSpPr>
              <a:spLocks noChangeShapeType="1"/>
            </p:cNvSpPr>
            <p:nvPr/>
          </p:nvSpPr>
          <p:spPr bwMode="auto">
            <a:xfrm>
              <a:off x="1200" y="2496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958" name="Line 22"/>
            <p:cNvSpPr>
              <a:spLocks noChangeShapeType="1"/>
            </p:cNvSpPr>
            <p:nvPr/>
          </p:nvSpPr>
          <p:spPr bwMode="auto">
            <a:xfrm>
              <a:off x="1200" y="3648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959" name="Line 23"/>
            <p:cNvSpPr>
              <a:spLocks noChangeShapeType="1"/>
            </p:cNvSpPr>
            <p:nvPr/>
          </p:nvSpPr>
          <p:spPr bwMode="auto">
            <a:xfrm>
              <a:off x="1920" y="2496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960" name="Line 24"/>
            <p:cNvSpPr>
              <a:spLocks noChangeShapeType="1"/>
            </p:cNvSpPr>
            <p:nvPr/>
          </p:nvSpPr>
          <p:spPr bwMode="auto">
            <a:xfrm>
              <a:off x="3936" y="3648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961" name="Line 25"/>
            <p:cNvSpPr>
              <a:spLocks noChangeShapeType="1"/>
            </p:cNvSpPr>
            <p:nvPr/>
          </p:nvSpPr>
          <p:spPr bwMode="auto">
            <a:xfrm>
              <a:off x="3936" y="2496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962" name="Line 26"/>
            <p:cNvSpPr>
              <a:spLocks noChangeShapeType="1"/>
            </p:cNvSpPr>
            <p:nvPr/>
          </p:nvSpPr>
          <p:spPr bwMode="auto">
            <a:xfrm>
              <a:off x="1920" y="3648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963" name="Line 27"/>
            <p:cNvSpPr>
              <a:spLocks noChangeShapeType="1"/>
            </p:cNvSpPr>
            <p:nvPr/>
          </p:nvSpPr>
          <p:spPr bwMode="auto">
            <a:xfrm>
              <a:off x="2640" y="2496"/>
              <a:ext cx="9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964" name="Line 28"/>
            <p:cNvSpPr>
              <a:spLocks noChangeShapeType="1"/>
            </p:cNvSpPr>
            <p:nvPr/>
          </p:nvSpPr>
          <p:spPr bwMode="auto">
            <a:xfrm>
              <a:off x="2640" y="3648"/>
              <a:ext cx="9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965" name="Rectangle 29"/>
            <p:cNvSpPr>
              <a:spLocks noChangeArrowheads="1"/>
            </p:cNvSpPr>
            <p:nvPr/>
          </p:nvSpPr>
          <p:spPr bwMode="auto">
            <a:xfrm>
              <a:off x="480" y="268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e</a:t>
              </a:r>
              <a:r>
                <a:rPr lang="it-IT" sz="2000" baseline="-25000"/>
                <a:t>1</a:t>
              </a:r>
              <a:endParaRPr lang="en-US" sz="2000"/>
            </a:p>
          </p:txBody>
        </p:sp>
        <p:sp>
          <p:nvSpPr>
            <p:cNvPr id="679966" name="Rectangle 30"/>
            <p:cNvSpPr>
              <a:spLocks noChangeArrowheads="1"/>
            </p:cNvSpPr>
            <p:nvPr/>
          </p:nvSpPr>
          <p:spPr bwMode="auto">
            <a:xfrm>
              <a:off x="480" y="312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e</a:t>
              </a:r>
              <a:r>
                <a:rPr lang="it-IT" sz="2000" baseline="-25000"/>
                <a:t>2</a:t>
              </a:r>
              <a:endParaRPr lang="en-US" sz="2000"/>
            </a:p>
          </p:txBody>
        </p:sp>
        <p:sp>
          <p:nvSpPr>
            <p:cNvPr id="679967" name="Rectangle 31"/>
            <p:cNvSpPr>
              <a:spLocks noChangeArrowheads="1"/>
            </p:cNvSpPr>
            <p:nvPr/>
          </p:nvSpPr>
          <p:spPr bwMode="auto">
            <a:xfrm>
              <a:off x="4656" y="259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x</a:t>
              </a:r>
              <a:r>
                <a:rPr lang="it-IT" sz="2000" baseline="-25000"/>
                <a:t>1</a:t>
              </a:r>
              <a:endParaRPr lang="en-US" sz="2000"/>
            </a:p>
          </p:txBody>
        </p:sp>
        <p:sp>
          <p:nvSpPr>
            <p:cNvPr id="679968" name="Rectangle 32"/>
            <p:cNvSpPr>
              <a:spLocks noChangeArrowheads="1"/>
            </p:cNvSpPr>
            <p:nvPr/>
          </p:nvSpPr>
          <p:spPr bwMode="auto">
            <a:xfrm>
              <a:off x="4656" y="326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x</a:t>
              </a:r>
              <a:r>
                <a:rPr lang="it-IT" sz="2000" baseline="-25000"/>
                <a:t>2</a:t>
              </a:r>
              <a:endParaRPr lang="en-US" sz="2000"/>
            </a:p>
          </p:txBody>
        </p:sp>
        <p:sp>
          <p:nvSpPr>
            <p:cNvPr id="679969" name="Rectangle 33"/>
            <p:cNvSpPr>
              <a:spLocks noChangeArrowheads="1"/>
            </p:cNvSpPr>
            <p:nvPr/>
          </p:nvSpPr>
          <p:spPr bwMode="auto">
            <a:xfrm>
              <a:off x="1152" y="22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0</a:t>
              </a:r>
              <a:endParaRPr lang="en-US" sz="2000"/>
            </a:p>
          </p:txBody>
        </p:sp>
        <p:sp>
          <p:nvSpPr>
            <p:cNvPr id="679970" name="Rectangle 34"/>
            <p:cNvSpPr>
              <a:spLocks noChangeArrowheads="1"/>
            </p:cNvSpPr>
            <p:nvPr/>
          </p:nvSpPr>
          <p:spPr bwMode="auto">
            <a:xfrm>
              <a:off x="1152" y="360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0</a:t>
              </a:r>
              <a:endParaRPr lang="en-US" sz="2000"/>
            </a:p>
          </p:txBody>
        </p:sp>
        <p:sp>
          <p:nvSpPr>
            <p:cNvPr id="679971" name="Rectangle 35"/>
            <p:cNvSpPr>
              <a:spLocks noChangeArrowheads="1"/>
            </p:cNvSpPr>
            <p:nvPr/>
          </p:nvSpPr>
          <p:spPr bwMode="auto">
            <a:xfrm>
              <a:off x="1872" y="360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0</a:t>
              </a:r>
              <a:endParaRPr lang="en-US" sz="2000"/>
            </a:p>
          </p:txBody>
        </p:sp>
        <p:sp>
          <p:nvSpPr>
            <p:cNvPr id="679972" name="Rectangle 36"/>
            <p:cNvSpPr>
              <a:spLocks noChangeArrowheads="1"/>
            </p:cNvSpPr>
            <p:nvPr/>
          </p:nvSpPr>
          <p:spPr bwMode="auto">
            <a:xfrm>
              <a:off x="1872" y="22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0</a:t>
              </a:r>
              <a:endParaRPr lang="en-US" sz="2000"/>
            </a:p>
          </p:txBody>
        </p:sp>
        <p:sp>
          <p:nvSpPr>
            <p:cNvPr id="679973" name="Rectangle 37"/>
            <p:cNvSpPr>
              <a:spLocks noChangeArrowheads="1"/>
            </p:cNvSpPr>
            <p:nvPr/>
          </p:nvSpPr>
          <p:spPr bwMode="auto">
            <a:xfrm>
              <a:off x="3888" y="360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0</a:t>
              </a:r>
              <a:endParaRPr lang="en-US" sz="2000"/>
            </a:p>
          </p:txBody>
        </p:sp>
        <p:sp>
          <p:nvSpPr>
            <p:cNvPr id="679974" name="Rectangle 38"/>
            <p:cNvSpPr>
              <a:spLocks noChangeArrowheads="1"/>
            </p:cNvSpPr>
            <p:nvPr/>
          </p:nvSpPr>
          <p:spPr bwMode="auto">
            <a:xfrm>
              <a:off x="3888" y="22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0</a:t>
              </a:r>
              <a:endParaRPr lang="en-US" sz="2000"/>
            </a:p>
          </p:txBody>
        </p:sp>
      </p:grpSp>
      <p:sp>
        <p:nvSpPr>
          <p:cNvPr id="679976" name="Rectangle 4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ym typeface="Symbol" charset="0"/>
              </a:rPr>
              <a:t>Il problema della catena di montaggio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2" name="Text Box 2"/>
          <p:cNvSpPr txBox="1">
            <a:spLocks noChangeArrowheads="1"/>
          </p:cNvSpPr>
          <p:nvPr/>
        </p:nvSpPr>
        <p:spPr bwMode="auto">
          <a:xfrm>
            <a:off x="539552" y="1556792"/>
            <a:ext cx="8077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Talvolta una ordinazione urgente richiede di montare un’ automobile nel più breve tempo possibile.</a:t>
            </a:r>
          </a:p>
          <a:p>
            <a:pPr algn="just">
              <a:spcBef>
                <a:spcPct val="50000"/>
              </a:spcBef>
            </a:pP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In questo caso, dopo aver finito le operazioni in una stazione </a:t>
            </a:r>
            <a:r>
              <a:rPr lang="it-IT" sz="2400" i="1" dirty="0">
                <a:solidFill>
                  <a:srgbClr val="CC3300"/>
                </a:solidFill>
                <a:latin typeface="Comic Sans MS" charset="0"/>
              </a:rPr>
              <a:t>S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1,</a:t>
            </a:r>
            <a:r>
              <a:rPr lang="it-IT" sz="2400" i="1" baseline="-25000" dirty="0">
                <a:solidFill>
                  <a:srgbClr val="CC33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 è possibile passare alla stazione successiva </a:t>
            </a:r>
            <a:r>
              <a:rPr lang="it-IT" sz="2400" i="1" dirty="0">
                <a:solidFill>
                  <a:srgbClr val="CC3300"/>
                </a:solidFill>
                <a:latin typeface="Comic Sans MS" charset="0"/>
              </a:rPr>
              <a:t>S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2,</a:t>
            </a:r>
            <a:r>
              <a:rPr lang="it-IT" sz="2400" i="1" baseline="-25000" dirty="0">
                <a:solidFill>
                  <a:srgbClr val="CC3300"/>
                </a:solidFill>
                <a:latin typeface="Comic Sans MS" charset="0"/>
              </a:rPr>
              <a:t>j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+1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 dell’altra catena con una perdita di tempo </a:t>
            </a:r>
            <a:r>
              <a:rPr lang="it-IT" sz="2400" i="1" dirty="0">
                <a:solidFill>
                  <a:srgbClr val="CC3300"/>
                </a:solidFill>
                <a:latin typeface="Comic Sans MS" charset="0"/>
              </a:rPr>
              <a:t>t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1,</a:t>
            </a:r>
            <a:r>
              <a:rPr lang="it-IT" sz="2400" i="1" baseline="-25000" dirty="0">
                <a:solidFill>
                  <a:srgbClr val="CC33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 dovuta al trasporto. </a:t>
            </a:r>
          </a:p>
          <a:p>
            <a:pPr algn="just">
              <a:spcBef>
                <a:spcPct val="50000"/>
              </a:spcBef>
            </a:pP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Analogamente dopo </a:t>
            </a:r>
            <a:r>
              <a:rPr lang="it-IT" sz="2400" i="1" dirty="0">
                <a:solidFill>
                  <a:srgbClr val="CC3300"/>
                </a:solidFill>
                <a:latin typeface="Comic Sans MS" charset="0"/>
              </a:rPr>
              <a:t>S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2,</a:t>
            </a:r>
            <a:r>
              <a:rPr lang="it-IT" sz="2400" i="1" baseline="-25000" dirty="0">
                <a:solidFill>
                  <a:srgbClr val="CC33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 si può passare ad </a:t>
            </a:r>
            <a:r>
              <a:rPr lang="it-IT" sz="2400" i="1" dirty="0">
                <a:solidFill>
                  <a:srgbClr val="CC3300"/>
                </a:solidFill>
                <a:latin typeface="Comic Sans MS" charset="0"/>
              </a:rPr>
              <a:t>S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1,</a:t>
            </a:r>
            <a:r>
              <a:rPr lang="it-IT" sz="2400" i="1" baseline="-25000" dirty="0">
                <a:solidFill>
                  <a:srgbClr val="CC3300"/>
                </a:solidFill>
                <a:latin typeface="Comic Sans MS" charset="0"/>
              </a:rPr>
              <a:t>j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+1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 con una perdita di tempo </a:t>
            </a:r>
            <a:r>
              <a:rPr lang="it-IT" sz="2400" i="1" dirty="0">
                <a:solidFill>
                  <a:srgbClr val="CC3300"/>
                </a:solidFill>
                <a:latin typeface="Comic Sans MS" charset="0"/>
              </a:rPr>
              <a:t>t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2,</a:t>
            </a:r>
            <a:r>
              <a:rPr lang="it-IT" sz="2400" i="1" baseline="-25000" dirty="0">
                <a:solidFill>
                  <a:srgbClr val="CC33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. </a:t>
            </a:r>
          </a:p>
        </p:txBody>
      </p:sp>
      <p:sp>
        <p:nvSpPr>
          <p:cNvPr id="6809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ym typeface="Symbol" charset="0"/>
              </a:rPr>
              <a:t>Il problema della catena di montaggio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8" name="Text Box 4"/>
          <p:cNvSpPr txBox="1">
            <a:spLocks noChangeArrowheads="1"/>
          </p:cNvSpPr>
          <p:nvPr/>
        </p:nvSpPr>
        <p:spPr bwMode="auto">
          <a:xfrm>
            <a:off x="457200" y="4648200"/>
            <a:ext cx="8229600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Il problema della catena di montaggio richiede di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determinare il percorso che richiede il minimo tempo totale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 per assemblare </a:t>
            </a:r>
            <a:r>
              <a:rPr lang="it-IT" sz="2400" dirty="0" smtClean="0">
                <a:solidFill>
                  <a:srgbClr val="0000CC"/>
                </a:solidFill>
                <a:latin typeface="Comic Sans MS" charset="0"/>
              </a:rPr>
              <a:t>l’automobile</a:t>
            </a:r>
            <a:endParaRPr lang="it-IT" sz="2400" dirty="0">
              <a:solidFill>
                <a:srgbClr val="0000CC"/>
              </a:solidFill>
              <a:latin typeface="Comic Sans MS" charset="0"/>
            </a:endParaRPr>
          </a:p>
        </p:txBody>
      </p:sp>
      <p:grpSp>
        <p:nvGrpSpPr>
          <p:cNvPr id="682039" name="Group 55"/>
          <p:cNvGrpSpPr>
            <a:grpSpLocks/>
          </p:cNvGrpSpPr>
          <p:nvPr/>
        </p:nvGrpSpPr>
        <p:grpSpPr bwMode="auto">
          <a:xfrm>
            <a:off x="609600" y="1371600"/>
            <a:ext cx="7620000" cy="2743200"/>
            <a:chOff x="432" y="480"/>
            <a:chExt cx="4800" cy="1728"/>
          </a:xfrm>
        </p:grpSpPr>
        <p:sp>
          <p:nvSpPr>
            <p:cNvPr id="681986" name="AutoShape 2"/>
            <p:cNvSpPr>
              <a:spLocks noChangeArrowheads="1"/>
            </p:cNvSpPr>
            <p:nvPr/>
          </p:nvSpPr>
          <p:spPr bwMode="auto">
            <a:xfrm>
              <a:off x="768" y="1680"/>
              <a:ext cx="3984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987" name="AutoShape 3"/>
            <p:cNvSpPr>
              <a:spLocks noChangeArrowheads="1"/>
            </p:cNvSpPr>
            <p:nvPr/>
          </p:nvSpPr>
          <p:spPr bwMode="auto">
            <a:xfrm>
              <a:off x="768" y="480"/>
              <a:ext cx="3984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1989" name="Oval 5"/>
            <p:cNvSpPr>
              <a:spLocks noChangeArrowheads="1"/>
            </p:cNvSpPr>
            <p:nvPr/>
          </p:nvSpPr>
          <p:spPr bwMode="auto">
            <a:xfrm>
              <a:off x="864" y="57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1,1</a:t>
              </a:r>
              <a:endParaRPr lang="en-US" sz="2000" baseline="-25000"/>
            </a:p>
          </p:txBody>
        </p:sp>
        <p:sp>
          <p:nvSpPr>
            <p:cNvPr id="681990" name="Line 6"/>
            <p:cNvSpPr>
              <a:spLocks noChangeShapeType="1"/>
            </p:cNvSpPr>
            <p:nvPr/>
          </p:nvSpPr>
          <p:spPr bwMode="auto">
            <a:xfrm>
              <a:off x="432" y="1344"/>
              <a:ext cx="2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1991" name="Line 7"/>
            <p:cNvSpPr>
              <a:spLocks noChangeShapeType="1"/>
            </p:cNvSpPr>
            <p:nvPr/>
          </p:nvSpPr>
          <p:spPr bwMode="auto">
            <a:xfrm flipV="1">
              <a:off x="720" y="912"/>
              <a:ext cx="240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1992" name="Line 8"/>
            <p:cNvSpPr>
              <a:spLocks noChangeShapeType="1"/>
            </p:cNvSpPr>
            <p:nvPr/>
          </p:nvSpPr>
          <p:spPr bwMode="auto">
            <a:xfrm>
              <a:off x="720" y="1344"/>
              <a:ext cx="240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1993" name="Oval 9"/>
            <p:cNvSpPr>
              <a:spLocks noChangeArrowheads="1"/>
            </p:cNvSpPr>
            <p:nvPr/>
          </p:nvSpPr>
          <p:spPr bwMode="auto">
            <a:xfrm>
              <a:off x="864" y="177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2,1</a:t>
              </a:r>
              <a:endParaRPr lang="en-US" sz="2000" baseline="-25000"/>
            </a:p>
          </p:txBody>
        </p:sp>
        <p:sp>
          <p:nvSpPr>
            <p:cNvPr id="681994" name="Oval 10"/>
            <p:cNvSpPr>
              <a:spLocks noChangeArrowheads="1"/>
            </p:cNvSpPr>
            <p:nvPr/>
          </p:nvSpPr>
          <p:spPr bwMode="auto">
            <a:xfrm>
              <a:off x="4320" y="177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2,n</a:t>
              </a:r>
              <a:endParaRPr lang="en-US" sz="2000" baseline="-25000"/>
            </a:p>
          </p:txBody>
        </p:sp>
        <p:sp>
          <p:nvSpPr>
            <p:cNvPr id="681995" name="Oval 11"/>
            <p:cNvSpPr>
              <a:spLocks noChangeArrowheads="1"/>
            </p:cNvSpPr>
            <p:nvPr/>
          </p:nvSpPr>
          <p:spPr bwMode="auto">
            <a:xfrm>
              <a:off x="3600" y="177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2,n-1</a:t>
              </a:r>
              <a:endParaRPr lang="en-US" sz="2000" baseline="-25000"/>
            </a:p>
          </p:txBody>
        </p:sp>
        <p:sp>
          <p:nvSpPr>
            <p:cNvPr id="681996" name="Oval 12"/>
            <p:cNvSpPr>
              <a:spLocks noChangeArrowheads="1"/>
            </p:cNvSpPr>
            <p:nvPr/>
          </p:nvSpPr>
          <p:spPr bwMode="auto">
            <a:xfrm>
              <a:off x="2304" y="177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2,3</a:t>
              </a:r>
              <a:endParaRPr lang="en-US" sz="2000" baseline="-25000"/>
            </a:p>
          </p:txBody>
        </p:sp>
        <p:sp>
          <p:nvSpPr>
            <p:cNvPr id="681997" name="Oval 13"/>
            <p:cNvSpPr>
              <a:spLocks noChangeArrowheads="1"/>
            </p:cNvSpPr>
            <p:nvPr/>
          </p:nvSpPr>
          <p:spPr bwMode="auto">
            <a:xfrm>
              <a:off x="1584" y="177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2,2</a:t>
              </a:r>
              <a:endParaRPr lang="en-US" sz="2000" baseline="-25000"/>
            </a:p>
          </p:txBody>
        </p:sp>
        <p:sp>
          <p:nvSpPr>
            <p:cNvPr id="681998" name="Oval 14"/>
            <p:cNvSpPr>
              <a:spLocks noChangeArrowheads="1"/>
            </p:cNvSpPr>
            <p:nvPr/>
          </p:nvSpPr>
          <p:spPr bwMode="auto">
            <a:xfrm>
              <a:off x="4320" y="57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1,n</a:t>
              </a:r>
              <a:endParaRPr lang="en-US" sz="2000" baseline="-25000"/>
            </a:p>
          </p:txBody>
        </p:sp>
        <p:sp>
          <p:nvSpPr>
            <p:cNvPr id="681999" name="Oval 15"/>
            <p:cNvSpPr>
              <a:spLocks noChangeArrowheads="1"/>
            </p:cNvSpPr>
            <p:nvPr/>
          </p:nvSpPr>
          <p:spPr bwMode="auto">
            <a:xfrm>
              <a:off x="3600" y="57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1,n-1</a:t>
              </a:r>
              <a:endParaRPr lang="en-US" sz="2000" baseline="-25000"/>
            </a:p>
          </p:txBody>
        </p:sp>
        <p:sp>
          <p:nvSpPr>
            <p:cNvPr id="682000" name="Oval 16"/>
            <p:cNvSpPr>
              <a:spLocks noChangeArrowheads="1"/>
            </p:cNvSpPr>
            <p:nvPr/>
          </p:nvSpPr>
          <p:spPr bwMode="auto">
            <a:xfrm>
              <a:off x="2304" y="57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1,3</a:t>
              </a:r>
              <a:endParaRPr lang="en-US" sz="2000" baseline="-25000"/>
            </a:p>
          </p:txBody>
        </p:sp>
        <p:sp>
          <p:nvSpPr>
            <p:cNvPr id="682001" name="Oval 17"/>
            <p:cNvSpPr>
              <a:spLocks noChangeArrowheads="1"/>
            </p:cNvSpPr>
            <p:nvPr/>
          </p:nvSpPr>
          <p:spPr bwMode="auto">
            <a:xfrm>
              <a:off x="1584" y="576"/>
              <a:ext cx="336" cy="33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a</a:t>
              </a:r>
              <a:r>
                <a:rPr lang="it-IT" sz="2000" baseline="-25000"/>
                <a:t>1,2</a:t>
              </a:r>
              <a:endParaRPr lang="en-US" sz="2000" baseline="-25000"/>
            </a:p>
          </p:txBody>
        </p:sp>
        <p:sp>
          <p:nvSpPr>
            <p:cNvPr id="682002" name="Line 18"/>
            <p:cNvSpPr>
              <a:spLocks noChangeShapeType="1"/>
            </p:cNvSpPr>
            <p:nvPr/>
          </p:nvSpPr>
          <p:spPr bwMode="auto">
            <a:xfrm flipV="1">
              <a:off x="4608" y="1344"/>
              <a:ext cx="336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03" name="Line 19"/>
            <p:cNvSpPr>
              <a:spLocks noChangeShapeType="1"/>
            </p:cNvSpPr>
            <p:nvPr/>
          </p:nvSpPr>
          <p:spPr bwMode="auto">
            <a:xfrm>
              <a:off x="4608" y="864"/>
              <a:ext cx="336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04" name="Line 20"/>
            <p:cNvSpPr>
              <a:spLocks noChangeShapeType="1"/>
            </p:cNvSpPr>
            <p:nvPr/>
          </p:nvSpPr>
          <p:spPr bwMode="auto">
            <a:xfrm>
              <a:off x="4944" y="1344"/>
              <a:ext cx="2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05" name="Line 21"/>
            <p:cNvSpPr>
              <a:spLocks noChangeShapeType="1"/>
            </p:cNvSpPr>
            <p:nvPr/>
          </p:nvSpPr>
          <p:spPr bwMode="auto">
            <a:xfrm>
              <a:off x="1200" y="768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06" name="Line 22"/>
            <p:cNvSpPr>
              <a:spLocks noChangeShapeType="1"/>
            </p:cNvSpPr>
            <p:nvPr/>
          </p:nvSpPr>
          <p:spPr bwMode="auto">
            <a:xfrm>
              <a:off x="1200" y="1920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07" name="Line 23"/>
            <p:cNvSpPr>
              <a:spLocks noChangeShapeType="1"/>
            </p:cNvSpPr>
            <p:nvPr/>
          </p:nvSpPr>
          <p:spPr bwMode="auto">
            <a:xfrm>
              <a:off x="1920" y="768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08" name="Line 24"/>
            <p:cNvSpPr>
              <a:spLocks noChangeShapeType="1"/>
            </p:cNvSpPr>
            <p:nvPr/>
          </p:nvSpPr>
          <p:spPr bwMode="auto">
            <a:xfrm>
              <a:off x="3936" y="1920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09" name="Line 25"/>
            <p:cNvSpPr>
              <a:spLocks noChangeShapeType="1"/>
            </p:cNvSpPr>
            <p:nvPr/>
          </p:nvSpPr>
          <p:spPr bwMode="auto">
            <a:xfrm>
              <a:off x="3936" y="768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10" name="Line 26"/>
            <p:cNvSpPr>
              <a:spLocks noChangeShapeType="1"/>
            </p:cNvSpPr>
            <p:nvPr/>
          </p:nvSpPr>
          <p:spPr bwMode="auto">
            <a:xfrm>
              <a:off x="1920" y="1920"/>
              <a:ext cx="38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11" name="Line 27"/>
            <p:cNvSpPr>
              <a:spLocks noChangeShapeType="1"/>
            </p:cNvSpPr>
            <p:nvPr/>
          </p:nvSpPr>
          <p:spPr bwMode="auto">
            <a:xfrm>
              <a:off x="2640" y="768"/>
              <a:ext cx="9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12" name="Line 28"/>
            <p:cNvSpPr>
              <a:spLocks noChangeShapeType="1"/>
            </p:cNvSpPr>
            <p:nvPr/>
          </p:nvSpPr>
          <p:spPr bwMode="auto">
            <a:xfrm>
              <a:off x="2640" y="1920"/>
              <a:ext cx="9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13" name="Line 29"/>
            <p:cNvSpPr>
              <a:spLocks noChangeShapeType="1"/>
            </p:cNvSpPr>
            <p:nvPr/>
          </p:nvSpPr>
          <p:spPr bwMode="auto">
            <a:xfrm>
              <a:off x="1056" y="912"/>
              <a:ext cx="576" cy="9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14" name="Line 30"/>
            <p:cNvSpPr>
              <a:spLocks noChangeShapeType="1"/>
            </p:cNvSpPr>
            <p:nvPr/>
          </p:nvSpPr>
          <p:spPr bwMode="auto">
            <a:xfrm flipV="1">
              <a:off x="1056" y="864"/>
              <a:ext cx="576" cy="9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15" name="Rectangle 31"/>
            <p:cNvSpPr>
              <a:spLocks noChangeArrowheads="1"/>
            </p:cNvSpPr>
            <p:nvPr/>
          </p:nvSpPr>
          <p:spPr bwMode="auto">
            <a:xfrm>
              <a:off x="480" y="96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e</a:t>
              </a:r>
              <a:r>
                <a:rPr lang="it-IT" sz="2000" baseline="-25000"/>
                <a:t>1</a:t>
              </a:r>
              <a:endParaRPr lang="en-US" sz="2000"/>
            </a:p>
          </p:txBody>
        </p:sp>
        <p:sp>
          <p:nvSpPr>
            <p:cNvPr id="682016" name="Rectangle 32"/>
            <p:cNvSpPr>
              <a:spLocks noChangeArrowheads="1"/>
            </p:cNvSpPr>
            <p:nvPr/>
          </p:nvSpPr>
          <p:spPr bwMode="auto">
            <a:xfrm>
              <a:off x="480" y="139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e</a:t>
              </a:r>
              <a:r>
                <a:rPr lang="it-IT" sz="2000" baseline="-25000"/>
                <a:t>2</a:t>
              </a:r>
              <a:endParaRPr lang="en-US" sz="2000"/>
            </a:p>
          </p:txBody>
        </p:sp>
        <p:sp>
          <p:nvSpPr>
            <p:cNvPr id="682017" name="Rectangle 33"/>
            <p:cNvSpPr>
              <a:spLocks noChangeArrowheads="1"/>
            </p:cNvSpPr>
            <p:nvPr/>
          </p:nvSpPr>
          <p:spPr bwMode="auto">
            <a:xfrm>
              <a:off x="1392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t</a:t>
              </a:r>
              <a:r>
                <a:rPr lang="it-IT" sz="2000" baseline="-25000"/>
                <a:t>1,1</a:t>
              </a:r>
              <a:endParaRPr lang="en-US" sz="2000"/>
            </a:p>
          </p:txBody>
        </p:sp>
        <p:sp>
          <p:nvSpPr>
            <p:cNvPr id="682018" name="Rectangle 34"/>
            <p:cNvSpPr>
              <a:spLocks noChangeArrowheads="1"/>
            </p:cNvSpPr>
            <p:nvPr/>
          </p:nvSpPr>
          <p:spPr bwMode="auto">
            <a:xfrm>
              <a:off x="1392" y="10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t</a:t>
              </a:r>
              <a:r>
                <a:rPr lang="it-IT" sz="2000" baseline="-25000"/>
                <a:t>2,1</a:t>
              </a:r>
              <a:endParaRPr lang="en-US" sz="2000"/>
            </a:p>
          </p:txBody>
        </p:sp>
        <p:sp>
          <p:nvSpPr>
            <p:cNvPr id="682019" name="Line 35"/>
            <p:cNvSpPr>
              <a:spLocks noChangeShapeType="1"/>
            </p:cNvSpPr>
            <p:nvPr/>
          </p:nvSpPr>
          <p:spPr bwMode="auto">
            <a:xfrm>
              <a:off x="1776" y="912"/>
              <a:ext cx="576" cy="9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20" name="Line 36"/>
            <p:cNvSpPr>
              <a:spLocks noChangeShapeType="1"/>
            </p:cNvSpPr>
            <p:nvPr/>
          </p:nvSpPr>
          <p:spPr bwMode="auto">
            <a:xfrm flipV="1">
              <a:off x="1776" y="864"/>
              <a:ext cx="576" cy="9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21" name="Line 37"/>
            <p:cNvSpPr>
              <a:spLocks noChangeShapeType="1"/>
            </p:cNvSpPr>
            <p:nvPr/>
          </p:nvSpPr>
          <p:spPr bwMode="auto">
            <a:xfrm>
              <a:off x="3792" y="912"/>
              <a:ext cx="576" cy="9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22" name="Line 38"/>
            <p:cNvSpPr>
              <a:spLocks noChangeShapeType="1"/>
            </p:cNvSpPr>
            <p:nvPr/>
          </p:nvSpPr>
          <p:spPr bwMode="auto">
            <a:xfrm flipV="1">
              <a:off x="3792" y="864"/>
              <a:ext cx="576" cy="9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23" name="Line 39"/>
            <p:cNvSpPr>
              <a:spLocks noChangeShapeType="1"/>
            </p:cNvSpPr>
            <p:nvPr/>
          </p:nvSpPr>
          <p:spPr bwMode="auto">
            <a:xfrm>
              <a:off x="2496" y="912"/>
              <a:ext cx="576" cy="9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24" name="Line 40"/>
            <p:cNvSpPr>
              <a:spLocks noChangeShapeType="1"/>
            </p:cNvSpPr>
            <p:nvPr/>
          </p:nvSpPr>
          <p:spPr bwMode="auto">
            <a:xfrm flipV="1">
              <a:off x="2496" y="864"/>
              <a:ext cx="576" cy="9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025" name="Rectangle 41"/>
            <p:cNvSpPr>
              <a:spLocks noChangeArrowheads="1"/>
            </p:cNvSpPr>
            <p:nvPr/>
          </p:nvSpPr>
          <p:spPr bwMode="auto">
            <a:xfrm>
              <a:off x="2112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t</a:t>
              </a:r>
              <a:r>
                <a:rPr lang="it-IT" sz="2000" baseline="-25000"/>
                <a:t>1,2</a:t>
              </a:r>
              <a:endParaRPr lang="en-US" sz="2000"/>
            </a:p>
          </p:txBody>
        </p:sp>
        <p:sp>
          <p:nvSpPr>
            <p:cNvPr id="682026" name="Rectangle 42"/>
            <p:cNvSpPr>
              <a:spLocks noChangeArrowheads="1"/>
            </p:cNvSpPr>
            <p:nvPr/>
          </p:nvSpPr>
          <p:spPr bwMode="auto">
            <a:xfrm>
              <a:off x="2112" y="10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t</a:t>
              </a:r>
              <a:r>
                <a:rPr lang="it-IT" sz="2000" baseline="-25000"/>
                <a:t>2,2</a:t>
              </a:r>
              <a:endParaRPr lang="en-US" sz="2000"/>
            </a:p>
          </p:txBody>
        </p:sp>
        <p:sp>
          <p:nvSpPr>
            <p:cNvPr id="682027" name="Rectangle 43"/>
            <p:cNvSpPr>
              <a:spLocks noChangeArrowheads="1"/>
            </p:cNvSpPr>
            <p:nvPr/>
          </p:nvSpPr>
          <p:spPr bwMode="auto">
            <a:xfrm>
              <a:off x="2832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t</a:t>
              </a:r>
              <a:r>
                <a:rPr lang="it-IT" sz="2000" baseline="-25000"/>
                <a:t>1,3</a:t>
              </a:r>
              <a:endParaRPr lang="en-US" sz="2000"/>
            </a:p>
          </p:txBody>
        </p:sp>
        <p:sp>
          <p:nvSpPr>
            <p:cNvPr id="682028" name="Rectangle 44"/>
            <p:cNvSpPr>
              <a:spLocks noChangeArrowheads="1"/>
            </p:cNvSpPr>
            <p:nvPr/>
          </p:nvSpPr>
          <p:spPr bwMode="auto">
            <a:xfrm>
              <a:off x="2832" y="10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t</a:t>
              </a:r>
              <a:r>
                <a:rPr lang="it-IT" sz="2000" baseline="-25000"/>
                <a:t>2,3</a:t>
              </a:r>
              <a:endParaRPr lang="en-US" sz="2000"/>
            </a:p>
          </p:txBody>
        </p:sp>
        <p:sp>
          <p:nvSpPr>
            <p:cNvPr id="682029" name="Rectangle 45"/>
            <p:cNvSpPr>
              <a:spLocks noChangeArrowheads="1"/>
            </p:cNvSpPr>
            <p:nvPr/>
          </p:nvSpPr>
          <p:spPr bwMode="auto">
            <a:xfrm>
              <a:off x="4176" y="10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t</a:t>
              </a:r>
              <a:r>
                <a:rPr lang="it-IT" sz="2000" baseline="-25000"/>
                <a:t>2,n-1</a:t>
              </a:r>
              <a:endParaRPr lang="en-US" sz="2000"/>
            </a:p>
          </p:txBody>
        </p:sp>
        <p:sp>
          <p:nvSpPr>
            <p:cNvPr id="682030" name="Rectangle 46"/>
            <p:cNvSpPr>
              <a:spLocks noChangeArrowheads="1"/>
            </p:cNvSpPr>
            <p:nvPr/>
          </p:nvSpPr>
          <p:spPr bwMode="auto">
            <a:xfrm>
              <a:off x="4176" y="13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t</a:t>
              </a:r>
              <a:r>
                <a:rPr lang="it-IT" sz="2000" baseline="-25000"/>
                <a:t>1,n-1</a:t>
              </a:r>
              <a:endParaRPr lang="en-US" sz="2000"/>
            </a:p>
          </p:txBody>
        </p:sp>
        <p:sp>
          <p:nvSpPr>
            <p:cNvPr id="682031" name="Rectangle 47"/>
            <p:cNvSpPr>
              <a:spLocks noChangeArrowheads="1"/>
            </p:cNvSpPr>
            <p:nvPr/>
          </p:nvSpPr>
          <p:spPr bwMode="auto">
            <a:xfrm>
              <a:off x="4656" y="86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x</a:t>
              </a:r>
              <a:r>
                <a:rPr lang="it-IT" sz="2000" baseline="-25000"/>
                <a:t>1</a:t>
              </a:r>
              <a:endParaRPr lang="en-US" sz="2000"/>
            </a:p>
          </p:txBody>
        </p:sp>
        <p:sp>
          <p:nvSpPr>
            <p:cNvPr id="682032" name="Rectangle 48"/>
            <p:cNvSpPr>
              <a:spLocks noChangeArrowheads="1"/>
            </p:cNvSpPr>
            <p:nvPr/>
          </p:nvSpPr>
          <p:spPr bwMode="auto">
            <a:xfrm>
              <a:off x="4656" y="153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x</a:t>
              </a:r>
              <a:r>
                <a:rPr lang="it-IT" sz="2000" baseline="-25000"/>
                <a:t>2</a:t>
              </a:r>
              <a:endParaRPr lang="en-US" sz="2000"/>
            </a:p>
          </p:txBody>
        </p:sp>
        <p:sp>
          <p:nvSpPr>
            <p:cNvPr id="682033" name="Rectangle 49"/>
            <p:cNvSpPr>
              <a:spLocks noChangeArrowheads="1"/>
            </p:cNvSpPr>
            <p:nvPr/>
          </p:nvSpPr>
          <p:spPr bwMode="auto">
            <a:xfrm>
              <a:off x="1152" y="5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0</a:t>
              </a:r>
              <a:endParaRPr lang="en-US" sz="2000"/>
            </a:p>
          </p:txBody>
        </p:sp>
        <p:sp>
          <p:nvSpPr>
            <p:cNvPr id="682034" name="Rectangle 50"/>
            <p:cNvSpPr>
              <a:spLocks noChangeArrowheads="1"/>
            </p:cNvSpPr>
            <p:nvPr/>
          </p:nvSpPr>
          <p:spPr bwMode="auto">
            <a:xfrm>
              <a:off x="1152" y="187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0</a:t>
              </a:r>
              <a:endParaRPr lang="en-US" sz="2000"/>
            </a:p>
          </p:txBody>
        </p:sp>
        <p:sp>
          <p:nvSpPr>
            <p:cNvPr id="682035" name="Rectangle 51"/>
            <p:cNvSpPr>
              <a:spLocks noChangeArrowheads="1"/>
            </p:cNvSpPr>
            <p:nvPr/>
          </p:nvSpPr>
          <p:spPr bwMode="auto">
            <a:xfrm>
              <a:off x="1872" y="187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0</a:t>
              </a:r>
              <a:endParaRPr lang="en-US" sz="2000"/>
            </a:p>
          </p:txBody>
        </p:sp>
        <p:sp>
          <p:nvSpPr>
            <p:cNvPr id="682036" name="Rectangle 52"/>
            <p:cNvSpPr>
              <a:spLocks noChangeArrowheads="1"/>
            </p:cNvSpPr>
            <p:nvPr/>
          </p:nvSpPr>
          <p:spPr bwMode="auto">
            <a:xfrm>
              <a:off x="1872" y="5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0</a:t>
              </a:r>
              <a:endParaRPr lang="en-US" sz="2000"/>
            </a:p>
          </p:txBody>
        </p:sp>
        <p:sp>
          <p:nvSpPr>
            <p:cNvPr id="682037" name="Rectangle 53"/>
            <p:cNvSpPr>
              <a:spLocks noChangeArrowheads="1"/>
            </p:cNvSpPr>
            <p:nvPr/>
          </p:nvSpPr>
          <p:spPr bwMode="auto">
            <a:xfrm>
              <a:off x="3888" y="187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0</a:t>
              </a:r>
              <a:endParaRPr lang="en-US" sz="2000"/>
            </a:p>
          </p:txBody>
        </p:sp>
        <p:sp>
          <p:nvSpPr>
            <p:cNvPr id="682038" name="Rectangle 54"/>
            <p:cNvSpPr>
              <a:spLocks noChangeArrowheads="1"/>
            </p:cNvSpPr>
            <p:nvPr/>
          </p:nvSpPr>
          <p:spPr bwMode="auto">
            <a:xfrm>
              <a:off x="3888" y="5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0</a:t>
              </a:r>
              <a:endParaRPr lang="en-US" sz="2000"/>
            </a:p>
          </p:txBody>
        </p:sp>
      </p:grpSp>
      <p:sp>
        <p:nvSpPr>
          <p:cNvPr id="682040" name="Rectangle 5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ym typeface="Symbol" charset="0"/>
              </a:rPr>
              <a:t>Il problema della catena di montaggio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Text Box 2"/>
          <p:cNvSpPr txBox="1">
            <a:spLocks noChangeArrowheads="1"/>
          </p:cNvSpPr>
          <p:nvPr/>
        </p:nvSpPr>
        <p:spPr bwMode="auto">
          <a:xfrm>
            <a:off x="251520" y="1556792"/>
            <a:ext cx="83820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Ogni scelta delle stazioni nella prima catena determina univocamente un percorso. </a:t>
            </a: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Le soluzioni possibili sono quindi tante quanti sono i sottoinsiemi di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{1,...,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}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,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ossia 2</a:t>
            </a:r>
            <a:r>
              <a:rPr lang="it-IT" sz="2400" i="1" baseline="30000" dirty="0">
                <a:solidFill>
                  <a:srgbClr val="FF0000"/>
                </a:solidFill>
                <a:latin typeface="Comic Sans MS" charset="0"/>
              </a:rPr>
              <a:t>n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Se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 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è abbastanza grande, un algoritmo che le esamini tutte per trovare quella ottima è improponibile. </a:t>
            </a: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Ad esempio per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n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= 50 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il numero di soluzioni è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2</a:t>
            </a:r>
            <a:r>
              <a:rPr lang="it-IT" sz="2400" baseline="30000" dirty="0">
                <a:solidFill>
                  <a:srgbClr val="FF0000"/>
                </a:solidFill>
                <a:latin typeface="Comic Sans MS" charset="0"/>
              </a:rPr>
              <a:t>50 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  <a:sym typeface="Symbol" charset="0"/>
              </a:rPr>
              <a:t>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 10</a:t>
            </a:r>
            <a:r>
              <a:rPr lang="it-IT" sz="2400" baseline="30000" dirty="0">
                <a:solidFill>
                  <a:srgbClr val="FF0000"/>
                </a:solidFill>
                <a:latin typeface="Comic Sans MS" charset="0"/>
              </a:rPr>
              <a:t>15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. Se il test di una soluzione richiede </a:t>
            </a:r>
            <a:r>
              <a:rPr lang="it-IT" sz="2400" dirty="0" smtClean="0">
                <a:solidFill>
                  <a:srgbClr val="0000CC"/>
                </a:solidFill>
                <a:latin typeface="Comic Sans MS" charset="0"/>
              </a:rPr>
              <a:t>100 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s l’algoritmo richiede </a:t>
            </a:r>
            <a:r>
              <a:rPr lang="it-IT" sz="2400" dirty="0" smtClean="0">
                <a:solidFill>
                  <a:srgbClr val="0000CC"/>
                </a:solidFill>
                <a:latin typeface="Comic Sans MS" charset="0"/>
              </a:rPr>
              <a:t>10</a:t>
            </a:r>
            <a:r>
              <a:rPr lang="it-IT" sz="2400" baseline="30000" dirty="0" smtClean="0">
                <a:solidFill>
                  <a:srgbClr val="0000CC"/>
                </a:solidFill>
                <a:latin typeface="Comic Sans MS" charset="0"/>
              </a:rPr>
              <a:t>11 </a:t>
            </a:r>
            <a:r>
              <a:rPr lang="it-IT" sz="2400" dirty="0" smtClean="0">
                <a:solidFill>
                  <a:srgbClr val="0000CC"/>
                </a:solidFill>
                <a:latin typeface="Comic Sans MS" charset="0"/>
              </a:rPr>
              <a:t>s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, circa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3000 anni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. </a:t>
            </a: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ym typeface="Symbol" charset="0"/>
              </a:rPr>
              <a:t>Il problema della catena di montaggio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AutoShape 2"/>
          <p:cNvSpPr>
            <a:spLocks noChangeArrowheads="1"/>
          </p:cNvSpPr>
          <p:nvPr/>
        </p:nvSpPr>
        <p:spPr bwMode="auto">
          <a:xfrm>
            <a:off x="990600" y="4191000"/>
            <a:ext cx="6553200" cy="838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4035" name="AutoShape 3"/>
          <p:cNvSpPr>
            <a:spLocks noChangeArrowheads="1"/>
          </p:cNvSpPr>
          <p:nvPr/>
        </p:nvSpPr>
        <p:spPr bwMode="auto">
          <a:xfrm>
            <a:off x="990600" y="2286000"/>
            <a:ext cx="6553200" cy="838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4036" name="Text Box 4"/>
          <p:cNvSpPr txBox="1">
            <a:spLocks noChangeArrowheads="1"/>
          </p:cNvSpPr>
          <p:nvPr/>
        </p:nvSpPr>
        <p:spPr bwMode="auto">
          <a:xfrm>
            <a:off x="457200" y="9906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>
                <a:solidFill>
                  <a:srgbClr val="0000CC"/>
                </a:solidFill>
                <a:latin typeface="Comic Sans MS" charset="0"/>
              </a:rPr>
              <a:t>Vediamo un caso particolare.</a:t>
            </a:r>
          </a:p>
        </p:txBody>
      </p:sp>
      <p:sp>
        <p:nvSpPr>
          <p:cNvPr id="684037" name="Oval 5"/>
          <p:cNvSpPr>
            <a:spLocks noChangeArrowheads="1"/>
          </p:cNvSpPr>
          <p:nvPr/>
        </p:nvSpPr>
        <p:spPr bwMode="auto">
          <a:xfrm>
            <a:off x="1143000" y="2438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7</a:t>
            </a:r>
            <a:endParaRPr lang="en-US" sz="2000" baseline="-25000"/>
          </a:p>
        </p:txBody>
      </p:sp>
      <p:sp>
        <p:nvSpPr>
          <p:cNvPr id="684038" name="Line 6"/>
          <p:cNvSpPr>
            <a:spLocks noChangeShapeType="1"/>
          </p:cNvSpPr>
          <p:nvPr/>
        </p:nvSpPr>
        <p:spPr bwMode="auto">
          <a:xfrm>
            <a:off x="457200" y="3657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39" name="Line 7"/>
          <p:cNvSpPr>
            <a:spLocks noChangeShapeType="1"/>
          </p:cNvSpPr>
          <p:nvPr/>
        </p:nvSpPr>
        <p:spPr bwMode="auto">
          <a:xfrm flipV="1">
            <a:off x="914400" y="2971800"/>
            <a:ext cx="3810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40" name="Line 8"/>
          <p:cNvSpPr>
            <a:spLocks noChangeShapeType="1"/>
          </p:cNvSpPr>
          <p:nvPr/>
        </p:nvSpPr>
        <p:spPr bwMode="auto">
          <a:xfrm>
            <a:off x="914400" y="3657600"/>
            <a:ext cx="3810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41" name="Oval 9"/>
          <p:cNvSpPr>
            <a:spLocks noChangeArrowheads="1"/>
          </p:cNvSpPr>
          <p:nvPr/>
        </p:nvSpPr>
        <p:spPr bwMode="auto">
          <a:xfrm>
            <a:off x="1143000" y="4343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8</a:t>
            </a:r>
            <a:endParaRPr lang="en-US" sz="2000" baseline="-25000"/>
          </a:p>
        </p:txBody>
      </p:sp>
      <p:sp>
        <p:nvSpPr>
          <p:cNvPr id="684042" name="Oval 10"/>
          <p:cNvSpPr>
            <a:spLocks noChangeArrowheads="1"/>
          </p:cNvSpPr>
          <p:nvPr/>
        </p:nvSpPr>
        <p:spPr bwMode="auto">
          <a:xfrm>
            <a:off x="6858000" y="4343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7</a:t>
            </a:r>
            <a:endParaRPr lang="en-US" sz="2000" baseline="-25000"/>
          </a:p>
        </p:txBody>
      </p:sp>
      <p:sp>
        <p:nvSpPr>
          <p:cNvPr id="684043" name="Oval 11"/>
          <p:cNvSpPr>
            <a:spLocks noChangeArrowheads="1"/>
          </p:cNvSpPr>
          <p:nvPr/>
        </p:nvSpPr>
        <p:spPr bwMode="auto">
          <a:xfrm>
            <a:off x="4572000" y="4343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  <a:endParaRPr lang="en-US" sz="2000" baseline="-25000"/>
          </a:p>
        </p:txBody>
      </p:sp>
      <p:sp>
        <p:nvSpPr>
          <p:cNvPr id="684044" name="Oval 12"/>
          <p:cNvSpPr>
            <a:spLocks noChangeArrowheads="1"/>
          </p:cNvSpPr>
          <p:nvPr/>
        </p:nvSpPr>
        <p:spPr bwMode="auto">
          <a:xfrm>
            <a:off x="3429000" y="4343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6</a:t>
            </a:r>
            <a:endParaRPr lang="en-US" sz="2000" baseline="-25000"/>
          </a:p>
        </p:txBody>
      </p:sp>
      <p:sp>
        <p:nvSpPr>
          <p:cNvPr id="684045" name="Oval 13"/>
          <p:cNvSpPr>
            <a:spLocks noChangeArrowheads="1"/>
          </p:cNvSpPr>
          <p:nvPr/>
        </p:nvSpPr>
        <p:spPr bwMode="auto">
          <a:xfrm>
            <a:off x="2286000" y="4343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5</a:t>
            </a:r>
            <a:endParaRPr lang="en-US" sz="2000" baseline="-25000"/>
          </a:p>
        </p:txBody>
      </p:sp>
      <p:sp>
        <p:nvSpPr>
          <p:cNvPr id="684046" name="Oval 14"/>
          <p:cNvSpPr>
            <a:spLocks noChangeArrowheads="1"/>
          </p:cNvSpPr>
          <p:nvPr/>
        </p:nvSpPr>
        <p:spPr bwMode="auto">
          <a:xfrm>
            <a:off x="6858000" y="2438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  <a:endParaRPr lang="en-US" sz="2000" baseline="-25000"/>
          </a:p>
        </p:txBody>
      </p:sp>
      <p:sp>
        <p:nvSpPr>
          <p:cNvPr id="684047" name="Oval 15"/>
          <p:cNvSpPr>
            <a:spLocks noChangeArrowheads="1"/>
          </p:cNvSpPr>
          <p:nvPr/>
        </p:nvSpPr>
        <p:spPr bwMode="auto">
          <a:xfrm>
            <a:off x="4572000" y="2438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  <a:endParaRPr lang="en-US" sz="2000" baseline="-25000"/>
          </a:p>
        </p:txBody>
      </p:sp>
      <p:sp>
        <p:nvSpPr>
          <p:cNvPr id="684048" name="Oval 16"/>
          <p:cNvSpPr>
            <a:spLocks noChangeArrowheads="1"/>
          </p:cNvSpPr>
          <p:nvPr/>
        </p:nvSpPr>
        <p:spPr bwMode="auto">
          <a:xfrm>
            <a:off x="3429000" y="2438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  <a:endParaRPr lang="en-US" sz="2000" baseline="-25000"/>
          </a:p>
        </p:txBody>
      </p:sp>
      <p:sp>
        <p:nvSpPr>
          <p:cNvPr id="684049" name="Oval 17"/>
          <p:cNvSpPr>
            <a:spLocks noChangeArrowheads="1"/>
          </p:cNvSpPr>
          <p:nvPr/>
        </p:nvSpPr>
        <p:spPr bwMode="auto">
          <a:xfrm>
            <a:off x="2286000" y="2438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9</a:t>
            </a:r>
            <a:endParaRPr lang="en-US" sz="2000" baseline="-25000"/>
          </a:p>
        </p:txBody>
      </p:sp>
      <p:sp>
        <p:nvSpPr>
          <p:cNvPr id="684050" name="Line 18"/>
          <p:cNvSpPr>
            <a:spLocks noChangeShapeType="1"/>
          </p:cNvSpPr>
          <p:nvPr/>
        </p:nvSpPr>
        <p:spPr bwMode="auto">
          <a:xfrm flipV="1">
            <a:off x="7315200" y="3657600"/>
            <a:ext cx="5334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51" name="Line 19"/>
          <p:cNvSpPr>
            <a:spLocks noChangeShapeType="1"/>
          </p:cNvSpPr>
          <p:nvPr/>
        </p:nvSpPr>
        <p:spPr bwMode="auto">
          <a:xfrm>
            <a:off x="7315200" y="2895600"/>
            <a:ext cx="5334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52" name="Line 20"/>
          <p:cNvSpPr>
            <a:spLocks noChangeShapeType="1"/>
          </p:cNvSpPr>
          <p:nvPr/>
        </p:nvSpPr>
        <p:spPr bwMode="auto">
          <a:xfrm>
            <a:off x="7848600" y="3657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53" name="Line 21"/>
          <p:cNvSpPr>
            <a:spLocks noChangeShapeType="1"/>
          </p:cNvSpPr>
          <p:nvPr/>
        </p:nvSpPr>
        <p:spPr bwMode="auto">
          <a:xfrm>
            <a:off x="1676400" y="27432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54" name="Line 22"/>
          <p:cNvSpPr>
            <a:spLocks noChangeShapeType="1"/>
          </p:cNvSpPr>
          <p:nvPr/>
        </p:nvSpPr>
        <p:spPr bwMode="auto">
          <a:xfrm>
            <a:off x="1676400" y="45720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55" name="Line 23"/>
          <p:cNvSpPr>
            <a:spLocks noChangeShapeType="1"/>
          </p:cNvSpPr>
          <p:nvPr/>
        </p:nvSpPr>
        <p:spPr bwMode="auto">
          <a:xfrm>
            <a:off x="2819400" y="27432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56" name="Line 24"/>
          <p:cNvSpPr>
            <a:spLocks noChangeShapeType="1"/>
          </p:cNvSpPr>
          <p:nvPr/>
        </p:nvSpPr>
        <p:spPr bwMode="auto">
          <a:xfrm>
            <a:off x="6248400" y="45720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57" name="Line 25"/>
          <p:cNvSpPr>
            <a:spLocks noChangeShapeType="1"/>
          </p:cNvSpPr>
          <p:nvPr/>
        </p:nvSpPr>
        <p:spPr bwMode="auto">
          <a:xfrm>
            <a:off x="6248400" y="27432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58" name="Line 26"/>
          <p:cNvSpPr>
            <a:spLocks noChangeShapeType="1"/>
          </p:cNvSpPr>
          <p:nvPr/>
        </p:nvSpPr>
        <p:spPr bwMode="auto">
          <a:xfrm>
            <a:off x="2819400" y="45720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59" name="Line 27"/>
          <p:cNvSpPr>
            <a:spLocks noChangeShapeType="1"/>
          </p:cNvSpPr>
          <p:nvPr/>
        </p:nvSpPr>
        <p:spPr bwMode="auto">
          <a:xfrm>
            <a:off x="1447800" y="29718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60" name="Line 28"/>
          <p:cNvSpPr>
            <a:spLocks noChangeShapeType="1"/>
          </p:cNvSpPr>
          <p:nvPr/>
        </p:nvSpPr>
        <p:spPr bwMode="auto">
          <a:xfrm flipV="1">
            <a:off x="1447800" y="28956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61" name="Rectangle 29"/>
          <p:cNvSpPr>
            <a:spLocks noChangeArrowheads="1"/>
          </p:cNvSpPr>
          <p:nvPr/>
        </p:nvSpPr>
        <p:spPr bwMode="auto">
          <a:xfrm>
            <a:off x="533400" y="30480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684062" name="Rectangle 30"/>
          <p:cNvSpPr>
            <a:spLocks noChangeArrowheads="1"/>
          </p:cNvSpPr>
          <p:nvPr/>
        </p:nvSpPr>
        <p:spPr bwMode="auto">
          <a:xfrm>
            <a:off x="533400" y="3733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  <a:endParaRPr lang="en-US" sz="2000"/>
          </a:p>
        </p:txBody>
      </p:sp>
      <p:sp>
        <p:nvSpPr>
          <p:cNvPr id="684063" name="Rectangle 31"/>
          <p:cNvSpPr>
            <a:spLocks noChangeArrowheads="1"/>
          </p:cNvSpPr>
          <p:nvPr/>
        </p:nvSpPr>
        <p:spPr bwMode="auto">
          <a:xfrm>
            <a:off x="1981200" y="3657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684064" name="Rectangle 32"/>
          <p:cNvSpPr>
            <a:spLocks noChangeArrowheads="1"/>
          </p:cNvSpPr>
          <p:nvPr/>
        </p:nvSpPr>
        <p:spPr bwMode="auto">
          <a:xfrm>
            <a:off x="1981200" y="3200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684065" name="Line 33"/>
          <p:cNvSpPr>
            <a:spLocks noChangeShapeType="1"/>
          </p:cNvSpPr>
          <p:nvPr/>
        </p:nvSpPr>
        <p:spPr bwMode="auto">
          <a:xfrm>
            <a:off x="2590800" y="29718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66" name="Line 34"/>
          <p:cNvSpPr>
            <a:spLocks noChangeShapeType="1"/>
          </p:cNvSpPr>
          <p:nvPr/>
        </p:nvSpPr>
        <p:spPr bwMode="auto">
          <a:xfrm flipV="1">
            <a:off x="2590800" y="28956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67" name="Line 35"/>
          <p:cNvSpPr>
            <a:spLocks noChangeShapeType="1"/>
          </p:cNvSpPr>
          <p:nvPr/>
        </p:nvSpPr>
        <p:spPr bwMode="auto">
          <a:xfrm>
            <a:off x="6019800" y="29718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68" name="Line 36"/>
          <p:cNvSpPr>
            <a:spLocks noChangeShapeType="1"/>
          </p:cNvSpPr>
          <p:nvPr/>
        </p:nvSpPr>
        <p:spPr bwMode="auto">
          <a:xfrm flipV="1">
            <a:off x="6019800" y="28956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69" name="Line 37"/>
          <p:cNvSpPr>
            <a:spLocks noChangeShapeType="1"/>
          </p:cNvSpPr>
          <p:nvPr/>
        </p:nvSpPr>
        <p:spPr bwMode="auto">
          <a:xfrm>
            <a:off x="3733800" y="29718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70" name="Line 38"/>
          <p:cNvSpPr>
            <a:spLocks noChangeShapeType="1"/>
          </p:cNvSpPr>
          <p:nvPr/>
        </p:nvSpPr>
        <p:spPr bwMode="auto">
          <a:xfrm flipV="1">
            <a:off x="3733800" y="28956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71" name="Rectangle 39"/>
          <p:cNvSpPr>
            <a:spLocks noChangeArrowheads="1"/>
          </p:cNvSpPr>
          <p:nvPr/>
        </p:nvSpPr>
        <p:spPr bwMode="auto">
          <a:xfrm>
            <a:off x="3124200" y="3657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  <a:endParaRPr lang="en-US" sz="2000"/>
          </a:p>
        </p:txBody>
      </p:sp>
      <p:sp>
        <p:nvSpPr>
          <p:cNvPr id="684072" name="Rectangle 40"/>
          <p:cNvSpPr>
            <a:spLocks noChangeArrowheads="1"/>
          </p:cNvSpPr>
          <p:nvPr/>
        </p:nvSpPr>
        <p:spPr bwMode="auto">
          <a:xfrm>
            <a:off x="3124200" y="3200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  <a:endParaRPr lang="en-US" sz="2000"/>
          </a:p>
        </p:txBody>
      </p:sp>
      <p:sp>
        <p:nvSpPr>
          <p:cNvPr id="684073" name="Rectangle 41"/>
          <p:cNvSpPr>
            <a:spLocks noChangeArrowheads="1"/>
          </p:cNvSpPr>
          <p:nvPr/>
        </p:nvSpPr>
        <p:spPr bwMode="auto">
          <a:xfrm>
            <a:off x="4267200" y="3657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  <a:endParaRPr lang="en-US" sz="2000"/>
          </a:p>
        </p:txBody>
      </p:sp>
      <p:sp>
        <p:nvSpPr>
          <p:cNvPr id="684074" name="Rectangle 42"/>
          <p:cNvSpPr>
            <a:spLocks noChangeArrowheads="1"/>
          </p:cNvSpPr>
          <p:nvPr/>
        </p:nvSpPr>
        <p:spPr bwMode="auto">
          <a:xfrm>
            <a:off x="4267200" y="3200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  <a:endParaRPr lang="en-US" sz="2000"/>
          </a:p>
        </p:txBody>
      </p:sp>
      <p:sp>
        <p:nvSpPr>
          <p:cNvPr id="684075" name="Rectangle 43"/>
          <p:cNvSpPr>
            <a:spLocks noChangeArrowheads="1"/>
          </p:cNvSpPr>
          <p:nvPr/>
        </p:nvSpPr>
        <p:spPr bwMode="auto">
          <a:xfrm>
            <a:off x="6629400" y="3200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  <a:endParaRPr lang="en-US" sz="2000"/>
          </a:p>
        </p:txBody>
      </p:sp>
      <p:sp>
        <p:nvSpPr>
          <p:cNvPr id="684076" name="Rectangle 44"/>
          <p:cNvSpPr>
            <a:spLocks noChangeArrowheads="1"/>
          </p:cNvSpPr>
          <p:nvPr/>
        </p:nvSpPr>
        <p:spPr bwMode="auto">
          <a:xfrm>
            <a:off x="6629400" y="3657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  <a:endParaRPr lang="en-US" sz="2000"/>
          </a:p>
        </p:txBody>
      </p:sp>
      <p:sp>
        <p:nvSpPr>
          <p:cNvPr id="684077" name="Rectangle 45"/>
          <p:cNvSpPr>
            <a:spLocks noChangeArrowheads="1"/>
          </p:cNvSpPr>
          <p:nvPr/>
        </p:nvSpPr>
        <p:spPr bwMode="auto">
          <a:xfrm>
            <a:off x="7391400" y="2895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  <a:endParaRPr lang="en-US" sz="2000"/>
          </a:p>
        </p:txBody>
      </p:sp>
      <p:sp>
        <p:nvSpPr>
          <p:cNvPr id="684078" name="Rectangle 46"/>
          <p:cNvSpPr>
            <a:spLocks noChangeArrowheads="1"/>
          </p:cNvSpPr>
          <p:nvPr/>
        </p:nvSpPr>
        <p:spPr bwMode="auto">
          <a:xfrm>
            <a:off x="7391400" y="3962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684079" name="Rectangle 47"/>
          <p:cNvSpPr>
            <a:spLocks noChangeArrowheads="1"/>
          </p:cNvSpPr>
          <p:nvPr/>
        </p:nvSpPr>
        <p:spPr bwMode="auto">
          <a:xfrm>
            <a:off x="1600200" y="23622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4080" name="Rectangle 48"/>
          <p:cNvSpPr>
            <a:spLocks noChangeArrowheads="1"/>
          </p:cNvSpPr>
          <p:nvPr/>
        </p:nvSpPr>
        <p:spPr bwMode="auto">
          <a:xfrm>
            <a:off x="1600200" y="4495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4081" name="Rectangle 49"/>
          <p:cNvSpPr>
            <a:spLocks noChangeArrowheads="1"/>
          </p:cNvSpPr>
          <p:nvPr/>
        </p:nvSpPr>
        <p:spPr bwMode="auto">
          <a:xfrm>
            <a:off x="2743200" y="4495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4082" name="Rectangle 50"/>
          <p:cNvSpPr>
            <a:spLocks noChangeArrowheads="1"/>
          </p:cNvSpPr>
          <p:nvPr/>
        </p:nvSpPr>
        <p:spPr bwMode="auto">
          <a:xfrm>
            <a:off x="2743200" y="23622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4083" name="Rectangle 51"/>
          <p:cNvSpPr>
            <a:spLocks noChangeArrowheads="1"/>
          </p:cNvSpPr>
          <p:nvPr/>
        </p:nvSpPr>
        <p:spPr bwMode="auto">
          <a:xfrm>
            <a:off x="6172200" y="4495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4084" name="Rectangle 52"/>
          <p:cNvSpPr>
            <a:spLocks noChangeArrowheads="1"/>
          </p:cNvSpPr>
          <p:nvPr/>
        </p:nvSpPr>
        <p:spPr bwMode="auto">
          <a:xfrm>
            <a:off x="6172200" y="23622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4085" name="Oval 53"/>
          <p:cNvSpPr>
            <a:spLocks noChangeArrowheads="1"/>
          </p:cNvSpPr>
          <p:nvPr/>
        </p:nvSpPr>
        <p:spPr bwMode="auto">
          <a:xfrm>
            <a:off x="5715000" y="4343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5</a:t>
            </a:r>
            <a:endParaRPr lang="en-US" sz="2000" baseline="-25000"/>
          </a:p>
        </p:txBody>
      </p:sp>
      <p:sp>
        <p:nvSpPr>
          <p:cNvPr id="684086" name="Oval 54"/>
          <p:cNvSpPr>
            <a:spLocks noChangeArrowheads="1"/>
          </p:cNvSpPr>
          <p:nvPr/>
        </p:nvSpPr>
        <p:spPr bwMode="auto">
          <a:xfrm>
            <a:off x="5715000" y="2438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8</a:t>
            </a:r>
            <a:endParaRPr lang="en-US" sz="2000" baseline="-25000"/>
          </a:p>
        </p:txBody>
      </p:sp>
      <p:sp>
        <p:nvSpPr>
          <p:cNvPr id="684087" name="Line 55"/>
          <p:cNvSpPr>
            <a:spLocks noChangeShapeType="1"/>
          </p:cNvSpPr>
          <p:nvPr/>
        </p:nvSpPr>
        <p:spPr bwMode="auto">
          <a:xfrm>
            <a:off x="4876800" y="29718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88" name="Line 56"/>
          <p:cNvSpPr>
            <a:spLocks noChangeShapeType="1"/>
          </p:cNvSpPr>
          <p:nvPr/>
        </p:nvSpPr>
        <p:spPr bwMode="auto">
          <a:xfrm flipV="1">
            <a:off x="4876800" y="28956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89" name="Rectangle 57"/>
          <p:cNvSpPr>
            <a:spLocks noChangeArrowheads="1"/>
          </p:cNvSpPr>
          <p:nvPr/>
        </p:nvSpPr>
        <p:spPr bwMode="auto">
          <a:xfrm>
            <a:off x="5410200" y="3657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684090" name="Rectangle 58"/>
          <p:cNvSpPr>
            <a:spLocks noChangeArrowheads="1"/>
          </p:cNvSpPr>
          <p:nvPr/>
        </p:nvSpPr>
        <p:spPr bwMode="auto">
          <a:xfrm>
            <a:off x="5410200" y="3200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  <a:endParaRPr lang="en-US" sz="2000"/>
          </a:p>
        </p:txBody>
      </p:sp>
      <p:sp>
        <p:nvSpPr>
          <p:cNvPr id="684091" name="Line 59"/>
          <p:cNvSpPr>
            <a:spLocks noChangeShapeType="1"/>
          </p:cNvSpPr>
          <p:nvPr/>
        </p:nvSpPr>
        <p:spPr bwMode="auto">
          <a:xfrm>
            <a:off x="5105400" y="27432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92" name="Rectangle 60"/>
          <p:cNvSpPr>
            <a:spLocks noChangeArrowheads="1"/>
          </p:cNvSpPr>
          <p:nvPr/>
        </p:nvSpPr>
        <p:spPr bwMode="auto">
          <a:xfrm>
            <a:off x="5029200" y="23622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4093" name="Line 61"/>
          <p:cNvSpPr>
            <a:spLocks noChangeShapeType="1"/>
          </p:cNvSpPr>
          <p:nvPr/>
        </p:nvSpPr>
        <p:spPr bwMode="auto">
          <a:xfrm>
            <a:off x="3962400" y="27432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94" name="Rectangle 62"/>
          <p:cNvSpPr>
            <a:spLocks noChangeArrowheads="1"/>
          </p:cNvSpPr>
          <p:nvPr/>
        </p:nvSpPr>
        <p:spPr bwMode="auto">
          <a:xfrm>
            <a:off x="3886200" y="23622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4095" name="Line 63"/>
          <p:cNvSpPr>
            <a:spLocks noChangeShapeType="1"/>
          </p:cNvSpPr>
          <p:nvPr/>
        </p:nvSpPr>
        <p:spPr bwMode="auto">
          <a:xfrm>
            <a:off x="5105400" y="45720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96" name="Rectangle 64"/>
          <p:cNvSpPr>
            <a:spLocks noChangeArrowheads="1"/>
          </p:cNvSpPr>
          <p:nvPr/>
        </p:nvSpPr>
        <p:spPr bwMode="auto">
          <a:xfrm>
            <a:off x="5029200" y="4495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4097" name="Line 65"/>
          <p:cNvSpPr>
            <a:spLocks noChangeShapeType="1"/>
          </p:cNvSpPr>
          <p:nvPr/>
        </p:nvSpPr>
        <p:spPr bwMode="auto">
          <a:xfrm>
            <a:off x="3962400" y="45720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4098" name="Rectangle 66"/>
          <p:cNvSpPr>
            <a:spLocks noChangeArrowheads="1"/>
          </p:cNvSpPr>
          <p:nvPr/>
        </p:nvSpPr>
        <p:spPr bwMode="auto">
          <a:xfrm>
            <a:off x="3886200" y="4495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4099" name="Rectangle 67"/>
          <p:cNvSpPr>
            <a:spLocks noChangeArrowheads="1"/>
          </p:cNvSpPr>
          <p:nvPr/>
        </p:nvSpPr>
        <p:spPr bwMode="auto">
          <a:xfrm>
            <a:off x="609600" y="17526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f</a:t>
            </a:r>
            <a:r>
              <a:rPr lang="it-IT" sz="2000" baseline="-25000"/>
              <a:t>1</a:t>
            </a:r>
            <a:r>
              <a:rPr lang="it-IT" sz="2000"/>
              <a:t>       9</a:t>
            </a:r>
            <a:endParaRPr lang="en-US" sz="2000"/>
          </a:p>
        </p:txBody>
      </p:sp>
      <p:sp>
        <p:nvSpPr>
          <p:cNvPr id="684100" name="Rectangle 68"/>
          <p:cNvSpPr>
            <a:spLocks noChangeArrowheads="1"/>
          </p:cNvSpPr>
          <p:nvPr/>
        </p:nvSpPr>
        <p:spPr bwMode="auto">
          <a:xfrm>
            <a:off x="609600" y="50292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f</a:t>
            </a:r>
            <a:r>
              <a:rPr lang="it-IT" sz="2000" baseline="-25000"/>
              <a:t>2</a:t>
            </a:r>
            <a:r>
              <a:rPr lang="it-IT" sz="2000"/>
              <a:t>      12</a:t>
            </a:r>
            <a:endParaRPr lang="en-US" sz="2000"/>
          </a:p>
        </p:txBody>
      </p:sp>
      <p:sp>
        <p:nvSpPr>
          <p:cNvPr id="684101" name="Rectangle 69"/>
          <p:cNvSpPr>
            <a:spLocks noChangeArrowheads="1"/>
          </p:cNvSpPr>
          <p:nvPr/>
        </p:nvSpPr>
        <p:spPr bwMode="auto">
          <a:xfrm>
            <a:off x="2286000" y="1752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18</a:t>
            </a:r>
            <a:endParaRPr lang="en-US" sz="2000"/>
          </a:p>
        </p:txBody>
      </p:sp>
      <p:sp>
        <p:nvSpPr>
          <p:cNvPr id="684102" name="Rectangle 70"/>
          <p:cNvSpPr>
            <a:spLocks noChangeArrowheads="1"/>
          </p:cNvSpPr>
          <p:nvPr/>
        </p:nvSpPr>
        <p:spPr bwMode="auto">
          <a:xfrm>
            <a:off x="609600" y="13716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 dirty="0"/>
              <a:t>p</a:t>
            </a:r>
            <a:r>
              <a:rPr lang="it-IT" sz="2000" baseline="-25000" dirty="0"/>
              <a:t>1</a:t>
            </a:r>
            <a:r>
              <a:rPr lang="it-IT" sz="2000" dirty="0"/>
              <a:t>                    </a:t>
            </a:r>
            <a:r>
              <a:rPr lang="it-IT" sz="2000" dirty="0" smtClean="0"/>
              <a:t> </a:t>
            </a:r>
            <a:r>
              <a:rPr lang="it-IT" sz="2000" dirty="0"/>
              <a:t>1</a:t>
            </a:r>
            <a:endParaRPr lang="en-US" sz="2000" dirty="0"/>
          </a:p>
        </p:txBody>
      </p:sp>
      <p:sp>
        <p:nvSpPr>
          <p:cNvPr id="684103" name="Rectangle 71"/>
          <p:cNvSpPr>
            <a:spLocks noChangeArrowheads="1"/>
          </p:cNvSpPr>
          <p:nvPr/>
        </p:nvSpPr>
        <p:spPr bwMode="auto">
          <a:xfrm>
            <a:off x="2286000" y="50292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16</a:t>
            </a:r>
            <a:endParaRPr lang="en-US" sz="2000"/>
          </a:p>
        </p:txBody>
      </p:sp>
      <p:sp>
        <p:nvSpPr>
          <p:cNvPr id="684104" name="Rectangle 72"/>
          <p:cNvSpPr>
            <a:spLocks noChangeArrowheads="1"/>
          </p:cNvSpPr>
          <p:nvPr/>
        </p:nvSpPr>
        <p:spPr bwMode="auto">
          <a:xfrm>
            <a:off x="609600" y="53340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 dirty="0"/>
              <a:t>p</a:t>
            </a:r>
            <a:r>
              <a:rPr lang="it-IT" sz="2000" baseline="-25000" dirty="0"/>
              <a:t>2</a:t>
            </a:r>
            <a:r>
              <a:rPr lang="it-IT" sz="2000" dirty="0"/>
              <a:t>                     </a:t>
            </a:r>
            <a:r>
              <a:rPr lang="it-IT" sz="2000" dirty="0" smtClean="0"/>
              <a:t>1</a:t>
            </a:r>
            <a:endParaRPr lang="en-US" sz="2000" dirty="0"/>
          </a:p>
        </p:txBody>
      </p:sp>
      <p:sp>
        <p:nvSpPr>
          <p:cNvPr id="684105" name="Rectangle 73"/>
          <p:cNvSpPr>
            <a:spLocks noChangeArrowheads="1"/>
          </p:cNvSpPr>
          <p:nvPr/>
        </p:nvSpPr>
        <p:spPr bwMode="auto">
          <a:xfrm>
            <a:off x="3429000" y="1752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20</a:t>
            </a:r>
            <a:endParaRPr lang="en-US" sz="2000"/>
          </a:p>
        </p:txBody>
      </p:sp>
      <p:sp>
        <p:nvSpPr>
          <p:cNvPr id="684106" name="Rectangle 74"/>
          <p:cNvSpPr>
            <a:spLocks noChangeArrowheads="1"/>
          </p:cNvSpPr>
          <p:nvPr/>
        </p:nvSpPr>
        <p:spPr bwMode="auto">
          <a:xfrm>
            <a:off x="3581400" y="1371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4107" name="Rectangle 75"/>
          <p:cNvSpPr>
            <a:spLocks noChangeArrowheads="1"/>
          </p:cNvSpPr>
          <p:nvPr/>
        </p:nvSpPr>
        <p:spPr bwMode="auto">
          <a:xfrm>
            <a:off x="3429000" y="50292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22</a:t>
            </a:r>
            <a:endParaRPr lang="en-US" sz="2000"/>
          </a:p>
        </p:txBody>
      </p:sp>
      <p:sp>
        <p:nvSpPr>
          <p:cNvPr id="684108" name="Rectangle 76"/>
          <p:cNvSpPr>
            <a:spLocks noChangeArrowheads="1"/>
          </p:cNvSpPr>
          <p:nvPr/>
        </p:nvSpPr>
        <p:spPr bwMode="auto">
          <a:xfrm>
            <a:off x="3581400" y="5334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4109" name="Rectangle 77"/>
          <p:cNvSpPr>
            <a:spLocks noChangeArrowheads="1"/>
          </p:cNvSpPr>
          <p:nvPr/>
        </p:nvSpPr>
        <p:spPr bwMode="auto">
          <a:xfrm>
            <a:off x="4572000" y="1752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24</a:t>
            </a:r>
            <a:endParaRPr lang="en-US" sz="2000"/>
          </a:p>
        </p:txBody>
      </p:sp>
      <p:sp>
        <p:nvSpPr>
          <p:cNvPr id="684110" name="Rectangle 78"/>
          <p:cNvSpPr>
            <a:spLocks noChangeArrowheads="1"/>
          </p:cNvSpPr>
          <p:nvPr/>
        </p:nvSpPr>
        <p:spPr bwMode="auto">
          <a:xfrm>
            <a:off x="4724400" y="1371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1</a:t>
            </a:r>
            <a:endParaRPr lang="en-US" sz="2000"/>
          </a:p>
        </p:txBody>
      </p:sp>
      <p:sp>
        <p:nvSpPr>
          <p:cNvPr id="684111" name="Rectangle 79"/>
          <p:cNvSpPr>
            <a:spLocks noChangeArrowheads="1"/>
          </p:cNvSpPr>
          <p:nvPr/>
        </p:nvSpPr>
        <p:spPr bwMode="auto">
          <a:xfrm>
            <a:off x="4572000" y="50292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25</a:t>
            </a:r>
            <a:endParaRPr lang="en-US" sz="2000"/>
          </a:p>
        </p:txBody>
      </p:sp>
      <p:sp>
        <p:nvSpPr>
          <p:cNvPr id="684112" name="Rectangle 80"/>
          <p:cNvSpPr>
            <a:spLocks noChangeArrowheads="1"/>
          </p:cNvSpPr>
          <p:nvPr/>
        </p:nvSpPr>
        <p:spPr bwMode="auto">
          <a:xfrm>
            <a:off x="4724400" y="5334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1</a:t>
            </a:r>
            <a:endParaRPr lang="en-US" sz="2000"/>
          </a:p>
        </p:txBody>
      </p:sp>
      <p:sp>
        <p:nvSpPr>
          <p:cNvPr id="684113" name="Rectangle 81"/>
          <p:cNvSpPr>
            <a:spLocks noChangeArrowheads="1"/>
          </p:cNvSpPr>
          <p:nvPr/>
        </p:nvSpPr>
        <p:spPr bwMode="auto">
          <a:xfrm>
            <a:off x="5715000" y="1752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32</a:t>
            </a:r>
            <a:endParaRPr lang="en-US" sz="2000"/>
          </a:p>
        </p:txBody>
      </p:sp>
      <p:sp>
        <p:nvSpPr>
          <p:cNvPr id="684114" name="Rectangle 82"/>
          <p:cNvSpPr>
            <a:spLocks noChangeArrowheads="1"/>
          </p:cNvSpPr>
          <p:nvPr/>
        </p:nvSpPr>
        <p:spPr bwMode="auto">
          <a:xfrm>
            <a:off x="5867400" y="1371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1</a:t>
            </a:r>
            <a:endParaRPr lang="en-US" sz="2000"/>
          </a:p>
        </p:txBody>
      </p:sp>
      <p:sp>
        <p:nvSpPr>
          <p:cNvPr id="684115" name="Rectangle 83"/>
          <p:cNvSpPr>
            <a:spLocks noChangeArrowheads="1"/>
          </p:cNvSpPr>
          <p:nvPr/>
        </p:nvSpPr>
        <p:spPr bwMode="auto">
          <a:xfrm>
            <a:off x="5715000" y="50292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30</a:t>
            </a:r>
            <a:endParaRPr lang="en-US" sz="2000"/>
          </a:p>
        </p:txBody>
      </p:sp>
      <p:sp>
        <p:nvSpPr>
          <p:cNvPr id="684116" name="Rectangle 84"/>
          <p:cNvSpPr>
            <a:spLocks noChangeArrowheads="1"/>
          </p:cNvSpPr>
          <p:nvPr/>
        </p:nvSpPr>
        <p:spPr bwMode="auto">
          <a:xfrm>
            <a:off x="5867400" y="5334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4117" name="Rectangle 85"/>
          <p:cNvSpPr>
            <a:spLocks noChangeArrowheads="1"/>
          </p:cNvSpPr>
          <p:nvPr/>
        </p:nvSpPr>
        <p:spPr bwMode="auto">
          <a:xfrm>
            <a:off x="6858000" y="1752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35</a:t>
            </a:r>
            <a:endParaRPr lang="en-US" sz="2000"/>
          </a:p>
        </p:txBody>
      </p:sp>
      <p:sp>
        <p:nvSpPr>
          <p:cNvPr id="684118" name="Rectangle 86"/>
          <p:cNvSpPr>
            <a:spLocks noChangeArrowheads="1"/>
          </p:cNvSpPr>
          <p:nvPr/>
        </p:nvSpPr>
        <p:spPr bwMode="auto">
          <a:xfrm>
            <a:off x="7010400" y="1371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4119" name="Rectangle 87"/>
          <p:cNvSpPr>
            <a:spLocks noChangeArrowheads="1"/>
          </p:cNvSpPr>
          <p:nvPr/>
        </p:nvSpPr>
        <p:spPr bwMode="auto">
          <a:xfrm>
            <a:off x="6858000" y="50292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37</a:t>
            </a:r>
            <a:endParaRPr lang="en-US" sz="2000"/>
          </a:p>
        </p:txBody>
      </p:sp>
      <p:sp>
        <p:nvSpPr>
          <p:cNvPr id="684120" name="Rectangle 88"/>
          <p:cNvSpPr>
            <a:spLocks noChangeArrowheads="1"/>
          </p:cNvSpPr>
          <p:nvPr/>
        </p:nvSpPr>
        <p:spPr bwMode="auto">
          <a:xfrm>
            <a:off x="7010400" y="5334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4121" name="Rectangle 89"/>
          <p:cNvSpPr>
            <a:spLocks noChangeArrowheads="1"/>
          </p:cNvSpPr>
          <p:nvPr/>
        </p:nvSpPr>
        <p:spPr bwMode="auto">
          <a:xfrm>
            <a:off x="7848600" y="3124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f</a:t>
            </a:r>
            <a:r>
              <a:rPr lang="it-IT" sz="2000" baseline="-25000"/>
              <a:t>* </a:t>
            </a:r>
            <a:r>
              <a:rPr lang="it-IT" sz="2000"/>
              <a:t>= 38</a:t>
            </a:r>
            <a:endParaRPr lang="en-US" sz="2000"/>
          </a:p>
        </p:txBody>
      </p:sp>
      <p:sp>
        <p:nvSpPr>
          <p:cNvPr id="684122" name="Rectangle 90"/>
          <p:cNvSpPr>
            <a:spLocks noChangeArrowheads="1"/>
          </p:cNvSpPr>
          <p:nvPr/>
        </p:nvSpPr>
        <p:spPr bwMode="auto">
          <a:xfrm>
            <a:off x="7848600" y="37338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p</a:t>
            </a:r>
            <a:r>
              <a:rPr lang="it-IT" sz="2000" baseline="-25000"/>
              <a:t>* </a:t>
            </a:r>
            <a:r>
              <a:rPr lang="it-IT" sz="2000"/>
              <a:t>= 1</a:t>
            </a:r>
            <a:endParaRPr lang="en-US" sz="2000"/>
          </a:p>
        </p:txBody>
      </p:sp>
      <p:sp>
        <p:nvSpPr>
          <p:cNvPr id="684123" name="Rectangle 91"/>
          <p:cNvSpPr>
            <a:spLocks noChangeArrowheads="1"/>
          </p:cNvSpPr>
          <p:nvPr/>
        </p:nvSpPr>
        <p:spPr bwMode="auto">
          <a:xfrm>
            <a:off x="2438400" y="6019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4124" name="Rectangle 92"/>
          <p:cNvSpPr>
            <a:spLocks noChangeArrowheads="1"/>
          </p:cNvSpPr>
          <p:nvPr/>
        </p:nvSpPr>
        <p:spPr bwMode="auto">
          <a:xfrm>
            <a:off x="3581400" y="6019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1</a:t>
            </a:r>
            <a:endParaRPr lang="en-US" sz="2000"/>
          </a:p>
        </p:txBody>
      </p:sp>
      <p:sp>
        <p:nvSpPr>
          <p:cNvPr id="684125" name="Rectangle 93"/>
          <p:cNvSpPr>
            <a:spLocks noChangeArrowheads="1"/>
          </p:cNvSpPr>
          <p:nvPr/>
        </p:nvSpPr>
        <p:spPr bwMode="auto">
          <a:xfrm>
            <a:off x="4724400" y="6019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4126" name="Rectangle 94"/>
          <p:cNvSpPr>
            <a:spLocks noChangeArrowheads="1"/>
          </p:cNvSpPr>
          <p:nvPr/>
        </p:nvSpPr>
        <p:spPr bwMode="auto">
          <a:xfrm>
            <a:off x="5867400" y="6019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4127" name="Rectangle 95"/>
          <p:cNvSpPr>
            <a:spLocks noChangeArrowheads="1"/>
          </p:cNvSpPr>
          <p:nvPr/>
        </p:nvSpPr>
        <p:spPr bwMode="auto">
          <a:xfrm>
            <a:off x="7010400" y="6019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1</a:t>
            </a:r>
            <a:endParaRPr lang="en-US" sz="2000"/>
          </a:p>
        </p:txBody>
      </p:sp>
      <p:sp>
        <p:nvSpPr>
          <p:cNvPr id="684128" name="Rectangle 96"/>
          <p:cNvSpPr>
            <a:spLocks noChangeArrowheads="1"/>
          </p:cNvSpPr>
          <p:nvPr/>
        </p:nvSpPr>
        <p:spPr bwMode="auto">
          <a:xfrm>
            <a:off x="1143000" y="6019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  1</a:t>
            </a:r>
            <a:endParaRPr lang="en-US" sz="2000"/>
          </a:p>
        </p:txBody>
      </p:sp>
      <p:grpSp>
        <p:nvGrpSpPr>
          <p:cNvPr id="684129" name="Group 97"/>
          <p:cNvGrpSpPr>
            <a:grpSpLocks/>
          </p:cNvGrpSpPr>
          <p:nvPr/>
        </p:nvGrpSpPr>
        <p:grpSpPr bwMode="auto">
          <a:xfrm>
            <a:off x="381000" y="5715000"/>
            <a:ext cx="8534400" cy="457200"/>
            <a:chOff x="240" y="3600"/>
            <a:chExt cx="5376" cy="288"/>
          </a:xfrm>
        </p:grpSpPr>
        <p:sp>
          <p:nvSpPr>
            <p:cNvPr id="684130" name="Rectangle 98"/>
            <p:cNvSpPr>
              <a:spLocks noChangeArrowheads="1"/>
            </p:cNvSpPr>
            <p:nvPr/>
          </p:nvSpPr>
          <p:spPr bwMode="auto">
            <a:xfrm>
              <a:off x="240" y="3600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it-IT" sz="2000">
                  <a:solidFill>
                    <a:srgbClr val="0000CC"/>
                  </a:solidFill>
                  <a:latin typeface="Comic Sans MS" charset="0"/>
                </a:rPr>
                <a:t>Soluzione</a:t>
              </a:r>
              <a:endParaRPr lang="en-US" sz="2000">
                <a:solidFill>
                  <a:srgbClr val="0000CC"/>
                </a:solidFill>
                <a:latin typeface="Comic Sans MS" charset="0"/>
              </a:endParaRPr>
            </a:p>
          </p:txBody>
        </p:sp>
        <p:sp>
          <p:nvSpPr>
            <p:cNvPr id="684131" name="Line 99"/>
            <p:cNvSpPr>
              <a:spLocks noChangeShapeType="1"/>
            </p:cNvSpPr>
            <p:nvPr/>
          </p:nvSpPr>
          <p:spPr bwMode="auto">
            <a:xfrm>
              <a:off x="240" y="3648"/>
              <a:ext cx="53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4132" name="Rectangle 10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ym typeface="Symbol" charset="0"/>
              </a:rPr>
              <a:t>Il problema della catena di montaggio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99" grpId="0" autoUpdateAnimBg="0"/>
      <p:bldP spid="684100" grpId="0" autoUpdateAnimBg="0"/>
      <p:bldP spid="684101" grpId="0" autoUpdateAnimBg="0"/>
      <p:bldP spid="684102" grpId="0" autoUpdateAnimBg="0"/>
      <p:bldP spid="684103" grpId="0" autoUpdateAnimBg="0"/>
      <p:bldP spid="684104" grpId="0" autoUpdateAnimBg="0"/>
      <p:bldP spid="684105" grpId="0" autoUpdateAnimBg="0"/>
      <p:bldP spid="684106" grpId="0" autoUpdateAnimBg="0"/>
      <p:bldP spid="684107" grpId="0" autoUpdateAnimBg="0"/>
      <p:bldP spid="684108" grpId="0" autoUpdateAnimBg="0"/>
      <p:bldP spid="684109" grpId="0" autoUpdateAnimBg="0"/>
      <p:bldP spid="684110" grpId="0" autoUpdateAnimBg="0"/>
      <p:bldP spid="684111" grpId="0" autoUpdateAnimBg="0"/>
      <p:bldP spid="684112" grpId="0" autoUpdateAnimBg="0"/>
      <p:bldP spid="684113" grpId="0" autoUpdateAnimBg="0"/>
      <p:bldP spid="684114" grpId="0" autoUpdateAnimBg="0"/>
      <p:bldP spid="684115" grpId="0" autoUpdateAnimBg="0"/>
      <p:bldP spid="684116" grpId="0" autoUpdateAnimBg="0"/>
      <p:bldP spid="684117" grpId="0" autoUpdateAnimBg="0"/>
      <p:bldP spid="684118" grpId="0" autoUpdateAnimBg="0"/>
      <p:bldP spid="684119" grpId="0" autoUpdateAnimBg="0"/>
      <p:bldP spid="684120" grpId="0" autoUpdateAnimBg="0"/>
      <p:bldP spid="684121" grpId="0" autoUpdateAnimBg="0"/>
      <p:bldP spid="684122" grpId="0" autoUpdateAnimBg="0"/>
      <p:bldP spid="684123" grpId="0" autoUpdateAnimBg="0"/>
      <p:bldP spid="684124" grpId="0" autoUpdateAnimBg="0"/>
      <p:bldP spid="684125" grpId="0" autoUpdateAnimBg="0"/>
      <p:bldP spid="684126" grpId="0" autoUpdateAnimBg="0"/>
      <p:bldP spid="684127" grpId="0" autoUpdateAnimBg="0"/>
      <p:bldP spid="68412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AutoShape 2"/>
          <p:cNvSpPr>
            <a:spLocks noChangeArrowheads="1"/>
          </p:cNvSpPr>
          <p:nvPr/>
        </p:nvSpPr>
        <p:spPr bwMode="auto">
          <a:xfrm>
            <a:off x="963613" y="3597275"/>
            <a:ext cx="6553200" cy="838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5059" name="AutoShape 3"/>
          <p:cNvSpPr>
            <a:spLocks noChangeArrowheads="1"/>
          </p:cNvSpPr>
          <p:nvPr/>
        </p:nvSpPr>
        <p:spPr bwMode="auto">
          <a:xfrm>
            <a:off x="963613" y="1692275"/>
            <a:ext cx="6553200" cy="838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5060" name="Oval 4"/>
          <p:cNvSpPr>
            <a:spLocks noChangeArrowheads="1"/>
          </p:cNvSpPr>
          <p:nvPr/>
        </p:nvSpPr>
        <p:spPr bwMode="auto">
          <a:xfrm>
            <a:off x="1116013" y="1844675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7</a:t>
            </a:r>
            <a:endParaRPr lang="en-US" sz="2000" baseline="-25000"/>
          </a:p>
        </p:txBody>
      </p:sp>
      <p:sp>
        <p:nvSpPr>
          <p:cNvPr id="685061" name="Line 5"/>
          <p:cNvSpPr>
            <a:spLocks noChangeShapeType="1"/>
          </p:cNvSpPr>
          <p:nvPr/>
        </p:nvSpPr>
        <p:spPr bwMode="auto">
          <a:xfrm>
            <a:off x="223838" y="3063875"/>
            <a:ext cx="66357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62" name="Line 6"/>
          <p:cNvSpPr>
            <a:spLocks noChangeShapeType="1"/>
          </p:cNvSpPr>
          <p:nvPr/>
        </p:nvSpPr>
        <p:spPr bwMode="auto">
          <a:xfrm flipV="1">
            <a:off x="887413" y="2378075"/>
            <a:ext cx="381000" cy="6858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63" name="Line 7"/>
          <p:cNvSpPr>
            <a:spLocks noChangeShapeType="1"/>
          </p:cNvSpPr>
          <p:nvPr/>
        </p:nvSpPr>
        <p:spPr bwMode="auto">
          <a:xfrm>
            <a:off x="887413" y="3063875"/>
            <a:ext cx="3810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64" name="Oval 8"/>
          <p:cNvSpPr>
            <a:spLocks noChangeArrowheads="1"/>
          </p:cNvSpPr>
          <p:nvPr/>
        </p:nvSpPr>
        <p:spPr bwMode="auto">
          <a:xfrm>
            <a:off x="1116013" y="3749675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8</a:t>
            </a:r>
            <a:endParaRPr lang="en-US" sz="2000" baseline="-25000"/>
          </a:p>
        </p:txBody>
      </p:sp>
      <p:sp>
        <p:nvSpPr>
          <p:cNvPr id="685065" name="Oval 9"/>
          <p:cNvSpPr>
            <a:spLocks noChangeArrowheads="1"/>
          </p:cNvSpPr>
          <p:nvPr/>
        </p:nvSpPr>
        <p:spPr bwMode="auto">
          <a:xfrm>
            <a:off x="6831013" y="3749675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7</a:t>
            </a:r>
            <a:endParaRPr lang="en-US" sz="2000" baseline="-25000"/>
          </a:p>
        </p:txBody>
      </p:sp>
      <p:sp>
        <p:nvSpPr>
          <p:cNvPr id="685066" name="Oval 10"/>
          <p:cNvSpPr>
            <a:spLocks noChangeArrowheads="1"/>
          </p:cNvSpPr>
          <p:nvPr/>
        </p:nvSpPr>
        <p:spPr bwMode="auto">
          <a:xfrm>
            <a:off x="4545013" y="3749675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  <a:endParaRPr lang="en-US" sz="2000" baseline="-25000"/>
          </a:p>
        </p:txBody>
      </p:sp>
      <p:sp>
        <p:nvSpPr>
          <p:cNvPr id="685067" name="Oval 11"/>
          <p:cNvSpPr>
            <a:spLocks noChangeArrowheads="1"/>
          </p:cNvSpPr>
          <p:nvPr/>
        </p:nvSpPr>
        <p:spPr bwMode="auto">
          <a:xfrm>
            <a:off x="3402013" y="3749675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6</a:t>
            </a:r>
            <a:endParaRPr lang="en-US" sz="2000" baseline="-25000"/>
          </a:p>
        </p:txBody>
      </p:sp>
      <p:sp>
        <p:nvSpPr>
          <p:cNvPr id="685068" name="Oval 12"/>
          <p:cNvSpPr>
            <a:spLocks noChangeArrowheads="1"/>
          </p:cNvSpPr>
          <p:nvPr/>
        </p:nvSpPr>
        <p:spPr bwMode="auto">
          <a:xfrm>
            <a:off x="2259013" y="3749675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5</a:t>
            </a:r>
            <a:endParaRPr lang="en-US" sz="2000" baseline="-25000"/>
          </a:p>
        </p:txBody>
      </p:sp>
      <p:sp>
        <p:nvSpPr>
          <p:cNvPr id="685069" name="Oval 13"/>
          <p:cNvSpPr>
            <a:spLocks noChangeArrowheads="1"/>
          </p:cNvSpPr>
          <p:nvPr/>
        </p:nvSpPr>
        <p:spPr bwMode="auto">
          <a:xfrm>
            <a:off x="6831013" y="1844675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  <a:endParaRPr lang="en-US" sz="2000" baseline="-25000"/>
          </a:p>
        </p:txBody>
      </p:sp>
      <p:sp>
        <p:nvSpPr>
          <p:cNvPr id="685070" name="Oval 14"/>
          <p:cNvSpPr>
            <a:spLocks noChangeArrowheads="1"/>
          </p:cNvSpPr>
          <p:nvPr/>
        </p:nvSpPr>
        <p:spPr bwMode="auto">
          <a:xfrm>
            <a:off x="4545013" y="1844675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  <a:endParaRPr lang="en-US" sz="2000" baseline="-25000"/>
          </a:p>
        </p:txBody>
      </p:sp>
      <p:sp>
        <p:nvSpPr>
          <p:cNvPr id="685071" name="Oval 15"/>
          <p:cNvSpPr>
            <a:spLocks noChangeArrowheads="1"/>
          </p:cNvSpPr>
          <p:nvPr/>
        </p:nvSpPr>
        <p:spPr bwMode="auto">
          <a:xfrm>
            <a:off x="3402013" y="1844675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  <a:endParaRPr lang="en-US" sz="2000" baseline="-25000"/>
          </a:p>
        </p:txBody>
      </p:sp>
      <p:sp>
        <p:nvSpPr>
          <p:cNvPr id="685072" name="Oval 16"/>
          <p:cNvSpPr>
            <a:spLocks noChangeArrowheads="1"/>
          </p:cNvSpPr>
          <p:nvPr/>
        </p:nvSpPr>
        <p:spPr bwMode="auto">
          <a:xfrm>
            <a:off x="2259013" y="1844675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9</a:t>
            </a:r>
            <a:endParaRPr lang="en-US" sz="2000" baseline="-25000"/>
          </a:p>
        </p:txBody>
      </p:sp>
      <p:sp>
        <p:nvSpPr>
          <p:cNvPr id="685073" name="Line 17"/>
          <p:cNvSpPr>
            <a:spLocks noChangeShapeType="1"/>
          </p:cNvSpPr>
          <p:nvPr/>
        </p:nvSpPr>
        <p:spPr bwMode="auto">
          <a:xfrm flipV="1">
            <a:off x="7288213" y="3063875"/>
            <a:ext cx="5334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74" name="Line 18"/>
          <p:cNvSpPr>
            <a:spLocks noChangeShapeType="1"/>
          </p:cNvSpPr>
          <p:nvPr/>
        </p:nvSpPr>
        <p:spPr bwMode="auto">
          <a:xfrm>
            <a:off x="7288213" y="2301875"/>
            <a:ext cx="533400" cy="762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75" name="Line 19"/>
          <p:cNvSpPr>
            <a:spLocks noChangeShapeType="1"/>
          </p:cNvSpPr>
          <p:nvPr/>
        </p:nvSpPr>
        <p:spPr bwMode="auto">
          <a:xfrm>
            <a:off x="7821613" y="3063875"/>
            <a:ext cx="827087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76" name="Line 20"/>
          <p:cNvSpPr>
            <a:spLocks noChangeShapeType="1"/>
          </p:cNvSpPr>
          <p:nvPr/>
        </p:nvSpPr>
        <p:spPr bwMode="auto">
          <a:xfrm>
            <a:off x="1649413" y="2149475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77" name="Line 21"/>
          <p:cNvSpPr>
            <a:spLocks noChangeShapeType="1"/>
          </p:cNvSpPr>
          <p:nvPr/>
        </p:nvSpPr>
        <p:spPr bwMode="auto">
          <a:xfrm>
            <a:off x="1649413" y="3978275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78" name="Line 22"/>
          <p:cNvSpPr>
            <a:spLocks noChangeShapeType="1"/>
          </p:cNvSpPr>
          <p:nvPr/>
        </p:nvSpPr>
        <p:spPr bwMode="auto">
          <a:xfrm>
            <a:off x="2792413" y="2149475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79" name="Line 23"/>
          <p:cNvSpPr>
            <a:spLocks noChangeShapeType="1"/>
          </p:cNvSpPr>
          <p:nvPr/>
        </p:nvSpPr>
        <p:spPr bwMode="auto">
          <a:xfrm>
            <a:off x="6221413" y="3978275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80" name="Line 24"/>
          <p:cNvSpPr>
            <a:spLocks noChangeShapeType="1"/>
          </p:cNvSpPr>
          <p:nvPr/>
        </p:nvSpPr>
        <p:spPr bwMode="auto">
          <a:xfrm>
            <a:off x="6221413" y="2149475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81" name="Line 25"/>
          <p:cNvSpPr>
            <a:spLocks noChangeShapeType="1"/>
          </p:cNvSpPr>
          <p:nvPr/>
        </p:nvSpPr>
        <p:spPr bwMode="auto">
          <a:xfrm>
            <a:off x="2792413" y="3978275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82" name="Line 26"/>
          <p:cNvSpPr>
            <a:spLocks noChangeShapeType="1"/>
          </p:cNvSpPr>
          <p:nvPr/>
        </p:nvSpPr>
        <p:spPr bwMode="auto">
          <a:xfrm flipV="1">
            <a:off x="1511300" y="2301875"/>
            <a:ext cx="823913" cy="14874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83" name="Rectangle 27"/>
          <p:cNvSpPr>
            <a:spLocks noChangeArrowheads="1"/>
          </p:cNvSpPr>
          <p:nvPr/>
        </p:nvSpPr>
        <p:spPr bwMode="auto">
          <a:xfrm>
            <a:off x="506413" y="24542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685084" name="Rectangle 28"/>
          <p:cNvSpPr>
            <a:spLocks noChangeArrowheads="1"/>
          </p:cNvSpPr>
          <p:nvPr/>
        </p:nvSpPr>
        <p:spPr bwMode="auto">
          <a:xfrm>
            <a:off x="506413" y="31400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  <a:endParaRPr lang="en-US" sz="2000"/>
          </a:p>
        </p:txBody>
      </p:sp>
      <p:sp>
        <p:nvSpPr>
          <p:cNvPr id="685085" name="Rectangle 29"/>
          <p:cNvSpPr>
            <a:spLocks noChangeArrowheads="1"/>
          </p:cNvSpPr>
          <p:nvPr/>
        </p:nvSpPr>
        <p:spPr bwMode="auto">
          <a:xfrm>
            <a:off x="1954213" y="30638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685086" name="Rectangle 30"/>
          <p:cNvSpPr>
            <a:spLocks noChangeArrowheads="1"/>
          </p:cNvSpPr>
          <p:nvPr/>
        </p:nvSpPr>
        <p:spPr bwMode="auto">
          <a:xfrm>
            <a:off x="1954213" y="26066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685087" name="Line 31"/>
          <p:cNvSpPr>
            <a:spLocks noChangeShapeType="1"/>
          </p:cNvSpPr>
          <p:nvPr/>
        </p:nvSpPr>
        <p:spPr bwMode="auto">
          <a:xfrm>
            <a:off x="2563813" y="2378075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88" name="Line 32"/>
          <p:cNvSpPr>
            <a:spLocks noChangeShapeType="1"/>
          </p:cNvSpPr>
          <p:nvPr/>
        </p:nvSpPr>
        <p:spPr bwMode="auto">
          <a:xfrm flipV="1">
            <a:off x="2663825" y="2301875"/>
            <a:ext cx="814388" cy="148748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89" name="Line 33"/>
          <p:cNvSpPr>
            <a:spLocks noChangeShapeType="1"/>
          </p:cNvSpPr>
          <p:nvPr/>
        </p:nvSpPr>
        <p:spPr bwMode="auto">
          <a:xfrm>
            <a:off x="6084888" y="2349500"/>
            <a:ext cx="822325" cy="14763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90" name="Line 34"/>
          <p:cNvSpPr>
            <a:spLocks noChangeShapeType="1"/>
          </p:cNvSpPr>
          <p:nvPr/>
        </p:nvSpPr>
        <p:spPr bwMode="auto">
          <a:xfrm flipV="1">
            <a:off x="6084888" y="2301875"/>
            <a:ext cx="822325" cy="14509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91" name="Line 35"/>
          <p:cNvSpPr>
            <a:spLocks noChangeShapeType="1"/>
          </p:cNvSpPr>
          <p:nvPr/>
        </p:nvSpPr>
        <p:spPr bwMode="auto">
          <a:xfrm flipV="1">
            <a:off x="3779838" y="2301875"/>
            <a:ext cx="841375" cy="14874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092" name="Rectangle 36"/>
          <p:cNvSpPr>
            <a:spLocks noChangeArrowheads="1"/>
          </p:cNvSpPr>
          <p:nvPr/>
        </p:nvSpPr>
        <p:spPr bwMode="auto">
          <a:xfrm>
            <a:off x="3097213" y="30638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  <a:endParaRPr lang="en-US" sz="2000"/>
          </a:p>
        </p:txBody>
      </p:sp>
      <p:sp>
        <p:nvSpPr>
          <p:cNvPr id="685093" name="Rectangle 37"/>
          <p:cNvSpPr>
            <a:spLocks noChangeArrowheads="1"/>
          </p:cNvSpPr>
          <p:nvPr/>
        </p:nvSpPr>
        <p:spPr bwMode="auto">
          <a:xfrm>
            <a:off x="3097213" y="26066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  <a:endParaRPr lang="en-US" sz="2000"/>
          </a:p>
        </p:txBody>
      </p:sp>
      <p:sp>
        <p:nvSpPr>
          <p:cNvPr id="685094" name="Rectangle 38"/>
          <p:cNvSpPr>
            <a:spLocks noChangeArrowheads="1"/>
          </p:cNvSpPr>
          <p:nvPr/>
        </p:nvSpPr>
        <p:spPr bwMode="auto">
          <a:xfrm>
            <a:off x="4240213" y="30638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  <a:endParaRPr lang="en-US" sz="2000"/>
          </a:p>
        </p:txBody>
      </p:sp>
      <p:sp>
        <p:nvSpPr>
          <p:cNvPr id="685095" name="Rectangle 39"/>
          <p:cNvSpPr>
            <a:spLocks noChangeArrowheads="1"/>
          </p:cNvSpPr>
          <p:nvPr/>
        </p:nvSpPr>
        <p:spPr bwMode="auto">
          <a:xfrm>
            <a:off x="4240213" y="26066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  <a:endParaRPr lang="en-US" sz="2000"/>
          </a:p>
        </p:txBody>
      </p:sp>
      <p:sp>
        <p:nvSpPr>
          <p:cNvPr id="685096" name="Rectangle 40"/>
          <p:cNvSpPr>
            <a:spLocks noChangeArrowheads="1"/>
          </p:cNvSpPr>
          <p:nvPr/>
        </p:nvSpPr>
        <p:spPr bwMode="auto">
          <a:xfrm>
            <a:off x="6602413" y="26066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  <a:endParaRPr lang="en-US" sz="2000"/>
          </a:p>
        </p:txBody>
      </p:sp>
      <p:sp>
        <p:nvSpPr>
          <p:cNvPr id="685097" name="Rectangle 41"/>
          <p:cNvSpPr>
            <a:spLocks noChangeArrowheads="1"/>
          </p:cNvSpPr>
          <p:nvPr/>
        </p:nvSpPr>
        <p:spPr bwMode="auto">
          <a:xfrm>
            <a:off x="6602413" y="30638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  <a:endParaRPr lang="en-US" sz="2000"/>
          </a:p>
        </p:txBody>
      </p:sp>
      <p:sp>
        <p:nvSpPr>
          <p:cNvPr id="685098" name="Rectangle 42"/>
          <p:cNvSpPr>
            <a:spLocks noChangeArrowheads="1"/>
          </p:cNvSpPr>
          <p:nvPr/>
        </p:nvSpPr>
        <p:spPr bwMode="auto">
          <a:xfrm>
            <a:off x="7364413" y="23018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  <a:endParaRPr lang="en-US" sz="2000"/>
          </a:p>
        </p:txBody>
      </p:sp>
      <p:sp>
        <p:nvSpPr>
          <p:cNvPr id="685099" name="Rectangle 43"/>
          <p:cNvSpPr>
            <a:spLocks noChangeArrowheads="1"/>
          </p:cNvSpPr>
          <p:nvPr/>
        </p:nvSpPr>
        <p:spPr bwMode="auto">
          <a:xfrm>
            <a:off x="7364413" y="33686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685100" name="Rectangle 44"/>
          <p:cNvSpPr>
            <a:spLocks noChangeArrowheads="1"/>
          </p:cNvSpPr>
          <p:nvPr/>
        </p:nvSpPr>
        <p:spPr bwMode="auto">
          <a:xfrm>
            <a:off x="1573213" y="17684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5101" name="Rectangle 45"/>
          <p:cNvSpPr>
            <a:spLocks noChangeArrowheads="1"/>
          </p:cNvSpPr>
          <p:nvPr/>
        </p:nvSpPr>
        <p:spPr bwMode="auto">
          <a:xfrm>
            <a:off x="1573213" y="39020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5102" name="Rectangle 46"/>
          <p:cNvSpPr>
            <a:spLocks noChangeArrowheads="1"/>
          </p:cNvSpPr>
          <p:nvPr/>
        </p:nvSpPr>
        <p:spPr bwMode="auto">
          <a:xfrm>
            <a:off x="2716213" y="39020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5103" name="Rectangle 47"/>
          <p:cNvSpPr>
            <a:spLocks noChangeArrowheads="1"/>
          </p:cNvSpPr>
          <p:nvPr/>
        </p:nvSpPr>
        <p:spPr bwMode="auto">
          <a:xfrm>
            <a:off x="2716213" y="17684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5104" name="Rectangle 48"/>
          <p:cNvSpPr>
            <a:spLocks noChangeArrowheads="1"/>
          </p:cNvSpPr>
          <p:nvPr/>
        </p:nvSpPr>
        <p:spPr bwMode="auto">
          <a:xfrm>
            <a:off x="6145213" y="39020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5105" name="Rectangle 49"/>
          <p:cNvSpPr>
            <a:spLocks noChangeArrowheads="1"/>
          </p:cNvSpPr>
          <p:nvPr/>
        </p:nvSpPr>
        <p:spPr bwMode="auto">
          <a:xfrm>
            <a:off x="6145213" y="17684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5106" name="Oval 50"/>
          <p:cNvSpPr>
            <a:spLocks noChangeArrowheads="1"/>
          </p:cNvSpPr>
          <p:nvPr/>
        </p:nvSpPr>
        <p:spPr bwMode="auto">
          <a:xfrm>
            <a:off x="5688013" y="3749675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5</a:t>
            </a:r>
            <a:endParaRPr lang="en-US" sz="2000" baseline="-25000"/>
          </a:p>
        </p:txBody>
      </p:sp>
      <p:sp>
        <p:nvSpPr>
          <p:cNvPr id="685107" name="Oval 51"/>
          <p:cNvSpPr>
            <a:spLocks noChangeArrowheads="1"/>
          </p:cNvSpPr>
          <p:nvPr/>
        </p:nvSpPr>
        <p:spPr bwMode="auto">
          <a:xfrm>
            <a:off x="5688013" y="1844675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8</a:t>
            </a:r>
            <a:endParaRPr lang="en-US" sz="2000" baseline="-25000"/>
          </a:p>
        </p:txBody>
      </p:sp>
      <p:sp>
        <p:nvSpPr>
          <p:cNvPr id="685108" name="Line 52"/>
          <p:cNvSpPr>
            <a:spLocks noChangeShapeType="1"/>
          </p:cNvSpPr>
          <p:nvPr/>
        </p:nvSpPr>
        <p:spPr bwMode="auto">
          <a:xfrm>
            <a:off x="4932363" y="2349500"/>
            <a:ext cx="831850" cy="14763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109" name="Line 53"/>
          <p:cNvSpPr>
            <a:spLocks noChangeShapeType="1"/>
          </p:cNvSpPr>
          <p:nvPr/>
        </p:nvSpPr>
        <p:spPr bwMode="auto">
          <a:xfrm flipV="1">
            <a:off x="4932363" y="2301875"/>
            <a:ext cx="831850" cy="14874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110" name="Rectangle 54"/>
          <p:cNvSpPr>
            <a:spLocks noChangeArrowheads="1"/>
          </p:cNvSpPr>
          <p:nvPr/>
        </p:nvSpPr>
        <p:spPr bwMode="auto">
          <a:xfrm>
            <a:off x="5383213" y="30638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685111" name="Rectangle 55"/>
          <p:cNvSpPr>
            <a:spLocks noChangeArrowheads="1"/>
          </p:cNvSpPr>
          <p:nvPr/>
        </p:nvSpPr>
        <p:spPr bwMode="auto">
          <a:xfrm>
            <a:off x="5383213" y="26066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  <a:endParaRPr lang="en-US" sz="2000"/>
          </a:p>
        </p:txBody>
      </p:sp>
      <p:sp>
        <p:nvSpPr>
          <p:cNvPr id="685112" name="Line 56"/>
          <p:cNvSpPr>
            <a:spLocks noChangeShapeType="1"/>
          </p:cNvSpPr>
          <p:nvPr/>
        </p:nvSpPr>
        <p:spPr bwMode="auto">
          <a:xfrm>
            <a:off x="5078413" y="2149475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113" name="Rectangle 57"/>
          <p:cNvSpPr>
            <a:spLocks noChangeArrowheads="1"/>
          </p:cNvSpPr>
          <p:nvPr/>
        </p:nvSpPr>
        <p:spPr bwMode="auto">
          <a:xfrm>
            <a:off x="5002213" y="17684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5114" name="Line 58"/>
          <p:cNvSpPr>
            <a:spLocks noChangeShapeType="1"/>
          </p:cNvSpPr>
          <p:nvPr/>
        </p:nvSpPr>
        <p:spPr bwMode="auto">
          <a:xfrm>
            <a:off x="3935413" y="2149475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115" name="Rectangle 59"/>
          <p:cNvSpPr>
            <a:spLocks noChangeArrowheads="1"/>
          </p:cNvSpPr>
          <p:nvPr/>
        </p:nvSpPr>
        <p:spPr bwMode="auto">
          <a:xfrm>
            <a:off x="3859213" y="17684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5116" name="Line 60"/>
          <p:cNvSpPr>
            <a:spLocks noChangeShapeType="1"/>
          </p:cNvSpPr>
          <p:nvPr/>
        </p:nvSpPr>
        <p:spPr bwMode="auto">
          <a:xfrm>
            <a:off x="5078413" y="3978275"/>
            <a:ext cx="6096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117" name="Rectangle 61"/>
          <p:cNvSpPr>
            <a:spLocks noChangeArrowheads="1"/>
          </p:cNvSpPr>
          <p:nvPr/>
        </p:nvSpPr>
        <p:spPr bwMode="auto">
          <a:xfrm>
            <a:off x="5002213" y="39020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5118" name="Line 62"/>
          <p:cNvSpPr>
            <a:spLocks noChangeShapeType="1"/>
          </p:cNvSpPr>
          <p:nvPr/>
        </p:nvSpPr>
        <p:spPr bwMode="auto">
          <a:xfrm>
            <a:off x="3935413" y="3978275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119" name="Rectangle 63"/>
          <p:cNvSpPr>
            <a:spLocks noChangeArrowheads="1"/>
          </p:cNvSpPr>
          <p:nvPr/>
        </p:nvSpPr>
        <p:spPr bwMode="auto">
          <a:xfrm>
            <a:off x="3859213" y="39020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5120" name="Rectangle 64"/>
          <p:cNvSpPr>
            <a:spLocks noChangeArrowheads="1"/>
          </p:cNvSpPr>
          <p:nvPr/>
        </p:nvSpPr>
        <p:spPr bwMode="auto">
          <a:xfrm>
            <a:off x="582613" y="1158875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f</a:t>
            </a:r>
            <a:r>
              <a:rPr lang="it-IT" sz="2000" baseline="-25000"/>
              <a:t>1</a:t>
            </a:r>
            <a:r>
              <a:rPr lang="it-IT" sz="2000"/>
              <a:t>       9</a:t>
            </a:r>
            <a:endParaRPr lang="en-US" sz="2000"/>
          </a:p>
        </p:txBody>
      </p:sp>
      <p:sp>
        <p:nvSpPr>
          <p:cNvPr id="685121" name="Rectangle 65"/>
          <p:cNvSpPr>
            <a:spLocks noChangeArrowheads="1"/>
          </p:cNvSpPr>
          <p:nvPr/>
        </p:nvSpPr>
        <p:spPr bwMode="auto">
          <a:xfrm>
            <a:off x="582613" y="4587875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f</a:t>
            </a:r>
            <a:r>
              <a:rPr lang="it-IT" sz="2000" baseline="-25000"/>
              <a:t>2</a:t>
            </a:r>
            <a:r>
              <a:rPr lang="it-IT" sz="2000"/>
              <a:t>      12</a:t>
            </a:r>
            <a:endParaRPr lang="en-US" sz="2000"/>
          </a:p>
        </p:txBody>
      </p:sp>
      <p:sp>
        <p:nvSpPr>
          <p:cNvPr id="685122" name="Rectangle 66"/>
          <p:cNvSpPr>
            <a:spLocks noChangeArrowheads="1"/>
          </p:cNvSpPr>
          <p:nvPr/>
        </p:nvSpPr>
        <p:spPr bwMode="auto">
          <a:xfrm>
            <a:off x="2259013" y="1158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18</a:t>
            </a:r>
            <a:endParaRPr lang="en-US" sz="2000"/>
          </a:p>
        </p:txBody>
      </p:sp>
      <p:sp>
        <p:nvSpPr>
          <p:cNvPr id="685123" name="Rectangle 67"/>
          <p:cNvSpPr>
            <a:spLocks noChangeArrowheads="1"/>
          </p:cNvSpPr>
          <p:nvPr/>
        </p:nvSpPr>
        <p:spPr bwMode="auto">
          <a:xfrm>
            <a:off x="582613" y="777875"/>
            <a:ext cx="2405211" cy="418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 dirty="0"/>
              <a:t>p</a:t>
            </a:r>
            <a:r>
              <a:rPr lang="it-IT" sz="2000" baseline="-25000" dirty="0"/>
              <a:t>1</a:t>
            </a:r>
            <a:r>
              <a:rPr lang="it-IT" sz="2000" dirty="0"/>
              <a:t>                    </a:t>
            </a:r>
            <a:r>
              <a:rPr lang="it-IT" sz="2000" dirty="0" smtClean="0"/>
              <a:t>1</a:t>
            </a:r>
            <a:endParaRPr lang="en-US" sz="2000" dirty="0"/>
          </a:p>
        </p:txBody>
      </p:sp>
      <p:sp>
        <p:nvSpPr>
          <p:cNvPr id="685124" name="Rectangle 68"/>
          <p:cNvSpPr>
            <a:spLocks noChangeArrowheads="1"/>
          </p:cNvSpPr>
          <p:nvPr/>
        </p:nvSpPr>
        <p:spPr bwMode="auto">
          <a:xfrm>
            <a:off x="2259013" y="4587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16</a:t>
            </a:r>
            <a:endParaRPr lang="en-US" sz="2000"/>
          </a:p>
        </p:txBody>
      </p:sp>
      <p:sp>
        <p:nvSpPr>
          <p:cNvPr id="685125" name="Rectangle 69"/>
          <p:cNvSpPr>
            <a:spLocks noChangeArrowheads="1"/>
          </p:cNvSpPr>
          <p:nvPr/>
        </p:nvSpPr>
        <p:spPr bwMode="auto">
          <a:xfrm>
            <a:off x="582613" y="4968875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 dirty="0"/>
              <a:t>p</a:t>
            </a:r>
            <a:r>
              <a:rPr lang="it-IT" sz="2000" baseline="-25000" dirty="0"/>
              <a:t>2</a:t>
            </a:r>
            <a:r>
              <a:rPr lang="it-IT" sz="2000" dirty="0"/>
              <a:t>                   </a:t>
            </a:r>
            <a:r>
              <a:rPr lang="it-IT" sz="2000" dirty="0" smtClean="0"/>
              <a:t> </a:t>
            </a:r>
            <a:r>
              <a:rPr lang="it-IT" sz="2000" dirty="0"/>
              <a:t>1</a:t>
            </a:r>
            <a:endParaRPr lang="en-US" sz="2000" dirty="0"/>
          </a:p>
        </p:txBody>
      </p:sp>
      <p:sp>
        <p:nvSpPr>
          <p:cNvPr id="685126" name="Rectangle 70"/>
          <p:cNvSpPr>
            <a:spLocks noChangeArrowheads="1"/>
          </p:cNvSpPr>
          <p:nvPr/>
        </p:nvSpPr>
        <p:spPr bwMode="auto">
          <a:xfrm>
            <a:off x="3402013" y="1158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20</a:t>
            </a:r>
            <a:endParaRPr lang="en-US" sz="2000"/>
          </a:p>
        </p:txBody>
      </p:sp>
      <p:sp>
        <p:nvSpPr>
          <p:cNvPr id="685127" name="Rectangle 71"/>
          <p:cNvSpPr>
            <a:spLocks noChangeArrowheads="1"/>
          </p:cNvSpPr>
          <p:nvPr/>
        </p:nvSpPr>
        <p:spPr bwMode="auto">
          <a:xfrm>
            <a:off x="3491880" y="764704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5128" name="Rectangle 72"/>
          <p:cNvSpPr>
            <a:spLocks noChangeArrowheads="1"/>
          </p:cNvSpPr>
          <p:nvPr/>
        </p:nvSpPr>
        <p:spPr bwMode="auto">
          <a:xfrm>
            <a:off x="3402013" y="4587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22</a:t>
            </a:r>
            <a:endParaRPr lang="en-US" sz="2000"/>
          </a:p>
        </p:txBody>
      </p:sp>
      <p:sp>
        <p:nvSpPr>
          <p:cNvPr id="685129" name="Rectangle 73"/>
          <p:cNvSpPr>
            <a:spLocks noChangeArrowheads="1"/>
          </p:cNvSpPr>
          <p:nvPr/>
        </p:nvSpPr>
        <p:spPr bwMode="auto">
          <a:xfrm>
            <a:off x="3554413" y="4968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5130" name="Rectangle 74"/>
          <p:cNvSpPr>
            <a:spLocks noChangeArrowheads="1"/>
          </p:cNvSpPr>
          <p:nvPr/>
        </p:nvSpPr>
        <p:spPr bwMode="auto">
          <a:xfrm>
            <a:off x="4545013" y="1158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24</a:t>
            </a:r>
            <a:endParaRPr lang="en-US" sz="2000"/>
          </a:p>
        </p:txBody>
      </p:sp>
      <p:sp>
        <p:nvSpPr>
          <p:cNvPr id="685131" name="Rectangle 75"/>
          <p:cNvSpPr>
            <a:spLocks noChangeArrowheads="1"/>
          </p:cNvSpPr>
          <p:nvPr/>
        </p:nvSpPr>
        <p:spPr bwMode="auto">
          <a:xfrm>
            <a:off x="4697413" y="777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1</a:t>
            </a:r>
            <a:endParaRPr lang="en-US" sz="2000"/>
          </a:p>
        </p:txBody>
      </p:sp>
      <p:sp>
        <p:nvSpPr>
          <p:cNvPr id="685132" name="Rectangle 76"/>
          <p:cNvSpPr>
            <a:spLocks noChangeArrowheads="1"/>
          </p:cNvSpPr>
          <p:nvPr/>
        </p:nvSpPr>
        <p:spPr bwMode="auto">
          <a:xfrm>
            <a:off x="4545013" y="4587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25</a:t>
            </a:r>
            <a:endParaRPr lang="en-US" sz="2000"/>
          </a:p>
        </p:txBody>
      </p:sp>
      <p:sp>
        <p:nvSpPr>
          <p:cNvPr id="685133" name="Rectangle 77"/>
          <p:cNvSpPr>
            <a:spLocks noChangeArrowheads="1"/>
          </p:cNvSpPr>
          <p:nvPr/>
        </p:nvSpPr>
        <p:spPr bwMode="auto">
          <a:xfrm>
            <a:off x="4697413" y="4968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1</a:t>
            </a:r>
            <a:endParaRPr lang="en-US" sz="2000"/>
          </a:p>
        </p:txBody>
      </p:sp>
      <p:sp>
        <p:nvSpPr>
          <p:cNvPr id="685134" name="Rectangle 78"/>
          <p:cNvSpPr>
            <a:spLocks noChangeArrowheads="1"/>
          </p:cNvSpPr>
          <p:nvPr/>
        </p:nvSpPr>
        <p:spPr bwMode="auto">
          <a:xfrm>
            <a:off x="5688013" y="1158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32</a:t>
            </a:r>
            <a:endParaRPr lang="en-US" sz="2000"/>
          </a:p>
        </p:txBody>
      </p:sp>
      <p:sp>
        <p:nvSpPr>
          <p:cNvPr id="685135" name="Rectangle 79"/>
          <p:cNvSpPr>
            <a:spLocks noChangeArrowheads="1"/>
          </p:cNvSpPr>
          <p:nvPr/>
        </p:nvSpPr>
        <p:spPr bwMode="auto">
          <a:xfrm>
            <a:off x="5840413" y="777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1</a:t>
            </a:r>
            <a:endParaRPr lang="en-US" sz="2000"/>
          </a:p>
        </p:txBody>
      </p:sp>
      <p:sp>
        <p:nvSpPr>
          <p:cNvPr id="685136" name="Rectangle 80"/>
          <p:cNvSpPr>
            <a:spLocks noChangeArrowheads="1"/>
          </p:cNvSpPr>
          <p:nvPr/>
        </p:nvSpPr>
        <p:spPr bwMode="auto">
          <a:xfrm>
            <a:off x="5688013" y="4587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30</a:t>
            </a:r>
            <a:endParaRPr lang="en-US" sz="2000"/>
          </a:p>
        </p:txBody>
      </p:sp>
      <p:sp>
        <p:nvSpPr>
          <p:cNvPr id="685137" name="Rectangle 81"/>
          <p:cNvSpPr>
            <a:spLocks noChangeArrowheads="1"/>
          </p:cNvSpPr>
          <p:nvPr/>
        </p:nvSpPr>
        <p:spPr bwMode="auto">
          <a:xfrm>
            <a:off x="5840413" y="4968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5138" name="Rectangle 82"/>
          <p:cNvSpPr>
            <a:spLocks noChangeArrowheads="1"/>
          </p:cNvSpPr>
          <p:nvPr/>
        </p:nvSpPr>
        <p:spPr bwMode="auto">
          <a:xfrm>
            <a:off x="6831013" y="1158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35</a:t>
            </a:r>
            <a:endParaRPr lang="en-US" sz="2000"/>
          </a:p>
        </p:txBody>
      </p:sp>
      <p:sp>
        <p:nvSpPr>
          <p:cNvPr id="685139" name="Rectangle 83"/>
          <p:cNvSpPr>
            <a:spLocks noChangeArrowheads="1"/>
          </p:cNvSpPr>
          <p:nvPr/>
        </p:nvSpPr>
        <p:spPr bwMode="auto">
          <a:xfrm>
            <a:off x="6983413" y="777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5140" name="Rectangle 84"/>
          <p:cNvSpPr>
            <a:spLocks noChangeArrowheads="1"/>
          </p:cNvSpPr>
          <p:nvPr/>
        </p:nvSpPr>
        <p:spPr bwMode="auto">
          <a:xfrm>
            <a:off x="6831013" y="4587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37</a:t>
            </a:r>
            <a:endParaRPr lang="en-US" sz="2000"/>
          </a:p>
        </p:txBody>
      </p:sp>
      <p:sp>
        <p:nvSpPr>
          <p:cNvPr id="685141" name="Rectangle 85"/>
          <p:cNvSpPr>
            <a:spLocks noChangeArrowheads="1"/>
          </p:cNvSpPr>
          <p:nvPr/>
        </p:nvSpPr>
        <p:spPr bwMode="auto">
          <a:xfrm>
            <a:off x="6983413" y="4968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5142" name="Rectangle 86"/>
          <p:cNvSpPr>
            <a:spLocks noChangeArrowheads="1"/>
          </p:cNvSpPr>
          <p:nvPr/>
        </p:nvSpPr>
        <p:spPr bwMode="auto">
          <a:xfrm>
            <a:off x="7821613" y="2530475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f</a:t>
            </a:r>
            <a:r>
              <a:rPr lang="it-IT" sz="2000" baseline="-25000"/>
              <a:t>* </a:t>
            </a:r>
            <a:r>
              <a:rPr lang="it-IT" sz="2000"/>
              <a:t>= 38</a:t>
            </a:r>
            <a:endParaRPr lang="en-US" sz="2000"/>
          </a:p>
        </p:txBody>
      </p:sp>
      <p:sp>
        <p:nvSpPr>
          <p:cNvPr id="685143" name="Rectangle 87"/>
          <p:cNvSpPr>
            <a:spLocks noChangeArrowheads="1"/>
          </p:cNvSpPr>
          <p:nvPr/>
        </p:nvSpPr>
        <p:spPr bwMode="auto">
          <a:xfrm>
            <a:off x="7885113" y="3176588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p</a:t>
            </a:r>
            <a:r>
              <a:rPr lang="it-IT" sz="2000" baseline="-25000"/>
              <a:t>* </a:t>
            </a:r>
            <a:r>
              <a:rPr lang="it-IT" sz="2000"/>
              <a:t>= 1</a:t>
            </a:r>
            <a:endParaRPr lang="en-US" sz="2000"/>
          </a:p>
        </p:txBody>
      </p:sp>
      <p:sp>
        <p:nvSpPr>
          <p:cNvPr id="685144" name="Rectangle 88"/>
          <p:cNvSpPr>
            <a:spLocks noChangeArrowheads="1"/>
          </p:cNvSpPr>
          <p:nvPr/>
        </p:nvSpPr>
        <p:spPr bwMode="auto">
          <a:xfrm>
            <a:off x="2411413" y="5730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5145" name="Rectangle 89"/>
          <p:cNvSpPr>
            <a:spLocks noChangeArrowheads="1"/>
          </p:cNvSpPr>
          <p:nvPr/>
        </p:nvSpPr>
        <p:spPr bwMode="auto">
          <a:xfrm>
            <a:off x="3554413" y="5730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1</a:t>
            </a:r>
            <a:endParaRPr lang="en-US" sz="2000"/>
          </a:p>
        </p:txBody>
      </p:sp>
      <p:sp>
        <p:nvSpPr>
          <p:cNvPr id="685146" name="Rectangle 90"/>
          <p:cNvSpPr>
            <a:spLocks noChangeArrowheads="1"/>
          </p:cNvSpPr>
          <p:nvPr/>
        </p:nvSpPr>
        <p:spPr bwMode="auto">
          <a:xfrm>
            <a:off x="4697413" y="5730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5147" name="Rectangle 91"/>
          <p:cNvSpPr>
            <a:spLocks noChangeArrowheads="1"/>
          </p:cNvSpPr>
          <p:nvPr/>
        </p:nvSpPr>
        <p:spPr bwMode="auto">
          <a:xfrm>
            <a:off x="5840413" y="5730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2</a:t>
            </a:r>
            <a:endParaRPr lang="en-US" sz="2000"/>
          </a:p>
        </p:txBody>
      </p:sp>
      <p:sp>
        <p:nvSpPr>
          <p:cNvPr id="685148" name="Rectangle 92"/>
          <p:cNvSpPr>
            <a:spLocks noChangeArrowheads="1"/>
          </p:cNvSpPr>
          <p:nvPr/>
        </p:nvSpPr>
        <p:spPr bwMode="auto">
          <a:xfrm>
            <a:off x="6983413" y="5730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1</a:t>
            </a:r>
            <a:endParaRPr lang="en-US" sz="2000"/>
          </a:p>
        </p:txBody>
      </p:sp>
      <p:sp>
        <p:nvSpPr>
          <p:cNvPr id="685149" name="Rectangle 93"/>
          <p:cNvSpPr>
            <a:spLocks noChangeArrowheads="1"/>
          </p:cNvSpPr>
          <p:nvPr/>
        </p:nvSpPr>
        <p:spPr bwMode="auto">
          <a:xfrm>
            <a:off x="1116013" y="5730875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/>
              <a:t>  1</a:t>
            </a:r>
            <a:endParaRPr lang="en-US" sz="2000"/>
          </a:p>
        </p:txBody>
      </p:sp>
      <p:grpSp>
        <p:nvGrpSpPr>
          <p:cNvPr id="685150" name="Group 94"/>
          <p:cNvGrpSpPr>
            <a:grpSpLocks/>
          </p:cNvGrpSpPr>
          <p:nvPr/>
        </p:nvGrpSpPr>
        <p:grpSpPr bwMode="auto">
          <a:xfrm>
            <a:off x="354013" y="5349875"/>
            <a:ext cx="8534400" cy="457200"/>
            <a:chOff x="240" y="3600"/>
            <a:chExt cx="5376" cy="288"/>
          </a:xfrm>
        </p:grpSpPr>
        <p:sp>
          <p:nvSpPr>
            <p:cNvPr id="685151" name="Rectangle 95"/>
            <p:cNvSpPr>
              <a:spLocks noChangeArrowheads="1"/>
            </p:cNvSpPr>
            <p:nvPr/>
          </p:nvSpPr>
          <p:spPr bwMode="auto">
            <a:xfrm>
              <a:off x="240" y="3600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it-IT" sz="2000"/>
                <a:t>Soluzione</a:t>
              </a:r>
              <a:endParaRPr lang="en-US" sz="2000"/>
            </a:p>
          </p:txBody>
        </p:sp>
        <p:sp>
          <p:nvSpPr>
            <p:cNvPr id="685152" name="Line 96"/>
            <p:cNvSpPr>
              <a:spLocks noChangeShapeType="1"/>
            </p:cNvSpPr>
            <p:nvPr/>
          </p:nvSpPr>
          <p:spPr bwMode="auto">
            <a:xfrm>
              <a:off x="240" y="3648"/>
              <a:ext cx="53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5153" name="Line 97"/>
          <p:cNvSpPr>
            <a:spLocks noChangeShapeType="1"/>
          </p:cNvSpPr>
          <p:nvPr/>
        </p:nvSpPr>
        <p:spPr bwMode="auto">
          <a:xfrm>
            <a:off x="1476375" y="2349500"/>
            <a:ext cx="858838" cy="14763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154" name="Line 98"/>
          <p:cNvSpPr>
            <a:spLocks noChangeShapeType="1"/>
          </p:cNvSpPr>
          <p:nvPr/>
        </p:nvSpPr>
        <p:spPr bwMode="auto">
          <a:xfrm>
            <a:off x="3816350" y="2349500"/>
            <a:ext cx="804863" cy="14763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5155" name="Rectangle 9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ym typeface="Symbol" charset="0"/>
              </a:rPr>
              <a:t>Il problema della catena di montaggio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Text Box 2"/>
          <p:cNvSpPr txBox="1">
            <a:spLocks noChangeArrowheads="1"/>
          </p:cNvSpPr>
          <p:nvPr/>
        </p:nvSpPr>
        <p:spPr bwMode="auto">
          <a:xfrm>
            <a:off x="533400" y="9906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>
                <a:solidFill>
                  <a:srgbClr val="FF0000"/>
                </a:solidFill>
                <a:latin typeface="Comic Sans MS" charset="0"/>
              </a:rPr>
              <a:t>Primo passo</a:t>
            </a:r>
            <a:r>
              <a:rPr lang="it-IT" sz="2400">
                <a:latin typeface="Comic Sans MS" charset="0"/>
              </a:rPr>
              <a:t>: </a:t>
            </a:r>
            <a:r>
              <a:rPr lang="it-IT" sz="2400" i="1">
                <a:latin typeface="Comic Sans MS" charset="0"/>
              </a:rPr>
              <a:t>struttura di una soluzione ottima</a:t>
            </a:r>
            <a:endParaRPr lang="it-IT" sz="2400" i="1" u="sng">
              <a:latin typeface="Comic Sans MS" charset="0"/>
            </a:endParaRPr>
          </a:p>
        </p:txBody>
      </p:sp>
      <p:sp>
        <p:nvSpPr>
          <p:cNvPr id="686083" name="Text Box 3"/>
          <p:cNvSpPr txBox="1">
            <a:spLocks noChangeArrowheads="1"/>
          </p:cNvSpPr>
          <p:nvPr/>
        </p:nvSpPr>
        <p:spPr bwMode="auto">
          <a:xfrm>
            <a:off x="533400" y="1447800"/>
            <a:ext cx="8229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>
                <a:solidFill>
                  <a:srgbClr val="0000CC"/>
                </a:solidFill>
                <a:latin typeface="Comic Sans MS" charset="0"/>
              </a:rPr>
              <a:t>Mostrare che una soluzione ottima si ottiene combinando soluzioni ottime di sottoproblemi.</a:t>
            </a:r>
          </a:p>
          <a:p>
            <a:r>
              <a:rPr lang="it-IT" sz="2400">
                <a:solidFill>
                  <a:srgbClr val="0000CC"/>
                </a:solidFill>
                <a:latin typeface="Comic Sans MS" charset="0"/>
              </a:rPr>
              <a:t>Siano</a:t>
            </a:r>
            <a:endParaRPr lang="it-IT" sz="2400" i="1" u="sng">
              <a:latin typeface="Comic Sans MS" charset="0"/>
            </a:endParaRPr>
          </a:p>
        </p:txBody>
      </p:sp>
      <p:sp>
        <p:nvSpPr>
          <p:cNvPr id="686084" name="Text Box 4"/>
          <p:cNvSpPr txBox="1">
            <a:spLocks noChangeArrowheads="1"/>
          </p:cNvSpPr>
          <p:nvPr/>
        </p:nvSpPr>
        <p:spPr bwMode="auto">
          <a:xfrm>
            <a:off x="457200" y="3124200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le stazioni relative ad una soluzione ottima (con</a:t>
            </a:r>
            <a:r>
              <a:rPr lang="it-IT" sz="2400" dirty="0">
                <a:latin typeface="Comic Sans MS" charset="0"/>
              </a:rPr>
              <a:t>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 = 1 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o</a:t>
            </a:r>
            <a:r>
              <a:rPr lang="it-IT" sz="2400" dirty="0">
                <a:latin typeface="Comic Sans MS" charset="0"/>
              </a:rPr>
              <a:t>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 = </a:t>
            </a:r>
            <a:r>
              <a:rPr lang="it-IT" sz="2400" dirty="0" smtClean="0">
                <a:solidFill>
                  <a:srgbClr val="FF0000"/>
                </a:solidFill>
                <a:latin typeface="Comic Sans MS" charset="0"/>
              </a:rPr>
              <a:t>2</a:t>
            </a:r>
            <a:r>
              <a:rPr lang="it-IT" sz="2400" dirty="0" smtClean="0">
                <a:solidFill>
                  <a:srgbClr val="0000CC"/>
                </a:solidFill>
              </a:rPr>
              <a:t>).</a:t>
            </a:r>
            <a:r>
              <a:rPr lang="it-IT" sz="2400" dirty="0" smtClean="0">
                <a:latin typeface="Comic Sans MS" charset="0"/>
              </a:rPr>
              <a:t> 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Per ogni</a:t>
            </a:r>
            <a:r>
              <a:rPr lang="it-IT" sz="2400" dirty="0">
                <a:latin typeface="Comic Sans MS" charset="0"/>
              </a:rPr>
              <a:t> </a:t>
            </a:r>
            <a:r>
              <a:rPr lang="it-IT" sz="2400" i="1" dirty="0">
                <a:latin typeface="Comic Sans MS" charset="0"/>
              </a:rPr>
              <a:t>j </a:t>
            </a:r>
            <a:r>
              <a:rPr lang="it-IT" sz="2400" dirty="0">
                <a:latin typeface="Comic Sans MS" charset="0"/>
              </a:rPr>
              <a:t>= 1,...,</a:t>
            </a:r>
            <a:r>
              <a:rPr lang="it-IT" sz="2400" i="1" dirty="0">
                <a:latin typeface="Comic Sans MS" charset="0"/>
              </a:rPr>
              <a:t>n</a:t>
            </a:r>
            <a:r>
              <a:rPr lang="it-IT" sz="2400" dirty="0">
                <a:latin typeface="Comic Sans MS" charset="0"/>
              </a:rPr>
              <a:t> </a:t>
            </a:r>
            <a:r>
              <a:rPr lang="it-IT" sz="2400" dirty="0">
                <a:solidFill>
                  <a:srgbClr val="0000CC"/>
                </a:solidFill>
                <a:latin typeface="Comic Sans MS" charset="0"/>
              </a:rPr>
              <a:t>la sequenza</a:t>
            </a:r>
            <a:endParaRPr lang="it-IT" sz="2400" dirty="0">
              <a:latin typeface="Comic Sans MS" charset="0"/>
            </a:endParaRPr>
          </a:p>
        </p:txBody>
      </p:sp>
      <p:graphicFrame>
        <p:nvGraphicFramePr>
          <p:cNvPr id="686085" name="Object 5"/>
          <p:cNvGraphicFramePr>
            <a:graphicFrameLocks noChangeAspect="1"/>
          </p:cNvGraphicFramePr>
          <p:nvPr/>
        </p:nvGraphicFramePr>
        <p:xfrm>
          <a:off x="2457450" y="2514600"/>
          <a:ext cx="27606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" name="Equation" r:id="rId4" imgW="1105297" imgH="241697" progId="Equation.3">
                  <p:embed/>
                </p:oleObj>
              </mc:Choice>
              <mc:Fallback>
                <p:oleObj name="Equation" r:id="rId4" imgW="1105297" imgH="2416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2514600"/>
                        <a:ext cx="27606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086" name="Object 6"/>
          <p:cNvGraphicFramePr>
            <a:graphicFrameLocks noChangeAspect="1"/>
          </p:cNvGraphicFramePr>
          <p:nvPr/>
        </p:nvGraphicFramePr>
        <p:xfrm>
          <a:off x="6858000" y="4648200"/>
          <a:ext cx="76358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" name="Equation" r:id="rId6" imgW="304932" imgH="254176" progId="Equation.3">
                  <p:embed/>
                </p:oleObj>
              </mc:Choice>
              <mc:Fallback>
                <p:oleObj name="Equation" r:id="rId6" imgW="304932" imgH="2541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648200"/>
                        <a:ext cx="763588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087" name="Object 7"/>
          <p:cNvGraphicFramePr>
            <a:graphicFrameLocks noChangeAspect="1"/>
          </p:cNvGraphicFramePr>
          <p:nvPr/>
        </p:nvGraphicFramePr>
        <p:xfrm>
          <a:off x="2381250" y="4038600"/>
          <a:ext cx="2760663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" name="Equation" r:id="rId8" imgW="1105297" imgH="254397" progId="Equation.3">
                  <p:embed/>
                </p:oleObj>
              </mc:Choice>
              <mc:Fallback>
                <p:oleObj name="Equation" r:id="rId8" imgW="1105297" imgH="2543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038600"/>
                        <a:ext cx="2760663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088" name="Text Box 8"/>
          <p:cNvSpPr txBox="1">
            <a:spLocks noChangeArrowheads="1"/>
          </p:cNvSpPr>
          <p:nvPr/>
        </p:nvSpPr>
        <p:spPr bwMode="auto">
          <a:xfrm>
            <a:off x="611560" y="4725144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solidFill>
                  <a:srgbClr val="0000CC"/>
                </a:solidFill>
                <a:latin typeface="Comic Sans MS" charset="0"/>
              </a:rPr>
              <a:t>è la via più breve per arrivare alla stazione</a:t>
            </a:r>
            <a:endParaRPr lang="it-IT" sz="2400">
              <a:latin typeface="Comic Sans MS" charset="0"/>
            </a:endParaRPr>
          </a:p>
        </p:txBody>
      </p:sp>
      <p:sp>
        <p:nvSpPr>
          <p:cNvPr id="686089" name="Text Box 9"/>
          <p:cNvSpPr txBox="1">
            <a:spLocks noChangeArrowheads="1"/>
          </p:cNvSpPr>
          <p:nvPr/>
        </p:nvSpPr>
        <p:spPr bwMode="auto">
          <a:xfrm>
            <a:off x="533400" y="5257800"/>
            <a:ext cx="8229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solidFill>
                  <a:srgbClr val="0000CC"/>
                </a:solidFill>
                <a:latin typeface="Comic Sans MS" charset="0"/>
              </a:rPr>
              <a:t>Quindi una soluzione ottima del problema è estensione di soluzioni ottime di sottoproblemi</a:t>
            </a:r>
            <a:r>
              <a:rPr lang="it-IT" sz="2400">
                <a:latin typeface="Comic Sans MS" charset="0"/>
              </a:rPr>
              <a:t>.</a:t>
            </a:r>
          </a:p>
        </p:txBody>
      </p:sp>
      <p:sp>
        <p:nvSpPr>
          <p:cNvPr id="686090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Verso la soluzione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Text Box 2"/>
          <p:cNvSpPr txBox="1">
            <a:spLocks noChangeArrowheads="1"/>
          </p:cNvSpPr>
          <p:nvPr/>
        </p:nvSpPr>
        <p:spPr bwMode="auto">
          <a:xfrm>
            <a:off x="457200" y="1447800"/>
            <a:ext cx="822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800">
                <a:solidFill>
                  <a:srgbClr val="FF0000"/>
                </a:solidFill>
                <a:latin typeface="Comic Sans MS" charset="0"/>
              </a:rPr>
              <a:t>Secondo passo</a:t>
            </a:r>
            <a:r>
              <a:rPr lang="it-IT" sz="2800">
                <a:latin typeface="Comic Sans MS" charset="0"/>
              </a:rPr>
              <a:t>: </a:t>
            </a:r>
            <a:r>
              <a:rPr lang="it-IT" sz="2800" i="1">
                <a:latin typeface="Comic Sans MS" charset="0"/>
              </a:rPr>
              <a:t>soluzione ricorsiva</a:t>
            </a:r>
            <a:endParaRPr lang="it-IT" sz="2800" i="1" u="sng">
              <a:latin typeface="Comic Sans MS" charset="0"/>
            </a:endParaRPr>
          </a:p>
        </p:txBody>
      </p:sp>
      <p:sp>
        <p:nvSpPr>
          <p:cNvPr id="687107" name="Text Box 3"/>
          <p:cNvSpPr txBox="1">
            <a:spLocks noChangeArrowheads="1"/>
          </p:cNvSpPr>
          <p:nvPr/>
        </p:nvSpPr>
        <p:spPr bwMode="auto">
          <a:xfrm>
            <a:off x="457200" y="2590800"/>
            <a:ext cx="8229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800">
                <a:solidFill>
                  <a:srgbClr val="0000CC"/>
                </a:solidFill>
                <a:latin typeface="Comic Sans MS" charset="0"/>
              </a:rPr>
              <a:t>Esprimere ricorsivamente la soluzione ottima in termini di soluzioni di sottoproblemi.</a:t>
            </a:r>
            <a:endParaRPr lang="it-IT" sz="2800" i="1" u="sng">
              <a:solidFill>
                <a:srgbClr val="0000CC"/>
              </a:solidFill>
              <a:latin typeface="Comic Sans MS" charset="0"/>
            </a:endParaRPr>
          </a:p>
        </p:txBody>
      </p:sp>
      <p:sp>
        <p:nvSpPr>
          <p:cNvPr id="6871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Verso la soluzione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AutoShape 2"/>
          <p:cNvSpPr>
            <a:spLocks noChangeArrowheads="1"/>
          </p:cNvSpPr>
          <p:nvPr/>
        </p:nvSpPr>
        <p:spPr bwMode="auto">
          <a:xfrm>
            <a:off x="1295400" y="3048000"/>
            <a:ext cx="6324600" cy="838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31" name="AutoShape 3"/>
          <p:cNvSpPr>
            <a:spLocks noChangeArrowheads="1"/>
          </p:cNvSpPr>
          <p:nvPr/>
        </p:nvSpPr>
        <p:spPr bwMode="auto">
          <a:xfrm>
            <a:off x="1295400" y="1143000"/>
            <a:ext cx="6324600" cy="838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32" name="Oval 4"/>
          <p:cNvSpPr>
            <a:spLocks noChangeArrowheads="1"/>
          </p:cNvSpPr>
          <p:nvPr/>
        </p:nvSpPr>
        <p:spPr bwMode="auto">
          <a:xfrm>
            <a:off x="1447800" y="1295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a</a:t>
            </a:r>
            <a:r>
              <a:rPr lang="it-IT" sz="2000" baseline="-25000"/>
              <a:t>1,1</a:t>
            </a:r>
            <a:endParaRPr lang="en-US" sz="2000" baseline="-25000"/>
          </a:p>
        </p:txBody>
      </p:sp>
      <p:sp>
        <p:nvSpPr>
          <p:cNvPr id="688133" name="Line 5"/>
          <p:cNvSpPr>
            <a:spLocks noChangeShapeType="1"/>
          </p:cNvSpPr>
          <p:nvPr/>
        </p:nvSpPr>
        <p:spPr bwMode="auto">
          <a:xfrm>
            <a:off x="762000" y="2514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34" name="Line 6"/>
          <p:cNvSpPr>
            <a:spLocks noChangeShapeType="1"/>
          </p:cNvSpPr>
          <p:nvPr/>
        </p:nvSpPr>
        <p:spPr bwMode="auto">
          <a:xfrm flipV="1">
            <a:off x="1219200" y="1828800"/>
            <a:ext cx="3810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35" name="Line 7"/>
          <p:cNvSpPr>
            <a:spLocks noChangeShapeType="1"/>
          </p:cNvSpPr>
          <p:nvPr/>
        </p:nvSpPr>
        <p:spPr bwMode="auto">
          <a:xfrm>
            <a:off x="1219200" y="2514600"/>
            <a:ext cx="3810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36" name="Oval 8"/>
          <p:cNvSpPr>
            <a:spLocks noChangeArrowheads="1"/>
          </p:cNvSpPr>
          <p:nvPr/>
        </p:nvSpPr>
        <p:spPr bwMode="auto">
          <a:xfrm>
            <a:off x="1447800" y="3200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a</a:t>
            </a:r>
            <a:r>
              <a:rPr lang="it-IT" sz="2000" baseline="-25000"/>
              <a:t>2,1</a:t>
            </a:r>
            <a:endParaRPr lang="en-US" sz="2000" baseline="-25000"/>
          </a:p>
        </p:txBody>
      </p:sp>
      <p:sp>
        <p:nvSpPr>
          <p:cNvPr id="688137" name="Oval 9"/>
          <p:cNvSpPr>
            <a:spLocks noChangeArrowheads="1"/>
          </p:cNvSpPr>
          <p:nvPr/>
        </p:nvSpPr>
        <p:spPr bwMode="auto">
          <a:xfrm>
            <a:off x="6934200" y="3200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a</a:t>
            </a:r>
            <a:r>
              <a:rPr lang="it-IT" sz="2000" baseline="-25000"/>
              <a:t>2,n</a:t>
            </a:r>
            <a:endParaRPr lang="en-US" sz="2000" baseline="-25000"/>
          </a:p>
        </p:txBody>
      </p:sp>
      <p:sp>
        <p:nvSpPr>
          <p:cNvPr id="688138" name="Oval 10"/>
          <p:cNvSpPr>
            <a:spLocks noChangeArrowheads="1"/>
          </p:cNvSpPr>
          <p:nvPr/>
        </p:nvSpPr>
        <p:spPr bwMode="auto">
          <a:xfrm>
            <a:off x="5791200" y="3200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a</a:t>
            </a:r>
            <a:r>
              <a:rPr lang="it-IT" sz="2000" baseline="-25000"/>
              <a:t>2,n-1</a:t>
            </a:r>
            <a:endParaRPr lang="en-US" sz="2000" baseline="-25000"/>
          </a:p>
        </p:txBody>
      </p:sp>
      <p:sp>
        <p:nvSpPr>
          <p:cNvPr id="688139" name="Oval 11"/>
          <p:cNvSpPr>
            <a:spLocks noChangeArrowheads="1"/>
          </p:cNvSpPr>
          <p:nvPr/>
        </p:nvSpPr>
        <p:spPr bwMode="auto">
          <a:xfrm>
            <a:off x="3733800" y="3200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a</a:t>
            </a:r>
            <a:r>
              <a:rPr lang="it-IT" sz="2000" baseline="-25000"/>
              <a:t>2,3</a:t>
            </a:r>
            <a:endParaRPr lang="en-US" sz="2000" baseline="-25000"/>
          </a:p>
        </p:txBody>
      </p:sp>
      <p:sp>
        <p:nvSpPr>
          <p:cNvPr id="688140" name="Oval 12"/>
          <p:cNvSpPr>
            <a:spLocks noChangeArrowheads="1"/>
          </p:cNvSpPr>
          <p:nvPr/>
        </p:nvSpPr>
        <p:spPr bwMode="auto">
          <a:xfrm>
            <a:off x="2590800" y="3200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a</a:t>
            </a:r>
            <a:r>
              <a:rPr lang="it-IT" sz="2000" baseline="-25000"/>
              <a:t>2,2</a:t>
            </a:r>
            <a:endParaRPr lang="en-US" sz="2000" baseline="-25000"/>
          </a:p>
        </p:txBody>
      </p:sp>
      <p:sp>
        <p:nvSpPr>
          <p:cNvPr id="688141" name="Oval 13"/>
          <p:cNvSpPr>
            <a:spLocks noChangeArrowheads="1"/>
          </p:cNvSpPr>
          <p:nvPr/>
        </p:nvSpPr>
        <p:spPr bwMode="auto">
          <a:xfrm>
            <a:off x="6934200" y="1295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a</a:t>
            </a:r>
            <a:r>
              <a:rPr lang="it-IT" sz="2000" baseline="-25000"/>
              <a:t>1,n</a:t>
            </a:r>
            <a:endParaRPr lang="en-US" sz="2000" baseline="-25000"/>
          </a:p>
        </p:txBody>
      </p:sp>
      <p:sp>
        <p:nvSpPr>
          <p:cNvPr id="688142" name="Oval 14"/>
          <p:cNvSpPr>
            <a:spLocks noChangeArrowheads="1"/>
          </p:cNvSpPr>
          <p:nvPr/>
        </p:nvSpPr>
        <p:spPr bwMode="auto">
          <a:xfrm>
            <a:off x="5791200" y="1295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a</a:t>
            </a:r>
            <a:r>
              <a:rPr lang="it-IT" sz="2000" baseline="-25000"/>
              <a:t>1,n-1</a:t>
            </a:r>
            <a:endParaRPr lang="en-US" sz="2000" baseline="-25000"/>
          </a:p>
        </p:txBody>
      </p:sp>
      <p:sp>
        <p:nvSpPr>
          <p:cNvPr id="688143" name="Oval 15"/>
          <p:cNvSpPr>
            <a:spLocks noChangeArrowheads="1"/>
          </p:cNvSpPr>
          <p:nvPr/>
        </p:nvSpPr>
        <p:spPr bwMode="auto">
          <a:xfrm>
            <a:off x="3733800" y="1295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a</a:t>
            </a:r>
            <a:r>
              <a:rPr lang="it-IT" sz="2000" baseline="-25000"/>
              <a:t>1,3</a:t>
            </a:r>
            <a:endParaRPr lang="en-US" sz="2000" baseline="-25000"/>
          </a:p>
        </p:txBody>
      </p:sp>
      <p:sp>
        <p:nvSpPr>
          <p:cNvPr id="688144" name="Oval 16"/>
          <p:cNvSpPr>
            <a:spLocks noChangeArrowheads="1"/>
          </p:cNvSpPr>
          <p:nvPr/>
        </p:nvSpPr>
        <p:spPr bwMode="auto">
          <a:xfrm>
            <a:off x="2590800" y="1295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a</a:t>
            </a:r>
            <a:r>
              <a:rPr lang="it-IT" sz="2000" baseline="-25000"/>
              <a:t>1,2</a:t>
            </a:r>
            <a:endParaRPr lang="en-US" sz="2000" baseline="-25000"/>
          </a:p>
        </p:txBody>
      </p:sp>
      <p:sp>
        <p:nvSpPr>
          <p:cNvPr id="688145" name="Line 17"/>
          <p:cNvSpPr>
            <a:spLocks noChangeShapeType="1"/>
          </p:cNvSpPr>
          <p:nvPr/>
        </p:nvSpPr>
        <p:spPr bwMode="auto">
          <a:xfrm flipV="1">
            <a:off x="7391400" y="2514600"/>
            <a:ext cx="5334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46" name="Line 18"/>
          <p:cNvSpPr>
            <a:spLocks noChangeShapeType="1"/>
          </p:cNvSpPr>
          <p:nvPr/>
        </p:nvSpPr>
        <p:spPr bwMode="auto">
          <a:xfrm>
            <a:off x="7391400" y="1752600"/>
            <a:ext cx="5334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47" name="Line 19"/>
          <p:cNvSpPr>
            <a:spLocks noChangeShapeType="1"/>
          </p:cNvSpPr>
          <p:nvPr/>
        </p:nvSpPr>
        <p:spPr bwMode="auto">
          <a:xfrm>
            <a:off x="7924800" y="2514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48" name="Line 20"/>
          <p:cNvSpPr>
            <a:spLocks noChangeShapeType="1"/>
          </p:cNvSpPr>
          <p:nvPr/>
        </p:nvSpPr>
        <p:spPr bwMode="auto">
          <a:xfrm>
            <a:off x="1981200" y="16002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49" name="Line 21"/>
          <p:cNvSpPr>
            <a:spLocks noChangeShapeType="1"/>
          </p:cNvSpPr>
          <p:nvPr/>
        </p:nvSpPr>
        <p:spPr bwMode="auto">
          <a:xfrm>
            <a:off x="1981200" y="34290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50" name="Line 22"/>
          <p:cNvSpPr>
            <a:spLocks noChangeShapeType="1"/>
          </p:cNvSpPr>
          <p:nvPr/>
        </p:nvSpPr>
        <p:spPr bwMode="auto">
          <a:xfrm>
            <a:off x="3124200" y="16002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51" name="Line 23"/>
          <p:cNvSpPr>
            <a:spLocks noChangeShapeType="1"/>
          </p:cNvSpPr>
          <p:nvPr/>
        </p:nvSpPr>
        <p:spPr bwMode="auto">
          <a:xfrm>
            <a:off x="6324600" y="34290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52" name="Line 24"/>
          <p:cNvSpPr>
            <a:spLocks noChangeShapeType="1"/>
          </p:cNvSpPr>
          <p:nvPr/>
        </p:nvSpPr>
        <p:spPr bwMode="auto">
          <a:xfrm>
            <a:off x="6324600" y="16002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53" name="Line 25"/>
          <p:cNvSpPr>
            <a:spLocks noChangeShapeType="1"/>
          </p:cNvSpPr>
          <p:nvPr/>
        </p:nvSpPr>
        <p:spPr bwMode="auto">
          <a:xfrm>
            <a:off x="3124200" y="34290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54" name="Line 26"/>
          <p:cNvSpPr>
            <a:spLocks noChangeShapeType="1"/>
          </p:cNvSpPr>
          <p:nvPr/>
        </p:nvSpPr>
        <p:spPr bwMode="auto">
          <a:xfrm>
            <a:off x="4267200" y="1600200"/>
            <a:ext cx="15240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55" name="Line 27"/>
          <p:cNvSpPr>
            <a:spLocks noChangeShapeType="1"/>
          </p:cNvSpPr>
          <p:nvPr/>
        </p:nvSpPr>
        <p:spPr bwMode="auto">
          <a:xfrm>
            <a:off x="4267200" y="3429000"/>
            <a:ext cx="15240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56" name="Line 28"/>
          <p:cNvSpPr>
            <a:spLocks noChangeShapeType="1"/>
          </p:cNvSpPr>
          <p:nvPr/>
        </p:nvSpPr>
        <p:spPr bwMode="auto">
          <a:xfrm>
            <a:off x="1752600" y="18288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57" name="Line 29"/>
          <p:cNvSpPr>
            <a:spLocks noChangeShapeType="1"/>
          </p:cNvSpPr>
          <p:nvPr/>
        </p:nvSpPr>
        <p:spPr bwMode="auto">
          <a:xfrm flipV="1">
            <a:off x="1752600" y="17526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58" name="Rectangle 30"/>
          <p:cNvSpPr>
            <a:spLocks noChangeArrowheads="1"/>
          </p:cNvSpPr>
          <p:nvPr/>
        </p:nvSpPr>
        <p:spPr bwMode="auto">
          <a:xfrm>
            <a:off x="838200" y="19050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e</a:t>
            </a:r>
            <a:r>
              <a:rPr lang="it-IT" sz="2000" baseline="-25000"/>
              <a:t>1</a:t>
            </a:r>
            <a:endParaRPr lang="en-US" sz="2000"/>
          </a:p>
        </p:txBody>
      </p:sp>
      <p:sp>
        <p:nvSpPr>
          <p:cNvPr id="688159" name="Rectangle 31"/>
          <p:cNvSpPr>
            <a:spLocks noChangeArrowheads="1"/>
          </p:cNvSpPr>
          <p:nvPr/>
        </p:nvSpPr>
        <p:spPr bwMode="auto">
          <a:xfrm>
            <a:off x="838200" y="2590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e</a:t>
            </a:r>
            <a:r>
              <a:rPr lang="it-IT" sz="2000" baseline="-25000"/>
              <a:t>2</a:t>
            </a:r>
            <a:endParaRPr lang="en-US" sz="2000"/>
          </a:p>
        </p:txBody>
      </p:sp>
      <p:sp>
        <p:nvSpPr>
          <p:cNvPr id="688160" name="Rectangle 32"/>
          <p:cNvSpPr>
            <a:spLocks noChangeArrowheads="1"/>
          </p:cNvSpPr>
          <p:nvPr/>
        </p:nvSpPr>
        <p:spPr bwMode="auto">
          <a:xfrm>
            <a:off x="2286000" y="2514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t</a:t>
            </a:r>
            <a:r>
              <a:rPr lang="it-IT" sz="2000" baseline="-25000"/>
              <a:t>1,1</a:t>
            </a:r>
            <a:endParaRPr lang="en-US" sz="2000"/>
          </a:p>
        </p:txBody>
      </p:sp>
      <p:sp>
        <p:nvSpPr>
          <p:cNvPr id="688161" name="Rectangle 33"/>
          <p:cNvSpPr>
            <a:spLocks noChangeArrowheads="1"/>
          </p:cNvSpPr>
          <p:nvPr/>
        </p:nvSpPr>
        <p:spPr bwMode="auto">
          <a:xfrm>
            <a:off x="2286000" y="2057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t</a:t>
            </a:r>
            <a:r>
              <a:rPr lang="it-IT" sz="2000" baseline="-25000"/>
              <a:t>2,1</a:t>
            </a:r>
            <a:endParaRPr lang="en-US" sz="2000"/>
          </a:p>
        </p:txBody>
      </p:sp>
      <p:sp>
        <p:nvSpPr>
          <p:cNvPr id="688162" name="Line 34"/>
          <p:cNvSpPr>
            <a:spLocks noChangeShapeType="1"/>
          </p:cNvSpPr>
          <p:nvPr/>
        </p:nvSpPr>
        <p:spPr bwMode="auto">
          <a:xfrm>
            <a:off x="2895600" y="18288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63" name="Line 35"/>
          <p:cNvSpPr>
            <a:spLocks noChangeShapeType="1"/>
          </p:cNvSpPr>
          <p:nvPr/>
        </p:nvSpPr>
        <p:spPr bwMode="auto">
          <a:xfrm flipV="1">
            <a:off x="2895600" y="17526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64" name="Line 36"/>
          <p:cNvSpPr>
            <a:spLocks noChangeShapeType="1"/>
          </p:cNvSpPr>
          <p:nvPr/>
        </p:nvSpPr>
        <p:spPr bwMode="auto">
          <a:xfrm>
            <a:off x="6096000" y="18288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65" name="Line 37"/>
          <p:cNvSpPr>
            <a:spLocks noChangeShapeType="1"/>
          </p:cNvSpPr>
          <p:nvPr/>
        </p:nvSpPr>
        <p:spPr bwMode="auto">
          <a:xfrm flipV="1">
            <a:off x="6096000" y="17526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66" name="Line 38"/>
          <p:cNvSpPr>
            <a:spLocks noChangeShapeType="1"/>
          </p:cNvSpPr>
          <p:nvPr/>
        </p:nvSpPr>
        <p:spPr bwMode="auto">
          <a:xfrm>
            <a:off x="4038600" y="18288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67" name="Line 39"/>
          <p:cNvSpPr>
            <a:spLocks noChangeShapeType="1"/>
          </p:cNvSpPr>
          <p:nvPr/>
        </p:nvSpPr>
        <p:spPr bwMode="auto">
          <a:xfrm flipV="1">
            <a:off x="4038600" y="1752600"/>
            <a:ext cx="91440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8168" name="Rectangle 40"/>
          <p:cNvSpPr>
            <a:spLocks noChangeArrowheads="1"/>
          </p:cNvSpPr>
          <p:nvPr/>
        </p:nvSpPr>
        <p:spPr bwMode="auto">
          <a:xfrm>
            <a:off x="3429000" y="2514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t</a:t>
            </a:r>
            <a:r>
              <a:rPr lang="it-IT" sz="2000" baseline="-25000"/>
              <a:t>1,2</a:t>
            </a:r>
            <a:endParaRPr lang="en-US" sz="2000"/>
          </a:p>
        </p:txBody>
      </p:sp>
      <p:sp>
        <p:nvSpPr>
          <p:cNvPr id="688169" name="Rectangle 41"/>
          <p:cNvSpPr>
            <a:spLocks noChangeArrowheads="1"/>
          </p:cNvSpPr>
          <p:nvPr/>
        </p:nvSpPr>
        <p:spPr bwMode="auto">
          <a:xfrm>
            <a:off x="3429000" y="2057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t</a:t>
            </a:r>
            <a:r>
              <a:rPr lang="it-IT" sz="2000" baseline="-25000"/>
              <a:t>2,2</a:t>
            </a:r>
            <a:endParaRPr lang="en-US" sz="2000"/>
          </a:p>
        </p:txBody>
      </p:sp>
      <p:sp>
        <p:nvSpPr>
          <p:cNvPr id="688170" name="Rectangle 42"/>
          <p:cNvSpPr>
            <a:spLocks noChangeArrowheads="1"/>
          </p:cNvSpPr>
          <p:nvPr/>
        </p:nvSpPr>
        <p:spPr bwMode="auto">
          <a:xfrm>
            <a:off x="4572000" y="2514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t</a:t>
            </a:r>
            <a:r>
              <a:rPr lang="it-IT" sz="2000" baseline="-25000"/>
              <a:t>1,3</a:t>
            </a:r>
            <a:endParaRPr lang="en-US" sz="2000"/>
          </a:p>
        </p:txBody>
      </p:sp>
      <p:sp>
        <p:nvSpPr>
          <p:cNvPr id="688171" name="Rectangle 43"/>
          <p:cNvSpPr>
            <a:spLocks noChangeArrowheads="1"/>
          </p:cNvSpPr>
          <p:nvPr/>
        </p:nvSpPr>
        <p:spPr bwMode="auto">
          <a:xfrm>
            <a:off x="4572000" y="2057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t</a:t>
            </a:r>
            <a:r>
              <a:rPr lang="it-IT" sz="2000" baseline="-25000"/>
              <a:t>2,3</a:t>
            </a:r>
            <a:endParaRPr lang="en-US" sz="2000"/>
          </a:p>
        </p:txBody>
      </p:sp>
      <p:sp>
        <p:nvSpPr>
          <p:cNvPr id="688172" name="Rectangle 44"/>
          <p:cNvSpPr>
            <a:spLocks noChangeArrowheads="1"/>
          </p:cNvSpPr>
          <p:nvPr/>
        </p:nvSpPr>
        <p:spPr bwMode="auto">
          <a:xfrm>
            <a:off x="6705600" y="2057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t</a:t>
            </a:r>
            <a:r>
              <a:rPr lang="it-IT" sz="2000" baseline="-25000"/>
              <a:t>2,n-1</a:t>
            </a:r>
            <a:endParaRPr lang="en-US" sz="2000"/>
          </a:p>
        </p:txBody>
      </p:sp>
      <p:sp>
        <p:nvSpPr>
          <p:cNvPr id="688173" name="Rectangle 45"/>
          <p:cNvSpPr>
            <a:spLocks noChangeArrowheads="1"/>
          </p:cNvSpPr>
          <p:nvPr/>
        </p:nvSpPr>
        <p:spPr bwMode="auto">
          <a:xfrm>
            <a:off x="6705600" y="2514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t</a:t>
            </a:r>
            <a:r>
              <a:rPr lang="it-IT" sz="2000" baseline="-25000"/>
              <a:t>1,n-1</a:t>
            </a:r>
            <a:endParaRPr lang="en-US" sz="2000"/>
          </a:p>
        </p:txBody>
      </p:sp>
      <p:sp>
        <p:nvSpPr>
          <p:cNvPr id="688174" name="Rectangle 46"/>
          <p:cNvSpPr>
            <a:spLocks noChangeArrowheads="1"/>
          </p:cNvSpPr>
          <p:nvPr/>
        </p:nvSpPr>
        <p:spPr bwMode="auto">
          <a:xfrm>
            <a:off x="7467600" y="1752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x</a:t>
            </a:r>
            <a:r>
              <a:rPr lang="it-IT" sz="2000" baseline="-25000"/>
              <a:t>1</a:t>
            </a:r>
            <a:endParaRPr lang="en-US" sz="2000"/>
          </a:p>
        </p:txBody>
      </p:sp>
      <p:sp>
        <p:nvSpPr>
          <p:cNvPr id="688175" name="Rectangle 47"/>
          <p:cNvSpPr>
            <a:spLocks noChangeArrowheads="1"/>
          </p:cNvSpPr>
          <p:nvPr/>
        </p:nvSpPr>
        <p:spPr bwMode="auto">
          <a:xfrm>
            <a:off x="7467600" y="2819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x</a:t>
            </a:r>
            <a:r>
              <a:rPr lang="it-IT" sz="2000" baseline="-25000"/>
              <a:t>2</a:t>
            </a:r>
            <a:endParaRPr lang="en-US" sz="2000"/>
          </a:p>
        </p:txBody>
      </p:sp>
      <p:sp>
        <p:nvSpPr>
          <p:cNvPr id="688176" name="Rectangle 48"/>
          <p:cNvSpPr>
            <a:spLocks noChangeArrowheads="1"/>
          </p:cNvSpPr>
          <p:nvPr/>
        </p:nvSpPr>
        <p:spPr bwMode="auto">
          <a:xfrm>
            <a:off x="1905000" y="12192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8177" name="Rectangle 49"/>
          <p:cNvSpPr>
            <a:spLocks noChangeArrowheads="1"/>
          </p:cNvSpPr>
          <p:nvPr/>
        </p:nvSpPr>
        <p:spPr bwMode="auto">
          <a:xfrm>
            <a:off x="1905000" y="3352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8178" name="Rectangle 50"/>
          <p:cNvSpPr>
            <a:spLocks noChangeArrowheads="1"/>
          </p:cNvSpPr>
          <p:nvPr/>
        </p:nvSpPr>
        <p:spPr bwMode="auto">
          <a:xfrm>
            <a:off x="3048000" y="3352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8179" name="Rectangle 51"/>
          <p:cNvSpPr>
            <a:spLocks noChangeArrowheads="1"/>
          </p:cNvSpPr>
          <p:nvPr/>
        </p:nvSpPr>
        <p:spPr bwMode="auto">
          <a:xfrm>
            <a:off x="3048000" y="12192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8180" name="Rectangle 52"/>
          <p:cNvSpPr>
            <a:spLocks noChangeArrowheads="1"/>
          </p:cNvSpPr>
          <p:nvPr/>
        </p:nvSpPr>
        <p:spPr bwMode="auto">
          <a:xfrm>
            <a:off x="6248400" y="3352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sp>
        <p:nvSpPr>
          <p:cNvPr id="688181" name="Rectangle 53"/>
          <p:cNvSpPr>
            <a:spLocks noChangeArrowheads="1"/>
          </p:cNvSpPr>
          <p:nvPr/>
        </p:nvSpPr>
        <p:spPr bwMode="auto">
          <a:xfrm>
            <a:off x="6248400" y="12192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  <a:endParaRPr lang="en-US" sz="2000"/>
          </a:p>
        </p:txBody>
      </p:sp>
      <p:graphicFrame>
        <p:nvGraphicFramePr>
          <p:cNvPr id="688182" name="Object 54"/>
          <p:cNvGraphicFramePr>
            <a:graphicFrameLocks/>
          </p:cNvGraphicFramePr>
          <p:nvPr/>
        </p:nvGraphicFramePr>
        <p:xfrm>
          <a:off x="990600" y="3962400"/>
          <a:ext cx="680243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" name="Equation" r:id="rId4" imgW="3581796" imgH="457597" progId="Equation.3">
                  <p:embed/>
                </p:oleObj>
              </mc:Choice>
              <mc:Fallback>
                <p:oleObj name="Equation" r:id="rId4" imgW="3581796" imgH="457597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962400"/>
                        <a:ext cx="6802438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8183" name="Object 55"/>
          <p:cNvGraphicFramePr>
            <a:graphicFrameLocks/>
          </p:cNvGraphicFramePr>
          <p:nvPr/>
        </p:nvGraphicFramePr>
        <p:xfrm>
          <a:off x="990600" y="4876800"/>
          <a:ext cx="68484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4" name="Equation" r:id="rId6" imgW="3607196" imgH="457597" progId="Equation.3">
                  <p:embed/>
                </p:oleObj>
              </mc:Choice>
              <mc:Fallback>
                <p:oleObj name="Equation" r:id="rId6" imgW="3607196" imgH="457597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876800"/>
                        <a:ext cx="684847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8184" name="Object 56"/>
          <p:cNvGraphicFramePr>
            <a:graphicFrameLocks/>
          </p:cNvGraphicFramePr>
          <p:nvPr/>
        </p:nvGraphicFramePr>
        <p:xfrm>
          <a:off x="990600" y="5867400"/>
          <a:ext cx="35448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5" name="Equation" r:id="rId8" imgW="1866487" imgH="216203" progId="Equation.3">
                  <p:embed/>
                </p:oleObj>
              </mc:Choice>
              <mc:Fallback>
                <p:oleObj name="Equation" r:id="rId8" imgW="1866487" imgH="216203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867400"/>
                        <a:ext cx="354488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8185" name="Rectangle 5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Verso la soluzione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Text Box 2"/>
          <p:cNvSpPr txBox="1">
            <a:spLocks noChangeArrowheads="1"/>
          </p:cNvSpPr>
          <p:nvPr/>
        </p:nvSpPr>
        <p:spPr bwMode="auto">
          <a:xfrm>
            <a:off x="1066800" y="1600200"/>
            <a:ext cx="6324600" cy="461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it-IT" sz="2200" dirty="0" err="1">
                <a:solidFill>
                  <a:srgbClr val="800000"/>
                </a:solidFill>
                <a:sym typeface="Symbol" charset="0"/>
              </a:rPr>
              <a:t>TempoMinimo</a:t>
            </a:r>
            <a:r>
              <a:rPr lang="it-IT" sz="2200" dirty="0">
                <a:sym typeface="Symbol" charset="0"/>
              </a:rPr>
              <a:t>(</a:t>
            </a:r>
            <a:r>
              <a:rPr lang="it-IT" sz="2200" dirty="0" err="1">
                <a:sym typeface="Symbol" charset="0"/>
              </a:rPr>
              <a:t>a,t,e,x,n</a:t>
            </a:r>
            <a:r>
              <a:rPr lang="it-IT" sz="2200" dirty="0">
                <a:sym typeface="Symbol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it-IT" sz="2200" dirty="0">
                <a:sym typeface="Symbol" charset="0"/>
              </a:rPr>
              <a:t>    f</a:t>
            </a:r>
            <a:r>
              <a:rPr lang="it-IT" sz="2200" baseline="-25000" dirty="0">
                <a:sym typeface="Symbol" charset="0"/>
              </a:rPr>
              <a:t>1</a:t>
            </a:r>
            <a:r>
              <a:rPr lang="it-IT" sz="2200" dirty="0">
                <a:sym typeface="Symbol" charset="0"/>
              </a:rPr>
              <a:t>[1] </a:t>
            </a:r>
            <a:r>
              <a:rPr lang="it-IT" sz="2200" dirty="0" smtClean="0">
                <a:sym typeface="Symbol" charset="0"/>
              </a:rPr>
              <a:t>:= e</a:t>
            </a:r>
            <a:r>
              <a:rPr lang="it-IT" sz="2200" baseline="-25000" dirty="0" smtClean="0">
                <a:sym typeface="Symbol" charset="0"/>
              </a:rPr>
              <a:t>1</a:t>
            </a:r>
            <a:r>
              <a:rPr lang="it-IT" sz="2200" dirty="0">
                <a:sym typeface="Symbol" charset="0"/>
              </a:rPr>
              <a:t>+a</a:t>
            </a:r>
            <a:r>
              <a:rPr lang="it-IT" sz="2200" baseline="-25000" dirty="0">
                <a:sym typeface="Symbol" charset="0"/>
              </a:rPr>
              <a:t>1,1</a:t>
            </a:r>
            <a:r>
              <a:rPr lang="it-IT" sz="2200" dirty="0">
                <a:sym typeface="Symbol" charset="0"/>
              </a:rPr>
              <a:t>; f</a:t>
            </a:r>
            <a:r>
              <a:rPr lang="it-IT" sz="2200" baseline="-25000" dirty="0">
                <a:sym typeface="Symbol" charset="0"/>
              </a:rPr>
              <a:t>2</a:t>
            </a:r>
            <a:r>
              <a:rPr lang="it-IT" sz="2200" dirty="0">
                <a:sym typeface="Symbol" charset="0"/>
              </a:rPr>
              <a:t>[1] := e</a:t>
            </a:r>
            <a:r>
              <a:rPr lang="it-IT" sz="2200" baseline="-25000" dirty="0" smtClean="0">
                <a:sym typeface="Symbol" charset="0"/>
              </a:rPr>
              <a:t>2</a:t>
            </a:r>
            <a:r>
              <a:rPr lang="it-IT" sz="2200" dirty="0">
                <a:sym typeface="Symbol" charset="0"/>
              </a:rPr>
              <a:t>+a</a:t>
            </a:r>
            <a:r>
              <a:rPr lang="it-IT" sz="2200" baseline="-25000" dirty="0">
                <a:sym typeface="Symbol" charset="0"/>
              </a:rPr>
              <a:t>2,1</a:t>
            </a:r>
            <a:endParaRPr lang="it-IT" sz="2200" dirty="0">
              <a:sym typeface="Symbol" charset="0"/>
            </a:endParaRPr>
          </a:p>
          <a:p>
            <a:pPr>
              <a:lnSpc>
                <a:spcPct val="110000"/>
              </a:lnSpc>
            </a:pPr>
            <a:r>
              <a:rPr lang="it-IT" sz="2200" dirty="0">
                <a:solidFill>
                  <a:schemeClr val="accent2"/>
                </a:solidFill>
                <a:sym typeface="Symbol" charset="0"/>
              </a:rPr>
              <a:t>    </a:t>
            </a:r>
            <a:r>
              <a:rPr lang="it-IT" sz="2200" dirty="0">
                <a:solidFill>
                  <a:srgbClr val="0000FF"/>
                </a:solidFill>
                <a:sym typeface="Symbol" charset="0"/>
              </a:rPr>
              <a:t>for</a:t>
            </a:r>
            <a:r>
              <a:rPr lang="it-IT" sz="2200" dirty="0">
                <a:solidFill>
                  <a:srgbClr val="005FA6"/>
                </a:solidFill>
                <a:sym typeface="Symbol" charset="0"/>
              </a:rPr>
              <a:t> </a:t>
            </a:r>
            <a:r>
              <a:rPr lang="it-IT" sz="2200" dirty="0">
                <a:sym typeface="Symbol" charset="0"/>
              </a:rPr>
              <a:t>j := 2 </a:t>
            </a:r>
            <a:r>
              <a:rPr lang="it-IT" sz="2200" dirty="0">
                <a:solidFill>
                  <a:srgbClr val="0000FF"/>
                </a:solidFill>
                <a:sym typeface="Symbol" charset="0"/>
              </a:rPr>
              <a:t>to</a:t>
            </a:r>
            <a:r>
              <a:rPr lang="it-IT" sz="2200" dirty="0">
                <a:solidFill>
                  <a:srgbClr val="005FA6"/>
                </a:solidFill>
                <a:sym typeface="Symbol" charset="0"/>
              </a:rPr>
              <a:t> </a:t>
            </a:r>
            <a:r>
              <a:rPr lang="it-IT" sz="2200" dirty="0">
                <a:sym typeface="Symbol" charset="0"/>
              </a:rPr>
              <a:t>n </a:t>
            </a:r>
            <a:r>
              <a:rPr lang="it-IT" sz="2200" dirty="0">
                <a:solidFill>
                  <a:srgbClr val="0000FF"/>
                </a:solidFill>
                <a:sym typeface="Symbol" charset="0"/>
              </a:rPr>
              <a:t>do</a:t>
            </a:r>
          </a:p>
          <a:p>
            <a:pPr>
              <a:lnSpc>
                <a:spcPct val="110000"/>
              </a:lnSpc>
            </a:pPr>
            <a:r>
              <a:rPr lang="it-IT" sz="2200" dirty="0">
                <a:sym typeface="Symbol" charset="0"/>
              </a:rPr>
              <a:t>        </a:t>
            </a:r>
            <a:r>
              <a:rPr lang="it-IT" sz="2200" dirty="0" err="1">
                <a:solidFill>
                  <a:srgbClr val="0000FF"/>
                </a:solidFill>
                <a:sym typeface="Symbol" charset="0"/>
              </a:rPr>
              <a:t>if</a:t>
            </a:r>
            <a:r>
              <a:rPr lang="it-IT" sz="2200" dirty="0">
                <a:solidFill>
                  <a:srgbClr val="0000FF"/>
                </a:solidFill>
                <a:sym typeface="Symbol" charset="0"/>
              </a:rPr>
              <a:t> </a:t>
            </a:r>
            <a:r>
              <a:rPr lang="it-IT" sz="2200" dirty="0">
                <a:sym typeface="Symbol" charset="0"/>
              </a:rPr>
              <a:t>f</a:t>
            </a:r>
            <a:r>
              <a:rPr lang="it-IT" sz="2200" baseline="-25000" dirty="0">
                <a:sym typeface="Symbol" charset="0"/>
              </a:rPr>
              <a:t>1</a:t>
            </a:r>
            <a:r>
              <a:rPr lang="it-IT" sz="2200" dirty="0">
                <a:sym typeface="Symbol" charset="0"/>
              </a:rPr>
              <a:t>[j-1]  f</a:t>
            </a:r>
            <a:r>
              <a:rPr lang="it-IT" sz="2200" baseline="-25000" dirty="0">
                <a:sym typeface="Symbol" charset="0"/>
              </a:rPr>
              <a:t>2</a:t>
            </a:r>
            <a:r>
              <a:rPr lang="it-IT" sz="2200" dirty="0">
                <a:sym typeface="Symbol" charset="0"/>
              </a:rPr>
              <a:t>[j-1]+t</a:t>
            </a:r>
            <a:r>
              <a:rPr lang="it-IT" sz="2200" baseline="-25000" dirty="0">
                <a:sym typeface="Symbol" charset="0"/>
              </a:rPr>
              <a:t>2,j-1 </a:t>
            </a:r>
            <a:r>
              <a:rPr lang="it-IT" sz="2200" dirty="0" err="1">
                <a:solidFill>
                  <a:srgbClr val="0000FF"/>
                </a:solidFill>
                <a:sym typeface="Symbol" charset="0"/>
              </a:rPr>
              <a:t>then</a:t>
            </a:r>
            <a:endParaRPr lang="it-IT" sz="2200" dirty="0">
              <a:solidFill>
                <a:srgbClr val="0000FF"/>
              </a:solidFill>
              <a:sym typeface="Symbol" charset="0"/>
            </a:endParaRPr>
          </a:p>
          <a:p>
            <a:pPr>
              <a:lnSpc>
                <a:spcPct val="110000"/>
              </a:lnSpc>
            </a:pPr>
            <a:r>
              <a:rPr lang="it-IT" sz="2200" dirty="0">
                <a:sym typeface="Symbol" charset="0"/>
              </a:rPr>
              <a:t>            f</a:t>
            </a:r>
            <a:r>
              <a:rPr lang="it-IT" sz="2200" baseline="-25000" dirty="0">
                <a:sym typeface="Symbol" charset="0"/>
              </a:rPr>
              <a:t>1</a:t>
            </a:r>
            <a:r>
              <a:rPr lang="it-IT" sz="2200" dirty="0">
                <a:sym typeface="Symbol" charset="0"/>
              </a:rPr>
              <a:t>[j] := f</a:t>
            </a:r>
            <a:r>
              <a:rPr lang="it-IT" sz="2200" baseline="-25000" dirty="0" smtClean="0">
                <a:sym typeface="Symbol" charset="0"/>
              </a:rPr>
              <a:t>1</a:t>
            </a:r>
            <a:r>
              <a:rPr lang="it-IT" sz="2200" dirty="0">
                <a:sym typeface="Symbol" charset="0"/>
              </a:rPr>
              <a:t>[j-1]+a</a:t>
            </a:r>
            <a:r>
              <a:rPr lang="it-IT" sz="2200" baseline="-25000" dirty="0">
                <a:sym typeface="Symbol" charset="0"/>
              </a:rPr>
              <a:t>1,j</a:t>
            </a:r>
            <a:r>
              <a:rPr lang="it-IT" sz="2200" dirty="0">
                <a:sym typeface="Symbol" charset="0"/>
              </a:rPr>
              <a:t>; p</a:t>
            </a:r>
            <a:r>
              <a:rPr lang="it-IT" sz="2200" baseline="-25000" dirty="0">
                <a:sym typeface="Symbol" charset="0"/>
              </a:rPr>
              <a:t>1</a:t>
            </a:r>
            <a:r>
              <a:rPr lang="it-IT" sz="2200" dirty="0">
                <a:sym typeface="Symbol" charset="0"/>
              </a:rPr>
              <a:t>[j] := 1</a:t>
            </a:r>
            <a:endParaRPr lang="it-IT" sz="2200" baseline="-25000" dirty="0">
              <a:sym typeface="Symbol" charset="0"/>
            </a:endParaRPr>
          </a:p>
          <a:p>
            <a:pPr>
              <a:lnSpc>
                <a:spcPct val="110000"/>
              </a:lnSpc>
            </a:pPr>
            <a:r>
              <a:rPr lang="it-IT" sz="2200" dirty="0">
                <a:sym typeface="Symbol" charset="0"/>
              </a:rPr>
              <a:t>        </a:t>
            </a:r>
            <a:r>
              <a:rPr lang="it-IT" sz="2200" dirty="0">
                <a:solidFill>
                  <a:srgbClr val="0000FF"/>
                </a:solidFill>
                <a:sym typeface="Symbol" charset="0"/>
              </a:rPr>
              <a:t>else </a:t>
            </a:r>
            <a:r>
              <a:rPr lang="it-IT" sz="2200" dirty="0" smtClean="0">
                <a:sym typeface="Symbol" charset="0"/>
              </a:rPr>
              <a:t>f</a:t>
            </a:r>
            <a:r>
              <a:rPr lang="it-IT" sz="2200" baseline="-25000" dirty="0" smtClean="0">
                <a:sym typeface="Symbol" charset="0"/>
              </a:rPr>
              <a:t>1</a:t>
            </a:r>
            <a:r>
              <a:rPr lang="it-IT" sz="2200" dirty="0">
                <a:sym typeface="Symbol" charset="0"/>
              </a:rPr>
              <a:t>[j] := f</a:t>
            </a:r>
            <a:r>
              <a:rPr lang="it-IT" sz="2200" baseline="-25000" dirty="0" smtClean="0">
                <a:sym typeface="Symbol" charset="0"/>
              </a:rPr>
              <a:t>2</a:t>
            </a:r>
            <a:r>
              <a:rPr lang="it-IT" sz="2200" dirty="0">
                <a:sym typeface="Symbol" charset="0"/>
              </a:rPr>
              <a:t>[j-1]+t</a:t>
            </a:r>
            <a:r>
              <a:rPr lang="it-IT" sz="2200" baseline="-25000" dirty="0">
                <a:sym typeface="Symbol" charset="0"/>
              </a:rPr>
              <a:t>2,j-1</a:t>
            </a:r>
            <a:r>
              <a:rPr lang="it-IT" sz="2200" dirty="0">
                <a:sym typeface="Symbol" charset="0"/>
              </a:rPr>
              <a:t>+a</a:t>
            </a:r>
            <a:r>
              <a:rPr lang="it-IT" sz="2200" baseline="-25000" dirty="0">
                <a:sym typeface="Symbol" charset="0"/>
              </a:rPr>
              <a:t>1,j</a:t>
            </a:r>
            <a:r>
              <a:rPr lang="it-IT" sz="2200" dirty="0">
                <a:sym typeface="Symbol" charset="0"/>
              </a:rPr>
              <a:t>; p</a:t>
            </a:r>
            <a:r>
              <a:rPr lang="it-IT" sz="2200" baseline="-25000" dirty="0">
                <a:sym typeface="Symbol" charset="0"/>
              </a:rPr>
              <a:t>1</a:t>
            </a:r>
            <a:r>
              <a:rPr lang="it-IT" sz="2200" dirty="0">
                <a:sym typeface="Symbol" charset="0"/>
              </a:rPr>
              <a:t>[j] := 2</a:t>
            </a:r>
          </a:p>
          <a:p>
            <a:pPr>
              <a:lnSpc>
                <a:spcPct val="110000"/>
              </a:lnSpc>
            </a:pPr>
            <a:r>
              <a:rPr lang="it-IT" sz="2200" dirty="0">
                <a:sym typeface="Symbol" charset="0"/>
              </a:rPr>
              <a:t>        </a:t>
            </a:r>
            <a:r>
              <a:rPr lang="it-IT" sz="2200" dirty="0" err="1">
                <a:solidFill>
                  <a:srgbClr val="0000FF"/>
                </a:solidFill>
                <a:sym typeface="Symbol" charset="0"/>
              </a:rPr>
              <a:t>if</a:t>
            </a:r>
            <a:r>
              <a:rPr lang="it-IT" sz="2200" dirty="0">
                <a:solidFill>
                  <a:srgbClr val="0000FF"/>
                </a:solidFill>
                <a:sym typeface="Symbol" charset="0"/>
              </a:rPr>
              <a:t> </a:t>
            </a:r>
            <a:r>
              <a:rPr lang="it-IT" sz="2200" dirty="0" smtClean="0">
                <a:sym typeface="Symbol" charset="0"/>
              </a:rPr>
              <a:t>f</a:t>
            </a:r>
            <a:r>
              <a:rPr lang="it-IT" sz="2200" baseline="-25000" dirty="0" smtClean="0">
                <a:sym typeface="Symbol" charset="0"/>
              </a:rPr>
              <a:t>2</a:t>
            </a:r>
            <a:r>
              <a:rPr lang="it-IT" sz="2200" dirty="0">
                <a:sym typeface="Symbol" charset="0"/>
              </a:rPr>
              <a:t>[j-1]  f</a:t>
            </a:r>
            <a:r>
              <a:rPr lang="it-IT" sz="2200" baseline="-25000" dirty="0">
                <a:sym typeface="Symbol" charset="0"/>
              </a:rPr>
              <a:t>1</a:t>
            </a:r>
            <a:r>
              <a:rPr lang="it-IT" sz="2200" dirty="0">
                <a:sym typeface="Symbol" charset="0"/>
              </a:rPr>
              <a:t>[j-1]+t</a:t>
            </a:r>
            <a:r>
              <a:rPr lang="it-IT" sz="2200" baseline="-25000" dirty="0">
                <a:sym typeface="Symbol" charset="0"/>
              </a:rPr>
              <a:t>1,j-1 </a:t>
            </a:r>
            <a:r>
              <a:rPr lang="it-IT" sz="2200" dirty="0" err="1">
                <a:solidFill>
                  <a:srgbClr val="0000FF"/>
                </a:solidFill>
                <a:sym typeface="Symbol" charset="0"/>
              </a:rPr>
              <a:t>then</a:t>
            </a:r>
            <a:endParaRPr lang="it-IT" sz="2200" dirty="0">
              <a:solidFill>
                <a:schemeClr val="accent2"/>
              </a:solidFill>
              <a:sym typeface="Symbol" charset="0"/>
            </a:endParaRPr>
          </a:p>
          <a:p>
            <a:pPr>
              <a:lnSpc>
                <a:spcPct val="110000"/>
              </a:lnSpc>
            </a:pPr>
            <a:r>
              <a:rPr lang="it-IT" sz="2200" dirty="0">
                <a:sym typeface="Symbol" charset="0"/>
              </a:rPr>
              <a:t>            f</a:t>
            </a:r>
            <a:r>
              <a:rPr lang="it-IT" sz="2200" baseline="-25000" dirty="0">
                <a:sym typeface="Symbol" charset="0"/>
              </a:rPr>
              <a:t>2</a:t>
            </a:r>
            <a:r>
              <a:rPr lang="it-IT" sz="2200" dirty="0">
                <a:sym typeface="Symbol" charset="0"/>
              </a:rPr>
              <a:t>[j] := f</a:t>
            </a:r>
            <a:r>
              <a:rPr lang="it-IT" sz="2200" baseline="-25000" dirty="0" smtClean="0">
                <a:sym typeface="Symbol" charset="0"/>
              </a:rPr>
              <a:t>2</a:t>
            </a:r>
            <a:r>
              <a:rPr lang="it-IT" sz="2200" dirty="0">
                <a:sym typeface="Symbol" charset="0"/>
              </a:rPr>
              <a:t>[j-1]+a</a:t>
            </a:r>
            <a:r>
              <a:rPr lang="it-IT" sz="2200" baseline="-25000" dirty="0">
                <a:sym typeface="Symbol" charset="0"/>
              </a:rPr>
              <a:t>2,j</a:t>
            </a:r>
            <a:r>
              <a:rPr lang="it-IT" sz="2200" dirty="0">
                <a:sym typeface="Symbol" charset="0"/>
              </a:rPr>
              <a:t>; p</a:t>
            </a:r>
            <a:r>
              <a:rPr lang="it-IT" sz="2200" baseline="-25000" dirty="0">
                <a:sym typeface="Symbol" charset="0"/>
              </a:rPr>
              <a:t>2</a:t>
            </a:r>
            <a:r>
              <a:rPr lang="it-IT" sz="2200" dirty="0">
                <a:sym typeface="Symbol" charset="0"/>
              </a:rPr>
              <a:t>[j] := 2</a:t>
            </a:r>
            <a:endParaRPr lang="it-IT" sz="2200" baseline="-25000" dirty="0">
              <a:sym typeface="Symbol" charset="0"/>
            </a:endParaRPr>
          </a:p>
          <a:p>
            <a:pPr>
              <a:lnSpc>
                <a:spcPct val="110000"/>
              </a:lnSpc>
            </a:pPr>
            <a:r>
              <a:rPr lang="it-IT" sz="2200" dirty="0">
                <a:sym typeface="Symbol" charset="0"/>
              </a:rPr>
              <a:t>        </a:t>
            </a:r>
            <a:r>
              <a:rPr lang="it-IT" sz="2200" dirty="0">
                <a:solidFill>
                  <a:srgbClr val="0000FF"/>
                </a:solidFill>
                <a:sym typeface="Symbol" charset="0"/>
              </a:rPr>
              <a:t>else </a:t>
            </a:r>
            <a:r>
              <a:rPr lang="it-IT" sz="2200" dirty="0" smtClean="0">
                <a:sym typeface="Symbol" charset="0"/>
              </a:rPr>
              <a:t>f</a:t>
            </a:r>
            <a:r>
              <a:rPr lang="it-IT" sz="2200" baseline="-25000" dirty="0" smtClean="0">
                <a:sym typeface="Symbol" charset="0"/>
              </a:rPr>
              <a:t>2</a:t>
            </a:r>
            <a:r>
              <a:rPr lang="it-IT" sz="2200" dirty="0">
                <a:sym typeface="Symbol" charset="0"/>
              </a:rPr>
              <a:t>[j] := f</a:t>
            </a:r>
            <a:r>
              <a:rPr lang="it-IT" sz="2200" baseline="-25000" dirty="0" smtClean="0">
                <a:sym typeface="Symbol" charset="0"/>
              </a:rPr>
              <a:t>1</a:t>
            </a:r>
            <a:r>
              <a:rPr lang="it-IT" sz="2200" dirty="0">
                <a:sym typeface="Symbol" charset="0"/>
              </a:rPr>
              <a:t>[j-1]+t</a:t>
            </a:r>
            <a:r>
              <a:rPr lang="it-IT" sz="2200" baseline="-25000" dirty="0">
                <a:sym typeface="Symbol" charset="0"/>
              </a:rPr>
              <a:t>1,j-1</a:t>
            </a:r>
            <a:r>
              <a:rPr lang="it-IT" sz="2200" dirty="0">
                <a:sym typeface="Symbol" charset="0"/>
              </a:rPr>
              <a:t>+a</a:t>
            </a:r>
            <a:r>
              <a:rPr lang="it-IT" sz="2200" baseline="-25000" dirty="0">
                <a:sym typeface="Symbol" charset="0"/>
              </a:rPr>
              <a:t>2,j</a:t>
            </a:r>
            <a:r>
              <a:rPr lang="it-IT" sz="2200" dirty="0">
                <a:sym typeface="Symbol" charset="0"/>
              </a:rPr>
              <a:t>; p</a:t>
            </a:r>
            <a:r>
              <a:rPr lang="it-IT" sz="2200" baseline="-25000" dirty="0">
                <a:sym typeface="Symbol" charset="0"/>
              </a:rPr>
              <a:t>2</a:t>
            </a:r>
            <a:r>
              <a:rPr lang="it-IT" sz="2200" dirty="0">
                <a:sym typeface="Symbol" charset="0"/>
              </a:rPr>
              <a:t>[j] := 1</a:t>
            </a:r>
          </a:p>
          <a:p>
            <a:pPr>
              <a:lnSpc>
                <a:spcPct val="110000"/>
              </a:lnSpc>
            </a:pPr>
            <a:r>
              <a:rPr lang="it-IT" sz="2200" dirty="0">
                <a:sym typeface="Symbol" charset="0"/>
              </a:rPr>
              <a:t>     </a:t>
            </a:r>
            <a:r>
              <a:rPr lang="it-IT" sz="2200" dirty="0" err="1">
                <a:solidFill>
                  <a:srgbClr val="0000FF"/>
                </a:solidFill>
                <a:sym typeface="Symbol" charset="0"/>
              </a:rPr>
              <a:t>if</a:t>
            </a:r>
            <a:r>
              <a:rPr lang="it-IT" sz="2200" dirty="0">
                <a:solidFill>
                  <a:srgbClr val="0000FF"/>
                </a:solidFill>
                <a:sym typeface="Symbol" charset="0"/>
              </a:rPr>
              <a:t> </a:t>
            </a:r>
            <a:r>
              <a:rPr lang="it-IT" sz="2200" dirty="0" smtClean="0">
                <a:sym typeface="Symbol" charset="0"/>
              </a:rPr>
              <a:t>f</a:t>
            </a:r>
            <a:r>
              <a:rPr lang="it-IT" sz="2200" baseline="-25000" dirty="0" smtClean="0">
                <a:sym typeface="Symbol" charset="0"/>
              </a:rPr>
              <a:t>1</a:t>
            </a:r>
            <a:r>
              <a:rPr lang="it-IT" sz="2200" dirty="0">
                <a:sym typeface="Symbol" charset="0"/>
              </a:rPr>
              <a:t>[</a:t>
            </a:r>
            <a:r>
              <a:rPr lang="it-IT" sz="2200" dirty="0" err="1">
                <a:sym typeface="Symbol" charset="0"/>
              </a:rPr>
              <a:t>n</a:t>
            </a:r>
            <a:r>
              <a:rPr lang="it-IT" sz="2200" dirty="0">
                <a:sym typeface="Symbol" charset="0"/>
              </a:rPr>
              <a:t>]+x</a:t>
            </a:r>
            <a:r>
              <a:rPr lang="it-IT" sz="2200" baseline="-25000" dirty="0">
                <a:sym typeface="Symbol" charset="0"/>
              </a:rPr>
              <a:t>1</a:t>
            </a:r>
            <a:r>
              <a:rPr lang="it-IT" sz="2200" dirty="0">
                <a:sym typeface="Symbol" charset="0"/>
              </a:rPr>
              <a:t>  f</a:t>
            </a:r>
            <a:r>
              <a:rPr lang="it-IT" sz="2200" baseline="-25000" dirty="0">
                <a:sym typeface="Symbol" charset="0"/>
              </a:rPr>
              <a:t>2</a:t>
            </a:r>
            <a:r>
              <a:rPr lang="it-IT" sz="2200" dirty="0">
                <a:sym typeface="Symbol" charset="0"/>
              </a:rPr>
              <a:t>[</a:t>
            </a:r>
            <a:r>
              <a:rPr lang="it-IT" sz="2200" dirty="0" err="1">
                <a:sym typeface="Symbol" charset="0"/>
              </a:rPr>
              <a:t>n</a:t>
            </a:r>
            <a:r>
              <a:rPr lang="it-IT" sz="2200" dirty="0">
                <a:sym typeface="Symbol" charset="0"/>
              </a:rPr>
              <a:t>]+x</a:t>
            </a:r>
            <a:r>
              <a:rPr lang="it-IT" sz="2200" baseline="-25000" dirty="0">
                <a:sym typeface="Symbol" charset="0"/>
              </a:rPr>
              <a:t>2</a:t>
            </a:r>
            <a:r>
              <a:rPr lang="it-IT" sz="2200" dirty="0">
                <a:sym typeface="Symbol" charset="0"/>
              </a:rPr>
              <a:t> </a:t>
            </a:r>
            <a:r>
              <a:rPr lang="it-IT" sz="2200" dirty="0" err="1">
                <a:solidFill>
                  <a:srgbClr val="0000FF"/>
                </a:solidFill>
                <a:sym typeface="Symbol" charset="0"/>
              </a:rPr>
              <a:t>then</a:t>
            </a:r>
            <a:endParaRPr lang="it-IT" sz="2200" dirty="0">
              <a:solidFill>
                <a:schemeClr val="accent2"/>
              </a:solidFill>
              <a:sym typeface="Symbol" charset="0"/>
            </a:endParaRPr>
          </a:p>
          <a:p>
            <a:pPr>
              <a:lnSpc>
                <a:spcPct val="110000"/>
              </a:lnSpc>
            </a:pPr>
            <a:r>
              <a:rPr lang="it-IT" sz="2200" dirty="0">
                <a:sym typeface="Symbol" charset="0"/>
              </a:rPr>
              <a:t>        f</a:t>
            </a:r>
            <a:r>
              <a:rPr lang="it-IT" sz="2200" baseline="-25000" dirty="0">
                <a:sym typeface="Symbol" charset="0"/>
              </a:rPr>
              <a:t>*</a:t>
            </a:r>
            <a:r>
              <a:rPr lang="it-IT" sz="2200" dirty="0">
                <a:sym typeface="Symbol" charset="0"/>
              </a:rPr>
              <a:t> := f</a:t>
            </a:r>
            <a:r>
              <a:rPr lang="it-IT" sz="2200" baseline="-25000" dirty="0" smtClean="0">
                <a:sym typeface="Symbol" charset="0"/>
              </a:rPr>
              <a:t>1</a:t>
            </a:r>
            <a:r>
              <a:rPr lang="it-IT" sz="2200" dirty="0">
                <a:sym typeface="Symbol" charset="0"/>
              </a:rPr>
              <a:t>[n]+x</a:t>
            </a:r>
            <a:r>
              <a:rPr lang="it-IT" sz="2200" baseline="-25000" dirty="0">
                <a:sym typeface="Symbol" charset="0"/>
              </a:rPr>
              <a:t>1</a:t>
            </a:r>
            <a:r>
              <a:rPr lang="it-IT" sz="2200" dirty="0">
                <a:sym typeface="Symbol" charset="0"/>
              </a:rPr>
              <a:t>, p</a:t>
            </a:r>
            <a:r>
              <a:rPr lang="it-IT" sz="2200" baseline="-25000" dirty="0">
                <a:sym typeface="Symbol" charset="0"/>
              </a:rPr>
              <a:t>*</a:t>
            </a:r>
            <a:r>
              <a:rPr lang="it-IT" sz="2200" dirty="0">
                <a:sym typeface="Symbol" charset="0"/>
              </a:rPr>
              <a:t> := 1</a:t>
            </a:r>
            <a:endParaRPr lang="it-IT" sz="2200" baseline="-25000" dirty="0">
              <a:sym typeface="Symbol" charset="0"/>
            </a:endParaRPr>
          </a:p>
          <a:p>
            <a:pPr>
              <a:lnSpc>
                <a:spcPct val="110000"/>
              </a:lnSpc>
            </a:pPr>
            <a:r>
              <a:rPr lang="it-IT" sz="2200" dirty="0">
                <a:sym typeface="Symbol" charset="0"/>
              </a:rPr>
              <a:t>    </a:t>
            </a:r>
            <a:r>
              <a:rPr lang="it-IT" sz="2200" dirty="0">
                <a:solidFill>
                  <a:srgbClr val="0000FF"/>
                </a:solidFill>
                <a:sym typeface="Symbol" charset="0"/>
              </a:rPr>
              <a:t>else </a:t>
            </a:r>
            <a:r>
              <a:rPr lang="it-IT" sz="2200" dirty="0" smtClean="0">
                <a:sym typeface="Symbol" charset="0"/>
              </a:rPr>
              <a:t>f</a:t>
            </a:r>
            <a:r>
              <a:rPr lang="it-IT" sz="2200" baseline="-25000" dirty="0">
                <a:sym typeface="Symbol" charset="0"/>
              </a:rPr>
              <a:t>*</a:t>
            </a:r>
            <a:r>
              <a:rPr lang="it-IT" sz="2200" dirty="0">
                <a:sym typeface="Symbol" charset="0"/>
              </a:rPr>
              <a:t> := f</a:t>
            </a:r>
            <a:r>
              <a:rPr lang="it-IT" sz="2200" baseline="-25000" dirty="0" smtClean="0">
                <a:sym typeface="Symbol" charset="0"/>
              </a:rPr>
              <a:t>2</a:t>
            </a:r>
            <a:r>
              <a:rPr lang="it-IT" sz="2200" dirty="0">
                <a:sym typeface="Symbol" charset="0"/>
              </a:rPr>
              <a:t>[n]+x</a:t>
            </a:r>
            <a:r>
              <a:rPr lang="it-IT" sz="2200" baseline="-25000" dirty="0">
                <a:sym typeface="Symbol" charset="0"/>
              </a:rPr>
              <a:t>2</a:t>
            </a:r>
            <a:r>
              <a:rPr lang="it-IT" sz="2200" dirty="0">
                <a:sym typeface="Symbol" charset="0"/>
              </a:rPr>
              <a:t>, p</a:t>
            </a:r>
            <a:r>
              <a:rPr lang="it-IT" sz="2200" baseline="-25000" dirty="0">
                <a:sym typeface="Symbol" charset="0"/>
              </a:rPr>
              <a:t>*</a:t>
            </a:r>
            <a:r>
              <a:rPr lang="it-IT" sz="2200" dirty="0">
                <a:sym typeface="Symbol" charset="0"/>
              </a:rPr>
              <a:t> := 2</a:t>
            </a:r>
          </a:p>
        </p:txBody>
      </p:sp>
      <p:sp>
        <p:nvSpPr>
          <p:cNvPr id="689155" name="Text Box 3"/>
          <p:cNvSpPr txBox="1">
            <a:spLocks noChangeArrowheads="1"/>
          </p:cNvSpPr>
          <p:nvPr/>
        </p:nvSpPr>
        <p:spPr bwMode="auto">
          <a:xfrm>
            <a:off x="381000" y="11430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Terzo passo</a:t>
            </a:r>
            <a:r>
              <a:rPr lang="it-IT" sz="2400" dirty="0">
                <a:latin typeface="Comic Sans MS" charset="0"/>
              </a:rPr>
              <a:t>: </a:t>
            </a:r>
            <a:r>
              <a:rPr lang="it-IT" sz="2400" i="1" dirty="0" smtClean="0">
                <a:latin typeface="Comic Sans MS" charset="0"/>
              </a:rPr>
              <a:t>calcolo iterativo del </a:t>
            </a:r>
            <a:r>
              <a:rPr lang="it-IT" sz="2400" i="1" dirty="0">
                <a:latin typeface="Comic Sans MS" charset="0"/>
              </a:rPr>
              <a:t>tempo minimo</a:t>
            </a:r>
            <a:endParaRPr lang="it-IT" sz="2400" i="1" u="sng" dirty="0">
              <a:latin typeface="Comic Sans MS" charset="0"/>
            </a:endParaRPr>
          </a:p>
        </p:txBody>
      </p:sp>
      <p:sp>
        <p:nvSpPr>
          <p:cNvPr id="6891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Verso la soluzione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Text Box 2"/>
          <p:cNvSpPr txBox="1">
            <a:spLocks noChangeArrowheads="1"/>
          </p:cNvSpPr>
          <p:nvPr/>
        </p:nvSpPr>
        <p:spPr bwMode="auto">
          <a:xfrm>
            <a:off x="1752600" y="2667000"/>
            <a:ext cx="44958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PercorsoVeloce</a:t>
            </a:r>
            <a:r>
              <a:rPr lang="it-IT" sz="2400" dirty="0">
                <a:sym typeface="Symbol" charset="0"/>
              </a:rPr>
              <a:t>(</a:t>
            </a:r>
            <a:r>
              <a:rPr lang="it-IT" sz="2400" dirty="0" err="1">
                <a:sym typeface="Symbol" charset="0"/>
              </a:rPr>
              <a:t>p,n</a:t>
            </a:r>
            <a:r>
              <a:rPr lang="it-IT" sz="2400" dirty="0">
                <a:sym typeface="Symbol" charset="0"/>
              </a:rPr>
              <a:t>)</a:t>
            </a:r>
          </a:p>
          <a:p>
            <a:r>
              <a:rPr lang="it-IT" sz="2400" dirty="0">
                <a:sym typeface="Symbol" charset="0"/>
              </a:rPr>
              <a:t>    c := p</a:t>
            </a:r>
            <a:r>
              <a:rPr lang="it-IT" sz="2400" baseline="-25000" dirty="0">
                <a:sym typeface="Symbol" charset="0"/>
              </a:rPr>
              <a:t>*</a:t>
            </a:r>
            <a:endParaRPr lang="it-IT" sz="2400" dirty="0"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S[n] := c</a:t>
            </a:r>
          </a:p>
          <a:p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for</a:t>
            </a:r>
            <a:r>
              <a:rPr lang="it-IT" sz="2400" dirty="0">
                <a:solidFill>
                  <a:srgbClr val="005FA6"/>
                </a:solidFill>
                <a:sym typeface="Symbol" charset="0"/>
              </a:rPr>
              <a:t> </a:t>
            </a:r>
            <a:r>
              <a:rPr lang="it-IT" sz="2400" dirty="0" smtClean="0">
                <a:sym typeface="Symbol" charset="0"/>
              </a:rPr>
              <a:t>j </a:t>
            </a:r>
            <a:r>
              <a:rPr lang="it-IT" sz="2400" dirty="0">
                <a:sym typeface="Symbol" charset="0"/>
              </a:rPr>
              <a:t>:= n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downto</a:t>
            </a:r>
            <a:r>
              <a:rPr lang="it-IT" sz="2400" dirty="0">
                <a:solidFill>
                  <a:srgbClr val="005FA6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2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</a:t>
            </a:r>
          </a:p>
          <a:p>
            <a:r>
              <a:rPr lang="it-IT" sz="2400" dirty="0">
                <a:sym typeface="Symbol" charset="0"/>
              </a:rPr>
              <a:t>        c := p</a:t>
            </a:r>
            <a:r>
              <a:rPr lang="it-IT" sz="2400" baseline="-25000" dirty="0" smtClean="0">
                <a:sym typeface="Symbol" charset="0"/>
              </a:rPr>
              <a:t>c</a:t>
            </a:r>
            <a:r>
              <a:rPr lang="it-IT" sz="2400" dirty="0">
                <a:sym typeface="Symbol" charset="0"/>
              </a:rPr>
              <a:t>[j] </a:t>
            </a:r>
          </a:p>
          <a:p>
            <a:r>
              <a:rPr lang="it-IT" sz="2400" dirty="0">
                <a:sym typeface="Symbol" charset="0"/>
              </a:rPr>
              <a:t>        S[j-1] := c </a:t>
            </a:r>
          </a:p>
        </p:txBody>
      </p:sp>
      <p:sp>
        <p:nvSpPr>
          <p:cNvPr id="691203" name="Text Box 3"/>
          <p:cNvSpPr txBox="1">
            <a:spLocks noChangeArrowheads="1"/>
          </p:cNvSpPr>
          <p:nvPr/>
        </p:nvSpPr>
        <p:spPr bwMode="auto">
          <a:xfrm>
            <a:off x="457200" y="1524000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Quarto passo</a:t>
            </a:r>
            <a:r>
              <a:rPr lang="it-IT" sz="2400" dirty="0">
                <a:latin typeface="Comic Sans MS" charset="0"/>
              </a:rPr>
              <a:t>: </a:t>
            </a:r>
            <a:r>
              <a:rPr lang="it-IT" sz="2400" i="1" dirty="0">
                <a:latin typeface="Comic Sans MS" charset="0"/>
              </a:rPr>
              <a:t>calcolo del percorso minimo</a:t>
            </a:r>
            <a:endParaRPr lang="it-IT" sz="2400" i="1" u="sng" dirty="0">
              <a:latin typeface="Comic Sans MS" charset="0"/>
            </a:endParaRPr>
          </a:p>
        </p:txBody>
      </p:sp>
      <p:sp>
        <p:nvSpPr>
          <p:cNvPr id="6912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Verso la soluzione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8" name="Text Box 4"/>
          <p:cNvSpPr txBox="1">
            <a:spLocks noChangeArrowheads="1"/>
          </p:cNvSpPr>
          <p:nvPr/>
        </p:nvSpPr>
        <p:spPr bwMode="auto">
          <a:xfrm>
            <a:off x="533400" y="5562600"/>
            <a:ext cx="807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latin typeface="Comic Sans MS" charset="0"/>
              </a:rPr>
              <a:t>Esso richiede </a:t>
            </a:r>
            <a:r>
              <a:rPr lang="it-IT" sz="2400" dirty="0" err="1">
                <a:solidFill>
                  <a:srgbClr val="FF0000"/>
                </a:solidFill>
                <a:latin typeface="Comic Sans MS" charset="0"/>
              </a:rPr>
              <a:t>m</a:t>
            </a:r>
            <a:r>
              <a:rPr lang="it-IT" sz="2400" dirty="0" err="1" smtClean="0">
                <a:solidFill>
                  <a:srgbClr val="FF0000"/>
                </a:solidFill>
                <a:latin typeface="Comic Sans MS" charset="0"/>
                <a:sym typeface="Symbol" charset="0"/>
              </a:rPr>
              <a:t></a:t>
            </a:r>
            <a:r>
              <a:rPr lang="it-IT" sz="2400" dirty="0" err="1" smtClean="0">
                <a:solidFill>
                  <a:srgbClr val="FF0000"/>
                </a:solidFill>
                <a:latin typeface="Comic Sans MS" charset="0"/>
              </a:rPr>
              <a:t>p</a:t>
            </a:r>
            <a:r>
              <a:rPr lang="it-IT" sz="2400" dirty="0" err="1" smtClean="0">
                <a:solidFill>
                  <a:srgbClr val="FF0000"/>
                </a:solidFill>
                <a:latin typeface="Comic Sans MS" charset="0"/>
                <a:sym typeface="Symbol" charset="0"/>
              </a:rPr>
              <a:t></a:t>
            </a:r>
            <a:r>
              <a:rPr lang="it-IT" sz="2400" dirty="0" err="1" smtClean="0">
                <a:solidFill>
                  <a:srgbClr val="FF0000"/>
                </a:solidFill>
                <a:latin typeface="Comic Sans MS" charset="0"/>
              </a:rPr>
              <a:t>n</a:t>
            </a:r>
            <a:r>
              <a:rPr lang="it-IT" sz="2400" dirty="0" smtClean="0">
                <a:solidFill>
                  <a:srgbClr val="FF0000"/>
                </a:solidFill>
                <a:latin typeface="Comic Sans MS" charset="0"/>
              </a:rPr>
              <a:t> </a:t>
            </a:r>
            <a:r>
              <a:rPr lang="it-IT" sz="2400" dirty="0">
                <a:latin typeface="Comic Sans MS" charset="0"/>
              </a:rPr>
              <a:t>moltiplicazioni </a:t>
            </a:r>
            <a:r>
              <a:rPr lang="it-IT" sz="2400" dirty="0" smtClean="0">
                <a:latin typeface="Comic Sans MS" charset="0"/>
              </a:rPr>
              <a:t>scalari</a:t>
            </a:r>
            <a:endParaRPr lang="it-IT" sz="2400" dirty="0">
              <a:latin typeface="Comic Sans MS" charset="0"/>
            </a:endParaRPr>
          </a:p>
        </p:txBody>
      </p:sp>
      <p:sp>
        <p:nvSpPr>
          <p:cNvPr id="692229" name="Text Box 5"/>
          <p:cNvSpPr txBox="1">
            <a:spLocks noChangeArrowheads="1"/>
          </p:cNvSpPr>
          <p:nvPr/>
        </p:nvSpPr>
        <p:spPr bwMode="auto">
          <a:xfrm>
            <a:off x="467544" y="1268760"/>
            <a:ext cx="807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latin typeface="Comic Sans MS" charset="0"/>
              </a:rPr>
              <a:t>L’algoritmo per moltiplicare due matrici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dirty="0">
                <a:latin typeface="Comic Sans MS" charset="0"/>
              </a:rPr>
              <a:t> e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B</a:t>
            </a:r>
            <a:r>
              <a:rPr lang="it-IT" sz="2400" dirty="0">
                <a:latin typeface="Comic Sans MS" charset="0"/>
              </a:rPr>
              <a:t> di dimensioni </a:t>
            </a:r>
            <a:r>
              <a:rPr lang="it-IT" sz="2400" dirty="0" err="1">
                <a:solidFill>
                  <a:srgbClr val="FF0000"/>
                </a:solidFill>
                <a:latin typeface="Comic Sans MS" charset="0"/>
              </a:rPr>
              <a:t>m</a:t>
            </a:r>
            <a:r>
              <a:rPr lang="it-IT" sz="2400" dirty="0" err="1" smtClean="0">
                <a:solidFill>
                  <a:srgbClr val="FF0000"/>
                </a:solidFill>
                <a:latin typeface="Comic Sans MS" charset="0"/>
                <a:sym typeface="Symbol" charset="0"/>
              </a:rPr>
              <a:t></a:t>
            </a:r>
            <a:r>
              <a:rPr lang="it-IT" sz="2400" dirty="0" err="1" smtClean="0">
                <a:solidFill>
                  <a:srgbClr val="FF0000"/>
                </a:solidFill>
                <a:latin typeface="Comic Sans MS" charset="0"/>
              </a:rPr>
              <a:t>p</a:t>
            </a:r>
            <a:r>
              <a:rPr lang="it-IT" sz="2400" dirty="0" smtClean="0">
                <a:solidFill>
                  <a:srgbClr val="FF0000"/>
                </a:solidFill>
                <a:latin typeface="Comic Sans MS" charset="0"/>
              </a:rPr>
              <a:t> </a:t>
            </a:r>
            <a:r>
              <a:rPr lang="it-IT" sz="2400" dirty="0" smtClean="0">
                <a:latin typeface="Comic Sans MS" charset="0"/>
              </a:rPr>
              <a:t>e </a:t>
            </a:r>
            <a:r>
              <a:rPr lang="it-IT" sz="2400" dirty="0" err="1" smtClean="0">
                <a:solidFill>
                  <a:srgbClr val="FF0000"/>
                </a:solidFill>
                <a:latin typeface="Comic Sans MS" charset="0"/>
              </a:rPr>
              <a:t>p</a:t>
            </a:r>
            <a:r>
              <a:rPr lang="it-IT" sz="2400" dirty="0" err="1" smtClean="0">
                <a:solidFill>
                  <a:srgbClr val="FF0000"/>
                </a:solidFill>
                <a:latin typeface="Comic Sans MS" charset="0"/>
                <a:sym typeface="Symbol" charset="0"/>
              </a:rPr>
              <a:t></a:t>
            </a:r>
            <a:r>
              <a:rPr lang="it-IT" sz="2400" dirty="0" err="1" smtClean="0">
                <a:solidFill>
                  <a:srgbClr val="FF0000"/>
                </a:solidFill>
                <a:latin typeface="Comic Sans MS" charset="0"/>
              </a:rPr>
              <a:t>n</a:t>
            </a:r>
            <a:r>
              <a:rPr lang="it-IT" sz="2400" dirty="0" smtClean="0">
                <a:latin typeface="Comic Sans MS" charset="0"/>
              </a:rPr>
              <a:t> </a:t>
            </a:r>
            <a:r>
              <a:rPr lang="it-IT" sz="2400" dirty="0">
                <a:latin typeface="Comic Sans MS" charset="0"/>
              </a:rPr>
              <a:t>è il seguente:</a:t>
            </a:r>
          </a:p>
        </p:txBody>
      </p:sp>
      <p:sp>
        <p:nvSpPr>
          <p:cNvPr id="692230" name="Text Box 6"/>
          <p:cNvSpPr txBox="1">
            <a:spLocks noChangeArrowheads="1"/>
          </p:cNvSpPr>
          <p:nvPr/>
        </p:nvSpPr>
        <p:spPr bwMode="auto">
          <a:xfrm>
            <a:off x="611560" y="2348880"/>
            <a:ext cx="8153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ProdottoMatrici</a:t>
            </a:r>
            <a:r>
              <a:rPr lang="it-IT" sz="2400" dirty="0">
                <a:sym typeface="Symbol" charset="0"/>
              </a:rPr>
              <a:t>(A,B)</a:t>
            </a:r>
          </a:p>
          <a:p>
            <a:r>
              <a:rPr lang="it-IT" sz="2400" dirty="0">
                <a:solidFill>
                  <a:schemeClr val="accent2"/>
                </a:solidFill>
                <a:sym typeface="Symbol" charset="0"/>
              </a:rPr>
              <a:t>   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for</a:t>
            </a:r>
            <a:r>
              <a:rPr lang="it-IT" sz="2400" dirty="0">
                <a:solidFill>
                  <a:srgbClr val="005FA6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i := 1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to</a:t>
            </a:r>
            <a:r>
              <a:rPr lang="it-IT" sz="2400" dirty="0">
                <a:solidFill>
                  <a:srgbClr val="005FA6"/>
                </a:solidFill>
                <a:sym typeface="Symbol" charset="0"/>
              </a:rPr>
              <a:t> </a:t>
            </a:r>
            <a:r>
              <a:rPr lang="it-IT" sz="2400" dirty="0" smtClean="0">
                <a:sym typeface="Symbol" charset="0"/>
              </a:rPr>
              <a:t>m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do</a:t>
            </a:r>
          </a:p>
          <a:p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for</a:t>
            </a:r>
            <a:r>
              <a:rPr lang="it-IT" sz="2400" dirty="0">
                <a:solidFill>
                  <a:srgbClr val="005FA6"/>
                </a:solidFill>
                <a:sym typeface="Symbol" charset="0"/>
              </a:rPr>
              <a:t> </a:t>
            </a:r>
            <a:r>
              <a:rPr lang="it-IT" sz="2400" dirty="0" smtClean="0">
                <a:sym typeface="Symbol" charset="0"/>
              </a:rPr>
              <a:t>j </a:t>
            </a:r>
            <a:r>
              <a:rPr lang="it-IT" sz="2400" dirty="0">
                <a:sym typeface="Symbol" charset="0"/>
              </a:rPr>
              <a:t>:= 1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to</a:t>
            </a:r>
            <a:r>
              <a:rPr lang="it-IT" sz="2400" dirty="0">
                <a:solidFill>
                  <a:srgbClr val="005FA6"/>
                </a:solidFill>
                <a:sym typeface="Symbol" charset="0"/>
              </a:rPr>
              <a:t> </a:t>
            </a:r>
            <a:r>
              <a:rPr lang="it-IT" sz="2400" dirty="0" smtClean="0">
                <a:sym typeface="Symbol" charset="0"/>
              </a:rPr>
              <a:t>n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do</a:t>
            </a:r>
            <a:endParaRPr lang="it-IT" sz="2400" dirty="0">
              <a:solidFill>
                <a:schemeClr val="accent2"/>
              </a:solidFill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         C[i,j] := 0 </a:t>
            </a:r>
          </a:p>
          <a:p>
            <a:r>
              <a:rPr lang="it-IT" sz="2400" dirty="0">
                <a:sym typeface="Symbol" charset="0"/>
              </a:rPr>
              <a:t>            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for</a:t>
            </a:r>
            <a:r>
              <a:rPr lang="it-IT" sz="2400" dirty="0">
                <a:solidFill>
                  <a:srgbClr val="005FA6"/>
                </a:solidFill>
                <a:sym typeface="Symbol" charset="0"/>
              </a:rPr>
              <a:t> </a:t>
            </a:r>
            <a:r>
              <a:rPr lang="it-IT" sz="2400" dirty="0" smtClean="0">
                <a:sym typeface="Symbol" charset="0"/>
              </a:rPr>
              <a:t>k </a:t>
            </a:r>
            <a:r>
              <a:rPr lang="it-IT" sz="2400" dirty="0">
                <a:sym typeface="Symbol" charset="0"/>
              </a:rPr>
              <a:t>:= 1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to</a:t>
            </a:r>
            <a:r>
              <a:rPr lang="it-IT" sz="2400" dirty="0">
                <a:solidFill>
                  <a:srgbClr val="005FA6"/>
                </a:solidFill>
                <a:sym typeface="Symbol" charset="0"/>
              </a:rPr>
              <a:t> </a:t>
            </a:r>
            <a:r>
              <a:rPr lang="it-IT" sz="2400" dirty="0" smtClean="0">
                <a:sym typeface="Symbol" charset="0"/>
              </a:rPr>
              <a:t>p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do</a:t>
            </a:r>
            <a:endParaRPr lang="it-IT" sz="2400" dirty="0">
              <a:solidFill>
                <a:schemeClr val="accent2"/>
              </a:solidFill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               C[i,j] := C[i,j]+A[i,k]*B[k,j]</a:t>
            </a:r>
          </a:p>
          <a:p>
            <a:r>
              <a:rPr lang="it-IT" sz="2400" dirty="0">
                <a:sym typeface="Symbol" charset="0"/>
              </a:rPr>
              <a:t>    </a:t>
            </a:r>
            <a:r>
              <a:rPr lang="it-IT" sz="2400" dirty="0" err="1">
                <a:solidFill>
                  <a:srgbClr val="0000FF"/>
                </a:solidFill>
                <a:sym typeface="Symbol" charset="0"/>
              </a:rPr>
              <a:t>return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C </a:t>
            </a:r>
          </a:p>
        </p:txBody>
      </p:sp>
      <p:sp>
        <p:nvSpPr>
          <p:cNvPr id="69223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Moltiplicazione di matrici 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solidFill>
                  <a:srgbClr val="FF0000"/>
                </a:solidFill>
                <a:cs typeface="+mj-cs"/>
              </a:rPr>
              <a:t>Prodotto di matrici n*n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153400" cy="2514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it-IT" dirty="0" smtClean="0">
                <a:cs typeface="Arial"/>
              </a:rPr>
              <a:t>ALGORITMO IMMEDIATO</a:t>
            </a:r>
          </a:p>
          <a:p>
            <a:pPr marL="819150" lvl="1" eaLnBrk="1" hangingPunct="1">
              <a:lnSpc>
                <a:spcPct val="90000"/>
              </a:lnSpc>
              <a:defRPr/>
            </a:pPr>
            <a:r>
              <a:rPr lang="it-IT" dirty="0" smtClean="0">
                <a:cs typeface="Arial"/>
              </a:rPr>
              <a:t>O(n</a:t>
            </a:r>
            <a:r>
              <a:rPr lang="it-IT" baseline="30000" dirty="0" smtClean="0">
                <a:cs typeface="Arial"/>
              </a:rPr>
              <a:t>3</a:t>
            </a:r>
            <a:r>
              <a:rPr lang="it-IT" dirty="0" smtClean="0">
                <a:cs typeface="Arial"/>
              </a:rPr>
              <a:t>) somme/prodotti di reali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it-IT" dirty="0" smtClean="0">
                <a:cs typeface="Arial"/>
              </a:rPr>
              <a:t>ALGORITMO DI STRASSEN (1969)</a:t>
            </a:r>
          </a:p>
          <a:p>
            <a:pPr marL="819150" lvl="1" eaLnBrk="1" hangingPunct="1">
              <a:lnSpc>
                <a:spcPct val="90000"/>
              </a:lnSpc>
              <a:defRPr/>
            </a:pPr>
            <a:r>
              <a:rPr lang="it-IT" dirty="0" smtClean="0">
                <a:solidFill>
                  <a:srgbClr val="FF0000"/>
                </a:solidFill>
                <a:cs typeface="Arial"/>
              </a:rPr>
              <a:t>Per </a:t>
            </a:r>
            <a:r>
              <a:rPr lang="it-IT" dirty="0" err="1" smtClean="0">
                <a:solidFill>
                  <a:srgbClr val="FF0000"/>
                </a:solidFill>
                <a:cs typeface="Arial"/>
              </a:rPr>
              <a:t>n</a:t>
            </a:r>
            <a:r>
              <a:rPr lang="it-IT" dirty="0" smtClean="0">
                <a:solidFill>
                  <a:srgbClr val="FF0000"/>
                </a:solidFill>
                <a:cs typeface="Arial"/>
              </a:rPr>
              <a:t> = 1: 1 prodotto e 0 somme di reali</a:t>
            </a:r>
          </a:p>
          <a:p>
            <a:pPr marL="819150" lvl="1" eaLnBrk="1" hangingPunct="1">
              <a:lnSpc>
                <a:spcPct val="90000"/>
              </a:lnSpc>
              <a:defRPr/>
            </a:pPr>
            <a:r>
              <a:rPr lang="it-IT" dirty="0" smtClean="0">
                <a:solidFill>
                  <a:srgbClr val="FF0000"/>
                </a:solidFill>
                <a:cs typeface="Arial"/>
              </a:rPr>
              <a:t>Per </a:t>
            </a:r>
            <a:r>
              <a:rPr lang="it-IT" dirty="0" err="1" smtClean="0">
                <a:solidFill>
                  <a:srgbClr val="FF0000"/>
                </a:solidFill>
                <a:cs typeface="Arial"/>
              </a:rPr>
              <a:t>n</a:t>
            </a:r>
            <a:r>
              <a:rPr lang="it-IT" dirty="0" smtClean="0">
                <a:solidFill>
                  <a:srgbClr val="FF0000"/>
                </a:solidFill>
                <a:cs typeface="Arial"/>
              </a:rPr>
              <a:t> = 2: 7 moltiplicazioni e 18 addizioni (sarebbero 8 e 4 con l’algoritmo immediato)</a:t>
            </a:r>
          </a:p>
        </p:txBody>
      </p:sp>
      <p:graphicFrame>
        <p:nvGraphicFramePr>
          <p:cNvPr id="448530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509241"/>
              </p:ext>
            </p:extLst>
          </p:nvPr>
        </p:nvGraphicFramePr>
        <p:xfrm>
          <a:off x="2434208" y="4446240"/>
          <a:ext cx="990600" cy="823913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48543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950933"/>
              </p:ext>
            </p:extLst>
          </p:nvPr>
        </p:nvGraphicFramePr>
        <p:xfrm>
          <a:off x="5939408" y="4446240"/>
          <a:ext cx="990600" cy="823913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8544" name="Text Box 32"/>
          <p:cNvSpPr txBox="1">
            <a:spLocks noChangeArrowheads="1"/>
          </p:cNvSpPr>
          <p:nvPr/>
        </p:nvSpPr>
        <p:spPr bwMode="auto">
          <a:xfrm>
            <a:off x="1519808" y="4598640"/>
            <a:ext cx="684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sz="2400" dirty="0">
                <a:cs typeface="+mn-cs"/>
              </a:rPr>
              <a:t>A =</a:t>
            </a:r>
          </a:p>
        </p:txBody>
      </p:sp>
      <p:sp>
        <p:nvSpPr>
          <p:cNvPr id="448545" name="Text Box 33"/>
          <p:cNvSpPr txBox="1">
            <a:spLocks noChangeArrowheads="1"/>
          </p:cNvSpPr>
          <p:nvPr/>
        </p:nvSpPr>
        <p:spPr bwMode="auto">
          <a:xfrm>
            <a:off x="4948808" y="4598640"/>
            <a:ext cx="681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sz="2400">
                <a:cs typeface="+mn-cs"/>
              </a:rPr>
              <a:t>B =</a:t>
            </a:r>
          </a:p>
        </p:txBody>
      </p:sp>
      <p:sp>
        <p:nvSpPr>
          <p:cNvPr id="448546" name="Text Box 34"/>
          <p:cNvSpPr txBox="1">
            <a:spLocks noChangeArrowheads="1"/>
          </p:cNvSpPr>
          <p:nvPr/>
        </p:nvSpPr>
        <p:spPr bwMode="auto">
          <a:xfrm>
            <a:off x="2815208" y="5817840"/>
            <a:ext cx="162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sz="2400">
                <a:cs typeface="+mn-cs"/>
              </a:rPr>
              <a:t>C = A*B =</a:t>
            </a:r>
          </a:p>
        </p:txBody>
      </p:sp>
      <p:graphicFrame>
        <p:nvGraphicFramePr>
          <p:cNvPr id="448560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071251"/>
              </p:ext>
            </p:extLst>
          </p:nvPr>
        </p:nvGraphicFramePr>
        <p:xfrm>
          <a:off x="4644008" y="5589240"/>
          <a:ext cx="990600" cy="823913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</a:t>
                      </a:r>
                      <a:r>
                        <a:rPr kumimoji="0" 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55439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L’algoritmo di Strassen</a:t>
            </a:r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84784"/>
            <a:ext cx="8352928" cy="5040560"/>
          </a:xfrm>
        </p:spPr>
        <p:txBody>
          <a:bodyPr/>
          <a:lstStyle/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 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= (a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+a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)(b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+b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 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= (a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+a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endParaRPr lang="it-IT" sz="20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3 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= 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(b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-b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4 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= 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(b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-b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5 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= (a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+a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endParaRPr lang="it-IT" sz="20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6 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= (a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-a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)(b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+b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7 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= (a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12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-a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)(b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21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+b</a:t>
            </a:r>
            <a:r>
              <a:rPr lang="it-IT" sz="2000" baseline="-25000" dirty="0" smtClean="0">
                <a:solidFill>
                  <a:srgbClr val="0000FF"/>
                </a:solidFill>
                <a:latin typeface="Arial"/>
                <a:cs typeface="Arial"/>
              </a:rPr>
              <a:t>22</a:t>
            </a:r>
            <a:r>
              <a:rPr lang="it-IT" sz="2000" dirty="0" smtClean="0">
                <a:solidFill>
                  <a:srgbClr val="0000FF"/>
                </a:solidFill>
                <a:latin typeface="Arial"/>
                <a:cs typeface="Arial"/>
              </a:rPr>
              <a:t>)</a:t>
            </a:r>
          </a:p>
          <a:p>
            <a:pPr eaLnBrk="1" hangingPunct="1">
              <a:spcBef>
                <a:spcPts val="600"/>
              </a:spcBef>
              <a:defRPr/>
            </a:pPr>
            <a:endParaRPr lang="it-IT" sz="20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pPr eaLnBrk="1" hangingPunct="1">
              <a:spcBef>
                <a:spcPts val="0"/>
              </a:spcBef>
              <a:defRPr/>
            </a:pP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C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11 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= 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1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+P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4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-P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5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+P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7</a:t>
            </a:r>
            <a:endParaRPr lang="it-IT" sz="2000" dirty="0" smtClean="0">
              <a:solidFill>
                <a:srgbClr val="239023"/>
              </a:solidFill>
              <a:latin typeface="Arial"/>
              <a:cs typeface="Arial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C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12 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= 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3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+P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5</a:t>
            </a:r>
            <a:endParaRPr lang="it-IT" sz="2000" dirty="0" smtClean="0">
              <a:solidFill>
                <a:srgbClr val="239023"/>
              </a:solidFill>
              <a:latin typeface="Arial"/>
              <a:cs typeface="Arial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C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21 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= 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2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+P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4</a:t>
            </a:r>
            <a:endParaRPr lang="it-IT" sz="2000" dirty="0" smtClean="0">
              <a:solidFill>
                <a:srgbClr val="239023"/>
              </a:solidFill>
              <a:latin typeface="Arial"/>
              <a:cs typeface="Arial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C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22 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= 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1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+P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3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-P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2</a:t>
            </a:r>
            <a:r>
              <a:rPr lang="it-IT" sz="2000" dirty="0" smtClean="0">
                <a:solidFill>
                  <a:srgbClr val="239023"/>
                </a:solidFill>
                <a:latin typeface="Arial"/>
                <a:cs typeface="Arial"/>
              </a:rPr>
              <a:t>+P</a:t>
            </a:r>
            <a:r>
              <a:rPr lang="it-IT" sz="2000" baseline="-25000" dirty="0" smtClean="0">
                <a:solidFill>
                  <a:srgbClr val="239023"/>
                </a:solidFill>
                <a:latin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10495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L’algoritmo di Strassen</a:t>
            </a:r>
          </a:p>
        </p:txBody>
      </p:sp>
      <p:sp>
        <p:nvSpPr>
          <p:cNvPr id="45158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smtClean="0">
                <a:cs typeface="+mn-cs"/>
              </a:rPr>
              <a:t>Per </a:t>
            </a:r>
            <a:r>
              <a:rPr lang="it-IT" dirty="0" err="1" smtClean="0">
                <a:cs typeface="+mn-cs"/>
              </a:rPr>
              <a:t>n</a:t>
            </a:r>
            <a:r>
              <a:rPr lang="it-IT" dirty="0" smtClean="0">
                <a:cs typeface="+mn-cs"/>
              </a:rPr>
              <a:t> = 2</a:t>
            </a:r>
            <a:r>
              <a:rPr lang="it-IT" baseline="30000" dirty="0" smtClean="0">
                <a:cs typeface="+mn-cs"/>
              </a:rPr>
              <a:t>k+1</a:t>
            </a:r>
            <a:r>
              <a:rPr lang="it-IT" dirty="0" smtClean="0">
                <a:cs typeface="+mn-cs"/>
              </a:rPr>
              <a:t> : riducibile a 7 moltiplicazioni e 18 somme di matrici di ordine 2</a:t>
            </a:r>
            <a:r>
              <a:rPr lang="it-IT" baseline="30000" dirty="0" smtClean="0">
                <a:cs typeface="+mn-cs"/>
              </a:rPr>
              <a:t>k</a:t>
            </a:r>
            <a:r>
              <a:rPr lang="it-IT" dirty="0" smtClean="0">
                <a:cs typeface="+mn-cs"/>
              </a:rPr>
              <a:t>.</a:t>
            </a:r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Numero di prodotti:</a:t>
            </a:r>
          </a:p>
          <a:p>
            <a:pPr lvl="1" eaLnBrk="1" hangingPunct="1">
              <a:defRPr/>
            </a:pPr>
            <a:r>
              <a:rPr lang="it-IT" dirty="0" err="1" smtClean="0"/>
              <a:t>P</a:t>
            </a:r>
            <a:r>
              <a:rPr lang="it-IT" dirty="0" smtClean="0"/>
              <a:t>(1) = 1</a:t>
            </a:r>
          </a:p>
          <a:p>
            <a:pPr lvl="1" eaLnBrk="1" hangingPunct="1">
              <a:defRPr/>
            </a:pPr>
            <a:r>
              <a:rPr lang="it-IT" dirty="0" err="1" smtClean="0"/>
              <a:t>P</a:t>
            </a:r>
            <a:r>
              <a:rPr lang="it-IT" dirty="0" smtClean="0"/>
              <a:t>(2</a:t>
            </a:r>
            <a:r>
              <a:rPr lang="it-IT" baseline="30000" dirty="0" smtClean="0"/>
              <a:t>k+1</a:t>
            </a:r>
            <a:r>
              <a:rPr lang="it-IT" dirty="0" smtClean="0"/>
              <a:t>) = 7*</a:t>
            </a:r>
            <a:r>
              <a:rPr lang="it-IT" dirty="0" err="1" smtClean="0"/>
              <a:t>P</a:t>
            </a:r>
            <a:r>
              <a:rPr lang="it-IT" dirty="0" smtClean="0"/>
              <a:t>(2</a:t>
            </a:r>
            <a:r>
              <a:rPr lang="it-IT" baseline="30000" dirty="0" smtClean="0"/>
              <a:t>k</a:t>
            </a:r>
            <a:r>
              <a:rPr lang="it-IT" dirty="0" smtClean="0"/>
              <a:t>) </a:t>
            </a:r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Numero di somme:</a:t>
            </a:r>
          </a:p>
          <a:p>
            <a:pPr lvl="1" eaLnBrk="1" hangingPunct="1">
              <a:defRPr/>
            </a:pPr>
            <a:r>
              <a:rPr lang="it-IT" dirty="0" err="1" smtClean="0"/>
              <a:t>S</a:t>
            </a:r>
            <a:r>
              <a:rPr lang="it-IT" dirty="0" smtClean="0"/>
              <a:t>(1) = 0</a:t>
            </a:r>
          </a:p>
          <a:p>
            <a:pPr lvl="1" eaLnBrk="1" hangingPunct="1">
              <a:defRPr/>
            </a:pPr>
            <a:r>
              <a:rPr lang="it-IT" dirty="0" err="1" smtClean="0"/>
              <a:t>S</a:t>
            </a:r>
            <a:r>
              <a:rPr lang="it-IT" dirty="0" smtClean="0"/>
              <a:t>(2</a:t>
            </a:r>
            <a:r>
              <a:rPr lang="it-IT" baseline="30000" dirty="0" smtClean="0"/>
              <a:t>k+1</a:t>
            </a:r>
            <a:r>
              <a:rPr lang="it-IT" dirty="0" smtClean="0"/>
              <a:t>) = 7*</a:t>
            </a:r>
            <a:r>
              <a:rPr lang="it-IT" dirty="0" err="1" smtClean="0"/>
              <a:t>S</a:t>
            </a:r>
            <a:r>
              <a:rPr lang="it-IT" dirty="0" smtClean="0"/>
              <a:t>(2</a:t>
            </a:r>
            <a:r>
              <a:rPr lang="it-IT" baseline="30000" dirty="0" smtClean="0"/>
              <a:t>k</a:t>
            </a:r>
            <a:r>
              <a:rPr lang="it-IT" dirty="0" smtClean="0"/>
              <a:t>) + 18</a:t>
            </a:r>
            <a:r>
              <a:rPr lang="it-IT" smtClean="0"/>
              <a:t>*2</a:t>
            </a:r>
            <a:r>
              <a:rPr lang="it-IT" baseline="30000" smtClean="0"/>
              <a:t>2k</a:t>
            </a:r>
            <a:endParaRPr lang="it-IT" baseline="30000" dirty="0" smtClean="0"/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La soluzione:</a:t>
            </a:r>
          </a:p>
          <a:p>
            <a:pPr lvl="1" eaLnBrk="1" hangingPunct="1">
              <a:defRPr/>
            </a:pPr>
            <a:r>
              <a:rPr lang="it-IT" dirty="0" err="1" smtClean="0"/>
              <a:t>P</a:t>
            </a:r>
            <a:r>
              <a:rPr lang="it-IT" dirty="0" smtClean="0"/>
              <a:t>(</a:t>
            </a:r>
            <a:r>
              <a:rPr lang="it-IT" dirty="0" err="1" smtClean="0"/>
              <a:t>n</a:t>
            </a:r>
            <a:r>
              <a:rPr lang="it-IT" dirty="0" smtClean="0"/>
              <a:t>) = </a:t>
            </a:r>
            <a:r>
              <a:rPr lang="it-IT" dirty="0" err="1" smtClean="0"/>
              <a:t>S</a:t>
            </a:r>
            <a:r>
              <a:rPr lang="it-IT" dirty="0" smtClean="0"/>
              <a:t>(</a:t>
            </a:r>
            <a:r>
              <a:rPr lang="it-IT" dirty="0" err="1" smtClean="0"/>
              <a:t>n</a:t>
            </a:r>
            <a:r>
              <a:rPr lang="it-IT" dirty="0" smtClean="0"/>
              <a:t>) = O(n</a:t>
            </a:r>
            <a:r>
              <a:rPr lang="it-IT" baseline="30000" dirty="0" smtClean="0"/>
              <a:t>log7</a:t>
            </a:r>
            <a:r>
              <a:rPr lang="it-IT" dirty="0" smtClean="0"/>
              <a:t>) = O(n</a:t>
            </a:r>
            <a:r>
              <a:rPr lang="it-IT" baseline="30000" dirty="0" smtClean="0"/>
              <a:t>2,81</a:t>
            </a:r>
            <a:r>
              <a:rPr lang="it-IT" dirty="0" smtClean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2895052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Catena di moltiplicazioni di matrici</a:t>
            </a:r>
          </a:p>
        </p:txBody>
      </p:sp>
      <p:sp>
        <p:nvSpPr>
          <p:cNvPr id="69325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it-IT" dirty="0">
                <a:sym typeface="Symbol" charset="0"/>
              </a:rPr>
              <a:t>Si vuole calcolare il prodotto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A</a:t>
            </a:r>
            <a:r>
              <a:rPr lang="it-IT" baseline="-25000" dirty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A</a:t>
            </a:r>
            <a:r>
              <a:rPr lang="it-IT" baseline="-25000" dirty="0">
                <a:solidFill>
                  <a:srgbClr val="FF0000"/>
                </a:solidFill>
              </a:rPr>
              <a:t>2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...A</a:t>
            </a:r>
            <a:r>
              <a:rPr lang="it-IT" baseline="-25000" dirty="0">
                <a:solidFill>
                  <a:srgbClr val="FF0000"/>
                </a:solidFill>
              </a:rPr>
              <a:t>n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dirty="0">
                <a:sym typeface="Symbol" charset="0"/>
              </a:rPr>
              <a:t>di n matrici di dimensioni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p</a:t>
            </a:r>
            <a:r>
              <a:rPr lang="it-IT" baseline="-25000" dirty="0">
                <a:solidFill>
                  <a:srgbClr val="FF0000"/>
                </a:solidFill>
              </a:rPr>
              <a:t>0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p</a:t>
            </a:r>
            <a:r>
              <a:rPr lang="it-IT" baseline="-25000" dirty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, p</a:t>
            </a:r>
            <a:r>
              <a:rPr lang="it-IT" baseline="-25000" dirty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p</a:t>
            </a:r>
            <a:r>
              <a:rPr lang="it-IT" baseline="-25000" dirty="0">
                <a:solidFill>
                  <a:srgbClr val="FF0000"/>
                </a:solidFill>
              </a:rPr>
              <a:t>2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,..., p</a:t>
            </a:r>
            <a:r>
              <a:rPr lang="it-IT" baseline="-25000" dirty="0">
                <a:solidFill>
                  <a:srgbClr val="FF0000"/>
                </a:solidFill>
              </a:rPr>
              <a:t>n-1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p</a:t>
            </a:r>
            <a:r>
              <a:rPr lang="it-IT" baseline="-25000" dirty="0">
                <a:solidFill>
                  <a:srgbClr val="FF0000"/>
                </a:solidFill>
              </a:rPr>
              <a:t>n</a:t>
            </a:r>
            <a:endParaRPr lang="it-IT" dirty="0">
              <a:solidFill>
                <a:srgbClr val="FF0000"/>
              </a:solidFill>
              <a:sym typeface="Symbol" charset="0"/>
            </a:endParaRPr>
          </a:p>
          <a:p>
            <a:pPr>
              <a:spcBef>
                <a:spcPct val="50000"/>
              </a:spcBef>
            </a:pPr>
            <a:r>
              <a:rPr lang="it-IT" dirty="0">
                <a:sym typeface="Symbol" charset="0"/>
              </a:rPr>
              <a:t>Siccome il prodotto di matrici è associativo vi sono molti modi per </a:t>
            </a:r>
            <a:r>
              <a:rPr lang="it-IT" dirty="0" smtClean="0">
                <a:sym typeface="Symbol" charset="0"/>
              </a:rPr>
              <a:t>calcolarlo</a:t>
            </a:r>
          </a:p>
          <a:p>
            <a:pPr marL="457200" lvl="1" indent="0">
              <a:spcBef>
                <a:spcPct val="50000"/>
              </a:spcBef>
              <a:buNone/>
            </a:pPr>
            <a:r>
              <a:rPr lang="it-IT" dirty="0" smtClean="0">
                <a:sym typeface="Symbol" charset="0"/>
              </a:rPr>
              <a:t>(A</a:t>
            </a:r>
            <a:r>
              <a:rPr lang="it-IT" baseline="-25000" dirty="0" smtClean="0">
                <a:solidFill>
                  <a:srgbClr val="FF0000"/>
                </a:solidFill>
              </a:rPr>
              <a:t>1</a:t>
            </a:r>
            <a:r>
              <a:rPr lang="it-IT" dirty="0">
                <a:sym typeface="Symbol" charset="0"/>
              </a:rPr>
              <a:t>(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2</a:t>
            </a:r>
            <a:r>
              <a:rPr lang="it-IT" dirty="0">
                <a:sym typeface="Symbol" charset="0"/>
              </a:rPr>
              <a:t>(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3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4</a:t>
            </a:r>
            <a:r>
              <a:rPr lang="it-IT" dirty="0" smtClean="0">
                <a:sym typeface="Symbol" charset="0"/>
              </a:rPr>
              <a:t>)))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		</a:t>
            </a:r>
            <a:r>
              <a:rPr lang="it-IT" dirty="0">
                <a:sym typeface="Symbol" charset="0"/>
              </a:rPr>
              <a:t>(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</a:rPr>
              <a:t>1</a:t>
            </a:r>
            <a:r>
              <a:rPr lang="it-IT" dirty="0" smtClean="0">
                <a:sym typeface="Symbol" charset="0"/>
              </a:rPr>
              <a:t>(</a:t>
            </a:r>
            <a:r>
              <a:rPr lang="it-IT" dirty="0">
                <a:sym typeface="Symbol" charset="0"/>
              </a:rPr>
              <a:t>(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2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3</a:t>
            </a:r>
            <a:r>
              <a:rPr lang="it-IT" dirty="0">
                <a:sym typeface="Symbol" charset="0"/>
              </a:rPr>
              <a:t>)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4</a:t>
            </a:r>
            <a:r>
              <a:rPr lang="it-IT" dirty="0" smtClean="0">
                <a:sym typeface="Symbol" charset="0"/>
              </a:rPr>
              <a:t>))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		</a:t>
            </a:r>
            <a:r>
              <a:rPr lang="it-IT" dirty="0" smtClean="0">
                <a:sym typeface="Symbol" charset="0"/>
              </a:rPr>
              <a:t>(</a:t>
            </a:r>
            <a:r>
              <a:rPr lang="it-IT" dirty="0">
                <a:sym typeface="Symbol" charset="0"/>
              </a:rPr>
              <a:t>(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</a:rPr>
              <a:t>1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2</a:t>
            </a:r>
            <a:r>
              <a:rPr lang="it-IT" dirty="0" smtClean="0">
                <a:sym typeface="Symbol" charset="0"/>
              </a:rPr>
              <a:t>)(A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3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4</a:t>
            </a:r>
            <a:r>
              <a:rPr lang="it-IT" dirty="0" smtClean="0">
                <a:sym typeface="Symbol" charset="0"/>
              </a:rPr>
              <a:t>))</a:t>
            </a:r>
            <a:endParaRPr lang="it-IT" dirty="0">
              <a:sym typeface="Symbol" charset="0"/>
            </a:endParaRPr>
          </a:p>
          <a:p>
            <a:pPr marL="457200" lvl="1" indent="0">
              <a:spcBef>
                <a:spcPct val="50000"/>
              </a:spcBef>
              <a:buNone/>
            </a:pPr>
            <a:r>
              <a:rPr lang="it-IT" dirty="0" smtClean="0">
                <a:sym typeface="Symbol" charset="0"/>
              </a:rPr>
              <a:t>(</a:t>
            </a:r>
            <a:r>
              <a:rPr lang="it-IT" dirty="0">
                <a:sym typeface="Symbol" charset="0"/>
              </a:rPr>
              <a:t>(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</a:rPr>
              <a:t>1</a:t>
            </a:r>
            <a:r>
              <a:rPr lang="it-IT" dirty="0">
                <a:sym typeface="Symbol" charset="0"/>
              </a:rPr>
              <a:t>(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2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3</a:t>
            </a:r>
            <a:r>
              <a:rPr lang="it-IT" dirty="0" smtClean="0">
                <a:sym typeface="Symbol" charset="0"/>
              </a:rPr>
              <a:t>))A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4</a:t>
            </a:r>
            <a:r>
              <a:rPr lang="it-IT" dirty="0">
                <a:sym typeface="Symbol" charset="0"/>
              </a:rPr>
              <a:t>)</a:t>
            </a:r>
            <a:r>
              <a:rPr lang="it-IT" dirty="0" smtClean="0">
                <a:sym typeface="Symbol" charset="0"/>
              </a:rPr>
              <a:t>	((</a:t>
            </a:r>
            <a:r>
              <a:rPr lang="it-IT" dirty="0">
                <a:sym typeface="Symbol" charset="0"/>
              </a:rPr>
              <a:t>(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</a:rPr>
              <a:t>1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2</a:t>
            </a:r>
            <a:r>
              <a:rPr lang="it-IT" dirty="0">
                <a:sym typeface="Symbol" charset="0"/>
              </a:rPr>
              <a:t>)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3</a:t>
            </a:r>
            <a:r>
              <a:rPr lang="it-IT" dirty="0">
                <a:sym typeface="Symbol" charset="0"/>
              </a:rPr>
              <a:t>)</a:t>
            </a:r>
            <a:r>
              <a:rPr lang="it-IT" dirty="0" smtClean="0">
                <a:sym typeface="Symbol" charset="0"/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  <a:sym typeface="Symbol" charset="0"/>
              </a:rPr>
              <a:t>4</a:t>
            </a:r>
            <a:r>
              <a:rPr lang="it-IT" dirty="0">
                <a:sym typeface="Symbol" charset="0"/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it-IT" dirty="0">
                <a:sym typeface="Symbol" charset="0"/>
              </a:rPr>
              <a:t>Vogliamo trovare un modo che minimizzi il numero totale di prodotti scalari richiesti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Text Box 2"/>
          <p:cNvSpPr txBox="1">
            <a:spLocks noChangeArrowheads="1"/>
          </p:cNvSpPr>
          <p:nvPr/>
        </p:nvSpPr>
        <p:spPr bwMode="auto">
          <a:xfrm>
            <a:off x="381000" y="1447800"/>
            <a:ext cx="838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Primo passo</a:t>
            </a:r>
            <a:r>
              <a:rPr lang="it-IT" sz="2400" dirty="0">
                <a:latin typeface="Comic Sans MS" charset="0"/>
              </a:rPr>
              <a:t>: </a:t>
            </a:r>
            <a:r>
              <a:rPr lang="it-IT" sz="2400" i="1" dirty="0">
                <a:latin typeface="Comic Sans MS" charset="0"/>
              </a:rPr>
              <a:t>struttura di una parentesizzazione ottima</a:t>
            </a:r>
          </a:p>
        </p:txBody>
      </p:sp>
      <p:sp>
        <p:nvSpPr>
          <p:cNvPr id="697347" name="Text Box 3"/>
          <p:cNvSpPr txBox="1">
            <a:spLocks noChangeArrowheads="1"/>
          </p:cNvSpPr>
          <p:nvPr/>
        </p:nvSpPr>
        <p:spPr bwMode="auto">
          <a:xfrm>
            <a:off x="533400" y="2209800"/>
            <a:ext cx="80772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Supponiamo che una parentesizzazione ottima di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baseline="-25000" dirty="0">
                <a:solidFill>
                  <a:srgbClr val="FF0000"/>
                </a:solidFill>
                <a:latin typeface="Comic Sans MS" charset="0"/>
              </a:rPr>
              <a:t>1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baseline="-25000" dirty="0">
                <a:solidFill>
                  <a:srgbClr val="FF0000"/>
                </a:solidFill>
                <a:latin typeface="Comic Sans MS" charset="0"/>
              </a:rPr>
              <a:t>2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...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preveda come ultima operazione il prodotto tra la matrice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baseline="-25000" dirty="0">
                <a:solidFill>
                  <a:srgbClr val="FF0000"/>
                </a:solidFill>
                <a:latin typeface="Comic Sans MS" charset="0"/>
              </a:rPr>
              <a:t>1..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k</a:t>
            </a:r>
            <a:r>
              <a:rPr lang="it-IT" sz="2400" dirty="0">
                <a:latin typeface="Comic Sans MS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(prodotto delle prime </a:t>
            </a:r>
            <a:r>
              <a:rPr lang="it-IT" sz="2400" i="1" dirty="0">
                <a:solidFill>
                  <a:srgbClr val="201FF0"/>
                </a:solidFill>
                <a:latin typeface="Comic Sans MS" charset="0"/>
              </a:rPr>
              <a:t>k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 matrici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baseline="-25000" dirty="0">
                <a:solidFill>
                  <a:srgbClr val="FF0000"/>
                </a:solidFill>
                <a:latin typeface="Comic Sans MS" charset="0"/>
              </a:rPr>
              <a:t>1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...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k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) e la matrice</a:t>
            </a:r>
            <a:r>
              <a:rPr lang="it-IT" sz="2400" dirty="0">
                <a:latin typeface="Comic Sans MS" charset="0"/>
              </a:rPr>
              <a:t>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k</a:t>
            </a:r>
            <a:r>
              <a:rPr lang="it-IT" sz="2400" baseline="-25000" dirty="0">
                <a:solidFill>
                  <a:srgbClr val="FF0000"/>
                </a:solidFill>
                <a:latin typeface="Comic Sans MS" charset="0"/>
              </a:rPr>
              <a:t>+1..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n</a:t>
            </a:r>
            <a:r>
              <a:rPr lang="it-IT" sz="2400" dirty="0">
                <a:latin typeface="Comic Sans MS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(prodotto delle ultime </a:t>
            </a:r>
            <a:r>
              <a:rPr lang="it-IT" sz="2400" i="1" dirty="0" err="1">
                <a:solidFill>
                  <a:srgbClr val="FF0000"/>
                </a:solidFill>
                <a:latin typeface="Comic Sans MS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-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k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 matrici</a:t>
            </a:r>
            <a:r>
              <a:rPr lang="it-IT" sz="2400" dirty="0">
                <a:latin typeface="Comic Sans MS" charset="0"/>
              </a:rPr>
              <a:t>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k</a:t>
            </a:r>
            <a:r>
              <a:rPr lang="it-IT" sz="2400" baseline="-25000" dirty="0">
                <a:solidFill>
                  <a:srgbClr val="FF0000"/>
                </a:solidFill>
                <a:latin typeface="Comic Sans MS" charset="0"/>
              </a:rPr>
              <a:t>+1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...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n</a:t>
            </a:r>
            <a:r>
              <a:rPr lang="it-IT" sz="2400" dirty="0">
                <a:solidFill>
                  <a:srgbClr val="0000FF"/>
                </a:solidFill>
                <a:latin typeface="Comic Sans MS" charset="0"/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Le parentesizzazioni subordinate di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baseline="-25000" dirty="0">
                <a:solidFill>
                  <a:srgbClr val="FF0000"/>
                </a:solidFill>
                <a:latin typeface="Comic Sans MS" charset="0"/>
              </a:rPr>
              <a:t>1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...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k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e di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k</a:t>
            </a:r>
            <a:r>
              <a:rPr lang="it-IT" sz="2400" baseline="-25000" dirty="0">
                <a:solidFill>
                  <a:srgbClr val="FF0000"/>
                </a:solidFill>
                <a:latin typeface="Comic Sans MS" charset="0"/>
              </a:rPr>
              <a:t>+1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...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sono parentesizzazioni ottime per il calcolo di </a:t>
            </a:r>
            <a:r>
              <a:rPr lang="it-IT" sz="2400" i="1" dirty="0">
                <a:solidFill>
                  <a:srgbClr val="CC3300"/>
                </a:solidFill>
                <a:latin typeface="Comic Sans MS" charset="0"/>
              </a:rPr>
              <a:t>A</a:t>
            </a:r>
            <a:r>
              <a:rPr lang="it-IT" sz="2400" baseline="-25000" dirty="0">
                <a:solidFill>
                  <a:srgbClr val="CC3300"/>
                </a:solidFill>
                <a:latin typeface="Comic Sans MS" charset="0"/>
              </a:rPr>
              <a:t>1..</a:t>
            </a:r>
            <a:r>
              <a:rPr lang="it-IT" sz="2400" i="1" baseline="-25000" dirty="0">
                <a:solidFill>
                  <a:srgbClr val="CC3300"/>
                </a:solidFill>
                <a:latin typeface="Comic Sans MS" charset="0"/>
              </a:rPr>
              <a:t>k</a:t>
            </a:r>
            <a:r>
              <a:rPr lang="it-IT" sz="2400" dirty="0">
                <a:latin typeface="Comic Sans MS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e di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k</a:t>
            </a:r>
            <a:r>
              <a:rPr lang="it-IT" sz="2400" baseline="-25000" dirty="0">
                <a:solidFill>
                  <a:srgbClr val="FF0000"/>
                </a:solidFill>
                <a:latin typeface="Comic Sans MS" charset="0"/>
              </a:rPr>
              <a:t>+1..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n</a:t>
            </a:r>
            <a:r>
              <a:rPr lang="it-IT" sz="2400" dirty="0">
                <a:latin typeface="Comic Sans MS" charset="0"/>
              </a:rPr>
              <a:t>. </a:t>
            </a:r>
          </a:p>
          <a:p>
            <a:pPr algn="ctr"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Perché?</a:t>
            </a:r>
          </a:p>
        </p:txBody>
      </p:sp>
      <p:sp>
        <p:nvSpPr>
          <p:cNvPr id="69734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Verso la soluzione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Text Box 2"/>
          <p:cNvSpPr txBox="1">
            <a:spLocks noChangeArrowheads="1"/>
          </p:cNvSpPr>
          <p:nvPr/>
        </p:nvSpPr>
        <p:spPr bwMode="auto">
          <a:xfrm>
            <a:off x="533400" y="13716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Secondo passo:</a:t>
            </a:r>
            <a:r>
              <a:rPr lang="it-IT" sz="2400" dirty="0">
                <a:latin typeface="Comic Sans MS" charset="0"/>
              </a:rPr>
              <a:t> </a:t>
            </a:r>
            <a:r>
              <a:rPr lang="it-IT" sz="2400" i="1" dirty="0">
                <a:latin typeface="Comic Sans MS" charset="0"/>
              </a:rPr>
              <a:t>soluzione ricorsiva</a:t>
            </a:r>
          </a:p>
        </p:txBody>
      </p:sp>
      <p:sp>
        <p:nvSpPr>
          <p:cNvPr id="698371" name="Text Box 3"/>
          <p:cNvSpPr txBox="1">
            <a:spLocks noChangeArrowheads="1"/>
          </p:cNvSpPr>
          <p:nvPr/>
        </p:nvSpPr>
        <p:spPr bwMode="auto">
          <a:xfrm>
            <a:off x="533400" y="2057400"/>
            <a:ext cx="82296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Prendiamo come </a:t>
            </a:r>
            <a:r>
              <a:rPr lang="it-IT" sz="2400" dirty="0" err="1">
                <a:solidFill>
                  <a:srgbClr val="201FF0"/>
                </a:solidFill>
                <a:latin typeface="Comic Sans MS" charset="0"/>
              </a:rPr>
              <a:t>sottoproblemi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 il calcolo dei prodotti parziali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i</a:t>
            </a:r>
            <a:r>
              <a:rPr lang="it-IT" sz="2400" baseline="-25000" dirty="0">
                <a:solidFill>
                  <a:srgbClr val="FF0000"/>
                </a:solidFill>
                <a:latin typeface="Comic Sans MS" charset="0"/>
              </a:rPr>
              <a:t>..</a:t>
            </a:r>
            <a:r>
              <a:rPr lang="it-IT" sz="2400" i="1" baseline="-25000" dirty="0" err="1">
                <a:solidFill>
                  <a:srgbClr val="FF00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chemeClr val="accent2"/>
                </a:solidFill>
                <a:latin typeface="Comic Sans MS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delle matrici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i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...</a:t>
            </a:r>
            <a:r>
              <a:rPr lang="it-IT" sz="2400" i="1" dirty="0" err="1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 err="1">
                <a:solidFill>
                  <a:srgbClr val="FF00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chemeClr val="accent2"/>
                </a:solidFill>
                <a:latin typeface="Comic Sans MS" charset="0"/>
              </a:rPr>
              <a:t>  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e sia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m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[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i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, </a:t>
            </a:r>
            <a:r>
              <a:rPr lang="it-IT" sz="2400" i="1" dirty="0" err="1">
                <a:solidFill>
                  <a:srgbClr val="FF00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]</a:t>
            </a:r>
            <a:r>
              <a:rPr lang="it-IT" sz="2400" dirty="0">
                <a:solidFill>
                  <a:schemeClr val="accent2"/>
                </a:solidFill>
                <a:latin typeface="Comic Sans MS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il minimo numero di prodotti scalari necessario per calcolare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i</a:t>
            </a:r>
            <a:r>
              <a:rPr lang="it-IT" sz="2400" baseline="-25000" dirty="0">
                <a:solidFill>
                  <a:srgbClr val="FF0000"/>
                </a:solidFill>
                <a:latin typeface="Comic Sans MS" charset="0"/>
              </a:rPr>
              <a:t>..</a:t>
            </a:r>
            <a:r>
              <a:rPr lang="it-IT" sz="2400" i="1" baseline="-25000" dirty="0" err="1">
                <a:solidFill>
                  <a:srgbClr val="FF00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rgbClr val="0000FF"/>
                </a:solidFill>
                <a:latin typeface="Comic Sans MS" charset="0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Se</a:t>
            </a:r>
            <a:r>
              <a:rPr lang="it-IT" sz="2400" dirty="0">
                <a:solidFill>
                  <a:schemeClr val="accent2"/>
                </a:solidFill>
                <a:latin typeface="Comic Sans MS" charset="0"/>
              </a:rPr>
              <a:t>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i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=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 j</a:t>
            </a:r>
            <a:r>
              <a:rPr lang="it-IT" sz="2400" dirty="0">
                <a:solidFill>
                  <a:schemeClr val="accent2"/>
                </a:solidFill>
                <a:latin typeface="Comic Sans MS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allora</a:t>
            </a:r>
            <a:r>
              <a:rPr lang="it-IT" sz="2400" dirty="0">
                <a:solidFill>
                  <a:schemeClr val="accent2"/>
                </a:solidFill>
                <a:latin typeface="Comic Sans MS" charset="0"/>
              </a:rPr>
              <a:t>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i</a:t>
            </a:r>
            <a:r>
              <a:rPr lang="it-IT" sz="2400" baseline="-25000" dirty="0">
                <a:solidFill>
                  <a:srgbClr val="FF0000"/>
                </a:solidFill>
                <a:latin typeface="Comic Sans MS" charset="0"/>
              </a:rPr>
              <a:t>..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 =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i</a:t>
            </a:r>
            <a:r>
              <a:rPr lang="it-IT" sz="2400" dirty="0">
                <a:solidFill>
                  <a:schemeClr val="accent2"/>
                </a:solidFill>
                <a:latin typeface="Comic Sans MS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ed</a:t>
            </a:r>
            <a:r>
              <a:rPr lang="it-IT" sz="2400" dirty="0">
                <a:solidFill>
                  <a:schemeClr val="accent2"/>
                </a:solidFill>
                <a:latin typeface="Comic Sans MS" charset="0"/>
              </a:rPr>
              <a:t>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m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[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i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,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i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] = </a:t>
            </a:r>
            <a:r>
              <a:rPr lang="it-IT" sz="2400" dirty="0" smtClean="0">
                <a:solidFill>
                  <a:srgbClr val="FF0000"/>
                </a:solidFill>
                <a:latin typeface="Comic Sans MS" charset="0"/>
              </a:rPr>
              <a:t>0</a:t>
            </a:r>
            <a:endParaRPr lang="it-IT" sz="2400" dirty="0">
              <a:solidFill>
                <a:schemeClr val="accent2"/>
              </a:solidFill>
              <a:latin typeface="Comic Sans MS" charset="0"/>
            </a:endParaRP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Se</a:t>
            </a:r>
            <a:r>
              <a:rPr lang="it-IT" sz="2400" dirty="0">
                <a:solidFill>
                  <a:schemeClr val="accent2"/>
                </a:solidFill>
                <a:latin typeface="Comic Sans MS" charset="0"/>
              </a:rPr>
              <a:t>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i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&lt;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 </a:t>
            </a:r>
            <a:r>
              <a:rPr lang="it-IT" sz="2400" i="1" dirty="0" err="1">
                <a:solidFill>
                  <a:srgbClr val="FF00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chemeClr val="accent2"/>
                </a:solidFill>
                <a:latin typeface="Comic Sans MS" charset="0"/>
              </a:rPr>
              <a:t> </a:t>
            </a:r>
            <a:r>
              <a:rPr lang="it-IT" sz="2400" dirty="0">
                <a:solidFill>
                  <a:srgbClr val="201FF0"/>
                </a:solidFill>
              </a:rPr>
              <a:t>allora</a:t>
            </a:r>
            <a:r>
              <a:rPr lang="it-IT" sz="2400" dirty="0">
                <a:solidFill>
                  <a:schemeClr val="accent2"/>
                </a:solidFill>
              </a:rPr>
              <a:t> </a:t>
            </a:r>
            <a:r>
              <a:rPr lang="it-IT" sz="2400" i="1" dirty="0" smtClean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 smtClean="0">
                <a:solidFill>
                  <a:srgbClr val="FF0000"/>
                </a:solidFill>
                <a:latin typeface="Comic Sans MS" charset="0"/>
              </a:rPr>
              <a:t>i</a:t>
            </a:r>
            <a:r>
              <a:rPr lang="it-IT" sz="2400" baseline="-25000" dirty="0">
                <a:solidFill>
                  <a:srgbClr val="FF0000"/>
                </a:solidFill>
                <a:latin typeface="Comic Sans MS" charset="0"/>
              </a:rPr>
              <a:t>..</a:t>
            </a:r>
            <a:r>
              <a:rPr lang="it-IT" sz="2400" i="1" baseline="-25000" dirty="0" err="1">
                <a:solidFill>
                  <a:srgbClr val="FF00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 =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i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...</a:t>
            </a:r>
            <a:r>
              <a:rPr lang="it-IT" sz="2400" i="1" dirty="0" err="1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 err="1">
                <a:solidFill>
                  <a:srgbClr val="FF00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chemeClr val="accent2"/>
                </a:solidFill>
                <a:latin typeface="Comic Sans MS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si può calcolare come prodotto </a:t>
            </a:r>
            <a:r>
              <a:rPr lang="it-IT" sz="2400" i="1" dirty="0" err="1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 err="1">
                <a:solidFill>
                  <a:srgbClr val="FF0000"/>
                </a:solidFill>
                <a:latin typeface="Comic Sans MS" charset="0"/>
              </a:rPr>
              <a:t>i</a:t>
            </a:r>
            <a:r>
              <a:rPr lang="it-IT" sz="2400" baseline="-25000" dirty="0" err="1">
                <a:solidFill>
                  <a:srgbClr val="FF0000"/>
                </a:solidFill>
                <a:latin typeface="Comic Sans MS" charset="0"/>
              </a:rPr>
              <a:t>..</a:t>
            </a:r>
            <a:r>
              <a:rPr lang="it-IT" sz="2400" i="1" baseline="-25000" dirty="0" err="1">
                <a:solidFill>
                  <a:srgbClr val="FF0000"/>
                </a:solidFill>
                <a:latin typeface="Comic Sans MS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A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k+1</a:t>
            </a:r>
            <a:r>
              <a:rPr lang="it-IT" sz="2400" baseline="-25000" dirty="0">
                <a:solidFill>
                  <a:srgbClr val="FF0000"/>
                </a:solidFill>
                <a:latin typeface="Comic Sans MS" charset="0"/>
              </a:rPr>
              <a:t>..</a:t>
            </a:r>
            <a:r>
              <a:rPr lang="it-IT" sz="2400" i="1" baseline="-25000" dirty="0">
                <a:solidFill>
                  <a:srgbClr val="FF00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chemeClr val="accent2"/>
                </a:solidFill>
                <a:latin typeface="Comic Sans MS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con</a:t>
            </a:r>
            <a:r>
              <a:rPr lang="it-IT" sz="2400" dirty="0">
                <a:solidFill>
                  <a:schemeClr val="accent2"/>
                </a:solidFill>
                <a:latin typeface="Comic Sans MS" charset="0"/>
              </a:rPr>
              <a:t> 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i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≤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 k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</a:rPr>
              <a:t>≤</a:t>
            </a:r>
            <a:r>
              <a:rPr lang="it-IT" sz="2400" i="1" dirty="0">
                <a:solidFill>
                  <a:srgbClr val="FF0000"/>
                </a:solidFill>
                <a:latin typeface="Comic Sans MS" charset="0"/>
              </a:rPr>
              <a:t> </a:t>
            </a:r>
            <a:r>
              <a:rPr lang="it-IT" sz="2400" i="1" dirty="0" err="1">
                <a:solidFill>
                  <a:srgbClr val="FF0000"/>
                </a:solidFill>
                <a:latin typeface="Comic Sans MS" charset="0"/>
              </a:rPr>
              <a:t>j</a:t>
            </a:r>
            <a:r>
              <a:rPr lang="it-IT" sz="2400" dirty="0">
                <a:solidFill>
                  <a:srgbClr val="0000FF"/>
                </a:solidFill>
                <a:latin typeface="Comic Sans MS" charset="0"/>
              </a:rPr>
              <a:t>.</a:t>
            </a:r>
            <a:r>
              <a:rPr lang="it-IT" sz="2400" dirty="0">
                <a:solidFill>
                  <a:schemeClr val="accent2"/>
                </a:solidFill>
                <a:latin typeface="Comic Sans MS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Comic Sans MS" charset="0"/>
              </a:rPr>
              <a:t>Quindi</a:t>
            </a:r>
          </a:p>
        </p:txBody>
      </p:sp>
      <p:graphicFrame>
        <p:nvGraphicFramePr>
          <p:cNvPr id="698372" name="Object 4"/>
          <p:cNvGraphicFramePr>
            <a:graphicFrameLocks noChangeAspect="1"/>
          </p:cNvGraphicFramePr>
          <p:nvPr/>
        </p:nvGraphicFramePr>
        <p:xfrm>
          <a:off x="457200" y="5029200"/>
          <a:ext cx="81121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Equation" r:id="rId4" imgW="3353196" imgH="482997" progId="Equation.3">
                  <p:embed/>
                </p:oleObj>
              </mc:Choice>
              <mc:Fallback>
                <p:oleObj name="Equation" r:id="rId4" imgW="3353196" imgH="4829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029200"/>
                        <a:ext cx="811212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837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Verso la soluzione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Text Box 2"/>
          <p:cNvSpPr txBox="1">
            <a:spLocks noChangeArrowheads="1"/>
          </p:cNvSpPr>
          <p:nvPr/>
        </p:nvSpPr>
        <p:spPr bwMode="auto">
          <a:xfrm>
            <a:off x="152400" y="1066800"/>
            <a:ext cx="2209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dirty="0">
                <a:solidFill>
                  <a:srgbClr val="FF0000"/>
                </a:solidFill>
                <a:sym typeface="Symbol" charset="0"/>
              </a:rPr>
              <a:t>Terzo passo</a:t>
            </a:r>
            <a:endParaRPr lang="it-IT" sz="2400" dirty="0">
              <a:sym typeface="Symbol" charset="0"/>
            </a:endParaRPr>
          </a:p>
          <a:p>
            <a:r>
              <a:rPr lang="it-IT" sz="2400" i="1" u="sng" dirty="0">
                <a:sym typeface="Symbol" charset="0"/>
              </a:rPr>
              <a:t>Esempio</a:t>
            </a:r>
          </a:p>
        </p:txBody>
      </p:sp>
      <p:sp>
        <p:nvSpPr>
          <p:cNvPr id="699395" name="Text Box 3"/>
          <p:cNvSpPr txBox="1">
            <a:spLocks noChangeArrowheads="1"/>
          </p:cNvSpPr>
          <p:nvPr/>
        </p:nvSpPr>
        <p:spPr bwMode="auto">
          <a:xfrm>
            <a:off x="304800" y="2286000"/>
            <a:ext cx="1828800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i="1" dirty="0">
                <a:latin typeface="Calibri"/>
                <a:cs typeface="Calibri"/>
                <a:sym typeface="Symbol" charset="0"/>
              </a:rPr>
              <a:t>A</a:t>
            </a:r>
            <a:r>
              <a:rPr lang="it-IT" sz="2400" baseline="-25000" dirty="0">
                <a:latin typeface="Calibri"/>
                <a:cs typeface="Calibri"/>
                <a:sym typeface="Symbol" charset="0"/>
              </a:rPr>
              <a:t>1</a:t>
            </a:r>
            <a:r>
              <a:rPr lang="it-IT" sz="2400" dirty="0">
                <a:latin typeface="Calibri"/>
                <a:cs typeface="Calibri"/>
                <a:sym typeface="Symbol" charset="0"/>
              </a:rPr>
              <a:t>  3035</a:t>
            </a:r>
          </a:p>
          <a:p>
            <a:r>
              <a:rPr lang="it-IT" sz="2400" i="1" dirty="0">
                <a:latin typeface="Calibri"/>
                <a:cs typeface="Calibri"/>
                <a:sym typeface="Symbol" charset="0"/>
              </a:rPr>
              <a:t>A</a:t>
            </a:r>
            <a:r>
              <a:rPr lang="it-IT" sz="2400" baseline="-25000" dirty="0">
                <a:latin typeface="Calibri"/>
                <a:cs typeface="Calibri"/>
                <a:sym typeface="Symbol" charset="0"/>
              </a:rPr>
              <a:t>2</a:t>
            </a:r>
            <a:r>
              <a:rPr lang="it-IT" sz="2400" dirty="0">
                <a:latin typeface="Calibri"/>
                <a:cs typeface="Calibri"/>
                <a:sym typeface="Symbol" charset="0"/>
              </a:rPr>
              <a:t>  3515</a:t>
            </a:r>
          </a:p>
          <a:p>
            <a:r>
              <a:rPr lang="it-IT" sz="2400" i="1" dirty="0">
                <a:latin typeface="Calibri"/>
                <a:cs typeface="Calibri"/>
                <a:sym typeface="Symbol" charset="0"/>
              </a:rPr>
              <a:t>A</a:t>
            </a:r>
            <a:r>
              <a:rPr lang="it-IT" sz="2400" baseline="-25000" dirty="0">
                <a:latin typeface="Calibri"/>
                <a:cs typeface="Calibri"/>
                <a:sym typeface="Symbol" charset="0"/>
              </a:rPr>
              <a:t>3</a:t>
            </a:r>
            <a:r>
              <a:rPr lang="it-IT" sz="2400" dirty="0">
                <a:latin typeface="Calibri"/>
                <a:cs typeface="Calibri"/>
                <a:sym typeface="Symbol" charset="0"/>
              </a:rPr>
              <a:t>  155</a:t>
            </a:r>
          </a:p>
          <a:p>
            <a:r>
              <a:rPr lang="it-IT" sz="2400" i="1" dirty="0">
                <a:latin typeface="Calibri"/>
                <a:cs typeface="Calibri"/>
                <a:sym typeface="Symbol" charset="0"/>
              </a:rPr>
              <a:t>A</a:t>
            </a:r>
            <a:r>
              <a:rPr lang="it-IT" sz="2400" baseline="-25000" dirty="0">
                <a:latin typeface="Calibri"/>
                <a:cs typeface="Calibri"/>
                <a:sym typeface="Symbol" charset="0"/>
              </a:rPr>
              <a:t>4</a:t>
            </a:r>
            <a:r>
              <a:rPr lang="it-IT" sz="2400" dirty="0">
                <a:latin typeface="Calibri"/>
                <a:cs typeface="Calibri"/>
                <a:sym typeface="Symbol" charset="0"/>
              </a:rPr>
              <a:t>  510</a:t>
            </a:r>
          </a:p>
          <a:p>
            <a:r>
              <a:rPr lang="it-IT" sz="2400" i="1" dirty="0">
                <a:latin typeface="Calibri"/>
                <a:cs typeface="Calibri"/>
                <a:sym typeface="Symbol" charset="0"/>
              </a:rPr>
              <a:t>A</a:t>
            </a:r>
            <a:r>
              <a:rPr lang="it-IT" sz="2400" baseline="-25000" dirty="0">
                <a:latin typeface="Calibri"/>
                <a:cs typeface="Calibri"/>
                <a:sym typeface="Symbol" charset="0"/>
              </a:rPr>
              <a:t>5</a:t>
            </a:r>
            <a:r>
              <a:rPr lang="it-IT" sz="2400" dirty="0">
                <a:latin typeface="Calibri"/>
                <a:cs typeface="Calibri"/>
                <a:sym typeface="Symbol" charset="0"/>
              </a:rPr>
              <a:t>  1020</a:t>
            </a:r>
          </a:p>
          <a:p>
            <a:r>
              <a:rPr lang="it-IT" sz="2400" i="1" dirty="0">
                <a:latin typeface="Calibri"/>
                <a:cs typeface="Calibri"/>
                <a:sym typeface="Symbol" charset="0"/>
              </a:rPr>
              <a:t>A</a:t>
            </a:r>
            <a:r>
              <a:rPr lang="it-IT" sz="2400" baseline="-25000" dirty="0">
                <a:latin typeface="Calibri"/>
                <a:cs typeface="Calibri"/>
                <a:sym typeface="Symbol" charset="0"/>
              </a:rPr>
              <a:t>6</a:t>
            </a:r>
            <a:r>
              <a:rPr lang="it-IT" sz="2400" dirty="0">
                <a:latin typeface="Calibri"/>
                <a:cs typeface="Calibri"/>
                <a:sym typeface="Symbol" charset="0"/>
              </a:rPr>
              <a:t>  2025</a:t>
            </a:r>
          </a:p>
        </p:txBody>
      </p:sp>
      <p:sp>
        <p:nvSpPr>
          <p:cNvPr id="699397" name="Text Box 5"/>
          <p:cNvSpPr txBox="1">
            <a:spLocks noChangeArrowheads="1"/>
          </p:cNvSpPr>
          <p:nvPr/>
        </p:nvSpPr>
        <p:spPr bwMode="auto">
          <a:xfrm>
            <a:off x="3048000" y="13716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latin typeface="+mj-lt"/>
                <a:sym typeface="Symbol" charset="0"/>
              </a:rPr>
              <a:t>i</a:t>
            </a:r>
            <a:endParaRPr lang="it-IT" sz="2000" baseline="-25000">
              <a:latin typeface="+mj-lt"/>
              <a:sym typeface="Symbol" charset="0"/>
            </a:endParaRPr>
          </a:p>
        </p:txBody>
      </p:sp>
      <p:sp>
        <p:nvSpPr>
          <p:cNvPr id="699398" name="Text Box 6"/>
          <p:cNvSpPr txBox="1">
            <a:spLocks noChangeArrowheads="1"/>
          </p:cNvSpPr>
          <p:nvPr/>
        </p:nvSpPr>
        <p:spPr bwMode="auto">
          <a:xfrm>
            <a:off x="3733800" y="1066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1</a:t>
            </a:r>
          </a:p>
        </p:txBody>
      </p:sp>
      <p:sp>
        <p:nvSpPr>
          <p:cNvPr id="699399" name="Text Box 7"/>
          <p:cNvSpPr txBox="1">
            <a:spLocks noChangeArrowheads="1"/>
          </p:cNvSpPr>
          <p:nvPr/>
        </p:nvSpPr>
        <p:spPr bwMode="auto">
          <a:xfrm>
            <a:off x="7924800" y="1066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6</a:t>
            </a:r>
          </a:p>
        </p:txBody>
      </p:sp>
      <p:sp>
        <p:nvSpPr>
          <p:cNvPr id="699400" name="Text Box 8"/>
          <p:cNvSpPr txBox="1">
            <a:spLocks noChangeArrowheads="1"/>
          </p:cNvSpPr>
          <p:nvPr/>
        </p:nvSpPr>
        <p:spPr bwMode="auto">
          <a:xfrm>
            <a:off x="7086600" y="1066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5</a:t>
            </a:r>
          </a:p>
        </p:txBody>
      </p:sp>
      <p:sp>
        <p:nvSpPr>
          <p:cNvPr id="699401" name="Text Box 9"/>
          <p:cNvSpPr txBox="1">
            <a:spLocks noChangeArrowheads="1"/>
          </p:cNvSpPr>
          <p:nvPr/>
        </p:nvSpPr>
        <p:spPr bwMode="auto">
          <a:xfrm>
            <a:off x="6248400" y="1066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4</a:t>
            </a:r>
          </a:p>
        </p:txBody>
      </p:sp>
      <p:sp>
        <p:nvSpPr>
          <p:cNvPr id="699402" name="Text Box 10"/>
          <p:cNvSpPr txBox="1">
            <a:spLocks noChangeArrowheads="1"/>
          </p:cNvSpPr>
          <p:nvPr/>
        </p:nvSpPr>
        <p:spPr bwMode="auto">
          <a:xfrm>
            <a:off x="5410200" y="1066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3</a:t>
            </a:r>
          </a:p>
        </p:txBody>
      </p:sp>
      <p:sp>
        <p:nvSpPr>
          <p:cNvPr id="699403" name="Text Box 11"/>
          <p:cNvSpPr txBox="1">
            <a:spLocks noChangeArrowheads="1"/>
          </p:cNvSpPr>
          <p:nvPr/>
        </p:nvSpPr>
        <p:spPr bwMode="auto">
          <a:xfrm>
            <a:off x="4572000" y="1066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2</a:t>
            </a:r>
          </a:p>
        </p:txBody>
      </p:sp>
      <p:sp>
        <p:nvSpPr>
          <p:cNvPr id="699404" name="Text Box 12"/>
          <p:cNvSpPr txBox="1">
            <a:spLocks noChangeArrowheads="1"/>
          </p:cNvSpPr>
          <p:nvPr/>
        </p:nvSpPr>
        <p:spPr bwMode="auto">
          <a:xfrm>
            <a:off x="3048000" y="1676400"/>
            <a:ext cx="457200" cy="382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25000"/>
              </a:spcBef>
            </a:pPr>
            <a:r>
              <a:rPr lang="it-IT" sz="2000" dirty="0">
                <a:latin typeface="+mj-lt"/>
                <a:sym typeface="Symbol" charset="0"/>
              </a:rPr>
              <a:t>1</a:t>
            </a:r>
          </a:p>
          <a:p>
            <a:pPr>
              <a:spcBef>
                <a:spcPct val="125000"/>
              </a:spcBef>
            </a:pPr>
            <a:r>
              <a:rPr lang="it-IT" sz="2000" dirty="0">
                <a:latin typeface="+mj-lt"/>
                <a:sym typeface="Symbol" charset="0"/>
              </a:rPr>
              <a:t>2</a:t>
            </a:r>
          </a:p>
          <a:p>
            <a:pPr>
              <a:spcBef>
                <a:spcPct val="125000"/>
              </a:spcBef>
            </a:pPr>
            <a:r>
              <a:rPr lang="it-IT" sz="2000" dirty="0">
                <a:latin typeface="+mj-lt"/>
                <a:sym typeface="Symbol" charset="0"/>
              </a:rPr>
              <a:t>3</a:t>
            </a:r>
          </a:p>
          <a:p>
            <a:pPr>
              <a:spcBef>
                <a:spcPct val="125000"/>
              </a:spcBef>
            </a:pPr>
            <a:r>
              <a:rPr lang="it-IT" sz="2000" dirty="0">
                <a:latin typeface="+mj-lt"/>
                <a:sym typeface="Symbol" charset="0"/>
              </a:rPr>
              <a:t>4</a:t>
            </a:r>
          </a:p>
          <a:p>
            <a:pPr>
              <a:spcBef>
                <a:spcPct val="125000"/>
              </a:spcBef>
            </a:pPr>
            <a:r>
              <a:rPr lang="it-IT" sz="2000" dirty="0">
                <a:latin typeface="+mj-lt"/>
                <a:sym typeface="Symbol" charset="0"/>
              </a:rPr>
              <a:t>5</a:t>
            </a:r>
          </a:p>
          <a:p>
            <a:pPr>
              <a:spcBef>
                <a:spcPct val="125000"/>
              </a:spcBef>
            </a:pPr>
            <a:r>
              <a:rPr lang="it-IT" sz="2000" dirty="0">
                <a:latin typeface="+mj-lt"/>
                <a:sym typeface="Symbol" charset="0"/>
              </a:rPr>
              <a:t>6</a:t>
            </a:r>
          </a:p>
        </p:txBody>
      </p:sp>
      <p:sp>
        <p:nvSpPr>
          <p:cNvPr id="699405" name="Rectangle 13"/>
          <p:cNvSpPr>
            <a:spLocks noChangeArrowheads="1"/>
          </p:cNvSpPr>
          <p:nvPr/>
        </p:nvSpPr>
        <p:spPr bwMode="auto">
          <a:xfrm>
            <a:off x="76962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06" name="Rectangle 14"/>
          <p:cNvSpPr>
            <a:spLocks noChangeArrowheads="1"/>
          </p:cNvSpPr>
          <p:nvPr/>
        </p:nvSpPr>
        <p:spPr bwMode="auto">
          <a:xfrm>
            <a:off x="51816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07" name="Rectangle 15"/>
          <p:cNvSpPr>
            <a:spLocks noChangeArrowheads="1"/>
          </p:cNvSpPr>
          <p:nvPr/>
        </p:nvSpPr>
        <p:spPr bwMode="auto">
          <a:xfrm>
            <a:off x="60198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08" name="Rectangle 16"/>
          <p:cNvSpPr>
            <a:spLocks noChangeArrowheads="1"/>
          </p:cNvSpPr>
          <p:nvPr/>
        </p:nvSpPr>
        <p:spPr bwMode="auto">
          <a:xfrm>
            <a:off x="68580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09" name="Rectangle 17"/>
          <p:cNvSpPr>
            <a:spLocks noChangeArrowheads="1"/>
          </p:cNvSpPr>
          <p:nvPr/>
        </p:nvSpPr>
        <p:spPr bwMode="auto">
          <a:xfrm>
            <a:off x="35052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 dirty="0">
                <a:latin typeface="+mj-lt"/>
                <a:sym typeface="Symbol" charset="0"/>
              </a:rPr>
              <a:t>A</a:t>
            </a:r>
            <a:r>
              <a:rPr lang="it-IT" sz="1800" baseline="-25000" dirty="0">
                <a:latin typeface="+mj-lt"/>
                <a:sym typeface="Symbol" charset="0"/>
              </a:rPr>
              <a:t>1..1</a:t>
            </a:r>
            <a:endParaRPr lang="it-IT" sz="1800" dirty="0">
              <a:latin typeface="+mj-lt"/>
            </a:endParaRPr>
          </a:p>
          <a:p>
            <a:pPr algn="ctr"/>
            <a:r>
              <a:rPr lang="it-IT" sz="1800" dirty="0">
                <a:latin typeface="+mj-lt"/>
              </a:rPr>
              <a:t>0</a:t>
            </a:r>
          </a:p>
          <a:p>
            <a:pPr algn="ctr"/>
            <a:endParaRPr lang="en-US" sz="1800" dirty="0">
              <a:latin typeface="+mj-lt"/>
            </a:endParaRPr>
          </a:p>
        </p:txBody>
      </p:sp>
      <p:sp>
        <p:nvSpPr>
          <p:cNvPr id="699410" name="Rectangle 18"/>
          <p:cNvSpPr>
            <a:spLocks noChangeArrowheads="1"/>
          </p:cNvSpPr>
          <p:nvPr/>
        </p:nvSpPr>
        <p:spPr bwMode="auto">
          <a:xfrm>
            <a:off x="43434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11" name="Rectangle 19"/>
          <p:cNvSpPr>
            <a:spLocks noChangeArrowheads="1"/>
          </p:cNvSpPr>
          <p:nvPr/>
        </p:nvSpPr>
        <p:spPr bwMode="auto">
          <a:xfrm>
            <a:off x="43434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2..2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0</a:t>
            </a:r>
          </a:p>
          <a:p>
            <a:pPr algn="ctr"/>
            <a:endParaRPr lang="en-US" sz="1800">
              <a:latin typeface="+mj-lt"/>
            </a:endParaRPr>
          </a:p>
        </p:txBody>
      </p:sp>
      <p:sp>
        <p:nvSpPr>
          <p:cNvPr id="699412" name="Rectangle 20"/>
          <p:cNvSpPr>
            <a:spLocks noChangeArrowheads="1"/>
          </p:cNvSpPr>
          <p:nvPr/>
        </p:nvSpPr>
        <p:spPr bwMode="auto">
          <a:xfrm>
            <a:off x="5181600" y="3124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3..3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0</a:t>
            </a:r>
          </a:p>
          <a:p>
            <a:pPr algn="ctr"/>
            <a:endParaRPr lang="en-US" sz="1800">
              <a:latin typeface="+mj-lt"/>
            </a:endParaRPr>
          </a:p>
        </p:txBody>
      </p:sp>
      <p:sp>
        <p:nvSpPr>
          <p:cNvPr id="699413" name="Rectangle 21"/>
          <p:cNvSpPr>
            <a:spLocks noChangeArrowheads="1"/>
          </p:cNvSpPr>
          <p:nvPr/>
        </p:nvSpPr>
        <p:spPr bwMode="auto">
          <a:xfrm>
            <a:off x="6019800" y="39624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4..4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0</a:t>
            </a:r>
          </a:p>
          <a:p>
            <a:pPr algn="ctr"/>
            <a:endParaRPr lang="en-US" sz="1800">
              <a:latin typeface="+mj-lt"/>
            </a:endParaRPr>
          </a:p>
        </p:txBody>
      </p:sp>
      <p:sp>
        <p:nvSpPr>
          <p:cNvPr id="699414" name="Rectangle 22"/>
          <p:cNvSpPr>
            <a:spLocks noChangeArrowheads="1"/>
          </p:cNvSpPr>
          <p:nvPr/>
        </p:nvSpPr>
        <p:spPr bwMode="auto">
          <a:xfrm>
            <a:off x="6858000" y="4800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5..5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0</a:t>
            </a:r>
          </a:p>
          <a:p>
            <a:pPr algn="ctr"/>
            <a:endParaRPr lang="en-US" sz="1800">
              <a:latin typeface="+mj-lt"/>
            </a:endParaRPr>
          </a:p>
        </p:txBody>
      </p:sp>
      <p:sp>
        <p:nvSpPr>
          <p:cNvPr id="699415" name="Rectangle 23"/>
          <p:cNvSpPr>
            <a:spLocks noChangeArrowheads="1"/>
          </p:cNvSpPr>
          <p:nvPr/>
        </p:nvSpPr>
        <p:spPr bwMode="auto">
          <a:xfrm>
            <a:off x="7696200" y="5638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 dirty="0">
                <a:latin typeface="+mj-lt"/>
                <a:sym typeface="Symbol" charset="0"/>
              </a:rPr>
              <a:t>A</a:t>
            </a:r>
            <a:r>
              <a:rPr lang="it-IT" sz="1800" baseline="-25000" dirty="0">
                <a:latin typeface="+mj-lt"/>
                <a:sym typeface="Symbol" charset="0"/>
              </a:rPr>
              <a:t>6..6</a:t>
            </a:r>
            <a:endParaRPr lang="it-IT" sz="1800" dirty="0">
              <a:latin typeface="+mj-lt"/>
            </a:endParaRPr>
          </a:p>
          <a:p>
            <a:pPr algn="ctr"/>
            <a:r>
              <a:rPr lang="it-IT" sz="1800" dirty="0">
                <a:latin typeface="+mj-lt"/>
              </a:rPr>
              <a:t>0</a:t>
            </a:r>
          </a:p>
          <a:p>
            <a:pPr algn="ctr"/>
            <a:endParaRPr lang="en-US" sz="1800" dirty="0">
              <a:latin typeface="+mj-lt"/>
            </a:endParaRPr>
          </a:p>
        </p:txBody>
      </p:sp>
      <p:sp>
        <p:nvSpPr>
          <p:cNvPr id="699416" name="Rectangle 24"/>
          <p:cNvSpPr>
            <a:spLocks noChangeArrowheads="1"/>
          </p:cNvSpPr>
          <p:nvPr/>
        </p:nvSpPr>
        <p:spPr bwMode="auto">
          <a:xfrm>
            <a:off x="68580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17" name="Rectangle 25"/>
          <p:cNvSpPr>
            <a:spLocks noChangeArrowheads="1"/>
          </p:cNvSpPr>
          <p:nvPr/>
        </p:nvSpPr>
        <p:spPr bwMode="auto">
          <a:xfrm>
            <a:off x="7696200" y="4800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18" name="Rectangle 26"/>
          <p:cNvSpPr>
            <a:spLocks noChangeArrowheads="1"/>
          </p:cNvSpPr>
          <p:nvPr/>
        </p:nvSpPr>
        <p:spPr bwMode="auto">
          <a:xfrm>
            <a:off x="7696200" y="39624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19" name="Rectangle 27"/>
          <p:cNvSpPr>
            <a:spLocks noChangeArrowheads="1"/>
          </p:cNvSpPr>
          <p:nvPr/>
        </p:nvSpPr>
        <p:spPr bwMode="auto">
          <a:xfrm>
            <a:off x="7696200" y="3124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20" name="Rectangle 28"/>
          <p:cNvSpPr>
            <a:spLocks noChangeArrowheads="1"/>
          </p:cNvSpPr>
          <p:nvPr/>
        </p:nvSpPr>
        <p:spPr bwMode="auto">
          <a:xfrm>
            <a:off x="76962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21" name="Rectangle 29"/>
          <p:cNvSpPr>
            <a:spLocks noChangeArrowheads="1"/>
          </p:cNvSpPr>
          <p:nvPr/>
        </p:nvSpPr>
        <p:spPr bwMode="auto">
          <a:xfrm>
            <a:off x="51816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22" name="Rectangle 30"/>
          <p:cNvSpPr>
            <a:spLocks noChangeArrowheads="1"/>
          </p:cNvSpPr>
          <p:nvPr/>
        </p:nvSpPr>
        <p:spPr bwMode="auto">
          <a:xfrm>
            <a:off x="60198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23" name="Rectangle 31"/>
          <p:cNvSpPr>
            <a:spLocks noChangeArrowheads="1"/>
          </p:cNvSpPr>
          <p:nvPr/>
        </p:nvSpPr>
        <p:spPr bwMode="auto">
          <a:xfrm>
            <a:off x="6019800" y="3124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24" name="Rectangle 32"/>
          <p:cNvSpPr>
            <a:spLocks noChangeArrowheads="1"/>
          </p:cNvSpPr>
          <p:nvPr/>
        </p:nvSpPr>
        <p:spPr bwMode="auto">
          <a:xfrm>
            <a:off x="6858000" y="39624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25" name="Rectangle 33"/>
          <p:cNvSpPr>
            <a:spLocks noChangeArrowheads="1"/>
          </p:cNvSpPr>
          <p:nvPr/>
        </p:nvSpPr>
        <p:spPr bwMode="auto">
          <a:xfrm>
            <a:off x="6858000" y="3124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26" name="Line 34"/>
          <p:cNvSpPr>
            <a:spLocks noChangeShapeType="1"/>
          </p:cNvSpPr>
          <p:nvPr/>
        </p:nvSpPr>
        <p:spPr bwMode="auto">
          <a:xfrm>
            <a:off x="3505200" y="1447800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9427" name="Line 35"/>
          <p:cNvSpPr>
            <a:spLocks noChangeShapeType="1"/>
          </p:cNvSpPr>
          <p:nvPr/>
        </p:nvSpPr>
        <p:spPr bwMode="auto">
          <a:xfrm>
            <a:off x="3657600" y="1447800"/>
            <a:ext cx="548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9428" name="Text Box 36"/>
          <p:cNvSpPr txBox="1">
            <a:spLocks noChangeArrowheads="1"/>
          </p:cNvSpPr>
          <p:nvPr/>
        </p:nvSpPr>
        <p:spPr bwMode="auto">
          <a:xfrm>
            <a:off x="3276600" y="1066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latin typeface="+mj-lt"/>
                <a:sym typeface="Symbol" charset="0"/>
              </a:rPr>
              <a:t>j</a:t>
            </a:r>
            <a:endParaRPr lang="it-IT" sz="2000" baseline="-25000">
              <a:latin typeface="+mj-lt"/>
              <a:sym typeface="Symbol" charset="0"/>
            </a:endParaRPr>
          </a:p>
        </p:txBody>
      </p:sp>
      <p:sp>
        <p:nvSpPr>
          <p:cNvPr id="699429" name="Text Box 37"/>
          <p:cNvSpPr txBox="1">
            <a:spLocks noChangeArrowheads="1"/>
          </p:cNvSpPr>
          <p:nvPr/>
        </p:nvSpPr>
        <p:spPr bwMode="auto">
          <a:xfrm>
            <a:off x="2286000" y="1676400"/>
            <a:ext cx="685800" cy="382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25000"/>
              </a:spcBef>
            </a:pPr>
            <a:r>
              <a:rPr lang="it-IT" sz="2000">
                <a:latin typeface="+mj-lt"/>
                <a:sym typeface="Symbol" charset="0"/>
              </a:rPr>
              <a:t>30</a:t>
            </a:r>
          </a:p>
          <a:p>
            <a:pPr>
              <a:spcBef>
                <a:spcPct val="125000"/>
              </a:spcBef>
            </a:pPr>
            <a:r>
              <a:rPr lang="it-IT" sz="2000">
                <a:latin typeface="+mj-lt"/>
                <a:sym typeface="Symbol" charset="0"/>
              </a:rPr>
              <a:t>35</a:t>
            </a:r>
          </a:p>
          <a:p>
            <a:pPr>
              <a:spcBef>
                <a:spcPct val="125000"/>
              </a:spcBef>
            </a:pPr>
            <a:r>
              <a:rPr lang="it-IT" sz="2000">
                <a:latin typeface="+mj-lt"/>
                <a:sym typeface="Symbol" charset="0"/>
              </a:rPr>
              <a:t>15</a:t>
            </a:r>
          </a:p>
          <a:p>
            <a:pPr>
              <a:spcBef>
                <a:spcPct val="125000"/>
              </a:spcBef>
            </a:pPr>
            <a:r>
              <a:rPr lang="it-IT" sz="2000">
                <a:latin typeface="+mj-lt"/>
                <a:sym typeface="Symbol" charset="0"/>
              </a:rPr>
              <a:t>5</a:t>
            </a:r>
          </a:p>
          <a:p>
            <a:pPr>
              <a:spcBef>
                <a:spcPct val="125000"/>
              </a:spcBef>
            </a:pPr>
            <a:r>
              <a:rPr lang="it-IT" sz="2000">
                <a:latin typeface="+mj-lt"/>
                <a:sym typeface="Symbol" charset="0"/>
              </a:rPr>
              <a:t>10</a:t>
            </a:r>
          </a:p>
          <a:p>
            <a:pPr>
              <a:spcBef>
                <a:spcPct val="125000"/>
              </a:spcBef>
            </a:pPr>
            <a:r>
              <a:rPr lang="it-IT" sz="2000">
                <a:latin typeface="+mj-lt"/>
                <a:sym typeface="Symbol" charset="0"/>
              </a:rPr>
              <a:t>20</a:t>
            </a:r>
          </a:p>
        </p:txBody>
      </p:sp>
      <p:sp>
        <p:nvSpPr>
          <p:cNvPr id="699430" name="Text Box 38"/>
          <p:cNvSpPr txBox="1">
            <a:spLocks noChangeArrowheads="1"/>
          </p:cNvSpPr>
          <p:nvPr/>
        </p:nvSpPr>
        <p:spPr bwMode="auto">
          <a:xfrm>
            <a:off x="2362200" y="12954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 dirty="0" err="1">
                <a:latin typeface="+mj-lt"/>
                <a:sym typeface="Symbol" charset="0"/>
              </a:rPr>
              <a:t>p</a:t>
            </a:r>
            <a:endParaRPr lang="it-IT" sz="2000" baseline="-25000" dirty="0">
              <a:latin typeface="+mj-lt"/>
              <a:sym typeface="Symbol" charset="0"/>
            </a:endParaRPr>
          </a:p>
        </p:txBody>
      </p:sp>
      <p:sp>
        <p:nvSpPr>
          <p:cNvPr id="699431" name="Text Box 39"/>
          <p:cNvSpPr txBox="1">
            <a:spLocks noChangeArrowheads="1"/>
          </p:cNvSpPr>
          <p:nvPr/>
        </p:nvSpPr>
        <p:spPr bwMode="auto">
          <a:xfrm>
            <a:off x="3657600" y="762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35</a:t>
            </a:r>
          </a:p>
        </p:txBody>
      </p:sp>
      <p:sp>
        <p:nvSpPr>
          <p:cNvPr id="699432" name="Text Box 40"/>
          <p:cNvSpPr txBox="1">
            <a:spLocks noChangeArrowheads="1"/>
          </p:cNvSpPr>
          <p:nvPr/>
        </p:nvSpPr>
        <p:spPr bwMode="auto">
          <a:xfrm>
            <a:off x="7848600" y="762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25</a:t>
            </a:r>
          </a:p>
        </p:txBody>
      </p:sp>
      <p:sp>
        <p:nvSpPr>
          <p:cNvPr id="699433" name="Text Box 41"/>
          <p:cNvSpPr txBox="1">
            <a:spLocks noChangeArrowheads="1"/>
          </p:cNvSpPr>
          <p:nvPr/>
        </p:nvSpPr>
        <p:spPr bwMode="auto">
          <a:xfrm>
            <a:off x="7010400" y="762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20</a:t>
            </a:r>
          </a:p>
        </p:txBody>
      </p:sp>
      <p:sp>
        <p:nvSpPr>
          <p:cNvPr id="699434" name="Text Box 42"/>
          <p:cNvSpPr txBox="1">
            <a:spLocks noChangeArrowheads="1"/>
          </p:cNvSpPr>
          <p:nvPr/>
        </p:nvSpPr>
        <p:spPr bwMode="auto">
          <a:xfrm>
            <a:off x="6172200" y="7620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10</a:t>
            </a:r>
          </a:p>
        </p:txBody>
      </p:sp>
      <p:sp>
        <p:nvSpPr>
          <p:cNvPr id="699435" name="Text Box 43"/>
          <p:cNvSpPr txBox="1">
            <a:spLocks noChangeArrowheads="1"/>
          </p:cNvSpPr>
          <p:nvPr/>
        </p:nvSpPr>
        <p:spPr bwMode="auto">
          <a:xfrm>
            <a:off x="5334000" y="762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5</a:t>
            </a:r>
          </a:p>
        </p:txBody>
      </p:sp>
      <p:sp>
        <p:nvSpPr>
          <p:cNvPr id="699436" name="Text Box 44"/>
          <p:cNvSpPr txBox="1">
            <a:spLocks noChangeArrowheads="1"/>
          </p:cNvSpPr>
          <p:nvPr/>
        </p:nvSpPr>
        <p:spPr bwMode="auto">
          <a:xfrm>
            <a:off x="4495800" y="762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15</a:t>
            </a:r>
          </a:p>
        </p:txBody>
      </p:sp>
      <p:sp>
        <p:nvSpPr>
          <p:cNvPr id="699437" name="Text Box 45"/>
          <p:cNvSpPr txBox="1">
            <a:spLocks noChangeArrowheads="1"/>
          </p:cNvSpPr>
          <p:nvPr/>
        </p:nvSpPr>
        <p:spPr bwMode="auto">
          <a:xfrm>
            <a:off x="3275856" y="692696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latin typeface="+mj-lt"/>
                <a:sym typeface="Symbol" charset="0"/>
              </a:rPr>
              <a:t>p</a:t>
            </a:r>
            <a:endParaRPr lang="it-IT" sz="2000" baseline="-25000">
              <a:latin typeface="+mj-lt"/>
              <a:sym typeface="Symbol" charset="0"/>
            </a:endParaRPr>
          </a:p>
        </p:txBody>
      </p:sp>
      <p:sp>
        <p:nvSpPr>
          <p:cNvPr id="699438" name="Text Box 46"/>
          <p:cNvSpPr txBox="1">
            <a:spLocks noChangeArrowheads="1"/>
          </p:cNvSpPr>
          <p:nvPr/>
        </p:nvSpPr>
        <p:spPr bwMode="auto">
          <a:xfrm>
            <a:off x="3429000" y="1676400"/>
            <a:ext cx="53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1800" i="1">
                <a:latin typeface="+mj-lt"/>
                <a:sym typeface="Symbol" charset="0"/>
              </a:rPr>
              <a:t>m</a:t>
            </a:r>
          </a:p>
          <a:p>
            <a:r>
              <a:rPr lang="it-IT" sz="1800" i="1">
                <a:latin typeface="+mj-lt"/>
                <a:sym typeface="Symbol" charset="0"/>
              </a:rPr>
              <a:t>k</a:t>
            </a:r>
            <a:endParaRPr lang="it-IT" sz="1800">
              <a:latin typeface="+mj-lt"/>
              <a:sym typeface="Symbol" charset="0"/>
            </a:endParaRPr>
          </a:p>
        </p:txBody>
      </p:sp>
      <p:sp>
        <p:nvSpPr>
          <p:cNvPr id="699439" name="Text Box 47"/>
          <p:cNvSpPr txBox="1">
            <a:spLocks noChangeArrowheads="1"/>
          </p:cNvSpPr>
          <p:nvPr/>
        </p:nvSpPr>
        <p:spPr bwMode="auto">
          <a:xfrm>
            <a:off x="4267200" y="2514600"/>
            <a:ext cx="53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1800" i="1">
                <a:latin typeface="+mj-lt"/>
                <a:sym typeface="Symbol" charset="0"/>
              </a:rPr>
              <a:t>m</a:t>
            </a:r>
          </a:p>
          <a:p>
            <a:r>
              <a:rPr lang="it-IT" sz="1800" i="1">
                <a:latin typeface="+mj-lt"/>
                <a:sym typeface="Symbol" charset="0"/>
              </a:rPr>
              <a:t>k</a:t>
            </a:r>
            <a:endParaRPr lang="it-IT" sz="1800">
              <a:latin typeface="+mj-lt"/>
              <a:sym typeface="Symbol" charset="0"/>
            </a:endParaRPr>
          </a:p>
        </p:txBody>
      </p:sp>
      <p:sp>
        <p:nvSpPr>
          <p:cNvPr id="699440" name="Text Box 48"/>
          <p:cNvSpPr txBox="1">
            <a:spLocks noChangeArrowheads="1"/>
          </p:cNvSpPr>
          <p:nvPr/>
        </p:nvSpPr>
        <p:spPr bwMode="auto">
          <a:xfrm>
            <a:off x="6781800" y="5029200"/>
            <a:ext cx="53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1800" i="1">
                <a:latin typeface="+mj-lt"/>
                <a:sym typeface="Symbol" charset="0"/>
              </a:rPr>
              <a:t>m</a:t>
            </a:r>
          </a:p>
          <a:p>
            <a:r>
              <a:rPr lang="it-IT" sz="1800" i="1">
                <a:latin typeface="+mj-lt"/>
                <a:sym typeface="Symbol" charset="0"/>
              </a:rPr>
              <a:t>k</a:t>
            </a:r>
            <a:endParaRPr lang="it-IT" sz="1800">
              <a:latin typeface="+mj-lt"/>
              <a:sym typeface="Symbol" charset="0"/>
            </a:endParaRPr>
          </a:p>
        </p:txBody>
      </p:sp>
      <p:sp>
        <p:nvSpPr>
          <p:cNvPr id="699441" name="Text Box 49"/>
          <p:cNvSpPr txBox="1">
            <a:spLocks noChangeArrowheads="1"/>
          </p:cNvSpPr>
          <p:nvPr/>
        </p:nvSpPr>
        <p:spPr bwMode="auto">
          <a:xfrm>
            <a:off x="5943600" y="4191000"/>
            <a:ext cx="53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1800" i="1">
                <a:latin typeface="+mj-lt"/>
                <a:sym typeface="Symbol" charset="0"/>
              </a:rPr>
              <a:t>m</a:t>
            </a:r>
          </a:p>
          <a:p>
            <a:r>
              <a:rPr lang="it-IT" sz="1800" i="1">
                <a:latin typeface="+mj-lt"/>
                <a:sym typeface="Symbol" charset="0"/>
              </a:rPr>
              <a:t>k</a:t>
            </a:r>
            <a:endParaRPr lang="it-IT" sz="1800">
              <a:latin typeface="+mj-lt"/>
              <a:sym typeface="Symbol" charset="0"/>
            </a:endParaRPr>
          </a:p>
        </p:txBody>
      </p:sp>
      <p:sp>
        <p:nvSpPr>
          <p:cNvPr id="699442" name="Text Box 50"/>
          <p:cNvSpPr txBox="1">
            <a:spLocks noChangeArrowheads="1"/>
          </p:cNvSpPr>
          <p:nvPr/>
        </p:nvSpPr>
        <p:spPr bwMode="auto">
          <a:xfrm>
            <a:off x="5105400" y="3352800"/>
            <a:ext cx="53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1800" i="1">
                <a:latin typeface="+mj-lt"/>
                <a:sym typeface="Symbol" charset="0"/>
              </a:rPr>
              <a:t>m</a:t>
            </a:r>
          </a:p>
          <a:p>
            <a:r>
              <a:rPr lang="it-IT" sz="1800" i="1">
                <a:latin typeface="+mj-lt"/>
                <a:sym typeface="Symbol" charset="0"/>
              </a:rPr>
              <a:t>k</a:t>
            </a:r>
            <a:endParaRPr lang="it-IT" sz="1800">
              <a:latin typeface="+mj-lt"/>
              <a:sym typeface="Symbol" charset="0"/>
            </a:endParaRPr>
          </a:p>
        </p:txBody>
      </p:sp>
      <p:sp>
        <p:nvSpPr>
          <p:cNvPr id="699443" name="Text Box 51"/>
          <p:cNvSpPr txBox="1">
            <a:spLocks noChangeArrowheads="1"/>
          </p:cNvSpPr>
          <p:nvPr/>
        </p:nvSpPr>
        <p:spPr bwMode="auto">
          <a:xfrm>
            <a:off x="7620000" y="5867400"/>
            <a:ext cx="53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1800" i="1">
                <a:latin typeface="+mj-lt"/>
                <a:sym typeface="Symbol" charset="0"/>
              </a:rPr>
              <a:t>m</a:t>
            </a:r>
          </a:p>
          <a:p>
            <a:r>
              <a:rPr lang="it-IT" sz="1800" i="1">
                <a:latin typeface="+mj-lt"/>
                <a:sym typeface="Symbol" charset="0"/>
              </a:rPr>
              <a:t>k</a:t>
            </a:r>
            <a:endParaRPr lang="it-IT" sz="1800">
              <a:latin typeface="+mj-lt"/>
              <a:sym typeface="Symbol" charset="0"/>
            </a:endParaRPr>
          </a:p>
        </p:txBody>
      </p:sp>
      <p:sp>
        <p:nvSpPr>
          <p:cNvPr id="699444" name="Rectangle 52"/>
          <p:cNvSpPr>
            <a:spLocks noChangeArrowheads="1"/>
          </p:cNvSpPr>
          <p:nvPr/>
        </p:nvSpPr>
        <p:spPr bwMode="auto">
          <a:xfrm>
            <a:off x="43434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1..2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15750</a:t>
            </a:r>
          </a:p>
          <a:p>
            <a:pPr algn="ctr"/>
            <a:r>
              <a:rPr lang="it-IT" sz="1800">
                <a:latin typeface="+mj-lt"/>
              </a:rPr>
              <a:t>1</a:t>
            </a:r>
            <a:endParaRPr lang="en-US" sz="1800">
              <a:latin typeface="+mj-lt"/>
            </a:endParaRPr>
          </a:p>
        </p:txBody>
      </p:sp>
      <p:sp>
        <p:nvSpPr>
          <p:cNvPr id="699445" name="Rectangle 53"/>
          <p:cNvSpPr>
            <a:spLocks noChangeArrowheads="1"/>
          </p:cNvSpPr>
          <p:nvPr/>
        </p:nvSpPr>
        <p:spPr bwMode="auto">
          <a:xfrm>
            <a:off x="51816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2..3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2625</a:t>
            </a:r>
          </a:p>
          <a:p>
            <a:pPr algn="ctr"/>
            <a:r>
              <a:rPr lang="it-IT" sz="1800">
                <a:latin typeface="+mj-lt"/>
              </a:rPr>
              <a:t>2</a:t>
            </a:r>
            <a:endParaRPr lang="en-US" sz="1800">
              <a:latin typeface="+mj-lt"/>
            </a:endParaRPr>
          </a:p>
        </p:txBody>
      </p:sp>
      <p:sp>
        <p:nvSpPr>
          <p:cNvPr id="699446" name="Rectangle 54"/>
          <p:cNvSpPr>
            <a:spLocks noChangeArrowheads="1"/>
          </p:cNvSpPr>
          <p:nvPr/>
        </p:nvSpPr>
        <p:spPr bwMode="auto">
          <a:xfrm>
            <a:off x="6019800" y="3124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3..4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750</a:t>
            </a:r>
          </a:p>
          <a:p>
            <a:pPr algn="ctr"/>
            <a:r>
              <a:rPr lang="it-IT" sz="1800">
                <a:latin typeface="+mj-lt"/>
              </a:rPr>
              <a:t>3</a:t>
            </a:r>
            <a:endParaRPr lang="en-US" sz="1800">
              <a:latin typeface="+mj-lt"/>
            </a:endParaRPr>
          </a:p>
        </p:txBody>
      </p:sp>
      <p:sp>
        <p:nvSpPr>
          <p:cNvPr id="699447" name="Rectangle 55"/>
          <p:cNvSpPr>
            <a:spLocks noChangeArrowheads="1"/>
          </p:cNvSpPr>
          <p:nvPr/>
        </p:nvSpPr>
        <p:spPr bwMode="auto">
          <a:xfrm>
            <a:off x="6858000" y="39624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4..5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1000</a:t>
            </a:r>
          </a:p>
          <a:p>
            <a:pPr algn="ctr"/>
            <a:r>
              <a:rPr lang="it-IT" sz="1800">
                <a:latin typeface="+mj-lt"/>
              </a:rPr>
              <a:t>4</a:t>
            </a:r>
            <a:endParaRPr lang="en-US" sz="1800">
              <a:latin typeface="+mj-lt"/>
            </a:endParaRPr>
          </a:p>
        </p:txBody>
      </p:sp>
      <p:sp>
        <p:nvSpPr>
          <p:cNvPr id="699448" name="Rectangle 56"/>
          <p:cNvSpPr>
            <a:spLocks noChangeArrowheads="1"/>
          </p:cNvSpPr>
          <p:nvPr/>
        </p:nvSpPr>
        <p:spPr bwMode="auto">
          <a:xfrm>
            <a:off x="7696200" y="4800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5..6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5000</a:t>
            </a:r>
          </a:p>
          <a:p>
            <a:pPr algn="ctr"/>
            <a:r>
              <a:rPr lang="it-IT" sz="1800">
                <a:latin typeface="+mj-lt"/>
              </a:rPr>
              <a:t>5</a:t>
            </a:r>
            <a:endParaRPr lang="en-US" sz="1800">
              <a:latin typeface="+mj-lt"/>
            </a:endParaRPr>
          </a:p>
        </p:txBody>
      </p:sp>
      <p:sp>
        <p:nvSpPr>
          <p:cNvPr id="699449" name="Rectangle 57"/>
          <p:cNvSpPr>
            <a:spLocks noChangeArrowheads="1"/>
          </p:cNvSpPr>
          <p:nvPr/>
        </p:nvSpPr>
        <p:spPr bwMode="auto">
          <a:xfrm>
            <a:off x="51816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1..3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7875</a:t>
            </a:r>
          </a:p>
          <a:p>
            <a:pPr algn="ctr"/>
            <a:r>
              <a:rPr lang="it-IT" sz="1800">
                <a:latin typeface="+mj-lt"/>
              </a:rPr>
              <a:t>1</a:t>
            </a:r>
            <a:endParaRPr lang="en-US" sz="1800">
              <a:latin typeface="+mj-lt"/>
            </a:endParaRPr>
          </a:p>
        </p:txBody>
      </p:sp>
      <p:sp>
        <p:nvSpPr>
          <p:cNvPr id="699450" name="Rectangle 58"/>
          <p:cNvSpPr>
            <a:spLocks noChangeArrowheads="1"/>
          </p:cNvSpPr>
          <p:nvPr/>
        </p:nvSpPr>
        <p:spPr bwMode="auto">
          <a:xfrm>
            <a:off x="60198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2..4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4375</a:t>
            </a:r>
          </a:p>
          <a:p>
            <a:pPr algn="ctr"/>
            <a:r>
              <a:rPr lang="it-IT" sz="1800">
                <a:latin typeface="+mj-lt"/>
              </a:rPr>
              <a:t>3</a:t>
            </a:r>
            <a:endParaRPr lang="en-US" sz="1800">
              <a:latin typeface="+mj-lt"/>
            </a:endParaRPr>
          </a:p>
        </p:txBody>
      </p:sp>
      <p:sp>
        <p:nvSpPr>
          <p:cNvPr id="699451" name="Rectangle 59"/>
          <p:cNvSpPr>
            <a:spLocks noChangeArrowheads="1"/>
          </p:cNvSpPr>
          <p:nvPr/>
        </p:nvSpPr>
        <p:spPr bwMode="auto">
          <a:xfrm>
            <a:off x="6858000" y="3124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3..5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2500</a:t>
            </a:r>
          </a:p>
          <a:p>
            <a:pPr algn="ctr"/>
            <a:r>
              <a:rPr lang="it-IT" sz="1800">
                <a:latin typeface="+mj-lt"/>
              </a:rPr>
              <a:t>3</a:t>
            </a:r>
            <a:endParaRPr lang="en-US" sz="1800">
              <a:latin typeface="+mj-lt"/>
            </a:endParaRPr>
          </a:p>
        </p:txBody>
      </p:sp>
      <p:sp>
        <p:nvSpPr>
          <p:cNvPr id="699452" name="Rectangle 60"/>
          <p:cNvSpPr>
            <a:spLocks noChangeArrowheads="1"/>
          </p:cNvSpPr>
          <p:nvPr/>
        </p:nvSpPr>
        <p:spPr bwMode="auto">
          <a:xfrm>
            <a:off x="7696200" y="39624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4..6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3500</a:t>
            </a:r>
          </a:p>
          <a:p>
            <a:pPr algn="ctr"/>
            <a:r>
              <a:rPr lang="it-IT" sz="1800">
                <a:latin typeface="+mj-lt"/>
              </a:rPr>
              <a:t>5</a:t>
            </a:r>
            <a:endParaRPr lang="en-US" sz="1800">
              <a:latin typeface="+mj-lt"/>
            </a:endParaRPr>
          </a:p>
        </p:txBody>
      </p:sp>
      <p:sp>
        <p:nvSpPr>
          <p:cNvPr id="699453" name="Rectangle 61"/>
          <p:cNvSpPr>
            <a:spLocks noChangeArrowheads="1"/>
          </p:cNvSpPr>
          <p:nvPr/>
        </p:nvSpPr>
        <p:spPr bwMode="auto">
          <a:xfrm>
            <a:off x="60198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1..4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9375</a:t>
            </a:r>
          </a:p>
          <a:p>
            <a:pPr algn="ctr"/>
            <a:r>
              <a:rPr lang="it-IT" sz="1800">
                <a:latin typeface="+mj-lt"/>
              </a:rPr>
              <a:t>3</a:t>
            </a:r>
            <a:endParaRPr lang="en-US" sz="1800">
              <a:latin typeface="+mj-lt"/>
            </a:endParaRPr>
          </a:p>
        </p:txBody>
      </p:sp>
      <p:sp>
        <p:nvSpPr>
          <p:cNvPr id="699454" name="Rectangle 62"/>
          <p:cNvSpPr>
            <a:spLocks noChangeArrowheads="1"/>
          </p:cNvSpPr>
          <p:nvPr/>
        </p:nvSpPr>
        <p:spPr bwMode="auto">
          <a:xfrm>
            <a:off x="68580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2..5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7125</a:t>
            </a:r>
          </a:p>
          <a:p>
            <a:pPr algn="ctr"/>
            <a:r>
              <a:rPr lang="it-IT" sz="1800">
                <a:latin typeface="+mj-lt"/>
              </a:rPr>
              <a:t>3</a:t>
            </a:r>
            <a:endParaRPr lang="en-US" sz="1800">
              <a:latin typeface="+mj-lt"/>
            </a:endParaRPr>
          </a:p>
        </p:txBody>
      </p:sp>
      <p:sp>
        <p:nvSpPr>
          <p:cNvPr id="699455" name="Rectangle 63"/>
          <p:cNvSpPr>
            <a:spLocks noChangeArrowheads="1"/>
          </p:cNvSpPr>
          <p:nvPr/>
        </p:nvSpPr>
        <p:spPr bwMode="auto">
          <a:xfrm>
            <a:off x="7696200" y="3124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 dirty="0">
                <a:latin typeface="+mj-lt"/>
                <a:sym typeface="Symbol" charset="0"/>
              </a:rPr>
              <a:t>A</a:t>
            </a:r>
            <a:r>
              <a:rPr lang="it-IT" sz="1800" baseline="-25000" dirty="0">
                <a:latin typeface="+mj-lt"/>
                <a:sym typeface="Symbol" charset="0"/>
              </a:rPr>
              <a:t>3..6</a:t>
            </a:r>
            <a:endParaRPr lang="it-IT" sz="1800" dirty="0">
              <a:latin typeface="+mj-lt"/>
            </a:endParaRPr>
          </a:p>
          <a:p>
            <a:pPr algn="ctr"/>
            <a:r>
              <a:rPr lang="it-IT" sz="1800" dirty="0">
                <a:latin typeface="+mj-lt"/>
              </a:rPr>
              <a:t>5375</a:t>
            </a:r>
          </a:p>
          <a:p>
            <a:pPr algn="ctr"/>
            <a:r>
              <a:rPr lang="it-IT" sz="1800" dirty="0">
                <a:latin typeface="+mj-lt"/>
              </a:rPr>
              <a:t>3</a:t>
            </a:r>
            <a:endParaRPr lang="en-US" sz="1800" dirty="0">
              <a:latin typeface="+mj-lt"/>
            </a:endParaRPr>
          </a:p>
        </p:txBody>
      </p:sp>
      <p:sp>
        <p:nvSpPr>
          <p:cNvPr id="699456" name="Rectangle 64"/>
          <p:cNvSpPr>
            <a:spLocks noChangeArrowheads="1"/>
          </p:cNvSpPr>
          <p:nvPr/>
        </p:nvSpPr>
        <p:spPr bwMode="auto">
          <a:xfrm>
            <a:off x="68580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1..5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11875</a:t>
            </a:r>
          </a:p>
          <a:p>
            <a:pPr algn="ctr"/>
            <a:r>
              <a:rPr lang="it-IT" sz="1800">
                <a:latin typeface="+mj-lt"/>
              </a:rPr>
              <a:t>3</a:t>
            </a:r>
            <a:endParaRPr lang="en-US" sz="1800">
              <a:latin typeface="+mj-lt"/>
            </a:endParaRPr>
          </a:p>
        </p:txBody>
      </p:sp>
      <p:sp>
        <p:nvSpPr>
          <p:cNvPr id="699457" name="Rectangle 65"/>
          <p:cNvSpPr>
            <a:spLocks noChangeArrowheads="1"/>
          </p:cNvSpPr>
          <p:nvPr/>
        </p:nvSpPr>
        <p:spPr bwMode="auto">
          <a:xfrm>
            <a:off x="76962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2..6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10500</a:t>
            </a:r>
          </a:p>
          <a:p>
            <a:pPr algn="ctr"/>
            <a:r>
              <a:rPr lang="it-IT" sz="1800">
                <a:latin typeface="+mj-lt"/>
              </a:rPr>
              <a:t>3</a:t>
            </a:r>
            <a:endParaRPr lang="en-US" sz="1800">
              <a:latin typeface="+mj-lt"/>
            </a:endParaRPr>
          </a:p>
        </p:txBody>
      </p:sp>
      <p:sp>
        <p:nvSpPr>
          <p:cNvPr id="699458" name="Rectangle 66"/>
          <p:cNvSpPr>
            <a:spLocks noChangeArrowheads="1"/>
          </p:cNvSpPr>
          <p:nvPr/>
        </p:nvSpPr>
        <p:spPr bwMode="auto">
          <a:xfrm>
            <a:off x="76962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1..6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15125</a:t>
            </a:r>
          </a:p>
          <a:p>
            <a:pPr algn="ctr"/>
            <a:r>
              <a:rPr lang="it-IT" sz="1800">
                <a:latin typeface="+mj-lt"/>
              </a:rPr>
              <a:t>3</a:t>
            </a:r>
            <a:endParaRPr lang="en-US" sz="1800">
              <a:latin typeface="+mj-lt"/>
            </a:endParaRPr>
          </a:p>
        </p:txBody>
      </p:sp>
      <p:sp>
        <p:nvSpPr>
          <p:cNvPr id="699459" name="Rectangle 6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Verso la soluzione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444" grpId="0" animBg="1" autoUpdateAnimBg="0"/>
      <p:bldP spid="699445" grpId="0" animBg="1" autoUpdateAnimBg="0"/>
      <p:bldP spid="699446" grpId="0" animBg="1" autoUpdateAnimBg="0"/>
      <p:bldP spid="699447" grpId="0" animBg="1" autoUpdateAnimBg="0"/>
      <p:bldP spid="699448" grpId="0" animBg="1" autoUpdateAnimBg="0"/>
      <p:bldP spid="699449" grpId="0" animBg="1" autoUpdateAnimBg="0"/>
      <p:bldP spid="699450" grpId="0" animBg="1" autoUpdateAnimBg="0"/>
      <p:bldP spid="699451" grpId="0" animBg="1" autoUpdateAnimBg="0"/>
      <p:bldP spid="699452" grpId="0" animBg="1" autoUpdateAnimBg="0"/>
      <p:bldP spid="699453" grpId="0" animBg="1" autoUpdateAnimBg="0"/>
      <p:bldP spid="699454" grpId="0" animBg="1" autoUpdateAnimBg="0"/>
      <p:bldP spid="699455" grpId="0" animBg="1" autoUpdateAnimBg="0"/>
      <p:bldP spid="699456" grpId="0" animBg="1" autoUpdateAnimBg="0"/>
      <p:bldP spid="699457" grpId="0" animBg="1" autoUpdateAnimBg="0"/>
      <p:bldP spid="699458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Text Box 2"/>
          <p:cNvSpPr txBox="1">
            <a:spLocks noChangeArrowheads="1"/>
          </p:cNvSpPr>
          <p:nvPr/>
        </p:nvSpPr>
        <p:spPr bwMode="auto">
          <a:xfrm>
            <a:off x="395536" y="1628800"/>
            <a:ext cx="81534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CostoMinimo</a:t>
            </a:r>
            <a:r>
              <a:rPr lang="it-IT" sz="2400" dirty="0">
                <a:sym typeface="Symbol" charset="0"/>
              </a:rPr>
              <a:t>(</a:t>
            </a:r>
            <a:r>
              <a:rPr lang="it-IT" sz="2400" dirty="0" err="1">
                <a:sym typeface="Symbol" charset="0"/>
              </a:rPr>
              <a:t>p,n</a:t>
            </a:r>
            <a:r>
              <a:rPr lang="it-IT" sz="2400" dirty="0">
                <a:sym typeface="Symbol" charset="0"/>
              </a:rPr>
              <a:t>)</a:t>
            </a:r>
          </a:p>
          <a:p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>
                <a:sym typeface="Symbol" charset="0"/>
              </a:rPr>
              <a:t>i := 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400" dirty="0">
                <a:sym typeface="Symbol" charset="0"/>
              </a:rPr>
              <a:t>n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</a:t>
            </a:r>
          </a:p>
          <a:p>
            <a:r>
              <a:rPr lang="it-IT" sz="2400" dirty="0">
                <a:sym typeface="Symbol" charset="0"/>
              </a:rPr>
              <a:t>        M[i,i] := 0</a:t>
            </a:r>
            <a:endParaRPr lang="it-IT" sz="2400" baseline="-25000" dirty="0"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 smtClean="0">
                <a:sym typeface="Symbol" charset="0"/>
              </a:rPr>
              <a:t>j </a:t>
            </a:r>
            <a:r>
              <a:rPr lang="it-IT" sz="2400" dirty="0">
                <a:sym typeface="Symbol" charset="0"/>
              </a:rPr>
              <a:t>:= 2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400" dirty="0" smtClean="0">
                <a:sym typeface="Symbol" charset="0"/>
              </a:rPr>
              <a:t>n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</a:t>
            </a:r>
            <a:endParaRPr lang="it-IT" sz="2400" dirty="0">
              <a:solidFill>
                <a:schemeClr val="accent2"/>
              </a:solidFill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 smtClean="0">
                <a:sym typeface="Symbol" charset="0"/>
              </a:rPr>
              <a:t>i </a:t>
            </a:r>
            <a:r>
              <a:rPr lang="it-IT" sz="2400" dirty="0">
                <a:sym typeface="Symbol" charset="0"/>
              </a:rPr>
              <a:t>:= j-1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downto </a:t>
            </a:r>
            <a:r>
              <a:rPr lang="it-IT" sz="2400" dirty="0">
                <a:sym typeface="Symbol" charset="0"/>
              </a:rPr>
              <a:t>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</a:t>
            </a:r>
            <a:endParaRPr lang="it-IT" sz="2400" dirty="0">
              <a:solidFill>
                <a:schemeClr val="accent2"/>
              </a:solidFill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        M[i,j] := </a:t>
            </a:r>
          </a:p>
          <a:p>
            <a:r>
              <a:rPr lang="it-IT" sz="2400" dirty="0">
                <a:sym typeface="Symbol" charset="0"/>
              </a:rPr>
              <a:t>    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 smtClean="0">
                <a:sym typeface="Symbol" charset="0"/>
              </a:rPr>
              <a:t>k </a:t>
            </a:r>
            <a:r>
              <a:rPr lang="it-IT" sz="2400" dirty="0">
                <a:sym typeface="Symbol" charset="0"/>
              </a:rPr>
              <a:t>:= i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400" dirty="0" smtClean="0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-1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</a:t>
            </a:r>
            <a:endParaRPr lang="it-IT" sz="2400" dirty="0">
              <a:solidFill>
                <a:schemeClr val="accent2"/>
              </a:solidFill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            q := M[i,k]+M[k+1,j]+p</a:t>
            </a:r>
            <a:r>
              <a:rPr lang="it-IT" sz="2400" baseline="-25000" dirty="0">
                <a:sym typeface="Symbol" charset="0"/>
              </a:rPr>
              <a:t>i-1</a:t>
            </a:r>
            <a:r>
              <a:rPr lang="it-IT" sz="2400" dirty="0">
                <a:sym typeface="Symbol" charset="0"/>
              </a:rPr>
              <a:t>p</a:t>
            </a:r>
            <a:r>
              <a:rPr lang="it-IT" sz="2400" baseline="-25000" dirty="0">
                <a:sym typeface="Symbol" charset="0"/>
              </a:rPr>
              <a:t>k</a:t>
            </a:r>
            <a:r>
              <a:rPr lang="it-IT" sz="2400" dirty="0">
                <a:sym typeface="Symbol" charset="0"/>
              </a:rPr>
              <a:t>p</a:t>
            </a:r>
            <a:r>
              <a:rPr lang="it-IT" sz="2400" baseline="-25000" dirty="0">
                <a:sym typeface="Symbol" charset="0"/>
              </a:rPr>
              <a:t>j</a:t>
            </a:r>
            <a:endParaRPr lang="it-IT" sz="2400" dirty="0"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            </a:t>
            </a:r>
            <a:r>
              <a:rPr lang="it-IT" sz="2400" dirty="0" err="1" smtClean="0">
                <a:solidFill>
                  <a:srgbClr val="201FF0"/>
                </a:solidFill>
                <a:sym typeface="Symbol" charset="0"/>
              </a:rPr>
              <a:t>if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err="1" smtClean="0">
                <a:sym typeface="Symbol" charset="0"/>
              </a:rPr>
              <a:t>q</a:t>
            </a:r>
            <a:r>
              <a:rPr lang="it-IT" sz="2400" dirty="0" smtClean="0"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&lt; M[</a:t>
            </a:r>
            <a:r>
              <a:rPr lang="it-IT" sz="2400" dirty="0" err="1">
                <a:sym typeface="Symbol" charset="0"/>
              </a:rPr>
              <a:t>i,j</a:t>
            </a:r>
            <a:r>
              <a:rPr lang="it-IT" sz="2400" dirty="0">
                <a:sym typeface="Symbol" charset="0"/>
              </a:rPr>
              <a:t>]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then</a:t>
            </a:r>
            <a:endParaRPr lang="it-IT" sz="2400" dirty="0">
              <a:solidFill>
                <a:srgbClr val="201FF0"/>
              </a:solidFill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                M[i,j] := q</a:t>
            </a:r>
          </a:p>
          <a:p>
            <a:r>
              <a:rPr lang="it-IT" sz="2400" dirty="0">
                <a:sym typeface="Symbol" charset="0"/>
              </a:rPr>
              <a:t>                    K[i,j] := k</a:t>
            </a:r>
          </a:p>
          <a:p>
            <a:r>
              <a:rPr lang="it-IT" sz="2400" dirty="0"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return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M,K</a:t>
            </a:r>
          </a:p>
        </p:txBody>
      </p:sp>
      <p:sp>
        <p:nvSpPr>
          <p:cNvPr id="700419" name="Text Box 3"/>
          <p:cNvSpPr txBox="1">
            <a:spLocks noChangeArrowheads="1"/>
          </p:cNvSpPr>
          <p:nvPr/>
        </p:nvSpPr>
        <p:spPr bwMode="auto">
          <a:xfrm>
            <a:off x="395536" y="1052736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Terzo passo</a:t>
            </a:r>
            <a:r>
              <a:rPr lang="it-IT" sz="2400" dirty="0">
                <a:sym typeface="Symbol" charset="0"/>
              </a:rPr>
              <a:t>: </a:t>
            </a:r>
            <a:r>
              <a:rPr lang="it-IT" sz="2400" i="1" dirty="0">
                <a:sym typeface="Symbol" charset="0"/>
              </a:rPr>
              <a:t>calcolo </a:t>
            </a:r>
            <a:r>
              <a:rPr lang="it-IT" sz="2400" i="1" dirty="0" smtClean="0">
                <a:sym typeface="Symbol" charset="0"/>
              </a:rPr>
              <a:t>iterativo del </a:t>
            </a:r>
            <a:r>
              <a:rPr lang="it-IT" sz="2400" i="1" dirty="0">
                <a:sym typeface="Symbol" charset="0"/>
              </a:rPr>
              <a:t>costo minimo</a:t>
            </a:r>
          </a:p>
        </p:txBody>
      </p:sp>
      <p:sp>
        <p:nvSpPr>
          <p:cNvPr id="700420" name="Text Box 4"/>
          <p:cNvSpPr txBox="1">
            <a:spLocks noChangeArrowheads="1"/>
          </p:cNvSpPr>
          <p:nvPr/>
        </p:nvSpPr>
        <p:spPr bwMode="auto">
          <a:xfrm>
            <a:off x="5029200" y="5562600"/>
            <a:ext cx="38632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Complessità: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O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baseline="30000" dirty="0">
                <a:solidFill>
                  <a:srgbClr val="FF0000"/>
                </a:solidFill>
                <a:sym typeface="Symbol" charset="0"/>
              </a:rPr>
              <a:t>3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)</a:t>
            </a:r>
            <a:endParaRPr lang="it-IT" sz="2400" i="1" u="sng" dirty="0">
              <a:solidFill>
                <a:srgbClr val="FF0000"/>
              </a:solidFill>
              <a:sym typeface="Symbol" charset="0"/>
            </a:endParaRPr>
          </a:p>
        </p:txBody>
      </p:sp>
      <p:sp>
        <p:nvSpPr>
          <p:cNvPr id="7004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Verso la soluzione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Text Box 2"/>
          <p:cNvSpPr txBox="1">
            <a:spLocks noChangeArrowheads="1"/>
          </p:cNvSpPr>
          <p:nvPr/>
        </p:nvSpPr>
        <p:spPr bwMode="auto">
          <a:xfrm>
            <a:off x="152400" y="1066800"/>
            <a:ext cx="2209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dirty="0">
                <a:solidFill>
                  <a:srgbClr val="FF0000"/>
                </a:solidFill>
                <a:sym typeface="Symbol" charset="0"/>
              </a:rPr>
              <a:t>Terzo passo</a:t>
            </a:r>
            <a:endParaRPr lang="it-IT" sz="2400" dirty="0">
              <a:sym typeface="Symbol" charset="0"/>
            </a:endParaRPr>
          </a:p>
          <a:p>
            <a:r>
              <a:rPr lang="it-IT" sz="2400" i="1" u="sng" dirty="0">
                <a:sym typeface="Symbol" charset="0"/>
              </a:rPr>
              <a:t>Esempio</a:t>
            </a:r>
          </a:p>
        </p:txBody>
      </p:sp>
      <p:sp>
        <p:nvSpPr>
          <p:cNvPr id="699395" name="Text Box 3"/>
          <p:cNvSpPr txBox="1">
            <a:spLocks noChangeArrowheads="1"/>
          </p:cNvSpPr>
          <p:nvPr/>
        </p:nvSpPr>
        <p:spPr bwMode="auto">
          <a:xfrm>
            <a:off x="323528" y="2132856"/>
            <a:ext cx="1828800" cy="19389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 dirty="0">
                <a:latin typeface="+mj-lt"/>
                <a:cs typeface="Calibri"/>
                <a:sym typeface="Symbol" charset="0"/>
              </a:rPr>
              <a:t>A</a:t>
            </a:r>
            <a:r>
              <a:rPr lang="it-IT" sz="2000" baseline="-25000" dirty="0">
                <a:latin typeface="+mj-lt"/>
                <a:cs typeface="Calibri"/>
                <a:sym typeface="Symbol" charset="0"/>
              </a:rPr>
              <a:t>1</a:t>
            </a:r>
            <a:r>
              <a:rPr lang="it-IT" sz="2000" dirty="0">
                <a:latin typeface="+mj-lt"/>
                <a:cs typeface="Calibri"/>
                <a:sym typeface="Symbol" charset="0"/>
              </a:rPr>
              <a:t>  3035</a:t>
            </a:r>
          </a:p>
          <a:p>
            <a:r>
              <a:rPr lang="it-IT" sz="2000" i="1" dirty="0">
                <a:latin typeface="+mj-lt"/>
                <a:cs typeface="Calibri"/>
                <a:sym typeface="Symbol" charset="0"/>
              </a:rPr>
              <a:t>A</a:t>
            </a:r>
            <a:r>
              <a:rPr lang="it-IT" sz="2000" baseline="-25000" dirty="0">
                <a:latin typeface="+mj-lt"/>
                <a:cs typeface="Calibri"/>
                <a:sym typeface="Symbol" charset="0"/>
              </a:rPr>
              <a:t>2</a:t>
            </a:r>
            <a:r>
              <a:rPr lang="it-IT" sz="2000" dirty="0">
                <a:latin typeface="+mj-lt"/>
                <a:cs typeface="Calibri"/>
                <a:sym typeface="Symbol" charset="0"/>
              </a:rPr>
              <a:t>  3515</a:t>
            </a:r>
          </a:p>
          <a:p>
            <a:r>
              <a:rPr lang="it-IT" sz="2000" i="1" dirty="0">
                <a:latin typeface="+mj-lt"/>
                <a:cs typeface="Calibri"/>
                <a:sym typeface="Symbol" charset="0"/>
              </a:rPr>
              <a:t>A</a:t>
            </a:r>
            <a:r>
              <a:rPr lang="it-IT" sz="2000" baseline="-25000" dirty="0">
                <a:latin typeface="+mj-lt"/>
                <a:cs typeface="Calibri"/>
                <a:sym typeface="Symbol" charset="0"/>
              </a:rPr>
              <a:t>3</a:t>
            </a:r>
            <a:r>
              <a:rPr lang="it-IT" sz="2000" dirty="0">
                <a:latin typeface="+mj-lt"/>
                <a:cs typeface="Calibri"/>
                <a:sym typeface="Symbol" charset="0"/>
              </a:rPr>
              <a:t>  155</a:t>
            </a:r>
          </a:p>
          <a:p>
            <a:r>
              <a:rPr lang="it-IT" sz="2000" i="1" dirty="0">
                <a:latin typeface="+mj-lt"/>
                <a:cs typeface="Calibri"/>
                <a:sym typeface="Symbol" charset="0"/>
              </a:rPr>
              <a:t>A</a:t>
            </a:r>
            <a:r>
              <a:rPr lang="it-IT" sz="2000" baseline="-25000" dirty="0">
                <a:latin typeface="+mj-lt"/>
                <a:cs typeface="Calibri"/>
                <a:sym typeface="Symbol" charset="0"/>
              </a:rPr>
              <a:t>4</a:t>
            </a:r>
            <a:r>
              <a:rPr lang="it-IT" sz="2000" dirty="0">
                <a:latin typeface="+mj-lt"/>
                <a:cs typeface="Calibri"/>
                <a:sym typeface="Symbol" charset="0"/>
              </a:rPr>
              <a:t>  510</a:t>
            </a:r>
          </a:p>
          <a:p>
            <a:r>
              <a:rPr lang="it-IT" sz="2000" i="1" dirty="0">
                <a:latin typeface="+mj-lt"/>
                <a:cs typeface="Calibri"/>
                <a:sym typeface="Symbol" charset="0"/>
              </a:rPr>
              <a:t>A</a:t>
            </a:r>
            <a:r>
              <a:rPr lang="it-IT" sz="2000" baseline="-25000" dirty="0">
                <a:latin typeface="+mj-lt"/>
                <a:cs typeface="Calibri"/>
                <a:sym typeface="Symbol" charset="0"/>
              </a:rPr>
              <a:t>5</a:t>
            </a:r>
            <a:r>
              <a:rPr lang="it-IT" sz="2000" dirty="0">
                <a:latin typeface="+mj-lt"/>
                <a:cs typeface="Calibri"/>
                <a:sym typeface="Symbol" charset="0"/>
              </a:rPr>
              <a:t>  1020</a:t>
            </a:r>
          </a:p>
          <a:p>
            <a:r>
              <a:rPr lang="it-IT" sz="2000" i="1" dirty="0">
                <a:latin typeface="+mj-lt"/>
                <a:cs typeface="Calibri"/>
                <a:sym typeface="Symbol" charset="0"/>
              </a:rPr>
              <a:t>A</a:t>
            </a:r>
            <a:r>
              <a:rPr lang="it-IT" sz="2000" baseline="-25000" dirty="0">
                <a:latin typeface="+mj-lt"/>
                <a:cs typeface="Calibri"/>
                <a:sym typeface="Symbol" charset="0"/>
              </a:rPr>
              <a:t>6</a:t>
            </a:r>
            <a:r>
              <a:rPr lang="it-IT" sz="2000" dirty="0">
                <a:latin typeface="+mj-lt"/>
                <a:cs typeface="Calibri"/>
                <a:sym typeface="Symbol" charset="0"/>
              </a:rPr>
              <a:t>  2025</a:t>
            </a:r>
          </a:p>
        </p:txBody>
      </p:sp>
      <p:sp>
        <p:nvSpPr>
          <p:cNvPr id="699397" name="Text Box 5"/>
          <p:cNvSpPr txBox="1">
            <a:spLocks noChangeArrowheads="1"/>
          </p:cNvSpPr>
          <p:nvPr/>
        </p:nvSpPr>
        <p:spPr bwMode="auto">
          <a:xfrm>
            <a:off x="3048000" y="13716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latin typeface="+mj-lt"/>
                <a:sym typeface="Symbol" charset="0"/>
              </a:rPr>
              <a:t>i</a:t>
            </a:r>
            <a:endParaRPr lang="it-IT" sz="2000" baseline="-25000">
              <a:latin typeface="+mj-lt"/>
              <a:sym typeface="Symbol" charset="0"/>
            </a:endParaRPr>
          </a:p>
        </p:txBody>
      </p:sp>
      <p:sp>
        <p:nvSpPr>
          <p:cNvPr id="699398" name="Text Box 6"/>
          <p:cNvSpPr txBox="1">
            <a:spLocks noChangeArrowheads="1"/>
          </p:cNvSpPr>
          <p:nvPr/>
        </p:nvSpPr>
        <p:spPr bwMode="auto">
          <a:xfrm>
            <a:off x="3733800" y="1066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1</a:t>
            </a:r>
          </a:p>
        </p:txBody>
      </p:sp>
      <p:sp>
        <p:nvSpPr>
          <p:cNvPr id="699399" name="Text Box 7"/>
          <p:cNvSpPr txBox="1">
            <a:spLocks noChangeArrowheads="1"/>
          </p:cNvSpPr>
          <p:nvPr/>
        </p:nvSpPr>
        <p:spPr bwMode="auto">
          <a:xfrm>
            <a:off x="7924800" y="1066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6</a:t>
            </a:r>
          </a:p>
        </p:txBody>
      </p:sp>
      <p:sp>
        <p:nvSpPr>
          <p:cNvPr id="699400" name="Text Box 8"/>
          <p:cNvSpPr txBox="1">
            <a:spLocks noChangeArrowheads="1"/>
          </p:cNvSpPr>
          <p:nvPr/>
        </p:nvSpPr>
        <p:spPr bwMode="auto">
          <a:xfrm>
            <a:off x="7086600" y="1066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5</a:t>
            </a:r>
          </a:p>
        </p:txBody>
      </p:sp>
      <p:sp>
        <p:nvSpPr>
          <p:cNvPr id="699401" name="Text Box 9"/>
          <p:cNvSpPr txBox="1">
            <a:spLocks noChangeArrowheads="1"/>
          </p:cNvSpPr>
          <p:nvPr/>
        </p:nvSpPr>
        <p:spPr bwMode="auto">
          <a:xfrm>
            <a:off x="6248400" y="1066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4</a:t>
            </a:r>
          </a:p>
        </p:txBody>
      </p:sp>
      <p:sp>
        <p:nvSpPr>
          <p:cNvPr id="699402" name="Text Box 10"/>
          <p:cNvSpPr txBox="1">
            <a:spLocks noChangeArrowheads="1"/>
          </p:cNvSpPr>
          <p:nvPr/>
        </p:nvSpPr>
        <p:spPr bwMode="auto">
          <a:xfrm>
            <a:off x="5410200" y="1066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3</a:t>
            </a:r>
          </a:p>
        </p:txBody>
      </p:sp>
      <p:sp>
        <p:nvSpPr>
          <p:cNvPr id="699403" name="Text Box 11"/>
          <p:cNvSpPr txBox="1">
            <a:spLocks noChangeArrowheads="1"/>
          </p:cNvSpPr>
          <p:nvPr/>
        </p:nvSpPr>
        <p:spPr bwMode="auto">
          <a:xfrm>
            <a:off x="4572000" y="1066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2</a:t>
            </a:r>
          </a:p>
        </p:txBody>
      </p:sp>
      <p:sp>
        <p:nvSpPr>
          <p:cNvPr id="699404" name="Text Box 12"/>
          <p:cNvSpPr txBox="1">
            <a:spLocks noChangeArrowheads="1"/>
          </p:cNvSpPr>
          <p:nvPr/>
        </p:nvSpPr>
        <p:spPr bwMode="auto">
          <a:xfrm>
            <a:off x="3048000" y="1676400"/>
            <a:ext cx="457200" cy="45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3000"/>
              </a:spcBef>
              <a:spcAft>
                <a:spcPts val="1000"/>
              </a:spcAft>
            </a:pPr>
            <a:r>
              <a:rPr lang="it-IT" sz="2000" dirty="0">
                <a:latin typeface="+mj-lt"/>
                <a:sym typeface="Symbol" charset="0"/>
              </a:rPr>
              <a:t>1</a:t>
            </a:r>
          </a:p>
          <a:p>
            <a:pPr>
              <a:spcBef>
                <a:spcPts val="3000"/>
              </a:spcBef>
              <a:spcAft>
                <a:spcPts val="1000"/>
              </a:spcAft>
            </a:pPr>
            <a:r>
              <a:rPr lang="it-IT" sz="2000" dirty="0">
                <a:latin typeface="+mj-lt"/>
                <a:sym typeface="Symbol" charset="0"/>
              </a:rPr>
              <a:t>2</a:t>
            </a:r>
          </a:p>
          <a:p>
            <a:pPr>
              <a:spcBef>
                <a:spcPts val="3000"/>
              </a:spcBef>
              <a:spcAft>
                <a:spcPts val="1000"/>
              </a:spcAft>
            </a:pPr>
            <a:r>
              <a:rPr lang="it-IT" sz="2000" dirty="0">
                <a:latin typeface="+mj-lt"/>
                <a:sym typeface="Symbol" charset="0"/>
              </a:rPr>
              <a:t>3</a:t>
            </a:r>
          </a:p>
          <a:p>
            <a:pPr>
              <a:spcBef>
                <a:spcPts val="3000"/>
              </a:spcBef>
              <a:spcAft>
                <a:spcPts val="1000"/>
              </a:spcAft>
            </a:pPr>
            <a:r>
              <a:rPr lang="it-IT" sz="2000" dirty="0">
                <a:latin typeface="+mj-lt"/>
                <a:sym typeface="Symbol" charset="0"/>
              </a:rPr>
              <a:t>4</a:t>
            </a:r>
          </a:p>
          <a:p>
            <a:pPr>
              <a:spcBef>
                <a:spcPts val="3000"/>
              </a:spcBef>
              <a:spcAft>
                <a:spcPts val="1000"/>
              </a:spcAft>
            </a:pPr>
            <a:r>
              <a:rPr lang="it-IT" sz="2000" dirty="0">
                <a:latin typeface="+mj-lt"/>
                <a:sym typeface="Symbol" charset="0"/>
              </a:rPr>
              <a:t>5</a:t>
            </a:r>
          </a:p>
          <a:p>
            <a:pPr>
              <a:spcBef>
                <a:spcPts val="3000"/>
              </a:spcBef>
              <a:spcAft>
                <a:spcPts val="1000"/>
              </a:spcAft>
            </a:pPr>
            <a:r>
              <a:rPr lang="it-IT" sz="2000" dirty="0">
                <a:latin typeface="+mj-lt"/>
                <a:sym typeface="Symbol" charset="0"/>
              </a:rPr>
              <a:t>6</a:t>
            </a:r>
          </a:p>
        </p:txBody>
      </p:sp>
      <p:sp>
        <p:nvSpPr>
          <p:cNvPr id="699405" name="Rectangle 13"/>
          <p:cNvSpPr>
            <a:spLocks noChangeArrowheads="1"/>
          </p:cNvSpPr>
          <p:nvPr/>
        </p:nvSpPr>
        <p:spPr bwMode="auto">
          <a:xfrm>
            <a:off x="76962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06" name="Rectangle 14"/>
          <p:cNvSpPr>
            <a:spLocks noChangeArrowheads="1"/>
          </p:cNvSpPr>
          <p:nvPr/>
        </p:nvSpPr>
        <p:spPr bwMode="auto">
          <a:xfrm>
            <a:off x="51816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07" name="Rectangle 15"/>
          <p:cNvSpPr>
            <a:spLocks noChangeArrowheads="1"/>
          </p:cNvSpPr>
          <p:nvPr/>
        </p:nvSpPr>
        <p:spPr bwMode="auto">
          <a:xfrm>
            <a:off x="60198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08" name="Rectangle 16"/>
          <p:cNvSpPr>
            <a:spLocks noChangeArrowheads="1"/>
          </p:cNvSpPr>
          <p:nvPr/>
        </p:nvSpPr>
        <p:spPr bwMode="auto">
          <a:xfrm>
            <a:off x="68580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09" name="Rectangle 17"/>
          <p:cNvSpPr>
            <a:spLocks noChangeArrowheads="1"/>
          </p:cNvSpPr>
          <p:nvPr/>
        </p:nvSpPr>
        <p:spPr bwMode="auto">
          <a:xfrm>
            <a:off x="35052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 dirty="0">
                <a:latin typeface="+mj-lt"/>
                <a:sym typeface="Symbol" charset="0"/>
              </a:rPr>
              <a:t>A</a:t>
            </a:r>
            <a:r>
              <a:rPr lang="it-IT" sz="1800" baseline="-25000" dirty="0">
                <a:latin typeface="+mj-lt"/>
                <a:sym typeface="Symbol" charset="0"/>
              </a:rPr>
              <a:t>1..1</a:t>
            </a:r>
            <a:endParaRPr lang="it-IT" sz="1800" dirty="0">
              <a:latin typeface="+mj-lt"/>
            </a:endParaRPr>
          </a:p>
          <a:p>
            <a:pPr algn="ctr"/>
            <a:r>
              <a:rPr lang="it-IT" sz="1800" dirty="0">
                <a:latin typeface="+mj-lt"/>
              </a:rPr>
              <a:t>0</a:t>
            </a:r>
          </a:p>
          <a:p>
            <a:pPr algn="ctr"/>
            <a:endParaRPr lang="en-US" sz="1800" dirty="0">
              <a:latin typeface="+mj-lt"/>
            </a:endParaRPr>
          </a:p>
        </p:txBody>
      </p:sp>
      <p:sp>
        <p:nvSpPr>
          <p:cNvPr id="699410" name="Rectangle 18"/>
          <p:cNvSpPr>
            <a:spLocks noChangeArrowheads="1"/>
          </p:cNvSpPr>
          <p:nvPr/>
        </p:nvSpPr>
        <p:spPr bwMode="auto">
          <a:xfrm>
            <a:off x="43434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11" name="Rectangle 19"/>
          <p:cNvSpPr>
            <a:spLocks noChangeArrowheads="1"/>
          </p:cNvSpPr>
          <p:nvPr/>
        </p:nvSpPr>
        <p:spPr bwMode="auto">
          <a:xfrm>
            <a:off x="43434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2..2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0</a:t>
            </a:r>
          </a:p>
          <a:p>
            <a:pPr algn="ctr"/>
            <a:endParaRPr lang="en-US" sz="1800">
              <a:latin typeface="+mj-lt"/>
            </a:endParaRPr>
          </a:p>
        </p:txBody>
      </p:sp>
      <p:sp>
        <p:nvSpPr>
          <p:cNvPr id="699412" name="Rectangle 20"/>
          <p:cNvSpPr>
            <a:spLocks noChangeArrowheads="1"/>
          </p:cNvSpPr>
          <p:nvPr/>
        </p:nvSpPr>
        <p:spPr bwMode="auto">
          <a:xfrm>
            <a:off x="5181600" y="3124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3..3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0</a:t>
            </a:r>
          </a:p>
          <a:p>
            <a:pPr algn="ctr"/>
            <a:endParaRPr lang="en-US" sz="1800">
              <a:latin typeface="+mj-lt"/>
            </a:endParaRPr>
          </a:p>
        </p:txBody>
      </p:sp>
      <p:sp>
        <p:nvSpPr>
          <p:cNvPr id="699413" name="Rectangle 21"/>
          <p:cNvSpPr>
            <a:spLocks noChangeArrowheads="1"/>
          </p:cNvSpPr>
          <p:nvPr/>
        </p:nvSpPr>
        <p:spPr bwMode="auto">
          <a:xfrm>
            <a:off x="6019800" y="39624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4..4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0</a:t>
            </a:r>
          </a:p>
          <a:p>
            <a:pPr algn="ctr"/>
            <a:endParaRPr lang="en-US" sz="1800">
              <a:latin typeface="+mj-lt"/>
            </a:endParaRPr>
          </a:p>
        </p:txBody>
      </p:sp>
      <p:sp>
        <p:nvSpPr>
          <p:cNvPr id="699414" name="Rectangle 22"/>
          <p:cNvSpPr>
            <a:spLocks noChangeArrowheads="1"/>
          </p:cNvSpPr>
          <p:nvPr/>
        </p:nvSpPr>
        <p:spPr bwMode="auto">
          <a:xfrm>
            <a:off x="6858000" y="4800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5..5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0</a:t>
            </a:r>
          </a:p>
          <a:p>
            <a:pPr algn="ctr"/>
            <a:endParaRPr lang="en-US" sz="1800">
              <a:latin typeface="+mj-lt"/>
            </a:endParaRPr>
          </a:p>
        </p:txBody>
      </p:sp>
      <p:sp>
        <p:nvSpPr>
          <p:cNvPr id="699415" name="Rectangle 23"/>
          <p:cNvSpPr>
            <a:spLocks noChangeArrowheads="1"/>
          </p:cNvSpPr>
          <p:nvPr/>
        </p:nvSpPr>
        <p:spPr bwMode="auto">
          <a:xfrm>
            <a:off x="7696200" y="5638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 dirty="0">
                <a:latin typeface="+mj-lt"/>
                <a:sym typeface="Symbol" charset="0"/>
              </a:rPr>
              <a:t>A</a:t>
            </a:r>
            <a:r>
              <a:rPr lang="it-IT" sz="1800" baseline="-25000" dirty="0">
                <a:latin typeface="+mj-lt"/>
                <a:sym typeface="Symbol" charset="0"/>
              </a:rPr>
              <a:t>6..6</a:t>
            </a:r>
            <a:endParaRPr lang="it-IT" sz="1800" dirty="0">
              <a:latin typeface="+mj-lt"/>
            </a:endParaRPr>
          </a:p>
          <a:p>
            <a:pPr algn="ctr"/>
            <a:r>
              <a:rPr lang="it-IT" sz="1800" dirty="0">
                <a:latin typeface="+mj-lt"/>
              </a:rPr>
              <a:t>0</a:t>
            </a:r>
          </a:p>
          <a:p>
            <a:pPr algn="ctr"/>
            <a:endParaRPr lang="en-US" sz="1800" dirty="0">
              <a:latin typeface="+mj-lt"/>
            </a:endParaRPr>
          </a:p>
        </p:txBody>
      </p:sp>
      <p:sp>
        <p:nvSpPr>
          <p:cNvPr id="699416" name="Rectangle 24"/>
          <p:cNvSpPr>
            <a:spLocks noChangeArrowheads="1"/>
          </p:cNvSpPr>
          <p:nvPr/>
        </p:nvSpPr>
        <p:spPr bwMode="auto">
          <a:xfrm>
            <a:off x="68580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17" name="Rectangle 25"/>
          <p:cNvSpPr>
            <a:spLocks noChangeArrowheads="1"/>
          </p:cNvSpPr>
          <p:nvPr/>
        </p:nvSpPr>
        <p:spPr bwMode="auto">
          <a:xfrm>
            <a:off x="7696200" y="4800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18" name="Rectangle 26"/>
          <p:cNvSpPr>
            <a:spLocks noChangeArrowheads="1"/>
          </p:cNvSpPr>
          <p:nvPr/>
        </p:nvSpPr>
        <p:spPr bwMode="auto">
          <a:xfrm>
            <a:off x="7696200" y="39624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19" name="Rectangle 27"/>
          <p:cNvSpPr>
            <a:spLocks noChangeArrowheads="1"/>
          </p:cNvSpPr>
          <p:nvPr/>
        </p:nvSpPr>
        <p:spPr bwMode="auto">
          <a:xfrm>
            <a:off x="7696200" y="3124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20" name="Rectangle 28"/>
          <p:cNvSpPr>
            <a:spLocks noChangeArrowheads="1"/>
          </p:cNvSpPr>
          <p:nvPr/>
        </p:nvSpPr>
        <p:spPr bwMode="auto">
          <a:xfrm>
            <a:off x="76962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21" name="Rectangle 29"/>
          <p:cNvSpPr>
            <a:spLocks noChangeArrowheads="1"/>
          </p:cNvSpPr>
          <p:nvPr/>
        </p:nvSpPr>
        <p:spPr bwMode="auto">
          <a:xfrm>
            <a:off x="51816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22" name="Rectangle 30"/>
          <p:cNvSpPr>
            <a:spLocks noChangeArrowheads="1"/>
          </p:cNvSpPr>
          <p:nvPr/>
        </p:nvSpPr>
        <p:spPr bwMode="auto">
          <a:xfrm>
            <a:off x="60198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23" name="Rectangle 31"/>
          <p:cNvSpPr>
            <a:spLocks noChangeArrowheads="1"/>
          </p:cNvSpPr>
          <p:nvPr/>
        </p:nvSpPr>
        <p:spPr bwMode="auto">
          <a:xfrm>
            <a:off x="6019800" y="3124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24" name="Rectangle 32"/>
          <p:cNvSpPr>
            <a:spLocks noChangeArrowheads="1"/>
          </p:cNvSpPr>
          <p:nvPr/>
        </p:nvSpPr>
        <p:spPr bwMode="auto">
          <a:xfrm>
            <a:off x="6858000" y="39624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25" name="Rectangle 33"/>
          <p:cNvSpPr>
            <a:spLocks noChangeArrowheads="1"/>
          </p:cNvSpPr>
          <p:nvPr/>
        </p:nvSpPr>
        <p:spPr bwMode="auto">
          <a:xfrm>
            <a:off x="6858000" y="3124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9426" name="Line 34"/>
          <p:cNvSpPr>
            <a:spLocks noChangeShapeType="1"/>
          </p:cNvSpPr>
          <p:nvPr/>
        </p:nvSpPr>
        <p:spPr bwMode="auto">
          <a:xfrm>
            <a:off x="3505200" y="1447800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9427" name="Line 35"/>
          <p:cNvSpPr>
            <a:spLocks noChangeShapeType="1"/>
          </p:cNvSpPr>
          <p:nvPr/>
        </p:nvSpPr>
        <p:spPr bwMode="auto">
          <a:xfrm>
            <a:off x="3657600" y="1447800"/>
            <a:ext cx="548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9428" name="Text Box 36"/>
          <p:cNvSpPr txBox="1">
            <a:spLocks noChangeArrowheads="1"/>
          </p:cNvSpPr>
          <p:nvPr/>
        </p:nvSpPr>
        <p:spPr bwMode="auto">
          <a:xfrm>
            <a:off x="3276600" y="1066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latin typeface="+mj-lt"/>
                <a:sym typeface="Symbol" charset="0"/>
              </a:rPr>
              <a:t>j</a:t>
            </a:r>
            <a:endParaRPr lang="it-IT" sz="2000" baseline="-25000">
              <a:latin typeface="+mj-lt"/>
              <a:sym typeface="Symbol" charset="0"/>
            </a:endParaRPr>
          </a:p>
        </p:txBody>
      </p:sp>
      <p:sp>
        <p:nvSpPr>
          <p:cNvPr id="699429" name="Text Box 37"/>
          <p:cNvSpPr txBox="1">
            <a:spLocks noChangeArrowheads="1"/>
          </p:cNvSpPr>
          <p:nvPr/>
        </p:nvSpPr>
        <p:spPr bwMode="auto">
          <a:xfrm>
            <a:off x="2286000" y="1676400"/>
            <a:ext cx="685800" cy="45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25000"/>
              </a:spcBef>
              <a:spcAft>
                <a:spcPts val="1000"/>
              </a:spcAft>
            </a:pPr>
            <a:r>
              <a:rPr lang="it-IT" sz="2000" dirty="0">
                <a:latin typeface="+mj-lt"/>
                <a:sym typeface="Symbol" charset="0"/>
              </a:rPr>
              <a:t>30</a:t>
            </a:r>
          </a:p>
          <a:p>
            <a:pPr>
              <a:spcBef>
                <a:spcPct val="125000"/>
              </a:spcBef>
              <a:spcAft>
                <a:spcPts val="1000"/>
              </a:spcAft>
            </a:pPr>
            <a:r>
              <a:rPr lang="it-IT" sz="2000" dirty="0">
                <a:latin typeface="+mj-lt"/>
                <a:sym typeface="Symbol" charset="0"/>
              </a:rPr>
              <a:t>35</a:t>
            </a:r>
          </a:p>
          <a:p>
            <a:pPr>
              <a:spcBef>
                <a:spcPct val="125000"/>
              </a:spcBef>
              <a:spcAft>
                <a:spcPts val="1000"/>
              </a:spcAft>
            </a:pPr>
            <a:r>
              <a:rPr lang="it-IT" sz="2000" dirty="0">
                <a:latin typeface="+mj-lt"/>
                <a:sym typeface="Symbol" charset="0"/>
              </a:rPr>
              <a:t>15</a:t>
            </a:r>
          </a:p>
          <a:p>
            <a:pPr>
              <a:spcBef>
                <a:spcPct val="125000"/>
              </a:spcBef>
              <a:spcAft>
                <a:spcPts val="1000"/>
              </a:spcAft>
            </a:pPr>
            <a:r>
              <a:rPr lang="it-IT" sz="2000" dirty="0">
                <a:latin typeface="+mj-lt"/>
                <a:sym typeface="Symbol" charset="0"/>
              </a:rPr>
              <a:t>5</a:t>
            </a:r>
          </a:p>
          <a:p>
            <a:pPr>
              <a:spcBef>
                <a:spcPct val="125000"/>
              </a:spcBef>
              <a:spcAft>
                <a:spcPts val="1000"/>
              </a:spcAft>
            </a:pPr>
            <a:r>
              <a:rPr lang="it-IT" sz="2000" dirty="0">
                <a:latin typeface="+mj-lt"/>
                <a:sym typeface="Symbol" charset="0"/>
              </a:rPr>
              <a:t>10</a:t>
            </a:r>
          </a:p>
          <a:p>
            <a:pPr>
              <a:spcBef>
                <a:spcPct val="125000"/>
              </a:spcBef>
              <a:spcAft>
                <a:spcPts val="1000"/>
              </a:spcAft>
            </a:pPr>
            <a:r>
              <a:rPr lang="it-IT" sz="2000" dirty="0">
                <a:latin typeface="+mj-lt"/>
                <a:sym typeface="Symbol" charset="0"/>
              </a:rPr>
              <a:t>20</a:t>
            </a:r>
          </a:p>
        </p:txBody>
      </p:sp>
      <p:sp>
        <p:nvSpPr>
          <p:cNvPr id="699430" name="Text Box 38"/>
          <p:cNvSpPr txBox="1">
            <a:spLocks noChangeArrowheads="1"/>
          </p:cNvSpPr>
          <p:nvPr/>
        </p:nvSpPr>
        <p:spPr bwMode="auto">
          <a:xfrm>
            <a:off x="2362200" y="12954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 dirty="0" err="1">
                <a:latin typeface="+mj-lt"/>
                <a:sym typeface="Symbol" charset="0"/>
              </a:rPr>
              <a:t>p</a:t>
            </a:r>
            <a:endParaRPr lang="it-IT" sz="2000" baseline="-25000" dirty="0">
              <a:latin typeface="+mj-lt"/>
              <a:sym typeface="Symbol" charset="0"/>
            </a:endParaRPr>
          </a:p>
        </p:txBody>
      </p:sp>
      <p:sp>
        <p:nvSpPr>
          <p:cNvPr id="699431" name="Text Box 39"/>
          <p:cNvSpPr txBox="1">
            <a:spLocks noChangeArrowheads="1"/>
          </p:cNvSpPr>
          <p:nvPr/>
        </p:nvSpPr>
        <p:spPr bwMode="auto">
          <a:xfrm>
            <a:off x="3657600" y="762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35</a:t>
            </a:r>
          </a:p>
        </p:txBody>
      </p:sp>
      <p:sp>
        <p:nvSpPr>
          <p:cNvPr id="699432" name="Text Box 40"/>
          <p:cNvSpPr txBox="1">
            <a:spLocks noChangeArrowheads="1"/>
          </p:cNvSpPr>
          <p:nvPr/>
        </p:nvSpPr>
        <p:spPr bwMode="auto">
          <a:xfrm>
            <a:off x="7848600" y="762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25</a:t>
            </a:r>
          </a:p>
        </p:txBody>
      </p:sp>
      <p:sp>
        <p:nvSpPr>
          <p:cNvPr id="699433" name="Text Box 41"/>
          <p:cNvSpPr txBox="1">
            <a:spLocks noChangeArrowheads="1"/>
          </p:cNvSpPr>
          <p:nvPr/>
        </p:nvSpPr>
        <p:spPr bwMode="auto">
          <a:xfrm>
            <a:off x="7010400" y="762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20</a:t>
            </a:r>
          </a:p>
        </p:txBody>
      </p:sp>
      <p:sp>
        <p:nvSpPr>
          <p:cNvPr id="699434" name="Text Box 42"/>
          <p:cNvSpPr txBox="1">
            <a:spLocks noChangeArrowheads="1"/>
          </p:cNvSpPr>
          <p:nvPr/>
        </p:nvSpPr>
        <p:spPr bwMode="auto">
          <a:xfrm>
            <a:off x="6172200" y="7620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10</a:t>
            </a:r>
          </a:p>
        </p:txBody>
      </p:sp>
      <p:sp>
        <p:nvSpPr>
          <p:cNvPr id="699435" name="Text Box 43"/>
          <p:cNvSpPr txBox="1">
            <a:spLocks noChangeArrowheads="1"/>
          </p:cNvSpPr>
          <p:nvPr/>
        </p:nvSpPr>
        <p:spPr bwMode="auto">
          <a:xfrm>
            <a:off x="5334000" y="762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5</a:t>
            </a:r>
          </a:p>
        </p:txBody>
      </p:sp>
      <p:sp>
        <p:nvSpPr>
          <p:cNvPr id="699436" name="Text Box 44"/>
          <p:cNvSpPr txBox="1">
            <a:spLocks noChangeArrowheads="1"/>
          </p:cNvSpPr>
          <p:nvPr/>
        </p:nvSpPr>
        <p:spPr bwMode="auto">
          <a:xfrm>
            <a:off x="4495800" y="762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15</a:t>
            </a:r>
          </a:p>
        </p:txBody>
      </p:sp>
      <p:sp>
        <p:nvSpPr>
          <p:cNvPr id="699437" name="Text Box 45"/>
          <p:cNvSpPr txBox="1">
            <a:spLocks noChangeArrowheads="1"/>
          </p:cNvSpPr>
          <p:nvPr/>
        </p:nvSpPr>
        <p:spPr bwMode="auto">
          <a:xfrm>
            <a:off x="3275856" y="692696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latin typeface="+mj-lt"/>
                <a:sym typeface="Symbol" charset="0"/>
              </a:rPr>
              <a:t>p</a:t>
            </a:r>
            <a:endParaRPr lang="it-IT" sz="2000" baseline="-25000">
              <a:latin typeface="+mj-lt"/>
              <a:sym typeface="Symbol" charset="0"/>
            </a:endParaRPr>
          </a:p>
        </p:txBody>
      </p:sp>
      <p:sp>
        <p:nvSpPr>
          <p:cNvPr id="699438" name="Text Box 46"/>
          <p:cNvSpPr txBox="1">
            <a:spLocks noChangeArrowheads="1"/>
          </p:cNvSpPr>
          <p:nvPr/>
        </p:nvSpPr>
        <p:spPr bwMode="auto">
          <a:xfrm>
            <a:off x="3429000" y="1676400"/>
            <a:ext cx="53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1800" i="1">
                <a:latin typeface="+mj-lt"/>
                <a:sym typeface="Symbol" charset="0"/>
              </a:rPr>
              <a:t>m</a:t>
            </a:r>
          </a:p>
          <a:p>
            <a:r>
              <a:rPr lang="it-IT" sz="1800" i="1">
                <a:latin typeface="+mj-lt"/>
                <a:sym typeface="Symbol" charset="0"/>
              </a:rPr>
              <a:t>k</a:t>
            </a:r>
            <a:endParaRPr lang="it-IT" sz="1800">
              <a:latin typeface="+mj-lt"/>
              <a:sym typeface="Symbol" charset="0"/>
            </a:endParaRPr>
          </a:p>
        </p:txBody>
      </p:sp>
      <p:sp>
        <p:nvSpPr>
          <p:cNvPr id="699439" name="Text Box 47"/>
          <p:cNvSpPr txBox="1">
            <a:spLocks noChangeArrowheads="1"/>
          </p:cNvSpPr>
          <p:nvPr/>
        </p:nvSpPr>
        <p:spPr bwMode="auto">
          <a:xfrm>
            <a:off x="4267200" y="2514600"/>
            <a:ext cx="53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1800" i="1">
                <a:latin typeface="+mj-lt"/>
                <a:sym typeface="Symbol" charset="0"/>
              </a:rPr>
              <a:t>m</a:t>
            </a:r>
          </a:p>
          <a:p>
            <a:r>
              <a:rPr lang="it-IT" sz="1800" i="1">
                <a:latin typeface="+mj-lt"/>
                <a:sym typeface="Symbol" charset="0"/>
              </a:rPr>
              <a:t>k</a:t>
            </a:r>
            <a:endParaRPr lang="it-IT" sz="1800">
              <a:latin typeface="+mj-lt"/>
              <a:sym typeface="Symbol" charset="0"/>
            </a:endParaRPr>
          </a:p>
        </p:txBody>
      </p:sp>
      <p:sp>
        <p:nvSpPr>
          <p:cNvPr id="699440" name="Text Box 48"/>
          <p:cNvSpPr txBox="1">
            <a:spLocks noChangeArrowheads="1"/>
          </p:cNvSpPr>
          <p:nvPr/>
        </p:nvSpPr>
        <p:spPr bwMode="auto">
          <a:xfrm>
            <a:off x="6781800" y="5029200"/>
            <a:ext cx="53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1800" i="1">
                <a:latin typeface="+mj-lt"/>
                <a:sym typeface="Symbol" charset="0"/>
              </a:rPr>
              <a:t>m</a:t>
            </a:r>
          </a:p>
          <a:p>
            <a:r>
              <a:rPr lang="it-IT" sz="1800" i="1">
                <a:latin typeface="+mj-lt"/>
                <a:sym typeface="Symbol" charset="0"/>
              </a:rPr>
              <a:t>k</a:t>
            </a:r>
            <a:endParaRPr lang="it-IT" sz="1800">
              <a:latin typeface="+mj-lt"/>
              <a:sym typeface="Symbol" charset="0"/>
            </a:endParaRPr>
          </a:p>
        </p:txBody>
      </p:sp>
      <p:sp>
        <p:nvSpPr>
          <p:cNvPr id="699441" name="Text Box 49"/>
          <p:cNvSpPr txBox="1">
            <a:spLocks noChangeArrowheads="1"/>
          </p:cNvSpPr>
          <p:nvPr/>
        </p:nvSpPr>
        <p:spPr bwMode="auto">
          <a:xfrm>
            <a:off x="5943600" y="4191000"/>
            <a:ext cx="53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1800" i="1">
                <a:latin typeface="+mj-lt"/>
                <a:sym typeface="Symbol" charset="0"/>
              </a:rPr>
              <a:t>m</a:t>
            </a:r>
          </a:p>
          <a:p>
            <a:r>
              <a:rPr lang="it-IT" sz="1800" i="1">
                <a:latin typeface="+mj-lt"/>
                <a:sym typeface="Symbol" charset="0"/>
              </a:rPr>
              <a:t>k</a:t>
            </a:r>
            <a:endParaRPr lang="it-IT" sz="1800">
              <a:latin typeface="+mj-lt"/>
              <a:sym typeface="Symbol" charset="0"/>
            </a:endParaRPr>
          </a:p>
        </p:txBody>
      </p:sp>
      <p:sp>
        <p:nvSpPr>
          <p:cNvPr id="699442" name="Text Box 50"/>
          <p:cNvSpPr txBox="1">
            <a:spLocks noChangeArrowheads="1"/>
          </p:cNvSpPr>
          <p:nvPr/>
        </p:nvSpPr>
        <p:spPr bwMode="auto">
          <a:xfrm>
            <a:off x="5105400" y="3352800"/>
            <a:ext cx="53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1800" i="1">
                <a:latin typeface="+mj-lt"/>
                <a:sym typeface="Symbol" charset="0"/>
              </a:rPr>
              <a:t>m</a:t>
            </a:r>
          </a:p>
          <a:p>
            <a:r>
              <a:rPr lang="it-IT" sz="1800" i="1">
                <a:latin typeface="+mj-lt"/>
                <a:sym typeface="Symbol" charset="0"/>
              </a:rPr>
              <a:t>k</a:t>
            </a:r>
            <a:endParaRPr lang="it-IT" sz="1800">
              <a:latin typeface="+mj-lt"/>
              <a:sym typeface="Symbol" charset="0"/>
            </a:endParaRPr>
          </a:p>
        </p:txBody>
      </p:sp>
      <p:sp>
        <p:nvSpPr>
          <p:cNvPr id="699443" name="Text Box 51"/>
          <p:cNvSpPr txBox="1">
            <a:spLocks noChangeArrowheads="1"/>
          </p:cNvSpPr>
          <p:nvPr/>
        </p:nvSpPr>
        <p:spPr bwMode="auto">
          <a:xfrm>
            <a:off x="7620000" y="5867400"/>
            <a:ext cx="53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1800" i="1">
                <a:latin typeface="+mj-lt"/>
                <a:sym typeface="Symbol" charset="0"/>
              </a:rPr>
              <a:t>m</a:t>
            </a:r>
          </a:p>
          <a:p>
            <a:r>
              <a:rPr lang="it-IT" sz="1800" i="1">
                <a:latin typeface="+mj-lt"/>
                <a:sym typeface="Symbol" charset="0"/>
              </a:rPr>
              <a:t>k</a:t>
            </a:r>
            <a:endParaRPr lang="it-IT" sz="1800">
              <a:latin typeface="+mj-lt"/>
              <a:sym typeface="Symbol" charset="0"/>
            </a:endParaRPr>
          </a:p>
        </p:txBody>
      </p:sp>
      <p:sp>
        <p:nvSpPr>
          <p:cNvPr id="699444" name="Rectangle 52"/>
          <p:cNvSpPr>
            <a:spLocks noChangeArrowheads="1"/>
          </p:cNvSpPr>
          <p:nvPr/>
        </p:nvSpPr>
        <p:spPr bwMode="auto">
          <a:xfrm>
            <a:off x="43434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1..2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15750</a:t>
            </a:r>
          </a:p>
          <a:p>
            <a:pPr algn="ctr"/>
            <a:r>
              <a:rPr lang="it-IT" sz="1800">
                <a:latin typeface="+mj-lt"/>
              </a:rPr>
              <a:t>1</a:t>
            </a:r>
            <a:endParaRPr lang="en-US" sz="1800">
              <a:latin typeface="+mj-lt"/>
            </a:endParaRPr>
          </a:p>
        </p:txBody>
      </p:sp>
      <p:sp>
        <p:nvSpPr>
          <p:cNvPr id="699445" name="Rectangle 53"/>
          <p:cNvSpPr>
            <a:spLocks noChangeArrowheads="1"/>
          </p:cNvSpPr>
          <p:nvPr/>
        </p:nvSpPr>
        <p:spPr bwMode="auto">
          <a:xfrm>
            <a:off x="51816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2..3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2625</a:t>
            </a:r>
          </a:p>
          <a:p>
            <a:pPr algn="ctr"/>
            <a:r>
              <a:rPr lang="it-IT" sz="1800">
                <a:latin typeface="+mj-lt"/>
              </a:rPr>
              <a:t>2</a:t>
            </a:r>
            <a:endParaRPr lang="en-US" sz="1800">
              <a:latin typeface="+mj-lt"/>
            </a:endParaRPr>
          </a:p>
        </p:txBody>
      </p:sp>
      <p:sp>
        <p:nvSpPr>
          <p:cNvPr id="699446" name="Rectangle 54"/>
          <p:cNvSpPr>
            <a:spLocks noChangeArrowheads="1"/>
          </p:cNvSpPr>
          <p:nvPr/>
        </p:nvSpPr>
        <p:spPr bwMode="auto">
          <a:xfrm>
            <a:off x="6019800" y="3124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3..4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750</a:t>
            </a:r>
          </a:p>
          <a:p>
            <a:pPr algn="ctr"/>
            <a:r>
              <a:rPr lang="it-IT" sz="1800">
                <a:latin typeface="+mj-lt"/>
              </a:rPr>
              <a:t>3</a:t>
            </a:r>
            <a:endParaRPr lang="en-US" sz="1800">
              <a:latin typeface="+mj-lt"/>
            </a:endParaRPr>
          </a:p>
        </p:txBody>
      </p:sp>
      <p:sp>
        <p:nvSpPr>
          <p:cNvPr id="699447" name="Rectangle 55"/>
          <p:cNvSpPr>
            <a:spLocks noChangeArrowheads="1"/>
          </p:cNvSpPr>
          <p:nvPr/>
        </p:nvSpPr>
        <p:spPr bwMode="auto">
          <a:xfrm>
            <a:off x="6858000" y="39624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4..5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1000</a:t>
            </a:r>
          </a:p>
          <a:p>
            <a:pPr algn="ctr"/>
            <a:r>
              <a:rPr lang="it-IT" sz="1800">
                <a:latin typeface="+mj-lt"/>
              </a:rPr>
              <a:t>4</a:t>
            </a:r>
            <a:endParaRPr lang="en-US" sz="1800">
              <a:latin typeface="+mj-lt"/>
            </a:endParaRPr>
          </a:p>
        </p:txBody>
      </p:sp>
      <p:sp>
        <p:nvSpPr>
          <p:cNvPr id="699448" name="Rectangle 56"/>
          <p:cNvSpPr>
            <a:spLocks noChangeArrowheads="1"/>
          </p:cNvSpPr>
          <p:nvPr/>
        </p:nvSpPr>
        <p:spPr bwMode="auto">
          <a:xfrm>
            <a:off x="7696200" y="4800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5..6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5000</a:t>
            </a:r>
          </a:p>
          <a:p>
            <a:pPr algn="ctr"/>
            <a:r>
              <a:rPr lang="it-IT" sz="1800">
                <a:latin typeface="+mj-lt"/>
              </a:rPr>
              <a:t>5</a:t>
            </a:r>
            <a:endParaRPr lang="en-US" sz="1800">
              <a:latin typeface="+mj-lt"/>
            </a:endParaRPr>
          </a:p>
        </p:txBody>
      </p:sp>
      <p:sp>
        <p:nvSpPr>
          <p:cNvPr id="699449" name="Rectangle 57"/>
          <p:cNvSpPr>
            <a:spLocks noChangeArrowheads="1"/>
          </p:cNvSpPr>
          <p:nvPr/>
        </p:nvSpPr>
        <p:spPr bwMode="auto">
          <a:xfrm>
            <a:off x="51816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1..3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7875</a:t>
            </a:r>
          </a:p>
          <a:p>
            <a:pPr algn="ctr"/>
            <a:r>
              <a:rPr lang="it-IT" sz="1800">
                <a:latin typeface="+mj-lt"/>
              </a:rPr>
              <a:t>1</a:t>
            </a:r>
            <a:endParaRPr lang="en-US" sz="1800">
              <a:latin typeface="+mj-lt"/>
            </a:endParaRPr>
          </a:p>
        </p:txBody>
      </p:sp>
      <p:sp>
        <p:nvSpPr>
          <p:cNvPr id="699450" name="Rectangle 58"/>
          <p:cNvSpPr>
            <a:spLocks noChangeArrowheads="1"/>
          </p:cNvSpPr>
          <p:nvPr/>
        </p:nvSpPr>
        <p:spPr bwMode="auto">
          <a:xfrm>
            <a:off x="60198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 dirty="0">
                <a:latin typeface="+mj-lt"/>
                <a:sym typeface="Symbol" charset="0"/>
              </a:rPr>
              <a:t>A</a:t>
            </a:r>
            <a:r>
              <a:rPr lang="it-IT" sz="1800" baseline="-25000" dirty="0">
                <a:latin typeface="+mj-lt"/>
                <a:sym typeface="Symbol" charset="0"/>
              </a:rPr>
              <a:t>2..4</a:t>
            </a:r>
            <a:endParaRPr lang="it-IT" sz="1800" dirty="0">
              <a:latin typeface="+mj-lt"/>
            </a:endParaRPr>
          </a:p>
          <a:p>
            <a:pPr algn="ctr"/>
            <a:r>
              <a:rPr lang="it-IT" sz="1800" dirty="0">
                <a:latin typeface="+mj-lt"/>
              </a:rPr>
              <a:t>4375</a:t>
            </a:r>
          </a:p>
          <a:p>
            <a:pPr algn="ctr"/>
            <a:r>
              <a:rPr lang="it-IT" sz="1800" dirty="0">
                <a:latin typeface="+mj-lt"/>
              </a:rPr>
              <a:t>3</a:t>
            </a:r>
            <a:endParaRPr lang="en-US" sz="1800" dirty="0">
              <a:latin typeface="+mj-lt"/>
            </a:endParaRPr>
          </a:p>
        </p:txBody>
      </p:sp>
      <p:sp>
        <p:nvSpPr>
          <p:cNvPr id="699451" name="Rectangle 59"/>
          <p:cNvSpPr>
            <a:spLocks noChangeArrowheads="1"/>
          </p:cNvSpPr>
          <p:nvPr/>
        </p:nvSpPr>
        <p:spPr bwMode="auto">
          <a:xfrm>
            <a:off x="6858000" y="3124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3..5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2500</a:t>
            </a:r>
          </a:p>
          <a:p>
            <a:pPr algn="ctr"/>
            <a:r>
              <a:rPr lang="it-IT" sz="1800">
                <a:latin typeface="+mj-lt"/>
              </a:rPr>
              <a:t>3</a:t>
            </a:r>
            <a:endParaRPr lang="en-US" sz="1800">
              <a:latin typeface="+mj-lt"/>
            </a:endParaRPr>
          </a:p>
        </p:txBody>
      </p:sp>
      <p:sp>
        <p:nvSpPr>
          <p:cNvPr id="699452" name="Rectangle 60"/>
          <p:cNvSpPr>
            <a:spLocks noChangeArrowheads="1"/>
          </p:cNvSpPr>
          <p:nvPr/>
        </p:nvSpPr>
        <p:spPr bwMode="auto">
          <a:xfrm>
            <a:off x="7696200" y="39624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4..6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3500</a:t>
            </a:r>
          </a:p>
          <a:p>
            <a:pPr algn="ctr"/>
            <a:r>
              <a:rPr lang="it-IT" sz="1800">
                <a:latin typeface="+mj-lt"/>
              </a:rPr>
              <a:t>5</a:t>
            </a:r>
            <a:endParaRPr lang="en-US" sz="1800">
              <a:latin typeface="+mj-lt"/>
            </a:endParaRPr>
          </a:p>
        </p:txBody>
      </p:sp>
      <p:sp>
        <p:nvSpPr>
          <p:cNvPr id="699453" name="Rectangle 61"/>
          <p:cNvSpPr>
            <a:spLocks noChangeArrowheads="1"/>
          </p:cNvSpPr>
          <p:nvPr/>
        </p:nvSpPr>
        <p:spPr bwMode="auto">
          <a:xfrm>
            <a:off x="60198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1..4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9375</a:t>
            </a:r>
          </a:p>
          <a:p>
            <a:pPr algn="ctr"/>
            <a:r>
              <a:rPr lang="it-IT" sz="1800">
                <a:latin typeface="+mj-lt"/>
              </a:rPr>
              <a:t>3</a:t>
            </a:r>
            <a:endParaRPr lang="en-US" sz="1800">
              <a:latin typeface="+mj-lt"/>
            </a:endParaRPr>
          </a:p>
        </p:txBody>
      </p:sp>
      <p:sp>
        <p:nvSpPr>
          <p:cNvPr id="699454" name="Rectangle 62"/>
          <p:cNvSpPr>
            <a:spLocks noChangeArrowheads="1"/>
          </p:cNvSpPr>
          <p:nvPr/>
        </p:nvSpPr>
        <p:spPr bwMode="auto">
          <a:xfrm>
            <a:off x="68580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2..5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7125</a:t>
            </a:r>
          </a:p>
          <a:p>
            <a:pPr algn="ctr"/>
            <a:r>
              <a:rPr lang="it-IT" sz="1800">
                <a:latin typeface="+mj-lt"/>
              </a:rPr>
              <a:t>3</a:t>
            </a:r>
            <a:endParaRPr lang="en-US" sz="1800">
              <a:latin typeface="+mj-lt"/>
            </a:endParaRPr>
          </a:p>
        </p:txBody>
      </p:sp>
      <p:sp>
        <p:nvSpPr>
          <p:cNvPr id="699455" name="Rectangle 63"/>
          <p:cNvSpPr>
            <a:spLocks noChangeArrowheads="1"/>
          </p:cNvSpPr>
          <p:nvPr/>
        </p:nvSpPr>
        <p:spPr bwMode="auto">
          <a:xfrm>
            <a:off x="7696200" y="3124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 dirty="0">
                <a:latin typeface="+mj-lt"/>
                <a:sym typeface="Symbol" charset="0"/>
              </a:rPr>
              <a:t>A</a:t>
            </a:r>
            <a:r>
              <a:rPr lang="it-IT" sz="1800" baseline="-25000" dirty="0">
                <a:latin typeface="+mj-lt"/>
                <a:sym typeface="Symbol" charset="0"/>
              </a:rPr>
              <a:t>3..6</a:t>
            </a:r>
            <a:endParaRPr lang="it-IT" sz="1800" dirty="0">
              <a:latin typeface="+mj-lt"/>
            </a:endParaRPr>
          </a:p>
          <a:p>
            <a:pPr algn="ctr"/>
            <a:r>
              <a:rPr lang="it-IT" sz="1800" dirty="0">
                <a:latin typeface="+mj-lt"/>
              </a:rPr>
              <a:t>5375</a:t>
            </a:r>
          </a:p>
          <a:p>
            <a:pPr algn="ctr"/>
            <a:r>
              <a:rPr lang="it-IT" sz="1800" dirty="0">
                <a:latin typeface="+mj-lt"/>
              </a:rPr>
              <a:t>3</a:t>
            </a:r>
            <a:endParaRPr lang="en-US" sz="1800" dirty="0">
              <a:latin typeface="+mj-lt"/>
            </a:endParaRPr>
          </a:p>
        </p:txBody>
      </p:sp>
      <p:sp>
        <p:nvSpPr>
          <p:cNvPr id="699456" name="Rectangle 64"/>
          <p:cNvSpPr>
            <a:spLocks noChangeArrowheads="1"/>
          </p:cNvSpPr>
          <p:nvPr/>
        </p:nvSpPr>
        <p:spPr bwMode="auto">
          <a:xfrm>
            <a:off x="68580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1..5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11875</a:t>
            </a:r>
          </a:p>
          <a:p>
            <a:pPr algn="ctr"/>
            <a:r>
              <a:rPr lang="it-IT" sz="1800">
                <a:latin typeface="+mj-lt"/>
              </a:rPr>
              <a:t>3</a:t>
            </a:r>
            <a:endParaRPr lang="en-US" sz="1800">
              <a:latin typeface="+mj-lt"/>
            </a:endParaRPr>
          </a:p>
        </p:txBody>
      </p:sp>
      <p:sp>
        <p:nvSpPr>
          <p:cNvPr id="699457" name="Rectangle 65"/>
          <p:cNvSpPr>
            <a:spLocks noChangeArrowheads="1"/>
          </p:cNvSpPr>
          <p:nvPr/>
        </p:nvSpPr>
        <p:spPr bwMode="auto">
          <a:xfrm>
            <a:off x="7696200" y="2286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2..6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10500</a:t>
            </a:r>
          </a:p>
          <a:p>
            <a:pPr algn="ctr"/>
            <a:r>
              <a:rPr lang="it-IT" sz="1800">
                <a:latin typeface="+mj-lt"/>
              </a:rPr>
              <a:t>3</a:t>
            </a:r>
            <a:endParaRPr lang="en-US" sz="1800">
              <a:latin typeface="+mj-lt"/>
            </a:endParaRPr>
          </a:p>
        </p:txBody>
      </p:sp>
      <p:sp>
        <p:nvSpPr>
          <p:cNvPr id="699458" name="Rectangle 66"/>
          <p:cNvSpPr>
            <a:spLocks noChangeArrowheads="1"/>
          </p:cNvSpPr>
          <p:nvPr/>
        </p:nvSpPr>
        <p:spPr bwMode="auto">
          <a:xfrm>
            <a:off x="7696200" y="1447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1800" i="1">
                <a:latin typeface="+mj-lt"/>
                <a:sym typeface="Symbol" charset="0"/>
              </a:rPr>
              <a:t>A</a:t>
            </a:r>
            <a:r>
              <a:rPr lang="it-IT" sz="1800" baseline="-25000">
                <a:latin typeface="+mj-lt"/>
                <a:sym typeface="Symbol" charset="0"/>
              </a:rPr>
              <a:t>1..6</a:t>
            </a:r>
            <a:endParaRPr lang="it-IT" sz="1800">
              <a:latin typeface="+mj-lt"/>
            </a:endParaRPr>
          </a:p>
          <a:p>
            <a:pPr algn="ctr"/>
            <a:r>
              <a:rPr lang="it-IT" sz="1800">
                <a:latin typeface="+mj-lt"/>
              </a:rPr>
              <a:t>15125</a:t>
            </a:r>
          </a:p>
          <a:p>
            <a:pPr algn="ctr"/>
            <a:r>
              <a:rPr lang="it-IT" sz="1800">
                <a:latin typeface="+mj-lt"/>
              </a:rPr>
              <a:t>3</a:t>
            </a:r>
            <a:endParaRPr lang="en-US" sz="1800">
              <a:latin typeface="+mj-lt"/>
            </a:endParaRPr>
          </a:p>
        </p:txBody>
      </p:sp>
      <p:sp>
        <p:nvSpPr>
          <p:cNvPr id="699459" name="Rectangle 6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Verso la soluzione</a:t>
            </a:r>
          </a:p>
        </p:txBody>
      </p:sp>
      <p:sp>
        <p:nvSpPr>
          <p:cNvPr id="67" name="Rectangle 34"/>
          <p:cNvSpPr>
            <a:spLocks noChangeArrowheads="1"/>
          </p:cNvSpPr>
          <p:nvPr/>
        </p:nvSpPr>
        <p:spPr bwMode="auto">
          <a:xfrm>
            <a:off x="152400" y="47244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>
                <a:latin typeface="+mj-lt"/>
                <a:sym typeface="Symbol" charset="0"/>
              </a:rPr>
              <a:t>(</a:t>
            </a:r>
            <a:r>
              <a:rPr lang="it-IT" sz="2000" i="1">
                <a:latin typeface="+mj-lt"/>
                <a:sym typeface="Symbol" charset="0"/>
              </a:rPr>
              <a:t>A</a:t>
            </a:r>
            <a:r>
              <a:rPr lang="it-IT" sz="2000" baseline="-25000">
                <a:latin typeface="+mj-lt"/>
                <a:sym typeface="Symbol" charset="0"/>
              </a:rPr>
              <a:t>1..3 </a:t>
            </a:r>
            <a:r>
              <a:rPr lang="it-IT" sz="2000" i="1">
                <a:latin typeface="+mj-lt"/>
                <a:sym typeface="Symbol" charset="0"/>
              </a:rPr>
              <a:t>A</a:t>
            </a:r>
            <a:r>
              <a:rPr lang="it-IT" sz="2000" baseline="-25000">
                <a:latin typeface="+mj-lt"/>
                <a:sym typeface="Symbol" charset="0"/>
              </a:rPr>
              <a:t>4..6</a:t>
            </a:r>
            <a:r>
              <a:rPr lang="it-IT" sz="2000">
                <a:latin typeface="+mj-lt"/>
                <a:sym typeface="Symbol" charset="0"/>
              </a:rPr>
              <a:t>)</a:t>
            </a:r>
          </a:p>
        </p:txBody>
      </p:sp>
      <p:sp>
        <p:nvSpPr>
          <p:cNvPr id="68" name="Rectangle 35"/>
          <p:cNvSpPr>
            <a:spLocks noChangeArrowheads="1"/>
          </p:cNvSpPr>
          <p:nvPr/>
        </p:nvSpPr>
        <p:spPr bwMode="auto">
          <a:xfrm>
            <a:off x="152400" y="41910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 i="1" dirty="0">
                <a:latin typeface="+mj-lt"/>
                <a:sym typeface="Symbol" charset="0"/>
              </a:rPr>
              <a:t>A</a:t>
            </a:r>
            <a:r>
              <a:rPr lang="it-IT" sz="2000" baseline="-25000" dirty="0">
                <a:latin typeface="+mj-lt"/>
                <a:sym typeface="Symbol" charset="0"/>
              </a:rPr>
              <a:t>1..6</a:t>
            </a:r>
            <a:endParaRPr lang="it-IT" sz="2000" dirty="0">
              <a:latin typeface="+mj-lt"/>
              <a:sym typeface="Symbol" charset="0"/>
            </a:endParaRPr>
          </a:p>
        </p:txBody>
      </p:sp>
      <p:sp>
        <p:nvSpPr>
          <p:cNvPr id="69" name="Rectangle 36"/>
          <p:cNvSpPr>
            <a:spLocks noChangeArrowheads="1"/>
          </p:cNvSpPr>
          <p:nvPr/>
        </p:nvSpPr>
        <p:spPr bwMode="auto">
          <a:xfrm>
            <a:off x="152400" y="52578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 dirty="0">
                <a:latin typeface="+mj-lt"/>
                <a:sym typeface="Symbol" charset="0"/>
              </a:rPr>
              <a:t>((</a:t>
            </a:r>
            <a:r>
              <a:rPr lang="it-IT" sz="2000" i="1" dirty="0">
                <a:latin typeface="+mj-lt"/>
                <a:sym typeface="Symbol" charset="0"/>
              </a:rPr>
              <a:t>A</a:t>
            </a:r>
            <a:r>
              <a:rPr lang="it-IT" sz="2000" baseline="-25000" dirty="0">
                <a:latin typeface="+mj-lt"/>
                <a:sym typeface="Symbol" charset="0"/>
              </a:rPr>
              <a:t>1</a:t>
            </a:r>
            <a:r>
              <a:rPr lang="it-IT" sz="2000" i="1" dirty="0">
                <a:latin typeface="+mj-lt"/>
                <a:sym typeface="Symbol" charset="0"/>
              </a:rPr>
              <a:t>A</a:t>
            </a:r>
            <a:r>
              <a:rPr lang="it-IT" sz="2000" baseline="-25000" dirty="0">
                <a:latin typeface="+mj-lt"/>
                <a:sym typeface="Symbol" charset="0"/>
              </a:rPr>
              <a:t>2..3</a:t>
            </a:r>
            <a:r>
              <a:rPr lang="it-IT" sz="2000" dirty="0">
                <a:latin typeface="+mj-lt"/>
                <a:sym typeface="Symbol" charset="0"/>
              </a:rPr>
              <a:t>) (</a:t>
            </a:r>
            <a:r>
              <a:rPr lang="it-IT" sz="2000" i="1" dirty="0">
                <a:latin typeface="+mj-lt"/>
                <a:sym typeface="Symbol" charset="0"/>
              </a:rPr>
              <a:t>A</a:t>
            </a:r>
            <a:r>
              <a:rPr lang="it-IT" sz="2000" baseline="-25000" dirty="0">
                <a:latin typeface="+mj-lt"/>
                <a:sym typeface="Symbol" charset="0"/>
              </a:rPr>
              <a:t>4..5 </a:t>
            </a:r>
            <a:r>
              <a:rPr lang="it-IT" sz="2000" i="1" dirty="0">
                <a:latin typeface="+mj-lt"/>
                <a:sym typeface="Symbol" charset="0"/>
              </a:rPr>
              <a:t>A</a:t>
            </a:r>
            <a:r>
              <a:rPr lang="it-IT" sz="2000" baseline="-25000" dirty="0">
                <a:latin typeface="+mj-lt"/>
                <a:sym typeface="Symbol" charset="0"/>
              </a:rPr>
              <a:t>6</a:t>
            </a:r>
            <a:r>
              <a:rPr lang="it-IT" sz="2000" dirty="0">
                <a:latin typeface="+mj-lt"/>
                <a:sym typeface="Symbol" charset="0"/>
              </a:rPr>
              <a:t>))</a:t>
            </a:r>
          </a:p>
        </p:txBody>
      </p:sp>
      <p:sp>
        <p:nvSpPr>
          <p:cNvPr id="70" name="Rectangle 37"/>
          <p:cNvSpPr>
            <a:spLocks noChangeArrowheads="1"/>
          </p:cNvSpPr>
          <p:nvPr/>
        </p:nvSpPr>
        <p:spPr bwMode="auto">
          <a:xfrm>
            <a:off x="152400" y="58674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2000">
                <a:latin typeface="+mj-lt"/>
                <a:sym typeface="Symbol" charset="0"/>
              </a:rPr>
              <a:t>((</a:t>
            </a:r>
            <a:r>
              <a:rPr lang="it-IT" sz="2000" i="1">
                <a:latin typeface="+mj-lt"/>
                <a:sym typeface="Symbol" charset="0"/>
              </a:rPr>
              <a:t>A</a:t>
            </a:r>
            <a:r>
              <a:rPr lang="it-IT" sz="2000" baseline="-25000">
                <a:latin typeface="+mj-lt"/>
                <a:sym typeface="Symbol" charset="0"/>
              </a:rPr>
              <a:t>1</a:t>
            </a:r>
            <a:r>
              <a:rPr lang="it-IT" sz="2000">
                <a:latin typeface="+mj-lt"/>
                <a:sym typeface="Symbol" charset="0"/>
              </a:rPr>
              <a:t>(</a:t>
            </a:r>
            <a:r>
              <a:rPr lang="it-IT" sz="2000" i="1">
                <a:latin typeface="+mj-lt"/>
                <a:sym typeface="Symbol" charset="0"/>
              </a:rPr>
              <a:t>A</a:t>
            </a:r>
            <a:r>
              <a:rPr lang="it-IT" sz="2000" baseline="-25000">
                <a:latin typeface="+mj-lt"/>
                <a:sym typeface="Symbol" charset="0"/>
              </a:rPr>
              <a:t>2</a:t>
            </a:r>
            <a:r>
              <a:rPr lang="it-IT" sz="2000" i="1">
                <a:latin typeface="+mj-lt"/>
                <a:sym typeface="Symbol" charset="0"/>
              </a:rPr>
              <a:t>A</a:t>
            </a:r>
            <a:r>
              <a:rPr lang="it-IT" sz="2000" baseline="-25000">
                <a:latin typeface="+mj-lt"/>
                <a:sym typeface="Symbol" charset="0"/>
              </a:rPr>
              <a:t>3 </a:t>
            </a:r>
            <a:r>
              <a:rPr lang="it-IT" sz="2000">
                <a:latin typeface="+mj-lt"/>
                <a:sym typeface="Symbol" charset="0"/>
              </a:rPr>
              <a:t>)) ((</a:t>
            </a:r>
            <a:r>
              <a:rPr lang="it-IT" sz="2000" i="1">
                <a:latin typeface="+mj-lt"/>
                <a:sym typeface="Symbol" charset="0"/>
              </a:rPr>
              <a:t>A</a:t>
            </a:r>
            <a:r>
              <a:rPr lang="it-IT" sz="2000" baseline="-25000">
                <a:latin typeface="+mj-lt"/>
                <a:sym typeface="Symbol" charset="0"/>
              </a:rPr>
              <a:t>4</a:t>
            </a:r>
            <a:r>
              <a:rPr lang="it-IT" sz="2000" i="1">
                <a:latin typeface="+mj-lt"/>
                <a:sym typeface="Symbol" charset="0"/>
              </a:rPr>
              <a:t>A</a:t>
            </a:r>
            <a:r>
              <a:rPr lang="it-IT" sz="2000" baseline="-25000">
                <a:latin typeface="+mj-lt"/>
                <a:sym typeface="Symbol" charset="0"/>
              </a:rPr>
              <a:t>5</a:t>
            </a:r>
            <a:r>
              <a:rPr lang="it-IT" sz="2000">
                <a:latin typeface="+mj-lt"/>
                <a:sym typeface="Symbol" charset="0"/>
              </a:rPr>
              <a:t>)</a:t>
            </a:r>
            <a:r>
              <a:rPr lang="it-IT" sz="2000" i="1">
                <a:latin typeface="+mj-lt"/>
                <a:sym typeface="Symbol" charset="0"/>
              </a:rPr>
              <a:t>A</a:t>
            </a:r>
            <a:r>
              <a:rPr lang="it-IT" sz="2000" baseline="-25000">
                <a:latin typeface="+mj-lt"/>
                <a:sym typeface="Symbol" charset="0"/>
              </a:rPr>
              <a:t>6</a:t>
            </a:r>
            <a:r>
              <a:rPr lang="it-IT" sz="2000">
                <a:latin typeface="+mj-lt"/>
                <a:sym typeface="Symbol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0534273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utoUpdateAnimBg="0"/>
      <p:bldP spid="68" grpId="0" autoUpdateAnimBg="0"/>
      <p:bldP spid="69" grpId="0" autoUpdateAnimBg="0"/>
      <p:bldP spid="70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6" name="Text Box 2"/>
          <p:cNvSpPr txBox="1">
            <a:spLocks noChangeArrowheads="1"/>
          </p:cNvSpPr>
          <p:nvPr/>
        </p:nvSpPr>
        <p:spPr bwMode="auto">
          <a:xfrm>
            <a:off x="467544" y="2132856"/>
            <a:ext cx="6629400" cy="3625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StampaParentOttima</a:t>
            </a:r>
            <a:r>
              <a:rPr lang="it-IT" sz="2400" dirty="0">
                <a:sym typeface="Symbol" charset="0"/>
              </a:rPr>
              <a:t>(</a:t>
            </a:r>
            <a:r>
              <a:rPr lang="it-IT" sz="2400" dirty="0" err="1">
                <a:sym typeface="Symbol" charset="0"/>
              </a:rPr>
              <a:t>K,i,j</a:t>
            </a:r>
            <a:r>
              <a:rPr lang="it-IT" sz="2400" dirty="0">
                <a:sym typeface="Symbol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if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i = </a:t>
            </a:r>
            <a:r>
              <a:rPr lang="it-IT" sz="2400" dirty="0" err="1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then</a:t>
            </a:r>
            <a:endParaRPr lang="it-IT" sz="2400" dirty="0">
              <a:solidFill>
                <a:srgbClr val="201FF0"/>
              </a:solidFill>
              <a:sym typeface="Symbol" charset="0"/>
            </a:endParaRP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 err="1">
                <a:sym typeface="Symbol" charset="0"/>
              </a:rPr>
              <a:t>print</a:t>
            </a:r>
            <a:r>
              <a:rPr lang="it-IT" sz="2400" dirty="0">
                <a:sym typeface="Symbol" charset="0"/>
              </a:rPr>
              <a:t> “</a:t>
            </a:r>
            <a:r>
              <a:rPr lang="it-IT" sz="2400" dirty="0" err="1">
                <a:sym typeface="Symbol" charset="0"/>
              </a:rPr>
              <a:t>A”</a:t>
            </a:r>
            <a:r>
              <a:rPr lang="it-IT" sz="2400" baseline="-25000" dirty="0" err="1">
                <a:sym typeface="Symbol" charset="0"/>
              </a:rPr>
              <a:t>i</a:t>
            </a:r>
            <a:r>
              <a:rPr lang="it-IT" sz="2400" dirty="0">
                <a:sym typeface="Symbol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else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 err="1">
                <a:sym typeface="Symbol" charset="0"/>
              </a:rPr>
              <a:t>print</a:t>
            </a:r>
            <a:r>
              <a:rPr lang="it-IT" sz="2400" dirty="0">
                <a:sym typeface="Symbol" charset="0"/>
              </a:rPr>
              <a:t> “(”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StampaParentOttima</a:t>
            </a:r>
            <a:r>
              <a:rPr lang="it-IT" sz="2400" dirty="0">
                <a:sym typeface="Symbol" charset="0"/>
              </a:rPr>
              <a:t>(K, i, K[</a:t>
            </a:r>
            <a:r>
              <a:rPr lang="it-IT" sz="2400" dirty="0" err="1">
                <a:sym typeface="Symbol" charset="0"/>
              </a:rPr>
              <a:t>i,j</a:t>
            </a:r>
            <a:r>
              <a:rPr lang="it-IT" sz="2400" dirty="0">
                <a:sym typeface="Symbol" charset="0"/>
              </a:rPr>
              <a:t>])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StampaParentOttima</a:t>
            </a:r>
            <a:r>
              <a:rPr lang="it-IT" sz="2400" dirty="0">
                <a:sym typeface="Symbol" charset="0"/>
              </a:rPr>
              <a:t>(K, K[</a:t>
            </a:r>
            <a:r>
              <a:rPr lang="it-IT" sz="2400" dirty="0" err="1">
                <a:sym typeface="Symbol" charset="0"/>
              </a:rPr>
              <a:t>i,j</a:t>
            </a:r>
            <a:r>
              <a:rPr lang="it-IT" sz="2400" dirty="0">
                <a:sym typeface="Symbol" charset="0"/>
              </a:rPr>
              <a:t>]+1, </a:t>
            </a:r>
            <a:r>
              <a:rPr lang="it-IT" sz="2400" dirty="0" err="1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 err="1">
                <a:sym typeface="Symbol" charset="0"/>
              </a:rPr>
              <a:t>print</a:t>
            </a:r>
            <a:r>
              <a:rPr lang="it-IT" sz="2400" dirty="0">
                <a:sym typeface="Symbol" charset="0"/>
              </a:rPr>
              <a:t> “)”</a:t>
            </a:r>
          </a:p>
        </p:txBody>
      </p:sp>
      <p:sp>
        <p:nvSpPr>
          <p:cNvPr id="702467" name="Text Box 3"/>
          <p:cNvSpPr txBox="1">
            <a:spLocks noChangeArrowheads="1"/>
          </p:cNvSpPr>
          <p:nvPr/>
        </p:nvSpPr>
        <p:spPr bwMode="auto">
          <a:xfrm>
            <a:off x="395536" y="1556792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Quarto passo</a:t>
            </a:r>
            <a:r>
              <a:rPr lang="it-IT" sz="2400" dirty="0">
                <a:sym typeface="Symbol" charset="0"/>
              </a:rPr>
              <a:t>: </a:t>
            </a:r>
            <a:r>
              <a:rPr lang="it-IT" sz="2400" i="1" dirty="0">
                <a:sym typeface="Symbol" charset="0"/>
              </a:rPr>
              <a:t>calcolo della parentesizzazione ottima</a:t>
            </a:r>
          </a:p>
        </p:txBody>
      </p:sp>
      <p:sp>
        <p:nvSpPr>
          <p:cNvPr id="702468" name="Text Box 4"/>
          <p:cNvSpPr txBox="1">
            <a:spLocks noChangeArrowheads="1"/>
          </p:cNvSpPr>
          <p:nvPr/>
        </p:nvSpPr>
        <p:spPr bwMode="auto">
          <a:xfrm>
            <a:off x="4788024" y="5589240"/>
            <a:ext cx="37463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Complessità: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O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)</a:t>
            </a:r>
            <a:endParaRPr lang="it-IT" sz="2400" i="1" u="sng" dirty="0">
              <a:solidFill>
                <a:srgbClr val="FF0000"/>
              </a:solidFill>
              <a:sym typeface="Symbol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Verso la </a:t>
            </a:r>
            <a:r>
              <a:rPr lang="it-IT" dirty="0" smtClean="0"/>
              <a:t>soluzione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0" name="Text Box 2"/>
          <p:cNvSpPr txBox="1">
            <a:spLocks noChangeArrowheads="1"/>
          </p:cNvSpPr>
          <p:nvPr/>
        </p:nvSpPr>
        <p:spPr bwMode="auto">
          <a:xfrm>
            <a:off x="467544" y="1484784"/>
            <a:ext cx="8291264" cy="3625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it-IT" sz="2400" dirty="0" err="1" smtClean="0">
                <a:solidFill>
                  <a:srgbClr val="800000"/>
                </a:solidFill>
                <a:sym typeface="Symbol" charset="0"/>
              </a:rPr>
              <a:t>ProdottoCatenaMatrici</a:t>
            </a:r>
            <a:r>
              <a:rPr lang="it-IT" sz="2400" dirty="0">
                <a:sym typeface="Symbol" charset="0"/>
              </a:rPr>
              <a:t>(A</a:t>
            </a:r>
            <a:r>
              <a:rPr lang="it-IT" sz="2400" baseline="-25000" dirty="0">
                <a:sym typeface="Symbol" charset="0"/>
              </a:rPr>
              <a:t>i</a:t>
            </a:r>
            <a:r>
              <a:rPr lang="it-IT" sz="2400" dirty="0">
                <a:sym typeface="Symbol" charset="0"/>
              </a:rPr>
              <a:t>A</a:t>
            </a:r>
            <a:r>
              <a:rPr lang="it-IT" sz="2400" baseline="-25000" dirty="0">
                <a:sym typeface="Symbol" charset="0"/>
              </a:rPr>
              <a:t>i+1</a:t>
            </a:r>
            <a:r>
              <a:rPr lang="it-IT" sz="2400" dirty="0">
                <a:sym typeface="Symbol" charset="0"/>
              </a:rPr>
              <a:t>...</a:t>
            </a:r>
            <a:r>
              <a:rPr lang="it-IT" sz="2400" dirty="0" err="1">
                <a:sym typeface="Symbol" charset="0"/>
              </a:rPr>
              <a:t>A</a:t>
            </a:r>
            <a:r>
              <a:rPr lang="it-IT" sz="2400" baseline="-25000" dirty="0" err="1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, K)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if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i = </a:t>
            </a:r>
            <a:r>
              <a:rPr lang="it-IT" sz="2400" dirty="0" err="1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then</a:t>
            </a:r>
            <a:endParaRPr lang="it-IT" sz="2400" dirty="0">
              <a:solidFill>
                <a:srgbClr val="201FF0"/>
              </a:solidFill>
              <a:sym typeface="Symbol" charset="0"/>
            </a:endParaRP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return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A</a:t>
            </a:r>
            <a:r>
              <a:rPr lang="it-IT" sz="2400" baseline="-25000" dirty="0">
                <a:sym typeface="Symbol" charset="0"/>
              </a:rPr>
              <a:t>i</a:t>
            </a:r>
            <a:endParaRPr lang="it-IT" sz="2400" dirty="0">
              <a:sym typeface="Symbol" charset="0"/>
            </a:endParaRP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else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k := K[i,j]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A := </a:t>
            </a:r>
            <a:r>
              <a:rPr lang="it-IT" sz="2400" dirty="0" smtClean="0">
                <a:solidFill>
                  <a:srgbClr val="800000"/>
                </a:solidFill>
                <a:sym typeface="Symbol" charset="0"/>
              </a:rPr>
              <a:t>ProdottoCatenaMatrici</a:t>
            </a:r>
            <a:r>
              <a:rPr lang="it-IT" sz="2400" dirty="0">
                <a:sym typeface="Symbol" charset="0"/>
              </a:rPr>
              <a:t>(A</a:t>
            </a:r>
            <a:r>
              <a:rPr lang="it-IT" sz="2400" baseline="-25000" dirty="0">
                <a:sym typeface="Symbol" charset="0"/>
              </a:rPr>
              <a:t>i</a:t>
            </a:r>
            <a:r>
              <a:rPr lang="it-IT" sz="2400" dirty="0">
                <a:sym typeface="Symbol" charset="0"/>
              </a:rPr>
              <a:t>...A</a:t>
            </a:r>
            <a:r>
              <a:rPr lang="it-IT" sz="2400" baseline="-25000" dirty="0">
                <a:sym typeface="Symbol" charset="0"/>
              </a:rPr>
              <a:t>k</a:t>
            </a:r>
            <a:r>
              <a:rPr lang="it-IT" sz="2400" dirty="0">
                <a:sym typeface="Symbol" charset="0"/>
              </a:rPr>
              <a:t>, K) 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B := </a:t>
            </a:r>
            <a:r>
              <a:rPr lang="it-IT" sz="2400" dirty="0" smtClean="0">
                <a:solidFill>
                  <a:srgbClr val="800000"/>
                </a:solidFill>
                <a:sym typeface="Symbol" charset="0"/>
              </a:rPr>
              <a:t>ProdottoCatenaMatrici</a:t>
            </a:r>
            <a:r>
              <a:rPr lang="it-IT" sz="2400" dirty="0">
                <a:sym typeface="Symbol" charset="0"/>
              </a:rPr>
              <a:t>(A</a:t>
            </a:r>
            <a:r>
              <a:rPr lang="it-IT" sz="2400" baseline="-25000" dirty="0">
                <a:sym typeface="Symbol" charset="0"/>
              </a:rPr>
              <a:t>k+1</a:t>
            </a:r>
            <a:r>
              <a:rPr lang="it-IT" sz="2400" dirty="0">
                <a:sym typeface="Symbol" charset="0"/>
              </a:rPr>
              <a:t>...A</a:t>
            </a:r>
            <a:r>
              <a:rPr lang="it-IT" sz="2400" baseline="-25000" dirty="0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, K) 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return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ProdottoMatrici</a:t>
            </a:r>
            <a:r>
              <a:rPr lang="it-IT" sz="2400" dirty="0">
                <a:sym typeface="Symbol" charset="0"/>
              </a:rPr>
              <a:t>(A,B)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>
                <a:sym typeface="Symbol" charset="0"/>
              </a:rPr>
              <a:t>Prodotto </a:t>
            </a:r>
            <a:r>
              <a:rPr lang="it-IT" dirty="0">
                <a:sym typeface="Symbol" charset="0"/>
              </a:rPr>
              <a:t>di una catena di </a:t>
            </a:r>
            <a:r>
              <a:rPr lang="it-IT" dirty="0" smtClean="0">
                <a:sym typeface="Symbol" charset="0"/>
              </a:rPr>
              <a:t>matrici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Text Box 2"/>
          <p:cNvSpPr txBox="1">
            <a:spLocks noChangeArrowheads="1"/>
          </p:cNvSpPr>
          <p:nvPr/>
        </p:nvSpPr>
        <p:spPr bwMode="auto">
          <a:xfrm>
            <a:off x="467544" y="1268760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Possiamo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usare direttamente la definizione ricorsiva del costo minimo</a:t>
            </a:r>
          </a:p>
        </p:txBody>
      </p:sp>
      <p:graphicFrame>
        <p:nvGraphicFramePr>
          <p:cNvPr id="704515" name="Object 3"/>
          <p:cNvGraphicFramePr>
            <a:graphicFrameLocks noChangeAspect="1"/>
          </p:cNvGraphicFramePr>
          <p:nvPr/>
        </p:nvGraphicFramePr>
        <p:xfrm>
          <a:off x="609600" y="2590800"/>
          <a:ext cx="75438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2" name="Equation" r:id="rId4" imgW="3353196" imgH="482997" progId="Equation.3">
                  <p:embed/>
                </p:oleObj>
              </mc:Choice>
              <mc:Fallback>
                <p:oleObj name="Equation" r:id="rId4" imgW="3353196" imgH="4829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590800"/>
                        <a:ext cx="75438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4516" name="Text Box 4"/>
          <p:cNvSpPr txBox="1">
            <a:spLocks noChangeArrowheads="1"/>
          </p:cNvSpPr>
          <p:nvPr/>
        </p:nvSpPr>
        <p:spPr bwMode="auto">
          <a:xfrm>
            <a:off x="467544" y="4221088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per calcolarlo ricorsivamente senza usare le matrici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M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e 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K</a:t>
            </a:r>
            <a:endParaRPr lang="it-IT" sz="2400" dirty="0">
              <a:solidFill>
                <a:srgbClr val="FF0000"/>
              </a:solidFill>
              <a:sym typeface="Symbol" charset="0"/>
            </a:endParaRPr>
          </a:p>
        </p:txBody>
      </p:sp>
      <p:sp>
        <p:nvSpPr>
          <p:cNvPr id="70451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Versione ricorsiva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Text Box 2"/>
          <p:cNvSpPr txBox="1">
            <a:spLocks noChangeArrowheads="1"/>
          </p:cNvSpPr>
          <p:nvPr/>
        </p:nvSpPr>
        <p:spPr bwMode="auto">
          <a:xfrm>
            <a:off x="539552" y="1268760"/>
            <a:ext cx="77724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CostoMinimoRic</a:t>
            </a:r>
            <a:r>
              <a:rPr lang="it-IT" sz="2400" dirty="0">
                <a:sym typeface="Symbol" charset="0"/>
              </a:rPr>
              <a:t>(</a:t>
            </a:r>
            <a:r>
              <a:rPr lang="it-IT" sz="2400" dirty="0" err="1">
                <a:sym typeface="Symbol" charset="0"/>
              </a:rPr>
              <a:t>p</a:t>
            </a:r>
            <a:r>
              <a:rPr lang="it-IT" sz="2400" dirty="0">
                <a:sym typeface="Symbol" charset="0"/>
              </a:rPr>
              <a:t>, i, </a:t>
            </a:r>
            <a:r>
              <a:rPr lang="it-IT" sz="2400" dirty="0" err="1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)</a:t>
            </a:r>
          </a:p>
          <a:p>
            <a:r>
              <a:rPr lang="it-IT" sz="2400" dirty="0"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if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i = </a:t>
            </a:r>
            <a:r>
              <a:rPr lang="it-IT" sz="2400" dirty="0" err="1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then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</a:p>
          <a:p>
            <a:r>
              <a:rPr lang="it-IT" sz="2400" dirty="0">
                <a:sym typeface="Symbol" charset="0"/>
              </a:rPr>
              <a:t>        </a:t>
            </a:r>
            <a:r>
              <a:rPr lang="it-IT" sz="2400" dirty="0" err="1" smtClean="0">
                <a:solidFill>
                  <a:srgbClr val="201FF0"/>
                </a:solidFill>
                <a:sym typeface="Symbol" charset="0"/>
              </a:rPr>
              <a:t>return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smtClean="0">
                <a:sym typeface="Symbol" charset="0"/>
              </a:rPr>
              <a:t>0</a:t>
            </a:r>
            <a:endParaRPr lang="it-IT" sz="2400" dirty="0"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else</a:t>
            </a:r>
          </a:p>
          <a:p>
            <a:r>
              <a:rPr lang="it-IT" sz="2400" dirty="0">
                <a:sym typeface="Symbol" charset="0"/>
              </a:rPr>
              <a:t>        m </a:t>
            </a:r>
            <a:r>
              <a:rPr lang="it-IT" sz="2400" dirty="0" smtClean="0">
                <a:sym typeface="Symbol" charset="0"/>
              </a:rPr>
              <a:t>:= </a:t>
            </a:r>
            <a:endParaRPr lang="it-IT" sz="2400" dirty="0"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>
                <a:sym typeface="Symbol" charset="0"/>
              </a:rPr>
              <a:t>k := i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400" dirty="0">
                <a:sym typeface="Symbol" charset="0"/>
              </a:rPr>
              <a:t>j-1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</a:t>
            </a:r>
          </a:p>
          <a:p>
            <a:r>
              <a:rPr lang="it-IT" sz="2400" dirty="0">
                <a:sym typeface="Symbol" charset="0"/>
              </a:rPr>
              <a:t>            q := </a:t>
            </a:r>
            <a:r>
              <a:rPr lang="it-IT" sz="2400" dirty="0" smtClean="0">
                <a:solidFill>
                  <a:srgbClr val="800000"/>
                </a:solidFill>
                <a:sym typeface="Symbol" charset="0"/>
              </a:rPr>
              <a:t>CostoMinimoRic</a:t>
            </a:r>
            <a:r>
              <a:rPr lang="it-IT" sz="2400" dirty="0">
                <a:sym typeface="Symbol" charset="0"/>
              </a:rPr>
              <a:t>(p, i, k) +</a:t>
            </a:r>
          </a:p>
          <a:p>
            <a:r>
              <a:rPr lang="it-IT" sz="2400" dirty="0">
                <a:sym typeface="Symbol" charset="0"/>
              </a:rPr>
              <a:t>                    </a:t>
            </a:r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CostoMinimoRic</a:t>
            </a:r>
            <a:r>
              <a:rPr lang="it-IT" sz="2400" dirty="0">
                <a:sym typeface="Symbol" charset="0"/>
              </a:rPr>
              <a:t>(</a:t>
            </a:r>
            <a:r>
              <a:rPr lang="it-IT" sz="2400" dirty="0" err="1">
                <a:sym typeface="Symbol" charset="0"/>
              </a:rPr>
              <a:t>p</a:t>
            </a:r>
            <a:r>
              <a:rPr lang="it-IT" sz="2400" dirty="0">
                <a:sym typeface="Symbol" charset="0"/>
              </a:rPr>
              <a:t>, k+1, </a:t>
            </a:r>
            <a:r>
              <a:rPr lang="it-IT" sz="2400" dirty="0" err="1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) + p</a:t>
            </a:r>
            <a:r>
              <a:rPr lang="it-IT" sz="2400" baseline="-25000" dirty="0">
                <a:sym typeface="Symbol" charset="0"/>
              </a:rPr>
              <a:t>i-1</a:t>
            </a:r>
            <a:r>
              <a:rPr lang="it-IT" sz="2400" dirty="0">
                <a:sym typeface="Symbol" charset="0"/>
              </a:rPr>
              <a:t>p</a:t>
            </a:r>
            <a:r>
              <a:rPr lang="it-IT" sz="2400" baseline="-25000" dirty="0">
                <a:sym typeface="Symbol" charset="0"/>
              </a:rPr>
              <a:t>k</a:t>
            </a:r>
            <a:r>
              <a:rPr lang="it-IT" sz="2400" dirty="0">
                <a:sym typeface="Symbol" charset="0"/>
              </a:rPr>
              <a:t>p</a:t>
            </a:r>
            <a:r>
              <a:rPr lang="it-IT" sz="2400" baseline="-25000" dirty="0">
                <a:sym typeface="Symbol" charset="0"/>
              </a:rPr>
              <a:t>j</a:t>
            </a:r>
            <a:endParaRPr lang="it-IT" sz="2400" dirty="0"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    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if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err="1" smtClean="0">
                <a:sym typeface="Symbol" charset="0"/>
              </a:rPr>
              <a:t>q</a:t>
            </a:r>
            <a:r>
              <a:rPr lang="it-IT" sz="2400" dirty="0" smtClean="0"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&lt; m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then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endParaRPr lang="it-IT" sz="2400" dirty="0">
              <a:solidFill>
                <a:schemeClr val="accent2"/>
              </a:solidFill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            m := q</a:t>
            </a:r>
          </a:p>
          <a:p>
            <a:r>
              <a:rPr lang="it-IT" sz="2400" dirty="0">
                <a:sym typeface="Symbol" charset="0"/>
              </a:rPr>
              <a:t>    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return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smtClean="0">
                <a:sym typeface="Symbol" charset="0"/>
              </a:rPr>
              <a:t>m</a:t>
            </a:r>
          </a:p>
          <a:p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CostoMinimo</a:t>
            </a:r>
            <a:r>
              <a:rPr lang="it-IT" sz="2400" dirty="0">
                <a:sym typeface="Symbol" charset="0"/>
              </a:rPr>
              <a:t>(</a:t>
            </a:r>
            <a:r>
              <a:rPr lang="it-IT" sz="2400" dirty="0" err="1">
                <a:sym typeface="Symbol" charset="0"/>
              </a:rPr>
              <a:t>p</a:t>
            </a:r>
            <a:r>
              <a:rPr lang="it-IT" sz="2400" dirty="0">
                <a:sym typeface="Symbol" charset="0"/>
              </a:rPr>
              <a:t>, </a:t>
            </a:r>
            <a:r>
              <a:rPr lang="it-IT" sz="2400" dirty="0" err="1">
                <a:sym typeface="Symbol" charset="0"/>
              </a:rPr>
              <a:t>n</a:t>
            </a:r>
            <a:r>
              <a:rPr lang="it-IT" sz="2400" dirty="0">
                <a:sym typeface="Symbol" charset="0"/>
              </a:rPr>
              <a:t>)</a:t>
            </a:r>
          </a:p>
          <a:p>
            <a:r>
              <a:rPr lang="it-IT" sz="2400" dirty="0" smtClean="0">
                <a:sym typeface="Symbol" charset="0"/>
              </a:rPr>
              <a:t> 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return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err="1" smtClean="0">
                <a:solidFill>
                  <a:srgbClr val="800000"/>
                </a:solidFill>
                <a:sym typeface="Symbol" charset="0"/>
              </a:rPr>
              <a:t>CostoMinimoRic</a:t>
            </a:r>
            <a:r>
              <a:rPr lang="it-IT" sz="2400" dirty="0" smtClean="0">
                <a:sym typeface="Symbol" charset="0"/>
              </a:rPr>
              <a:t>(</a:t>
            </a:r>
            <a:r>
              <a:rPr lang="it-IT" sz="2400" dirty="0" err="1" smtClean="0">
                <a:sym typeface="Symbol" charset="0"/>
              </a:rPr>
              <a:t>p</a:t>
            </a:r>
            <a:r>
              <a:rPr lang="it-IT" sz="2400" dirty="0" smtClean="0">
                <a:sym typeface="Symbol" charset="0"/>
              </a:rPr>
              <a:t>, 1, </a:t>
            </a:r>
            <a:r>
              <a:rPr lang="it-IT" sz="2400" dirty="0" err="1" smtClean="0">
                <a:sym typeface="Symbol" charset="0"/>
              </a:rPr>
              <a:t>n</a:t>
            </a:r>
            <a:r>
              <a:rPr lang="it-IT" sz="2400" dirty="0" smtClean="0">
                <a:sym typeface="Symbol" charset="0"/>
              </a:rPr>
              <a:t>)</a:t>
            </a:r>
            <a:endParaRPr lang="it-IT" sz="2400" dirty="0">
              <a:sym typeface="Symbo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>
                <a:sym typeface="Symbol" charset="0"/>
              </a:rPr>
              <a:t>Versione ricorsiva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759406"/>
              </p:ext>
            </p:extLst>
          </p:nvPr>
        </p:nvGraphicFramePr>
        <p:xfrm>
          <a:off x="755576" y="1772816"/>
          <a:ext cx="66675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7" name="Equation" r:id="rId4" imgW="2756296" imgH="609997" progId="Equation.3">
                  <p:embed/>
                </p:oleObj>
              </mc:Choice>
              <mc:Fallback>
                <p:oleObj name="Equation" r:id="rId4" imgW="2756296" imgH="6099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772816"/>
                        <a:ext cx="66675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564" name="Text Box 4"/>
          <p:cNvSpPr txBox="1">
            <a:spLocks noChangeArrowheads="1"/>
          </p:cNvSpPr>
          <p:nvPr/>
        </p:nvSpPr>
        <p:spPr bwMode="auto">
          <a:xfrm>
            <a:off x="419026" y="3220616"/>
            <a:ext cx="7772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Per sostituzione possiamo dimostrare che</a:t>
            </a:r>
          </a:p>
        </p:txBody>
      </p:sp>
      <p:graphicFrame>
        <p:nvGraphicFramePr>
          <p:cNvPr id="7065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607036"/>
              </p:ext>
            </p:extLst>
          </p:nvPr>
        </p:nvGraphicFramePr>
        <p:xfrm>
          <a:off x="2598664" y="3982616"/>
          <a:ext cx="184308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8" name="Equation" r:id="rId6" imgW="762066" imgH="228898" progId="Equation.3">
                  <p:embed/>
                </p:oleObj>
              </mc:Choice>
              <mc:Fallback>
                <p:oleObj name="Equation" r:id="rId6" imgW="762066" imgH="22889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664" y="3982616"/>
                        <a:ext cx="1843087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566" name="Text Box 6"/>
          <p:cNvSpPr txBox="1">
            <a:spLocks noChangeArrowheads="1"/>
          </p:cNvSpPr>
          <p:nvPr/>
        </p:nvSpPr>
        <p:spPr bwMode="auto">
          <a:xfrm>
            <a:off x="419026" y="4744616"/>
            <a:ext cx="8229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dove</a:t>
            </a:r>
            <a:r>
              <a:rPr lang="it-IT" sz="2400" dirty="0">
                <a:sym typeface="Symbol" charset="0"/>
              </a:rPr>
              <a:t>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c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= </a:t>
            </a:r>
            <a:r>
              <a:rPr lang="it-IT" sz="2400" dirty="0" err="1">
                <a:solidFill>
                  <a:srgbClr val="FF0000"/>
                </a:solidFill>
                <a:sym typeface="Symbol" charset="0"/>
              </a:rPr>
              <a:t>min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a</a:t>
            </a:r>
            <a:r>
              <a:rPr lang="it-IT" sz="2400" dirty="0" err="1">
                <a:solidFill>
                  <a:srgbClr val="FF0000"/>
                </a:solidFill>
                <a:sym typeface="Symbol" charset="0"/>
              </a:rPr>
              <a:t>,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b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) </a:t>
            </a:r>
            <a:endParaRPr lang="it-IT" sz="2400" dirty="0">
              <a:solidFill>
                <a:srgbClr val="FF0000"/>
              </a:solidFill>
              <a:sym typeface="Symbol" charset="0"/>
            </a:endParaRP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Quindi</a:t>
            </a:r>
            <a:r>
              <a:rPr lang="it-IT" sz="2400" dirty="0">
                <a:sym typeface="Symbol" charset="0"/>
              </a:rPr>
              <a:t>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) = (2</a:t>
            </a:r>
            <a:r>
              <a:rPr lang="it-IT" sz="2400" i="1" baseline="30000" dirty="0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)</a:t>
            </a:r>
            <a:endParaRPr lang="it-IT" sz="2400" dirty="0">
              <a:solidFill>
                <a:srgbClr val="FF0000"/>
              </a:solidFill>
              <a:sym typeface="Symbo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>
                <a:sym typeface="Symbol" charset="0"/>
              </a:rPr>
              <a:t>Complessità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75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94435"/>
              </p:ext>
            </p:extLst>
          </p:nvPr>
        </p:nvGraphicFramePr>
        <p:xfrm>
          <a:off x="755576" y="1700809"/>
          <a:ext cx="2592288" cy="470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2" name="Equation" r:id="rId4" imgW="1168797" imgH="228997" progId="Equation.3">
                  <p:embed/>
                </p:oleObj>
              </mc:Choice>
              <mc:Fallback>
                <p:oleObj name="Equation" r:id="rId4" imgW="1168797" imgH="2289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700809"/>
                        <a:ext cx="2592288" cy="4708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5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857631"/>
              </p:ext>
            </p:extLst>
          </p:nvPr>
        </p:nvGraphicFramePr>
        <p:xfrm>
          <a:off x="827584" y="1124744"/>
          <a:ext cx="46101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3" name="Equation" r:id="rId6" imgW="2083196" imgH="228997" progId="Equation.3">
                  <p:embed/>
                </p:oleObj>
              </mc:Choice>
              <mc:Fallback>
                <p:oleObj name="Equation" r:id="rId6" imgW="2083196" imgH="2289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124744"/>
                        <a:ext cx="46101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5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673700"/>
              </p:ext>
            </p:extLst>
          </p:nvPr>
        </p:nvGraphicFramePr>
        <p:xfrm>
          <a:off x="755576" y="2204864"/>
          <a:ext cx="5402560" cy="401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4" name="Equation" r:id="rId8" imgW="2248296" imgH="1854596" progId="Equation.3">
                  <p:embed/>
                </p:oleObj>
              </mc:Choice>
              <mc:Fallback>
                <p:oleObj name="Equation" r:id="rId8" imgW="2248296" imgH="18545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2204864"/>
                        <a:ext cx="5402560" cy="401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>
                <a:sym typeface="Symbol" charset="0"/>
              </a:rPr>
              <a:t>Complessità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75" name="Text Box 67"/>
          <p:cNvSpPr txBox="1">
            <a:spLocks noChangeArrowheads="1"/>
          </p:cNvSpPr>
          <p:nvPr/>
        </p:nvSpPr>
        <p:spPr bwMode="auto">
          <a:xfrm>
            <a:off x="395536" y="5301208"/>
            <a:ext cx="838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La complessità diventa esponenziale perché vengono risolti più volte gli stessi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sottoproblemi</a:t>
            </a:r>
            <a:endParaRPr lang="it-IT" sz="2400" dirty="0">
              <a:solidFill>
                <a:srgbClr val="201FF0"/>
              </a:solidFill>
              <a:sym typeface="Symbol" charset="0"/>
            </a:endParaRPr>
          </a:p>
        </p:txBody>
      </p:sp>
      <p:sp>
        <p:nvSpPr>
          <p:cNvPr id="708676" name="Rectangle 68"/>
          <p:cNvSpPr>
            <a:spLocks noChangeArrowheads="1"/>
          </p:cNvSpPr>
          <p:nvPr/>
        </p:nvSpPr>
        <p:spPr bwMode="auto">
          <a:xfrm>
            <a:off x="179512" y="1124744"/>
            <a:ext cx="40324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sz="2800" dirty="0" err="1">
                <a:solidFill>
                  <a:srgbClr val="800000"/>
                </a:solidFill>
                <a:sym typeface="Symbol" charset="0"/>
              </a:rPr>
              <a:t>CostoMinimoRic</a:t>
            </a:r>
            <a:r>
              <a:rPr lang="it-IT" sz="2800" dirty="0">
                <a:sym typeface="Symbol" charset="0"/>
              </a:rPr>
              <a:t>(p</a:t>
            </a:r>
            <a:r>
              <a:rPr lang="it-IT" sz="2800" dirty="0" smtClean="0">
                <a:sym typeface="Symbol" charset="0"/>
              </a:rPr>
              <a:t>,1,4</a:t>
            </a:r>
            <a:r>
              <a:rPr lang="it-IT" sz="2800" dirty="0">
                <a:sym typeface="Symbol" charset="0"/>
              </a:rPr>
              <a:t>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95536" y="1556792"/>
            <a:ext cx="8534400" cy="3429000"/>
            <a:chOff x="381000" y="1143000"/>
            <a:chExt cx="8534400" cy="3429000"/>
          </a:xfrm>
        </p:grpSpPr>
        <p:sp>
          <p:nvSpPr>
            <p:cNvPr id="708610" name="Line 2"/>
            <p:cNvSpPr>
              <a:spLocks noChangeShapeType="1"/>
            </p:cNvSpPr>
            <p:nvPr/>
          </p:nvSpPr>
          <p:spPr bwMode="auto">
            <a:xfrm flipH="1">
              <a:off x="1752600" y="1600200"/>
              <a:ext cx="2590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11" name="Line 3"/>
            <p:cNvSpPr>
              <a:spLocks noChangeShapeType="1"/>
            </p:cNvSpPr>
            <p:nvPr/>
          </p:nvSpPr>
          <p:spPr bwMode="auto">
            <a:xfrm flipH="1">
              <a:off x="685800" y="1600200"/>
              <a:ext cx="3657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12" name="Line 4"/>
            <p:cNvSpPr>
              <a:spLocks noChangeShapeType="1"/>
            </p:cNvSpPr>
            <p:nvPr/>
          </p:nvSpPr>
          <p:spPr bwMode="auto">
            <a:xfrm flipH="1">
              <a:off x="3962400" y="1600200"/>
              <a:ext cx="685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13" name="Line 5"/>
            <p:cNvSpPr>
              <a:spLocks noChangeShapeType="1"/>
            </p:cNvSpPr>
            <p:nvPr/>
          </p:nvSpPr>
          <p:spPr bwMode="auto">
            <a:xfrm>
              <a:off x="4648200" y="1600200"/>
              <a:ext cx="7620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14" name="Line 6"/>
            <p:cNvSpPr>
              <a:spLocks noChangeShapeType="1"/>
            </p:cNvSpPr>
            <p:nvPr/>
          </p:nvSpPr>
          <p:spPr bwMode="auto">
            <a:xfrm>
              <a:off x="4953000" y="1600200"/>
              <a:ext cx="26670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15" name="Line 7"/>
            <p:cNvSpPr>
              <a:spLocks noChangeShapeType="1"/>
            </p:cNvSpPr>
            <p:nvPr/>
          </p:nvSpPr>
          <p:spPr bwMode="auto">
            <a:xfrm>
              <a:off x="4953000" y="1600200"/>
              <a:ext cx="3733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16" name="Rectangle 8"/>
            <p:cNvSpPr>
              <a:spLocks noChangeArrowheads="1"/>
            </p:cNvSpPr>
            <p:nvPr/>
          </p:nvSpPr>
          <p:spPr bwMode="auto">
            <a:xfrm>
              <a:off x="4343400" y="11430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1,4</a:t>
              </a:r>
              <a:endParaRPr lang="en-US" sz="2000"/>
            </a:p>
          </p:txBody>
        </p:sp>
        <p:sp>
          <p:nvSpPr>
            <p:cNvPr id="708617" name="Rectangle 9"/>
            <p:cNvSpPr>
              <a:spLocks noChangeArrowheads="1"/>
            </p:cNvSpPr>
            <p:nvPr/>
          </p:nvSpPr>
          <p:spPr bwMode="auto">
            <a:xfrm>
              <a:off x="381000" y="31242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2,2</a:t>
              </a:r>
              <a:endParaRPr lang="en-US" sz="2000"/>
            </a:p>
          </p:txBody>
        </p:sp>
        <p:sp>
          <p:nvSpPr>
            <p:cNvPr id="708618" name="Rectangle 10"/>
            <p:cNvSpPr>
              <a:spLocks noChangeArrowheads="1"/>
            </p:cNvSpPr>
            <p:nvPr/>
          </p:nvSpPr>
          <p:spPr bwMode="auto">
            <a:xfrm>
              <a:off x="1066800" y="31242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3,4</a:t>
              </a:r>
              <a:endParaRPr lang="en-US" sz="2000"/>
            </a:p>
          </p:txBody>
        </p:sp>
        <p:sp>
          <p:nvSpPr>
            <p:cNvPr id="708619" name="Rectangle 11"/>
            <p:cNvSpPr>
              <a:spLocks noChangeArrowheads="1"/>
            </p:cNvSpPr>
            <p:nvPr/>
          </p:nvSpPr>
          <p:spPr bwMode="auto">
            <a:xfrm>
              <a:off x="1828800" y="31242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2,3</a:t>
              </a:r>
              <a:endParaRPr lang="en-US" sz="2000"/>
            </a:p>
          </p:txBody>
        </p:sp>
        <p:sp>
          <p:nvSpPr>
            <p:cNvPr id="708620" name="Rectangle 12"/>
            <p:cNvSpPr>
              <a:spLocks noChangeArrowheads="1"/>
            </p:cNvSpPr>
            <p:nvPr/>
          </p:nvSpPr>
          <p:spPr bwMode="auto">
            <a:xfrm>
              <a:off x="2514600" y="31242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4,4</a:t>
              </a:r>
              <a:endParaRPr lang="en-US" sz="2000"/>
            </a:p>
          </p:txBody>
        </p:sp>
        <p:sp>
          <p:nvSpPr>
            <p:cNvPr id="708621" name="Rectangle 13"/>
            <p:cNvSpPr>
              <a:spLocks noChangeArrowheads="1"/>
            </p:cNvSpPr>
            <p:nvPr/>
          </p:nvSpPr>
          <p:spPr bwMode="auto">
            <a:xfrm>
              <a:off x="3276600" y="31242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1,1</a:t>
              </a:r>
              <a:endParaRPr lang="en-US" sz="2000"/>
            </a:p>
          </p:txBody>
        </p:sp>
        <p:sp>
          <p:nvSpPr>
            <p:cNvPr id="708622" name="Rectangle 14"/>
            <p:cNvSpPr>
              <a:spLocks noChangeArrowheads="1"/>
            </p:cNvSpPr>
            <p:nvPr/>
          </p:nvSpPr>
          <p:spPr bwMode="auto">
            <a:xfrm>
              <a:off x="3962400" y="31242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2,2</a:t>
              </a:r>
              <a:endParaRPr lang="en-US" sz="2000"/>
            </a:p>
          </p:txBody>
        </p:sp>
        <p:sp>
          <p:nvSpPr>
            <p:cNvPr id="708623" name="Rectangle 15"/>
            <p:cNvSpPr>
              <a:spLocks noChangeArrowheads="1"/>
            </p:cNvSpPr>
            <p:nvPr/>
          </p:nvSpPr>
          <p:spPr bwMode="auto">
            <a:xfrm>
              <a:off x="4724400" y="31242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3,3</a:t>
              </a:r>
              <a:endParaRPr lang="en-US" sz="2000"/>
            </a:p>
          </p:txBody>
        </p:sp>
        <p:sp>
          <p:nvSpPr>
            <p:cNvPr id="708624" name="Rectangle 16"/>
            <p:cNvSpPr>
              <a:spLocks noChangeArrowheads="1"/>
            </p:cNvSpPr>
            <p:nvPr/>
          </p:nvSpPr>
          <p:spPr bwMode="auto">
            <a:xfrm>
              <a:off x="5410200" y="31242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4,4</a:t>
              </a:r>
              <a:endParaRPr lang="en-US" sz="2000"/>
            </a:p>
          </p:txBody>
        </p:sp>
        <p:sp>
          <p:nvSpPr>
            <p:cNvPr id="708625" name="Rectangle 17"/>
            <p:cNvSpPr>
              <a:spLocks noChangeArrowheads="1"/>
            </p:cNvSpPr>
            <p:nvPr/>
          </p:nvSpPr>
          <p:spPr bwMode="auto">
            <a:xfrm>
              <a:off x="8305800" y="31242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3,3</a:t>
              </a:r>
              <a:endParaRPr lang="en-US" sz="2000"/>
            </a:p>
          </p:txBody>
        </p:sp>
        <p:sp>
          <p:nvSpPr>
            <p:cNvPr id="708626" name="Rectangle 18"/>
            <p:cNvSpPr>
              <a:spLocks noChangeArrowheads="1"/>
            </p:cNvSpPr>
            <p:nvPr/>
          </p:nvSpPr>
          <p:spPr bwMode="auto">
            <a:xfrm>
              <a:off x="7620000" y="31242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1,2</a:t>
              </a:r>
              <a:endParaRPr lang="en-US" sz="2000"/>
            </a:p>
          </p:txBody>
        </p:sp>
        <p:sp>
          <p:nvSpPr>
            <p:cNvPr id="708627" name="Rectangle 19"/>
            <p:cNvSpPr>
              <a:spLocks noChangeArrowheads="1"/>
            </p:cNvSpPr>
            <p:nvPr/>
          </p:nvSpPr>
          <p:spPr bwMode="auto">
            <a:xfrm>
              <a:off x="6858000" y="31242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2,3</a:t>
              </a:r>
              <a:endParaRPr lang="en-US" sz="2000"/>
            </a:p>
          </p:txBody>
        </p:sp>
        <p:sp>
          <p:nvSpPr>
            <p:cNvPr id="708628" name="Rectangle 20"/>
            <p:cNvSpPr>
              <a:spLocks noChangeArrowheads="1"/>
            </p:cNvSpPr>
            <p:nvPr/>
          </p:nvSpPr>
          <p:spPr bwMode="auto">
            <a:xfrm>
              <a:off x="6172200" y="31242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1,1</a:t>
              </a:r>
              <a:endParaRPr lang="en-US" sz="2000"/>
            </a:p>
          </p:txBody>
        </p:sp>
        <p:sp>
          <p:nvSpPr>
            <p:cNvPr id="708629" name="Rectangle 21"/>
            <p:cNvSpPr>
              <a:spLocks noChangeArrowheads="1"/>
            </p:cNvSpPr>
            <p:nvPr/>
          </p:nvSpPr>
          <p:spPr bwMode="auto">
            <a:xfrm>
              <a:off x="381000" y="21336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1,1</a:t>
              </a:r>
              <a:endParaRPr lang="en-US" sz="2000"/>
            </a:p>
          </p:txBody>
        </p:sp>
        <p:sp>
          <p:nvSpPr>
            <p:cNvPr id="708630" name="Rectangle 22"/>
            <p:cNvSpPr>
              <a:spLocks noChangeArrowheads="1"/>
            </p:cNvSpPr>
            <p:nvPr/>
          </p:nvSpPr>
          <p:spPr bwMode="auto">
            <a:xfrm>
              <a:off x="1447800" y="21336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dirty="0"/>
                <a:t>2,4</a:t>
              </a:r>
              <a:endParaRPr lang="en-US" sz="2000" dirty="0"/>
            </a:p>
          </p:txBody>
        </p:sp>
        <p:sp>
          <p:nvSpPr>
            <p:cNvPr id="708631" name="Line 23"/>
            <p:cNvSpPr>
              <a:spLocks noChangeShapeType="1"/>
            </p:cNvSpPr>
            <p:nvPr/>
          </p:nvSpPr>
          <p:spPr bwMode="auto">
            <a:xfrm flipH="1">
              <a:off x="685800" y="2590800"/>
              <a:ext cx="7620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32" name="Line 24"/>
            <p:cNvSpPr>
              <a:spLocks noChangeShapeType="1"/>
            </p:cNvSpPr>
            <p:nvPr/>
          </p:nvSpPr>
          <p:spPr bwMode="auto">
            <a:xfrm flipH="1">
              <a:off x="1371600" y="2590800"/>
              <a:ext cx="762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33" name="Line 25"/>
            <p:cNvSpPr>
              <a:spLocks noChangeShapeType="1"/>
            </p:cNvSpPr>
            <p:nvPr/>
          </p:nvSpPr>
          <p:spPr bwMode="auto">
            <a:xfrm>
              <a:off x="2057400" y="2590800"/>
              <a:ext cx="762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34" name="Line 26"/>
            <p:cNvSpPr>
              <a:spLocks noChangeShapeType="1"/>
            </p:cNvSpPr>
            <p:nvPr/>
          </p:nvSpPr>
          <p:spPr bwMode="auto">
            <a:xfrm>
              <a:off x="2057400" y="2590800"/>
              <a:ext cx="7620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35" name="Rectangle 27"/>
            <p:cNvSpPr>
              <a:spLocks noChangeArrowheads="1"/>
            </p:cNvSpPr>
            <p:nvPr/>
          </p:nvSpPr>
          <p:spPr bwMode="auto">
            <a:xfrm>
              <a:off x="3657600" y="21336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1,2</a:t>
              </a:r>
              <a:endParaRPr lang="en-US" sz="2000"/>
            </a:p>
          </p:txBody>
        </p:sp>
        <p:sp>
          <p:nvSpPr>
            <p:cNvPr id="708636" name="Rectangle 28"/>
            <p:cNvSpPr>
              <a:spLocks noChangeArrowheads="1"/>
            </p:cNvSpPr>
            <p:nvPr/>
          </p:nvSpPr>
          <p:spPr bwMode="auto">
            <a:xfrm>
              <a:off x="5105400" y="21336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3,4</a:t>
              </a:r>
              <a:endParaRPr lang="en-US" sz="2000"/>
            </a:p>
          </p:txBody>
        </p:sp>
        <p:sp>
          <p:nvSpPr>
            <p:cNvPr id="708637" name="Line 29"/>
            <p:cNvSpPr>
              <a:spLocks noChangeShapeType="1"/>
            </p:cNvSpPr>
            <p:nvPr/>
          </p:nvSpPr>
          <p:spPr bwMode="auto">
            <a:xfrm>
              <a:off x="3962400" y="2590800"/>
              <a:ext cx="304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38" name="Line 30"/>
            <p:cNvSpPr>
              <a:spLocks noChangeShapeType="1"/>
            </p:cNvSpPr>
            <p:nvPr/>
          </p:nvSpPr>
          <p:spPr bwMode="auto">
            <a:xfrm flipH="1">
              <a:off x="3581400" y="2590800"/>
              <a:ext cx="3810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39" name="Line 31"/>
            <p:cNvSpPr>
              <a:spLocks noChangeShapeType="1"/>
            </p:cNvSpPr>
            <p:nvPr/>
          </p:nvSpPr>
          <p:spPr bwMode="auto">
            <a:xfrm>
              <a:off x="5410200" y="2590800"/>
              <a:ext cx="304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40" name="Line 32"/>
            <p:cNvSpPr>
              <a:spLocks noChangeShapeType="1"/>
            </p:cNvSpPr>
            <p:nvPr/>
          </p:nvSpPr>
          <p:spPr bwMode="auto">
            <a:xfrm flipH="1">
              <a:off x="5029200" y="2590800"/>
              <a:ext cx="3810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41" name="Rectangle 33"/>
            <p:cNvSpPr>
              <a:spLocks noChangeArrowheads="1"/>
            </p:cNvSpPr>
            <p:nvPr/>
          </p:nvSpPr>
          <p:spPr bwMode="auto">
            <a:xfrm>
              <a:off x="8305800" y="21336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4,4</a:t>
              </a:r>
              <a:endParaRPr lang="en-US" sz="2000"/>
            </a:p>
          </p:txBody>
        </p:sp>
        <p:sp>
          <p:nvSpPr>
            <p:cNvPr id="708642" name="Rectangle 34"/>
            <p:cNvSpPr>
              <a:spLocks noChangeArrowheads="1"/>
            </p:cNvSpPr>
            <p:nvPr/>
          </p:nvSpPr>
          <p:spPr bwMode="auto">
            <a:xfrm>
              <a:off x="7239000" y="21336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1,3</a:t>
              </a:r>
              <a:endParaRPr lang="en-US" sz="2000"/>
            </a:p>
          </p:txBody>
        </p:sp>
        <p:sp>
          <p:nvSpPr>
            <p:cNvPr id="708643" name="Line 35"/>
            <p:cNvSpPr>
              <a:spLocks noChangeShapeType="1"/>
            </p:cNvSpPr>
            <p:nvPr/>
          </p:nvSpPr>
          <p:spPr bwMode="auto">
            <a:xfrm flipH="1">
              <a:off x="6477000" y="2590800"/>
              <a:ext cx="7620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44" name="Line 36"/>
            <p:cNvSpPr>
              <a:spLocks noChangeShapeType="1"/>
            </p:cNvSpPr>
            <p:nvPr/>
          </p:nvSpPr>
          <p:spPr bwMode="auto">
            <a:xfrm flipH="1">
              <a:off x="7162800" y="2590800"/>
              <a:ext cx="762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45" name="Line 37"/>
            <p:cNvSpPr>
              <a:spLocks noChangeShapeType="1"/>
            </p:cNvSpPr>
            <p:nvPr/>
          </p:nvSpPr>
          <p:spPr bwMode="auto">
            <a:xfrm>
              <a:off x="7848600" y="2590800"/>
              <a:ext cx="762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46" name="Line 38"/>
            <p:cNvSpPr>
              <a:spLocks noChangeShapeType="1"/>
            </p:cNvSpPr>
            <p:nvPr/>
          </p:nvSpPr>
          <p:spPr bwMode="auto">
            <a:xfrm>
              <a:off x="7848600" y="2590800"/>
              <a:ext cx="7620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47" name="Rectangle 39"/>
            <p:cNvSpPr>
              <a:spLocks noChangeArrowheads="1"/>
            </p:cNvSpPr>
            <p:nvPr/>
          </p:nvSpPr>
          <p:spPr bwMode="auto">
            <a:xfrm>
              <a:off x="381000" y="41148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3,3</a:t>
              </a:r>
              <a:endParaRPr lang="en-US" sz="2000"/>
            </a:p>
          </p:txBody>
        </p:sp>
        <p:sp>
          <p:nvSpPr>
            <p:cNvPr id="708648" name="Rectangle 40"/>
            <p:cNvSpPr>
              <a:spLocks noChangeArrowheads="1"/>
            </p:cNvSpPr>
            <p:nvPr/>
          </p:nvSpPr>
          <p:spPr bwMode="auto">
            <a:xfrm>
              <a:off x="1066800" y="41148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4,4</a:t>
              </a:r>
              <a:endParaRPr lang="en-US" sz="2000"/>
            </a:p>
          </p:txBody>
        </p:sp>
        <p:sp>
          <p:nvSpPr>
            <p:cNvPr id="708649" name="Rectangle 41"/>
            <p:cNvSpPr>
              <a:spLocks noChangeArrowheads="1"/>
            </p:cNvSpPr>
            <p:nvPr/>
          </p:nvSpPr>
          <p:spPr bwMode="auto">
            <a:xfrm>
              <a:off x="1828800" y="41148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2,2</a:t>
              </a:r>
              <a:endParaRPr lang="en-US" sz="2000"/>
            </a:p>
          </p:txBody>
        </p:sp>
        <p:sp>
          <p:nvSpPr>
            <p:cNvPr id="708650" name="Rectangle 42"/>
            <p:cNvSpPr>
              <a:spLocks noChangeArrowheads="1"/>
            </p:cNvSpPr>
            <p:nvPr/>
          </p:nvSpPr>
          <p:spPr bwMode="auto">
            <a:xfrm>
              <a:off x="2514600" y="4114800"/>
              <a:ext cx="609600" cy="4572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3,3</a:t>
              </a:r>
              <a:endParaRPr lang="en-US" sz="2000"/>
            </a:p>
          </p:txBody>
        </p:sp>
        <p:sp>
          <p:nvSpPr>
            <p:cNvPr id="708651" name="Line 43"/>
            <p:cNvSpPr>
              <a:spLocks noChangeShapeType="1"/>
            </p:cNvSpPr>
            <p:nvPr/>
          </p:nvSpPr>
          <p:spPr bwMode="auto">
            <a:xfrm flipH="1">
              <a:off x="609600" y="3581400"/>
              <a:ext cx="7620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52" name="Line 44"/>
            <p:cNvSpPr>
              <a:spLocks noChangeShapeType="1"/>
            </p:cNvSpPr>
            <p:nvPr/>
          </p:nvSpPr>
          <p:spPr bwMode="auto">
            <a:xfrm flipH="1">
              <a:off x="1371600" y="35814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53" name="Line 45"/>
            <p:cNvSpPr>
              <a:spLocks noChangeShapeType="1"/>
            </p:cNvSpPr>
            <p:nvPr/>
          </p:nvSpPr>
          <p:spPr bwMode="auto">
            <a:xfrm flipH="1">
              <a:off x="2133600" y="35814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54" name="Line 46"/>
            <p:cNvSpPr>
              <a:spLocks noChangeShapeType="1"/>
            </p:cNvSpPr>
            <p:nvPr/>
          </p:nvSpPr>
          <p:spPr bwMode="auto">
            <a:xfrm>
              <a:off x="2133600" y="3581400"/>
              <a:ext cx="685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55" name="Rectangle 47"/>
            <p:cNvSpPr>
              <a:spLocks noChangeArrowheads="1"/>
            </p:cNvSpPr>
            <p:nvPr/>
          </p:nvSpPr>
          <p:spPr bwMode="auto">
            <a:xfrm>
              <a:off x="6172200" y="41148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2,2</a:t>
              </a:r>
              <a:endParaRPr lang="en-US" sz="2000"/>
            </a:p>
          </p:txBody>
        </p:sp>
        <p:sp>
          <p:nvSpPr>
            <p:cNvPr id="708656" name="Rectangle 48"/>
            <p:cNvSpPr>
              <a:spLocks noChangeArrowheads="1"/>
            </p:cNvSpPr>
            <p:nvPr/>
          </p:nvSpPr>
          <p:spPr bwMode="auto">
            <a:xfrm>
              <a:off x="6858000" y="41148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3,3</a:t>
              </a:r>
              <a:endParaRPr lang="en-US" sz="2000"/>
            </a:p>
          </p:txBody>
        </p:sp>
        <p:sp>
          <p:nvSpPr>
            <p:cNvPr id="708657" name="Rectangle 49"/>
            <p:cNvSpPr>
              <a:spLocks noChangeArrowheads="1"/>
            </p:cNvSpPr>
            <p:nvPr/>
          </p:nvSpPr>
          <p:spPr bwMode="auto">
            <a:xfrm>
              <a:off x="7620000" y="41148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1,1</a:t>
              </a:r>
              <a:endParaRPr lang="en-US" sz="2000"/>
            </a:p>
          </p:txBody>
        </p:sp>
        <p:sp>
          <p:nvSpPr>
            <p:cNvPr id="708658" name="Rectangle 50"/>
            <p:cNvSpPr>
              <a:spLocks noChangeArrowheads="1"/>
            </p:cNvSpPr>
            <p:nvPr/>
          </p:nvSpPr>
          <p:spPr bwMode="auto">
            <a:xfrm>
              <a:off x="8305800" y="41148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2,2</a:t>
              </a:r>
              <a:endParaRPr lang="en-US" sz="2000"/>
            </a:p>
          </p:txBody>
        </p:sp>
        <p:sp>
          <p:nvSpPr>
            <p:cNvPr id="708659" name="Line 51"/>
            <p:cNvSpPr>
              <a:spLocks noChangeShapeType="1"/>
            </p:cNvSpPr>
            <p:nvPr/>
          </p:nvSpPr>
          <p:spPr bwMode="auto">
            <a:xfrm flipH="1">
              <a:off x="6400800" y="3581400"/>
              <a:ext cx="7620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60" name="Line 52"/>
            <p:cNvSpPr>
              <a:spLocks noChangeShapeType="1"/>
            </p:cNvSpPr>
            <p:nvPr/>
          </p:nvSpPr>
          <p:spPr bwMode="auto">
            <a:xfrm flipH="1">
              <a:off x="7162800" y="35814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61" name="Line 53"/>
            <p:cNvSpPr>
              <a:spLocks noChangeShapeType="1"/>
            </p:cNvSpPr>
            <p:nvPr/>
          </p:nvSpPr>
          <p:spPr bwMode="auto">
            <a:xfrm flipH="1">
              <a:off x="7924800" y="35814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62" name="Line 54"/>
            <p:cNvSpPr>
              <a:spLocks noChangeShapeType="1"/>
            </p:cNvSpPr>
            <p:nvPr/>
          </p:nvSpPr>
          <p:spPr bwMode="auto">
            <a:xfrm>
              <a:off x="7924800" y="3581400"/>
              <a:ext cx="685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63" name="Rectangle 55"/>
            <p:cNvSpPr>
              <a:spLocks noChangeArrowheads="1"/>
            </p:cNvSpPr>
            <p:nvPr/>
          </p:nvSpPr>
          <p:spPr bwMode="auto">
            <a:xfrm>
              <a:off x="1828800" y="41148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2,2</a:t>
              </a:r>
              <a:endParaRPr lang="en-US" sz="2000"/>
            </a:p>
          </p:txBody>
        </p:sp>
        <p:sp>
          <p:nvSpPr>
            <p:cNvPr id="708664" name="Rectangle 56"/>
            <p:cNvSpPr>
              <a:spLocks noChangeArrowheads="1"/>
            </p:cNvSpPr>
            <p:nvPr/>
          </p:nvSpPr>
          <p:spPr bwMode="auto">
            <a:xfrm>
              <a:off x="2514600" y="41148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3,3</a:t>
              </a:r>
              <a:endParaRPr lang="en-US" sz="2000"/>
            </a:p>
          </p:txBody>
        </p:sp>
        <p:sp>
          <p:nvSpPr>
            <p:cNvPr id="708665" name="Rectangle 57"/>
            <p:cNvSpPr>
              <a:spLocks noChangeArrowheads="1"/>
            </p:cNvSpPr>
            <p:nvPr/>
          </p:nvSpPr>
          <p:spPr bwMode="auto">
            <a:xfrm>
              <a:off x="2514600" y="31242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4,4</a:t>
              </a:r>
              <a:endParaRPr lang="en-US" sz="2000"/>
            </a:p>
          </p:txBody>
        </p:sp>
        <p:sp>
          <p:nvSpPr>
            <p:cNvPr id="708666" name="Rectangle 58"/>
            <p:cNvSpPr>
              <a:spLocks noChangeArrowheads="1"/>
            </p:cNvSpPr>
            <p:nvPr/>
          </p:nvSpPr>
          <p:spPr bwMode="auto">
            <a:xfrm>
              <a:off x="3276600" y="31242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1,1</a:t>
              </a:r>
              <a:endParaRPr lang="en-US" sz="2000"/>
            </a:p>
          </p:txBody>
        </p:sp>
        <p:sp>
          <p:nvSpPr>
            <p:cNvPr id="708667" name="Rectangle 59"/>
            <p:cNvSpPr>
              <a:spLocks noChangeArrowheads="1"/>
            </p:cNvSpPr>
            <p:nvPr/>
          </p:nvSpPr>
          <p:spPr bwMode="auto">
            <a:xfrm>
              <a:off x="3962400" y="31242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2,2</a:t>
              </a:r>
              <a:endParaRPr lang="en-US" sz="2000"/>
            </a:p>
          </p:txBody>
        </p:sp>
        <p:sp>
          <p:nvSpPr>
            <p:cNvPr id="708668" name="Rectangle 60"/>
            <p:cNvSpPr>
              <a:spLocks noChangeArrowheads="1"/>
            </p:cNvSpPr>
            <p:nvPr/>
          </p:nvSpPr>
          <p:spPr bwMode="auto">
            <a:xfrm>
              <a:off x="5105400" y="21336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3,4</a:t>
              </a:r>
              <a:endParaRPr lang="en-US" sz="2000"/>
            </a:p>
          </p:txBody>
        </p:sp>
        <p:sp>
          <p:nvSpPr>
            <p:cNvPr id="708669" name="Rectangle 61"/>
            <p:cNvSpPr>
              <a:spLocks noChangeArrowheads="1"/>
            </p:cNvSpPr>
            <p:nvPr/>
          </p:nvSpPr>
          <p:spPr bwMode="auto">
            <a:xfrm>
              <a:off x="6172200" y="31242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1,1</a:t>
              </a:r>
              <a:endParaRPr lang="en-US" sz="2000"/>
            </a:p>
          </p:txBody>
        </p:sp>
        <p:sp>
          <p:nvSpPr>
            <p:cNvPr id="708670" name="Rectangle 62"/>
            <p:cNvSpPr>
              <a:spLocks noChangeArrowheads="1"/>
            </p:cNvSpPr>
            <p:nvPr/>
          </p:nvSpPr>
          <p:spPr bwMode="auto">
            <a:xfrm>
              <a:off x="6858000" y="31242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2,3</a:t>
              </a:r>
              <a:endParaRPr lang="en-US" sz="2000"/>
            </a:p>
          </p:txBody>
        </p:sp>
        <p:sp>
          <p:nvSpPr>
            <p:cNvPr id="708671" name="Rectangle 63"/>
            <p:cNvSpPr>
              <a:spLocks noChangeArrowheads="1"/>
            </p:cNvSpPr>
            <p:nvPr/>
          </p:nvSpPr>
          <p:spPr bwMode="auto">
            <a:xfrm>
              <a:off x="7620000" y="31242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1,2</a:t>
              </a:r>
              <a:endParaRPr lang="en-US" sz="2000"/>
            </a:p>
          </p:txBody>
        </p:sp>
        <p:sp>
          <p:nvSpPr>
            <p:cNvPr id="708672" name="Rectangle 64"/>
            <p:cNvSpPr>
              <a:spLocks noChangeArrowheads="1"/>
            </p:cNvSpPr>
            <p:nvPr/>
          </p:nvSpPr>
          <p:spPr bwMode="auto">
            <a:xfrm>
              <a:off x="8305800" y="31242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3,3</a:t>
              </a:r>
              <a:endParaRPr lang="en-US" sz="2000"/>
            </a:p>
          </p:txBody>
        </p:sp>
        <p:sp>
          <p:nvSpPr>
            <p:cNvPr id="708673" name="Rectangle 65"/>
            <p:cNvSpPr>
              <a:spLocks noChangeArrowheads="1"/>
            </p:cNvSpPr>
            <p:nvPr/>
          </p:nvSpPr>
          <p:spPr bwMode="auto">
            <a:xfrm>
              <a:off x="8305800" y="2133600"/>
              <a:ext cx="609600" cy="457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4,4</a:t>
              </a:r>
              <a:endParaRPr lang="en-US" sz="2000"/>
            </a:p>
          </p:txBody>
        </p:sp>
        <p:sp>
          <p:nvSpPr>
            <p:cNvPr id="708677" name="Rectangle 69"/>
            <p:cNvSpPr>
              <a:spLocks noChangeArrowheads="1"/>
            </p:cNvSpPr>
            <p:nvPr/>
          </p:nvSpPr>
          <p:spPr bwMode="auto">
            <a:xfrm>
              <a:off x="2286000" y="1600200"/>
              <a:ext cx="812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 dirty="0">
                  <a:sym typeface="Symbol" charset="0"/>
                </a:rPr>
                <a:t>k = 1</a:t>
              </a:r>
            </a:p>
          </p:txBody>
        </p:sp>
        <p:sp>
          <p:nvSpPr>
            <p:cNvPr id="708678" name="Rectangle 70"/>
            <p:cNvSpPr>
              <a:spLocks noChangeArrowheads="1"/>
            </p:cNvSpPr>
            <p:nvPr/>
          </p:nvSpPr>
          <p:spPr bwMode="auto">
            <a:xfrm>
              <a:off x="4191000" y="1600200"/>
              <a:ext cx="812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>
                  <a:sym typeface="Symbol" charset="0"/>
                </a:rPr>
                <a:t>k = 2</a:t>
              </a:r>
            </a:p>
          </p:txBody>
        </p:sp>
        <p:sp>
          <p:nvSpPr>
            <p:cNvPr id="708679" name="Rectangle 71"/>
            <p:cNvSpPr>
              <a:spLocks noChangeArrowheads="1"/>
            </p:cNvSpPr>
            <p:nvPr/>
          </p:nvSpPr>
          <p:spPr bwMode="auto">
            <a:xfrm>
              <a:off x="6324600" y="1600200"/>
              <a:ext cx="812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>
                  <a:sym typeface="Symbol" charset="0"/>
                </a:rPr>
                <a:t>k = 3</a:t>
              </a:r>
            </a:p>
          </p:txBody>
        </p:sp>
        <p:sp>
          <p:nvSpPr>
            <p:cNvPr id="708680" name="Rectangle 72"/>
            <p:cNvSpPr>
              <a:spLocks noChangeArrowheads="1"/>
            </p:cNvSpPr>
            <p:nvPr/>
          </p:nvSpPr>
          <p:spPr bwMode="auto">
            <a:xfrm>
              <a:off x="762000" y="2590800"/>
              <a:ext cx="812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>
                  <a:sym typeface="Symbol" charset="0"/>
                </a:rPr>
                <a:t>k = 2</a:t>
              </a:r>
            </a:p>
          </p:txBody>
        </p:sp>
        <p:sp>
          <p:nvSpPr>
            <p:cNvPr id="708681" name="Rectangle 73"/>
            <p:cNvSpPr>
              <a:spLocks noChangeArrowheads="1"/>
            </p:cNvSpPr>
            <p:nvPr/>
          </p:nvSpPr>
          <p:spPr bwMode="auto">
            <a:xfrm>
              <a:off x="1828800" y="2590800"/>
              <a:ext cx="812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>
                  <a:sym typeface="Symbol" charset="0"/>
                </a:rPr>
                <a:t>k = 3</a:t>
              </a:r>
            </a:p>
          </p:txBody>
        </p:sp>
        <p:sp>
          <p:nvSpPr>
            <p:cNvPr id="708682" name="Rectangle 74"/>
            <p:cNvSpPr>
              <a:spLocks noChangeArrowheads="1"/>
            </p:cNvSpPr>
            <p:nvPr/>
          </p:nvSpPr>
          <p:spPr bwMode="auto">
            <a:xfrm>
              <a:off x="3657600" y="2590800"/>
              <a:ext cx="812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>
                  <a:sym typeface="Symbol" charset="0"/>
                </a:rPr>
                <a:t>k = 1</a:t>
              </a:r>
            </a:p>
          </p:txBody>
        </p:sp>
        <p:sp>
          <p:nvSpPr>
            <p:cNvPr id="708683" name="Rectangle 75"/>
            <p:cNvSpPr>
              <a:spLocks noChangeArrowheads="1"/>
            </p:cNvSpPr>
            <p:nvPr/>
          </p:nvSpPr>
          <p:spPr bwMode="auto">
            <a:xfrm>
              <a:off x="4953000" y="2590800"/>
              <a:ext cx="812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>
                  <a:sym typeface="Symbol" charset="0"/>
                </a:rPr>
                <a:t>k = 3</a:t>
              </a:r>
            </a:p>
          </p:txBody>
        </p:sp>
        <p:sp>
          <p:nvSpPr>
            <p:cNvPr id="708684" name="Rectangle 76"/>
            <p:cNvSpPr>
              <a:spLocks noChangeArrowheads="1"/>
            </p:cNvSpPr>
            <p:nvPr/>
          </p:nvSpPr>
          <p:spPr bwMode="auto">
            <a:xfrm>
              <a:off x="6553200" y="2590800"/>
              <a:ext cx="812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>
                  <a:sym typeface="Symbol" charset="0"/>
                </a:rPr>
                <a:t>k = 1</a:t>
              </a:r>
            </a:p>
          </p:txBody>
        </p:sp>
        <p:sp>
          <p:nvSpPr>
            <p:cNvPr id="708685" name="Rectangle 77"/>
            <p:cNvSpPr>
              <a:spLocks noChangeArrowheads="1"/>
            </p:cNvSpPr>
            <p:nvPr/>
          </p:nvSpPr>
          <p:spPr bwMode="auto">
            <a:xfrm>
              <a:off x="7696200" y="2590800"/>
              <a:ext cx="812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>
                  <a:sym typeface="Symbol" charset="0"/>
                </a:rPr>
                <a:t>k = 2</a:t>
              </a:r>
            </a:p>
          </p:txBody>
        </p:sp>
        <p:sp>
          <p:nvSpPr>
            <p:cNvPr id="708686" name="Rectangle 78"/>
            <p:cNvSpPr>
              <a:spLocks noChangeArrowheads="1"/>
            </p:cNvSpPr>
            <p:nvPr/>
          </p:nvSpPr>
          <p:spPr bwMode="auto">
            <a:xfrm>
              <a:off x="6553200" y="3581400"/>
              <a:ext cx="812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>
                  <a:sym typeface="Symbol" charset="0"/>
                </a:rPr>
                <a:t>k = 2</a:t>
              </a:r>
            </a:p>
          </p:txBody>
        </p:sp>
        <p:sp>
          <p:nvSpPr>
            <p:cNvPr id="708687" name="Rectangle 79"/>
            <p:cNvSpPr>
              <a:spLocks noChangeArrowheads="1"/>
            </p:cNvSpPr>
            <p:nvPr/>
          </p:nvSpPr>
          <p:spPr bwMode="auto">
            <a:xfrm>
              <a:off x="7696200" y="3581400"/>
              <a:ext cx="812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>
                  <a:sym typeface="Symbol" charset="0"/>
                </a:rPr>
                <a:t>k = 1</a:t>
              </a:r>
            </a:p>
          </p:txBody>
        </p:sp>
        <p:sp>
          <p:nvSpPr>
            <p:cNvPr id="708688" name="Rectangle 80"/>
            <p:cNvSpPr>
              <a:spLocks noChangeArrowheads="1"/>
            </p:cNvSpPr>
            <p:nvPr/>
          </p:nvSpPr>
          <p:spPr bwMode="auto">
            <a:xfrm>
              <a:off x="762000" y="3657600"/>
              <a:ext cx="812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>
                  <a:sym typeface="Symbol" charset="0"/>
                </a:rPr>
                <a:t>k = 3</a:t>
              </a:r>
            </a:p>
          </p:txBody>
        </p:sp>
        <p:sp>
          <p:nvSpPr>
            <p:cNvPr id="708689" name="Rectangle 81"/>
            <p:cNvSpPr>
              <a:spLocks noChangeArrowheads="1"/>
            </p:cNvSpPr>
            <p:nvPr/>
          </p:nvSpPr>
          <p:spPr bwMode="auto">
            <a:xfrm>
              <a:off x="1905000" y="3657600"/>
              <a:ext cx="812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>
                  <a:sym typeface="Symbol" charset="0"/>
                </a:rPr>
                <a:t>k = 2</a:t>
              </a: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71600" y="188640"/>
            <a:ext cx="7776864" cy="648072"/>
          </a:xfrm>
        </p:spPr>
        <p:txBody>
          <a:bodyPr/>
          <a:lstStyle/>
          <a:p>
            <a:r>
              <a:rPr lang="it-IT" dirty="0">
                <a:sym typeface="Symbol" charset="0"/>
              </a:rPr>
              <a:t>Causa della complessità </a:t>
            </a:r>
            <a:r>
              <a:rPr lang="it-IT" dirty="0" smtClean="0">
                <a:sym typeface="Symbol" charset="0"/>
              </a:rPr>
              <a:t>esponenziale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4" name="Text Box 2"/>
          <p:cNvSpPr txBox="1">
            <a:spLocks noChangeArrowheads="1"/>
          </p:cNvSpPr>
          <p:nvPr/>
        </p:nvSpPr>
        <p:spPr bwMode="auto">
          <a:xfrm>
            <a:off x="473894" y="1535683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Possiamo evitare il ricalcolo delle soluzioni dei sottoproblemi dotando di memoria la procedura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ricorsiva</a:t>
            </a:r>
            <a:endParaRPr lang="it-IT" sz="2400" dirty="0">
              <a:solidFill>
                <a:srgbClr val="201FF0"/>
              </a:solidFill>
              <a:sym typeface="Symbol" charset="0"/>
            </a:endParaRPr>
          </a:p>
        </p:txBody>
      </p:sp>
      <p:sp>
        <p:nvSpPr>
          <p:cNvPr id="709635" name="Text Box 3"/>
          <p:cNvSpPr txBox="1">
            <a:spLocks noChangeArrowheads="1"/>
          </p:cNvSpPr>
          <p:nvPr/>
        </p:nvSpPr>
        <p:spPr bwMode="auto">
          <a:xfrm>
            <a:off x="755576" y="2852936"/>
            <a:ext cx="6400800" cy="2474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CostoMinimo</a:t>
            </a:r>
            <a:r>
              <a:rPr lang="it-IT" sz="2400" dirty="0">
                <a:sym typeface="Symbol" charset="0"/>
              </a:rPr>
              <a:t>(</a:t>
            </a:r>
            <a:r>
              <a:rPr lang="it-IT" sz="2400" dirty="0" err="1">
                <a:sym typeface="Symbol" charset="0"/>
              </a:rPr>
              <a:t>p,n</a:t>
            </a:r>
            <a:r>
              <a:rPr lang="it-IT" sz="2400" dirty="0">
                <a:sym typeface="Symbol" charset="0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>
                <a:sym typeface="Symbol" charset="0"/>
              </a:rPr>
              <a:t>i </a:t>
            </a:r>
            <a:r>
              <a:rPr lang="it-IT" sz="2400" dirty="0" smtClean="0">
                <a:sym typeface="Symbol" charset="0"/>
              </a:rPr>
              <a:t>:= 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400" dirty="0">
                <a:sym typeface="Symbol" charset="0"/>
              </a:rPr>
              <a:t>n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</a:t>
            </a:r>
          </a:p>
          <a:p>
            <a:pPr>
              <a:lnSpc>
                <a:spcPct val="13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 smtClean="0">
                <a:sym typeface="Symbol" charset="0"/>
              </a:rPr>
              <a:t>j </a:t>
            </a:r>
            <a:r>
              <a:rPr lang="it-IT" sz="2400" dirty="0">
                <a:sym typeface="Symbol" charset="0"/>
              </a:rPr>
              <a:t>:= i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400" dirty="0" smtClean="0">
                <a:sym typeface="Symbol" charset="0"/>
              </a:rPr>
              <a:t>n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</a:t>
            </a:r>
            <a:endParaRPr lang="it-IT" sz="2400" dirty="0">
              <a:solidFill>
                <a:schemeClr val="accent2"/>
              </a:solidFill>
              <a:sym typeface="Symbol" charset="0"/>
            </a:endParaRPr>
          </a:p>
          <a:p>
            <a:pPr>
              <a:lnSpc>
                <a:spcPct val="130000"/>
              </a:lnSpc>
            </a:pPr>
            <a:r>
              <a:rPr lang="it-IT" sz="2400" dirty="0">
                <a:sym typeface="Symbol" charset="0"/>
              </a:rPr>
              <a:t>            M[i, j] := </a:t>
            </a:r>
          </a:p>
          <a:p>
            <a:pPr>
              <a:lnSpc>
                <a:spcPct val="130000"/>
              </a:lnSpc>
            </a:pPr>
            <a:r>
              <a:rPr lang="it-IT" sz="2400" dirty="0"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return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CostoMinimoRic</a:t>
            </a:r>
            <a:r>
              <a:rPr lang="it-IT" sz="2400" dirty="0">
                <a:sym typeface="Symbol" charset="0"/>
              </a:rPr>
              <a:t>(p,1,n)</a:t>
            </a:r>
          </a:p>
        </p:txBody>
      </p:sp>
      <p:sp>
        <p:nvSpPr>
          <p:cNvPr id="7096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 smtClean="0"/>
              <a:t>Memoizzazione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58" name="Text Box 2"/>
          <p:cNvSpPr txBox="1">
            <a:spLocks noChangeArrowheads="1"/>
          </p:cNvSpPr>
          <p:nvPr/>
        </p:nvSpPr>
        <p:spPr bwMode="auto">
          <a:xfrm>
            <a:off x="395536" y="1052736"/>
            <a:ext cx="8382000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CostoMinimoRic</a:t>
            </a:r>
            <a:r>
              <a:rPr lang="it-IT" sz="2400" dirty="0">
                <a:sym typeface="Symbol" charset="0"/>
              </a:rPr>
              <a:t>(</a:t>
            </a:r>
            <a:r>
              <a:rPr lang="it-IT" sz="2400" dirty="0" err="1">
                <a:sym typeface="Symbol" charset="0"/>
              </a:rPr>
              <a:t>p,i,j</a:t>
            </a:r>
            <a:r>
              <a:rPr lang="it-IT" sz="2400" dirty="0">
                <a:sym typeface="Symbol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if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M[</a:t>
            </a:r>
            <a:r>
              <a:rPr lang="it-IT" sz="2400" dirty="0" err="1">
                <a:sym typeface="Symbol" charset="0"/>
              </a:rPr>
              <a:t>i,j</a:t>
            </a:r>
            <a:r>
              <a:rPr lang="it-IT" sz="2400" dirty="0">
                <a:sym typeface="Symbol" charset="0"/>
              </a:rPr>
              <a:t>] = 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then</a:t>
            </a:r>
            <a:r>
              <a:rPr lang="it-IT" sz="2400" dirty="0">
                <a:sym typeface="Symbol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if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smtClean="0">
                <a:sym typeface="Symbol" charset="0"/>
              </a:rPr>
              <a:t>i </a:t>
            </a:r>
            <a:r>
              <a:rPr lang="it-IT" sz="2400" dirty="0">
                <a:sym typeface="Symbol" charset="0"/>
              </a:rPr>
              <a:t>= </a:t>
            </a:r>
            <a:r>
              <a:rPr lang="it-IT" sz="2400" dirty="0" err="1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then</a:t>
            </a:r>
            <a:r>
              <a:rPr lang="it-IT" sz="2400" dirty="0">
                <a:sym typeface="Symbol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    M[i,i] := 0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else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>
                <a:sym typeface="Symbol" charset="0"/>
              </a:rPr>
              <a:t>k := i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400" dirty="0">
                <a:sym typeface="Symbol" charset="0"/>
              </a:rPr>
              <a:t>j-1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        q := </a:t>
            </a:r>
            <a:r>
              <a:rPr lang="it-IT" sz="2400" dirty="0" smtClean="0">
                <a:solidFill>
                  <a:srgbClr val="800000"/>
                </a:solidFill>
                <a:sym typeface="Symbol" charset="0"/>
              </a:rPr>
              <a:t>CostoMinimoRic</a:t>
            </a:r>
            <a:r>
              <a:rPr lang="it-IT" sz="2400" dirty="0">
                <a:sym typeface="Symbol" charset="0"/>
              </a:rPr>
              <a:t>(p,i,k)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              +</a:t>
            </a:r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CostoMinimoRic</a:t>
            </a:r>
            <a:r>
              <a:rPr lang="it-IT" sz="2400" dirty="0">
                <a:sym typeface="Symbol" charset="0"/>
              </a:rPr>
              <a:t>(p,k+1,j)+p</a:t>
            </a:r>
            <a:r>
              <a:rPr lang="it-IT" sz="2400" baseline="-25000" dirty="0">
                <a:sym typeface="Symbol" charset="0"/>
              </a:rPr>
              <a:t>i-1</a:t>
            </a:r>
            <a:r>
              <a:rPr lang="it-IT" sz="2400" dirty="0">
                <a:sym typeface="Symbol" charset="0"/>
              </a:rPr>
              <a:t>p</a:t>
            </a:r>
            <a:r>
              <a:rPr lang="it-IT" sz="2400" baseline="-25000" dirty="0">
                <a:sym typeface="Symbol" charset="0"/>
              </a:rPr>
              <a:t>k</a:t>
            </a:r>
            <a:r>
              <a:rPr lang="it-IT" sz="2400" dirty="0">
                <a:sym typeface="Symbol" charset="0"/>
              </a:rPr>
              <a:t>p</a:t>
            </a:r>
            <a:r>
              <a:rPr lang="it-IT" sz="2400" baseline="-25000" dirty="0">
                <a:sym typeface="Symbol" charset="0"/>
              </a:rPr>
              <a:t>j</a:t>
            </a:r>
            <a:endParaRPr lang="it-IT" sz="2400" dirty="0">
              <a:sym typeface="Symbol" charset="0"/>
            </a:endParaRP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    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if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err="1" smtClean="0">
                <a:sym typeface="Symbol" charset="0"/>
              </a:rPr>
              <a:t>q</a:t>
            </a:r>
            <a:r>
              <a:rPr lang="it-IT" sz="2400" dirty="0" smtClean="0"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&lt; M[</a:t>
            </a:r>
            <a:r>
              <a:rPr lang="it-IT" sz="2400" dirty="0" err="1">
                <a:sym typeface="Symbol" charset="0"/>
              </a:rPr>
              <a:t>i,j</a:t>
            </a:r>
            <a:r>
              <a:rPr lang="it-IT" sz="2400" dirty="0">
                <a:sym typeface="Symbol" charset="0"/>
              </a:rPr>
              <a:t>]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then</a:t>
            </a:r>
            <a:r>
              <a:rPr lang="it-IT" sz="2400" dirty="0">
                <a:sym typeface="Symbol" charset="0"/>
              </a:rPr>
              <a:t> </a:t>
            </a:r>
            <a:endParaRPr lang="it-IT" sz="2400" dirty="0">
              <a:solidFill>
                <a:schemeClr val="accent2"/>
              </a:solidFill>
              <a:sym typeface="Symbol" charset="0"/>
            </a:endParaRP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            M[i,j] := q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return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M[</a:t>
            </a:r>
            <a:r>
              <a:rPr lang="it-IT" sz="2400" dirty="0" err="1">
                <a:sym typeface="Symbol" charset="0"/>
              </a:rPr>
              <a:t>i,j</a:t>
            </a:r>
            <a:r>
              <a:rPr lang="it-IT" sz="2400" dirty="0">
                <a:sym typeface="Symbol" charset="0"/>
              </a:rPr>
              <a:t>]</a:t>
            </a:r>
          </a:p>
        </p:txBody>
      </p:sp>
      <p:sp>
        <p:nvSpPr>
          <p:cNvPr id="710659" name="Text Box 3"/>
          <p:cNvSpPr txBox="1">
            <a:spLocks noChangeArrowheads="1"/>
          </p:cNvSpPr>
          <p:nvPr/>
        </p:nvSpPr>
        <p:spPr bwMode="auto">
          <a:xfrm>
            <a:off x="4716016" y="5661248"/>
            <a:ext cx="4178424" cy="45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Complessità: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O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baseline="30000" dirty="0">
                <a:solidFill>
                  <a:srgbClr val="FF0000"/>
                </a:solidFill>
                <a:sym typeface="Symbol" charset="0"/>
              </a:rPr>
              <a:t>3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)</a:t>
            </a:r>
            <a:endParaRPr lang="it-IT" sz="2400" i="1" u="sng" dirty="0">
              <a:solidFill>
                <a:srgbClr val="FF0000"/>
              </a:solidFill>
              <a:sym typeface="Symbol" charset="0"/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 smtClean="0"/>
              <a:t>Memoizzazione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116632"/>
            <a:ext cx="7560840" cy="936104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  <a:sym typeface="Symbol" charset="0"/>
              </a:rPr>
              <a:t>Algoritmo iterativo vs algoritmo ricorsivo con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memoria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8352928" cy="5112568"/>
          </a:xfrm>
        </p:spPr>
        <p:txBody>
          <a:bodyPr/>
          <a:lstStyle/>
          <a:p>
            <a:r>
              <a:rPr lang="it-IT" sz="2000" dirty="0">
                <a:sym typeface="Symbol" charset="0"/>
              </a:rPr>
              <a:t>Entrambi gli algoritmi calcolano una sola volta le soluzioni dei sottoproblemi ma il secondo effettua un controllo in più.</a:t>
            </a:r>
          </a:p>
          <a:p>
            <a:r>
              <a:rPr lang="it-IT" sz="2000" dirty="0">
                <a:sym typeface="Symbol" charset="0"/>
              </a:rPr>
              <a:t>Se per il calcolo della soluzione globale servono le soluzioni di tutti i sottoproblemi l’algoritmo bottom-up (iterativo) è migliore di quello top-down (ricorsivo). </a:t>
            </a:r>
          </a:p>
          <a:p>
            <a:r>
              <a:rPr lang="it-IT" sz="2000" dirty="0">
                <a:sym typeface="Symbol" charset="0"/>
              </a:rPr>
              <a:t>Se per il calcolo della soluzione globale servono soltanto alcune delle soluzioni dei sottoproblemi l’algoritmo bottom-up le calcola comunque tutte mentre quello top-down calcola soltanto quelle che effettivamente servono. </a:t>
            </a:r>
          </a:p>
          <a:p>
            <a:r>
              <a:rPr lang="it-IT" sz="2000" dirty="0">
                <a:sym typeface="Symbol" charset="0"/>
              </a:rPr>
              <a:t>In questo caso l’algoritmo top-down può risultare migliore di quello bottom-up.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3" name="Text Box 5"/>
          <p:cNvSpPr txBox="1">
            <a:spLocks noChangeArrowheads="1"/>
          </p:cNvSpPr>
          <p:nvPr/>
        </p:nvSpPr>
        <p:spPr bwMode="auto">
          <a:xfrm>
            <a:off x="381000" y="1219200"/>
            <a:ext cx="84582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dirty="0">
                <a:sym typeface="Symbol" charset="0"/>
              </a:rPr>
              <a:t>Sono </a:t>
            </a:r>
            <a:r>
              <a:rPr lang="it-IT" sz="2000" i="1" u="sng" dirty="0" smtClean="0">
                <a:solidFill>
                  <a:srgbClr val="FF0000"/>
                </a:solidFill>
                <a:sym typeface="Symbol" charset="0"/>
              </a:rPr>
              <a:t>problemi </a:t>
            </a:r>
            <a:r>
              <a:rPr lang="it-IT" sz="2000" i="1" u="sng" dirty="0">
                <a:solidFill>
                  <a:srgbClr val="FF0000"/>
                </a:solidFill>
                <a:sym typeface="Symbol" charset="0"/>
              </a:rPr>
              <a:t>di ottimizzazione</a:t>
            </a:r>
            <a:r>
              <a:rPr lang="it-IT" sz="2000" dirty="0">
                <a:sym typeface="Symbol" charset="0"/>
              </a:rPr>
              <a:t> in cui da un insieme (generalmente molto grande) di soluzioni possibili vogliamo estrarre una soluzione ottima rispetto ad una particolare misura</a:t>
            </a:r>
            <a:r>
              <a:rPr lang="it-IT" sz="2000" dirty="0" smtClean="0">
                <a:sym typeface="Symbol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sym typeface="Symbol" charset="0"/>
              </a:rPr>
              <a:t>Per poter applicare la programmazione dinamica occorre:</a:t>
            </a:r>
          </a:p>
          <a:p>
            <a:pPr marL="457200" indent="-457200">
              <a:spcBef>
                <a:spcPct val="50000"/>
              </a:spcBef>
              <a:buAutoNum type="alphaLcParenR"/>
            </a:pPr>
            <a:r>
              <a:rPr lang="it-IT" sz="2000" dirty="0" smtClean="0">
                <a:sym typeface="Symbol" charset="0"/>
              </a:rPr>
              <a:t>Che </a:t>
            </a:r>
            <a:r>
              <a:rPr lang="it-IT" sz="2000" dirty="0">
                <a:sym typeface="Symbol" charset="0"/>
              </a:rPr>
              <a:t>una soluzione ottima si possa esprimere in termini di soluzioni ottime di </a:t>
            </a:r>
            <a:r>
              <a:rPr lang="it-IT" sz="2000" dirty="0" err="1">
                <a:sym typeface="Symbol" charset="0"/>
              </a:rPr>
              <a:t>sottoproblemi</a:t>
            </a:r>
            <a:r>
              <a:rPr lang="it-IT" sz="2000" dirty="0">
                <a:sym typeface="Symbol" charset="0"/>
              </a:rPr>
              <a:t>: </a:t>
            </a:r>
            <a:endParaRPr lang="it-IT" sz="2000" dirty="0" smtClean="0">
              <a:sym typeface="Symbol" charset="0"/>
            </a:endParaRPr>
          </a:p>
          <a:p>
            <a:pPr algn="ctr">
              <a:spcBef>
                <a:spcPct val="50000"/>
              </a:spcBef>
            </a:pPr>
            <a:r>
              <a:rPr lang="it-IT" sz="2000" dirty="0" smtClean="0">
                <a:sym typeface="Symbol" charset="0"/>
              </a:rPr>
              <a:t>proprietà </a:t>
            </a:r>
            <a:r>
              <a:rPr lang="it-IT" sz="2000" dirty="0">
                <a:sym typeface="Symbol" charset="0"/>
              </a:rPr>
              <a:t>della </a:t>
            </a:r>
            <a:r>
              <a:rPr lang="it-IT" sz="2000" i="1" u="sng" dirty="0">
                <a:solidFill>
                  <a:srgbClr val="FF0000"/>
                </a:solidFill>
                <a:sym typeface="Symbol" charset="0"/>
              </a:rPr>
              <a:t>sottostruttura </a:t>
            </a:r>
            <a:r>
              <a:rPr lang="it-IT" sz="2000" i="1" u="sng" dirty="0" smtClean="0">
                <a:solidFill>
                  <a:srgbClr val="FF0000"/>
                </a:solidFill>
                <a:sym typeface="Symbol" charset="0"/>
              </a:rPr>
              <a:t>ottima</a:t>
            </a:r>
            <a:endParaRPr lang="it-IT" sz="2000" dirty="0">
              <a:sym typeface="Symbol" charset="0"/>
            </a:endParaRPr>
          </a:p>
          <a:p>
            <a:pPr>
              <a:spcBef>
                <a:spcPct val="50000"/>
              </a:spcBef>
            </a:pPr>
            <a:r>
              <a:rPr lang="it-IT" sz="2000" dirty="0">
                <a:sym typeface="Symbol" charset="0"/>
              </a:rPr>
              <a:t>b) che l’insieme dei </a:t>
            </a:r>
            <a:r>
              <a:rPr lang="it-IT" sz="2000" dirty="0" err="1">
                <a:sym typeface="Symbol" charset="0"/>
              </a:rPr>
              <a:t>sottoproblemi</a:t>
            </a:r>
            <a:r>
              <a:rPr lang="it-IT" sz="2000" dirty="0">
                <a:sym typeface="Symbol" charset="0"/>
              </a:rPr>
              <a:t> distinti abbia cardinalità molto inferiore all’insieme delle soluzioni possibili da cui vogliamo selezionare quella </a:t>
            </a:r>
            <a:r>
              <a:rPr lang="it-IT" sz="2000" dirty="0" smtClean="0">
                <a:sym typeface="Symbol" charset="0"/>
              </a:rPr>
              <a:t>ottima. </a:t>
            </a:r>
            <a:endParaRPr lang="it-IT" sz="2000" dirty="0">
              <a:sym typeface="Symbol" charset="0"/>
            </a:endParaRPr>
          </a:p>
          <a:p>
            <a:pPr>
              <a:spcBef>
                <a:spcPct val="50000"/>
              </a:spcBef>
            </a:pPr>
            <a:r>
              <a:rPr lang="it-IT" sz="2000" dirty="0">
                <a:sym typeface="Symbol" charset="0"/>
              </a:rPr>
              <a:t>Se ciò è vero significa che uno stesso problema deve comparire molte volte come </a:t>
            </a:r>
            <a:r>
              <a:rPr lang="it-IT" sz="2000" dirty="0" err="1">
                <a:sym typeface="Symbol" charset="0"/>
              </a:rPr>
              <a:t>sottoproblema</a:t>
            </a:r>
            <a:r>
              <a:rPr lang="it-IT" sz="2000" dirty="0">
                <a:sym typeface="Symbol" charset="0"/>
              </a:rPr>
              <a:t> di altri problemi: </a:t>
            </a:r>
          </a:p>
          <a:p>
            <a:pPr algn="ctr">
              <a:spcBef>
                <a:spcPct val="50000"/>
              </a:spcBef>
            </a:pPr>
            <a:r>
              <a:rPr lang="it-IT" sz="2000" dirty="0">
                <a:sym typeface="Symbol" charset="0"/>
              </a:rPr>
              <a:t>Proprietà di </a:t>
            </a:r>
            <a:r>
              <a:rPr lang="it-IT" sz="2000" i="1" u="sng" dirty="0">
                <a:solidFill>
                  <a:srgbClr val="FF0000"/>
                </a:solidFill>
                <a:sym typeface="Symbol" charset="0"/>
              </a:rPr>
              <a:t>sovrapposizione dei </a:t>
            </a:r>
            <a:r>
              <a:rPr lang="it-IT" sz="2000" i="1" u="sng" dirty="0" err="1">
                <a:solidFill>
                  <a:srgbClr val="FF0000"/>
                </a:solidFill>
                <a:sym typeface="Symbol" charset="0"/>
              </a:rPr>
              <a:t>sottoproblemi</a:t>
            </a:r>
            <a:r>
              <a:rPr lang="it-IT" sz="2000" dirty="0" smtClean="0">
                <a:sym typeface="Symbol" charset="0"/>
              </a:rPr>
              <a:t>.</a:t>
            </a:r>
            <a:endParaRPr lang="it-IT" sz="2000" dirty="0">
              <a:sym typeface="Symbo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535862" cy="685800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Problemi risolubili con la programmazione dinamica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52" name="Text Box 4"/>
          <p:cNvSpPr txBox="1">
            <a:spLocks noChangeArrowheads="1"/>
          </p:cNvSpPr>
          <p:nvPr/>
        </p:nvSpPr>
        <p:spPr bwMode="auto">
          <a:xfrm>
            <a:off x="539552" y="1556792"/>
            <a:ext cx="77724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Date due sequenze</a:t>
            </a:r>
            <a:endParaRPr lang="it-IT" sz="2000" dirty="0">
              <a:solidFill>
                <a:srgbClr val="201FF0"/>
              </a:solidFill>
              <a:sym typeface="Symbol" charset="0"/>
            </a:endParaRPr>
          </a:p>
          <a:p>
            <a:pPr algn="ctr">
              <a:spcBef>
                <a:spcPct val="100000"/>
              </a:spcBef>
            </a:pP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=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2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...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m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  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      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=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2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...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000" baseline="-25000" dirty="0">
                <a:solidFill>
                  <a:srgbClr val="FF0000"/>
                </a:solidFill>
                <a:sym typeface="Symbol" charset="0"/>
              </a:rPr>
              <a:t> </a:t>
            </a:r>
          </a:p>
          <a:p>
            <a:pPr>
              <a:spcBef>
                <a:spcPct val="10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trovare la più lunga sequenza</a:t>
            </a:r>
            <a:endParaRPr lang="it-IT" sz="2000" dirty="0">
              <a:solidFill>
                <a:srgbClr val="201FF0"/>
              </a:solidFill>
              <a:sym typeface="Symbol" charset="0"/>
            </a:endParaRPr>
          </a:p>
          <a:p>
            <a:pPr algn="ctr">
              <a:spcBef>
                <a:spcPct val="100000"/>
              </a:spcBef>
            </a:pP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Z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=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z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z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2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…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z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k</a:t>
            </a:r>
            <a:endParaRPr lang="it-IT" sz="2400" dirty="0">
              <a:solidFill>
                <a:srgbClr val="FF0000"/>
              </a:solidFill>
              <a:sym typeface="Symbol" charset="0"/>
            </a:endParaRPr>
          </a:p>
          <a:p>
            <a:pPr>
              <a:spcBef>
                <a:spcPct val="10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che è sottosequenza sia di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che di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Y</a:t>
            </a:r>
            <a:endParaRPr lang="it-IT" sz="2400" dirty="0">
              <a:sym typeface="Symbo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188640"/>
            <a:ext cx="7920880" cy="648072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Massima </a:t>
            </a:r>
            <a:r>
              <a:rPr lang="it-IT" dirty="0" err="1">
                <a:solidFill>
                  <a:srgbClr val="FF0000"/>
                </a:solidFill>
              </a:rPr>
              <a:t>sottosequenza</a:t>
            </a:r>
            <a:r>
              <a:rPr lang="it-IT" dirty="0">
                <a:solidFill>
                  <a:srgbClr val="FF0000"/>
                </a:solidFill>
              </a:rPr>
              <a:t> comune (LCS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Text Box 2"/>
          <p:cNvSpPr txBox="1">
            <a:spLocks noChangeArrowheads="1"/>
          </p:cNvSpPr>
          <p:nvPr/>
        </p:nvSpPr>
        <p:spPr bwMode="auto">
          <a:xfrm>
            <a:off x="467544" y="1340768"/>
            <a:ext cx="8352928" cy="413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Primo passo</a:t>
            </a:r>
            <a:r>
              <a:rPr lang="it-IT" sz="2400" dirty="0">
                <a:sym typeface="Symbol" charset="0"/>
              </a:rPr>
              <a:t>: </a:t>
            </a:r>
            <a:r>
              <a:rPr lang="it-IT" sz="2400" i="1" dirty="0">
                <a:sym typeface="Symbol" charset="0"/>
              </a:rPr>
              <a:t>struttura di una massima sottosequenza comune (LCS</a:t>
            </a:r>
            <a:r>
              <a:rPr lang="it-IT" sz="2400" i="1" dirty="0" smtClean="0">
                <a:sym typeface="Symbol" charset="0"/>
              </a:rPr>
              <a:t>)</a:t>
            </a:r>
          </a:p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La sottostruttura ottima discende dalla seguente:</a:t>
            </a:r>
          </a:p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it-IT" sz="2400" i="1" u="sng" dirty="0">
                <a:sym typeface="Symbol" charset="0"/>
              </a:rPr>
              <a:t>Proprietà</a:t>
            </a:r>
            <a:r>
              <a:rPr lang="it-IT" sz="2400" dirty="0">
                <a:sym typeface="Symbol" charset="0"/>
              </a:rPr>
              <a:t>: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Sia</a:t>
            </a:r>
            <a:r>
              <a:rPr lang="it-IT" sz="2400" dirty="0">
                <a:sym typeface="Symbol" charset="0"/>
              </a:rPr>
              <a:t>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Z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=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z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...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z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una LCS delle due sequenze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     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=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...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m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baseline="-25000" dirty="0" smtClean="0">
                <a:solidFill>
                  <a:srgbClr val="FF0000"/>
                </a:solidFill>
                <a:sym typeface="Symbol" charset="0"/>
              </a:rPr>
              <a:t> 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e</a:t>
            </a:r>
            <a:r>
              <a:rPr lang="it-IT" sz="2400" dirty="0" smtClean="0">
                <a:sym typeface="Symbol" charset="0"/>
              </a:rPr>
              <a:t> 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=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...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i="1" baseline="-25000" dirty="0" smtClean="0">
                <a:solidFill>
                  <a:srgbClr val="FF0000"/>
                </a:solidFill>
                <a:sym typeface="Symbol" charset="0"/>
              </a:rPr>
              <a:t>n</a:t>
            </a:r>
            <a:endParaRPr lang="it-IT" sz="2400" dirty="0">
              <a:solidFill>
                <a:srgbClr val="FF0000"/>
              </a:solidFill>
              <a:sym typeface="Symbol" charset="0"/>
            </a:endParaRPr>
          </a:p>
          <a:p>
            <a:pPr>
              <a:lnSpc>
                <a:spcPct val="130000"/>
              </a:lnSpc>
              <a:buFontTx/>
              <a:buAutoNum type="arabicPeriod"/>
            </a:pP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 se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m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=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allora</a:t>
            </a:r>
            <a:r>
              <a:rPr lang="it-IT" sz="2400" dirty="0">
                <a:sym typeface="Symbol" charset="0"/>
              </a:rPr>
              <a:t>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z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=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m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=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baseline="-250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Z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k-1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è una LCS di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m-1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n-</a:t>
            </a:r>
            <a:r>
              <a:rPr lang="it-IT" sz="2400" i="1" baseline="-25000" dirty="0" smtClean="0">
                <a:solidFill>
                  <a:srgbClr val="FF0000"/>
                </a:solidFill>
                <a:sym typeface="Symbol" charset="0"/>
              </a:rPr>
              <a:t>1</a:t>
            </a:r>
            <a:endParaRPr lang="it-IT" sz="2400" dirty="0">
              <a:solidFill>
                <a:srgbClr val="FF0000"/>
              </a:solidFill>
              <a:sym typeface="Symbol" charset="0"/>
            </a:endParaRPr>
          </a:p>
          <a:p>
            <a:pPr>
              <a:lnSpc>
                <a:spcPct val="130000"/>
              </a:lnSpc>
              <a:buFontTx/>
              <a:buAutoNum type="arabicPeriod"/>
            </a:pP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 altrimenti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se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z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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m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allora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Z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è LCS di </a:t>
            </a:r>
            <a:r>
              <a:rPr lang="it-IT" sz="2400" i="1" dirty="0">
                <a:solidFill>
                  <a:srgbClr val="201FF0"/>
                </a:solidFill>
                <a:sym typeface="Symbol" charset="0"/>
              </a:rPr>
              <a:t>X</a:t>
            </a:r>
            <a:r>
              <a:rPr lang="it-IT" sz="2400" i="1" baseline="-25000" dirty="0">
                <a:solidFill>
                  <a:srgbClr val="201FF0"/>
                </a:solidFill>
                <a:sym typeface="Symbol" charset="0"/>
              </a:rPr>
              <a:t>m-1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e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Y</a:t>
            </a:r>
            <a:endParaRPr lang="it-IT" sz="2400" dirty="0">
              <a:solidFill>
                <a:srgbClr val="FF0000"/>
              </a:solidFill>
              <a:sym typeface="Symbol" charset="0"/>
            </a:endParaRPr>
          </a:p>
          <a:p>
            <a:pPr>
              <a:lnSpc>
                <a:spcPct val="130000"/>
              </a:lnSpc>
              <a:buFontTx/>
              <a:buAutoNum type="arabicPeriod"/>
            </a:pP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 altrimenti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z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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Z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è una LCS di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</a:t>
            </a:r>
            <a:r>
              <a:rPr lang="it-IT" sz="2400" dirty="0">
                <a:sym typeface="Symbol" charset="0"/>
              </a:rPr>
              <a:t>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n-</a:t>
            </a:r>
            <a:r>
              <a:rPr lang="it-IT" sz="2400" i="1" baseline="-25000" dirty="0" smtClean="0">
                <a:solidFill>
                  <a:srgbClr val="FF0000"/>
                </a:solidFill>
                <a:sym typeface="Symbol" charset="0"/>
              </a:rPr>
              <a:t>1</a:t>
            </a:r>
            <a:endParaRPr lang="it-IT" sz="2400" dirty="0">
              <a:solidFill>
                <a:srgbClr val="FF0000"/>
              </a:solidFill>
              <a:sym typeface="Symbo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60648"/>
            <a:ext cx="7776864" cy="648072"/>
          </a:xfrm>
        </p:spPr>
        <p:txBody>
          <a:bodyPr/>
          <a:lstStyle/>
          <a:p>
            <a:r>
              <a:rPr lang="it-IT" dirty="0" smtClean="0"/>
              <a:t>Massima </a:t>
            </a:r>
            <a:r>
              <a:rPr lang="it-IT" dirty="0" err="1" smtClean="0"/>
              <a:t>sottosequenza</a:t>
            </a:r>
            <a:r>
              <a:rPr lang="it-IT" dirty="0" smtClean="0"/>
              <a:t> comune (LCS)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6" name="Text Box 2"/>
          <p:cNvSpPr txBox="1">
            <a:spLocks noChangeArrowheads="1"/>
          </p:cNvSpPr>
          <p:nvPr/>
        </p:nvSpPr>
        <p:spPr bwMode="auto">
          <a:xfrm>
            <a:off x="611560" y="1340768"/>
            <a:ext cx="830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lang="it-IT" sz="2400" i="1" dirty="0">
                <a:sym typeface="Symbol" charset="0"/>
              </a:rPr>
              <a:t>Dimostrazione</a:t>
            </a:r>
            <a:r>
              <a:rPr lang="it-IT" sz="2400" dirty="0">
                <a:sym typeface="Symbol" charset="0"/>
              </a:rPr>
              <a:t>:</a:t>
            </a:r>
          </a:p>
        </p:txBody>
      </p:sp>
      <p:sp>
        <p:nvSpPr>
          <p:cNvPr id="722947" name="Text Box 3"/>
          <p:cNvSpPr txBox="1">
            <a:spLocks noChangeArrowheads="1"/>
          </p:cNvSpPr>
          <p:nvPr/>
        </p:nvSpPr>
        <p:spPr bwMode="auto">
          <a:xfrm>
            <a:off x="323528" y="1916832"/>
            <a:ext cx="8305800" cy="406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  <a:buFontTx/>
              <a:buAutoNum type="arabicPeriod"/>
            </a:pP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Supponiamo </a:t>
            </a:r>
            <a:r>
              <a:rPr lang="it-IT" i="1" dirty="0" err="1">
                <a:solidFill>
                  <a:srgbClr val="FF0000"/>
                </a:solidFill>
                <a:latin typeface="+mn-lt"/>
                <a:sym typeface="Symbol" charset="0"/>
              </a:rPr>
              <a:t>x</a:t>
            </a:r>
            <a:r>
              <a:rPr lang="it-IT" i="1" baseline="-25000" dirty="0" err="1">
                <a:solidFill>
                  <a:srgbClr val="FF0000"/>
                </a:solidFill>
                <a:latin typeface="+mn-lt"/>
                <a:sym typeface="Symbol" charset="0"/>
              </a:rPr>
              <a:t>m</a:t>
            </a:r>
            <a:r>
              <a:rPr lang="it-IT" baseline="-25000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= </a:t>
            </a:r>
            <a:r>
              <a:rPr lang="it-IT" i="1" dirty="0" err="1">
                <a:solidFill>
                  <a:srgbClr val="FF0000"/>
                </a:solidFill>
                <a:latin typeface="+mn-lt"/>
                <a:sym typeface="Symbol" charset="0"/>
              </a:rPr>
              <a:t>y</a:t>
            </a:r>
            <a:r>
              <a:rPr lang="it-IT" i="1" baseline="-25000" dirty="0" err="1">
                <a:solidFill>
                  <a:srgbClr val="FF0000"/>
                </a:solidFill>
                <a:latin typeface="+mn-lt"/>
                <a:sym typeface="Symbol" charset="0"/>
              </a:rPr>
              <a:t>n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. Se </a:t>
            </a:r>
            <a:r>
              <a:rPr lang="it-IT" i="1" dirty="0" err="1">
                <a:solidFill>
                  <a:srgbClr val="FF0000"/>
                </a:solidFill>
                <a:latin typeface="+mn-lt"/>
                <a:sym typeface="Symbol" charset="0"/>
              </a:rPr>
              <a:t>z</a:t>
            </a:r>
            <a:r>
              <a:rPr lang="it-IT" i="1" baseline="-25000" dirty="0" err="1">
                <a:solidFill>
                  <a:srgbClr val="FF0000"/>
                </a:solidFill>
                <a:latin typeface="+mn-lt"/>
                <a:sym typeface="Symbol" charset="0"/>
              </a:rPr>
              <a:t>k</a:t>
            </a:r>
            <a:r>
              <a:rPr lang="it-IT" baseline="-25000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 </a:t>
            </a:r>
            <a:r>
              <a:rPr lang="it-IT" i="1" dirty="0" err="1">
                <a:solidFill>
                  <a:srgbClr val="FF0000"/>
                </a:solidFill>
                <a:latin typeface="+mn-lt"/>
                <a:sym typeface="Symbol" charset="0"/>
              </a:rPr>
              <a:t>x</a:t>
            </a:r>
            <a:r>
              <a:rPr lang="it-IT" i="1" baseline="-25000" dirty="0" err="1">
                <a:solidFill>
                  <a:srgbClr val="FF0000"/>
                </a:solidFill>
                <a:latin typeface="+mn-lt"/>
                <a:sym typeface="Symbol" charset="0"/>
              </a:rPr>
              <a:t>m</a:t>
            </a:r>
            <a:r>
              <a:rPr lang="it-IT" baseline="-25000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= </a:t>
            </a:r>
            <a:r>
              <a:rPr lang="it-IT" i="1" dirty="0" err="1">
                <a:solidFill>
                  <a:srgbClr val="FF0000"/>
                </a:solidFill>
                <a:latin typeface="+mn-lt"/>
                <a:sym typeface="Symbol" charset="0"/>
              </a:rPr>
              <a:t>y</a:t>
            </a:r>
            <a:r>
              <a:rPr lang="it-IT" i="1" baseline="-25000" dirty="0" err="1">
                <a:solidFill>
                  <a:srgbClr val="FF0000"/>
                </a:solidFill>
                <a:latin typeface="+mn-lt"/>
                <a:sym typeface="Symbol" charset="0"/>
              </a:rPr>
              <a:t>n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potremmo aggiungere il simbolo </a:t>
            </a:r>
            <a:r>
              <a:rPr lang="it-IT" i="1" dirty="0" err="1">
                <a:solidFill>
                  <a:srgbClr val="FF0000"/>
                </a:solidFill>
                <a:latin typeface="+mn-lt"/>
                <a:sym typeface="Symbol" charset="0"/>
              </a:rPr>
              <a:t>x</a:t>
            </a:r>
            <a:r>
              <a:rPr lang="it-IT" i="1" baseline="-25000" dirty="0" err="1">
                <a:solidFill>
                  <a:srgbClr val="FF0000"/>
                </a:solidFill>
                <a:latin typeface="+mn-lt"/>
                <a:sym typeface="Symbol" charset="0"/>
              </a:rPr>
              <a:t>m</a:t>
            </a:r>
            <a:r>
              <a:rPr lang="it-IT" baseline="-25000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= </a:t>
            </a:r>
            <a:r>
              <a:rPr lang="it-IT" i="1" dirty="0" err="1">
                <a:solidFill>
                  <a:srgbClr val="FF0000"/>
                </a:solidFill>
                <a:latin typeface="+mn-lt"/>
                <a:sym typeface="Symbol" charset="0"/>
              </a:rPr>
              <a:t>y</a:t>
            </a:r>
            <a:r>
              <a:rPr lang="it-IT" i="1" baseline="-25000" dirty="0" err="1">
                <a:solidFill>
                  <a:srgbClr val="FF0000"/>
                </a:solidFill>
                <a:latin typeface="+mn-lt"/>
                <a:sym typeface="Symbol" charset="0"/>
              </a:rPr>
              <a:t>n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in coda a </a:t>
            </a:r>
            <a:r>
              <a:rPr lang="it-IT" i="1" dirty="0" err="1">
                <a:solidFill>
                  <a:srgbClr val="FF0000"/>
                </a:solidFill>
                <a:latin typeface="+mn-lt"/>
                <a:sym typeface="Symbol" charset="0"/>
              </a:rPr>
              <a:t>Z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ottenendo una </a:t>
            </a:r>
            <a:r>
              <a:rPr lang="it-IT" dirty="0" err="1">
                <a:solidFill>
                  <a:srgbClr val="201FF0"/>
                </a:solidFill>
                <a:latin typeface="+mn-lt"/>
                <a:sym typeface="Symbol" charset="0"/>
              </a:rPr>
              <a:t>sottosequenza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 comune più lunga contro l’ipotesi che </a:t>
            </a:r>
            <a:r>
              <a:rPr lang="it-IT" i="1" dirty="0" err="1">
                <a:solidFill>
                  <a:srgbClr val="FF0000"/>
                </a:solidFill>
                <a:latin typeface="+mn-lt"/>
                <a:sym typeface="Symbol" charset="0"/>
              </a:rPr>
              <a:t>Z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sia una LCS. Quindi </a:t>
            </a:r>
            <a:r>
              <a:rPr lang="it-IT" i="1" dirty="0" err="1">
                <a:solidFill>
                  <a:srgbClr val="FF0000"/>
                </a:solidFill>
                <a:latin typeface="+mn-lt"/>
                <a:sym typeface="Symbol" charset="0"/>
              </a:rPr>
              <a:t>z</a:t>
            </a:r>
            <a:r>
              <a:rPr lang="it-IT" i="1" baseline="-25000" dirty="0" err="1">
                <a:solidFill>
                  <a:srgbClr val="FF0000"/>
                </a:solidFill>
                <a:latin typeface="+mn-lt"/>
                <a:sym typeface="Symbol" charset="0"/>
              </a:rPr>
              <a:t>k</a:t>
            </a:r>
            <a:r>
              <a:rPr lang="it-IT" baseline="-25000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= </a:t>
            </a:r>
            <a:r>
              <a:rPr lang="it-IT" i="1" dirty="0" err="1">
                <a:solidFill>
                  <a:srgbClr val="FF0000"/>
                </a:solidFill>
                <a:latin typeface="+mn-lt"/>
                <a:sym typeface="Symbol" charset="0"/>
              </a:rPr>
              <a:t>x</a:t>
            </a:r>
            <a:r>
              <a:rPr lang="it-IT" i="1" baseline="-25000" dirty="0" err="1">
                <a:solidFill>
                  <a:srgbClr val="FF0000"/>
                </a:solidFill>
                <a:latin typeface="+mn-lt"/>
                <a:sym typeface="Symbol" charset="0"/>
              </a:rPr>
              <a:t>m</a:t>
            </a:r>
            <a:r>
              <a:rPr lang="it-IT" baseline="-25000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= </a:t>
            </a:r>
            <a:r>
              <a:rPr lang="it-IT" i="1" dirty="0" err="1">
                <a:solidFill>
                  <a:srgbClr val="FF0000"/>
                </a:solidFill>
                <a:latin typeface="+mn-lt"/>
                <a:sym typeface="Symbol" charset="0"/>
              </a:rPr>
              <a:t>y</a:t>
            </a:r>
            <a:r>
              <a:rPr lang="it-IT" i="1" baseline="-25000" dirty="0" err="1">
                <a:solidFill>
                  <a:srgbClr val="FF0000"/>
                </a:solidFill>
                <a:latin typeface="+mn-lt"/>
                <a:sym typeface="Symbol" charset="0"/>
              </a:rPr>
              <a:t>n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e </a:t>
            </a:r>
            <a:r>
              <a:rPr lang="it-IT" i="1" dirty="0">
                <a:solidFill>
                  <a:srgbClr val="FF0000"/>
                </a:solidFill>
                <a:latin typeface="+mn-lt"/>
                <a:sym typeface="Symbol" charset="0"/>
              </a:rPr>
              <a:t>Z</a:t>
            </a:r>
            <a:r>
              <a:rPr lang="it-IT" i="1" baseline="-25000" dirty="0">
                <a:solidFill>
                  <a:srgbClr val="FF0000"/>
                </a:solidFill>
                <a:latin typeface="+mn-lt"/>
                <a:sym typeface="Symbol" charset="0"/>
              </a:rPr>
              <a:t>k-1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 è </a:t>
            </a:r>
            <a:r>
              <a:rPr lang="it-IT" dirty="0" err="1">
                <a:solidFill>
                  <a:srgbClr val="201FF0"/>
                </a:solidFill>
                <a:latin typeface="+mn-lt"/>
                <a:sym typeface="Symbol" charset="0"/>
              </a:rPr>
              <a:t>sottosequenza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 comune di </a:t>
            </a:r>
            <a:r>
              <a:rPr lang="it-IT" i="1" dirty="0">
                <a:solidFill>
                  <a:srgbClr val="FF0000"/>
                </a:solidFill>
                <a:latin typeface="+mn-lt"/>
                <a:sym typeface="Symbol" charset="0"/>
              </a:rPr>
              <a:t>X</a:t>
            </a:r>
            <a:r>
              <a:rPr lang="it-IT" i="1" baseline="-25000" dirty="0">
                <a:solidFill>
                  <a:srgbClr val="FF0000"/>
                </a:solidFill>
                <a:latin typeface="+mn-lt"/>
                <a:sym typeface="Symbol" charset="0"/>
              </a:rPr>
              <a:t>m-1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 e </a:t>
            </a:r>
            <a:r>
              <a:rPr lang="it-IT" i="1" dirty="0">
                <a:solidFill>
                  <a:srgbClr val="FF0000"/>
                </a:solidFill>
                <a:latin typeface="+mn-lt"/>
                <a:sym typeface="Symbol" charset="0"/>
              </a:rPr>
              <a:t>Y</a:t>
            </a:r>
            <a:r>
              <a:rPr lang="it-IT" i="1" baseline="-25000" dirty="0">
                <a:solidFill>
                  <a:srgbClr val="FF0000"/>
                </a:solidFill>
                <a:latin typeface="+mn-lt"/>
                <a:sym typeface="Symbol" charset="0"/>
              </a:rPr>
              <a:t>n-1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. </a:t>
            </a:r>
          </a:p>
          <a:p>
            <a:pPr>
              <a:lnSpc>
                <a:spcPct val="120000"/>
              </a:lnSpc>
              <a:buFontTx/>
              <a:buAutoNum type="arabicPeriod"/>
            </a:pP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se </a:t>
            </a:r>
            <a:r>
              <a:rPr lang="it-IT" i="1" dirty="0">
                <a:solidFill>
                  <a:srgbClr val="FF0000"/>
                </a:solidFill>
                <a:latin typeface="+mn-lt"/>
                <a:sym typeface="Symbol" charset="0"/>
              </a:rPr>
              <a:t>z</a:t>
            </a:r>
            <a:r>
              <a:rPr lang="it-IT" i="1" baseline="-25000" dirty="0">
                <a:solidFill>
                  <a:srgbClr val="FF0000"/>
                </a:solidFill>
                <a:latin typeface="+mn-lt"/>
                <a:sym typeface="Symbol" charset="0"/>
              </a:rPr>
              <a:t>k</a:t>
            </a:r>
            <a:r>
              <a:rPr lang="it-IT" baseline="-25000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 </a:t>
            </a:r>
            <a:r>
              <a:rPr lang="it-IT" i="1" dirty="0">
                <a:solidFill>
                  <a:srgbClr val="FF0000"/>
                </a:solidFill>
                <a:latin typeface="+mn-lt"/>
                <a:sym typeface="Symbol" charset="0"/>
              </a:rPr>
              <a:t>x</a:t>
            </a:r>
            <a:r>
              <a:rPr lang="it-IT" i="1" baseline="-25000" dirty="0">
                <a:solidFill>
                  <a:srgbClr val="FF0000"/>
                </a:solidFill>
                <a:latin typeface="+mn-lt"/>
                <a:sym typeface="Symbol" charset="0"/>
              </a:rPr>
              <a:t>m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allora </a:t>
            </a:r>
            <a:r>
              <a:rPr lang="it-IT" i="1" dirty="0">
                <a:solidFill>
                  <a:srgbClr val="FF0000"/>
                </a:solidFill>
                <a:latin typeface="+mn-lt"/>
                <a:sym typeface="Symbol" charset="0"/>
              </a:rPr>
              <a:t>Z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è sottosequenza di </a:t>
            </a:r>
            <a:r>
              <a:rPr lang="it-IT" i="1" dirty="0">
                <a:solidFill>
                  <a:srgbClr val="FF0000"/>
                </a:solidFill>
                <a:latin typeface="+mn-lt"/>
                <a:sym typeface="Symbol" charset="0"/>
              </a:rPr>
              <a:t>X</a:t>
            </a:r>
            <a:r>
              <a:rPr lang="it-IT" i="1" baseline="-25000" dirty="0">
                <a:solidFill>
                  <a:srgbClr val="FF0000"/>
                </a:solidFill>
                <a:latin typeface="+mn-lt"/>
                <a:sym typeface="Symbol" charset="0"/>
              </a:rPr>
              <a:t>m-1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e </a:t>
            </a:r>
            <a:r>
              <a:rPr lang="it-IT" i="1" dirty="0" smtClean="0">
                <a:solidFill>
                  <a:srgbClr val="FF0000"/>
                </a:solidFill>
                <a:latin typeface="+mn-lt"/>
                <a:sym typeface="Symbol" charset="0"/>
              </a:rPr>
              <a:t>Y</a:t>
            </a:r>
            <a:r>
              <a:rPr lang="it-IT" dirty="0" smtClean="0">
                <a:solidFill>
                  <a:srgbClr val="201FF0"/>
                </a:solidFill>
                <a:latin typeface="+mn-lt"/>
                <a:sym typeface="Symbol" charset="0"/>
              </a:rPr>
              <a:t>. Essendo </a:t>
            </a:r>
            <a:r>
              <a:rPr lang="it-IT" i="1" dirty="0">
                <a:solidFill>
                  <a:srgbClr val="FF0000"/>
                </a:solidFill>
                <a:latin typeface="+mn-lt"/>
                <a:sym typeface="Symbol" charset="0"/>
              </a:rPr>
              <a:t>Z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una LCS di </a:t>
            </a:r>
            <a:r>
              <a:rPr lang="it-IT" i="1" dirty="0">
                <a:solidFill>
                  <a:srgbClr val="FF0000"/>
                </a:solidFill>
                <a:latin typeface="+mn-lt"/>
                <a:sym typeface="Symbol" charset="0"/>
              </a:rPr>
              <a:t>X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e </a:t>
            </a:r>
            <a:r>
              <a:rPr lang="it-IT" i="1" dirty="0">
                <a:solidFill>
                  <a:srgbClr val="FF0000"/>
                </a:solidFill>
                <a:latin typeface="+mn-lt"/>
                <a:sym typeface="Symbol" charset="0"/>
              </a:rPr>
              <a:t>Y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essa è anche una LCS di </a:t>
            </a:r>
            <a:r>
              <a:rPr lang="it-IT" i="1" dirty="0">
                <a:solidFill>
                  <a:srgbClr val="FF0000"/>
                </a:solidFill>
                <a:latin typeface="+mn-lt"/>
                <a:sym typeface="Symbol" charset="0"/>
              </a:rPr>
              <a:t>X</a:t>
            </a:r>
            <a:r>
              <a:rPr lang="it-IT" i="1" baseline="-25000" dirty="0">
                <a:solidFill>
                  <a:srgbClr val="FF0000"/>
                </a:solidFill>
                <a:latin typeface="+mn-lt"/>
                <a:sym typeface="Symbol" charset="0"/>
              </a:rPr>
              <a:t>m-1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e </a:t>
            </a:r>
            <a:r>
              <a:rPr lang="it-IT" i="1" dirty="0">
                <a:solidFill>
                  <a:srgbClr val="FF0000"/>
                </a:solidFill>
                <a:latin typeface="+mn-lt"/>
                <a:sym typeface="Symbol" charset="0"/>
              </a:rPr>
              <a:t>Y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.</a:t>
            </a:r>
          </a:p>
          <a:p>
            <a:pPr>
              <a:lnSpc>
                <a:spcPct val="120000"/>
              </a:lnSpc>
              <a:buFontTx/>
              <a:buAutoNum type="arabicPeriod"/>
            </a:pP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il caso </a:t>
            </a:r>
            <a:r>
              <a:rPr lang="it-IT" i="1" dirty="0" err="1">
                <a:solidFill>
                  <a:srgbClr val="FF0000"/>
                </a:solidFill>
                <a:latin typeface="+mn-lt"/>
                <a:sym typeface="Symbol" charset="0"/>
              </a:rPr>
              <a:t>z</a:t>
            </a:r>
            <a:r>
              <a:rPr lang="it-IT" i="1" baseline="-25000" dirty="0" err="1">
                <a:solidFill>
                  <a:srgbClr val="FF0000"/>
                </a:solidFill>
                <a:latin typeface="+mn-lt"/>
                <a:sym typeface="Symbol" charset="0"/>
              </a:rPr>
              <a:t>k</a:t>
            </a:r>
            <a:r>
              <a:rPr lang="it-IT" baseline="-25000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 </a:t>
            </a:r>
            <a:r>
              <a:rPr lang="it-IT" i="1" dirty="0" err="1">
                <a:solidFill>
                  <a:srgbClr val="FF0000"/>
                </a:solidFill>
                <a:latin typeface="+mn-lt"/>
                <a:sym typeface="Symbol" charset="0"/>
              </a:rPr>
              <a:t>y</a:t>
            </a:r>
            <a:r>
              <a:rPr lang="it-IT" i="1" baseline="-25000" dirty="0" err="1">
                <a:solidFill>
                  <a:srgbClr val="FF0000"/>
                </a:solidFill>
                <a:latin typeface="+mn-lt"/>
                <a:sym typeface="Symbol" charset="0"/>
              </a:rPr>
              <a:t>n</a:t>
            </a:r>
            <a:r>
              <a:rPr lang="it-IT" dirty="0">
                <a:solidFill>
                  <a:srgbClr val="FF0000"/>
                </a:solidFill>
                <a:latin typeface="+mn-lt"/>
                <a:sym typeface="Symbol" charset="0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sym typeface="Symbol" charset="0"/>
              </a:rPr>
              <a:t>è simmetrico.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60648"/>
            <a:ext cx="7776864" cy="648072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Massima </a:t>
            </a:r>
            <a:r>
              <a:rPr lang="it-IT" dirty="0" err="1">
                <a:solidFill>
                  <a:srgbClr val="FF0000"/>
                </a:solidFill>
              </a:rPr>
              <a:t>sottosequenza</a:t>
            </a:r>
            <a:r>
              <a:rPr lang="it-IT" dirty="0">
                <a:solidFill>
                  <a:srgbClr val="FF0000"/>
                </a:solidFill>
              </a:rPr>
              <a:t> comune (LCS)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Text Box 2"/>
          <p:cNvSpPr txBox="1">
            <a:spLocks noChangeArrowheads="1"/>
          </p:cNvSpPr>
          <p:nvPr/>
        </p:nvSpPr>
        <p:spPr bwMode="auto">
          <a:xfrm>
            <a:off x="539552" y="1268760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Secondo passo</a:t>
            </a:r>
            <a:r>
              <a:rPr lang="it-IT" sz="2400" dirty="0">
                <a:sym typeface="Symbol" charset="0"/>
              </a:rPr>
              <a:t>: </a:t>
            </a:r>
            <a:r>
              <a:rPr lang="it-IT" sz="2400" i="1" dirty="0">
                <a:sym typeface="Symbol" charset="0"/>
              </a:rPr>
              <a:t>soluzione </a:t>
            </a:r>
            <a:r>
              <a:rPr lang="it-IT" sz="2400" i="1" dirty="0" smtClean="0">
                <a:sym typeface="Symbol" charset="0"/>
              </a:rPr>
              <a:t>ricorsiva</a:t>
            </a:r>
            <a:endParaRPr lang="it-IT" sz="2400" i="1" dirty="0">
              <a:sym typeface="Symbol" charset="0"/>
            </a:endParaRPr>
          </a:p>
        </p:txBody>
      </p:sp>
      <p:sp>
        <p:nvSpPr>
          <p:cNvPr id="723971" name="Text Box 3"/>
          <p:cNvSpPr txBox="1">
            <a:spLocks noChangeArrowheads="1"/>
          </p:cNvSpPr>
          <p:nvPr/>
        </p:nvSpPr>
        <p:spPr bwMode="auto">
          <a:xfrm>
            <a:off x="467544" y="2060848"/>
            <a:ext cx="83058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Siano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=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...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m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=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...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le due sequenze di cui vogliamo calcolare una LCS. Per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i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= 0,1,...,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m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j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= 0,1,...,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sia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c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i,j</a:t>
            </a:r>
            <a:r>
              <a:rPr lang="it-IT" sz="2400" i="1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la lunghezza di una LCS dei due prefissi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j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. Per la proprietà che abbiamo appena visto possiamo scrivere: </a:t>
            </a:r>
          </a:p>
        </p:txBody>
      </p:sp>
      <p:graphicFrame>
        <p:nvGraphicFramePr>
          <p:cNvPr id="723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229395"/>
              </p:ext>
            </p:extLst>
          </p:nvPr>
        </p:nvGraphicFramePr>
        <p:xfrm>
          <a:off x="1187624" y="4221088"/>
          <a:ext cx="645636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4" name="Equation" r:id="rId4" imgW="2667396" imgH="686197" progId="Equation.3">
                  <p:embed/>
                </p:oleObj>
              </mc:Choice>
              <mc:Fallback>
                <p:oleObj name="Equation" r:id="rId4" imgW="2667396" imgH="6861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4221088"/>
                        <a:ext cx="6456363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60648"/>
            <a:ext cx="7776864" cy="648072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Massima </a:t>
            </a:r>
            <a:r>
              <a:rPr lang="it-IT" dirty="0" err="1">
                <a:solidFill>
                  <a:srgbClr val="FF0000"/>
                </a:solidFill>
              </a:rPr>
              <a:t>sottosequenza</a:t>
            </a:r>
            <a:r>
              <a:rPr lang="it-IT" dirty="0">
                <a:solidFill>
                  <a:srgbClr val="FF0000"/>
                </a:solidFill>
              </a:rPr>
              <a:t> comune (LCS)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Text Box 2"/>
          <p:cNvSpPr txBox="1">
            <a:spLocks noChangeArrowheads="1"/>
          </p:cNvSpPr>
          <p:nvPr/>
        </p:nvSpPr>
        <p:spPr bwMode="auto">
          <a:xfrm>
            <a:off x="107504" y="1196752"/>
            <a:ext cx="28584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rgbClr val="FF0000"/>
                </a:solidFill>
                <a:sym typeface="Symbol" charset="0"/>
              </a:rPr>
              <a:t>Terzo passo</a:t>
            </a:r>
            <a:endParaRPr lang="it-IT" sz="2400" dirty="0">
              <a:sym typeface="Symbol" charset="0"/>
            </a:endParaRPr>
          </a:p>
          <a:p>
            <a:r>
              <a:rPr lang="it-IT" sz="2400" i="1" u="sng" dirty="0">
                <a:sym typeface="Symbol" charset="0"/>
              </a:rPr>
              <a:t>Esempio</a:t>
            </a:r>
          </a:p>
        </p:txBody>
      </p:sp>
      <p:sp>
        <p:nvSpPr>
          <p:cNvPr id="724995" name="Text Box 3"/>
          <p:cNvSpPr txBox="1">
            <a:spLocks noChangeArrowheads="1"/>
          </p:cNvSpPr>
          <p:nvPr/>
        </p:nvSpPr>
        <p:spPr bwMode="auto">
          <a:xfrm>
            <a:off x="179512" y="2348880"/>
            <a:ext cx="21336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sym typeface="Symbol" charset="0"/>
              </a:rPr>
              <a:t>X=ABCBDAB</a:t>
            </a:r>
          </a:p>
          <a:p>
            <a:r>
              <a:rPr lang="it-IT" sz="2400">
                <a:sym typeface="Symbol" charset="0"/>
              </a:rPr>
              <a:t>Y=BDCABA</a:t>
            </a:r>
          </a:p>
        </p:txBody>
      </p:sp>
      <p:grpSp>
        <p:nvGrpSpPr>
          <p:cNvPr id="724996" name="Group 4"/>
          <p:cNvGrpSpPr>
            <a:grpSpLocks noChangeAspect="1"/>
          </p:cNvGrpSpPr>
          <p:nvPr/>
        </p:nvGrpSpPr>
        <p:grpSpPr bwMode="auto">
          <a:xfrm>
            <a:off x="2929881" y="556234"/>
            <a:ext cx="6140900" cy="6338773"/>
            <a:chOff x="1824" y="0"/>
            <a:chExt cx="3840" cy="4304"/>
          </a:xfrm>
        </p:grpSpPr>
        <p:sp>
          <p:nvSpPr>
            <p:cNvPr id="724997" name="Text Box 5"/>
            <p:cNvSpPr txBox="1">
              <a:spLocks noChangeAspect="1" noChangeArrowheads="1"/>
            </p:cNvSpPr>
            <p:nvPr/>
          </p:nvSpPr>
          <p:spPr bwMode="auto">
            <a:xfrm>
              <a:off x="2064" y="4032"/>
              <a:ext cx="24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it-IT" sz="2000" i="1" dirty="0">
                  <a:latin typeface="Calibri"/>
                  <a:cs typeface="Calibri"/>
                  <a:sym typeface="Symbol" charset="0"/>
                </a:rPr>
                <a:t>i</a:t>
              </a:r>
              <a:endParaRPr lang="it-IT" sz="2000" baseline="-25000" dirty="0">
                <a:latin typeface="Calibri"/>
                <a:cs typeface="Calibri"/>
                <a:sym typeface="Symbol" charset="0"/>
              </a:endParaRPr>
            </a:p>
          </p:txBody>
        </p:sp>
        <p:sp>
          <p:nvSpPr>
            <p:cNvPr id="724998" name="Text Box 6"/>
            <p:cNvSpPr txBox="1">
              <a:spLocks noChangeArrowheads="1"/>
            </p:cNvSpPr>
            <p:nvPr/>
          </p:nvSpPr>
          <p:spPr bwMode="auto">
            <a:xfrm>
              <a:off x="2448" y="240"/>
              <a:ext cx="28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>
                  <a:latin typeface="Calibri"/>
                  <a:cs typeface="Calibri"/>
                  <a:sym typeface="Symbol" charset="0"/>
                </a:rPr>
                <a:t>0</a:t>
              </a:r>
            </a:p>
          </p:txBody>
        </p:sp>
        <p:sp>
          <p:nvSpPr>
            <p:cNvPr id="724999" name="Text Box 7"/>
            <p:cNvSpPr txBox="1">
              <a:spLocks noChangeArrowheads="1"/>
            </p:cNvSpPr>
            <p:nvPr/>
          </p:nvSpPr>
          <p:spPr bwMode="auto">
            <a:xfrm>
              <a:off x="4992" y="240"/>
              <a:ext cx="28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>
                  <a:latin typeface="Calibri"/>
                  <a:cs typeface="Calibri"/>
                  <a:sym typeface="Symbol" charset="0"/>
                </a:rPr>
                <a:t>6</a:t>
              </a:r>
            </a:p>
          </p:txBody>
        </p:sp>
        <p:sp>
          <p:nvSpPr>
            <p:cNvPr id="725000" name="Text Box 8"/>
            <p:cNvSpPr txBox="1">
              <a:spLocks noChangeArrowheads="1"/>
            </p:cNvSpPr>
            <p:nvPr/>
          </p:nvSpPr>
          <p:spPr bwMode="auto">
            <a:xfrm>
              <a:off x="4560" y="240"/>
              <a:ext cx="28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>
                  <a:latin typeface="Calibri"/>
                  <a:cs typeface="Calibri"/>
                  <a:sym typeface="Symbol" charset="0"/>
                </a:rPr>
                <a:t>5</a:t>
              </a:r>
            </a:p>
          </p:txBody>
        </p:sp>
        <p:sp>
          <p:nvSpPr>
            <p:cNvPr id="725001" name="Text Box 9"/>
            <p:cNvSpPr txBox="1">
              <a:spLocks noChangeArrowheads="1"/>
            </p:cNvSpPr>
            <p:nvPr/>
          </p:nvSpPr>
          <p:spPr bwMode="auto">
            <a:xfrm>
              <a:off x="4128" y="240"/>
              <a:ext cx="28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>
                  <a:latin typeface="Calibri"/>
                  <a:cs typeface="Calibri"/>
                  <a:sym typeface="Symbol" charset="0"/>
                </a:rPr>
                <a:t>4</a:t>
              </a:r>
            </a:p>
          </p:txBody>
        </p:sp>
        <p:sp>
          <p:nvSpPr>
            <p:cNvPr id="725002" name="Text Box 10"/>
            <p:cNvSpPr txBox="1">
              <a:spLocks noChangeArrowheads="1"/>
            </p:cNvSpPr>
            <p:nvPr/>
          </p:nvSpPr>
          <p:spPr bwMode="auto">
            <a:xfrm>
              <a:off x="3744" y="240"/>
              <a:ext cx="28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>
                  <a:latin typeface="Calibri"/>
                  <a:cs typeface="Calibri"/>
                  <a:sym typeface="Symbol" charset="0"/>
                </a:rPr>
                <a:t>3</a:t>
              </a:r>
            </a:p>
          </p:txBody>
        </p:sp>
        <p:sp>
          <p:nvSpPr>
            <p:cNvPr id="725003" name="Text Box 11"/>
            <p:cNvSpPr txBox="1">
              <a:spLocks noChangeArrowheads="1"/>
            </p:cNvSpPr>
            <p:nvPr/>
          </p:nvSpPr>
          <p:spPr bwMode="auto">
            <a:xfrm>
              <a:off x="3312" y="240"/>
              <a:ext cx="28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>
                  <a:latin typeface="Calibri"/>
                  <a:cs typeface="Calibri"/>
                  <a:sym typeface="Symbol" charset="0"/>
                </a:rPr>
                <a:t>2</a:t>
              </a:r>
            </a:p>
          </p:txBody>
        </p:sp>
        <p:sp>
          <p:nvSpPr>
            <p:cNvPr id="725004" name="Text Box 12"/>
            <p:cNvSpPr txBox="1">
              <a:spLocks noChangeArrowheads="1"/>
            </p:cNvSpPr>
            <p:nvPr/>
          </p:nvSpPr>
          <p:spPr bwMode="auto">
            <a:xfrm>
              <a:off x="2064" y="624"/>
              <a:ext cx="288" cy="3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ts val="2500"/>
                </a:spcBef>
              </a:pPr>
              <a:r>
                <a:rPr lang="it-IT" sz="2000" dirty="0">
                  <a:latin typeface="Calibri"/>
                  <a:cs typeface="Calibri"/>
                  <a:sym typeface="Symbol" charset="0"/>
                </a:rPr>
                <a:t>0</a:t>
              </a:r>
            </a:p>
            <a:p>
              <a:pPr>
                <a:spcBef>
                  <a:spcPts val="2500"/>
                </a:spcBef>
              </a:pPr>
              <a:r>
                <a:rPr lang="it-IT" sz="2000" dirty="0">
                  <a:latin typeface="Calibri"/>
                  <a:cs typeface="Calibri"/>
                  <a:sym typeface="Symbol" charset="0"/>
                </a:rPr>
                <a:t>1</a:t>
              </a:r>
            </a:p>
            <a:p>
              <a:pPr>
                <a:spcBef>
                  <a:spcPts val="2500"/>
                </a:spcBef>
              </a:pPr>
              <a:r>
                <a:rPr lang="it-IT" sz="2000" dirty="0">
                  <a:latin typeface="Calibri"/>
                  <a:cs typeface="Calibri"/>
                  <a:sym typeface="Symbol" charset="0"/>
                </a:rPr>
                <a:t>2</a:t>
              </a:r>
            </a:p>
            <a:p>
              <a:pPr>
                <a:spcBef>
                  <a:spcPts val="2500"/>
                </a:spcBef>
              </a:pPr>
              <a:r>
                <a:rPr lang="it-IT" sz="2000" dirty="0">
                  <a:latin typeface="Calibri"/>
                  <a:cs typeface="Calibri"/>
                  <a:sym typeface="Symbol" charset="0"/>
                </a:rPr>
                <a:t>3</a:t>
              </a:r>
            </a:p>
            <a:p>
              <a:pPr>
                <a:spcBef>
                  <a:spcPts val="2500"/>
                </a:spcBef>
              </a:pPr>
              <a:r>
                <a:rPr lang="it-IT" sz="2000" dirty="0">
                  <a:latin typeface="Calibri"/>
                  <a:cs typeface="Calibri"/>
                  <a:sym typeface="Symbol" charset="0"/>
                </a:rPr>
                <a:t>4</a:t>
              </a:r>
            </a:p>
            <a:p>
              <a:pPr>
                <a:spcBef>
                  <a:spcPts val="2500"/>
                </a:spcBef>
              </a:pPr>
              <a:r>
                <a:rPr lang="it-IT" sz="2000" dirty="0">
                  <a:latin typeface="Calibri"/>
                  <a:cs typeface="Calibri"/>
                  <a:sym typeface="Symbol" charset="0"/>
                </a:rPr>
                <a:t>5</a:t>
              </a:r>
            </a:p>
            <a:p>
              <a:pPr>
                <a:spcBef>
                  <a:spcPts val="2500"/>
                </a:spcBef>
              </a:pPr>
              <a:r>
                <a:rPr lang="it-IT" sz="2000" dirty="0">
                  <a:latin typeface="Calibri"/>
                  <a:cs typeface="Calibri"/>
                  <a:sym typeface="Symbol" charset="0"/>
                </a:rPr>
                <a:t>6</a:t>
              </a:r>
            </a:p>
            <a:p>
              <a:pPr>
                <a:spcBef>
                  <a:spcPts val="2500"/>
                </a:spcBef>
              </a:pPr>
              <a:r>
                <a:rPr lang="it-IT" sz="2000" dirty="0">
                  <a:latin typeface="Calibri"/>
                  <a:cs typeface="Calibri"/>
                  <a:sym typeface="Symbol" charset="0"/>
                </a:rPr>
                <a:t>7</a:t>
              </a:r>
            </a:p>
          </p:txBody>
        </p:sp>
        <p:sp>
          <p:nvSpPr>
            <p:cNvPr id="725005" name="Rectangle 13"/>
            <p:cNvSpPr>
              <a:spLocks noChangeArrowheads="1"/>
            </p:cNvSpPr>
            <p:nvPr/>
          </p:nvSpPr>
          <p:spPr bwMode="auto">
            <a:xfrm>
              <a:off x="2304" y="528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>
                  <a:latin typeface="Calibri"/>
                  <a:cs typeface="Calibri"/>
                </a:rPr>
                <a:t>0</a:t>
              </a:r>
            </a:p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25006" name="Rectangle 14"/>
            <p:cNvSpPr>
              <a:spLocks noChangeArrowheads="1"/>
            </p:cNvSpPr>
            <p:nvPr/>
          </p:nvSpPr>
          <p:spPr bwMode="auto">
            <a:xfrm>
              <a:off x="2736" y="960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07" name="Line 15"/>
            <p:cNvSpPr>
              <a:spLocks noChangeShapeType="1"/>
            </p:cNvSpPr>
            <p:nvPr/>
          </p:nvSpPr>
          <p:spPr bwMode="auto">
            <a:xfrm>
              <a:off x="2304" y="528"/>
              <a:ext cx="0" cy="3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08" name="Line 16"/>
            <p:cNvSpPr>
              <a:spLocks noChangeShapeType="1"/>
            </p:cNvSpPr>
            <p:nvPr/>
          </p:nvSpPr>
          <p:spPr bwMode="auto">
            <a:xfrm>
              <a:off x="2304" y="528"/>
              <a:ext cx="3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09" name="Text Box 17"/>
            <p:cNvSpPr txBox="1">
              <a:spLocks noChangeArrowheads="1"/>
            </p:cNvSpPr>
            <p:nvPr/>
          </p:nvSpPr>
          <p:spPr bwMode="auto">
            <a:xfrm>
              <a:off x="5376" y="240"/>
              <a:ext cx="28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 i="1">
                  <a:latin typeface="Calibri"/>
                  <a:cs typeface="Calibri"/>
                  <a:sym typeface="Symbol" charset="0"/>
                </a:rPr>
                <a:t>j</a:t>
              </a:r>
              <a:endParaRPr lang="it-IT" sz="2000" baseline="-25000">
                <a:latin typeface="Calibri"/>
                <a:cs typeface="Calibri"/>
                <a:sym typeface="Symbol" charset="0"/>
              </a:endParaRPr>
            </a:p>
          </p:txBody>
        </p:sp>
        <p:sp>
          <p:nvSpPr>
            <p:cNvPr id="725010" name="Text Box 18"/>
            <p:cNvSpPr txBox="1">
              <a:spLocks noChangeArrowheads="1"/>
            </p:cNvSpPr>
            <p:nvPr/>
          </p:nvSpPr>
          <p:spPr bwMode="auto">
            <a:xfrm>
              <a:off x="3744" y="0"/>
              <a:ext cx="240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>
                  <a:latin typeface="Calibri"/>
                  <a:cs typeface="Calibri"/>
                  <a:sym typeface="Symbol" charset="0"/>
                </a:rPr>
                <a:t>C</a:t>
              </a:r>
            </a:p>
          </p:txBody>
        </p:sp>
        <p:sp>
          <p:nvSpPr>
            <p:cNvPr id="725011" name="Text Box 19"/>
            <p:cNvSpPr txBox="1">
              <a:spLocks noChangeArrowheads="1"/>
            </p:cNvSpPr>
            <p:nvPr/>
          </p:nvSpPr>
          <p:spPr bwMode="auto">
            <a:xfrm>
              <a:off x="3312" y="0"/>
              <a:ext cx="240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>
                  <a:latin typeface="Calibri"/>
                  <a:cs typeface="Calibri"/>
                  <a:sym typeface="Symbol" charset="0"/>
                </a:rPr>
                <a:t>D</a:t>
              </a:r>
            </a:p>
          </p:txBody>
        </p:sp>
        <p:sp>
          <p:nvSpPr>
            <p:cNvPr id="725012" name="Text Box 20"/>
            <p:cNvSpPr txBox="1">
              <a:spLocks noChangeArrowheads="1"/>
            </p:cNvSpPr>
            <p:nvPr/>
          </p:nvSpPr>
          <p:spPr bwMode="auto">
            <a:xfrm>
              <a:off x="2832" y="0"/>
              <a:ext cx="240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>
                  <a:latin typeface="Calibri"/>
                  <a:cs typeface="Calibri"/>
                  <a:sym typeface="Symbol" charset="0"/>
                </a:rPr>
                <a:t>B</a:t>
              </a:r>
            </a:p>
          </p:txBody>
        </p:sp>
        <p:sp>
          <p:nvSpPr>
            <p:cNvPr id="725013" name="Text Box 21"/>
            <p:cNvSpPr txBox="1">
              <a:spLocks noChangeArrowheads="1"/>
            </p:cNvSpPr>
            <p:nvPr/>
          </p:nvSpPr>
          <p:spPr bwMode="auto">
            <a:xfrm>
              <a:off x="2256" y="528"/>
              <a:ext cx="336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c</a:t>
              </a:r>
            </a:p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s</a:t>
              </a:r>
              <a:endParaRPr lang="it-IT" sz="1800">
                <a:latin typeface="Calibri"/>
                <a:cs typeface="Calibri"/>
                <a:sym typeface="Symbol" charset="0"/>
              </a:endParaRPr>
            </a:p>
          </p:txBody>
        </p:sp>
        <p:sp>
          <p:nvSpPr>
            <p:cNvPr id="725014" name="Text Box 22"/>
            <p:cNvSpPr txBox="1">
              <a:spLocks noChangeArrowheads="1"/>
            </p:cNvSpPr>
            <p:nvPr/>
          </p:nvSpPr>
          <p:spPr bwMode="auto">
            <a:xfrm>
              <a:off x="2832" y="240"/>
              <a:ext cx="28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>
                  <a:latin typeface="Calibri"/>
                  <a:cs typeface="Calibri"/>
                  <a:sym typeface="Symbol" charset="0"/>
                </a:rPr>
                <a:t>1</a:t>
              </a:r>
            </a:p>
          </p:txBody>
        </p:sp>
        <p:sp>
          <p:nvSpPr>
            <p:cNvPr id="725015" name="Rectangle 23"/>
            <p:cNvSpPr>
              <a:spLocks noChangeArrowheads="1"/>
            </p:cNvSpPr>
            <p:nvPr/>
          </p:nvSpPr>
          <p:spPr bwMode="auto">
            <a:xfrm>
              <a:off x="4464" y="960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16" name="Rectangle 24"/>
            <p:cNvSpPr>
              <a:spLocks noChangeArrowheads="1"/>
            </p:cNvSpPr>
            <p:nvPr/>
          </p:nvSpPr>
          <p:spPr bwMode="auto">
            <a:xfrm>
              <a:off x="4032" y="960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17" name="Rectangle 25"/>
            <p:cNvSpPr>
              <a:spLocks noChangeArrowheads="1"/>
            </p:cNvSpPr>
            <p:nvPr/>
          </p:nvSpPr>
          <p:spPr bwMode="auto">
            <a:xfrm>
              <a:off x="3600" y="960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18" name="Rectangle 26"/>
            <p:cNvSpPr>
              <a:spLocks noChangeArrowheads="1"/>
            </p:cNvSpPr>
            <p:nvPr/>
          </p:nvSpPr>
          <p:spPr bwMode="auto">
            <a:xfrm>
              <a:off x="3168" y="960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19" name="Rectangle 27"/>
            <p:cNvSpPr>
              <a:spLocks noChangeArrowheads="1"/>
            </p:cNvSpPr>
            <p:nvPr/>
          </p:nvSpPr>
          <p:spPr bwMode="auto">
            <a:xfrm>
              <a:off x="4896" y="960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20" name="Text Box 28"/>
            <p:cNvSpPr txBox="1">
              <a:spLocks noChangeArrowheads="1"/>
            </p:cNvSpPr>
            <p:nvPr/>
          </p:nvSpPr>
          <p:spPr bwMode="auto">
            <a:xfrm>
              <a:off x="4560" y="0"/>
              <a:ext cx="240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>
                  <a:latin typeface="Calibri"/>
                  <a:cs typeface="Calibri"/>
                  <a:sym typeface="Symbol" charset="0"/>
                </a:rPr>
                <a:t>B</a:t>
              </a:r>
            </a:p>
          </p:txBody>
        </p:sp>
        <p:sp>
          <p:nvSpPr>
            <p:cNvPr id="725021" name="Text Box 29"/>
            <p:cNvSpPr txBox="1">
              <a:spLocks noChangeArrowheads="1"/>
            </p:cNvSpPr>
            <p:nvPr/>
          </p:nvSpPr>
          <p:spPr bwMode="auto">
            <a:xfrm>
              <a:off x="4128" y="0"/>
              <a:ext cx="240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>
                  <a:latin typeface="Calibri"/>
                  <a:cs typeface="Calibri"/>
                  <a:sym typeface="Symbol" charset="0"/>
                </a:rPr>
                <a:t>A</a:t>
              </a:r>
            </a:p>
          </p:txBody>
        </p:sp>
        <p:sp>
          <p:nvSpPr>
            <p:cNvPr id="725022" name="Text Box 30"/>
            <p:cNvSpPr txBox="1">
              <a:spLocks noChangeArrowheads="1"/>
            </p:cNvSpPr>
            <p:nvPr/>
          </p:nvSpPr>
          <p:spPr bwMode="auto">
            <a:xfrm>
              <a:off x="4992" y="0"/>
              <a:ext cx="240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>
                  <a:latin typeface="Calibri"/>
                  <a:cs typeface="Calibri"/>
                  <a:sym typeface="Symbol" charset="0"/>
                </a:rPr>
                <a:t>A</a:t>
              </a:r>
            </a:p>
          </p:txBody>
        </p:sp>
        <p:sp>
          <p:nvSpPr>
            <p:cNvPr id="725023" name="Rectangle 31"/>
            <p:cNvSpPr>
              <a:spLocks noChangeArrowheads="1"/>
            </p:cNvSpPr>
            <p:nvPr/>
          </p:nvSpPr>
          <p:spPr bwMode="auto">
            <a:xfrm>
              <a:off x="2304" y="960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>
                  <a:latin typeface="Calibri"/>
                  <a:cs typeface="Calibri"/>
                </a:rPr>
                <a:t>0</a:t>
              </a:r>
            </a:p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25024" name="Rectangle 32"/>
            <p:cNvSpPr>
              <a:spLocks noChangeArrowheads="1"/>
            </p:cNvSpPr>
            <p:nvPr/>
          </p:nvSpPr>
          <p:spPr bwMode="auto">
            <a:xfrm>
              <a:off x="2736" y="528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>
                  <a:latin typeface="Calibri"/>
                  <a:cs typeface="Calibri"/>
                </a:rPr>
                <a:t>0</a:t>
              </a:r>
            </a:p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25025" name="Rectangle 33"/>
            <p:cNvSpPr>
              <a:spLocks noChangeArrowheads="1"/>
            </p:cNvSpPr>
            <p:nvPr/>
          </p:nvSpPr>
          <p:spPr bwMode="auto">
            <a:xfrm>
              <a:off x="3168" y="528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>
                  <a:latin typeface="Calibri"/>
                  <a:cs typeface="Calibri"/>
                </a:rPr>
                <a:t>0</a:t>
              </a:r>
            </a:p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25026" name="Rectangle 34"/>
            <p:cNvSpPr>
              <a:spLocks noChangeArrowheads="1"/>
            </p:cNvSpPr>
            <p:nvPr/>
          </p:nvSpPr>
          <p:spPr bwMode="auto">
            <a:xfrm>
              <a:off x="3600" y="528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>
                  <a:latin typeface="Calibri"/>
                  <a:cs typeface="Calibri"/>
                </a:rPr>
                <a:t>0</a:t>
              </a:r>
            </a:p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25027" name="Rectangle 35"/>
            <p:cNvSpPr>
              <a:spLocks noChangeArrowheads="1"/>
            </p:cNvSpPr>
            <p:nvPr/>
          </p:nvSpPr>
          <p:spPr bwMode="auto">
            <a:xfrm>
              <a:off x="4032" y="528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>
                  <a:latin typeface="Calibri"/>
                  <a:cs typeface="Calibri"/>
                </a:rPr>
                <a:t>0</a:t>
              </a:r>
            </a:p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25028" name="Rectangle 36"/>
            <p:cNvSpPr>
              <a:spLocks noChangeArrowheads="1"/>
            </p:cNvSpPr>
            <p:nvPr/>
          </p:nvSpPr>
          <p:spPr bwMode="auto">
            <a:xfrm>
              <a:off x="4464" y="528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>
                  <a:latin typeface="Calibri"/>
                  <a:cs typeface="Calibri"/>
                </a:rPr>
                <a:t>0</a:t>
              </a:r>
            </a:p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25029" name="Rectangle 37"/>
            <p:cNvSpPr>
              <a:spLocks noChangeArrowheads="1"/>
            </p:cNvSpPr>
            <p:nvPr/>
          </p:nvSpPr>
          <p:spPr bwMode="auto">
            <a:xfrm>
              <a:off x="4896" y="528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>
                  <a:latin typeface="Calibri"/>
                  <a:cs typeface="Calibri"/>
                </a:rPr>
                <a:t>0</a:t>
              </a:r>
            </a:p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25030" name="Rectangle 38"/>
            <p:cNvSpPr>
              <a:spLocks noChangeArrowheads="1"/>
            </p:cNvSpPr>
            <p:nvPr/>
          </p:nvSpPr>
          <p:spPr bwMode="auto">
            <a:xfrm>
              <a:off x="2304" y="3552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>
                  <a:latin typeface="Calibri"/>
                  <a:cs typeface="Calibri"/>
                </a:rPr>
                <a:t>0</a:t>
              </a:r>
            </a:p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25031" name="Rectangle 39"/>
            <p:cNvSpPr>
              <a:spLocks noChangeArrowheads="1"/>
            </p:cNvSpPr>
            <p:nvPr/>
          </p:nvSpPr>
          <p:spPr bwMode="auto">
            <a:xfrm>
              <a:off x="2304" y="3120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>
                  <a:latin typeface="Calibri"/>
                  <a:cs typeface="Calibri"/>
                </a:rPr>
                <a:t>0</a:t>
              </a:r>
            </a:p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25032" name="Rectangle 40"/>
            <p:cNvSpPr>
              <a:spLocks noChangeArrowheads="1"/>
            </p:cNvSpPr>
            <p:nvPr/>
          </p:nvSpPr>
          <p:spPr bwMode="auto">
            <a:xfrm>
              <a:off x="2304" y="2688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>
                  <a:latin typeface="Calibri"/>
                  <a:cs typeface="Calibri"/>
                </a:rPr>
                <a:t>0</a:t>
              </a:r>
            </a:p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25033" name="Rectangle 41"/>
            <p:cNvSpPr>
              <a:spLocks noChangeArrowheads="1"/>
            </p:cNvSpPr>
            <p:nvPr/>
          </p:nvSpPr>
          <p:spPr bwMode="auto">
            <a:xfrm>
              <a:off x="2304" y="2256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>
                  <a:latin typeface="Calibri"/>
                  <a:cs typeface="Calibri"/>
                </a:rPr>
                <a:t>0</a:t>
              </a:r>
            </a:p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25034" name="Rectangle 42"/>
            <p:cNvSpPr>
              <a:spLocks noChangeArrowheads="1"/>
            </p:cNvSpPr>
            <p:nvPr/>
          </p:nvSpPr>
          <p:spPr bwMode="auto">
            <a:xfrm>
              <a:off x="2304" y="1824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>
                  <a:latin typeface="Calibri"/>
                  <a:cs typeface="Calibri"/>
                </a:rPr>
                <a:t>0</a:t>
              </a:r>
            </a:p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25035" name="Rectangle 43"/>
            <p:cNvSpPr>
              <a:spLocks noChangeArrowheads="1"/>
            </p:cNvSpPr>
            <p:nvPr/>
          </p:nvSpPr>
          <p:spPr bwMode="auto">
            <a:xfrm>
              <a:off x="2304" y="1392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>
                  <a:latin typeface="Calibri"/>
                  <a:cs typeface="Calibri"/>
                </a:rPr>
                <a:t>0</a:t>
              </a:r>
            </a:p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25036" name="Text Box 44"/>
            <p:cNvSpPr txBox="1">
              <a:spLocks noChangeArrowheads="1"/>
            </p:cNvSpPr>
            <p:nvPr/>
          </p:nvSpPr>
          <p:spPr bwMode="auto">
            <a:xfrm>
              <a:off x="1824" y="1056"/>
              <a:ext cx="288" cy="2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ts val="2500"/>
                </a:spcBef>
              </a:pPr>
              <a:r>
                <a:rPr lang="it-IT" sz="2000" dirty="0">
                  <a:latin typeface="Calibri"/>
                  <a:cs typeface="Calibri"/>
                  <a:sym typeface="Symbol" charset="0"/>
                </a:rPr>
                <a:t>A</a:t>
              </a:r>
            </a:p>
            <a:p>
              <a:pPr>
                <a:spcBef>
                  <a:spcPts val="2500"/>
                </a:spcBef>
              </a:pPr>
              <a:r>
                <a:rPr lang="it-IT" sz="2000" dirty="0">
                  <a:latin typeface="Calibri"/>
                  <a:cs typeface="Calibri"/>
                  <a:sym typeface="Symbol" charset="0"/>
                </a:rPr>
                <a:t>B</a:t>
              </a:r>
            </a:p>
            <a:p>
              <a:pPr>
                <a:spcBef>
                  <a:spcPts val="2500"/>
                </a:spcBef>
              </a:pPr>
              <a:r>
                <a:rPr lang="it-IT" sz="2000" dirty="0">
                  <a:latin typeface="Calibri"/>
                  <a:cs typeface="Calibri"/>
                  <a:sym typeface="Symbol" charset="0"/>
                </a:rPr>
                <a:t>C</a:t>
              </a:r>
            </a:p>
            <a:p>
              <a:pPr>
                <a:spcBef>
                  <a:spcPts val="2500"/>
                </a:spcBef>
              </a:pPr>
              <a:r>
                <a:rPr lang="it-IT" sz="2000" dirty="0">
                  <a:latin typeface="Calibri"/>
                  <a:cs typeface="Calibri"/>
                  <a:sym typeface="Symbol" charset="0"/>
                </a:rPr>
                <a:t>B</a:t>
              </a:r>
            </a:p>
            <a:p>
              <a:pPr>
                <a:spcBef>
                  <a:spcPts val="2500"/>
                </a:spcBef>
              </a:pPr>
              <a:r>
                <a:rPr lang="it-IT" sz="2000" dirty="0">
                  <a:latin typeface="Calibri"/>
                  <a:cs typeface="Calibri"/>
                  <a:sym typeface="Symbol" charset="0"/>
                </a:rPr>
                <a:t>D</a:t>
              </a:r>
            </a:p>
            <a:p>
              <a:pPr>
                <a:spcBef>
                  <a:spcPts val="2500"/>
                </a:spcBef>
              </a:pPr>
              <a:r>
                <a:rPr lang="it-IT" sz="2000" dirty="0">
                  <a:latin typeface="Calibri"/>
                  <a:cs typeface="Calibri"/>
                  <a:sym typeface="Symbol" charset="0"/>
                </a:rPr>
                <a:t>A</a:t>
              </a:r>
            </a:p>
            <a:p>
              <a:pPr>
                <a:spcBef>
                  <a:spcPts val="2500"/>
                </a:spcBef>
              </a:pPr>
              <a:r>
                <a:rPr lang="it-IT" sz="2000" dirty="0">
                  <a:latin typeface="Calibri"/>
                  <a:cs typeface="Calibri"/>
                  <a:sym typeface="Symbol" charset="0"/>
                </a:rPr>
                <a:t>B</a:t>
              </a:r>
            </a:p>
          </p:txBody>
        </p:sp>
        <p:sp>
          <p:nvSpPr>
            <p:cNvPr id="725037" name="Rectangle 45"/>
            <p:cNvSpPr>
              <a:spLocks noChangeArrowheads="1"/>
            </p:cNvSpPr>
            <p:nvPr/>
          </p:nvSpPr>
          <p:spPr bwMode="auto">
            <a:xfrm>
              <a:off x="2736" y="1392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38" name="Rectangle 46"/>
            <p:cNvSpPr>
              <a:spLocks noChangeArrowheads="1"/>
            </p:cNvSpPr>
            <p:nvPr/>
          </p:nvSpPr>
          <p:spPr bwMode="auto">
            <a:xfrm>
              <a:off x="4464" y="1392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39" name="Rectangle 47"/>
            <p:cNvSpPr>
              <a:spLocks noChangeArrowheads="1"/>
            </p:cNvSpPr>
            <p:nvPr/>
          </p:nvSpPr>
          <p:spPr bwMode="auto">
            <a:xfrm>
              <a:off x="4032" y="1392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40" name="Rectangle 48"/>
            <p:cNvSpPr>
              <a:spLocks noChangeArrowheads="1"/>
            </p:cNvSpPr>
            <p:nvPr/>
          </p:nvSpPr>
          <p:spPr bwMode="auto">
            <a:xfrm>
              <a:off x="3600" y="1392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41" name="Rectangle 49"/>
            <p:cNvSpPr>
              <a:spLocks noChangeArrowheads="1"/>
            </p:cNvSpPr>
            <p:nvPr/>
          </p:nvSpPr>
          <p:spPr bwMode="auto">
            <a:xfrm>
              <a:off x="3168" y="1392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42" name="Rectangle 50"/>
            <p:cNvSpPr>
              <a:spLocks noChangeArrowheads="1"/>
            </p:cNvSpPr>
            <p:nvPr/>
          </p:nvSpPr>
          <p:spPr bwMode="auto">
            <a:xfrm>
              <a:off x="4896" y="1392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43" name="Rectangle 51"/>
            <p:cNvSpPr>
              <a:spLocks noChangeArrowheads="1"/>
            </p:cNvSpPr>
            <p:nvPr/>
          </p:nvSpPr>
          <p:spPr bwMode="auto">
            <a:xfrm>
              <a:off x="2736" y="1824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44" name="Rectangle 52"/>
            <p:cNvSpPr>
              <a:spLocks noChangeArrowheads="1"/>
            </p:cNvSpPr>
            <p:nvPr/>
          </p:nvSpPr>
          <p:spPr bwMode="auto">
            <a:xfrm>
              <a:off x="4464" y="1824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45" name="Rectangle 53"/>
            <p:cNvSpPr>
              <a:spLocks noChangeArrowheads="1"/>
            </p:cNvSpPr>
            <p:nvPr/>
          </p:nvSpPr>
          <p:spPr bwMode="auto">
            <a:xfrm>
              <a:off x="4032" y="1824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46" name="Rectangle 54"/>
            <p:cNvSpPr>
              <a:spLocks noChangeArrowheads="1"/>
            </p:cNvSpPr>
            <p:nvPr/>
          </p:nvSpPr>
          <p:spPr bwMode="auto">
            <a:xfrm>
              <a:off x="3600" y="1824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47" name="Rectangle 55"/>
            <p:cNvSpPr>
              <a:spLocks noChangeArrowheads="1"/>
            </p:cNvSpPr>
            <p:nvPr/>
          </p:nvSpPr>
          <p:spPr bwMode="auto">
            <a:xfrm>
              <a:off x="3168" y="1824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48" name="Rectangle 56"/>
            <p:cNvSpPr>
              <a:spLocks noChangeArrowheads="1"/>
            </p:cNvSpPr>
            <p:nvPr/>
          </p:nvSpPr>
          <p:spPr bwMode="auto">
            <a:xfrm>
              <a:off x="4896" y="1824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49" name="Rectangle 57"/>
            <p:cNvSpPr>
              <a:spLocks noChangeArrowheads="1"/>
            </p:cNvSpPr>
            <p:nvPr/>
          </p:nvSpPr>
          <p:spPr bwMode="auto">
            <a:xfrm>
              <a:off x="2736" y="2256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50" name="Rectangle 58"/>
            <p:cNvSpPr>
              <a:spLocks noChangeArrowheads="1"/>
            </p:cNvSpPr>
            <p:nvPr/>
          </p:nvSpPr>
          <p:spPr bwMode="auto">
            <a:xfrm>
              <a:off x="4464" y="2256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51" name="Rectangle 59"/>
            <p:cNvSpPr>
              <a:spLocks noChangeArrowheads="1"/>
            </p:cNvSpPr>
            <p:nvPr/>
          </p:nvSpPr>
          <p:spPr bwMode="auto">
            <a:xfrm>
              <a:off x="4032" y="2256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52" name="Rectangle 60"/>
            <p:cNvSpPr>
              <a:spLocks noChangeArrowheads="1"/>
            </p:cNvSpPr>
            <p:nvPr/>
          </p:nvSpPr>
          <p:spPr bwMode="auto">
            <a:xfrm>
              <a:off x="3600" y="2256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53" name="Rectangle 61"/>
            <p:cNvSpPr>
              <a:spLocks noChangeArrowheads="1"/>
            </p:cNvSpPr>
            <p:nvPr/>
          </p:nvSpPr>
          <p:spPr bwMode="auto">
            <a:xfrm>
              <a:off x="3168" y="2256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54" name="Rectangle 62"/>
            <p:cNvSpPr>
              <a:spLocks noChangeArrowheads="1"/>
            </p:cNvSpPr>
            <p:nvPr/>
          </p:nvSpPr>
          <p:spPr bwMode="auto">
            <a:xfrm>
              <a:off x="4896" y="2256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55" name="Rectangle 63"/>
            <p:cNvSpPr>
              <a:spLocks noChangeArrowheads="1"/>
            </p:cNvSpPr>
            <p:nvPr/>
          </p:nvSpPr>
          <p:spPr bwMode="auto">
            <a:xfrm>
              <a:off x="2736" y="2688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56" name="Rectangle 64"/>
            <p:cNvSpPr>
              <a:spLocks noChangeArrowheads="1"/>
            </p:cNvSpPr>
            <p:nvPr/>
          </p:nvSpPr>
          <p:spPr bwMode="auto">
            <a:xfrm>
              <a:off x="4464" y="2688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57" name="Rectangle 65"/>
            <p:cNvSpPr>
              <a:spLocks noChangeArrowheads="1"/>
            </p:cNvSpPr>
            <p:nvPr/>
          </p:nvSpPr>
          <p:spPr bwMode="auto">
            <a:xfrm>
              <a:off x="4032" y="2688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58" name="Rectangle 66"/>
            <p:cNvSpPr>
              <a:spLocks noChangeArrowheads="1"/>
            </p:cNvSpPr>
            <p:nvPr/>
          </p:nvSpPr>
          <p:spPr bwMode="auto">
            <a:xfrm>
              <a:off x="3600" y="2688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59" name="Rectangle 67"/>
            <p:cNvSpPr>
              <a:spLocks noChangeArrowheads="1"/>
            </p:cNvSpPr>
            <p:nvPr/>
          </p:nvSpPr>
          <p:spPr bwMode="auto">
            <a:xfrm>
              <a:off x="3168" y="2688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60" name="Rectangle 68"/>
            <p:cNvSpPr>
              <a:spLocks noChangeArrowheads="1"/>
            </p:cNvSpPr>
            <p:nvPr/>
          </p:nvSpPr>
          <p:spPr bwMode="auto">
            <a:xfrm>
              <a:off x="4896" y="2688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61" name="Rectangle 69"/>
            <p:cNvSpPr>
              <a:spLocks noChangeArrowheads="1"/>
            </p:cNvSpPr>
            <p:nvPr/>
          </p:nvSpPr>
          <p:spPr bwMode="auto">
            <a:xfrm>
              <a:off x="2736" y="3120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62" name="Rectangle 70"/>
            <p:cNvSpPr>
              <a:spLocks noChangeArrowheads="1"/>
            </p:cNvSpPr>
            <p:nvPr/>
          </p:nvSpPr>
          <p:spPr bwMode="auto">
            <a:xfrm>
              <a:off x="4464" y="3120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63" name="Rectangle 71"/>
            <p:cNvSpPr>
              <a:spLocks noChangeArrowheads="1"/>
            </p:cNvSpPr>
            <p:nvPr/>
          </p:nvSpPr>
          <p:spPr bwMode="auto">
            <a:xfrm>
              <a:off x="4032" y="3120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64" name="Rectangle 72"/>
            <p:cNvSpPr>
              <a:spLocks noChangeArrowheads="1"/>
            </p:cNvSpPr>
            <p:nvPr/>
          </p:nvSpPr>
          <p:spPr bwMode="auto">
            <a:xfrm>
              <a:off x="3600" y="3120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65" name="Rectangle 73"/>
            <p:cNvSpPr>
              <a:spLocks noChangeArrowheads="1"/>
            </p:cNvSpPr>
            <p:nvPr/>
          </p:nvSpPr>
          <p:spPr bwMode="auto">
            <a:xfrm>
              <a:off x="3168" y="3120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66" name="Rectangle 74"/>
            <p:cNvSpPr>
              <a:spLocks noChangeArrowheads="1"/>
            </p:cNvSpPr>
            <p:nvPr/>
          </p:nvSpPr>
          <p:spPr bwMode="auto">
            <a:xfrm>
              <a:off x="4896" y="3120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67" name="Rectangle 75"/>
            <p:cNvSpPr>
              <a:spLocks noChangeArrowheads="1"/>
            </p:cNvSpPr>
            <p:nvPr/>
          </p:nvSpPr>
          <p:spPr bwMode="auto">
            <a:xfrm>
              <a:off x="2736" y="3552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68" name="Rectangle 76"/>
            <p:cNvSpPr>
              <a:spLocks noChangeArrowheads="1"/>
            </p:cNvSpPr>
            <p:nvPr/>
          </p:nvSpPr>
          <p:spPr bwMode="auto">
            <a:xfrm>
              <a:off x="4464" y="3552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69" name="Rectangle 77"/>
            <p:cNvSpPr>
              <a:spLocks noChangeArrowheads="1"/>
            </p:cNvSpPr>
            <p:nvPr/>
          </p:nvSpPr>
          <p:spPr bwMode="auto">
            <a:xfrm>
              <a:off x="4032" y="3552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70" name="Rectangle 78"/>
            <p:cNvSpPr>
              <a:spLocks noChangeArrowheads="1"/>
            </p:cNvSpPr>
            <p:nvPr/>
          </p:nvSpPr>
          <p:spPr bwMode="auto">
            <a:xfrm>
              <a:off x="3600" y="3552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71" name="Rectangle 79"/>
            <p:cNvSpPr>
              <a:spLocks noChangeArrowheads="1"/>
            </p:cNvSpPr>
            <p:nvPr/>
          </p:nvSpPr>
          <p:spPr bwMode="auto">
            <a:xfrm>
              <a:off x="3168" y="3552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72" name="Rectangle 80"/>
            <p:cNvSpPr>
              <a:spLocks noChangeArrowheads="1"/>
            </p:cNvSpPr>
            <p:nvPr/>
          </p:nvSpPr>
          <p:spPr bwMode="auto">
            <a:xfrm>
              <a:off x="4896" y="3552"/>
              <a:ext cx="432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  <p:sp>
          <p:nvSpPr>
            <p:cNvPr id="725073" name="Text Box 81"/>
            <p:cNvSpPr txBox="1">
              <a:spLocks noChangeArrowheads="1"/>
            </p:cNvSpPr>
            <p:nvPr/>
          </p:nvSpPr>
          <p:spPr bwMode="auto">
            <a:xfrm>
              <a:off x="2256" y="960"/>
              <a:ext cx="336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c</a:t>
              </a:r>
            </a:p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s</a:t>
              </a:r>
              <a:endParaRPr lang="it-IT" sz="1800">
                <a:latin typeface="Calibri"/>
                <a:cs typeface="Calibri"/>
                <a:sym typeface="Symbol" charset="0"/>
              </a:endParaRPr>
            </a:p>
          </p:txBody>
        </p:sp>
        <p:sp>
          <p:nvSpPr>
            <p:cNvPr id="725074" name="Text Box 82"/>
            <p:cNvSpPr txBox="1">
              <a:spLocks noChangeArrowheads="1"/>
            </p:cNvSpPr>
            <p:nvPr/>
          </p:nvSpPr>
          <p:spPr bwMode="auto">
            <a:xfrm>
              <a:off x="2256" y="1392"/>
              <a:ext cx="336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c</a:t>
              </a:r>
            </a:p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s</a:t>
              </a:r>
              <a:endParaRPr lang="it-IT" sz="1800">
                <a:latin typeface="Calibri"/>
                <a:cs typeface="Calibri"/>
                <a:sym typeface="Symbol" charset="0"/>
              </a:endParaRPr>
            </a:p>
          </p:txBody>
        </p:sp>
        <p:sp>
          <p:nvSpPr>
            <p:cNvPr id="725075" name="Text Box 83"/>
            <p:cNvSpPr txBox="1">
              <a:spLocks noChangeArrowheads="1"/>
            </p:cNvSpPr>
            <p:nvPr/>
          </p:nvSpPr>
          <p:spPr bwMode="auto">
            <a:xfrm>
              <a:off x="2256" y="1824"/>
              <a:ext cx="336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c</a:t>
              </a:r>
            </a:p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s</a:t>
              </a:r>
              <a:endParaRPr lang="it-IT" sz="1800">
                <a:latin typeface="Calibri"/>
                <a:cs typeface="Calibri"/>
                <a:sym typeface="Symbol" charset="0"/>
              </a:endParaRPr>
            </a:p>
          </p:txBody>
        </p:sp>
        <p:sp>
          <p:nvSpPr>
            <p:cNvPr id="725076" name="Text Box 84"/>
            <p:cNvSpPr txBox="1">
              <a:spLocks noChangeArrowheads="1"/>
            </p:cNvSpPr>
            <p:nvPr/>
          </p:nvSpPr>
          <p:spPr bwMode="auto">
            <a:xfrm>
              <a:off x="2256" y="2256"/>
              <a:ext cx="336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c</a:t>
              </a:r>
            </a:p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s</a:t>
              </a:r>
              <a:endParaRPr lang="it-IT" sz="1800">
                <a:latin typeface="Calibri"/>
                <a:cs typeface="Calibri"/>
                <a:sym typeface="Symbol" charset="0"/>
              </a:endParaRPr>
            </a:p>
          </p:txBody>
        </p:sp>
        <p:sp>
          <p:nvSpPr>
            <p:cNvPr id="725077" name="Text Box 85"/>
            <p:cNvSpPr txBox="1">
              <a:spLocks noChangeArrowheads="1"/>
            </p:cNvSpPr>
            <p:nvPr/>
          </p:nvSpPr>
          <p:spPr bwMode="auto">
            <a:xfrm>
              <a:off x="2256" y="2688"/>
              <a:ext cx="336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c</a:t>
              </a:r>
            </a:p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s</a:t>
              </a:r>
              <a:endParaRPr lang="it-IT" sz="1800">
                <a:latin typeface="Calibri"/>
                <a:cs typeface="Calibri"/>
                <a:sym typeface="Symbol" charset="0"/>
              </a:endParaRPr>
            </a:p>
          </p:txBody>
        </p:sp>
        <p:sp>
          <p:nvSpPr>
            <p:cNvPr id="725078" name="Text Box 86"/>
            <p:cNvSpPr txBox="1">
              <a:spLocks noChangeArrowheads="1"/>
            </p:cNvSpPr>
            <p:nvPr/>
          </p:nvSpPr>
          <p:spPr bwMode="auto">
            <a:xfrm>
              <a:off x="2256" y="3120"/>
              <a:ext cx="336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c</a:t>
              </a:r>
            </a:p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s</a:t>
              </a:r>
              <a:endParaRPr lang="it-IT" sz="1800">
                <a:latin typeface="Calibri"/>
                <a:cs typeface="Calibri"/>
                <a:sym typeface="Symbol" charset="0"/>
              </a:endParaRPr>
            </a:p>
          </p:txBody>
        </p:sp>
        <p:sp>
          <p:nvSpPr>
            <p:cNvPr id="725079" name="Text Box 87"/>
            <p:cNvSpPr txBox="1">
              <a:spLocks noChangeArrowheads="1"/>
            </p:cNvSpPr>
            <p:nvPr/>
          </p:nvSpPr>
          <p:spPr bwMode="auto">
            <a:xfrm>
              <a:off x="2256" y="3552"/>
              <a:ext cx="336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c</a:t>
              </a:r>
            </a:p>
            <a:p>
              <a:r>
                <a:rPr lang="it-IT" sz="1800" i="1">
                  <a:latin typeface="Calibri"/>
                  <a:cs typeface="Calibri"/>
                  <a:sym typeface="Symbol" charset="0"/>
                </a:rPr>
                <a:t>s</a:t>
              </a:r>
              <a:endParaRPr lang="it-IT" sz="1800">
                <a:latin typeface="Calibri"/>
                <a:cs typeface="Calibri"/>
                <a:sym typeface="Symbol" charset="0"/>
              </a:endParaRPr>
            </a:p>
          </p:txBody>
        </p:sp>
        <p:sp>
          <p:nvSpPr>
            <p:cNvPr id="725080" name="Text Box 88"/>
            <p:cNvSpPr txBox="1">
              <a:spLocks noChangeArrowheads="1"/>
            </p:cNvSpPr>
            <p:nvPr/>
          </p:nvSpPr>
          <p:spPr bwMode="auto">
            <a:xfrm>
              <a:off x="2112" y="0"/>
              <a:ext cx="240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>
                  <a:latin typeface="Calibri"/>
                  <a:cs typeface="Calibri"/>
                  <a:sym typeface="Symbol" charset="0"/>
                </a:rPr>
                <a:t>Y</a:t>
              </a:r>
            </a:p>
          </p:txBody>
        </p:sp>
        <p:sp>
          <p:nvSpPr>
            <p:cNvPr id="725081" name="Text Box 89"/>
            <p:cNvSpPr txBox="1">
              <a:spLocks noChangeArrowheads="1"/>
            </p:cNvSpPr>
            <p:nvPr/>
          </p:nvSpPr>
          <p:spPr bwMode="auto">
            <a:xfrm>
              <a:off x="1824" y="288"/>
              <a:ext cx="240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>
                  <a:latin typeface="Calibri"/>
                  <a:cs typeface="Calibri"/>
                  <a:sym typeface="Symbol" charset="0"/>
                </a:rPr>
                <a:t>X</a:t>
              </a:r>
            </a:p>
          </p:txBody>
        </p:sp>
        <p:sp>
          <p:nvSpPr>
            <p:cNvPr id="725082" name="Line 90"/>
            <p:cNvSpPr>
              <a:spLocks noChangeShapeType="1"/>
            </p:cNvSpPr>
            <p:nvPr/>
          </p:nvSpPr>
          <p:spPr bwMode="auto">
            <a:xfrm>
              <a:off x="1920" y="144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>
                <a:latin typeface="Calibri"/>
                <a:cs typeface="Calibri"/>
              </a:endParaRPr>
            </a:p>
          </p:txBody>
        </p:sp>
      </p:grpSp>
      <p:sp>
        <p:nvSpPr>
          <p:cNvPr id="725083" name="Rectangle 91"/>
          <p:cNvSpPr>
            <a:spLocks noChangeAspect="1" noChangeArrowheads="1"/>
          </p:cNvSpPr>
          <p:nvPr/>
        </p:nvSpPr>
        <p:spPr bwMode="auto">
          <a:xfrm>
            <a:off x="4390256" y="1958666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0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084" name="Rectangle 92"/>
          <p:cNvSpPr>
            <a:spLocks noChangeAspect="1" noChangeArrowheads="1"/>
          </p:cNvSpPr>
          <p:nvPr/>
        </p:nvSpPr>
        <p:spPr bwMode="auto">
          <a:xfrm>
            <a:off x="4390256" y="2617082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1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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085" name="Rectangle 93"/>
          <p:cNvSpPr>
            <a:spLocks noChangeAspect="1" noChangeArrowheads="1"/>
          </p:cNvSpPr>
          <p:nvPr/>
        </p:nvSpPr>
        <p:spPr bwMode="auto">
          <a:xfrm>
            <a:off x="4390256" y="3265154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1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086" name="Rectangle 94"/>
          <p:cNvSpPr>
            <a:spLocks noChangeAspect="1" noChangeArrowheads="1"/>
          </p:cNvSpPr>
          <p:nvPr/>
        </p:nvSpPr>
        <p:spPr bwMode="auto">
          <a:xfrm>
            <a:off x="4390256" y="3913226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1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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087" name="Rectangle 95"/>
          <p:cNvSpPr>
            <a:spLocks noChangeAspect="1" noChangeArrowheads="1"/>
          </p:cNvSpPr>
          <p:nvPr/>
        </p:nvSpPr>
        <p:spPr bwMode="auto">
          <a:xfrm>
            <a:off x="4390256" y="4489290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1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088" name="Rectangle 96"/>
          <p:cNvSpPr>
            <a:spLocks noChangeAspect="1" noChangeArrowheads="1"/>
          </p:cNvSpPr>
          <p:nvPr/>
        </p:nvSpPr>
        <p:spPr bwMode="auto">
          <a:xfrm>
            <a:off x="4390256" y="5137362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1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089" name="Rectangle 97"/>
          <p:cNvSpPr>
            <a:spLocks noChangeAspect="1" noChangeArrowheads="1"/>
          </p:cNvSpPr>
          <p:nvPr/>
        </p:nvSpPr>
        <p:spPr bwMode="auto">
          <a:xfrm>
            <a:off x="4390256" y="5785434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1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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090" name="Rectangle 98"/>
          <p:cNvSpPr>
            <a:spLocks noChangeAspect="1" noChangeArrowheads="1"/>
          </p:cNvSpPr>
          <p:nvPr/>
        </p:nvSpPr>
        <p:spPr bwMode="auto">
          <a:xfrm>
            <a:off x="5076056" y="1958666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0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091" name="Rectangle 99"/>
          <p:cNvSpPr>
            <a:spLocks noChangeAspect="1" noChangeArrowheads="1"/>
          </p:cNvSpPr>
          <p:nvPr/>
        </p:nvSpPr>
        <p:spPr bwMode="auto">
          <a:xfrm>
            <a:off x="5110336" y="2617082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dirty="0">
                <a:latin typeface="+mj-lt"/>
              </a:rPr>
              <a:t>1</a:t>
            </a:r>
          </a:p>
          <a:p>
            <a:pPr algn="ctr"/>
            <a:r>
              <a:rPr lang="it-IT" sz="2400" dirty="0">
                <a:latin typeface="+mj-lt"/>
                <a:sym typeface="Wingdings 3" charset="0"/>
              </a:rPr>
              <a:t></a:t>
            </a:r>
            <a:endParaRPr lang="en-US" sz="2400" dirty="0">
              <a:latin typeface="+mj-lt"/>
              <a:sym typeface="Wingdings 3" charset="0"/>
            </a:endParaRPr>
          </a:p>
        </p:txBody>
      </p:sp>
      <p:sp>
        <p:nvSpPr>
          <p:cNvPr id="725092" name="Rectangle 100"/>
          <p:cNvSpPr>
            <a:spLocks noChangeAspect="1" noChangeArrowheads="1"/>
          </p:cNvSpPr>
          <p:nvPr/>
        </p:nvSpPr>
        <p:spPr bwMode="auto">
          <a:xfrm>
            <a:off x="5103440" y="3265154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1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093" name="Rectangle 101"/>
          <p:cNvSpPr>
            <a:spLocks noChangeAspect="1" noChangeArrowheads="1"/>
          </p:cNvSpPr>
          <p:nvPr/>
        </p:nvSpPr>
        <p:spPr bwMode="auto">
          <a:xfrm>
            <a:off x="5103440" y="3913226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1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094" name="Rectangle 102"/>
          <p:cNvSpPr>
            <a:spLocks noChangeAspect="1" noChangeArrowheads="1"/>
          </p:cNvSpPr>
          <p:nvPr/>
        </p:nvSpPr>
        <p:spPr bwMode="auto">
          <a:xfrm>
            <a:off x="5103440" y="4489290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2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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095" name="Rectangle 103"/>
          <p:cNvSpPr>
            <a:spLocks noChangeAspect="1" noChangeArrowheads="1"/>
          </p:cNvSpPr>
          <p:nvPr/>
        </p:nvSpPr>
        <p:spPr bwMode="auto">
          <a:xfrm>
            <a:off x="5110336" y="5137362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dirty="0">
                <a:latin typeface="+mj-lt"/>
              </a:rPr>
              <a:t>2</a:t>
            </a:r>
          </a:p>
          <a:p>
            <a:pPr algn="ctr"/>
            <a:r>
              <a:rPr lang="it-IT" sz="2400" dirty="0">
                <a:latin typeface="+mj-lt"/>
                <a:sym typeface="Wingdings 3" charset="0"/>
              </a:rPr>
              <a:t></a:t>
            </a:r>
            <a:endParaRPr lang="en-US" sz="2400" dirty="0">
              <a:latin typeface="+mj-lt"/>
              <a:sym typeface="Wingdings 3" charset="0"/>
            </a:endParaRPr>
          </a:p>
        </p:txBody>
      </p:sp>
      <p:sp>
        <p:nvSpPr>
          <p:cNvPr id="725096" name="Rectangle 104"/>
          <p:cNvSpPr>
            <a:spLocks noChangeAspect="1" noChangeArrowheads="1"/>
          </p:cNvSpPr>
          <p:nvPr/>
        </p:nvSpPr>
        <p:spPr bwMode="auto">
          <a:xfrm>
            <a:off x="5103440" y="5785434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2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097" name="Rectangle 105"/>
          <p:cNvSpPr>
            <a:spLocks noChangeAspect="1" noChangeArrowheads="1"/>
          </p:cNvSpPr>
          <p:nvPr/>
        </p:nvSpPr>
        <p:spPr bwMode="auto">
          <a:xfrm>
            <a:off x="5761856" y="1958666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0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098" name="Rectangle 106"/>
          <p:cNvSpPr>
            <a:spLocks noChangeAspect="1" noChangeArrowheads="1"/>
          </p:cNvSpPr>
          <p:nvPr/>
        </p:nvSpPr>
        <p:spPr bwMode="auto">
          <a:xfrm>
            <a:off x="5758408" y="2617082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dirty="0">
                <a:latin typeface="+mj-lt"/>
              </a:rPr>
              <a:t>1</a:t>
            </a:r>
          </a:p>
          <a:p>
            <a:pPr algn="ctr"/>
            <a:r>
              <a:rPr lang="it-IT" sz="2400" dirty="0">
                <a:latin typeface="+mj-lt"/>
                <a:sym typeface="Wingdings 3" charset="0"/>
              </a:rPr>
              <a:t></a:t>
            </a:r>
            <a:endParaRPr lang="en-US" sz="2400" dirty="0">
              <a:latin typeface="+mj-lt"/>
              <a:sym typeface="Wingdings 3" charset="0"/>
            </a:endParaRPr>
          </a:p>
        </p:txBody>
      </p:sp>
      <p:sp>
        <p:nvSpPr>
          <p:cNvPr id="725099" name="Rectangle 107"/>
          <p:cNvSpPr>
            <a:spLocks noChangeAspect="1" noChangeArrowheads="1"/>
          </p:cNvSpPr>
          <p:nvPr/>
        </p:nvSpPr>
        <p:spPr bwMode="auto">
          <a:xfrm>
            <a:off x="5789240" y="3265154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dirty="0">
                <a:latin typeface="+mj-lt"/>
              </a:rPr>
              <a:t>2</a:t>
            </a:r>
          </a:p>
          <a:p>
            <a:pPr algn="ctr"/>
            <a:r>
              <a:rPr lang="it-IT" sz="2400" dirty="0">
                <a:latin typeface="+mj-lt"/>
                <a:sym typeface="Wingdings 3" charset="0"/>
              </a:rPr>
              <a:t></a:t>
            </a:r>
            <a:endParaRPr lang="en-US" sz="2400" dirty="0">
              <a:latin typeface="+mj-lt"/>
              <a:sym typeface="Wingdings 3" charset="0"/>
            </a:endParaRPr>
          </a:p>
        </p:txBody>
      </p:sp>
      <p:sp>
        <p:nvSpPr>
          <p:cNvPr id="725100" name="Rectangle 108"/>
          <p:cNvSpPr>
            <a:spLocks noChangeAspect="1" noChangeArrowheads="1"/>
          </p:cNvSpPr>
          <p:nvPr/>
        </p:nvSpPr>
        <p:spPr bwMode="auto">
          <a:xfrm>
            <a:off x="5789240" y="3913226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2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01" name="Rectangle 109"/>
          <p:cNvSpPr>
            <a:spLocks noChangeAspect="1" noChangeArrowheads="1"/>
          </p:cNvSpPr>
          <p:nvPr/>
        </p:nvSpPr>
        <p:spPr bwMode="auto">
          <a:xfrm>
            <a:off x="5789240" y="4489290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2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02" name="Rectangle 110"/>
          <p:cNvSpPr>
            <a:spLocks noChangeAspect="1" noChangeArrowheads="1"/>
          </p:cNvSpPr>
          <p:nvPr/>
        </p:nvSpPr>
        <p:spPr bwMode="auto">
          <a:xfrm>
            <a:off x="5758408" y="5137362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dirty="0">
                <a:latin typeface="+mj-lt"/>
              </a:rPr>
              <a:t>2</a:t>
            </a:r>
          </a:p>
          <a:p>
            <a:pPr algn="ctr"/>
            <a:r>
              <a:rPr lang="it-IT" sz="2400" dirty="0">
                <a:latin typeface="+mj-lt"/>
                <a:sym typeface="Wingdings 3" charset="0"/>
              </a:rPr>
              <a:t></a:t>
            </a:r>
            <a:endParaRPr lang="en-US" sz="2400" dirty="0">
              <a:latin typeface="+mj-lt"/>
              <a:sym typeface="Wingdings 3" charset="0"/>
            </a:endParaRPr>
          </a:p>
        </p:txBody>
      </p:sp>
      <p:sp>
        <p:nvSpPr>
          <p:cNvPr id="725103" name="Rectangle 111"/>
          <p:cNvSpPr>
            <a:spLocks noChangeAspect="1" noChangeArrowheads="1"/>
          </p:cNvSpPr>
          <p:nvPr/>
        </p:nvSpPr>
        <p:spPr bwMode="auto">
          <a:xfrm>
            <a:off x="5789240" y="5785434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2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04" name="Rectangle 112"/>
          <p:cNvSpPr>
            <a:spLocks noChangeAspect="1" noChangeArrowheads="1"/>
          </p:cNvSpPr>
          <p:nvPr/>
        </p:nvSpPr>
        <p:spPr bwMode="auto">
          <a:xfrm>
            <a:off x="6447656" y="1958666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1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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05" name="Rectangle 113"/>
          <p:cNvSpPr>
            <a:spLocks noChangeAspect="1" noChangeArrowheads="1"/>
          </p:cNvSpPr>
          <p:nvPr/>
        </p:nvSpPr>
        <p:spPr bwMode="auto">
          <a:xfrm>
            <a:off x="6406480" y="2617082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dirty="0">
                <a:latin typeface="+mj-lt"/>
              </a:rPr>
              <a:t>1</a:t>
            </a:r>
          </a:p>
          <a:p>
            <a:pPr algn="ctr"/>
            <a:r>
              <a:rPr lang="it-IT" sz="2400" dirty="0">
                <a:latin typeface="+mj-lt"/>
                <a:sym typeface="Wingdings 3" charset="0"/>
              </a:rPr>
              <a:t></a:t>
            </a:r>
            <a:endParaRPr lang="en-US" sz="2400" dirty="0">
              <a:latin typeface="+mj-lt"/>
              <a:sym typeface="Wingdings 3" charset="0"/>
            </a:endParaRPr>
          </a:p>
        </p:txBody>
      </p:sp>
      <p:sp>
        <p:nvSpPr>
          <p:cNvPr id="725106" name="Rectangle 114"/>
          <p:cNvSpPr>
            <a:spLocks noChangeAspect="1" noChangeArrowheads="1"/>
          </p:cNvSpPr>
          <p:nvPr/>
        </p:nvSpPr>
        <p:spPr bwMode="auto">
          <a:xfrm>
            <a:off x="6475040" y="3265154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2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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07" name="Rectangle 115"/>
          <p:cNvSpPr>
            <a:spLocks noChangeAspect="1" noChangeArrowheads="1"/>
          </p:cNvSpPr>
          <p:nvPr/>
        </p:nvSpPr>
        <p:spPr bwMode="auto">
          <a:xfrm>
            <a:off x="6475040" y="3913226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2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08" name="Rectangle 116"/>
          <p:cNvSpPr>
            <a:spLocks noChangeAspect="1" noChangeArrowheads="1"/>
          </p:cNvSpPr>
          <p:nvPr/>
        </p:nvSpPr>
        <p:spPr bwMode="auto">
          <a:xfrm>
            <a:off x="6475040" y="4489290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2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09" name="Rectangle 117"/>
          <p:cNvSpPr>
            <a:spLocks noChangeAspect="1" noChangeArrowheads="1"/>
          </p:cNvSpPr>
          <p:nvPr/>
        </p:nvSpPr>
        <p:spPr bwMode="auto">
          <a:xfrm>
            <a:off x="6478488" y="5137362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3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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10" name="Rectangle 118"/>
          <p:cNvSpPr>
            <a:spLocks noChangeAspect="1" noChangeArrowheads="1"/>
          </p:cNvSpPr>
          <p:nvPr/>
        </p:nvSpPr>
        <p:spPr bwMode="auto">
          <a:xfrm>
            <a:off x="6475040" y="5785434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dirty="0">
                <a:latin typeface="+mj-lt"/>
              </a:rPr>
              <a:t>3</a:t>
            </a:r>
          </a:p>
          <a:p>
            <a:pPr algn="ctr"/>
            <a:r>
              <a:rPr lang="it-IT" sz="2400" dirty="0">
                <a:latin typeface="+mj-lt"/>
                <a:sym typeface="Wingdings 3" charset="0"/>
              </a:rPr>
              <a:t></a:t>
            </a:r>
            <a:endParaRPr lang="en-US" sz="2400" dirty="0">
              <a:latin typeface="+mj-lt"/>
              <a:sym typeface="Wingdings 3" charset="0"/>
            </a:endParaRPr>
          </a:p>
        </p:txBody>
      </p:sp>
      <p:sp>
        <p:nvSpPr>
          <p:cNvPr id="725111" name="Rectangle 119"/>
          <p:cNvSpPr>
            <a:spLocks noChangeAspect="1" noChangeArrowheads="1"/>
          </p:cNvSpPr>
          <p:nvPr/>
        </p:nvSpPr>
        <p:spPr bwMode="auto">
          <a:xfrm>
            <a:off x="7133456" y="1958666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1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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12" name="Rectangle 120"/>
          <p:cNvSpPr>
            <a:spLocks noChangeAspect="1" noChangeArrowheads="1"/>
          </p:cNvSpPr>
          <p:nvPr/>
        </p:nvSpPr>
        <p:spPr bwMode="auto">
          <a:xfrm>
            <a:off x="7126560" y="2617082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2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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13" name="Rectangle 121"/>
          <p:cNvSpPr>
            <a:spLocks noChangeAspect="1" noChangeArrowheads="1"/>
          </p:cNvSpPr>
          <p:nvPr/>
        </p:nvSpPr>
        <p:spPr bwMode="auto">
          <a:xfrm>
            <a:off x="7160840" y="3265154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2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14" name="Rectangle 122"/>
          <p:cNvSpPr>
            <a:spLocks noChangeAspect="1" noChangeArrowheads="1"/>
          </p:cNvSpPr>
          <p:nvPr/>
        </p:nvSpPr>
        <p:spPr bwMode="auto">
          <a:xfrm>
            <a:off x="7160840" y="3913226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3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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15" name="Rectangle 123"/>
          <p:cNvSpPr>
            <a:spLocks noChangeAspect="1" noChangeArrowheads="1"/>
          </p:cNvSpPr>
          <p:nvPr/>
        </p:nvSpPr>
        <p:spPr bwMode="auto">
          <a:xfrm>
            <a:off x="7160840" y="4489290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3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16" name="Rectangle 124"/>
          <p:cNvSpPr>
            <a:spLocks noChangeAspect="1" noChangeArrowheads="1"/>
          </p:cNvSpPr>
          <p:nvPr/>
        </p:nvSpPr>
        <p:spPr bwMode="auto">
          <a:xfrm>
            <a:off x="7126560" y="5137362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3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17" name="Rectangle 125"/>
          <p:cNvSpPr>
            <a:spLocks noChangeAspect="1" noChangeArrowheads="1"/>
          </p:cNvSpPr>
          <p:nvPr/>
        </p:nvSpPr>
        <p:spPr bwMode="auto">
          <a:xfrm>
            <a:off x="7160840" y="5785434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4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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18" name="Rectangle 126"/>
          <p:cNvSpPr>
            <a:spLocks noChangeAspect="1" noChangeArrowheads="1"/>
          </p:cNvSpPr>
          <p:nvPr/>
        </p:nvSpPr>
        <p:spPr bwMode="auto">
          <a:xfrm>
            <a:off x="7819256" y="1958666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1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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19" name="Rectangle 127"/>
          <p:cNvSpPr>
            <a:spLocks noChangeAspect="1" noChangeArrowheads="1"/>
          </p:cNvSpPr>
          <p:nvPr/>
        </p:nvSpPr>
        <p:spPr bwMode="auto">
          <a:xfrm>
            <a:off x="7846640" y="2617082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dirty="0">
                <a:latin typeface="+mj-lt"/>
              </a:rPr>
              <a:t>2</a:t>
            </a:r>
          </a:p>
          <a:p>
            <a:pPr algn="ctr"/>
            <a:r>
              <a:rPr lang="it-IT" sz="2400" dirty="0">
                <a:latin typeface="+mj-lt"/>
                <a:sym typeface="Wingdings 3" charset="0"/>
              </a:rPr>
              <a:t></a:t>
            </a:r>
            <a:endParaRPr lang="en-US" sz="2400" dirty="0">
              <a:latin typeface="+mj-lt"/>
              <a:sym typeface="Wingdings 3" charset="0"/>
            </a:endParaRPr>
          </a:p>
        </p:txBody>
      </p:sp>
      <p:sp>
        <p:nvSpPr>
          <p:cNvPr id="725120" name="Rectangle 128"/>
          <p:cNvSpPr>
            <a:spLocks noChangeAspect="1" noChangeArrowheads="1"/>
          </p:cNvSpPr>
          <p:nvPr/>
        </p:nvSpPr>
        <p:spPr bwMode="auto">
          <a:xfrm>
            <a:off x="7846640" y="3265154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2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21" name="Rectangle 129"/>
          <p:cNvSpPr>
            <a:spLocks noChangeAspect="1" noChangeArrowheads="1"/>
          </p:cNvSpPr>
          <p:nvPr/>
        </p:nvSpPr>
        <p:spPr bwMode="auto">
          <a:xfrm>
            <a:off x="7846640" y="3913226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3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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22" name="Rectangle 130"/>
          <p:cNvSpPr>
            <a:spLocks noChangeAspect="1" noChangeArrowheads="1"/>
          </p:cNvSpPr>
          <p:nvPr/>
        </p:nvSpPr>
        <p:spPr bwMode="auto">
          <a:xfrm>
            <a:off x="7846640" y="4489290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3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23" name="Rectangle 131"/>
          <p:cNvSpPr>
            <a:spLocks noChangeAspect="1" noChangeArrowheads="1"/>
          </p:cNvSpPr>
          <p:nvPr/>
        </p:nvSpPr>
        <p:spPr bwMode="auto">
          <a:xfrm>
            <a:off x="7846640" y="5137362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4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</a:t>
            </a:r>
            <a:endParaRPr lang="en-US" sz="2400">
              <a:latin typeface="+mj-lt"/>
              <a:sym typeface="Wingdings 3" charset="0"/>
            </a:endParaRPr>
          </a:p>
        </p:txBody>
      </p:sp>
      <p:sp>
        <p:nvSpPr>
          <p:cNvPr id="725124" name="Rectangle 132"/>
          <p:cNvSpPr>
            <a:spLocks noChangeAspect="1" noChangeArrowheads="1"/>
          </p:cNvSpPr>
          <p:nvPr/>
        </p:nvSpPr>
        <p:spPr bwMode="auto">
          <a:xfrm>
            <a:off x="7846640" y="5785434"/>
            <a:ext cx="690851" cy="63623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>
                <a:latin typeface="+mj-lt"/>
              </a:rPr>
              <a:t>4</a:t>
            </a:r>
          </a:p>
          <a:p>
            <a:pPr algn="ctr"/>
            <a:r>
              <a:rPr lang="it-IT" sz="2400">
                <a:latin typeface="+mj-lt"/>
                <a:sym typeface="Wingdings 3" charset="0"/>
              </a:rPr>
              <a:t></a:t>
            </a:r>
            <a:endParaRPr lang="en-US" sz="2400">
              <a:latin typeface="+mj-lt"/>
              <a:sym typeface="Wingdings 3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5083" grpId="0" animBg="1" autoUpdateAnimBg="0"/>
      <p:bldP spid="725084" grpId="0" animBg="1" autoUpdateAnimBg="0"/>
      <p:bldP spid="725085" grpId="0" animBg="1" autoUpdateAnimBg="0"/>
      <p:bldP spid="725086" grpId="0" animBg="1" autoUpdateAnimBg="0"/>
      <p:bldP spid="725087" grpId="0" animBg="1" autoUpdateAnimBg="0"/>
      <p:bldP spid="725088" grpId="0" animBg="1" autoUpdateAnimBg="0"/>
      <p:bldP spid="725089" grpId="0" animBg="1" autoUpdateAnimBg="0"/>
      <p:bldP spid="725090" grpId="0" animBg="1" autoUpdateAnimBg="0"/>
      <p:bldP spid="725091" grpId="0" animBg="1" autoUpdateAnimBg="0"/>
      <p:bldP spid="725092" grpId="0" animBg="1" autoUpdateAnimBg="0"/>
      <p:bldP spid="725093" grpId="0" animBg="1" autoUpdateAnimBg="0"/>
      <p:bldP spid="725094" grpId="0" animBg="1" autoUpdateAnimBg="0"/>
      <p:bldP spid="725095" grpId="0" animBg="1" autoUpdateAnimBg="0"/>
      <p:bldP spid="725096" grpId="0" animBg="1" autoUpdateAnimBg="0"/>
      <p:bldP spid="725097" grpId="0" animBg="1" autoUpdateAnimBg="0"/>
      <p:bldP spid="725098" grpId="0" animBg="1" autoUpdateAnimBg="0"/>
      <p:bldP spid="725099" grpId="0" animBg="1" autoUpdateAnimBg="0"/>
      <p:bldP spid="725100" grpId="0" animBg="1" autoUpdateAnimBg="0"/>
      <p:bldP spid="725101" grpId="0" animBg="1" autoUpdateAnimBg="0"/>
      <p:bldP spid="725102" grpId="0" animBg="1" autoUpdateAnimBg="0"/>
      <p:bldP spid="725103" grpId="0" animBg="1" autoUpdateAnimBg="0"/>
      <p:bldP spid="725104" grpId="0" animBg="1" autoUpdateAnimBg="0"/>
      <p:bldP spid="725105" grpId="0" animBg="1" autoUpdateAnimBg="0"/>
      <p:bldP spid="725106" grpId="0" animBg="1" autoUpdateAnimBg="0"/>
      <p:bldP spid="725107" grpId="0" animBg="1" autoUpdateAnimBg="0"/>
      <p:bldP spid="725108" grpId="0" animBg="1" autoUpdateAnimBg="0"/>
      <p:bldP spid="725109" grpId="0" animBg="1" autoUpdateAnimBg="0"/>
      <p:bldP spid="725110" grpId="0" animBg="1" autoUpdateAnimBg="0"/>
      <p:bldP spid="725111" grpId="0" animBg="1" autoUpdateAnimBg="0"/>
      <p:bldP spid="725112" grpId="0" animBg="1" autoUpdateAnimBg="0"/>
      <p:bldP spid="725113" grpId="0" animBg="1" autoUpdateAnimBg="0"/>
      <p:bldP spid="725114" grpId="0" animBg="1" autoUpdateAnimBg="0"/>
      <p:bldP spid="725115" grpId="0" animBg="1" autoUpdateAnimBg="0"/>
      <p:bldP spid="725116" grpId="0" animBg="1" autoUpdateAnimBg="0"/>
      <p:bldP spid="725117" grpId="0" animBg="1" autoUpdateAnimBg="0"/>
      <p:bldP spid="725118" grpId="0" animBg="1" autoUpdateAnimBg="0"/>
      <p:bldP spid="725119" grpId="0" animBg="1" autoUpdateAnimBg="0"/>
      <p:bldP spid="725120" grpId="0" animBg="1" autoUpdateAnimBg="0"/>
      <p:bldP spid="725121" grpId="0" animBg="1" autoUpdateAnimBg="0"/>
      <p:bldP spid="725122" grpId="0" animBg="1" autoUpdateAnimBg="0"/>
      <p:bldP spid="725123" grpId="0" animBg="1" autoUpdateAnimBg="0"/>
      <p:bldP spid="725124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Text Box 2"/>
          <p:cNvSpPr txBox="1">
            <a:spLocks noChangeArrowheads="1"/>
          </p:cNvSpPr>
          <p:nvPr/>
        </p:nvSpPr>
        <p:spPr bwMode="auto">
          <a:xfrm>
            <a:off x="323528" y="1196752"/>
            <a:ext cx="83750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Terzo passo</a:t>
            </a:r>
            <a:r>
              <a:rPr lang="it-IT" sz="2400" dirty="0">
                <a:sym typeface="Symbol" charset="0"/>
              </a:rPr>
              <a:t>: </a:t>
            </a:r>
            <a:r>
              <a:rPr lang="it-IT" sz="2400" i="1" dirty="0">
                <a:sym typeface="Symbol" charset="0"/>
              </a:rPr>
              <a:t>calcolo della lunghezza di una </a:t>
            </a:r>
            <a:r>
              <a:rPr lang="it-IT" sz="2400" i="1" dirty="0" smtClean="0">
                <a:sym typeface="Symbol" charset="0"/>
              </a:rPr>
              <a:t>LCS</a:t>
            </a:r>
            <a:endParaRPr lang="it-IT" sz="2400" i="1" dirty="0">
              <a:sym typeface="Symbol" charset="0"/>
            </a:endParaRPr>
          </a:p>
        </p:txBody>
      </p:sp>
      <p:sp>
        <p:nvSpPr>
          <p:cNvPr id="726019" name="Text Box 3"/>
          <p:cNvSpPr txBox="1">
            <a:spLocks noChangeArrowheads="1"/>
          </p:cNvSpPr>
          <p:nvPr/>
        </p:nvSpPr>
        <p:spPr bwMode="auto">
          <a:xfrm>
            <a:off x="323528" y="1700808"/>
            <a:ext cx="8064896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sz="2000" dirty="0" err="1">
                <a:solidFill>
                  <a:srgbClr val="800000"/>
                </a:solidFill>
                <a:sym typeface="Symbol" charset="0"/>
              </a:rPr>
              <a:t>LunghezzaLCS</a:t>
            </a:r>
            <a:r>
              <a:rPr lang="it-IT" sz="2000" dirty="0">
                <a:sym typeface="Symbol" charset="0"/>
              </a:rPr>
              <a:t>(</a:t>
            </a:r>
            <a:r>
              <a:rPr lang="it-IT" sz="2000" dirty="0" err="1">
                <a:sym typeface="Symbol" charset="0"/>
              </a:rPr>
              <a:t>X,Y,m,n</a:t>
            </a:r>
            <a:r>
              <a:rPr lang="it-IT" sz="2000" dirty="0">
                <a:sym typeface="Symbol" charset="0"/>
              </a:rPr>
              <a:t>)</a:t>
            </a:r>
          </a:p>
          <a:p>
            <a:r>
              <a:rPr lang="it-IT" sz="2000" dirty="0">
                <a:sym typeface="Symbol" charset="0"/>
              </a:rPr>
              <a:t>    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000" dirty="0">
                <a:sym typeface="Symbol" charset="0"/>
              </a:rPr>
              <a:t>i := 0 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000" dirty="0">
                <a:sym typeface="Symbol" charset="0"/>
              </a:rPr>
              <a:t>m 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do </a:t>
            </a:r>
            <a:r>
              <a:rPr lang="it-IT" sz="2000" dirty="0">
                <a:sym typeface="Symbol" charset="0"/>
              </a:rPr>
              <a:t>C[i,0] := 0 </a:t>
            </a:r>
          </a:p>
          <a:p>
            <a:r>
              <a:rPr lang="it-IT" sz="2000" dirty="0">
                <a:sym typeface="Symbol" charset="0"/>
              </a:rPr>
              <a:t>    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000" dirty="0" smtClean="0">
                <a:sym typeface="Symbol" charset="0"/>
              </a:rPr>
              <a:t>j </a:t>
            </a:r>
            <a:r>
              <a:rPr lang="it-IT" sz="2000" dirty="0">
                <a:sym typeface="Symbol" charset="0"/>
              </a:rPr>
              <a:t>:= 1 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000" dirty="0" smtClean="0">
                <a:sym typeface="Symbol" charset="0"/>
              </a:rPr>
              <a:t>n 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do </a:t>
            </a:r>
            <a:r>
              <a:rPr lang="it-IT" sz="2000" dirty="0" smtClean="0">
                <a:sym typeface="Symbol" charset="0"/>
              </a:rPr>
              <a:t>C</a:t>
            </a:r>
            <a:r>
              <a:rPr lang="it-IT" sz="2000" dirty="0">
                <a:sym typeface="Symbol" charset="0"/>
              </a:rPr>
              <a:t>[0,j] := 0 </a:t>
            </a:r>
          </a:p>
          <a:p>
            <a:r>
              <a:rPr lang="it-IT" sz="2000" dirty="0">
                <a:sym typeface="Symbol" charset="0"/>
              </a:rPr>
              <a:t>    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000" dirty="0" smtClean="0">
                <a:sym typeface="Symbol" charset="0"/>
              </a:rPr>
              <a:t>j </a:t>
            </a:r>
            <a:r>
              <a:rPr lang="it-IT" sz="2000" dirty="0">
                <a:sym typeface="Symbol" charset="0"/>
              </a:rPr>
              <a:t>:= 1 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000" dirty="0" smtClean="0">
                <a:sym typeface="Symbol" charset="0"/>
              </a:rPr>
              <a:t>n 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do </a:t>
            </a:r>
            <a:endParaRPr lang="it-IT" sz="2000" dirty="0">
              <a:solidFill>
                <a:schemeClr val="accent2"/>
              </a:solidFill>
              <a:sym typeface="Symbol" charset="0"/>
            </a:endParaRPr>
          </a:p>
          <a:p>
            <a:r>
              <a:rPr lang="it-IT" sz="2000" dirty="0">
                <a:sym typeface="Symbol" charset="0"/>
              </a:rPr>
              <a:t>        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000" dirty="0" smtClean="0">
                <a:sym typeface="Symbol" charset="0"/>
              </a:rPr>
              <a:t>i </a:t>
            </a:r>
            <a:r>
              <a:rPr lang="it-IT" sz="2000" dirty="0">
                <a:sym typeface="Symbol" charset="0"/>
              </a:rPr>
              <a:t>:= 1 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000" dirty="0">
                <a:sym typeface="Symbol" charset="0"/>
              </a:rPr>
              <a:t>m 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do </a:t>
            </a:r>
            <a:endParaRPr lang="it-IT" sz="2000" dirty="0">
              <a:solidFill>
                <a:schemeClr val="accent2"/>
              </a:solidFill>
              <a:sym typeface="Symbol" charset="0"/>
            </a:endParaRPr>
          </a:p>
          <a:p>
            <a:r>
              <a:rPr lang="it-IT" sz="2000" dirty="0">
                <a:sym typeface="Symbol" charset="0"/>
              </a:rPr>
              <a:t>            </a:t>
            </a:r>
            <a:r>
              <a:rPr lang="it-IT" sz="2000" dirty="0" err="1">
                <a:solidFill>
                  <a:srgbClr val="201FF0"/>
                </a:solidFill>
                <a:sym typeface="Symbol" charset="0"/>
              </a:rPr>
              <a:t>if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000" dirty="0">
                <a:sym typeface="Symbol" charset="0"/>
              </a:rPr>
              <a:t>x</a:t>
            </a:r>
            <a:r>
              <a:rPr lang="it-IT" sz="2000" baseline="-25000" dirty="0">
                <a:sym typeface="Symbol" charset="0"/>
              </a:rPr>
              <a:t>i </a:t>
            </a:r>
            <a:r>
              <a:rPr lang="it-IT" sz="2000" dirty="0">
                <a:sym typeface="Symbol" charset="0"/>
              </a:rPr>
              <a:t>= </a:t>
            </a:r>
            <a:r>
              <a:rPr lang="it-IT" sz="2000" dirty="0" err="1">
                <a:sym typeface="Symbol" charset="0"/>
              </a:rPr>
              <a:t>y</a:t>
            </a:r>
            <a:r>
              <a:rPr lang="it-IT" sz="2000" baseline="-25000" dirty="0" err="1">
                <a:sym typeface="Symbol" charset="0"/>
              </a:rPr>
              <a:t>j</a:t>
            </a:r>
            <a:r>
              <a:rPr lang="it-IT" sz="2000" dirty="0">
                <a:sym typeface="Symbol" charset="0"/>
              </a:rPr>
              <a:t> </a:t>
            </a:r>
            <a:r>
              <a:rPr lang="it-IT" sz="2000" dirty="0" err="1">
                <a:solidFill>
                  <a:srgbClr val="201FF0"/>
                </a:solidFill>
                <a:sym typeface="Symbol" charset="0"/>
              </a:rPr>
              <a:t>then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 </a:t>
            </a:r>
            <a:endParaRPr lang="it-IT" sz="2000" baseline="-25000" dirty="0">
              <a:solidFill>
                <a:srgbClr val="201FF0"/>
              </a:solidFill>
              <a:sym typeface="Symbol" charset="0"/>
            </a:endParaRPr>
          </a:p>
          <a:p>
            <a:r>
              <a:rPr lang="it-IT" sz="2000" dirty="0">
                <a:sym typeface="Symbol" charset="0"/>
              </a:rPr>
              <a:t>                C[i,j] := C[i-1,j-1]+1 </a:t>
            </a:r>
          </a:p>
          <a:p>
            <a:r>
              <a:rPr lang="it-IT" sz="2000" dirty="0">
                <a:sym typeface="Symbol" charset="0"/>
              </a:rPr>
              <a:t>                S[i,j] := “</a:t>
            </a:r>
            <a:r>
              <a:rPr lang="it-IT" sz="2000" dirty="0">
                <a:sym typeface="Wingdings 3" charset="0"/>
              </a:rPr>
              <a:t></a:t>
            </a:r>
            <a:r>
              <a:rPr lang="it-IT" sz="2000" dirty="0">
                <a:sym typeface="Symbol" charset="0"/>
              </a:rPr>
              <a:t>”</a:t>
            </a:r>
          </a:p>
          <a:p>
            <a:r>
              <a:rPr lang="it-IT" sz="2000" dirty="0">
                <a:sym typeface="Symbol" charset="0"/>
              </a:rPr>
              <a:t>            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else </a:t>
            </a:r>
            <a:r>
              <a:rPr lang="it-IT" sz="2000" dirty="0" err="1">
                <a:solidFill>
                  <a:srgbClr val="201FF0"/>
                </a:solidFill>
                <a:sym typeface="Symbol" charset="0"/>
              </a:rPr>
              <a:t>if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000" dirty="0" smtClean="0">
                <a:sym typeface="Symbol" charset="0"/>
              </a:rPr>
              <a:t>C</a:t>
            </a:r>
            <a:r>
              <a:rPr lang="it-IT" sz="2000" dirty="0">
                <a:sym typeface="Symbol" charset="0"/>
              </a:rPr>
              <a:t>[i-1,j]  C[i,j-1] </a:t>
            </a:r>
            <a:r>
              <a:rPr lang="it-IT" sz="2000" dirty="0" err="1">
                <a:solidFill>
                  <a:srgbClr val="201FF0"/>
                </a:solidFill>
                <a:sym typeface="Symbol" charset="0"/>
              </a:rPr>
              <a:t>then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 </a:t>
            </a:r>
            <a:endParaRPr lang="it-IT" sz="2000" dirty="0">
              <a:solidFill>
                <a:schemeClr val="accent2"/>
              </a:solidFill>
              <a:sym typeface="Symbol" charset="0"/>
            </a:endParaRPr>
          </a:p>
          <a:p>
            <a:r>
              <a:rPr lang="it-IT" sz="2000" dirty="0">
                <a:sym typeface="Symbol" charset="0"/>
              </a:rPr>
              <a:t>                C[i,j] := C[i-1,j] </a:t>
            </a:r>
          </a:p>
          <a:p>
            <a:r>
              <a:rPr lang="it-IT" sz="2000" dirty="0">
                <a:sym typeface="Symbol" charset="0"/>
              </a:rPr>
              <a:t>                S[i,j] := “</a:t>
            </a:r>
            <a:r>
              <a:rPr lang="it-IT" sz="2000" dirty="0">
                <a:sym typeface="Wingdings 3" charset="0"/>
              </a:rPr>
              <a:t></a:t>
            </a:r>
            <a:r>
              <a:rPr lang="it-IT" sz="2000" dirty="0">
                <a:sym typeface="Symbol" charset="0"/>
              </a:rPr>
              <a:t>”</a:t>
            </a:r>
          </a:p>
          <a:p>
            <a:r>
              <a:rPr lang="it-IT" sz="2000" dirty="0">
                <a:sym typeface="Symbol" charset="0"/>
              </a:rPr>
              <a:t>            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else </a:t>
            </a:r>
            <a:endParaRPr lang="it-IT" sz="2000" dirty="0">
              <a:solidFill>
                <a:schemeClr val="accent2"/>
              </a:solidFill>
              <a:sym typeface="Symbol" charset="0"/>
            </a:endParaRPr>
          </a:p>
          <a:p>
            <a:r>
              <a:rPr lang="it-IT" sz="2000" dirty="0">
                <a:sym typeface="Symbol" charset="0"/>
              </a:rPr>
              <a:t>                C[i,j] := C[i,j-1] </a:t>
            </a:r>
          </a:p>
          <a:p>
            <a:r>
              <a:rPr lang="it-IT" sz="2000" dirty="0">
                <a:sym typeface="Symbol" charset="0"/>
              </a:rPr>
              <a:t>                S[i,j] := “</a:t>
            </a:r>
            <a:r>
              <a:rPr lang="it-IT" sz="2000" dirty="0">
                <a:sym typeface="Wingdings 3" charset="0"/>
              </a:rPr>
              <a:t></a:t>
            </a:r>
            <a:r>
              <a:rPr lang="it-IT" sz="2000" dirty="0">
                <a:sym typeface="Symbol" charset="0"/>
              </a:rPr>
              <a:t>”</a:t>
            </a:r>
          </a:p>
          <a:p>
            <a:r>
              <a:rPr lang="it-IT" sz="2000" dirty="0">
                <a:sym typeface="Symbol" charset="0"/>
              </a:rPr>
              <a:t>    </a:t>
            </a:r>
            <a:r>
              <a:rPr lang="it-IT" sz="2000" dirty="0" err="1">
                <a:solidFill>
                  <a:srgbClr val="201FF0"/>
                </a:solidFill>
                <a:sym typeface="Symbol" charset="0"/>
              </a:rPr>
              <a:t>return</a:t>
            </a:r>
            <a:r>
              <a:rPr lang="it-IT" sz="20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000" dirty="0">
                <a:sym typeface="Symbol" charset="0"/>
              </a:rPr>
              <a:t>C,S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71600" y="260648"/>
            <a:ext cx="7776864" cy="64807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Arial"/>
                <a:ea typeface="ＭＳ Ｐゴシック" charset="-128"/>
                <a:cs typeface="Arial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</a:defRPr>
            </a:lvl9pPr>
          </a:lstStyle>
          <a:p>
            <a:r>
              <a:rPr lang="it-IT" smtClean="0">
                <a:solidFill>
                  <a:srgbClr val="FF0000"/>
                </a:solidFill>
              </a:rPr>
              <a:t>Massima sottosequenza comune (LCS)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Text Box 2"/>
          <p:cNvSpPr txBox="1">
            <a:spLocks noChangeArrowheads="1"/>
          </p:cNvSpPr>
          <p:nvPr/>
        </p:nvSpPr>
        <p:spPr bwMode="auto">
          <a:xfrm>
            <a:off x="107504" y="1196752"/>
            <a:ext cx="25922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rgbClr val="FF0000"/>
                </a:solidFill>
                <a:sym typeface="Symbol" charset="0"/>
              </a:rPr>
              <a:t>Quarto passo</a:t>
            </a:r>
            <a:endParaRPr lang="it-IT" sz="2400" dirty="0">
              <a:sym typeface="Symbol" charset="0"/>
            </a:endParaRPr>
          </a:p>
          <a:p>
            <a:r>
              <a:rPr lang="it-IT" sz="2400" i="1" u="sng" dirty="0">
                <a:sym typeface="Symbol" charset="0"/>
              </a:rPr>
              <a:t>Esempio</a:t>
            </a:r>
          </a:p>
        </p:txBody>
      </p:sp>
      <p:sp>
        <p:nvSpPr>
          <p:cNvPr id="727043" name="Text Box 3"/>
          <p:cNvSpPr txBox="1">
            <a:spLocks noChangeArrowheads="1"/>
          </p:cNvSpPr>
          <p:nvPr/>
        </p:nvSpPr>
        <p:spPr bwMode="auto">
          <a:xfrm>
            <a:off x="251520" y="2276872"/>
            <a:ext cx="2133600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X=ABCBDAB</a:t>
            </a:r>
          </a:p>
          <a:p>
            <a:r>
              <a:rPr lang="it-IT" sz="2400">
                <a:latin typeface="Calibri"/>
                <a:cs typeface="Calibri"/>
                <a:sym typeface="Symbol" charset="0"/>
              </a:rPr>
              <a:t>Y=BDCABA</a:t>
            </a:r>
          </a:p>
        </p:txBody>
      </p:sp>
      <p:sp>
        <p:nvSpPr>
          <p:cNvPr id="727044" name="Text Box 4"/>
          <p:cNvSpPr txBox="1">
            <a:spLocks noChangeArrowheads="1"/>
          </p:cNvSpPr>
          <p:nvPr/>
        </p:nvSpPr>
        <p:spPr bwMode="auto">
          <a:xfrm>
            <a:off x="3276600" y="6400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i="1">
                <a:sym typeface="Symbol" charset="0"/>
              </a:rPr>
              <a:t>i</a:t>
            </a:r>
            <a:endParaRPr lang="it-IT" sz="2400" baseline="-25000">
              <a:sym typeface="Symbol" charset="0"/>
            </a:endParaRPr>
          </a:p>
        </p:txBody>
      </p:sp>
      <p:sp>
        <p:nvSpPr>
          <p:cNvPr id="727045" name="Text Box 5"/>
          <p:cNvSpPr txBox="1">
            <a:spLocks noChangeArrowheads="1"/>
          </p:cNvSpPr>
          <p:nvPr/>
        </p:nvSpPr>
        <p:spPr bwMode="auto">
          <a:xfrm>
            <a:off x="3886200" y="381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0</a:t>
            </a:r>
          </a:p>
        </p:txBody>
      </p:sp>
      <p:sp>
        <p:nvSpPr>
          <p:cNvPr id="727046" name="Text Box 6"/>
          <p:cNvSpPr txBox="1">
            <a:spLocks noChangeArrowheads="1"/>
          </p:cNvSpPr>
          <p:nvPr/>
        </p:nvSpPr>
        <p:spPr bwMode="auto">
          <a:xfrm>
            <a:off x="7924800" y="381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6</a:t>
            </a:r>
          </a:p>
        </p:txBody>
      </p:sp>
      <p:sp>
        <p:nvSpPr>
          <p:cNvPr id="727047" name="Text Box 7"/>
          <p:cNvSpPr txBox="1">
            <a:spLocks noChangeArrowheads="1"/>
          </p:cNvSpPr>
          <p:nvPr/>
        </p:nvSpPr>
        <p:spPr bwMode="auto">
          <a:xfrm>
            <a:off x="7239000" y="381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5</a:t>
            </a:r>
          </a:p>
        </p:txBody>
      </p:sp>
      <p:sp>
        <p:nvSpPr>
          <p:cNvPr id="727048" name="Text Box 8"/>
          <p:cNvSpPr txBox="1">
            <a:spLocks noChangeArrowheads="1"/>
          </p:cNvSpPr>
          <p:nvPr/>
        </p:nvSpPr>
        <p:spPr bwMode="auto">
          <a:xfrm>
            <a:off x="6553200" y="381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4</a:t>
            </a:r>
          </a:p>
        </p:txBody>
      </p:sp>
      <p:sp>
        <p:nvSpPr>
          <p:cNvPr id="727049" name="Text Box 9"/>
          <p:cNvSpPr txBox="1">
            <a:spLocks noChangeArrowheads="1"/>
          </p:cNvSpPr>
          <p:nvPr/>
        </p:nvSpPr>
        <p:spPr bwMode="auto">
          <a:xfrm>
            <a:off x="5943600" y="381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3</a:t>
            </a:r>
          </a:p>
        </p:txBody>
      </p:sp>
      <p:sp>
        <p:nvSpPr>
          <p:cNvPr id="727050" name="Text Box 10"/>
          <p:cNvSpPr txBox="1">
            <a:spLocks noChangeArrowheads="1"/>
          </p:cNvSpPr>
          <p:nvPr/>
        </p:nvSpPr>
        <p:spPr bwMode="auto">
          <a:xfrm>
            <a:off x="5257800" y="381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2</a:t>
            </a:r>
          </a:p>
        </p:txBody>
      </p:sp>
      <p:sp>
        <p:nvSpPr>
          <p:cNvPr id="727051" name="Text Box 11"/>
          <p:cNvSpPr txBox="1">
            <a:spLocks noChangeArrowheads="1"/>
          </p:cNvSpPr>
          <p:nvPr/>
        </p:nvSpPr>
        <p:spPr bwMode="auto">
          <a:xfrm>
            <a:off x="3276600" y="990600"/>
            <a:ext cx="457200" cy="524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85000"/>
              </a:spcBef>
            </a:pPr>
            <a:r>
              <a:rPr lang="it-IT" sz="2400" dirty="0">
                <a:latin typeface="Calibri"/>
                <a:cs typeface="Calibri"/>
                <a:sym typeface="Symbol" charset="0"/>
              </a:rPr>
              <a:t>0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latin typeface="Calibri"/>
                <a:cs typeface="Calibri"/>
                <a:sym typeface="Symbol" charset="0"/>
              </a:rPr>
              <a:t>1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latin typeface="Calibri"/>
                <a:cs typeface="Calibri"/>
                <a:sym typeface="Symbol" charset="0"/>
              </a:rPr>
              <a:t>2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latin typeface="Calibri"/>
                <a:cs typeface="Calibri"/>
                <a:sym typeface="Symbol" charset="0"/>
              </a:rPr>
              <a:t>3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latin typeface="Calibri"/>
                <a:cs typeface="Calibri"/>
                <a:sym typeface="Symbol" charset="0"/>
              </a:rPr>
              <a:t>4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latin typeface="Calibri"/>
                <a:cs typeface="Calibri"/>
                <a:sym typeface="Symbol" charset="0"/>
              </a:rPr>
              <a:t>5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latin typeface="Calibri"/>
                <a:cs typeface="Calibri"/>
                <a:sym typeface="Symbol" charset="0"/>
              </a:rPr>
              <a:t>6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latin typeface="Calibri"/>
                <a:cs typeface="Calibri"/>
                <a:sym typeface="Symbol" charset="0"/>
              </a:rPr>
              <a:t>7</a:t>
            </a:r>
          </a:p>
        </p:txBody>
      </p:sp>
      <p:sp>
        <p:nvSpPr>
          <p:cNvPr id="727052" name="Rectangle 12"/>
          <p:cNvSpPr>
            <a:spLocks noChangeArrowheads="1"/>
          </p:cNvSpPr>
          <p:nvPr/>
        </p:nvSpPr>
        <p:spPr bwMode="auto">
          <a:xfrm>
            <a:off x="3657600" y="838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7053" name="Line 13"/>
          <p:cNvSpPr>
            <a:spLocks noChangeShapeType="1"/>
          </p:cNvSpPr>
          <p:nvPr/>
        </p:nvSpPr>
        <p:spPr bwMode="auto">
          <a:xfrm>
            <a:off x="3657600" y="838200"/>
            <a:ext cx="0" cy="579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727054" name="Line 14"/>
          <p:cNvSpPr>
            <a:spLocks noChangeShapeType="1"/>
          </p:cNvSpPr>
          <p:nvPr/>
        </p:nvSpPr>
        <p:spPr bwMode="auto">
          <a:xfrm>
            <a:off x="3657600" y="838200"/>
            <a:ext cx="518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727055" name="Text Box 15"/>
          <p:cNvSpPr txBox="1">
            <a:spLocks noChangeArrowheads="1"/>
          </p:cNvSpPr>
          <p:nvPr/>
        </p:nvSpPr>
        <p:spPr bwMode="auto">
          <a:xfrm>
            <a:off x="8534400" y="381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i="1">
                <a:latin typeface="Calibri"/>
                <a:cs typeface="Calibri"/>
                <a:sym typeface="Symbol" charset="0"/>
              </a:rPr>
              <a:t>j</a:t>
            </a:r>
            <a:endParaRPr lang="it-IT" sz="2400" baseline="-25000">
              <a:latin typeface="Calibri"/>
              <a:cs typeface="Calibri"/>
              <a:sym typeface="Symbol" charset="0"/>
            </a:endParaRPr>
          </a:p>
        </p:txBody>
      </p:sp>
      <p:sp>
        <p:nvSpPr>
          <p:cNvPr id="727056" name="Text Box 16"/>
          <p:cNvSpPr txBox="1">
            <a:spLocks noChangeArrowheads="1"/>
          </p:cNvSpPr>
          <p:nvPr/>
        </p:nvSpPr>
        <p:spPr bwMode="auto">
          <a:xfrm>
            <a:off x="5943600" y="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C</a:t>
            </a:r>
          </a:p>
        </p:txBody>
      </p:sp>
      <p:sp>
        <p:nvSpPr>
          <p:cNvPr id="727057" name="Text Box 17"/>
          <p:cNvSpPr txBox="1">
            <a:spLocks noChangeArrowheads="1"/>
          </p:cNvSpPr>
          <p:nvPr/>
        </p:nvSpPr>
        <p:spPr bwMode="auto">
          <a:xfrm>
            <a:off x="5257800" y="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D</a:t>
            </a:r>
          </a:p>
        </p:txBody>
      </p:sp>
      <p:sp>
        <p:nvSpPr>
          <p:cNvPr id="727058" name="Text Box 18"/>
          <p:cNvSpPr txBox="1">
            <a:spLocks noChangeArrowheads="1"/>
          </p:cNvSpPr>
          <p:nvPr/>
        </p:nvSpPr>
        <p:spPr bwMode="auto">
          <a:xfrm>
            <a:off x="4495800" y="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B</a:t>
            </a:r>
          </a:p>
        </p:txBody>
      </p:sp>
      <p:sp>
        <p:nvSpPr>
          <p:cNvPr id="727059" name="Text Box 19"/>
          <p:cNvSpPr txBox="1">
            <a:spLocks noChangeArrowheads="1"/>
          </p:cNvSpPr>
          <p:nvPr/>
        </p:nvSpPr>
        <p:spPr bwMode="auto">
          <a:xfrm>
            <a:off x="3581400" y="8382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  <p:sp>
        <p:nvSpPr>
          <p:cNvPr id="727060" name="Text Box 20"/>
          <p:cNvSpPr txBox="1">
            <a:spLocks noChangeArrowheads="1"/>
          </p:cNvSpPr>
          <p:nvPr/>
        </p:nvSpPr>
        <p:spPr bwMode="auto">
          <a:xfrm>
            <a:off x="4495800" y="381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1</a:t>
            </a:r>
          </a:p>
        </p:txBody>
      </p:sp>
      <p:sp>
        <p:nvSpPr>
          <p:cNvPr id="727061" name="Text Box 21"/>
          <p:cNvSpPr txBox="1">
            <a:spLocks noChangeArrowheads="1"/>
          </p:cNvSpPr>
          <p:nvPr/>
        </p:nvSpPr>
        <p:spPr bwMode="auto">
          <a:xfrm>
            <a:off x="7239000" y="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B</a:t>
            </a:r>
          </a:p>
        </p:txBody>
      </p:sp>
      <p:sp>
        <p:nvSpPr>
          <p:cNvPr id="727062" name="Text Box 22"/>
          <p:cNvSpPr txBox="1">
            <a:spLocks noChangeArrowheads="1"/>
          </p:cNvSpPr>
          <p:nvPr/>
        </p:nvSpPr>
        <p:spPr bwMode="auto">
          <a:xfrm>
            <a:off x="6553200" y="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A</a:t>
            </a:r>
          </a:p>
        </p:txBody>
      </p:sp>
      <p:sp>
        <p:nvSpPr>
          <p:cNvPr id="727063" name="Text Box 23"/>
          <p:cNvSpPr txBox="1">
            <a:spLocks noChangeArrowheads="1"/>
          </p:cNvSpPr>
          <p:nvPr/>
        </p:nvSpPr>
        <p:spPr bwMode="auto">
          <a:xfrm>
            <a:off x="7924800" y="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A</a:t>
            </a:r>
          </a:p>
        </p:txBody>
      </p:sp>
      <p:sp>
        <p:nvSpPr>
          <p:cNvPr id="727064" name="Rectangle 24"/>
          <p:cNvSpPr>
            <a:spLocks noChangeArrowheads="1"/>
          </p:cNvSpPr>
          <p:nvPr/>
        </p:nvSpPr>
        <p:spPr bwMode="auto">
          <a:xfrm>
            <a:off x="3657600" y="1524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7065" name="Rectangle 25"/>
          <p:cNvSpPr>
            <a:spLocks noChangeArrowheads="1"/>
          </p:cNvSpPr>
          <p:nvPr/>
        </p:nvSpPr>
        <p:spPr bwMode="auto">
          <a:xfrm>
            <a:off x="4343400" y="838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7066" name="Rectangle 26"/>
          <p:cNvSpPr>
            <a:spLocks noChangeArrowheads="1"/>
          </p:cNvSpPr>
          <p:nvPr/>
        </p:nvSpPr>
        <p:spPr bwMode="auto">
          <a:xfrm>
            <a:off x="5029200" y="838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7067" name="Rectangle 27"/>
          <p:cNvSpPr>
            <a:spLocks noChangeArrowheads="1"/>
          </p:cNvSpPr>
          <p:nvPr/>
        </p:nvSpPr>
        <p:spPr bwMode="auto">
          <a:xfrm>
            <a:off x="5715000" y="838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7068" name="Rectangle 28"/>
          <p:cNvSpPr>
            <a:spLocks noChangeArrowheads="1"/>
          </p:cNvSpPr>
          <p:nvPr/>
        </p:nvSpPr>
        <p:spPr bwMode="auto">
          <a:xfrm>
            <a:off x="6400800" y="838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7069" name="Rectangle 29"/>
          <p:cNvSpPr>
            <a:spLocks noChangeArrowheads="1"/>
          </p:cNvSpPr>
          <p:nvPr/>
        </p:nvSpPr>
        <p:spPr bwMode="auto">
          <a:xfrm>
            <a:off x="7086600" y="838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7070" name="Rectangle 30"/>
          <p:cNvSpPr>
            <a:spLocks noChangeArrowheads="1"/>
          </p:cNvSpPr>
          <p:nvPr/>
        </p:nvSpPr>
        <p:spPr bwMode="auto">
          <a:xfrm>
            <a:off x="7772400" y="838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7071" name="Rectangle 31"/>
          <p:cNvSpPr>
            <a:spLocks noChangeArrowheads="1"/>
          </p:cNvSpPr>
          <p:nvPr/>
        </p:nvSpPr>
        <p:spPr bwMode="auto">
          <a:xfrm>
            <a:off x="3657600" y="5638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7072" name="Rectangle 32"/>
          <p:cNvSpPr>
            <a:spLocks noChangeArrowheads="1"/>
          </p:cNvSpPr>
          <p:nvPr/>
        </p:nvSpPr>
        <p:spPr bwMode="auto">
          <a:xfrm>
            <a:off x="3657600" y="4953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7073" name="Rectangle 33"/>
          <p:cNvSpPr>
            <a:spLocks noChangeArrowheads="1"/>
          </p:cNvSpPr>
          <p:nvPr/>
        </p:nvSpPr>
        <p:spPr bwMode="auto">
          <a:xfrm>
            <a:off x="3657600" y="4267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7074" name="Rectangle 34"/>
          <p:cNvSpPr>
            <a:spLocks noChangeArrowheads="1"/>
          </p:cNvSpPr>
          <p:nvPr/>
        </p:nvSpPr>
        <p:spPr bwMode="auto">
          <a:xfrm>
            <a:off x="3657600" y="35814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7075" name="Rectangle 35"/>
          <p:cNvSpPr>
            <a:spLocks noChangeArrowheads="1"/>
          </p:cNvSpPr>
          <p:nvPr/>
        </p:nvSpPr>
        <p:spPr bwMode="auto">
          <a:xfrm>
            <a:off x="3657600" y="28956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7076" name="Rectangle 36"/>
          <p:cNvSpPr>
            <a:spLocks noChangeArrowheads="1"/>
          </p:cNvSpPr>
          <p:nvPr/>
        </p:nvSpPr>
        <p:spPr bwMode="auto">
          <a:xfrm>
            <a:off x="3657600" y="2209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7077" name="Text Box 37"/>
          <p:cNvSpPr txBox="1">
            <a:spLocks noChangeArrowheads="1"/>
          </p:cNvSpPr>
          <p:nvPr/>
        </p:nvSpPr>
        <p:spPr bwMode="auto">
          <a:xfrm>
            <a:off x="2895600" y="1676400"/>
            <a:ext cx="457200" cy="4561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85000"/>
              </a:spcBef>
            </a:pPr>
            <a:r>
              <a:rPr lang="it-IT" sz="2400">
                <a:latin typeface="Calibri"/>
                <a:cs typeface="Calibri"/>
                <a:sym typeface="Symbol" charset="0"/>
              </a:rPr>
              <a:t>A</a:t>
            </a:r>
          </a:p>
          <a:p>
            <a:pPr>
              <a:spcBef>
                <a:spcPct val="85000"/>
              </a:spcBef>
            </a:pPr>
            <a:r>
              <a:rPr lang="it-IT" sz="2400">
                <a:latin typeface="Calibri"/>
                <a:cs typeface="Calibri"/>
                <a:sym typeface="Symbol" charset="0"/>
              </a:rPr>
              <a:t>B</a:t>
            </a:r>
          </a:p>
          <a:p>
            <a:pPr>
              <a:spcBef>
                <a:spcPct val="85000"/>
              </a:spcBef>
            </a:pPr>
            <a:r>
              <a:rPr lang="it-IT" sz="2400">
                <a:latin typeface="Calibri"/>
                <a:cs typeface="Calibri"/>
                <a:sym typeface="Symbol" charset="0"/>
              </a:rPr>
              <a:t>C</a:t>
            </a:r>
          </a:p>
          <a:p>
            <a:pPr>
              <a:spcBef>
                <a:spcPct val="85000"/>
              </a:spcBef>
            </a:pPr>
            <a:r>
              <a:rPr lang="it-IT" sz="2400">
                <a:latin typeface="Calibri"/>
                <a:cs typeface="Calibri"/>
                <a:sym typeface="Symbol" charset="0"/>
              </a:rPr>
              <a:t>B</a:t>
            </a:r>
          </a:p>
          <a:p>
            <a:pPr>
              <a:spcBef>
                <a:spcPct val="85000"/>
              </a:spcBef>
            </a:pPr>
            <a:r>
              <a:rPr lang="it-IT" sz="2400">
                <a:latin typeface="Calibri"/>
                <a:cs typeface="Calibri"/>
                <a:sym typeface="Symbol" charset="0"/>
              </a:rPr>
              <a:t>D</a:t>
            </a:r>
          </a:p>
          <a:p>
            <a:pPr>
              <a:spcBef>
                <a:spcPct val="85000"/>
              </a:spcBef>
            </a:pPr>
            <a:r>
              <a:rPr lang="it-IT" sz="2400">
                <a:latin typeface="Calibri"/>
                <a:cs typeface="Calibri"/>
                <a:sym typeface="Symbol" charset="0"/>
              </a:rPr>
              <a:t>A</a:t>
            </a:r>
          </a:p>
          <a:p>
            <a:pPr>
              <a:spcBef>
                <a:spcPct val="85000"/>
              </a:spcBef>
            </a:pPr>
            <a:r>
              <a:rPr lang="it-IT" sz="2400">
                <a:latin typeface="Calibri"/>
                <a:cs typeface="Calibri"/>
                <a:sym typeface="Symbol" charset="0"/>
              </a:rPr>
              <a:t>B</a:t>
            </a:r>
          </a:p>
        </p:txBody>
      </p:sp>
      <p:sp>
        <p:nvSpPr>
          <p:cNvPr id="727078" name="Text Box 38"/>
          <p:cNvSpPr txBox="1">
            <a:spLocks noChangeArrowheads="1"/>
          </p:cNvSpPr>
          <p:nvPr/>
        </p:nvSpPr>
        <p:spPr bwMode="auto">
          <a:xfrm>
            <a:off x="3581400" y="15240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  <p:sp>
        <p:nvSpPr>
          <p:cNvPr id="727079" name="Text Box 39"/>
          <p:cNvSpPr txBox="1">
            <a:spLocks noChangeArrowheads="1"/>
          </p:cNvSpPr>
          <p:nvPr/>
        </p:nvSpPr>
        <p:spPr bwMode="auto">
          <a:xfrm>
            <a:off x="3581400" y="22098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  <p:sp>
        <p:nvSpPr>
          <p:cNvPr id="727080" name="Text Box 40"/>
          <p:cNvSpPr txBox="1">
            <a:spLocks noChangeArrowheads="1"/>
          </p:cNvSpPr>
          <p:nvPr/>
        </p:nvSpPr>
        <p:spPr bwMode="auto">
          <a:xfrm>
            <a:off x="3581400" y="28956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  <p:sp>
        <p:nvSpPr>
          <p:cNvPr id="727081" name="Text Box 41"/>
          <p:cNvSpPr txBox="1">
            <a:spLocks noChangeArrowheads="1"/>
          </p:cNvSpPr>
          <p:nvPr/>
        </p:nvSpPr>
        <p:spPr bwMode="auto">
          <a:xfrm>
            <a:off x="3581400" y="35814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  <p:sp>
        <p:nvSpPr>
          <p:cNvPr id="727082" name="Text Box 42"/>
          <p:cNvSpPr txBox="1">
            <a:spLocks noChangeArrowheads="1"/>
          </p:cNvSpPr>
          <p:nvPr/>
        </p:nvSpPr>
        <p:spPr bwMode="auto">
          <a:xfrm>
            <a:off x="3581400" y="42672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  <p:sp>
        <p:nvSpPr>
          <p:cNvPr id="727083" name="Text Box 43"/>
          <p:cNvSpPr txBox="1">
            <a:spLocks noChangeArrowheads="1"/>
          </p:cNvSpPr>
          <p:nvPr/>
        </p:nvSpPr>
        <p:spPr bwMode="auto">
          <a:xfrm>
            <a:off x="3581400" y="49530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  <p:sp>
        <p:nvSpPr>
          <p:cNvPr id="727084" name="Text Box 44"/>
          <p:cNvSpPr txBox="1">
            <a:spLocks noChangeArrowheads="1"/>
          </p:cNvSpPr>
          <p:nvPr/>
        </p:nvSpPr>
        <p:spPr bwMode="auto">
          <a:xfrm>
            <a:off x="3581400" y="56388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  <p:sp>
        <p:nvSpPr>
          <p:cNvPr id="727085" name="Text Box 45"/>
          <p:cNvSpPr txBox="1">
            <a:spLocks noChangeArrowheads="1"/>
          </p:cNvSpPr>
          <p:nvPr/>
        </p:nvSpPr>
        <p:spPr bwMode="auto">
          <a:xfrm>
            <a:off x="3352800" y="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Y</a:t>
            </a:r>
          </a:p>
        </p:txBody>
      </p:sp>
      <p:sp>
        <p:nvSpPr>
          <p:cNvPr id="727086" name="Text Box 46"/>
          <p:cNvSpPr txBox="1">
            <a:spLocks noChangeArrowheads="1"/>
          </p:cNvSpPr>
          <p:nvPr/>
        </p:nvSpPr>
        <p:spPr bwMode="auto">
          <a:xfrm>
            <a:off x="2895600" y="4572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latin typeface="Calibri"/>
                <a:cs typeface="Calibri"/>
                <a:sym typeface="Symbol" charset="0"/>
              </a:rPr>
              <a:t>X</a:t>
            </a:r>
          </a:p>
        </p:txBody>
      </p:sp>
      <p:sp>
        <p:nvSpPr>
          <p:cNvPr id="727087" name="Line 47"/>
          <p:cNvSpPr>
            <a:spLocks noChangeShapeType="1"/>
          </p:cNvSpPr>
          <p:nvPr/>
        </p:nvSpPr>
        <p:spPr bwMode="auto">
          <a:xfrm>
            <a:off x="3048000" y="2286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727088" name="Rectangle 48"/>
          <p:cNvSpPr>
            <a:spLocks noChangeArrowheads="1"/>
          </p:cNvSpPr>
          <p:nvPr/>
        </p:nvSpPr>
        <p:spPr bwMode="auto">
          <a:xfrm>
            <a:off x="4343400" y="1524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089" name="Rectangle 49"/>
          <p:cNvSpPr>
            <a:spLocks noChangeArrowheads="1"/>
          </p:cNvSpPr>
          <p:nvPr/>
        </p:nvSpPr>
        <p:spPr bwMode="auto">
          <a:xfrm>
            <a:off x="4343400" y="2209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090" name="Rectangle 50"/>
          <p:cNvSpPr>
            <a:spLocks noChangeArrowheads="1"/>
          </p:cNvSpPr>
          <p:nvPr/>
        </p:nvSpPr>
        <p:spPr bwMode="auto">
          <a:xfrm>
            <a:off x="4343400" y="28956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091" name="Rectangle 51"/>
          <p:cNvSpPr>
            <a:spLocks noChangeArrowheads="1"/>
          </p:cNvSpPr>
          <p:nvPr/>
        </p:nvSpPr>
        <p:spPr bwMode="auto">
          <a:xfrm>
            <a:off x="4343400" y="35814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092" name="Rectangle 52"/>
          <p:cNvSpPr>
            <a:spLocks noChangeArrowheads="1"/>
          </p:cNvSpPr>
          <p:nvPr/>
        </p:nvSpPr>
        <p:spPr bwMode="auto">
          <a:xfrm>
            <a:off x="4343400" y="4267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093" name="Rectangle 53"/>
          <p:cNvSpPr>
            <a:spLocks noChangeArrowheads="1"/>
          </p:cNvSpPr>
          <p:nvPr/>
        </p:nvSpPr>
        <p:spPr bwMode="auto">
          <a:xfrm>
            <a:off x="4343400" y="4953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094" name="Rectangle 54"/>
          <p:cNvSpPr>
            <a:spLocks noChangeArrowheads="1"/>
          </p:cNvSpPr>
          <p:nvPr/>
        </p:nvSpPr>
        <p:spPr bwMode="auto">
          <a:xfrm>
            <a:off x="4343400" y="5638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095" name="Rectangle 55"/>
          <p:cNvSpPr>
            <a:spLocks noChangeArrowheads="1"/>
          </p:cNvSpPr>
          <p:nvPr/>
        </p:nvSpPr>
        <p:spPr bwMode="auto">
          <a:xfrm>
            <a:off x="5029200" y="1524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096" name="Rectangle 56"/>
          <p:cNvSpPr>
            <a:spLocks noChangeArrowheads="1"/>
          </p:cNvSpPr>
          <p:nvPr/>
        </p:nvSpPr>
        <p:spPr bwMode="auto">
          <a:xfrm>
            <a:off x="5029200" y="2209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</a:t>
            </a:r>
            <a:endParaRPr lang="en-US" sz="2400">
              <a:sym typeface="Wingdings 3" charset="0"/>
            </a:endParaRPr>
          </a:p>
        </p:txBody>
      </p:sp>
      <p:sp>
        <p:nvSpPr>
          <p:cNvPr id="727097" name="Rectangle 57"/>
          <p:cNvSpPr>
            <a:spLocks noChangeArrowheads="1"/>
          </p:cNvSpPr>
          <p:nvPr/>
        </p:nvSpPr>
        <p:spPr bwMode="auto">
          <a:xfrm>
            <a:off x="5029200" y="28956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098" name="Rectangle 58"/>
          <p:cNvSpPr>
            <a:spLocks noChangeArrowheads="1"/>
          </p:cNvSpPr>
          <p:nvPr/>
        </p:nvSpPr>
        <p:spPr bwMode="auto">
          <a:xfrm>
            <a:off x="5029200" y="35814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099" name="Rectangle 59"/>
          <p:cNvSpPr>
            <a:spLocks noChangeArrowheads="1"/>
          </p:cNvSpPr>
          <p:nvPr/>
        </p:nvSpPr>
        <p:spPr bwMode="auto">
          <a:xfrm>
            <a:off x="5029200" y="4267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100" name="Rectangle 60"/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01" name="Rectangle 61"/>
          <p:cNvSpPr>
            <a:spLocks noChangeArrowheads="1"/>
          </p:cNvSpPr>
          <p:nvPr/>
        </p:nvSpPr>
        <p:spPr bwMode="auto">
          <a:xfrm>
            <a:off x="5029200" y="5638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02" name="Rectangle 62"/>
          <p:cNvSpPr>
            <a:spLocks noChangeArrowheads="1"/>
          </p:cNvSpPr>
          <p:nvPr/>
        </p:nvSpPr>
        <p:spPr bwMode="auto">
          <a:xfrm>
            <a:off x="5715000" y="1524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03" name="Rectangle 63"/>
          <p:cNvSpPr>
            <a:spLocks noChangeArrowheads="1"/>
          </p:cNvSpPr>
          <p:nvPr/>
        </p:nvSpPr>
        <p:spPr bwMode="auto">
          <a:xfrm>
            <a:off x="5715000" y="2209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</a:t>
            </a:r>
            <a:endParaRPr lang="en-US" sz="2400">
              <a:sym typeface="Wingdings 3" charset="0"/>
            </a:endParaRPr>
          </a:p>
        </p:txBody>
      </p:sp>
      <p:sp>
        <p:nvSpPr>
          <p:cNvPr id="727104" name="Rectangle 64"/>
          <p:cNvSpPr>
            <a:spLocks noChangeArrowheads="1"/>
          </p:cNvSpPr>
          <p:nvPr/>
        </p:nvSpPr>
        <p:spPr bwMode="auto">
          <a:xfrm>
            <a:off x="5715000" y="28956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105" name="Rectangle 65"/>
          <p:cNvSpPr>
            <a:spLocks noChangeArrowheads="1"/>
          </p:cNvSpPr>
          <p:nvPr/>
        </p:nvSpPr>
        <p:spPr bwMode="auto">
          <a:xfrm>
            <a:off x="5715000" y="35814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06" name="Rectangle 66"/>
          <p:cNvSpPr>
            <a:spLocks noChangeArrowheads="1"/>
          </p:cNvSpPr>
          <p:nvPr/>
        </p:nvSpPr>
        <p:spPr bwMode="auto">
          <a:xfrm>
            <a:off x="5715000" y="4267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07" name="Rectangle 67"/>
          <p:cNvSpPr>
            <a:spLocks noChangeArrowheads="1"/>
          </p:cNvSpPr>
          <p:nvPr/>
        </p:nvSpPr>
        <p:spPr bwMode="auto">
          <a:xfrm>
            <a:off x="5715000" y="4953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08" name="Rectangle 68"/>
          <p:cNvSpPr>
            <a:spLocks noChangeArrowheads="1"/>
          </p:cNvSpPr>
          <p:nvPr/>
        </p:nvSpPr>
        <p:spPr bwMode="auto">
          <a:xfrm>
            <a:off x="5715000" y="5638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09" name="Rectangle 69"/>
          <p:cNvSpPr>
            <a:spLocks noChangeArrowheads="1"/>
          </p:cNvSpPr>
          <p:nvPr/>
        </p:nvSpPr>
        <p:spPr bwMode="auto">
          <a:xfrm>
            <a:off x="6400800" y="1524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110" name="Rectangle 70"/>
          <p:cNvSpPr>
            <a:spLocks noChangeArrowheads="1"/>
          </p:cNvSpPr>
          <p:nvPr/>
        </p:nvSpPr>
        <p:spPr bwMode="auto">
          <a:xfrm>
            <a:off x="6400800" y="2209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11" name="Rectangle 71"/>
          <p:cNvSpPr>
            <a:spLocks noChangeArrowheads="1"/>
          </p:cNvSpPr>
          <p:nvPr/>
        </p:nvSpPr>
        <p:spPr bwMode="auto">
          <a:xfrm>
            <a:off x="6400800" y="28956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</a:t>
            </a:r>
            <a:endParaRPr lang="en-US" sz="2400">
              <a:sym typeface="Wingdings 3" charset="0"/>
            </a:endParaRPr>
          </a:p>
        </p:txBody>
      </p:sp>
      <p:sp>
        <p:nvSpPr>
          <p:cNvPr id="727112" name="Rectangle 72"/>
          <p:cNvSpPr>
            <a:spLocks noChangeArrowheads="1"/>
          </p:cNvSpPr>
          <p:nvPr/>
        </p:nvSpPr>
        <p:spPr bwMode="auto">
          <a:xfrm>
            <a:off x="6400800" y="35814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13" name="Rectangle 73"/>
          <p:cNvSpPr>
            <a:spLocks noChangeArrowheads="1"/>
          </p:cNvSpPr>
          <p:nvPr/>
        </p:nvSpPr>
        <p:spPr bwMode="auto">
          <a:xfrm>
            <a:off x="6400800" y="4267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14" name="Rectangle 74"/>
          <p:cNvSpPr>
            <a:spLocks noChangeArrowheads="1"/>
          </p:cNvSpPr>
          <p:nvPr/>
        </p:nvSpPr>
        <p:spPr bwMode="auto">
          <a:xfrm>
            <a:off x="6400800" y="4953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115" name="Rectangle 75"/>
          <p:cNvSpPr>
            <a:spLocks noChangeArrowheads="1"/>
          </p:cNvSpPr>
          <p:nvPr/>
        </p:nvSpPr>
        <p:spPr bwMode="auto">
          <a:xfrm>
            <a:off x="6400800" y="5638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16" name="Rectangle 76"/>
          <p:cNvSpPr>
            <a:spLocks noChangeArrowheads="1"/>
          </p:cNvSpPr>
          <p:nvPr/>
        </p:nvSpPr>
        <p:spPr bwMode="auto">
          <a:xfrm>
            <a:off x="7086600" y="1524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</a:t>
            </a:r>
            <a:endParaRPr lang="en-US" sz="2400">
              <a:sym typeface="Wingdings 3" charset="0"/>
            </a:endParaRPr>
          </a:p>
        </p:txBody>
      </p:sp>
      <p:sp>
        <p:nvSpPr>
          <p:cNvPr id="727117" name="Rectangle 77"/>
          <p:cNvSpPr>
            <a:spLocks noChangeArrowheads="1"/>
          </p:cNvSpPr>
          <p:nvPr/>
        </p:nvSpPr>
        <p:spPr bwMode="auto">
          <a:xfrm>
            <a:off x="7086600" y="2209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118" name="Rectangle 78"/>
          <p:cNvSpPr>
            <a:spLocks noChangeArrowheads="1"/>
          </p:cNvSpPr>
          <p:nvPr/>
        </p:nvSpPr>
        <p:spPr bwMode="auto">
          <a:xfrm>
            <a:off x="7086600" y="28956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19" name="Rectangle 79"/>
          <p:cNvSpPr>
            <a:spLocks noChangeArrowheads="1"/>
          </p:cNvSpPr>
          <p:nvPr/>
        </p:nvSpPr>
        <p:spPr bwMode="auto">
          <a:xfrm>
            <a:off x="7086600" y="35814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120" name="Rectangle 80"/>
          <p:cNvSpPr>
            <a:spLocks noChangeArrowheads="1"/>
          </p:cNvSpPr>
          <p:nvPr/>
        </p:nvSpPr>
        <p:spPr bwMode="auto">
          <a:xfrm>
            <a:off x="7086600" y="4267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21" name="Rectangle 81"/>
          <p:cNvSpPr>
            <a:spLocks noChangeArrowheads="1"/>
          </p:cNvSpPr>
          <p:nvPr/>
        </p:nvSpPr>
        <p:spPr bwMode="auto">
          <a:xfrm>
            <a:off x="7086600" y="4953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22" name="Rectangle 82"/>
          <p:cNvSpPr>
            <a:spLocks noChangeArrowheads="1"/>
          </p:cNvSpPr>
          <p:nvPr/>
        </p:nvSpPr>
        <p:spPr bwMode="auto">
          <a:xfrm>
            <a:off x="7086600" y="5638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123" name="Rectangle 83"/>
          <p:cNvSpPr>
            <a:spLocks noChangeArrowheads="1"/>
          </p:cNvSpPr>
          <p:nvPr/>
        </p:nvSpPr>
        <p:spPr bwMode="auto">
          <a:xfrm>
            <a:off x="7772400" y="1524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124" name="Rectangle 84"/>
          <p:cNvSpPr>
            <a:spLocks noChangeArrowheads="1"/>
          </p:cNvSpPr>
          <p:nvPr/>
        </p:nvSpPr>
        <p:spPr bwMode="auto">
          <a:xfrm>
            <a:off x="7772400" y="2209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</a:t>
            </a:r>
            <a:endParaRPr lang="en-US" sz="2400">
              <a:sym typeface="Wingdings 3" charset="0"/>
            </a:endParaRPr>
          </a:p>
        </p:txBody>
      </p:sp>
      <p:sp>
        <p:nvSpPr>
          <p:cNvPr id="727125" name="Rectangle 85"/>
          <p:cNvSpPr>
            <a:spLocks noChangeArrowheads="1"/>
          </p:cNvSpPr>
          <p:nvPr/>
        </p:nvSpPr>
        <p:spPr bwMode="auto">
          <a:xfrm>
            <a:off x="7772400" y="28956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26" name="Rectangle 86"/>
          <p:cNvSpPr>
            <a:spLocks noChangeArrowheads="1"/>
          </p:cNvSpPr>
          <p:nvPr/>
        </p:nvSpPr>
        <p:spPr bwMode="auto">
          <a:xfrm>
            <a:off x="7772400" y="35814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</a:p>
          <a:p>
            <a:pPr algn="ctr"/>
            <a:r>
              <a:rPr lang="it-IT" sz="2400">
                <a:sym typeface="Wingdings 3" charset="0"/>
              </a:rPr>
              <a:t></a:t>
            </a:r>
            <a:endParaRPr lang="en-US" sz="2400">
              <a:sym typeface="Wingdings 3" charset="0"/>
            </a:endParaRPr>
          </a:p>
        </p:txBody>
      </p:sp>
      <p:sp>
        <p:nvSpPr>
          <p:cNvPr id="727127" name="Rectangle 87"/>
          <p:cNvSpPr>
            <a:spLocks noChangeArrowheads="1"/>
          </p:cNvSpPr>
          <p:nvPr/>
        </p:nvSpPr>
        <p:spPr bwMode="auto">
          <a:xfrm>
            <a:off x="7772400" y="4267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28" name="Rectangle 88"/>
          <p:cNvSpPr>
            <a:spLocks noChangeArrowheads="1"/>
          </p:cNvSpPr>
          <p:nvPr/>
        </p:nvSpPr>
        <p:spPr bwMode="auto">
          <a:xfrm>
            <a:off x="7772400" y="4953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129" name="Rectangle 89"/>
          <p:cNvSpPr>
            <a:spLocks noChangeArrowheads="1"/>
          </p:cNvSpPr>
          <p:nvPr/>
        </p:nvSpPr>
        <p:spPr bwMode="auto">
          <a:xfrm>
            <a:off x="7772400" y="5638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30" name="Rectangle 90"/>
          <p:cNvSpPr>
            <a:spLocks noChangeArrowheads="1"/>
          </p:cNvSpPr>
          <p:nvPr/>
        </p:nvSpPr>
        <p:spPr bwMode="auto">
          <a:xfrm>
            <a:off x="7772400" y="5638800"/>
            <a:ext cx="6858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31" name="Rectangle 91"/>
          <p:cNvSpPr>
            <a:spLocks noChangeArrowheads="1"/>
          </p:cNvSpPr>
          <p:nvPr/>
        </p:nvSpPr>
        <p:spPr bwMode="auto">
          <a:xfrm>
            <a:off x="7772400" y="4953000"/>
            <a:ext cx="6858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132" name="Text Box 92"/>
          <p:cNvSpPr txBox="1">
            <a:spLocks noChangeArrowheads="1"/>
          </p:cNvSpPr>
          <p:nvPr/>
        </p:nvSpPr>
        <p:spPr bwMode="auto">
          <a:xfrm>
            <a:off x="251520" y="3496072"/>
            <a:ext cx="1676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LCS=....</a:t>
            </a:r>
          </a:p>
        </p:txBody>
      </p:sp>
      <p:sp>
        <p:nvSpPr>
          <p:cNvPr id="727133" name="Text Box 93"/>
          <p:cNvSpPr txBox="1">
            <a:spLocks noChangeArrowheads="1"/>
          </p:cNvSpPr>
          <p:nvPr/>
        </p:nvSpPr>
        <p:spPr bwMode="auto">
          <a:xfrm>
            <a:off x="251520" y="3496072"/>
            <a:ext cx="1676400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LCS=...A</a:t>
            </a:r>
          </a:p>
        </p:txBody>
      </p:sp>
      <p:sp>
        <p:nvSpPr>
          <p:cNvPr id="727134" name="Rectangle 94"/>
          <p:cNvSpPr>
            <a:spLocks noChangeArrowheads="1"/>
          </p:cNvSpPr>
          <p:nvPr/>
        </p:nvSpPr>
        <p:spPr bwMode="auto">
          <a:xfrm>
            <a:off x="7086600" y="4267200"/>
            <a:ext cx="6858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sp>
        <p:nvSpPr>
          <p:cNvPr id="727135" name="Rectangle 95"/>
          <p:cNvSpPr>
            <a:spLocks noChangeArrowheads="1"/>
          </p:cNvSpPr>
          <p:nvPr/>
        </p:nvSpPr>
        <p:spPr bwMode="auto">
          <a:xfrm>
            <a:off x="7086600" y="3581400"/>
            <a:ext cx="6858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136" name="Text Box 96"/>
          <p:cNvSpPr txBox="1">
            <a:spLocks noChangeArrowheads="1"/>
          </p:cNvSpPr>
          <p:nvPr/>
        </p:nvSpPr>
        <p:spPr bwMode="auto">
          <a:xfrm>
            <a:off x="251520" y="3496072"/>
            <a:ext cx="1676400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latin typeface="+mj-lt"/>
                <a:sym typeface="Symbol" charset="0"/>
              </a:rPr>
              <a:t>LCS=..BA</a:t>
            </a:r>
          </a:p>
        </p:txBody>
      </p:sp>
      <p:sp>
        <p:nvSpPr>
          <p:cNvPr id="727137" name="Rectangle 97"/>
          <p:cNvSpPr>
            <a:spLocks noChangeArrowheads="1"/>
          </p:cNvSpPr>
          <p:nvPr/>
        </p:nvSpPr>
        <p:spPr bwMode="auto">
          <a:xfrm>
            <a:off x="6400800" y="2895600"/>
            <a:ext cx="6858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</a:t>
            </a:r>
            <a:endParaRPr lang="en-US" sz="2400">
              <a:sym typeface="Wingdings 3" charset="0"/>
            </a:endParaRPr>
          </a:p>
        </p:txBody>
      </p:sp>
      <p:sp>
        <p:nvSpPr>
          <p:cNvPr id="727138" name="Rectangle 98"/>
          <p:cNvSpPr>
            <a:spLocks noChangeArrowheads="1"/>
          </p:cNvSpPr>
          <p:nvPr/>
        </p:nvSpPr>
        <p:spPr bwMode="auto">
          <a:xfrm>
            <a:off x="5715000" y="2895600"/>
            <a:ext cx="6858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139" name="Text Box 99"/>
          <p:cNvSpPr txBox="1">
            <a:spLocks noChangeArrowheads="1"/>
          </p:cNvSpPr>
          <p:nvPr/>
        </p:nvSpPr>
        <p:spPr bwMode="auto">
          <a:xfrm>
            <a:off x="251520" y="3496072"/>
            <a:ext cx="1676400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dirty="0">
                <a:latin typeface="+mj-lt"/>
                <a:sym typeface="Symbol" charset="0"/>
              </a:rPr>
              <a:t>LCS=.CBA</a:t>
            </a:r>
          </a:p>
        </p:txBody>
      </p:sp>
      <p:sp>
        <p:nvSpPr>
          <p:cNvPr id="727140" name="Rectangle 100"/>
          <p:cNvSpPr>
            <a:spLocks noChangeArrowheads="1"/>
          </p:cNvSpPr>
          <p:nvPr/>
        </p:nvSpPr>
        <p:spPr bwMode="auto">
          <a:xfrm>
            <a:off x="5029200" y="2209800"/>
            <a:ext cx="6858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</a:t>
            </a:r>
            <a:endParaRPr lang="en-US" sz="2400">
              <a:sym typeface="Wingdings 3" charset="0"/>
            </a:endParaRPr>
          </a:p>
        </p:txBody>
      </p:sp>
      <p:sp>
        <p:nvSpPr>
          <p:cNvPr id="727141" name="Rectangle 101"/>
          <p:cNvSpPr>
            <a:spLocks noChangeArrowheads="1"/>
          </p:cNvSpPr>
          <p:nvPr/>
        </p:nvSpPr>
        <p:spPr bwMode="auto">
          <a:xfrm>
            <a:off x="4343400" y="2209800"/>
            <a:ext cx="6858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7142" name="Text Box 102"/>
          <p:cNvSpPr txBox="1">
            <a:spLocks noChangeArrowheads="1"/>
          </p:cNvSpPr>
          <p:nvPr/>
        </p:nvSpPr>
        <p:spPr bwMode="auto">
          <a:xfrm>
            <a:off x="251520" y="3496072"/>
            <a:ext cx="2057400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dirty="0" smtClean="0">
                <a:latin typeface="Calibri"/>
                <a:cs typeface="Calibri"/>
                <a:sym typeface="Symbol" charset="0"/>
              </a:rPr>
              <a:t>LCS = BCBA</a:t>
            </a:r>
            <a:endParaRPr lang="it-IT" sz="2400" dirty="0">
              <a:latin typeface="Calibri"/>
              <a:cs typeface="Calibri"/>
              <a:sym typeface="Symbol" charset="0"/>
            </a:endParaRPr>
          </a:p>
        </p:txBody>
      </p:sp>
      <p:grpSp>
        <p:nvGrpSpPr>
          <p:cNvPr id="727143" name="Group 103"/>
          <p:cNvGrpSpPr>
            <a:grpSpLocks/>
          </p:cNvGrpSpPr>
          <p:nvPr/>
        </p:nvGrpSpPr>
        <p:grpSpPr bwMode="auto">
          <a:xfrm>
            <a:off x="3581400" y="1524000"/>
            <a:ext cx="762000" cy="701675"/>
            <a:chOff x="2256" y="960"/>
            <a:chExt cx="480" cy="442"/>
          </a:xfrm>
        </p:grpSpPr>
        <p:sp>
          <p:nvSpPr>
            <p:cNvPr id="727144" name="Rectangle 104"/>
            <p:cNvSpPr>
              <a:spLocks noChangeArrowheads="1"/>
            </p:cNvSpPr>
            <p:nvPr/>
          </p:nvSpPr>
          <p:spPr bwMode="auto">
            <a:xfrm>
              <a:off x="2304" y="960"/>
              <a:ext cx="43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0</a:t>
              </a:r>
            </a:p>
            <a:p>
              <a:pPr algn="ctr"/>
              <a:endParaRPr lang="en-US" sz="2000"/>
            </a:p>
          </p:txBody>
        </p:sp>
        <p:sp>
          <p:nvSpPr>
            <p:cNvPr id="727145" name="Text Box 105"/>
            <p:cNvSpPr txBox="1">
              <a:spLocks noChangeArrowheads="1"/>
            </p:cNvSpPr>
            <p:nvPr/>
          </p:nvSpPr>
          <p:spPr bwMode="auto">
            <a:xfrm>
              <a:off x="2256" y="960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 i="1">
                  <a:sym typeface="Symbol" charset="0"/>
                </a:rPr>
                <a:t>c</a:t>
              </a:r>
            </a:p>
            <a:p>
              <a:r>
                <a:rPr lang="it-IT" sz="2000" i="1">
                  <a:sym typeface="Symbol" charset="0"/>
                </a:rPr>
                <a:t>s</a:t>
              </a:r>
              <a:endParaRPr lang="it-IT" sz="2000">
                <a:sym typeface="Symbol" charset="0"/>
              </a:endParaRP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30" grpId="0" animBg="1" autoUpdateAnimBg="0"/>
      <p:bldP spid="727131" grpId="0" animBg="1" autoUpdateAnimBg="0"/>
      <p:bldP spid="727132" grpId="0" autoUpdateAnimBg="0"/>
      <p:bldP spid="727133" grpId="0" animBg="1" autoUpdateAnimBg="0"/>
      <p:bldP spid="727134" grpId="0" animBg="1" autoUpdateAnimBg="0"/>
      <p:bldP spid="727135" grpId="0" animBg="1" autoUpdateAnimBg="0"/>
      <p:bldP spid="727136" grpId="0" animBg="1" autoUpdateAnimBg="0"/>
      <p:bldP spid="727137" grpId="0" animBg="1" autoUpdateAnimBg="0"/>
      <p:bldP spid="727138" grpId="0" animBg="1" autoUpdateAnimBg="0"/>
      <p:bldP spid="727139" grpId="0" animBg="1" autoUpdateAnimBg="0"/>
      <p:bldP spid="727140" grpId="0" animBg="1" autoUpdateAnimBg="0"/>
      <p:bldP spid="727141" grpId="0" animBg="1" autoUpdateAnimBg="0"/>
      <p:bldP spid="727142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Text Box 2"/>
          <p:cNvSpPr txBox="1">
            <a:spLocks noChangeArrowheads="1"/>
          </p:cNvSpPr>
          <p:nvPr/>
        </p:nvSpPr>
        <p:spPr bwMode="auto">
          <a:xfrm>
            <a:off x="459160" y="1345704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Quarto passo</a:t>
            </a:r>
            <a:r>
              <a:rPr lang="it-IT" sz="2400" dirty="0">
                <a:sym typeface="Symbol" charset="0"/>
              </a:rPr>
              <a:t>: </a:t>
            </a:r>
            <a:r>
              <a:rPr lang="it-IT" sz="2400" i="1" dirty="0">
                <a:sym typeface="Symbol" charset="0"/>
              </a:rPr>
              <a:t>Costruzione della </a:t>
            </a:r>
            <a:r>
              <a:rPr lang="it-IT" sz="2400" i="1" dirty="0" smtClean="0">
                <a:sym typeface="Symbol" charset="0"/>
              </a:rPr>
              <a:t>LCS</a:t>
            </a:r>
            <a:endParaRPr lang="it-IT" sz="2400" i="1" dirty="0">
              <a:sym typeface="Symbol" charset="0"/>
            </a:endParaRPr>
          </a:p>
        </p:txBody>
      </p:sp>
      <p:sp>
        <p:nvSpPr>
          <p:cNvPr id="728067" name="Text Box 3"/>
          <p:cNvSpPr txBox="1">
            <a:spLocks noChangeArrowheads="1"/>
          </p:cNvSpPr>
          <p:nvPr/>
        </p:nvSpPr>
        <p:spPr bwMode="auto">
          <a:xfrm>
            <a:off x="611560" y="2132856"/>
            <a:ext cx="7924800" cy="406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StampaLCS</a:t>
            </a:r>
            <a:r>
              <a:rPr lang="it-IT" sz="2400" dirty="0">
                <a:sym typeface="Symbol" charset="0"/>
              </a:rPr>
              <a:t>(</a:t>
            </a:r>
            <a:r>
              <a:rPr lang="it-IT" sz="2400" dirty="0" err="1">
                <a:sym typeface="Symbol" charset="0"/>
              </a:rPr>
              <a:t>X,S,i,j</a:t>
            </a:r>
            <a:r>
              <a:rPr lang="it-IT" sz="2400" dirty="0">
                <a:sym typeface="Symbol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if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i &gt; 0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and </a:t>
            </a:r>
            <a:r>
              <a:rPr lang="it-IT" sz="2400" dirty="0" err="1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 &gt; 0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then</a:t>
            </a:r>
            <a:endParaRPr lang="it-IT" sz="2400" dirty="0">
              <a:solidFill>
                <a:srgbClr val="201FF0"/>
              </a:solidFill>
              <a:sym typeface="Symbol" charset="0"/>
            </a:endParaRP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if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err="1" smtClean="0">
                <a:sym typeface="Symbol" charset="0"/>
              </a:rPr>
              <a:t>S</a:t>
            </a:r>
            <a:r>
              <a:rPr lang="it-IT" sz="2400" dirty="0">
                <a:sym typeface="Symbol" charset="0"/>
              </a:rPr>
              <a:t>[</a:t>
            </a:r>
            <a:r>
              <a:rPr lang="it-IT" sz="2400" dirty="0" err="1">
                <a:sym typeface="Symbol" charset="0"/>
              </a:rPr>
              <a:t>i,j</a:t>
            </a:r>
            <a:r>
              <a:rPr lang="it-IT" sz="2400" dirty="0">
                <a:sym typeface="Symbol" charset="0"/>
              </a:rPr>
              <a:t>] = “</a:t>
            </a:r>
            <a:r>
              <a:rPr lang="it-IT" sz="2400" dirty="0">
                <a:sym typeface="Wingdings 3" charset="0"/>
              </a:rPr>
              <a:t></a:t>
            </a:r>
            <a:r>
              <a:rPr lang="it-IT" sz="2400" dirty="0">
                <a:sym typeface="Symbol" charset="0"/>
              </a:rPr>
              <a:t>”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then</a:t>
            </a:r>
            <a:endParaRPr lang="it-IT" sz="2400" dirty="0">
              <a:solidFill>
                <a:srgbClr val="201FF0"/>
              </a:solidFill>
              <a:sym typeface="Symbol" charset="0"/>
            </a:endParaRP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    </a:t>
            </a:r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StampaLCS</a:t>
            </a:r>
            <a:r>
              <a:rPr lang="it-IT" sz="2400" dirty="0">
                <a:sym typeface="Symbol" charset="0"/>
              </a:rPr>
              <a:t>(X, </a:t>
            </a:r>
            <a:r>
              <a:rPr lang="it-IT" sz="2400" dirty="0" err="1">
                <a:sym typeface="Symbol" charset="0"/>
              </a:rPr>
              <a:t>S</a:t>
            </a:r>
            <a:r>
              <a:rPr lang="it-IT" sz="2400" dirty="0">
                <a:sym typeface="Symbol" charset="0"/>
              </a:rPr>
              <a:t>, i-1, j-1)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print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X[i]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else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if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err="1">
                <a:sym typeface="Symbol" charset="0"/>
              </a:rPr>
              <a:t>S</a:t>
            </a:r>
            <a:r>
              <a:rPr lang="it-IT" sz="2400" dirty="0">
                <a:sym typeface="Symbol" charset="0"/>
              </a:rPr>
              <a:t>[</a:t>
            </a:r>
            <a:r>
              <a:rPr lang="it-IT" sz="2400" dirty="0" err="1">
                <a:sym typeface="Symbol" charset="0"/>
              </a:rPr>
              <a:t>i,j</a:t>
            </a:r>
            <a:r>
              <a:rPr lang="it-IT" sz="2400" dirty="0">
                <a:sym typeface="Symbol" charset="0"/>
              </a:rPr>
              <a:t>] = “</a:t>
            </a:r>
            <a:r>
              <a:rPr lang="it-IT" sz="2400" dirty="0">
                <a:sym typeface="Wingdings 3" charset="0"/>
              </a:rPr>
              <a:t></a:t>
            </a:r>
            <a:r>
              <a:rPr lang="it-IT" sz="2400" dirty="0">
                <a:sym typeface="Symbol" charset="0"/>
              </a:rPr>
              <a:t>”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then</a:t>
            </a:r>
            <a:endParaRPr lang="it-IT" sz="2400" dirty="0">
              <a:solidFill>
                <a:srgbClr val="201FF0"/>
              </a:solidFill>
              <a:sym typeface="Symbol" charset="0"/>
            </a:endParaRP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    </a:t>
            </a:r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StampaLCS</a:t>
            </a:r>
            <a:r>
              <a:rPr lang="it-IT" sz="2400" dirty="0">
                <a:sym typeface="Symbol" charset="0"/>
              </a:rPr>
              <a:t>(X, </a:t>
            </a:r>
            <a:r>
              <a:rPr lang="it-IT" sz="2400" dirty="0" err="1">
                <a:sym typeface="Symbol" charset="0"/>
              </a:rPr>
              <a:t>S</a:t>
            </a:r>
            <a:r>
              <a:rPr lang="it-IT" sz="2400" dirty="0">
                <a:sym typeface="Symbol" charset="0"/>
              </a:rPr>
              <a:t>, i-1, </a:t>
            </a:r>
            <a:r>
              <a:rPr lang="it-IT" sz="2400" dirty="0" err="1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else </a:t>
            </a:r>
            <a:endParaRPr lang="it-IT" sz="2400" dirty="0">
              <a:solidFill>
                <a:schemeClr val="accent2"/>
              </a:solidFill>
              <a:sym typeface="Symbol" charset="0"/>
            </a:endParaRPr>
          </a:p>
          <a:p>
            <a:pPr>
              <a:lnSpc>
                <a:spcPct val="120000"/>
              </a:lnSpc>
            </a:pPr>
            <a:r>
              <a:rPr lang="it-IT" sz="2400" dirty="0">
                <a:sym typeface="Symbol" charset="0"/>
              </a:rPr>
              <a:t>            </a:t>
            </a:r>
            <a:r>
              <a:rPr lang="it-IT" sz="2400" dirty="0" err="1">
                <a:solidFill>
                  <a:srgbClr val="800000"/>
                </a:solidFill>
                <a:sym typeface="Symbol" charset="0"/>
              </a:rPr>
              <a:t>StampaLCS</a:t>
            </a:r>
            <a:r>
              <a:rPr lang="it-IT" sz="2400" dirty="0">
                <a:sym typeface="Symbol" charset="0"/>
              </a:rPr>
              <a:t>(X, </a:t>
            </a:r>
            <a:r>
              <a:rPr lang="it-IT" sz="2400" dirty="0" err="1">
                <a:sym typeface="Symbol" charset="0"/>
              </a:rPr>
              <a:t>S</a:t>
            </a:r>
            <a:r>
              <a:rPr lang="it-IT" sz="2400" dirty="0">
                <a:sym typeface="Symbol" charset="0"/>
              </a:rPr>
              <a:t>, i, j-1)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71600" y="260648"/>
            <a:ext cx="7776864" cy="64807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Arial"/>
                <a:ea typeface="ＭＳ Ｐゴシック" charset="-128"/>
                <a:cs typeface="Arial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hlink"/>
                </a:solidFill>
                <a:latin typeface="Times New Roman" charset="0"/>
              </a:defRPr>
            </a:lvl9pPr>
          </a:lstStyle>
          <a:p>
            <a:r>
              <a:rPr lang="it-IT" smtClean="0">
                <a:solidFill>
                  <a:srgbClr val="FF0000"/>
                </a:solidFill>
              </a:rPr>
              <a:t>Massima sottosequenza comune (LCS)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/>
          <p:cNvSpPr>
            <a:spLocks noChangeArrowheads="1"/>
          </p:cNvSpPr>
          <p:nvPr/>
        </p:nvSpPr>
        <p:spPr bwMode="auto">
          <a:xfrm>
            <a:off x="3657600" y="2209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091" name="Rectangle 3"/>
          <p:cNvSpPr>
            <a:spLocks noChangeArrowheads="1"/>
          </p:cNvSpPr>
          <p:nvPr/>
        </p:nvSpPr>
        <p:spPr bwMode="auto">
          <a:xfrm>
            <a:off x="3657600" y="28956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092" name="Rectangle 4"/>
          <p:cNvSpPr>
            <a:spLocks noChangeArrowheads="1"/>
          </p:cNvSpPr>
          <p:nvPr/>
        </p:nvSpPr>
        <p:spPr bwMode="auto">
          <a:xfrm>
            <a:off x="3657600" y="35814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093" name="Rectangle 5"/>
          <p:cNvSpPr>
            <a:spLocks noChangeArrowheads="1"/>
          </p:cNvSpPr>
          <p:nvPr/>
        </p:nvSpPr>
        <p:spPr bwMode="auto">
          <a:xfrm>
            <a:off x="3657600" y="4267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094" name="Rectangle 6"/>
          <p:cNvSpPr>
            <a:spLocks noChangeArrowheads="1"/>
          </p:cNvSpPr>
          <p:nvPr/>
        </p:nvSpPr>
        <p:spPr bwMode="auto">
          <a:xfrm>
            <a:off x="3657600" y="4953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095" name="Rectangle 7"/>
          <p:cNvSpPr>
            <a:spLocks noChangeArrowheads="1"/>
          </p:cNvSpPr>
          <p:nvPr/>
        </p:nvSpPr>
        <p:spPr bwMode="auto">
          <a:xfrm>
            <a:off x="3657600" y="5638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096" name="Rectangle 8"/>
          <p:cNvSpPr>
            <a:spLocks noChangeArrowheads="1"/>
          </p:cNvSpPr>
          <p:nvPr/>
        </p:nvSpPr>
        <p:spPr bwMode="auto">
          <a:xfrm>
            <a:off x="3657600" y="1524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097" name="Rectangle 9"/>
          <p:cNvSpPr>
            <a:spLocks noChangeArrowheads="1"/>
          </p:cNvSpPr>
          <p:nvPr/>
        </p:nvSpPr>
        <p:spPr bwMode="auto">
          <a:xfrm>
            <a:off x="3657600" y="838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098" name="Text Box 10"/>
          <p:cNvSpPr txBox="1">
            <a:spLocks noChangeArrowheads="1"/>
          </p:cNvSpPr>
          <p:nvPr/>
        </p:nvSpPr>
        <p:spPr bwMode="auto">
          <a:xfrm>
            <a:off x="20796" y="1268760"/>
            <a:ext cx="274791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sz="2400">
                <a:solidFill>
                  <a:srgbClr val="FF0000"/>
                </a:solidFill>
                <a:sym typeface="Symbol" charset="0"/>
              </a:rPr>
              <a:t>Metodo top-down</a:t>
            </a:r>
          </a:p>
          <a:p>
            <a:r>
              <a:rPr lang="it-IT" sz="2400" i="1" u="sng">
                <a:sym typeface="Symbol" charset="0"/>
              </a:rPr>
              <a:t>Esempio</a:t>
            </a:r>
          </a:p>
        </p:txBody>
      </p:sp>
      <p:sp>
        <p:nvSpPr>
          <p:cNvPr id="729099" name="Text Box 11"/>
          <p:cNvSpPr txBox="1">
            <a:spLocks noChangeArrowheads="1"/>
          </p:cNvSpPr>
          <p:nvPr/>
        </p:nvSpPr>
        <p:spPr bwMode="auto">
          <a:xfrm>
            <a:off x="328686" y="2348880"/>
            <a:ext cx="2133600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sym typeface="Symbol" charset="0"/>
              </a:rPr>
              <a:t>X=ABCBDAB</a:t>
            </a:r>
          </a:p>
          <a:p>
            <a:r>
              <a:rPr lang="it-IT" sz="2000">
                <a:sym typeface="Symbol" charset="0"/>
              </a:rPr>
              <a:t>Y=BDCABA</a:t>
            </a:r>
          </a:p>
        </p:txBody>
      </p:sp>
      <p:sp>
        <p:nvSpPr>
          <p:cNvPr id="729100" name="Text Box 12"/>
          <p:cNvSpPr txBox="1">
            <a:spLocks noChangeArrowheads="1"/>
          </p:cNvSpPr>
          <p:nvPr/>
        </p:nvSpPr>
        <p:spPr bwMode="auto">
          <a:xfrm>
            <a:off x="3276600" y="6400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i="1">
                <a:sym typeface="Symbol" charset="0"/>
              </a:rPr>
              <a:t>i</a:t>
            </a:r>
            <a:endParaRPr lang="it-IT" sz="2400" baseline="-25000">
              <a:sym typeface="Symbol" charset="0"/>
            </a:endParaRPr>
          </a:p>
        </p:txBody>
      </p:sp>
      <p:sp>
        <p:nvSpPr>
          <p:cNvPr id="729101" name="Text Box 13"/>
          <p:cNvSpPr txBox="1">
            <a:spLocks noChangeArrowheads="1"/>
          </p:cNvSpPr>
          <p:nvPr/>
        </p:nvSpPr>
        <p:spPr bwMode="auto">
          <a:xfrm>
            <a:off x="3886200" y="381000"/>
            <a:ext cx="457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dirty="0">
                <a:sym typeface="Symbol" charset="0"/>
              </a:rPr>
              <a:t>0</a:t>
            </a:r>
          </a:p>
        </p:txBody>
      </p:sp>
      <p:sp>
        <p:nvSpPr>
          <p:cNvPr id="729102" name="Text Box 14"/>
          <p:cNvSpPr txBox="1">
            <a:spLocks noChangeArrowheads="1"/>
          </p:cNvSpPr>
          <p:nvPr/>
        </p:nvSpPr>
        <p:spPr bwMode="auto">
          <a:xfrm>
            <a:off x="7924800" y="381000"/>
            <a:ext cx="457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sym typeface="Symbol" charset="0"/>
              </a:rPr>
              <a:t>6</a:t>
            </a:r>
          </a:p>
        </p:txBody>
      </p:sp>
      <p:sp>
        <p:nvSpPr>
          <p:cNvPr id="729103" name="Text Box 15"/>
          <p:cNvSpPr txBox="1">
            <a:spLocks noChangeArrowheads="1"/>
          </p:cNvSpPr>
          <p:nvPr/>
        </p:nvSpPr>
        <p:spPr bwMode="auto">
          <a:xfrm>
            <a:off x="7239000" y="381000"/>
            <a:ext cx="457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sym typeface="Symbol" charset="0"/>
              </a:rPr>
              <a:t>5</a:t>
            </a:r>
          </a:p>
        </p:txBody>
      </p:sp>
      <p:sp>
        <p:nvSpPr>
          <p:cNvPr id="729104" name="Text Box 16"/>
          <p:cNvSpPr txBox="1">
            <a:spLocks noChangeArrowheads="1"/>
          </p:cNvSpPr>
          <p:nvPr/>
        </p:nvSpPr>
        <p:spPr bwMode="auto">
          <a:xfrm>
            <a:off x="6553200" y="381000"/>
            <a:ext cx="457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sym typeface="Symbol" charset="0"/>
              </a:rPr>
              <a:t>4</a:t>
            </a:r>
          </a:p>
        </p:txBody>
      </p:sp>
      <p:sp>
        <p:nvSpPr>
          <p:cNvPr id="729105" name="Text Box 17"/>
          <p:cNvSpPr txBox="1">
            <a:spLocks noChangeArrowheads="1"/>
          </p:cNvSpPr>
          <p:nvPr/>
        </p:nvSpPr>
        <p:spPr bwMode="auto">
          <a:xfrm>
            <a:off x="5943600" y="381000"/>
            <a:ext cx="457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sym typeface="Symbol" charset="0"/>
              </a:rPr>
              <a:t>3</a:t>
            </a:r>
          </a:p>
        </p:txBody>
      </p:sp>
      <p:sp>
        <p:nvSpPr>
          <p:cNvPr id="729106" name="Text Box 18"/>
          <p:cNvSpPr txBox="1">
            <a:spLocks noChangeArrowheads="1"/>
          </p:cNvSpPr>
          <p:nvPr/>
        </p:nvSpPr>
        <p:spPr bwMode="auto">
          <a:xfrm>
            <a:off x="5257800" y="381000"/>
            <a:ext cx="457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sym typeface="Symbol" charset="0"/>
              </a:rPr>
              <a:t>2</a:t>
            </a:r>
          </a:p>
        </p:txBody>
      </p:sp>
      <p:sp>
        <p:nvSpPr>
          <p:cNvPr id="729107" name="Text Box 19"/>
          <p:cNvSpPr txBox="1">
            <a:spLocks noChangeArrowheads="1"/>
          </p:cNvSpPr>
          <p:nvPr/>
        </p:nvSpPr>
        <p:spPr bwMode="auto">
          <a:xfrm>
            <a:off x="3276600" y="990600"/>
            <a:ext cx="457200" cy="519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85000"/>
              </a:spcBef>
            </a:pPr>
            <a:r>
              <a:rPr lang="it-IT" sz="2400" dirty="0">
                <a:sym typeface="Symbol" charset="0"/>
              </a:rPr>
              <a:t>0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sym typeface="Symbol" charset="0"/>
              </a:rPr>
              <a:t>1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sym typeface="Symbol" charset="0"/>
              </a:rPr>
              <a:t>2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sym typeface="Symbol" charset="0"/>
              </a:rPr>
              <a:t>3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sym typeface="Symbol" charset="0"/>
              </a:rPr>
              <a:t>4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sym typeface="Symbol" charset="0"/>
              </a:rPr>
              <a:t>5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sym typeface="Symbol" charset="0"/>
              </a:rPr>
              <a:t>6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sym typeface="Symbol" charset="0"/>
              </a:rPr>
              <a:t>7</a:t>
            </a:r>
          </a:p>
        </p:txBody>
      </p:sp>
      <p:sp>
        <p:nvSpPr>
          <p:cNvPr id="729108" name="Rectangle 20"/>
          <p:cNvSpPr>
            <a:spLocks noChangeArrowheads="1"/>
          </p:cNvSpPr>
          <p:nvPr/>
        </p:nvSpPr>
        <p:spPr bwMode="auto">
          <a:xfrm>
            <a:off x="4343400" y="1524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09" name="Line 21"/>
          <p:cNvSpPr>
            <a:spLocks noChangeShapeType="1"/>
          </p:cNvSpPr>
          <p:nvPr/>
        </p:nvSpPr>
        <p:spPr bwMode="auto">
          <a:xfrm>
            <a:off x="3657600" y="838200"/>
            <a:ext cx="0" cy="579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9110" name="Line 22"/>
          <p:cNvSpPr>
            <a:spLocks noChangeShapeType="1"/>
          </p:cNvSpPr>
          <p:nvPr/>
        </p:nvSpPr>
        <p:spPr bwMode="auto">
          <a:xfrm>
            <a:off x="3657600" y="838200"/>
            <a:ext cx="518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729111" name="Text Box 23"/>
          <p:cNvSpPr txBox="1">
            <a:spLocks noChangeArrowheads="1"/>
          </p:cNvSpPr>
          <p:nvPr/>
        </p:nvSpPr>
        <p:spPr bwMode="auto">
          <a:xfrm>
            <a:off x="8534400" y="381000"/>
            <a:ext cx="457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j</a:t>
            </a:r>
            <a:endParaRPr lang="it-IT" sz="2000" baseline="-25000">
              <a:sym typeface="Symbol" charset="0"/>
            </a:endParaRPr>
          </a:p>
        </p:txBody>
      </p:sp>
      <p:sp>
        <p:nvSpPr>
          <p:cNvPr id="729112" name="Text Box 24"/>
          <p:cNvSpPr txBox="1">
            <a:spLocks noChangeArrowheads="1"/>
          </p:cNvSpPr>
          <p:nvPr/>
        </p:nvSpPr>
        <p:spPr bwMode="auto">
          <a:xfrm>
            <a:off x="5943600" y="0"/>
            <a:ext cx="381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sym typeface="Symbol" charset="0"/>
              </a:rPr>
              <a:t>C</a:t>
            </a:r>
          </a:p>
        </p:txBody>
      </p:sp>
      <p:sp>
        <p:nvSpPr>
          <p:cNvPr id="729113" name="Text Box 25"/>
          <p:cNvSpPr txBox="1">
            <a:spLocks noChangeArrowheads="1"/>
          </p:cNvSpPr>
          <p:nvPr/>
        </p:nvSpPr>
        <p:spPr bwMode="auto">
          <a:xfrm>
            <a:off x="5257800" y="0"/>
            <a:ext cx="381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sym typeface="Symbol" charset="0"/>
              </a:rPr>
              <a:t>D</a:t>
            </a:r>
          </a:p>
        </p:txBody>
      </p:sp>
      <p:sp>
        <p:nvSpPr>
          <p:cNvPr id="729114" name="Text Box 26"/>
          <p:cNvSpPr txBox="1">
            <a:spLocks noChangeArrowheads="1"/>
          </p:cNvSpPr>
          <p:nvPr/>
        </p:nvSpPr>
        <p:spPr bwMode="auto">
          <a:xfrm>
            <a:off x="4495800" y="0"/>
            <a:ext cx="381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sym typeface="Symbol" charset="0"/>
              </a:rPr>
              <a:t>B</a:t>
            </a:r>
          </a:p>
        </p:txBody>
      </p:sp>
      <p:sp>
        <p:nvSpPr>
          <p:cNvPr id="729115" name="Text Box 27"/>
          <p:cNvSpPr txBox="1">
            <a:spLocks noChangeArrowheads="1"/>
          </p:cNvSpPr>
          <p:nvPr/>
        </p:nvSpPr>
        <p:spPr bwMode="auto">
          <a:xfrm>
            <a:off x="4495800" y="381000"/>
            <a:ext cx="457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sym typeface="Symbol" charset="0"/>
              </a:rPr>
              <a:t>1</a:t>
            </a:r>
          </a:p>
        </p:txBody>
      </p:sp>
      <p:sp>
        <p:nvSpPr>
          <p:cNvPr id="729116" name="Rectangle 28"/>
          <p:cNvSpPr>
            <a:spLocks noChangeArrowheads="1"/>
          </p:cNvSpPr>
          <p:nvPr/>
        </p:nvSpPr>
        <p:spPr bwMode="auto">
          <a:xfrm>
            <a:off x="7086600" y="1524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17" name="Rectangle 29"/>
          <p:cNvSpPr>
            <a:spLocks noChangeArrowheads="1"/>
          </p:cNvSpPr>
          <p:nvPr/>
        </p:nvSpPr>
        <p:spPr bwMode="auto">
          <a:xfrm>
            <a:off x="6400800" y="1524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18" name="Rectangle 30"/>
          <p:cNvSpPr>
            <a:spLocks noChangeArrowheads="1"/>
          </p:cNvSpPr>
          <p:nvPr/>
        </p:nvSpPr>
        <p:spPr bwMode="auto">
          <a:xfrm>
            <a:off x="5715000" y="1524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19" name="Rectangle 31"/>
          <p:cNvSpPr>
            <a:spLocks noChangeArrowheads="1"/>
          </p:cNvSpPr>
          <p:nvPr/>
        </p:nvSpPr>
        <p:spPr bwMode="auto">
          <a:xfrm>
            <a:off x="5029200" y="1524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20" name="Rectangle 32"/>
          <p:cNvSpPr>
            <a:spLocks noChangeArrowheads="1"/>
          </p:cNvSpPr>
          <p:nvPr/>
        </p:nvSpPr>
        <p:spPr bwMode="auto">
          <a:xfrm>
            <a:off x="7772400" y="1524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21" name="Text Box 33"/>
          <p:cNvSpPr txBox="1">
            <a:spLocks noChangeArrowheads="1"/>
          </p:cNvSpPr>
          <p:nvPr/>
        </p:nvSpPr>
        <p:spPr bwMode="auto">
          <a:xfrm>
            <a:off x="7239000" y="0"/>
            <a:ext cx="381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sym typeface="Symbol" charset="0"/>
              </a:rPr>
              <a:t>B</a:t>
            </a:r>
          </a:p>
        </p:txBody>
      </p:sp>
      <p:sp>
        <p:nvSpPr>
          <p:cNvPr id="729122" name="Text Box 34"/>
          <p:cNvSpPr txBox="1">
            <a:spLocks noChangeArrowheads="1"/>
          </p:cNvSpPr>
          <p:nvPr/>
        </p:nvSpPr>
        <p:spPr bwMode="auto">
          <a:xfrm>
            <a:off x="6553200" y="0"/>
            <a:ext cx="381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sym typeface="Symbol" charset="0"/>
              </a:rPr>
              <a:t>A</a:t>
            </a:r>
          </a:p>
        </p:txBody>
      </p:sp>
      <p:sp>
        <p:nvSpPr>
          <p:cNvPr id="729123" name="Text Box 35"/>
          <p:cNvSpPr txBox="1">
            <a:spLocks noChangeArrowheads="1"/>
          </p:cNvSpPr>
          <p:nvPr/>
        </p:nvSpPr>
        <p:spPr bwMode="auto">
          <a:xfrm>
            <a:off x="7924800" y="0"/>
            <a:ext cx="381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sym typeface="Symbol" charset="0"/>
              </a:rPr>
              <a:t>A</a:t>
            </a:r>
          </a:p>
        </p:txBody>
      </p:sp>
      <p:sp>
        <p:nvSpPr>
          <p:cNvPr id="729124" name="Text Box 36"/>
          <p:cNvSpPr txBox="1">
            <a:spLocks noChangeArrowheads="1"/>
          </p:cNvSpPr>
          <p:nvPr/>
        </p:nvSpPr>
        <p:spPr bwMode="auto">
          <a:xfrm>
            <a:off x="2915816" y="1628800"/>
            <a:ext cx="457200" cy="451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85000"/>
              </a:spcBef>
            </a:pPr>
            <a:r>
              <a:rPr lang="it-IT" sz="2400" dirty="0">
                <a:sym typeface="Symbol" charset="0"/>
              </a:rPr>
              <a:t>A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sym typeface="Symbol" charset="0"/>
              </a:rPr>
              <a:t>B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sym typeface="Symbol" charset="0"/>
              </a:rPr>
              <a:t>C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sym typeface="Symbol" charset="0"/>
              </a:rPr>
              <a:t>B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sym typeface="Symbol" charset="0"/>
              </a:rPr>
              <a:t>D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sym typeface="Symbol" charset="0"/>
              </a:rPr>
              <a:t>A</a:t>
            </a:r>
          </a:p>
          <a:p>
            <a:pPr>
              <a:spcBef>
                <a:spcPct val="85000"/>
              </a:spcBef>
            </a:pPr>
            <a:r>
              <a:rPr lang="it-IT" sz="2400" dirty="0">
                <a:sym typeface="Symbol" charset="0"/>
              </a:rPr>
              <a:t>B</a:t>
            </a:r>
          </a:p>
        </p:txBody>
      </p:sp>
      <p:sp>
        <p:nvSpPr>
          <p:cNvPr id="729125" name="Rectangle 37"/>
          <p:cNvSpPr>
            <a:spLocks noChangeArrowheads="1"/>
          </p:cNvSpPr>
          <p:nvPr/>
        </p:nvSpPr>
        <p:spPr bwMode="auto">
          <a:xfrm>
            <a:off x="4343400" y="2209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26" name="Rectangle 38"/>
          <p:cNvSpPr>
            <a:spLocks noChangeArrowheads="1"/>
          </p:cNvSpPr>
          <p:nvPr/>
        </p:nvSpPr>
        <p:spPr bwMode="auto">
          <a:xfrm>
            <a:off x="7086600" y="2209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27" name="Rectangle 39"/>
          <p:cNvSpPr>
            <a:spLocks noChangeArrowheads="1"/>
          </p:cNvSpPr>
          <p:nvPr/>
        </p:nvSpPr>
        <p:spPr bwMode="auto">
          <a:xfrm>
            <a:off x="6400800" y="2209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28" name="Rectangle 40"/>
          <p:cNvSpPr>
            <a:spLocks noChangeArrowheads="1"/>
          </p:cNvSpPr>
          <p:nvPr/>
        </p:nvSpPr>
        <p:spPr bwMode="auto">
          <a:xfrm>
            <a:off x="5715000" y="2209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29" name="Rectangle 41"/>
          <p:cNvSpPr>
            <a:spLocks noChangeArrowheads="1"/>
          </p:cNvSpPr>
          <p:nvPr/>
        </p:nvSpPr>
        <p:spPr bwMode="auto">
          <a:xfrm>
            <a:off x="5029200" y="2209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30" name="Rectangle 42"/>
          <p:cNvSpPr>
            <a:spLocks noChangeArrowheads="1"/>
          </p:cNvSpPr>
          <p:nvPr/>
        </p:nvSpPr>
        <p:spPr bwMode="auto">
          <a:xfrm>
            <a:off x="7772400" y="2209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31" name="Rectangle 43"/>
          <p:cNvSpPr>
            <a:spLocks noChangeArrowheads="1"/>
          </p:cNvSpPr>
          <p:nvPr/>
        </p:nvSpPr>
        <p:spPr bwMode="auto">
          <a:xfrm>
            <a:off x="4343400" y="28956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32" name="Rectangle 44"/>
          <p:cNvSpPr>
            <a:spLocks noChangeArrowheads="1"/>
          </p:cNvSpPr>
          <p:nvPr/>
        </p:nvSpPr>
        <p:spPr bwMode="auto">
          <a:xfrm>
            <a:off x="7086600" y="28956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33" name="Rectangle 45"/>
          <p:cNvSpPr>
            <a:spLocks noChangeArrowheads="1"/>
          </p:cNvSpPr>
          <p:nvPr/>
        </p:nvSpPr>
        <p:spPr bwMode="auto">
          <a:xfrm>
            <a:off x="6400800" y="28956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34" name="Rectangle 46"/>
          <p:cNvSpPr>
            <a:spLocks noChangeArrowheads="1"/>
          </p:cNvSpPr>
          <p:nvPr/>
        </p:nvSpPr>
        <p:spPr bwMode="auto">
          <a:xfrm>
            <a:off x="5715000" y="28956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35" name="Rectangle 47"/>
          <p:cNvSpPr>
            <a:spLocks noChangeArrowheads="1"/>
          </p:cNvSpPr>
          <p:nvPr/>
        </p:nvSpPr>
        <p:spPr bwMode="auto">
          <a:xfrm>
            <a:off x="5029200" y="28956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36" name="Rectangle 48"/>
          <p:cNvSpPr>
            <a:spLocks noChangeArrowheads="1"/>
          </p:cNvSpPr>
          <p:nvPr/>
        </p:nvSpPr>
        <p:spPr bwMode="auto">
          <a:xfrm>
            <a:off x="7772400" y="28956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37" name="Rectangle 49"/>
          <p:cNvSpPr>
            <a:spLocks noChangeArrowheads="1"/>
          </p:cNvSpPr>
          <p:nvPr/>
        </p:nvSpPr>
        <p:spPr bwMode="auto">
          <a:xfrm>
            <a:off x="4343400" y="35814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38" name="Rectangle 50"/>
          <p:cNvSpPr>
            <a:spLocks noChangeArrowheads="1"/>
          </p:cNvSpPr>
          <p:nvPr/>
        </p:nvSpPr>
        <p:spPr bwMode="auto">
          <a:xfrm>
            <a:off x="7086600" y="35814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39" name="Rectangle 51"/>
          <p:cNvSpPr>
            <a:spLocks noChangeArrowheads="1"/>
          </p:cNvSpPr>
          <p:nvPr/>
        </p:nvSpPr>
        <p:spPr bwMode="auto">
          <a:xfrm>
            <a:off x="6400800" y="35814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40" name="Rectangle 52"/>
          <p:cNvSpPr>
            <a:spLocks noChangeArrowheads="1"/>
          </p:cNvSpPr>
          <p:nvPr/>
        </p:nvSpPr>
        <p:spPr bwMode="auto">
          <a:xfrm>
            <a:off x="5715000" y="35814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41" name="Rectangle 53"/>
          <p:cNvSpPr>
            <a:spLocks noChangeArrowheads="1"/>
          </p:cNvSpPr>
          <p:nvPr/>
        </p:nvSpPr>
        <p:spPr bwMode="auto">
          <a:xfrm>
            <a:off x="5029200" y="35814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42" name="Rectangle 54"/>
          <p:cNvSpPr>
            <a:spLocks noChangeArrowheads="1"/>
          </p:cNvSpPr>
          <p:nvPr/>
        </p:nvSpPr>
        <p:spPr bwMode="auto">
          <a:xfrm>
            <a:off x="7772400" y="35814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43" name="Rectangle 55"/>
          <p:cNvSpPr>
            <a:spLocks noChangeArrowheads="1"/>
          </p:cNvSpPr>
          <p:nvPr/>
        </p:nvSpPr>
        <p:spPr bwMode="auto">
          <a:xfrm>
            <a:off x="4343400" y="4267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44" name="Rectangle 56"/>
          <p:cNvSpPr>
            <a:spLocks noChangeArrowheads="1"/>
          </p:cNvSpPr>
          <p:nvPr/>
        </p:nvSpPr>
        <p:spPr bwMode="auto">
          <a:xfrm>
            <a:off x="7086600" y="4267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45" name="Rectangle 57"/>
          <p:cNvSpPr>
            <a:spLocks noChangeArrowheads="1"/>
          </p:cNvSpPr>
          <p:nvPr/>
        </p:nvSpPr>
        <p:spPr bwMode="auto">
          <a:xfrm>
            <a:off x="6400800" y="4267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46" name="Rectangle 58"/>
          <p:cNvSpPr>
            <a:spLocks noChangeArrowheads="1"/>
          </p:cNvSpPr>
          <p:nvPr/>
        </p:nvSpPr>
        <p:spPr bwMode="auto">
          <a:xfrm>
            <a:off x="5715000" y="4267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47" name="Rectangle 59"/>
          <p:cNvSpPr>
            <a:spLocks noChangeArrowheads="1"/>
          </p:cNvSpPr>
          <p:nvPr/>
        </p:nvSpPr>
        <p:spPr bwMode="auto">
          <a:xfrm>
            <a:off x="5029200" y="4267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48" name="Rectangle 60"/>
          <p:cNvSpPr>
            <a:spLocks noChangeArrowheads="1"/>
          </p:cNvSpPr>
          <p:nvPr/>
        </p:nvSpPr>
        <p:spPr bwMode="auto">
          <a:xfrm>
            <a:off x="7772400" y="4267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49" name="Rectangle 61"/>
          <p:cNvSpPr>
            <a:spLocks noChangeArrowheads="1"/>
          </p:cNvSpPr>
          <p:nvPr/>
        </p:nvSpPr>
        <p:spPr bwMode="auto">
          <a:xfrm>
            <a:off x="4343400" y="4953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50" name="Rectangle 62"/>
          <p:cNvSpPr>
            <a:spLocks noChangeArrowheads="1"/>
          </p:cNvSpPr>
          <p:nvPr/>
        </p:nvSpPr>
        <p:spPr bwMode="auto">
          <a:xfrm>
            <a:off x="7086600" y="4953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51" name="Rectangle 63"/>
          <p:cNvSpPr>
            <a:spLocks noChangeArrowheads="1"/>
          </p:cNvSpPr>
          <p:nvPr/>
        </p:nvSpPr>
        <p:spPr bwMode="auto">
          <a:xfrm>
            <a:off x="6400800" y="4953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52" name="Rectangle 64"/>
          <p:cNvSpPr>
            <a:spLocks noChangeArrowheads="1"/>
          </p:cNvSpPr>
          <p:nvPr/>
        </p:nvSpPr>
        <p:spPr bwMode="auto">
          <a:xfrm>
            <a:off x="5715000" y="4953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53" name="Rectangle 65"/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54" name="Rectangle 66"/>
          <p:cNvSpPr>
            <a:spLocks noChangeArrowheads="1"/>
          </p:cNvSpPr>
          <p:nvPr/>
        </p:nvSpPr>
        <p:spPr bwMode="auto">
          <a:xfrm>
            <a:off x="7772400" y="49530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55" name="Rectangle 67"/>
          <p:cNvSpPr>
            <a:spLocks noChangeArrowheads="1"/>
          </p:cNvSpPr>
          <p:nvPr/>
        </p:nvSpPr>
        <p:spPr bwMode="auto">
          <a:xfrm>
            <a:off x="4343400" y="5638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56" name="Rectangle 68"/>
          <p:cNvSpPr>
            <a:spLocks noChangeArrowheads="1"/>
          </p:cNvSpPr>
          <p:nvPr/>
        </p:nvSpPr>
        <p:spPr bwMode="auto">
          <a:xfrm>
            <a:off x="7086600" y="5638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57" name="Rectangle 69"/>
          <p:cNvSpPr>
            <a:spLocks noChangeArrowheads="1"/>
          </p:cNvSpPr>
          <p:nvPr/>
        </p:nvSpPr>
        <p:spPr bwMode="auto">
          <a:xfrm>
            <a:off x="6400800" y="5638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58" name="Rectangle 70"/>
          <p:cNvSpPr>
            <a:spLocks noChangeArrowheads="1"/>
          </p:cNvSpPr>
          <p:nvPr/>
        </p:nvSpPr>
        <p:spPr bwMode="auto">
          <a:xfrm>
            <a:off x="5715000" y="5638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59" name="Rectangle 71"/>
          <p:cNvSpPr>
            <a:spLocks noChangeArrowheads="1"/>
          </p:cNvSpPr>
          <p:nvPr/>
        </p:nvSpPr>
        <p:spPr bwMode="auto">
          <a:xfrm>
            <a:off x="5029200" y="5638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60" name="Rectangle 72"/>
          <p:cNvSpPr>
            <a:spLocks noChangeArrowheads="1"/>
          </p:cNvSpPr>
          <p:nvPr/>
        </p:nvSpPr>
        <p:spPr bwMode="auto">
          <a:xfrm>
            <a:off x="7772400" y="56388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61" name="Text Box 73"/>
          <p:cNvSpPr txBox="1">
            <a:spLocks noChangeArrowheads="1"/>
          </p:cNvSpPr>
          <p:nvPr/>
        </p:nvSpPr>
        <p:spPr bwMode="auto">
          <a:xfrm>
            <a:off x="3352800" y="0"/>
            <a:ext cx="381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sym typeface="Symbol" charset="0"/>
              </a:rPr>
              <a:t>Y</a:t>
            </a:r>
          </a:p>
        </p:txBody>
      </p:sp>
      <p:sp>
        <p:nvSpPr>
          <p:cNvPr id="729162" name="Text Box 74"/>
          <p:cNvSpPr txBox="1">
            <a:spLocks noChangeArrowheads="1"/>
          </p:cNvSpPr>
          <p:nvPr/>
        </p:nvSpPr>
        <p:spPr bwMode="auto">
          <a:xfrm>
            <a:off x="2895600" y="457200"/>
            <a:ext cx="381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>
                <a:sym typeface="Symbol" charset="0"/>
              </a:rPr>
              <a:t>X</a:t>
            </a:r>
          </a:p>
        </p:txBody>
      </p:sp>
      <p:sp>
        <p:nvSpPr>
          <p:cNvPr id="729163" name="Line 75"/>
          <p:cNvSpPr>
            <a:spLocks noChangeShapeType="1"/>
          </p:cNvSpPr>
          <p:nvPr/>
        </p:nvSpPr>
        <p:spPr bwMode="auto">
          <a:xfrm>
            <a:off x="3048000" y="2286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729164" name="Rectangle 76"/>
          <p:cNvSpPr>
            <a:spLocks noChangeArrowheads="1"/>
          </p:cNvSpPr>
          <p:nvPr/>
        </p:nvSpPr>
        <p:spPr bwMode="auto">
          <a:xfrm>
            <a:off x="4343400" y="838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65" name="Rectangle 77"/>
          <p:cNvSpPr>
            <a:spLocks noChangeArrowheads="1"/>
          </p:cNvSpPr>
          <p:nvPr/>
        </p:nvSpPr>
        <p:spPr bwMode="auto">
          <a:xfrm>
            <a:off x="7086600" y="838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66" name="Rectangle 78"/>
          <p:cNvSpPr>
            <a:spLocks noChangeArrowheads="1"/>
          </p:cNvSpPr>
          <p:nvPr/>
        </p:nvSpPr>
        <p:spPr bwMode="auto">
          <a:xfrm>
            <a:off x="6400800" y="838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67" name="Rectangle 79"/>
          <p:cNvSpPr>
            <a:spLocks noChangeArrowheads="1"/>
          </p:cNvSpPr>
          <p:nvPr/>
        </p:nvSpPr>
        <p:spPr bwMode="auto">
          <a:xfrm>
            <a:off x="5715000" y="838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68" name="Rectangle 80"/>
          <p:cNvSpPr>
            <a:spLocks noChangeArrowheads="1"/>
          </p:cNvSpPr>
          <p:nvPr/>
        </p:nvSpPr>
        <p:spPr bwMode="auto">
          <a:xfrm>
            <a:off x="5029200" y="838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69" name="Rectangle 81"/>
          <p:cNvSpPr>
            <a:spLocks noChangeArrowheads="1"/>
          </p:cNvSpPr>
          <p:nvPr/>
        </p:nvSpPr>
        <p:spPr bwMode="auto">
          <a:xfrm>
            <a:off x="7772400" y="838200"/>
            <a:ext cx="6858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70" name="Rectangle 82"/>
          <p:cNvSpPr>
            <a:spLocks noChangeArrowheads="1"/>
          </p:cNvSpPr>
          <p:nvPr/>
        </p:nvSpPr>
        <p:spPr bwMode="auto">
          <a:xfrm>
            <a:off x="7772400" y="56388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71" name="Rectangle 83"/>
          <p:cNvSpPr>
            <a:spLocks noChangeArrowheads="1"/>
          </p:cNvSpPr>
          <p:nvPr/>
        </p:nvSpPr>
        <p:spPr bwMode="auto">
          <a:xfrm>
            <a:off x="7772400" y="49530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72" name="Rectangle 84"/>
          <p:cNvSpPr>
            <a:spLocks noChangeArrowheads="1"/>
          </p:cNvSpPr>
          <p:nvPr/>
        </p:nvSpPr>
        <p:spPr bwMode="auto">
          <a:xfrm>
            <a:off x="7086600" y="42672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73" name="Rectangle 85"/>
          <p:cNvSpPr>
            <a:spLocks noChangeArrowheads="1"/>
          </p:cNvSpPr>
          <p:nvPr/>
        </p:nvSpPr>
        <p:spPr bwMode="auto">
          <a:xfrm>
            <a:off x="7086600" y="35814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74" name="Rectangle 86"/>
          <p:cNvSpPr>
            <a:spLocks noChangeArrowheads="1"/>
          </p:cNvSpPr>
          <p:nvPr/>
        </p:nvSpPr>
        <p:spPr bwMode="auto">
          <a:xfrm>
            <a:off x="6400800" y="28956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75" name="Rectangle 87"/>
          <p:cNvSpPr>
            <a:spLocks noChangeArrowheads="1"/>
          </p:cNvSpPr>
          <p:nvPr/>
        </p:nvSpPr>
        <p:spPr bwMode="auto">
          <a:xfrm>
            <a:off x="6400800" y="22098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76" name="Rectangle 88"/>
          <p:cNvSpPr>
            <a:spLocks noChangeArrowheads="1"/>
          </p:cNvSpPr>
          <p:nvPr/>
        </p:nvSpPr>
        <p:spPr bwMode="auto">
          <a:xfrm>
            <a:off x="6400800" y="15240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77" name="Rectangle 89"/>
          <p:cNvSpPr>
            <a:spLocks noChangeArrowheads="1"/>
          </p:cNvSpPr>
          <p:nvPr/>
        </p:nvSpPr>
        <p:spPr bwMode="auto">
          <a:xfrm>
            <a:off x="5715000" y="8382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78" name="Rectangle 90"/>
          <p:cNvSpPr>
            <a:spLocks noChangeArrowheads="1"/>
          </p:cNvSpPr>
          <p:nvPr/>
        </p:nvSpPr>
        <p:spPr bwMode="auto">
          <a:xfrm>
            <a:off x="5715000" y="8382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9179" name="Rectangle 91"/>
          <p:cNvSpPr>
            <a:spLocks noChangeArrowheads="1"/>
          </p:cNvSpPr>
          <p:nvPr/>
        </p:nvSpPr>
        <p:spPr bwMode="auto">
          <a:xfrm>
            <a:off x="6400800" y="15240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9180" name="Rectangle 92"/>
          <p:cNvSpPr>
            <a:spLocks noChangeArrowheads="1"/>
          </p:cNvSpPr>
          <p:nvPr/>
        </p:nvSpPr>
        <p:spPr bwMode="auto">
          <a:xfrm>
            <a:off x="5715000" y="22098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81" name="Rectangle 93"/>
          <p:cNvSpPr>
            <a:spLocks noChangeArrowheads="1"/>
          </p:cNvSpPr>
          <p:nvPr/>
        </p:nvSpPr>
        <p:spPr bwMode="auto">
          <a:xfrm>
            <a:off x="5715000" y="15240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82" name="Rectangle 94"/>
          <p:cNvSpPr>
            <a:spLocks noChangeArrowheads="1"/>
          </p:cNvSpPr>
          <p:nvPr/>
        </p:nvSpPr>
        <p:spPr bwMode="auto">
          <a:xfrm>
            <a:off x="5029200" y="15240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83" name="Line 95"/>
          <p:cNvSpPr>
            <a:spLocks noChangeShapeType="1"/>
          </p:cNvSpPr>
          <p:nvPr/>
        </p:nvSpPr>
        <p:spPr bwMode="auto">
          <a:xfrm flipH="1" flipV="1">
            <a:off x="6096000" y="1219200"/>
            <a:ext cx="609600" cy="6096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9184" name="Rectangle 96"/>
          <p:cNvSpPr>
            <a:spLocks noChangeArrowheads="1"/>
          </p:cNvSpPr>
          <p:nvPr/>
        </p:nvSpPr>
        <p:spPr bwMode="auto">
          <a:xfrm>
            <a:off x="5029200" y="8382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85" name="Rectangle 97"/>
          <p:cNvSpPr>
            <a:spLocks noChangeArrowheads="1"/>
          </p:cNvSpPr>
          <p:nvPr/>
        </p:nvSpPr>
        <p:spPr bwMode="auto">
          <a:xfrm>
            <a:off x="5029200" y="8382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9186" name="Rectangle 98"/>
          <p:cNvSpPr>
            <a:spLocks noChangeArrowheads="1"/>
          </p:cNvSpPr>
          <p:nvPr/>
        </p:nvSpPr>
        <p:spPr bwMode="auto">
          <a:xfrm>
            <a:off x="4343400" y="15240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87" name="Rectangle 99"/>
          <p:cNvSpPr>
            <a:spLocks noChangeArrowheads="1"/>
          </p:cNvSpPr>
          <p:nvPr/>
        </p:nvSpPr>
        <p:spPr bwMode="auto">
          <a:xfrm>
            <a:off x="4343400" y="8382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88" name="Rectangle 100"/>
          <p:cNvSpPr>
            <a:spLocks noChangeArrowheads="1"/>
          </p:cNvSpPr>
          <p:nvPr/>
        </p:nvSpPr>
        <p:spPr bwMode="auto">
          <a:xfrm>
            <a:off x="4343400" y="8382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9189" name="Rectangle 101"/>
          <p:cNvSpPr>
            <a:spLocks noChangeArrowheads="1"/>
          </p:cNvSpPr>
          <p:nvPr/>
        </p:nvSpPr>
        <p:spPr bwMode="auto">
          <a:xfrm>
            <a:off x="3657600" y="15240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190" name="Rectangle 102"/>
          <p:cNvSpPr>
            <a:spLocks noChangeArrowheads="1"/>
          </p:cNvSpPr>
          <p:nvPr/>
        </p:nvSpPr>
        <p:spPr bwMode="auto">
          <a:xfrm>
            <a:off x="3657600" y="15240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9191" name="Rectangle 103"/>
          <p:cNvSpPr>
            <a:spLocks noChangeArrowheads="1"/>
          </p:cNvSpPr>
          <p:nvPr/>
        </p:nvSpPr>
        <p:spPr bwMode="auto">
          <a:xfrm>
            <a:off x="4343400" y="15240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grpSp>
        <p:nvGrpSpPr>
          <p:cNvPr id="729192" name="Group 104"/>
          <p:cNvGrpSpPr>
            <a:grpSpLocks/>
          </p:cNvGrpSpPr>
          <p:nvPr/>
        </p:nvGrpSpPr>
        <p:grpSpPr bwMode="auto">
          <a:xfrm>
            <a:off x="3962400" y="1143000"/>
            <a:ext cx="685800" cy="685800"/>
            <a:chOff x="912" y="3024"/>
            <a:chExt cx="432" cy="432"/>
          </a:xfrm>
        </p:grpSpPr>
        <p:sp>
          <p:nvSpPr>
            <p:cNvPr id="729193" name="Line 105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194" name="Line 106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195" name="Rectangle 107"/>
          <p:cNvSpPr>
            <a:spLocks noChangeArrowheads="1"/>
          </p:cNvSpPr>
          <p:nvPr/>
        </p:nvSpPr>
        <p:spPr bwMode="auto">
          <a:xfrm>
            <a:off x="5029200" y="15240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grpSp>
        <p:nvGrpSpPr>
          <p:cNvPr id="729196" name="Group 108"/>
          <p:cNvGrpSpPr>
            <a:grpSpLocks/>
          </p:cNvGrpSpPr>
          <p:nvPr/>
        </p:nvGrpSpPr>
        <p:grpSpPr bwMode="auto">
          <a:xfrm>
            <a:off x="4648200" y="1143000"/>
            <a:ext cx="685800" cy="685800"/>
            <a:chOff x="912" y="3024"/>
            <a:chExt cx="432" cy="432"/>
          </a:xfrm>
        </p:grpSpPr>
        <p:sp>
          <p:nvSpPr>
            <p:cNvPr id="729197" name="Line 109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198" name="Line 110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199" name="Rectangle 111"/>
          <p:cNvSpPr>
            <a:spLocks noChangeArrowheads="1"/>
          </p:cNvSpPr>
          <p:nvPr/>
        </p:nvSpPr>
        <p:spPr bwMode="auto">
          <a:xfrm>
            <a:off x="5715000" y="15240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grpSp>
        <p:nvGrpSpPr>
          <p:cNvPr id="729200" name="Group 112"/>
          <p:cNvGrpSpPr>
            <a:grpSpLocks/>
          </p:cNvGrpSpPr>
          <p:nvPr/>
        </p:nvGrpSpPr>
        <p:grpSpPr bwMode="auto">
          <a:xfrm>
            <a:off x="5334000" y="1143000"/>
            <a:ext cx="685800" cy="685800"/>
            <a:chOff x="912" y="3024"/>
            <a:chExt cx="432" cy="432"/>
          </a:xfrm>
        </p:grpSpPr>
        <p:sp>
          <p:nvSpPr>
            <p:cNvPr id="729201" name="Line 113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02" name="Line 114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203" name="Rectangle 115"/>
          <p:cNvSpPr>
            <a:spLocks noChangeArrowheads="1"/>
          </p:cNvSpPr>
          <p:nvPr/>
        </p:nvSpPr>
        <p:spPr bwMode="auto">
          <a:xfrm>
            <a:off x="5029200" y="22098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204" name="Rectangle 116"/>
          <p:cNvSpPr>
            <a:spLocks noChangeArrowheads="1"/>
          </p:cNvSpPr>
          <p:nvPr/>
        </p:nvSpPr>
        <p:spPr bwMode="auto">
          <a:xfrm>
            <a:off x="4343400" y="22098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205" name="Rectangle 117"/>
          <p:cNvSpPr>
            <a:spLocks noChangeArrowheads="1"/>
          </p:cNvSpPr>
          <p:nvPr/>
        </p:nvSpPr>
        <p:spPr bwMode="auto">
          <a:xfrm>
            <a:off x="4343400" y="22098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9206" name="Line 118"/>
          <p:cNvSpPr>
            <a:spLocks noChangeShapeType="1"/>
          </p:cNvSpPr>
          <p:nvPr/>
        </p:nvSpPr>
        <p:spPr bwMode="auto">
          <a:xfrm flipH="1" flipV="1">
            <a:off x="4038600" y="1905000"/>
            <a:ext cx="609600" cy="6096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9207" name="Rectangle 119"/>
          <p:cNvSpPr>
            <a:spLocks noChangeArrowheads="1"/>
          </p:cNvSpPr>
          <p:nvPr/>
        </p:nvSpPr>
        <p:spPr bwMode="auto">
          <a:xfrm>
            <a:off x="5029200" y="22098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</a:t>
            </a:r>
            <a:endParaRPr lang="en-US" sz="2400">
              <a:sym typeface="Wingdings 3" charset="0"/>
            </a:endParaRPr>
          </a:p>
        </p:txBody>
      </p:sp>
      <p:grpSp>
        <p:nvGrpSpPr>
          <p:cNvPr id="729208" name="Group 120"/>
          <p:cNvGrpSpPr>
            <a:grpSpLocks/>
          </p:cNvGrpSpPr>
          <p:nvPr/>
        </p:nvGrpSpPr>
        <p:grpSpPr bwMode="auto">
          <a:xfrm>
            <a:off x="4648200" y="1828800"/>
            <a:ext cx="685800" cy="685800"/>
            <a:chOff x="912" y="3024"/>
            <a:chExt cx="432" cy="432"/>
          </a:xfrm>
        </p:grpSpPr>
        <p:sp>
          <p:nvSpPr>
            <p:cNvPr id="729209" name="Line 121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10" name="Line 122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211" name="Rectangle 123"/>
          <p:cNvSpPr>
            <a:spLocks noChangeArrowheads="1"/>
          </p:cNvSpPr>
          <p:nvPr/>
        </p:nvSpPr>
        <p:spPr bwMode="auto">
          <a:xfrm>
            <a:off x="5715000" y="22098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</a:t>
            </a:r>
            <a:endParaRPr lang="en-US" sz="2400">
              <a:sym typeface="Wingdings 3" charset="0"/>
            </a:endParaRPr>
          </a:p>
        </p:txBody>
      </p:sp>
      <p:grpSp>
        <p:nvGrpSpPr>
          <p:cNvPr id="729212" name="Group 124"/>
          <p:cNvGrpSpPr>
            <a:grpSpLocks/>
          </p:cNvGrpSpPr>
          <p:nvPr/>
        </p:nvGrpSpPr>
        <p:grpSpPr bwMode="auto">
          <a:xfrm>
            <a:off x="5334000" y="1828800"/>
            <a:ext cx="685800" cy="685800"/>
            <a:chOff x="912" y="3024"/>
            <a:chExt cx="432" cy="432"/>
          </a:xfrm>
        </p:grpSpPr>
        <p:sp>
          <p:nvSpPr>
            <p:cNvPr id="729213" name="Line 125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14" name="Line 126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215" name="Rectangle 127"/>
          <p:cNvSpPr>
            <a:spLocks noChangeArrowheads="1"/>
          </p:cNvSpPr>
          <p:nvPr/>
        </p:nvSpPr>
        <p:spPr bwMode="auto">
          <a:xfrm>
            <a:off x="6400800" y="22098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grpSp>
        <p:nvGrpSpPr>
          <p:cNvPr id="729216" name="Group 128"/>
          <p:cNvGrpSpPr>
            <a:grpSpLocks/>
          </p:cNvGrpSpPr>
          <p:nvPr/>
        </p:nvGrpSpPr>
        <p:grpSpPr bwMode="auto">
          <a:xfrm>
            <a:off x="6019800" y="1828800"/>
            <a:ext cx="685800" cy="685800"/>
            <a:chOff x="912" y="3024"/>
            <a:chExt cx="432" cy="432"/>
          </a:xfrm>
        </p:grpSpPr>
        <p:sp>
          <p:nvSpPr>
            <p:cNvPr id="729217" name="Line 129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18" name="Line 130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219" name="Rectangle 131"/>
          <p:cNvSpPr>
            <a:spLocks noChangeArrowheads="1"/>
          </p:cNvSpPr>
          <p:nvPr/>
        </p:nvSpPr>
        <p:spPr bwMode="auto">
          <a:xfrm>
            <a:off x="5715000" y="28956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220" name="Rectangle 132"/>
          <p:cNvSpPr>
            <a:spLocks noChangeArrowheads="1"/>
          </p:cNvSpPr>
          <p:nvPr/>
        </p:nvSpPr>
        <p:spPr bwMode="auto">
          <a:xfrm>
            <a:off x="5715000" y="28956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9221" name="Line 133"/>
          <p:cNvSpPr>
            <a:spLocks noChangeShapeType="1"/>
          </p:cNvSpPr>
          <p:nvPr/>
        </p:nvSpPr>
        <p:spPr bwMode="auto">
          <a:xfrm flipH="1" flipV="1">
            <a:off x="5410200" y="2590800"/>
            <a:ext cx="609600" cy="6096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9222" name="Rectangle 134"/>
          <p:cNvSpPr>
            <a:spLocks noChangeArrowheads="1"/>
          </p:cNvSpPr>
          <p:nvPr/>
        </p:nvSpPr>
        <p:spPr bwMode="auto">
          <a:xfrm>
            <a:off x="6400800" y="28956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</a:t>
            </a:r>
            <a:endParaRPr lang="en-US" sz="2400">
              <a:sym typeface="Wingdings 3" charset="0"/>
            </a:endParaRPr>
          </a:p>
        </p:txBody>
      </p:sp>
      <p:grpSp>
        <p:nvGrpSpPr>
          <p:cNvPr id="729223" name="Group 135"/>
          <p:cNvGrpSpPr>
            <a:grpSpLocks/>
          </p:cNvGrpSpPr>
          <p:nvPr/>
        </p:nvGrpSpPr>
        <p:grpSpPr bwMode="auto">
          <a:xfrm>
            <a:off x="6019800" y="2514600"/>
            <a:ext cx="685800" cy="685800"/>
            <a:chOff x="912" y="3024"/>
            <a:chExt cx="432" cy="432"/>
          </a:xfrm>
        </p:grpSpPr>
        <p:sp>
          <p:nvSpPr>
            <p:cNvPr id="729224" name="Line 136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25" name="Line 137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226" name="Rectangle 138"/>
          <p:cNvSpPr>
            <a:spLocks noChangeArrowheads="1"/>
          </p:cNvSpPr>
          <p:nvPr/>
        </p:nvSpPr>
        <p:spPr bwMode="auto">
          <a:xfrm>
            <a:off x="7086600" y="35814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9227" name="Line 139"/>
          <p:cNvSpPr>
            <a:spLocks noChangeShapeType="1"/>
          </p:cNvSpPr>
          <p:nvPr/>
        </p:nvSpPr>
        <p:spPr bwMode="auto">
          <a:xfrm flipH="1" flipV="1">
            <a:off x="6781800" y="3276600"/>
            <a:ext cx="609600" cy="6096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9228" name="Rectangle 140"/>
          <p:cNvSpPr>
            <a:spLocks noChangeArrowheads="1"/>
          </p:cNvSpPr>
          <p:nvPr/>
        </p:nvSpPr>
        <p:spPr bwMode="auto">
          <a:xfrm>
            <a:off x="6400800" y="42672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229" name="Rectangle 141"/>
          <p:cNvSpPr>
            <a:spLocks noChangeArrowheads="1"/>
          </p:cNvSpPr>
          <p:nvPr/>
        </p:nvSpPr>
        <p:spPr bwMode="auto">
          <a:xfrm>
            <a:off x="6400800" y="35814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230" name="Rectangle 142"/>
          <p:cNvSpPr>
            <a:spLocks noChangeArrowheads="1"/>
          </p:cNvSpPr>
          <p:nvPr/>
        </p:nvSpPr>
        <p:spPr bwMode="auto">
          <a:xfrm>
            <a:off x="5715000" y="35814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231" name="Rectangle 143"/>
          <p:cNvSpPr>
            <a:spLocks noChangeArrowheads="1"/>
          </p:cNvSpPr>
          <p:nvPr/>
        </p:nvSpPr>
        <p:spPr bwMode="auto">
          <a:xfrm>
            <a:off x="5029200" y="35814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232" name="Rectangle 144"/>
          <p:cNvSpPr>
            <a:spLocks noChangeArrowheads="1"/>
          </p:cNvSpPr>
          <p:nvPr/>
        </p:nvSpPr>
        <p:spPr bwMode="auto">
          <a:xfrm>
            <a:off x="5029200" y="28956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233" name="Rectangle 145"/>
          <p:cNvSpPr>
            <a:spLocks noChangeArrowheads="1"/>
          </p:cNvSpPr>
          <p:nvPr/>
        </p:nvSpPr>
        <p:spPr bwMode="auto">
          <a:xfrm>
            <a:off x="4343400" y="28956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234" name="Rectangle 146"/>
          <p:cNvSpPr>
            <a:spLocks noChangeArrowheads="1"/>
          </p:cNvSpPr>
          <p:nvPr/>
        </p:nvSpPr>
        <p:spPr bwMode="auto">
          <a:xfrm>
            <a:off x="3657600" y="28956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235" name="Rectangle 147"/>
          <p:cNvSpPr>
            <a:spLocks noChangeArrowheads="1"/>
          </p:cNvSpPr>
          <p:nvPr/>
        </p:nvSpPr>
        <p:spPr bwMode="auto">
          <a:xfrm>
            <a:off x="3657600" y="28956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</a:t>
            </a:r>
          </a:p>
          <a:p>
            <a:pPr algn="ctr"/>
            <a:endParaRPr lang="en-US" sz="2000"/>
          </a:p>
        </p:txBody>
      </p:sp>
      <p:sp>
        <p:nvSpPr>
          <p:cNvPr id="729236" name="Rectangle 148"/>
          <p:cNvSpPr>
            <a:spLocks noChangeArrowheads="1"/>
          </p:cNvSpPr>
          <p:nvPr/>
        </p:nvSpPr>
        <p:spPr bwMode="auto">
          <a:xfrm>
            <a:off x="4343400" y="28956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grpSp>
        <p:nvGrpSpPr>
          <p:cNvPr id="729237" name="Group 149"/>
          <p:cNvGrpSpPr>
            <a:grpSpLocks/>
          </p:cNvGrpSpPr>
          <p:nvPr/>
        </p:nvGrpSpPr>
        <p:grpSpPr bwMode="auto">
          <a:xfrm>
            <a:off x="3962400" y="2514600"/>
            <a:ext cx="685800" cy="685800"/>
            <a:chOff x="912" y="3024"/>
            <a:chExt cx="432" cy="432"/>
          </a:xfrm>
        </p:grpSpPr>
        <p:sp>
          <p:nvSpPr>
            <p:cNvPr id="729238" name="Line 150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39" name="Line 151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240" name="Rectangle 152"/>
          <p:cNvSpPr>
            <a:spLocks noChangeArrowheads="1"/>
          </p:cNvSpPr>
          <p:nvPr/>
        </p:nvSpPr>
        <p:spPr bwMode="auto">
          <a:xfrm>
            <a:off x="5029200" y="28956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grpSp>
        <p:nvGrpSpPr>
          <p:cNvPr id="729241" name="Group 153"/>
          <p:cNvGrpSpPr>
            <a:grpSpLocks/>
          </p:cNvGrpSpPr>
          <p:nvPr/>
        </p:nvGrpSpPr>
        <p:grpSpPr bwMode="auto">
          <a:xfrm>
            <a:off x="4648200" y="2514600"/>
            <a:ext cx="685800" cy="685800"/>
            <a:chOff x="912" y="3024"/>
            <a:chExt cx="432" cy="432"/>
          </a:xfrm>
        </p:grpSpPr>
        <p:sp>
          <p:nvSpPr>
            <p:cNvPr id="729242" name="Line 154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43" name="Line 155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244" name="Rectangle 156"/>
          <p:cNvSpPr>
            <a:spLocks noChangeArrowheads="1"/>
          </p:cNvSpPr>
          <p:nvPr/>
        </p:nvSpPr>
        <p:spPr bwMode="auto">
          <a:xfrm>
            <a:off x="4343400" y="35814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245" name="Rectangle 157"/>
          <p:cNvSpPr>
            <a:spLocks noChangeArrowheads="1"/>
          </p:cNvSpPr>
          <p:nvPr/>
        </p:nvSpPr>
        <p:spPr bwMode="auto">
          <a:xfrm>
            <a:off x="4343400" y="35814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9246" name="Line 158"/>
          <p:cNvSpPr>
            <a:spLocks noChangeShapeType="1"/>
          </p:cNvSpPr>
          <p:nvPr/>
        </p:nvSpPr>
        <p:spPr bwMode="auto">
          <a:xfrm flipH="1" flipV="1">
            <a:off x="4038600" y="3276600"/>
            <a:ext cx="609600" cy="6096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9247" name="Rectangle 159"/>
          <p:cNvSpPr>
            <a:spLocks noChangeArrowheads="1"/>
          </p:cNvSpPr>
          <p:nvPr/>
        </p:nvSpPr>
        <p:spPr bwMode="auto">
          <a:xfrm>
            <a:off x="5029200" y="35814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grpSp>
        <p:nvGrpSpPr>
          <p:cNvPr id="729248" name="Group 160"/>
          <p:cNvGrpSpPr>
            <a:grpSpLocks/>
          </p:cNvGrpSpPr>
          <p:nvPr/>
        </p:nvGrpSpPr>
        <p:grpSpPr bwMode="auto">
          <a:xfrm>
            <a:off x="4648200" y="3200400"/>
            <a:ext cx="685800" cy="685800"/>
            <a:chOff x="912" y="3024"/>
            <a:chExt cx="432" cy="432"/>
          </a:xfrm>
        </p:grpSpPr>
        <p:sp>
          <p:nvSpPr>
            <p:cNvPr id="729249" name="Line 161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50" name="Line 162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251" name="Rectangle 163"/>
          <p:cNvSpPr>
            <a:spLocks noChangeArrowheads="1"/>
          </p:cNvSpPr>
          <p:nvPr/>
        </p:nvSpPr>
        <p:spPr bwMode="auto">
          <a:xfrm>
            <a:off x="5715000" y="35814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grpSp>
        <p:nvGrpSpPr>
          <p:cNvPr id="729252" name="Group 164"/>
          <p:cNvGrpSpPr>
            <a:grpSpLocks/>
          </p:cNvGrpSpPr>
          <p:nvPr/>
        </p:nvGrpSpPr>
        <p:grpSpPr bwMode="auto">
          <a:xfrm>
            <a:off x="5334000" y="3200400"/>
            <a:ext cx="685800" cy="685800"/>
            <a:chOff x="912" y="3024"/>
            <a:chExt cx="432" cy="432"/>
          </a:xfrm>
        </p:grpSpPr>
        <p:sp>
          <p:nvSpPr>
            <p:cNvPr id="729253" name="Line 165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54" name="Line 166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255" name="Rectangle 167"/>
          <p:cNvSpPr>
            <a:spLocks noChangeArrowheads="1"/>
          </p:cNvSpPr>
          <p:nvPr/>
        </p:nvSpPr>
        <p:spPr bwMode="auto">
          <a:xfrm>
            <a:off x="6400800" y="35814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grpSp>
        <p:nvGrpSpPr>
          <p:cNvPr id="729256" name="Group 168"/>
          <p:cNvGrpSpPr>
            <a:grpSpLocks/>
          </p:cNvGrpSpPr>
          <p:nvPr/>
        </p:nvGrpSpPr>
        <p:grpSpPr bwMode="auto">
          <a:xfrm>
            <a:off x="6019800" y="3200400"/>
            <a:ext cx="685800" cy="685800"/>
            <a:chOff x="912" y="3024"/>
            <a:chExt cx="432" cy="432"/>
          </a:xfrm>
        </p:grpSpPr>
        <p:sp>
          <p:nvSpPr>
            <p:cNvPr id="729257" name="Line 169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58" name="Line 170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259" name="Rectangle 171"/>
          <p:cNvSpPr>
            <a:spLocks noChangeArrowheads="1"/>
          </p:cNvSpPr>
          <p:nvPr/>
        </p:nvSpPr>
        <p:spPr bwMode="auto">
          <a:xfrm>
            <a:off x="5715000" y="42672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260" name="Rectangle 172"/>
          <p:cNvSpPr>
            <a:spLocks noChangeArrowheads="1"/>
          </p:cNvSpPr>
          <p:nvPr/>
        </p:nvSpPr>
        <p:spPr bwMode="auto">
          <a:xfrm>
            <a:off x="5029200" y="4267200"/>
            <a:ext cx="685800" cy="685800"/>
          </a:xfrm>
          <a:prstGeom prst="rect">
            <a:avLst/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261" name="Rectangle 173"/>
          <p:cNvSpPr>
            <a:spLocks noChangeArrowheads="1"/>
          </p:cNvSpPr>
          <p:nvPr/>
        </p:nvSpPr>
        <p:spPr bwMode="auto">
          <a:xfrm>
            <a:off x="5029200" y="42672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9262" name="Line 174"/>
          <p:cNvSpPr>
            <a:spLocks noChangeShapeType="1"/>
          </p:cNvSpPr>
          <p:nvPr/>
        </p:nvSpPr>
        <p:spPr bwMode="auto">
          <a:xfrm flipH="1" flipV="1">
            <a:off x="4724400" y="3962400"/>
            <a:ext cx="609600" cy="6096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9263" name="Rectangle 175"/>
          <p:cNvSpPr>
            <a:spLocks noChangeArrowheads="1"/>
          </p:cNvSpPr>
          <p:nvPr/>
        </p:nvSpPr>
        <p:spPr bwMode="auto">
          <a:xfrm>
            <a:off x="5715000" y="42672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grpSp>
        <p:nvGrpSpPr>
          <p:cNvPr id="729264" name="Group 176"/>
          <p:cNvGrpSpPr>
            <a:grpSpLocks/>
          </p:cNvGrpSpPr>
          <p:nvPr/>
        </p:nvGrpSpPr>
        <p:grpSpPr bwMode="auto">
          <a:xfrm>
            <a:off x="5334000" y="3886200"/>
            <a:ext cx="685800" cy="685800"/>
            <a:chOff x="912" y="3024"/>
            <a:chExt cx="432" cy="432"/>
          </a:xfrm>
        </p:grpSpPr>
        <p:sp>
          <p:nvSpPr>
            <p:cNvPr id="729265" name="Line 177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66" name="Line 178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267" name="Rectangle 179"/>
          <p:cNvSpPr>
            <a:spLocks noChangeArrowheads="1"/>
          </p:cNvSpPr>
          <p:nvPr/>
        </p:nvSpPr>
        <p:spPr bwMode="auto">
          <a:xfrm>
            <a:off x="6400800" y="42672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2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grpSp>
        <p:nvGrpSpPr>
          <p:cNvPr id="729268" name="Group 180"/>
          <p:cNvGrpSpPr>
            <a:grpSpLocks/>
          </p:cNvGrpSpPr>
          <p:nvPr/>
        </p:nvGrpSpPr>
        <p:grpSpPr bwMode="auto">
          <a:xfrm>
            <a:off x="6019800" y="3886200"/>
            <a:ext cx="685800" cy="685800"/>
            <a:chOff x="912" y="3024"/>
            <a:chExt cx="432" cy="432"/>
          </a:xfrm>
        </p:grpSpPr>
        <p:sp>
          <p:nvSpPr>
            <p:cNvPr id="729269" name="Line 181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70" name="Line 182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271" name="Rectangle 183"/>
          <p:cNvSpPr>
            <a:spLocks noChangeArrowheads="1"/>
          </p:cNvSpPr>
          <p:nvPr/>
        </p:nvSpPr>
        <p:spPr bwMode="auto">
          <a:xfrm>
            <a:off x="7086600" y="42672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grpSp>
        <p:nvGrpSpPr>
          <p:cNvPr id="729272" name="Group 184"/>
          <p:cNvGrpSpPr>
            <a:grpSpLocks/>
          </p:cNvGrpSpPr>
          <p:nvPr/>
        </p:nvGrpSpPr>
        <p:grpSpPr bwMode="auto">
          <a:xfrm>
            <a:off x="6705600" y="3886200"/>
            <a:ext cx="685800" cy="685800"/>
            <a:chOff x="912" y="3024"/>
            <a:chExt cx="432" cy="432"/>
          </a:xfrm>
        </p:grpSpPr>
        <p:sp>
          <p:nvSpPr>
            <p:cNvPr id="729273" name="Line 185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74" name="Line 186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275" name="Rectangle 187"/>
          <p:cNvSpPr>
            <a:spLocks noChangeArrowheads="1"/>
          </p:cNvSpPr>
          <p:nvPr/>
        </p:nvSpPr>
        <p:spPr bwMode="auto">
          <a:xfrm>
            <a:off x="7772400" y="49530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9276" name="Line 188"/>
          <p:cNvSpPr>
            <a:spLocks noChangeShapeType="1"/>
          </p:cNvSpPr>
          <p:nvPr/>
        </p:nvSpPr>
        <p:spPr bwMode="auto">
          <a:xfrm flipH="1" flipV="1">
            <a:off x="7467600" y="4648200"/>
            <a:ext cx="609600" cy="6096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9277" name="Rectangle 189"/>
          <p:cNvSpPr>
            <a:spLocks noChangeArrowheads="1"/>
          </p:cNvSpPr>
          <p:nvPr/>
        </p:nvSpPr>
        <p:spPr bwMode="auto">
          <a:xfrm>
            <a:off x="7086600" y="56388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278" name="Rectangle 190"/>
          <p:cNvSpPr>
            <a:spLocks noChangeArrowheads="1"/>
          </p:cNvSpPr>
          <p:nvPr/>
        </p:nvSpPr>
        <p:spPr bwMode="auto">
          <a:xfrm>
            <a:off x="6400800" y="49530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9279" name="Rectangle 191"/>
          <p:cNvSpPr>
            <a:spLocks noChangeArrowheads="1"/>
          </p:cNvSpPr>
          <p:nvPr/>
        </p:nvSpPr>
        <p:spPr bwMode="auto">
          <a:xfrm>
            <a:off x="6400800" y="49530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3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9280" name="Line 192"/>
          <p:cNvSpPr>
            <a:spLocks noChangeShapeType="1"/>
          </p:cNvSpPr>
          <p:nvPr/>
        </p:nvSpPr>
        <p:spPr bwMode="auto">
          <a:xfrm flipH="1" flipV="1">
            <a:off x="6096000" y="4648200"/>
            <a:ext cx="609600" cy="6096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9281" name="Rectangle 193"/>
          <p:cNvSpPr>
            <a:spLocks noChangeArrowheads="1"/>
          </p:cNvSpPr>
          <p:nvPr/>
        </p:nvSpPr>
        <p:spPr bwMode="auto">
          <a:xfrm>
            <a:off x="7086600" y="56388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</a:p>
          <a:p>
            <a:pPr algn="ctr"/>
            <a:r>
              <a:rPr lang="it-IT" sz="2400">
                <a:sym typeface="Wingdings 3" charset="0"/>
              </a:rPr>
              <a:t></a:t>
            </a:r>
            <a:endParaRPr lang="en-US" sz="2400">
              <a:sym typeface="Wingdings 3" charset="0"/>
            </a:endParaRPr>
          </a:p>
        </p:txBody>
      </p:sp>
      <p:sp>
        <p:nvSpPr>
          <p:cNvPr id="729282" name="Line 194"/>
          <p:cNvSpPr>
            <a:spLocks noChangeShapeType="1"/>
          </p:cNvSpPr>
          <p:nvPr/>
        </p:nvSpPr>
        <p:spPr bwMode="auto">
          <a:xfrm flipH="1" flipV="1">
            <a:off x="6781800" y="5334000"/>
            <a:ext cx="609600" cy="6096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9283" name="Rectangle 195"/>
          <p:cNvSpPr>
            <a:spLocks noChangeArrowheads="1"/>
          </p:cNvSpPr>
          <p:nvPr/>
        </p:nvSpPr>
        <p:spPr bwMode="auto">
          <a:xfrm>
            <a:off x="7772400" y="5638800"/>
            <a:ext cx="6858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4</a:t>
            </a:r>
          </a:p>
          <a:p>
            <a:pPr algn="ctr"/>
            <a:r>
              <a:rPr lang="it-IT" sz="2400">
                <a:sym typeface="Wingdings 3" charset="0"/>
              </a:rPr>
              <a:t></a:t>
            </a:r>
            <a:endParaRPr lang="en-US" sz="2400">
              <a:sym typeface="Wingdings 3" charset="0"/>
            </a:endParaRPr>
          </a:p>
        </p:txBody>
      </p:sp>
      <p:grpSp>
        <p:nvGrpSpPr>
          <p:cNvPr id="729284" name="Group 196"/>
          <p:cNvGrpSpPr>
            <a:grpSpLocks/>
          </p:cNvGrpSpPr>
          <p:nvPr/>
        </p:nvGrpSpPr>
        <p:grpSpPr bwMode="auto">
          <a:xfrm>
            <a:off x="7391400" y="5257800"/>
            <a:ext cx="685800" cy="685800"/>
            <a:chOff x="912" y="3024"/>
            <a:chExt cx="432" cy="432"/>
          </a:xfrm>
        </p:grpSpPr>
        <p:sp>
          <p:nvSpPr>
            <p:cNvPr id="729285" name="Line 197"/>
            <p:cNvSpPr>
              <a:spLocks noChangeShapeType="1"/>
            </p:cNvSpPr>
            <p:nvPr/>
          </p:nvSpPr>
          <p:spPr bwMode="auto">
            <a:xfrm flipV="1">
              <a:off x="1344" y="3024"/>
              <a:ext cx="0" cy="43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86" name="Line 198"/>
            <p:cNvSpPr>
              <a:spLocks noChangeShapeType="1"/>
            </p:cNvSpPr>
            <p:nvPr/>
          </p:nvSpPr>
          <p:spPr bwMode="auto">
            <a:xfrm flipH="1" flipV="1">
              <a:off x="912" y="3456"/>
              <a:ext cx="43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9287" name="Text Box 199"/>
          <p:cNvSpPr txBox="1">
            <a:spLocks noChangeArrowheads="1"/>
          </p:cNvSpPr>
          <p:nvPr/>
        </p:nvSpPr>
        <p:spPr bwMode="auto">
          <a:xfrm>
            <a:off x="3581400" y="8382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  <p:sp>
        <p:nvSpPr>
          <p:cNvPr id="729288" name="Text Box 200"/>
          <p:cNvSpPr txBox="1">
            <a:spLocks noChangeArrowheads="1"/>
          </p:cNvSpPr>
          <p:nvPr/>
        </p:nvSpPr>
        <p:spPr bwMode="auto">
          <a:xfrm>
            <a:off x="3581400" y="22098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  <p:sp>
        <p:nvSpPr>
          <p:cNvPr id="729289" name="Text Box 201"/>
          <p:cNvSpPr txBox="1">
            <a:spLocks noChangeArrowheads="1"/>
          </p:cNvSpPr>
          <p:nvPr/>
        </p:nvSpPr>
        <p:spPr bwMode="auto">
          <a:xfrm>
            <a:off x="3581400" y="35814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  <p:sp>
        <p:nvSpPr>
          <p:cNvPr id="729290" name="Text Box 202"/>
          <p:cNvSpPr txBox="1">
            <a:spLocks noChangeArrowheads="1"/>
          </p:cNvSpPr>
          <p:nvPr/>
        </p:nvSpPr>
        <p:spPr bwMode="auto">
          <a:xfrm>
            <a:off x="3581400" y="42672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  <p:sp>
        <p:nvSpPr>
          <p:cNvPr id="729291" name="Text Box 203"/>
          <p:cNvSpPr txBox="1">
            <a:spLocks noChangeArrowheads="1"/>
          </p:cNvSpPr>
          <p:nvPr/>
        </p:nvSpPr>
        <p:spPr bwMode="auto">
          <a:xfrm>
            <a:off x="3581400" y="49530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  <p:sp>
        <p:nvSpPr>
          <p:cNvPr id="729292" name="Text Box 204"/>
          <p:cNvSpPr txBox="1">
            <a:spLocks noChangeArrowheads="1"/>
          </p:cNvSpPr>
          <p:nvPr/>
        </p:nvSpPr>
        <p:spPr bwMode="auto">
          <a:xfrm>
            <a:off x="3581400" y="56388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  <p:sp>
        <p:nvSpPr>
          <p:cNvPr id="729293" name="Text Box 205"/>
          <p:cNvSpPr txBox="1">
            <a:spLocks noChangeArrowheads="1"/>
          </p:cNvSpPr>
          <p:nvPr/>
        </p:nvSpPr>
        <p:spPr bwMode="auto">
          <a:xfrm>
            <a:off x="3581400" y="15240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  <p:sp>
        <p:nvSpPr>
          <p:cNvPr id="729294" name="Text Box 206"/>
          <p:cNvSpPr txBox="1">
            <a:spLocks noChangeArrowheads="1"/>
          </p:cNvSpPr>
          <p:nvPr/>
        </p:nvSpPr>
        <p:spPr bwMode="auto">
          <a:xfrm>
            <a:off x="3581400" y="2895600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i="1">
                <a:sym typeface="Symbol" charset="0"/>
              </a:rPr>
              <a:t>c</a:t>
            </a:r>
          </a:p>
          <a:p>
            <a:r>
              <a:rPr lang="it-IT" sz="2000" i="1">
                <a:sym typeface="Symbol" charset="0"/>
              </a:rPr>
              <a:t>s</a:t>
            </a:r>
            <a:endParaRPr lang="it-IT" sz="2000">
              <a:sym typeface="Symbo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 nodeType="clickPar">
                      <p:stCondLst>
                        <p:cond delay="indefinite"/>
                      </p:stCondLst>
                      <p:childTnLst>
                        <p:par>
                          <p:cTn id="2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Par">
                      <p:stCondLst>
                        <p:cond delay="indefinite"/>
                      </p:stCondLst>
                      <p:childTnLst>
                        <p:par>
                          <p:cTn id="2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 nodeType="clickPar">
                      <p:stCondLst>
                        <p:cond delay="indefinite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 nodeType="clickPar">
                      <p:stCondLst>
                        <p:cond delay="indefinite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 nodeType="clickPar">
                      <p:stCondLst>
                        <p:cond delay="indefinite"/>
                      </p:stCondLst>
                      <p:childTnLst>
                        <p:par>
                          <p:cTn id="2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 nodeType="clickPar">
                      <p:stCondLst>
                        <p:cond delay="indefinite"/>
                      </p:stCondLst>
                      <p:childTnLst>
                        <p:par>
                          <p:cTn id="2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 nodeType="clickPar">
                      <p:stCondLst>
                        <p:cond delay="indefinite"/>
                      </p:stCondLst>
                      <p:childTnLst>
                        <p:par>
                          <p:cTn id="2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 nodeType="clickPar">
                      <p:stCondLst>
                        <p:cond delay="indefinite"/>
                      </p:stCondLst>
                      <p:childTnLst>
                        <p:par>
                          <p:cTn id="2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 nodeType="clickPar">
                      <p:stCondLst>
                        <p:cond delay="indefinite"/>
                      </p:stCondLst>
                      <p:childTnLst>
                        <p:par>
                          <p:cTn id="2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 nodeType="clickPar">
                      <p:stCondLst>
                        <p:cond delay="indefinite"/>
                      </p:stCondLst>
                      <p:childTnLst>
                        <p:par>
                          <p:cTn id="2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 nodeType="clickPar">
                      <p:stCondLst>
                        <p:cond delay="indefinite"/>
                      </p:stCondLst>
                      <p:childTnLst>
                        <p:par>
                          <p:cTn id="3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 nodeType="clickPar">
                      <p:stCondLst>
                        <p:cond delay="indefinite"/>
                      </p:stCondLst>
                      <p:childTnLst>
                        <p:par>
                          <p:cTn id="3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 nodeType="clickPar">
                      <p:stCondLst>
                        <p:cond delay="indefinite"/>
                      </p:stCondLst>
                      <p:childTnLst>
                        <p:par>
                          <p:cTn id="3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 nodeType="clickPar">
                      <p:stCondLst>
                        <p:cond delay="indefinite"/>
                      </p:stCondLst>
                      <p:childTnLst>
                        <p:par>
                          <p:cTn id="3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 nodeType="clickPar">
                      <p:stCondLst>
                        <p:cond delay="indefinite"/>
                      </p:stCondLst>
                      <p:childTnLst>
                        <p:par>
                          <p:cTn id="3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 nodeType="clickPar">
                      <p:stCondLst>
                        <p:cond delay="indefinite"/>
                      </p:stCondLst>
                      <p:childTnLst>
                        <p:par>
                          <p:cTn id="3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 nodeType="clickPar">
                      <p:stCondLst>
                        <p:cond delay="indefinite"/>
                      </p:stCondLst>
                      <p:childTnLst>
                        <p:par>
                          <p:cTn id="3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 nodeType="clickPar">
                      <p:stCondLst>
                        <p:cond delay="indefinite"/>
                      </p:stCondLst>
                      <p:childTnLst>
                        <p:par>
                          <p:cTn id="3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 nodeType="clickPar">
                      <p:stCondLst>
                        <p:cond delay="indefinite"/>
                      </p:stCondLst>
                      <p:childTnLst>
                        <p:par>
                          <p:cTn id="3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 nodeType="clickPar">
                      <p:stCondLst>
                        <p:cond delay="indefinite"/>
                      </p:stCondLst>
                      <p:childTnLst>
                        <p:par>
                          <p:cTn id="3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 nodeType="clickPar">
                      <p:stCondLst>
                        <p:cond delay="indefinite"/>
                      </p:stCondLst>
                      <p:childTnLst>
                        <p:par>
                          <p:cTn id="3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170" grpId="0" animBg="1"/>
      <p:bldP spid="729171" grpId="0" animBg="1"/>
      <p:bldP spid="729172" grpId="0" animBg="1"/>
      <p:bldP spid="729173" grpId="0" animBg="1"/>
      <p:bldP spid="729174" grpId="0" animBg="1"/>
      <p:bldP spid="729175" grpId="0" animBg="1"/>
      <p:bldP spid="729176" grpId="0" animBg="1"/>
      <p:bldP spid="729177" grpId="0" animBg="1"/>
      <p:bldP spid="729178" grpId="0" animBg="1" autoUpdateAnimBg="0"/>
      <p:bldP spid="729179" grpId="0" animBg="1" autoUpdateAnimBg="0"/>
      <p:bldP spid="729180" grpId="0" animBg="1"/>
      <p:bldP spid="729181" grpId="0" animBg="1"/>
      <p:bldP spid="729182" grpId="0" animBg="1"/>
      <p:bldP spid="729183" grpId="0" animBg="1"/>
      <p:bldP spid="729184" grpId="0" animBg="1"/>
      <p:bldP spid="729185" grpId="0" animBg="1" autoUpdateAnimBg="0"/>
      <p:bldP spid="729186" grpId="0" animBg="1"/>
      <p:bldP spid="729187" grpId="0" animBg="1"/>
      <p:bldP spid="729188" grpId="0" animBg="1" autoUpdateAnimBg="0"/>
      <p:bldP spid="729189" grpId="0" animBg="1"/>
      <p:bldP spid="729190" grpId="0" animBg="1" autoUpdateAnimBg="0"/>
      <p:bldP spid="729191" grpId="0" animBg="1" autoUpdateAnimBg="0"/>
      <p:bldP spid="729195" grpId="0" animBg="1" autoUpdateAnimBg="0"/>
      <p:bldP spid="729199" grpId="0" animBg="1" autoUpdateAnimBg="0"/>
      <p:bldP spid="729203" grpId="0" animBg="1"/>
      <p:bldP spid="729204" grpId="0" animBg="1"/>
      <p:bldP spid="729205" grpId="0" animBg="1" autoUpdateAnimBg="0"/>
      <p:bldP spid="729206" grpId="0" animBg="1"/>
      <p:bldP spid="729207" grpId="0" animBg="1" autoUpdateAnimBg="0"/>
      <p:bldP spid="729211" grpId="0" animBg="1" autoUpdateAnimBg="0"/>
      <p:bldP spid="729215" grpId="0" animBg="1" autoUpdateAnimBg="0"/>
      <p:bldP spid="729219" grpId="0" animBg="1"/>
      <p:bldP spid="729220" grpId="0" animBg="1" autoUpdateAnimBg="0"/>
      <p:bldP spid="729221" grpId="0" animBg="1"/>
      <p:bldP spid="729222" grpId="0" animBg="1" autoUpdateAnimBg="0"/>
      <p:bldP spid="729226" grpId="0" animBg="1" autoUpdateAnimBg="0"/>
      <p:bldP spid="729227" grpId="0" animBg="1"/>
      <p:bldP spid="729228" grpId="0" animBg="1"/>
      <p:bldP spid="729229" grpId="0" animBg="1"/>
      <p:bldP spid="729230" grpId="0" animBg="1"/>
      <p:bldP spid="729231" grpId="0" animBg="1"/>
      <p:bldP spid="729232" grpId="0" animBg="1"/>
      <p:bldP spid="729233" grpId="0" animBg="1"/>
      <p:bldP spid="729234" grpId="0" animBg="1"/>
      <p:bldP spid="729235" grpId="0" animBg="1" autoUpdateAnimBg="0"/>
      <p:bldP spid="729236" grpId="0" animBg="1" autoUpdateAnimBg="0"/>
      <p:bldP spid="729240" grpId="0" animBg="1" autoUpdateAnimBg="0"/>
      <p:bldP spid="729244" grpId="0" animBg="1"/>
      <p:bldP spid="729245" grpId="0" animBg="1" autoUpdateAnimBg="0"/>
      <p:bldP spid="729246" grpId="0" animBg="1"/>
      <p:bldP spid="729247" grpId="0" animBg="1" autoUpdateAnimBg="0"/>
      <p:bldP spid="729251" grpId="0" animBg="1" autoUpdateAnimBg="0"/>
      <p:bldP spid="729255" grpId="0" animBg="1" autoUpdateAnimBg="0"/>
      <p:bldP spid="729259" grpId="0" animBg="1"/>
      <p:bldP spid="729260" grpId="0" animBg="1"/>
      <p:bldP spid="729261" grpId="0" animBg="1" autoUpdateAnimBg="0"/>
      <p:bldP spid="729262" grpId="0" animBg="1"/>
      <p:bldP spid="729263" grpId="0" animBg="1" autoUpdateAnimBg="0"/>
      <p:bldP spid="729267" grpId="0" animBg="1" autoUpdateAnimBg="0"/>
      <p:bldP spid="729271" grpId="0" animBg="1" autoUpdateAnimBg="0"/>
      <p:bldP spid="729275" grpId="0" animBg="1" autoUpdateAnimBg="0"/>
      <p:bldP spid="729276" grpId="0" animBg="1"/>
      <p:bldP spid="729277" grpId="0" animBg="1"/>
      <p:bldP spid="729278" grpId="0" animBg="1"/>
      <p:bldP spid="729279" grpId="0" animBg="1" autoUpdateAnimBg="0"/>
      <p:bldP spid="729280" grpId="0" animBg="1"/>
      <p:bldP spid="729281" grpId="0" animBg="1" autoUpdateAnimBg="0"/>
      <p:bldP spid="729282" grpId="0" animBg="1"/>
      <p:bldP spid="729283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2" name="Text Box 2"/>
          <p:cNvSpPr txBox="1">
            <a:spLocks noChangeArrowheads="1"/>
          </p:cNvSpPr>
          <p:nvPr/>
        </p:nvSpPr>
        <p:spPr bwMode="auto">
          <a:xfrm>
            <a:off x="467544" y="1124744"/>
            <a:ext cx="83058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Siano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2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le parole chiave prese in ordine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lessicografico</a:t>
            </a:r>
            <a:endParaRPr lang="it-IT" sz="2400" dirty="0">
              <a:solidFill>
                <a:srgbClr val="201FF0"/>
              </a:solidFill>
              <a:sym typeface="Symbol" charset="0"/>
            </a:endParaRP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L’albero di ricerca ha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+1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foglie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0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 smtClean="0">
                <a:solidFill>
                  <a:srgbClr val="FF0000"/>
                </a:solidFill>
                <a:sym typeface="Symbol" charset="0"/>
              </a:rPr>
              <a:t>n</a:t>
            </a:r>
            <a:endParaRPr lang="it-IT" sz="2400" dirty="0">
              <a:solidFill>
                <a:srgbClr val="FF0000"/>
              </a:solidFill>
              <a:sym typeface="Symbol" charset="0"/>
            </a:endParaRP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La ricerca di una parola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che non è parola chiave termina nella foglia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tale che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&lt;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&lt;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i+</a:t>
            </a:r>
            <a:r>
              <a:rPr lang="it-IT" sz="2400" i="1" baseline="-25000" dirty="0" smtClean="0">
                <a:solidFill>
                  <a:srgbClr val="FF0000"/>
                </a:solidFill>
                <a:sym typeface="Symbol" charset="0"/>
              </a:rPr>
              <a:t>1</a:t>
            </a:r>
            <a:endParaRPr lang="it-IT" sz="2400" dirty="0">
              <a:solidFill>
                <a:srgbClr val="FF0000"/>
              </a:solidFill>
              <a:sym typeface="Symbol" charset="0"/>
            </a:endParaRPr>
          </a:p>
        </p:txBody>
      </p:sp>
      <p:sp>
        <p:nvSpPr>
          <p:cNvPr id="732163" name="Oval 3"/>
          <p:cNvSpPr>
            <a:spLocks noChangeArrowheads="1"/>
          </p:cNvSpPr>
          <p:nvPr/>
        </p:nvSpPr>
        <p:spPr bwMode="auto">
          <a:xfrm>
            <a:off x="4038600" y="3505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i="1"/>
              <a:t>k</a:t>
            </a:r>
            <a:r>
              <a:rPr lang="it-IT" sz="2800" baseline="-25000"/>
              <a:t>3</a:t>
            </a:r>
          </a:p>
        </p:txBody>
      </p:sp>
      <p:sp>
        <p:nvSpPr>
          <p:cNvPr id="732164" name="Oval 4"/>
          <p:cNvSpPr>
            <a:spLocks noChangeArrowheads="1"/>
          </p:cNvSpPr>
          <p:nvPr/>
        </p:nvSpPr>
        <p:spPr bwMode="auto">
          <a:xfrm>
            <a:off x="3352800" y="41910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i="1"/>
              <a:t>k</a:t>
            </a:r>
            <a:r>
              <a:rPr lang="it-IT" sz="2800" baseline="-25000"/>
              <a:t>2</a:t>
            </a:r>
          </a:p>
        </p:txBody>
      </p:sp>
      <p:sp>
        <p:nvSpPr>
          <p:cNvPr id="732165" name="Oval 5"/>
          <p:cNvSpPr>
            <a:spLocks noChangeArrowheads="1"/>
          </p:cNvSpPr>
          <p:nvPr/>
        </p:nvSpPr>
        <p:spPr bwMode="auto">
          <a:xfrm>
            <a:off x="2819400" y="49530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i="1"/>
              <a:t>k</a:t>
            </a:r>
            <a:r>
              <a:rPr lang="it-IT" sz="2800" baseline="-25000"/>
              <a:t>1</a:t>
            </a:r>
          </a:p>
        </p:txBody>
      </p:sp>
      <p:sp>
        <p:nvSpPr>
          <p:cNvPr id="732166" name="Oval 6"/>
          <p:cNvSpPr>
            <a:spLocks noChangeArrowheads="1"/>
          </p:cNvSpPr>
          <p:nvPr/>
        </p:nvSpPr>
        <p:spPr bwMode="auto">
          <a:xfrm>
            <a:off x="4724400" y="4267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i="1"/>
              <a:t>k</a:t>
            </a:r>
            <a:r>
              <a:rPr lang="it-IT" sz="2800" baseline="-25000"/>
              <a:t>6</a:t>
            </a:r>
          </a:p>
        </p:txBody>
      </p:sp>
      <p:sp>
        <p:nvSpPr>
          <p:cNvPr id="732167" name="Oval 7"/>
          <p:cNvSpPr>
            <a:spLocks noChangeArrowheads="1"/>
          </p:cNvSpPr>
          <p:nvPr/>
        </p:nvSpPr>
        <p:spPr bwMode="auto">
          <a:xfrm>
            <a:off x="4724400" y="56388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i="1"/>
              <a:t>k</a:t>
            </a:r>
            <a:r>
              <a:rPr lang="it-IT" sz="2800" baseline="-25000"/>
              <a:t>5</a:t>
            </a:r>
          </a:p>
        </p:txBody>
      </p:sp>
      <p:sp>
        <p:nvSpPr>
          <p:cNvPr id="732168" name="Oval 8"/>
          <p:cNvSpPr>
            <a:spLocks noChangeArrowheads="1"/>
          </p:cNvSpPr>
          <p:nvPr/>
        </p:nvSpPr>
        <p:spPr bwMode="auto">
          <a:xfrm>
            <a:off x="4267200" y="5029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i="1"/>
              <a:t>k</a:t>
            </a:r>
            <a:r>
              <a:rPr lang="it-IT" sz="2800" baseline="-25000"/>
              <a:t>4</a:t>
            </a:r>
          </a:p>
        </p:txBody>
      </p:sp>
      <p:sp>
        <p:nvSpPr>
          <p:cNvPr id="732169" name="Rectangle 9"/>
          <p:cNvSpPr>
            <a:spLocks noChangeArrowheads="1"/>
          </p:cNvSpPr>
          <p:nvPr/>
        </p:nvSpPr>
        <p:spPr bwMode="auto">
          <a:xfrm>
            <a:off x="3200400" y="5638800"/>
            <a:ext cx="228600" cy="228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2170" name="Rectangle 10"/>
          <p:cNvSpPr>
            <a:spLocks noChangeArrowheads="1"/>
          </p:cNvSpPr>
          <p:nvPr/>
        </p:nvSpPr>
        <p:spPr bwMode="auto">
          <a:xfrm>
            <a:off x="2667000" y="5638800"/>
            <a:ext cx="228600" cy="228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2171" name="Rectangle 11"/>
          <p:cNvSpPr>
            <a:spLocks noChangeArrowheads="1"/>
          </p:cNvSpPr>
          <p:nvPr/>
        </p:nvSpPr>
        <p:spPr bwMode="auto">
          <a:xfrm>
            <a:off x="5181600" y="6248400"/>
            <a:ext cx="228600" cy="228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2172" name="Rectangle 12"/>
          <p:cNvSpPr>
            <a:spLocks noChangeArrowheads="1"/>
          </p:cNvSpPr>
          <p:nvPr/>
        </p:nvSpPr>
        <p:spPr bwMode="auto">
          <a:xfrm>
            <a:off x="4495800" y="6248400"/>
            <a:ext cx="228600" cy="228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2173" name="Rectangle 13"/>
          <p:cNvSpPr>
            <a:spLocks noChangeArrowheads="1"/>
          </p:cNvSpPr>
          <p:nvPr/>
        </p:nvSpPr>
        <p:spPr bwMode="auto">
          <a:xfrm>
            <a:off x="5410200" y="5105400"/>
            <a:ext cx="228600" cy="228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2174" name="Rectangle 14"/>
          <p:cNvSpPr>
            <a:spLocks noChangeArrowheads="1"/>
          </p:cNvSpPr>
          <p:nvPr/>
        </p:nvSpPr>
        <p:spPr bwMode="auto">
          <a:xfrm>
            <a:off x="4114800" y="5715000"/>
            <a:ext cx="228600" cy="228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2175" name="Rectangle 15"/>
          <p:cNvSpPr>
            <a:spLocks noChangeArrowheads="1"/>
          </p:cNvSpPr>
          <p:nvPr/>
        </p:nvSpPr>
        <p:spPr bwMode="auto">
          <a:xfrm>
            <a:off x="3657600" y="5029200"/>
            <a:ext cx="228600" cy="228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2176" name="Line 16"/>
          <p:cNvSpPr>
            <a:spLocks noChangeShapeType="1"/>
          </p:cNvSpPr>
          <p:nvPr/>
        </p:nvSpPr>
        <p:spPr bwMode="auto">
          <a:xfrm flipH="1">
            <a:off x="3124200" y="4572000"/>
            <a:ext cx="304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2177" name="Line 17"/>
          <p:cNvSpPr>
            <a:spLocks noChangeShapeType="1"/>
          </p:cNvSpPr>
          <p:nvPr/>
        </p:nvSpPr>
        <p:spPr bwMode="auto">
          <a:xfrm flipH="1">
            <a:off x="2819400" y="5334000"/>
            <a:ext cx="76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2178" name="Line 18"/>
          <p:cNvSpPr>
            <a:spLocks noChangeShapeType="1"/>
          </p:cNvSpPr>
          <p:nvPr/>
        </p:nvSpPr>
        <p:spPr bwMode="auto">
          <a:xfrm>
            <a:off x="3200400" y="533400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2179" name="Line 19"/>
          <p:cNvSpPr>
            <a:spLocks noChangeShapeType="1"/>
          </p:cNvSpPr>
          <p:nvPr/>
        </p:nvSpPr>
        <p:spPr bwMode="auto">
          <a:xfrm>
            <a:off x="3657600" y="4648200"/>
            <a:ext cx="1524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2180" name="Line 20"/>
          <p:cNvSpPr>
            <a:spLocks noChangeShapeType="1"/>
          </p:cNvSpPr>
          <p:nvPr/>
        </p:nvSpPr>
        <p:spPr bwMode="auto">
          <a:xfrm flipH="1">
            <a:off x="4648200" y="4648200"/>
            <a:ext cx="2286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2181" name="Line 21"/>
          <p:cNvSpPr>
            <a:spLocks noChangeShapeType="1"/>
          </p:cNvSpPr>
          <p:nvPr/>
        </p:nvSpPr>
        <p:spPr bwMode="auto">
          <a:xfrm>
            <a:off x="4419600" y="3886200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2182" name="Line 22"/>
          <p:cNvSpPr>
            <a:spLocks noChangeShapeType="1"/>
          </p:cNvSpPr>
          <p:nvPr/>
        </p:nvSpPr>
        <p:spPr bwMode="auto">
          <a:xfrm flipH="1">
            <a:off x="3733800" y="3886200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2183" name="Line 23"/>
          <p:cNvSpPr>
            <a:spLocks noChangeShapeType="1"/>
          </p:cNvSpPr>
          <p:nvPr/>
        </p:nvSpPr>
        <p:spPr bwMode="auto">
          <a:xfrm>
            <a:off x="5105400" y="4648200"/>
            <a:ext cx="4572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2184" name="Line 24"/>
          <p:cNvSpPr>
            <a:spLocks noChangeShapeType="1"/>
          </p:cNvSpPr>
          <p:nvPr/>
        </p:nvSpPr>
        <p:spPr bwMode="auto">
          <a:xfrm flipH="1">
            <a:off x="4648200" y="6019800"/>
            <a:ext cx="1524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2185" name="Line 25"/>
          <p:cNvSpPr>
            <a:spLocks noChangeShapeType="1"/>
          </p:cNvSpPr>
          <p:nvPr/>
        </p:nvSpPr>
        <p:spPr bwMode="auto">
          <a:xfrm>
            <a:off x="4648200" y="5410200"/>
            <a:ext cx="1524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2186" name="Line 26"/>
          <p:cNvSpPr>
            <a:spLocks noChangeShapeType="1"/>
          </p:cNvSpPr>
          <p:nvPr/>
        </p:nvSpPr>
        <p:spPr bwMode="auto">
          <a:xfrm flipH="1">
            <a:off x="4191000" y="541020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2187" name="Rectangle 27"/>
          <p:cNvSpPr>
            <a:spLocks noChangeArrowheads="1"/>
          </p:cNvSpPr>
          <p:nvPr/>
        </p:nvSpPr>
        <p:spPr bwMode="auto">
          <a:xfrm>
            <a:off x="2590800" y="5867400"/>
            <a:ext cx="40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i="1"/>
              <a:t>f</a:t>
            </a:r>
            <a:r>
              <a:rPr lang="it-IT" sz="2800" baseline="-25000"/>
              <a:t>0</a:t>
            </a:r>
          </a:p>
        </p:txBody>
      </p:sp>
      <p:sp>
        <p:nvSpPr>
          <p:cNvPr id="732188" name="Rectangle 28"/>
          <p:cNvSpPr>
            <a:spLocks noChangeArrowheads="1"/>
          </p:cNvSpPr>
          <p:nvPr/>
        </p:nvSpPr>
        <p:spPr bwMode="auto">
          <a:xfrm>
            <a:off x="3124200" y="5867400"/>
            <a:ext cx="40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i="1"/>
              <a:t>f</a:t>
            </a:r>
            <a:r>
              <a:rPr lang="it-IT" sz="2800" baseline="-25000"/>
              <a:t>1</a:t>
            </a:r>
          </a:p>
        </p:txBody>
      </p:sp>
      <p:sp>
        <p:nvSpPr>
          <p:cNvPr id="732189" name="Rectangle 29"/>
          <p:cNvSpPr>
            <a:spLocks noChangeArrowheads="1"/>
          </p:cNvSpPr>
          <p:nvPr/>
        </p:nvSpPr>
        <p:spPr bwMode="auto">
          <a:xfrm>
            <a:off x="3733800" y="5715000"/>
            <a:ext cx="40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i="1"/>
              <a:t>f</a:t>
            </a:r>
            <a:r>
              <a:rPr lang="it-IT" sz="2800" baseline="-25000"/>
              <a:t>3</a:t>
            </a:r>
          </a:p>
        </p:txBody>
      </p:sp>
      <p:sp>
        <p:nvSpPr>
          <p:cNvPr id="732190" name="Rectangle 30"/>
          <p:cNvSpPr>
            <a:spLocks noChangeArrowheads="1"/>
          </p:cNvSpPr>
          <p:nvPr/>
        </p:nvSpPr>
        <p:spPr bwMode="auto">
          <a:xfrm>
            <a:off x="4114800" y="6096000"/>
            <a:ext cx="40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i="1"/>
              <a:t>f</a:t>
            </a:r>
            <a:r>
              <a:rPr lang="it-IT" sz="2800" baseline="-25000"/>
              <a:t>4</a:t>
            </a:r>
          </a:p>
        </p:txBody>
      </p:sp>
      <p:sp>
        <p:nvSpPr>
          <p:cNvPr id="732191" name="Rectangle 31"/>
          <p:cNvSpPr>
            <a:spLocks noChangeArrowheads="1"/>
          </p:cNvSpPr>
          <p:nvPr/>
        </p:nvSpPr>
        <p:spPr bwMode="auto">
          <a:xfrm>
            <a:off x="5486400" y="6096000"/>
            <a:ext cx="40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i="1"/>
              <a:t>f</a:t>
            </a:r>
            <a:r>
              <a:rPr lang="it-IT" sz="2800" baseline="-25000"/>
              <a:t>5</a:t>
            </a:r>
          </a:p>
        </p:txBody>
      </p:sp>
      <p:sp>
        <p:nvSpPr>
          <p:cNvPr id="732192" name="Rectangle 32"/>
          <p:cNvSpPr>
            <a:spLocks noChangeArrowheads="1"/>
          </p:cNvSpPr>
          <p:nvPr/>
        </p:nvSpPr>
        <p:spPr bwMode="auto">
          <a:xfrm>
            <a:off x="5638800" y="5181600"/>
            <a:ext cx="40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i="1"/>
              <a:t>f</a:t>
            </a:r>
            <a:r>
              <a:rPr lang="it-IT" sz="2800" baseline="-25000"/>
              <a:t>6</a:t>
            </a:r>
          </a:p>
        </p:txBody>
      </p:sp>
      <p:sp>
        <p:nvSpPr>
          <p:cNvPr id="732193" name="Line 33"/>
          <p:cNvSpPr>
            <a:spLocks noChangeShapeType="1"/>
          </p:cNvSpPr>
          <p:nvPr/>
        </p:nvSpPr>
        <p:spPr bwMode="auto">
          <a:xfrm>
            <a:off x="5105400" y="6019800"/>
            <a:ext cx="1524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2194" name="Rectangle 34"/>
          <p:cNvSpPr>
            <a:spLocks noChangeArrowheads="1"/>
          </p:cNvSpPr>
          <p:nvPr/>
        </p:nvSpPr>
        <p:spPr bwMode="auto">
          <a:xfrm>
            <a:off x="3505200" y="5181600"/>
            <a:ext cx="40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800" i="1"/>
              <a:t>f</a:t>
            </a:r>
            <a:r>
              <a:rPr lang="it-IT" sz="2800" baseline="-25000"/>
              <a:t>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Albero di ricerca ottimo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Text Box 2"/>
          <p:cNvSpPr txBox="1">
            <a:spLocks noChangeArrowheads="1"/>
          </p:cNvSpPr>
          <p:nvPr/>
        </p:nvSpPr>
        <p:spPr bwMode="auto">
          <a:xfrm>
            <a:off x="395536" y="1772816"/>
            <a:ext cx="8305800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Supponiamo di conoscere la probabilità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p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che una parola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in un programma C++ sia la parola chiave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e la probabilità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che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&lt;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&lt;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i+</a:t>
            </a:r>
            <a:r>
              <a:rPr lang="it-IT" sz="2400" i="1" baseline="-25000" dirty="0" smtClean="0">
                <a:solidFill>
                  <a:srgbClr val="FF0000"/>
                </a:solidFill>
                <a:sym typeface="Symbol" charset="0"/>
              </a:rPr>
              <a:t>1</a:t>
            </a:r>
            <a:endParaRPr lang="it-IT" sz="2400" dirty="0">
              <a:solidFill>
                <a:srgbClr val="201FF0"/>
              </a:solidFill>
              <a:sym typeface="Symbol" charset="0"/>
            </a:endParaRPr>
          </a:p>
        </p:txBody>
      </p:sp>
      <p:sp>
        <p:nvSpPr>
          <p:cNvPr id="733187" name="Text Box 3"/>
          <p:cNvSpPr txBox="1">
            <a:spLocks noChangeArrowheads="1"/>
          </p:cNvSpPr>
          <p:nvPr/>
        </p:nvSpPr>
        <p:spPr bwMode="auto">
          <a:xfrm>
            <a:off x="457200" y="3810000"/>
            <a:ext cx="830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Vorremmo costruire un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albero di ricerca ottimo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che minimizzi la lunghezza aspettata (media) di una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ricerca </a:t>
            </a:r>
            <a:endParaRPr lang="it-IT" sz="2400" dirty="0">
              <a:solidFill>
                <a:srgbClr val="201FF0"/>
              </a:solidFill>
              <a:sym typeface="Symbol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Albero di ricerca </a:t>
            </a:r>
            <a:r>
              <a:rPr lang="it-IT" dirty="0" smtClean="0">
                <a:solidFill>
                  <a:srgbClr val="FF0000"/>
                </a:solidFill>
              </a:rPr>
              <a:t>ottimo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Text Box 2"/>
          <p:cNvSpPr txBox="1">
            <a:spLocks noChangeArrowheads="1"/>
          </p:cNvSpPr>
          <p:nvPr/>
        </p:nvSpPr>
        <p:spPr bwMode="auto">
          <a:xfrm>
            <a:off x="539552" y="1412776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Primo passo</a:t>
            </a:r>
            <a:r>
              <a:rPr lang="it-IT" sz="2400" dirty="0">
                <a:sym typeface="Symbol" charset="0"/>
              </a:rPr>
              <a:t>: </a:t>
            </a:r>
            <a:r>
              <a:rPr lang="it-IT" sz="2400" i="1" u="sng" dirty="0">
                <a:sym typeface="Symbol" charset="0"/>
              </a:rPr>
              <a:t>struttura di un albero di ricerca ottimo</a:t>
            </a:r>
            <a:r>
              <a:rPr lang="it-IT" sz="2400" i="1" dirty="0">
                <a:sym typeface="Symbol" charset="0"/>
              </a:rPr>
              <a:t>.</a:t>
            </a:r>
          </a:p>
        </p:txBody>
      </p:sp>
      <p:sp>
        <p:nvSpPr>
          <p:cNvPr id="739331" name="Text Box 3"/>
          <p:cNvSpPr txBox="1">
            <a:spLocks noChangeArrowheads="1"/>
          </p:cNvSpPr>
          <p:nvPr/>
        </p:nvSpPr>
        <p:spPr bwMode="auto">
          <a:xfrm>
            <a:off x="539552" y="2132856"/>
            <a:ext cx="8305800" cy="326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Siano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un albero di ricerca ottimo e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'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un suo sottoalbero. I nodi interni di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T'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contengono un insieme di chiavi consecutive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 le foglie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-1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 smtClean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.</a:t>
            </a:r>
          </a:p>
          <a:p>
            <a:pPr>
              <a:spcBef>
                <a:spcPct val="30000"/>
              </a:spcBef>
            </a:pP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Scriveremo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T'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=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s,t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.</a:t>
            </a:r>
          </a:p>
          <a:p>
            <a:pPr>
              <a:spcBef>
                <a:spcPct val="3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Siccome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 è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ottimo per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ed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0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anche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T'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deve esserlo per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ed 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 smtClean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-1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altrimenti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potremmo sostituirlo in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con uno migliore ottenendo un albero di ricerca migliore di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Albero di ricerca ottimo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Text Box 2"/>
          <p:cNvSpPr txBox="1">
            <a:spLocks noChangeArrowheads="1"/>
          </p:cNvSpPr>
          <p:nvPr/>
        </p:nvSpPr>
        <p:spPr bwMode="auto">
          <a:xfrm>
            <a:off x="478086" y="3171528"/>
            <a:ext cx="8382000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4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Sia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un valore da cercare. La probabilità che la ricerca termini in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s,t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è </a:t>
            </a:r>
          </a:p>
          <a:p>
            <a:pPr>
              <a:lnSpc>
                <a:spcPct val="120000"/>
              </a:lnSpc>
              <a:spcBef>
                <a:spcPct val="4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Le probabilità condizionate che un valore x che sta in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s,t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termini in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o in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-1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 err="1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sono rispettivamente  </a:t>
            </a:r>
          </a:p>
        </p:txBody>
      </p:sp>
      <p:sp>
        <p:nvSpPr>
          <p:cNvPr id="740355" name="Text Box 3"/>
          <p:cNvSpPr txBox="1">
            <a:spLocks noChangeArrowheads="1"/>
          </p:cNvSpPr>
          <p:nvPr/>
        </p:nvSpPr>
        <p:spPr bwMode="auto">
          <a:xfrm>
            <a:off x="478086" y="1371328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Secondo passo</a:t>
            </a:r>
            <a:r>
              <a:rPr lang="it-IT" sz="2400" dirty="0">
                <a:sym typeface="Symbol" charset="0"/>
              </a:rPr>
              <a:t>: </a:t>
            </a:r>
            <a:r>
              <a:rPr lang="it-IT" sz="2400" i="1" u="sng" dirty="0">
                <a:sym typeface="Symbol" charset="0"/>
              </a:rPr>
              <a:t>soluzione </a:t>
            </a:r>
            <a:r>
              <a:rPr lang="it-IT" sz="2400" i="1" u="sng" dirty="0" smtClean="0">
                <a:sym typeface="Symbol" charset="0"/>
              </a:rPr>
              <a:t>ricorsiva</a:t>
            </a:r>
            <a:endParaRPr lang="it-IT" sz="2400" i="1" dirty="0">
              <a:sym typeface="Symbol" charset="0"/>
            </a:endParaRPr>
          </a:p>
        </p:txBody>
      </p:sp>
      <p:sp>
        <p:nvSpPr>
          <p:cNvPr id="740356" name="Text Box 4"/>
          <p:cNvSpPr txBox="1">
            <a:spLocks noChangeArrowheads="1"/>
          </p:cNvSpPr>
          <p:nvPr/>
        </p:nvSpPr>
        <p:spPr bwMode="auto">
          <a:xfrm>
            <a:off x="395536" y="1988840"/>
            <a:ext cx="8305800" cy="966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Sia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s,t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un sottoalbero ottimo per le chiavi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 le foglie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-1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t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. </a:t>
            </a:r>
          </a:p>
        </p:txBody>
      </p:sp>
      <p:graphicFrame>
        <p:nvGraphicFramePr>
          <p:cNvPr id="7403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318952"/>
              </p:ext>
            </p:extLst>
          </p:nvPr>
        </p:nvGraphicFramePr>
        <p:xfrm>
          <a:off x="2987824" y="3501008"/>
          <a:ext cx="2232248" cy="816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1" name="Equation" r:id="rId4" imgW="1194197" imgH="432197" progId="Equation.3">
                  <p:embed/>
                </p:oleObj>
              </mc:Choice>
              <mc:Fallback>
                <p:oleObj name="Equation" r:id="rId4" imgW="1194197" imgH="4321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3501008"/>
                        <a:ext cx="2232248" cy="8164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618811"/>
              </p:ext>
            </p:extLst>
          </p:nvPr>
        </p:nvGraphicFramePr>
        <p:xfrm>
          <a:off x="3563888" y="5085184"/>
          <a:ext cx="1754187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" name="Equation" r:id="rId6" imgW="723983" imgH="444704" progId="Equation.3">
                  <p:embed/>
                </p:oleObj>
              </mc:Choice>
              <mc:Fallback>
                <p:oleObj name="Equation" r:id="rId6" imgW="723983" imgH="444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5085184"/>
                        <a:ext cx="1754187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Albero di ricerca ottimo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13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523241"/>
              </p:ext>
            </p:extLst>
          </p:nvPr>
        </p:nvGraphicFramePr>
        <p:xfrm>
          <a:off x="971600" y="4005064"/>
          <a:ext cx="6767983" cy="2318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2" name="Equation" r:id="rId4" imgW="2705496" imgH="940197" progId="Equation.3">
                  <p:embed/>
                </p:oleObj>
              </mc:Choice>
              <mc:Fallback>
                <p:oleObj name="Equation" r:id="rId4" imgW="2705496" imgH="9401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005064"/>
                        <a:ext cx="6767983" cy="23186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1379" name="Text Box 3"/>
          <p:cNvSpPr txBox="1">
            <a:spLocks noChangeArrowheads="1"/>
          </p:cNvSpPr>
          <p:nvPr/>
        </p:nvSpPr>
        <p:spPr bwMode="auto">
          <a:xfrm>
            <a:off x="467544" y="2492896"/>
            <a:ext cx="8077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Se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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l’albero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ha una radice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 smtClean="0">
                <a:solidFill>
                  <a:srgbClr val="FF0000"/>
                </a:solidFill>
                <a:sym typeface="Symbol" charset="0"/>
              </a:rPr>
              <a:t>r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,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un sottoalbero sinistro con chiavi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r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-1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e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foglie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 smtClean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-1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r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-1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ed un sottoalbero destro con chiavi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r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+1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e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foglie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r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,...,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. Quindi</a:t>
            </a:r>
          </a:p>
        </p:txBody>
      </p:sp>
      <p:sp>
        <p:nvSpPr>
          <p:cNvPr id="741380" name="Text Box 4"/>
          <p:cNvSpPr txBox="1">
            <a:spLocks noChangeArrowheads="1"/>
          </p:cNvSpPr>
          <p:nvPr/>
        </p:nvSpPr>
        <p:spPr bwMode="auto">
          <a:xfrm>
            <a:off x="538981" y="1341958"/>
            <a:ext cx="807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Se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=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-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1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l’albero ha soltanto la foglia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i="1" baseline="-25000" dirty="0" smtClean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 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e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quindi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w</a:t>
            </a:r>
            <a:r>
              <a:rPr lang="it-IT" sz="2400" i="1" baseline="-25000" dirty="0" smtClean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,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=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ed 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e</a:t>
            </a:r>
            <a:r>
              <a:rPr lang="it-IT" sz="2400" i="1" baseline="-25000" dirty="0" smtClean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,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= 1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Albero di ricerca ottimo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2402" name="Object 2"/>
          <p:cNvGraphicFramePr>
            <a:graphicFrameLocks noChangeAspect="1"/>
          </p:cNvGraphicFramePr>
          <p:nvPr/>
        </p:nvGraphicFramePr>
        <p:xfrm>
          <a:off x="550863" y="2362200"/>
          <a:ext cx="8131175" cy="176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6" name="Equation" r:id="rId4" imgW="3035696" imgH="635397" progId="Equation.3">
                  <p:embed/>
                </p:oleObj>
              </mc:Choice>
              <mc:Fallback>
                <p:oleObj name="Equation" r:id="rId4" imgW="3035696" imgH="6353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3" y="2362200"/>
                        <a:ext cx="8131175" cy="176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2403" name="Text Box 3"/>
          <p:cNvSpPr txBox="1">
            <a:spLocks noChangeArrowheads="1"/>
          </p:cNvSpPr>
          <p:nvPr/>
        </p:nvSpPr>
        <p:spPr bwMode="auto">
          <a:xfrm>
            <a:off x="539552" y="1628800"/>
            <a:ext cx="807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lang="it-IT" sz="2400">
                <a:solidFill>
                  <a:srgbClr val="201FF0"/>
                </a:solidFill>
                <a:sym typeface="Symbol" charset="0"/>
              </a:rPr>
              <a:t>e dunque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Albero di ricerca ottimo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26" name="Text Box 2"/>
          <p:cNvSpPr txBox="1">
            <a:spLocks noChangeArrowheads="1"/>
          </p:cNvSpPr>
          <p:nvPr/>
        </p:nvSpPr>
        <p:spPr bwMode="auto">
          <a:xfrm>
            <a:off x="251520" y="908720"/>
            <a:ext cx="247538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rgbClr val="FF0000"/>
                </a:solidFill>
                <a:sym typeface="Symbol" charset="0"/>
              </a:rPr>
              <a:t>Terzo passo</a:t>
            </a:r>
            <a:endParaRPr lang="it-IT" sz="2400" dirty="0">
              <a:sym typeface="Symbol" charset="0"/>
            </a:endParaRPr>
          </a:p>
          <a:p>
            <a:r>
              <a:rPr lang="it-IT" sz="2400" i="1" u="sng" dirty="0">
                <a:sym typeface="Symbol" charset="0"/>
              </a:rPr>
              <a:t>Esempio</a:t>
            </a:r>
          </a:p>
        </p:txBody>
      </p:sp>
      <p:sp>
        <p:nvSpPr>
          <p:cNvPr id="743427" name="Text Box 3"/>
          <p:cNvSpPr txBox="1">
            <a:spLocks noChangeArrowheads="1"/>
          </p:cNvSpPr>
          <p:nvPr/>
        </p:nvSpPr>
        <p:spPr bwMode="auto">
          <a:xfrm>
            <a:off x="323528" y="1916832"/>
            <a:ext cx="2514600" cy="302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b="1" dirty="0">
                <a:latin typeface="Courier New" charset="0"/>
                <a:sym typeface="Symbol" charset="0"/>
              </a:rPr>
              <a:t>    p    q</a:t>
            </a:r>
          </a:p>
          <a:p>
            <a:r>
              <a:rPr lang="it-IT" sz="2400" b="1" dirty="0">
                <a:latin typeface="Courier New" charset="0"/>
                <a:sym typeface="Symbol" charset="0"/>
              </a:rPr>
              <a:t>0       0.01 </a:t>
            </a:r>
          </a:p>
          <a:p>
            <a:r>
              <a:rPr lang="it-IT" sz="2400" b="1" dirty="0">
                <a:latin typeface="Courier New" charset="0"/>
                <a:sym typeface="Symbol" charset="0"/>
              </a:rPr>
              <a:t>1  0.15 0.13 2  0.07 0.10 3  0.05 0.02 4  0.20 0.09 5  0.01 0.17 </a:t>
            </a:r>
          </a:p>
          <a:p>
            <a:r>
              <a:rPr lang="it-IT" sz="2400" b="1" dirty="0">
                <a:latin typeface="Courier New" charset="0"/>
                <a:sym typeface="Symbol" charset="0"/>
              </a:rPr>
              <a:t>   0.48 0.52 </a:t>
            </a:r>
          </a:p>
        </p:txBody>
      </p:sp>
      <p:sp>
        <p:nvSpPr>
          <p:cNvPr id="743428" name="Line 4"/>
          <p:cNvSpPr>
            <a:spLocks noChangeShapeType="1"/>
          </p:cNvSpPr>
          <p:nvPr/>
        </p:nvSpPr>
        <p:spPr bwMode="auto">
          <a:xfrm>
            <a:off x="827584" y="458112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43429" name="Group 5"/>
          <p:cNvGrpSpPr>
            <a:grpSpLocks/>
          </p:cNvGrpSpPr>
          <p:nvPr/>
        </p:nvGrpSpPr>
        <p:grpSpPr bwMode="auto">
          <a:xfrm>
            <a:off x="3124200" y="304800"/>
            <a:ext cx="5867400" cy="5578475"/>
            <a:chOff x="1968" y="192"/>
            <a:chExt cx="3696" cy="3514"/>
          </a:xfrm>
        </p:grpSpPr>
        <p:sp>
          <p:nvSpPr>
            <p:cNvPr id="743430" name="Text Box 6"/>
            <p:cNvSpPr txBox="1">
              <a:spLocks noChangeArrowheads="1"/>
            </p:cNvSpPr>
            <p:nvPr/>
          </p:nvSpPr>
          <p:spPr bwMode="auto">
            <a:xfrm>
              <a:off x="2256" y="31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400">
                  <a:sym typeface="Symbol" charset="0"/>
                </a:rPr>
                <a:t>s</a:t>
              </a:r>
              <a:endParaRPr lang="it-IT" sz="2400" baseline="-25000">
                <a:sym typeface="Symbol" charset="0"/>
              </a:endParaRPr>
            </a:p>
          </p:txBody>
        </p:sp>
        <p:sp>
          <p:nvSpPr>
            <p:cNvPr id="743431" name="Text Box 7"/>
            <p:cNvSpPr txBox="1">
              <a:spLocks noChangeArrowheads="1"/>
            </p:cNvSpPr>
            <p:nvPr/>
          </p:nvSpPr>
          <p:spPr bwMode="auto">
            <a:xfrm>
              <a:off x="2928" y="1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400">
                  <a:sym typeface="Symbol" charset="0"/>
                </a:rPr>
                <a:t>1</a:t>
              </a:r>
            </a:p>
          </p:txBody>
        </p:sp>
        <p:sp>
          <p:nvSpPr>
            <p:cNvPr id="743432" name="Text Box 8"/>
            <p:cNvSpPr txBox="1">
              <a:spLocks noChangeArrowheads="1"/>
            </p:cNvSpPr>
            <p:nvPr/>
          </p:nvSpPr>
          <p:spPr bwMode="auto">
            <a:xfrm>
              <a:off x="5040" y="1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400">
                  <a:sym typeface="Symbol" charset="0"/>
                </a:rPr>
                <a:t>5</a:t>
              </a:r>
            </a:p>
          </p:txBody>
        </p:sp>
        <p:sp>
          <p:nvSpPr>
            <p:cNvPr id="743433" name="Text Box 9"/>
            <p:cNvSpPr txBox="1">
              <a:spLocks noChangeArrowheads="1"/>
            </p:cNvSpPr>
            <p:nvPr/>
          </p:nvSpPr>
          <p:spPr bwMode="auto">
            <a:xfrm>
              <a:off x="4512" y="1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400">
                  <a:sym typeface="Symbol" charset="0"/>
                </a:rPr>
                <a:t>4</a:t>
              </a:r>
            </a:p>
          </p:txBody>
        </p:sp>
        <p:sp>
          <p:nvSpPr>
            <p:cNvPr id="743434" name="Text Box 10"/>
            <p:cNvSpPr txBox="1">
              <a:spLocks noChangeArrowheads="1"/>
            </p:cNvSpPr>
            <p:nvPr/>
          </p:nvSpPr>
          <p:spPr bwMode="auto">
            <a:xfrm>
              <a:off x="3984" y="1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400">
                  <a:sym typeface="Symbol" charset="0"/>
                </a:rPr>
                <a:t>3</a:t>
              </a:r>
            </a:p>
          </p:txBody>
        </p:sp>
        <p:sp>
          <p:nvSpPr>
            <p:cNvPr id="743435" name="Text Box 11"/>
            <p:cNvSpPr txBox="1">
              <a:spLocks noChangeArrowheads="1"/>
            </p:cNvSpPr>
            <p:nvPr/>
          </p:nvSpPr>
          <p:spPr bwMode="auto">
            <a:xfrm>
              <a:off x="3456" y="1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400">
                  <a:sym typeface="Symbol" charset="0"/>
                </a:rPr>
                <a:t>2</a:t>
              </a:r>
            </a:p>
          </p:txBody>
        </p:sp>
        <p:sp>
          <p:nvSpPr>
            <p:cNvPr id="743436" name="Text Box 12"/>
            <p:cNvSpPr txBox="1">
              <a:spLocks noChangeArrowheads="1"/>
            </p:cNvSpPr>
            <p:nvPr/>
          </p:nvSpPr>
          <p:spPr bwMode="auto">
            <a:xfrm>
              <a:off x="1968" y="576"/>
              <a:ext cx="288" cy="28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125000"/>
                </a:spcBef>
              </a:pPr>
              <a:r>
                <a:rPr lang="it-IT" sz="2400" dirty="0">
                  <a:sym typeface="Symbol" charset="0"/>
                </a:rPr>
                <a:t>1</a:t>
              </a:r>
            </a:p>
            <a:p>
              <a:pPr>
                <a:spcBef>
                  <a:spcPct val="125000"/>
                </a:spcBef>
              </a:pPr>
              <a:r>
                <a:rPr lang="it-IT" sz="2400" dirty="0">
                  <a:sym typeface="Symbol" charset="0"/>
                </a:rPr>
                <a:t>2</a:t>
              </a:r>
            </a:p>
            <a:p>
              <a:pPr>
                <a:spcBef>
                  <a:spcPct val="125000"/>
                </a:spcBef>
              </a:pPr>
              <a:r>
                <a:rPr lang="it-IT" sz="2400" dirty="0">
                  <a:sym typeface="Symbol" charset="0"/>
                </a:rPr>
                <a:t>3</a:t>
              </a:r>
            </a:p>
            <a:p>
              <a:pPr>
                <a:spcBef>
                  <a:spcPct val="125000"/>
                </a:spcBef>
              </a:pPr>
              <a:r>
                <a:rPr lang="it-IT" sz="2400" dirty="0">
                  <a:sym typeface="Symbol" charset="0"/>
                </a:rPr>
                <a:t>4</a:t>
              </a:r>
            </a:p>
            <a:p>
              <a:pPr>
                <a:spcBef>
                  <a:spcPct val="125000"/>
                </a:spcBef>
              </a:pPr>
              <a:r>
                <a:rPr lang="it-IT" sz="2400" dirty="0">
                  <a:sym typeface="Symbol" charset="0"/>
                </a:rPr>
                <a:t>5</a:t>
              </a:r>
            </a:p>
            <a:p>
              <a:pPr>
                <a:spcBef>
                  <a:spcPct val="125000"/>
                </a:spcBef>
              </a:pPr>
              <a:r>
                <a:rPr lang="it-IT" sz="2400" dirty="0">
                  <a:sym typeface="Symbol" charset="0"/>
                </a:rPr>
                <a:t>6</a:t>
              </a:r>
            </a:p>
          </p:txBody>
        </p:sp>
        <p:sp>
          <p:nvSpPr>
            <p:cNvPr id="743437" name="Line 13"/>
            <p:cNvSpPr>
              <a:spLocks noChangeShapeType="1"/>
            </p:cNvSpPr>
            <p:nvPr/>
          </p:nvSpPr>
          <p:spPr bwMode="auto">
            <a:xfrm>
              <a:off x="2256" y="480"/>
              <a:ext cx="0" cy="30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3438" name="Line 14"/>
            <p:cNvSpPr>
              <a:spLocks noChangeShapeType="1"/>
            </p:cNvSpPr>
            <p:nvPr/>
          </p:nvSpPr>
          <p:spPr bwMode="auto">
            <a:xfrm>
              <a:off x="2256" y="480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43439" name="Group 15"/>
            <p:cNvGrpSpPr>
              <a:grpSpLocks/>
            </p:cNvGrpSpPr>
            <p:nvPr/>
          </p:nvGrpSpPr>
          <p:grpSpPr bwMode="auto">
            <a:xfrm>
              <a:off x="2208" y="432"/>
              <a:ext cx="576" cy="634"/>
              <a:chOff x="2208" y="432"/>
              <a:chExt cx="576" cy="634"/>
            </a:xfrm>
          </p:grpSpPr>
          <p:sp>
            <p:nvSpPr>
              <p:cNvPr id="743440" name="Rectangle 16"/>
              <p:cNvSpPr>
                <a:spLocks noChangeArrowheads="1"/>
              </p:cNvSpPr>
              <p:nvPr/>
            </p:nvSpPr>
            <p:spPr bwMode="auto">
              <a:xfrm>
                <a:off x="2256" y="480"/>
                <a:ext cx="528" cy="52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it-IT" sz="2000"/>
                  <a:t> .01</a:t>
                </a:r>
              </a:p>
              <a:p>
                <a:pPr algn="ctr"/>
                <a:r>
                  <a:rPr lang="it-IT" sz="2000"/>
                  <a:t>1</a:t>
                </a:r>
              </a:p>
              <a:p>
                <a:pPr algn="ctr"/>
                <a:endParaRPr lang="en-US" sz="2000"/>
              </a:p>
            </p:txBody>
          </p:sp>
          <p:sp>
            <p:nvSpPr>
              <p:cNvPr id="743441" name="Text Box 17"/>
              <p:cNvSpPr txBox="1">
                <a:spLocks noChangeArrowheads="1"/>
              </p:cNvSpPr>
              <p:nvPr/>
            </p:nvSpPr>
            <p:spPr bwMode="auto">
              <a:xfrm>
                <a:off x="2208" y="432"/>
                <a:ext cx="336" cy="6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it-IT" sz="2000" i="1">
                    <a:sym typeface="Symbol" charset="0"/>
                  </a:rPr>
                  <a:t>w</a:t>
                </a:r>
              </a:p>
              <a:p>
                <a:r>
                  <a:rPr lang="it-IT" sz="2000" i="1">
                    <a:sym typeface="Symbol" charset="0"/>
                  </a:rPr>
                  <a:t>e</a:t>
                </a:r>
              </a:p>
              <a:p>
                <a:r>
                  <a:rPr lang="it-IT" sz="2000" i="1">
                    <a:sym typeface="Symbol" charset="0"/>
                  </a:rPr>
                  <a:t>r</a:t>
                </a:r>
                <a:endParaRPr lang="it-IT" sz="2000">
                  <a:sym typeface="Symbol" charset="0"/>
                </a:endParaRPr>
              </a:p>
            </p:txBody>
          </p:sp>
        </p:grpSp>
        <p:sp>
          <p:nvSpPr>
            <p:cNvPr id="743442" name="Rectangle 18"/>
            <p:cNvSpPr>
              <a:spLocks noChangeArrowheads="1"/>
            </p:cNvSpPr>
            <p:nvPr/>
          </p:nvSpPr>
          <p:spPr bwMode="auto">
            <a:xfrm>
              <a:off x="2784" y="480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43" name="Text Box 19"/>
            <p:cNvSpPr txBox="1">
              <a:spLocks noChangeArrowheads="1"/>
            </p:cNvSpPr>
            <p:nvPr/>
          </p:nvSpPr>
          <p:spPr bwMode="auto">
            <a:xfrm>
              <a:off x="2400" y="1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400">
                  <a:sym typeface="Symbol" charset="0"/>
                </a:rPr>
                <a:t>0</a:t>
              </a:r>
            </a:p>
          </p:txBody>
        </p:sp>
        <p:grpSp>
          <p:nvGrpSpPr>
            <p:cNvPr id="743444" name="Group 20"/>
            <p:cNvGrpSpPr>
              <a:grpSpLocks/>
            </p:cNvGrpSpPr>
            <p:nvPr/>
          </p:nvGrpSpPr>
          <p:grpSpPr bwMode="auto">
            <a:xfrm>
              <a:off x="2736" y="960"/>
              <a:ext cx="576" cy="634"/>
              <a:chOff x="2208" y="432"/>
              <a:chExt cx="576" cy="634"/>
            </a:xfrm>
          </p:grpSpPr>
          <p:sp>
            <p:nvSpPr>
              <p:cNvPr id="743445" name="Rectangle 21"/>
              <p:cNvSpPr>
                <a:spLocks noChangeArrowheads="1"/>
              </p:cNvSpPr>
              <p:nvPr/>
            </p:nvSpPr>
            <p:spPr bwMode="auto">
              <a:xfrm>
                <a:off x="2256" y="480"/>
                <a:ext cx="528" cy="52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it-IT" sz="2000"/>
                  <a:t> .13</a:t>
                </a:r>
              </a:p>
              <a:p>
                <a:pPr algn="ctr"/>
                <a:r>
                  <a:rPr lang="it-IT" sz="2000"/>
                  <a:t>1</a:t>
                </a:r>
              </a:p>
              <a:p>
                <a:pPr algn="ctr"/>
                <a:endParaRPr lang="en-US" sz="2000"/>
              </a:p>
            </p:txBody>
          </p:sp>
          <p:sp>
            <p:nvSpPr>
              <p:cNvPr id="743446" name="Text Box 22"/>
              <p:cNvSpPr txBox="1">
                <a:spLocks noChangeArrowheads="1"/>
              </p:cNvSpPr>
              <p:nvPr/>
            </p:nvSpPr>
            <p:spPr bwMode="auto">
              <a:xfrm>
                <a:off x="2208" y="432"/>
                <a:ext cx="336" cy="6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it-IT" sz="2000" i="1">
                    <a:sym typeface="Symbol" charset="0"/>
                  </a:rPr>
                  <a:t>w</a:t>
                </a:r>
              </a:p>
              <a:p>
                <a:r>
                  <a:rPr lang="it-IT" sz="2000" i="1">
                    <a:sym typeface="Symbol" charset="0"/>
                  </a:rPr>
                  <a:t>e</a:t>
                </a:r>
              </a:p>
              <a:p>
                <a:r>
                  <a:rPr lang="it-IT" sz="2000" i="1">
                    <a:sym typeface="Symbol" charset="0"/>
                  </a:rPr>
                  <a:t>r</a:t>
                </a:r>
                <a:endParaRPr lang="it-IT" sz="2000">
                  <a:sym typeface="Symbol" charset="0"/>
                </a:endParaRPr>
              </a:p>
            </p:txBody>
          </p:sp>
        </p:grpSp>
        <p:grpSp>
          <p:nvGrpSpPr>
            <p:cNvPr id="743447" name="Group 23"/>
            <p:cNvGrpSpPr>
              <a:grpSpLocks/>
            </p:cNvGrpSpPr>
            <p:nvPr/>
          </p:nvGrpSpPr>
          <p:grpSpPr bwMode="auto">
            <a:xfrm>
              <a:off x="3264" y="1488"/>
              <a:ext cx="576" cy="634"/>
              <a:chOff x="2208" y="432"/>
              <a:chExt cx="576" cy="634"/>
            </a:xfrm>
          </p:grpSpPr>
          <p:sp>
            <p:nvSpPr>
              <p:cNvPr id="743448" name="Rectangle 24"/>
              <p:cNvSpPr>
                <a:spLocks noChangeArrowheads="1"/>
              </p:cNvSpPr>
              <p:nvPr/>
            </p:nvSpPr>
            <p:spPr bwMode="auto">
              <a:xfrm>
                <a:off x="2256" y="480"/>
                <a:ext cx="528" cy="52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it-IT" sz="2000"/>
                  <a:t> .10</a:t>
                </a:r>
              </a:p>
              <a:p>
                <a:pPr algn="ctr"/>
                <a:r>
                  <a:rPr lang="it-IT" sz="2000"/>
                  <a:t>1</a:t>
                </a:r>
              </a:p>
              <a:p>
                <a:pPr algn="ctr"/>
                <a:endParaRPr lang="en-US" sz="2000"/>
              </a:p>
            </p:txBody>
          </p:sp>
          <p:sp>
            <p:nvSpPr>
              <p:cNvPr id="743449" name="Text Box 25"/>
              <p:cNvSpPr txBox="1">
                <a:spLocks noChangeArrowheads="1"/>
              </p:cNvSpPr>
              <p:nvPr/>
            </p:nvSpPr>
            <p:spPr bwMode="auto">
              <a:xfrm>
                <a:off x="2208" y="432"/>
                <a:ext cx="336" cy="6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it-IT" sz="2000" i="1">
                    <a:sym typeface="Symbol" charset="0"/>
                  </a:rPr>
                  <a:t>w</a:t>
                </a:r>
              </a:p>
              <a:p>
                <a:r>
                  <a:rPr lang="it-IT" sz="2000" i="1">
                    <a:sym typeface="Symbol" charset="0"/>
                  </a:rPr>
                  <a:t>e</a:t>
                </a:r>
              </a:p>
              <a:p>
                <a:r>
                  <a:rPr lang="it-IT" sz="2000" i="1">
                    <a:sym typeface="Symbol" charset="0"/>
                  </a:rPr>
                  <a:t>r</a:t>
                </a:r>
                <a:endParaRPr lang="it-IT" sz="2000">
                  <a:sym typeface="Symbol" charset="0"/>
                </a:endParaRPr>
              </a:p>
            </p:txBody>
          </p:sp>
        </p:grpSp>
        <p:grpSp>
          <p:nvGrpSpPr>
            <p:cNvPr id="743450" name="Group 26"/>
            <p:cNvGrpSpPr>
              <a:grpSpLocks/>
            </p:cNvGrpSpPr>
            <p:nvPr/>
          </p:nvGrpSpPr>
          <p:grpSpPr bwMode="auto">
            <a:xfrm>
              <a:off x="3792" y="2016"/>
              <a:ext cx="576" cy="634"/>
              <a:chOff x="2208" y="432"/>
              <a:chExt cx="576" cy="634"/>
            </a:xfrm>
          </p:grpSpPr>
          <p:sp>
            <p:nvSpPr>
              <p:cNvPr id="743451" name="Rectangle 27"/>
              <p:cNvSpPr>
                <a:spLocks noChangeArrowheads="1"/>
              </p:cNvSpPr>
              <p:nvPr/>
            </p:nvSpPr>
            <p:spPr bwMode="auto">
              <a:xfrm>
                <a:off x="2256" y="480"/>
                <a:ext cx="528" cy="52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it-IT" sz="2000"/>
                  <a:t> .02</a:t>
                </a:r>
              </a:p>
              <a:p>
                <a:pPr algn="ctr"/>
                <a:r>
                  <a:rPr lang="it-IT" sz="2000"/>
                  <a:t>1</a:t>
                </a:r>
              </a:p>
              <a:p>
                <a:pPr algn="ctr"/>
                <a:endParaRPr lang="en-US" sz="2000"/>
              </a:p>
            </p:txBody>
          </p:sp>
          <p:sp>
            <p:nvSpPr>
              <p:cNvPr id="743452" name="Text Box 28"/>
              <p:cNvSpPr txBox="1">
                <a:spLocks noChangeArrowheads="1"/>
              </p:cNvSpPr>
              <p:nvPr/>
            </p:nvSpPr>
            <p:spPr bwMode="auto">
              <a:xfrm>
                <a:off x="2208" y="432"/>
                <a:ext cx="336" cy="6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it-IT" sz="2000" i="1">
                    <a:sym typeface="Symbol" charset="0"/>
                  </a:rPr>
                  <a:t>w</a:t>
                </a:r>
              </a:p>
              <a:p>
                <a:r>
                  <a:rPr lang="it-IT" sz="2000" i="1">
                    <a:sym typeface="Symbol" charset="0"/>
                  </a:rPr>
                  <a:t>e</a:t>
                </a:r>
              </a:p>
              <a:p>
                <a:r>
                  <a:rPr lang="it-IT" sz="2000" i="1">
                    <a:sym typeface="Symbol" charset="0"/>
                  </a:rPr>
                  <a:t>r</a:t>
                </a:r>
                <a:endParaRPr lang="it-IT" sz="2000">
                  <a:sym typeface="Symbol" charset="0"/>
                </a:endParaRPr>
              </a:p>
            </p:txBody>
          </p:sp>
        </p:grpSp>
        <p:grpSp>
          <p:nvGrpSpPr>
            <p:cNvPr id="743453" name="Group 29"/>
            <p:cNvGrpSpPr>
              <a:grpSpLocks/>
            </p:cNvGrpSpPr>
            <p:nvPr/>
          </p:nvGrpSpPr>
          <p:grpSpPr bwMode="auto">
            <a:xfrm>
              <a:off x="4848" y="3072"/>
              <a:ext cx="576" cy="634"/>
              <a:chOff x="2208" y="432"/>
              <a:chExt cx="576" cy="634"/>
            </a:xfrm>
          </p:grpSpPr>
          <p:sp>
            <p:nvSpPr>
              <p:cNvPr id="743454" name="Rectangle 30"/>
              <p:cNvSpPr>
                <a:spLocks noChangeArrowheads="1"/>
              </p:cNvSpPr>
              <p:nvPr/>
            </p:nvSpPr>
            <p:spPr bwMode="auto">
              <a:xfrm>
                <a:off x="2256" y="480"/>
                <a:ext cx="528" cy="52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it-IT" sz="2000"/>
                  <a:t> .17</a:t>
                </a:r>
              </a:p>
              <a:p>
                <a:pPr algn="ctr"/>
                <a:r>
                  <a:rPr lang="it-IT" sz="2000"/>
                  <a:t>1</a:t>
                </a:r>
              </a:p>
              <a:p>
                <a:pPr algn="ctr"/>
                <a:endParaRPr lang="en-US" sz="2000"/>
              </a:p>
            </p:txBody>
          </p:sp>
          <p:sp>
            <p:nvSpPr>
              <p:cNvPr id="743455" name="Text Box 31"/>
              <p:cNvSpPr txBox="1">
                <a:spLocks noChangeArrowheads="1"/>
              </p:cNvSpPr>
              <p:nvPr/>
            </p:nvSpPr>
            <p:spPr bwMode="auto">
              <a:xfrm>
                <a:off x="2208" y="432"/>
                <a:ext cx="336" cy="6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it-IT" sz="2000" i="1">
                    <a:sym typeface="Symbol" charset="0"/>
                  </a:rPr>
                  <a:t>w</a:t>
                </a:r>
              </a:p>
              <a:p>
                <a:r>
                  <a:rPr lang="it-IT" sz="2000" i="1">
                    <a:sym typeface="Symbol" charset="0"/>
                  </a:rPr>
                  <a:t>e</a:t>
                </a:r>
              </a:p>
              <a:p>
                <a:r>
                  <a:rPr lang="it-IT" sz="2000" i="1">
                    <a:sym typeface="Symbol" charset="0"/>
                  </a:rPr>
                  <a:t>r</a:t>
                </a:r>
                <a:endParaRPr lang="it-IT" sz="2000">
                  <a:sym typeface="Symbol" charset="0"/>
                </a:endParaRPr>
              </a:p>
            </p:txBody>
          </p:sp>
        </p:grpSp>
        <p:grpSp>
          <p:nvGrpSpPr>
            <p:cNvPr id="743456" name="Group 32"/>
            <p:cNvGrpSpPr>
              <a:grpSpLocks/>
            </p:cNvGrpSpPr>
            <p:nvPr/>
          </p:nvGrpSpPr>
          <p:grpSpPr bwMode="auto">
            <a:xfrm>
              <a:off x="4320" y="2544"/>
              <a:ext cx="576" cy="634"/>
              <a:chOff x="2208" y="432"/>
              <a:chExt cx="576" cy="634"/>
            </a:xfrm>
          </p:grpSpPr>
          <p:sp>
            <p:nvSpPr>
              <p:cNvPr id="743457" name="Rectangle 33"/>
              <p:cNvSpPr>
                <a:spLocks noChangeArrowheads="1"/>
              </p:cNvSpPr>
              <p:nvPr/>
            </p:nvSpPr>
            <p:spPr bwMode="auto">
              <a:xfrm>
                <a:off x="2256" y="480"/>
                <a:ext cx="528" cy="52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it-IT" sz="2000"/>
                  <a:t> .09</a:t>
                </a:r>
              </a:p>
              <a:p>
                <a:pPr algn="ctr"/>
                <a:r>
                  <a:rPr lang="it-IT" sz="2000"/>
                  <a:t>1</a:t>
                </a:r>
              </a:p>
              <a:p>
                <a:pPr algn="ctr"/>
                <a:endParaRPr lang="en-US" sz="2000"/>
              </a:p>
            </p:txBody>
          </p:sp>
          <p:sp>
            <p:nvSpPr>
              <p:cNvPr id="743458" name="Text Box 34"/>
              <p:cNvSpPr txBox="1">
                <a:spLocks noChangeArrowheads="1"/>
              </p:cNvSpPr>
              <p:nvPr/>
            </p:nvSpPr>
            <p:spPr bwMode="auto">
              <a:xfrm>
                <a:off x="2208" y="432"/>
                <a:ext cx="336" cy="6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it-IT" sz="2000" i="1">
                    <a:sym typeface="Symbol" charset="0"/>
                  </a:rPr>
                  <a:t>w</a:t>
                </a:r>
              </a:p>
              <a:p>
                <a:r>
                  <a:rPr lang="it-IT" sz="2000" i="1">
                    <a:sym typeface="Symbol" charset="0"/>
                  </a:rPr>
                  <a:t>e</a:t>
                </a:r>
              </a:p>
              <a:p>
                <a:r>
                  <a:rPr lang="it-IT" sz="2000" i="1">
                    <a:sym typeface="Symbol" charset="0"/>
                  </a:rPr>
                  <a:t>r</a:t>
                </a:r>
                <a:endParaRPr lang="it-IT" sz="2000">
                  <a:sym typeface="Symbol" charset="0"/>
                </a:endParaRPr>
              </a:p>
            </p:txBody>
          </p:sp>
        </p:grpSp>
        <p:sp>
          <p:nvSpPr>
            <p:cNvPr id="743459" name="Rectangle 35"/>
            <p:cNvSpPr>
              <a:spLocks noChangeArrowheads="1"/>
            </p:cNvSpPr>
            <p:nvPr/>
          </p:nvSpPr>
          <p:spPr bwMode="auto">
            <a:xfrm>
              <a:off x="4368" y="1536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60" name="Rectangle 36"/>
            <p:cNvSpPr>
              <a:spLocks noChangeArrowheads="1"/>
            </p:cNvSpPr>
            <p:nvPr/>
          </p:nvSpPr>
          <p:spPr bwMode="auto">
            <a:xfrm>
              <a:off x="3840" y="1536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61" name="Rectangle 37"/>
            <p:cNvSpPr>
              <a:spLocks noChangeArrowheads="1"/>
            </p:cNvSpPr>
            <p:nvPr/>
          </p:nvSpPr>
          <p:spPr bwMode="auto">
            <a:xfrm>
              <a:off x="3312" y="1008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62" name="Rectangle 38"/>
            <p:cNvSpPr>
              <a:spLocks noChangeArrowheads="1"/>
            </p:cNvSpPr>
            <p:nvPr/>
          </p:nvSpPr>
          <p:spPr bwMode="auto">
            <a:xfrm>
              <a:off x="3840" y="1008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63" name="Rectangle 39"/>
            <p:cNvSpPr>
              <a:spLocks noChangeArrowheads="1"/>
            </p:cNvSpPr>
            <p:nvPr/>
          </p:nvSpPr>
          <p:spPr bwMode="auto">
            <a:xfrm>
              <a:off x="4368" y="1008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64" name="Rectangle 40"/>
            <p:cNvSpPr>
              <a:spLocks noChangeArrowheads="1"/>
            </p:cNvSpPr>
            <p:nvPr/>
          </p:nvSpPr>
          <p:spPr bwMode="auto">
            <a:xfrm>
              <a:off x="4896" y="1008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65" name="Rectangle 41"/>
            <p:cNvSpPr>
              <a:spLocks noChangeArrowheads="1"/>
            </p:cNvSpPr>
            <p:nvPr/>
          </p:nvSpPr>
          <p:spPr bwMode="auto">
            <a:xfrm>
              <a:off x="4896" y="480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66" name="Rectangle 42"/>
            <p:cNvSpPr>
              <a:spLocks noChangeArrowheads="1"/>
            </p:cNvSpPr>
            <p:nvPr/>
          </p:nvSpPr>
          <p:spPr bwMode="auto">
            <a:xfrm>
              <a:off x="4368" y="480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67" name="Rectangle 43"/>
            <p:cNvSpPr>
              <a:spLocks noChangeArrowheads="1"/>
            </p:cNvSpPr>
            <p:nvPr/>
          </p:nvSpPr>
          <p:spPr bwMode="auto">
            <a:xfrm>
              <a:off x="3840" y="480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68" name="Rectangle 44"/>
            <p:cNvSpPr>
              <a:spLocks noChangeArrowheads="1"/>
            </p:cNvSpPr>
            <p:nvPr/>
          </p:nvSpPr>
          <p:spPr bwMode="auto">
            <a:xfrm>
              <a:off x="3312" y="480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69" name="Rectangle 45"/>
            <p:cNvSpPr>
              <a:spLocks noChangeArrowheads="1"/>
            </p:cNvSpPr>
            <p:nvPr/>
          </p:nvSpPr>
          <p:spPr bwMode="auto">
            <a:xfrm>
              <a:off x="4896" y="2064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70" name="Rectangle 46"/>
            <p:cNvSpPr>
              <a:spLocks noChangeArrowheads="1"/>
            </p:cNvSpPr>
            <p:nvPr/>
          </p:nvSpPr>
          <p:spPr bwMode="auto">
            <a:xfrm>
              <a:off x="4896" y="1536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71" name="Rectangle 47"/>
            <p:cNvSpPr>
              <a:spLocks noChangeArrowheads="1"/>
            </p:cNvSpPr>
            <p:nvPr/>
          </p:nvSpPr>
          <p:spPr bwMode="auto">
            <a:xfrm>
              <a:off x="4368" y="2064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72" name="Rectangle 48"/>
            <p:cNvSpPr>
              <a:spLocks noChangeArrowheads="1"/>
            </p:cNvSpPr>
            <p:nvPr/>
          </p:nvSpPr>
          <p:spPr bwMode="auto">
            <a:xfrm>
              <a:off x="4896" y="2592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3473" name="Text Box 49"/>
            <p:cNvSpPr txBox="1">
              <a:spLocks noChangeArrowheads="1"/>
            </p:cNvSpPr>
            <p:nvPr/>
          </p:nvSpPr>
          <p:spPr bwMode="auto">
            <a:xfrm>
              <a:off x="5376" y="1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400">
                  <a:sym typeface="Symbol" charset="0"/>
                </a:rPr>
                <a:t>t</a:t>
              </a:r>
            </a:p>
          </p:txBody>
        </p:sp>
      </p:grpSp>
      <p:sp>
        <p:nvSpPr>
          <p:cNvPr id="743474" name="Rectangle 50"/>
          <p:cNvSpPr>
            <a:spLocks noChangeArrowheads="1"/>
          </p:cNvSpPr>
          <p:nvPr/>
        </p:nvSpPr>
        <p:spPr bwMode="auto">
          <a:xfrm>
            <a:off x="4419600" y="762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0.29</a:t>
            </a:r>
          </a:p>
          <a:p>
            <a:pPr algn="ctr"/>
            <a:r>
              <a:rPr lang="it-IT" sz="2000"/>
              <a:t>1.48</a:t>
            </a:r>
          </a:p>
          <a:p>
            <a:pPr algn="ctr"/>
            <a:r>
              <a:rPr lang="it-IT" sz="2000"/>
              <a:t>1</a:t>
            </a:r>
            <a:endParaRPr lang="en-US" sz="2000"/>
          </a:p>
        </p:txBody>
      </p:sp>
      <p:graphicFrame>
        <p:nvGraphicFramePr>
          <p:cNvPr id="743475" name="Object 51"/>
          <p:cNvGraphicFramePr>
            <a:graphicFrameLocks noChangeAspect="1"/>
          </p:cNvGraphicFramePr>
          <p:nvPr/>
        </p:nvGraphicFramePr>
        <p:xfrm>
          <a:off x="255588" y="5586413"/>
          <a:ext cx="5735637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9" name="Microsoft Equation 3.0" r:id="rId4" imgW="2845196" imgH="660797" progId="Equation.3">
                  <p:embed/>
                </p:oleObj>
              </mc:Choice>
              <mc:Fallback>
                <p:oleObj name="Microsoft Equation 3.0" r:id="rId4" imgW="2845196" imgH="6607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8" y="5586413"/>
                        <a:ext cx="5735637" cy="1247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76" name="Object 52"/>
          <p:cNvGraphicFramePr>
            <a:graphicFrameLocks noChangeAspect="1"/>
          </p:cNvGraphicFramePr>
          <p:nvPr/>
        </p:nvGraphicFramePr>
        <p:xfrm>
          <a:off x="93663" y="5029200"/>
          <a:ext cx="25876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0" name="Equation" r:id="rId6" imgW="1231762" imgH="241592" progId="Equation.3">
                  <p:embed/>
                </p:oleObj>
              </mc:Choice>
              <mc:Fallback>
                <p:oleObj name="Equation" r:id="rId6" imgW="1231762" imgH="2415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3" y="5029200"/>
                        <a:ext cx="25876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3477" name="Rectangle 53"/>
          <p:cNvSpPr>
            <a:spLocks noChangeArrowheads="1"/>
          </p:cNvSpPr>
          <p:nvPr/>
        </p:nvSpPr>
        <p:spPr bwMode="auto">
          <a:xfrm>
            <a:off x="5257800" y="1600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0.30</a:t>
            </a:r>
          </a:p>
          <a:p>
            <a:pPr algn="ctr"/>
            <a:r>
              <a:rPr lang="it-IT" sz="2000"/>
              <a:t>1.53</a:t>
            </a:r>
          </a:p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743478" name="Rectangle 54"/>
          <p:cNvSpPr>
            <a:spLocks noChangeArrowheads="1"/>
          </p:cNvSpPr>
          <p:nvPr/>
        </p:nvSpPr>
        <p:spPr bwMode="auto">
          <a:xfrm>
            <a:off x="5257800" y="762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0.46</a:t>
            </a:r>
          </a:p>
          <a:p>
            <a:pPr algn="ctr"/>
            <a:r>
              <a:rPr lang="it-IT" sz="2000"/>
              <a:t>1.49</a:t>
            </a:r>
          </a:p>
          <a:p>
            <a:pPr algn="ctr"/>
            <a:r>
              <a:rPr lang="it-IT" sz="2000"/>
              <a:t>1</a:t>
            </a:r>
            <a:endParaRPr lang="en-US" sz="2000"/>
          </a:p>
        </p:txBody>
      </p:sp>
      <p:sp>
        <p:nvSpPr>
          <p:cNvPr id="743479" name="Rectangle 55"/>
          <p:cNvSpPr>
            <a:spLocks noChangeArrowheads="1"/>
          </p:cNvSpPr>
          <p:nvPr/>
        </p:nvSpPr>
        <p:spPr bwMode="auto">
          <a:xfrm>
            <a:off x="6096000" y="24384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0.17</a:t>
            </a:r>
          </a:p>
          <a:p>
            <a:pPr algn="ctr"/>
            <a:r>
              <a:rPr lang="it-IT" sz="2000"/>
              <a:t>1.71</a:t>
            </a:r>
          </a:p>
          <a:p>
            <a:pPr algn="ctr"/>
            <a:r>
              <a:rPr lang="it-IT" sz="2000"/>
              <a:t>3</a:t>
            </a:r>
            <a:endParaRPr lang="en-US" sz="2000"/>
          </a:p>
        </p:txBody>
      </p:sp>
      <p:sp>
        <p:nvSpPr>
          <p:cNvPr id="743480" name="Rectangle 56"/>
          <p:cNvSpPr>
            <a:spLocks noChangeArrowheads="1"/>
          </p:cNvSpPr>
          <p:nvPr/>
        </p:nvSpPr>
        <p:spPr bwMode="auto">
          <a:xfrm>
            <a:off x="6096000" y="1600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0.37</a:t>
            </a:r>
          </a:p>
          <a:p>
            <a:pPr algn="ctr"/>
            <a:r>
              <a:rPr lang="it-IT" sz="2000"/>
              <a:t>1.94</a:t>
            </a:r>
          </a:p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743481" name="Rectangle 57"/>
          <p:cNvSpPr>
            <a:spLocks noChangeArrowheads="1"/>
          </p:cNvSpPr>
          <p:nvPr/>
        </p:nvSpPr>
        <p:spPr bwMode="auto">
          <a:xfrm>
            <a:off x="6096000" y="762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0.53</a:t>
            </a:r>
          </a:p>
          <a:p>
            <a:pPr algn="ctr"/>
            <a:r>
              <a:rPr lang="it-IT" sz="2000"/>
              <a:t>1.41</a:t>
            </a:r>
          </a:p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743482" name="Rectangle 58"/>
          <p:cNvSpPr>
            <a:spLocks noChangeArrowheads="1"/>
          </p:cNvSpPr>
          <p:nvPr/>
        </p:nvSpPr>
        <p:spPr bwMode="auto">
          <a:xfrm>
            <a:off x="6934200" y="3276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0.31</a:t>
            </a:r>
          </a:p>
          <a:p>
            <a:pPr algn="ctr"/>
            <a:r>
              <a:rPr lang="it-IT" sz="2000"/>
              <a:t>1.35</a:t>
            </a:r>
          </a:p>
          <a:p>
            <a:pPr algn="ctr"/>
            <a:r>
              <a:rPr lang="it-IT" sz="2000"/>
              <a:t>4</a:t>
            </a:r>
            <a:endParaRPr lang="en-US" sz="2000"/>
          </a:p>
        </p:txBody>
      </p:sp>
      <p:sp>
        <p:nvSpPr>
          <p:cNvPr id="743483" name="Rectangle 59"/>
          <p:cNvSpPr>
            <a:spLocks noChangeArrowheads="1"/>
          </p:cNvSpPr>
          <p:nvPr/>
        </p:nvSpPr>
        <p:spPr bwMode="auto">
          <a:xfrm>
            <a:off x="6934200" y="24384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0.46</a:t>
            </a:r>
          </a:p>
          <a:p>
            <a:pPr algn="ctr"/>
            <a:r>
              <a:rPr lang="it-IT" sz="2000"/>
              <a:t>1.49</a:t>
            </a:r>
          </a:p>
          <a:p>
            <a:pPr algn="ctr"/>
            <a:r>
              <a:rPr lang="it-IT" sz="2000"/>
              <a:t>4</a:t>
            </a:r>
            <a:endParaRPr lang="en-US" sz="2000"/>
          </a:p>
        </p:txBody>
      </p:sp>
      <p:sp>
        <p:nvSpPr>
          <p:cNvPr id="743484" name="Rectangle 60"/>
          <p:cNvSpPr>
            <a:spLocks noChangeArrowheads="1"/>
          </p:cNvSpPr>
          <p:nvPr/>
        </p:nvSpPr>
        <p:spPr bwMode="auto">
          <a:xfrm>
            <a:off x="6934200" y="1600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0.66</a:t>
            </a:r>
          </a:p>
          <a:p>
            <a:pPr algn="ctr"/>
            <a:r>
              <a:rPr lang="it-IT" sz="2000"/>
              <a:t>1.88</a:t>
            </a:r>
          </a:p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743485" name="Rectangle 61"/>
          <p:cNvSpPr>
            <a:spLocks noChangeArrowheads="1"/>
          </p:cNvSpPr>
          <p:nvPr/>
        </p:nvSpPr>
        <p:spPr bwMode="auto">
          <a:xfrm>
            <a:off x="6934200" y="762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0.82</a:t>
            </a:r>
          </a:p>
          <a:p>
            <a:pPr algn="ctr"/>
            <a:r>
              <a:rPr lang="it-IT" sz="2000"/>
              <a:t>2.02</a:t>
            </a:r>
          </a:p>
          <a:p>
            <a:pPr algn="ctr"/>
            <a:r>
              <a:rPr lang="it-IT" sz="2000"/>
              <a:t>4</a:t>
            </a:r>
            <a:endParaRPr lang="en-US" sz="2000"/>
          </a:p>
        </p:txBody>
      </p:sp>
      <p:sp>
        <p:nvSpPr>
          <p:cNvPr id="743486" name="Rectangle 62"/>
          <p:cNvSpPr>
            <a:spLocks noChangeArrowheads="1"/>
          </p:cNvSpPr>
          <p:nvPr/>
        </p:nvSpPr>
        <p:spPr bwMode="auto">
          <a:xfrm>
            <a:off x="7772400" y="4114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0.27</a:t>
            </a:r>
          </a:p>
          <a:p>
            <a:pPr algn="ctr"/>
            <a:r>
              <a:rPr lang="it-IT" sz="2000"/>
              <a:t>1.96</a:t>
            </a:r>
          </a:p>
          <a:p>
            <a:pPr algn="ctr"/>
            <a:r>
              <a:rPr lang="it-IT" sz="2000"/>
              <a:t>5</a:t>
            </a:r>
            <a:endParaRPr lang="en-US" sz="2000"/>
          </a:p>
        </p:txBody>
      </p:sp>
      <p:sp>
        <p:nvSpPr>
          <p:cNvPr id="743487" name="Rectangle 63"/>
          <p:cNvSpPr>
            <a:spLocks noChangeArrowheads="1"/>
          </p:cNvSpPr>
          <p:nvPr/>
        </p:nvSpPr>
        <p:spPr bwMode="auto">
          <a:xfrm>
            <a:off x="7772400" y="3276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0.49</a:t>
            </a:r>
          </a:p>
          <a:p>
            <a:pPr algn="ctr"/>
            <a:r>
              <a:rPr lang="it-IT" sz="2000"/>
              <a:t>2.12</a:t>
            </a:r>
          </a:p>
          <a:p>
            <a:pPr algn="ctr"/>
            <a:r>
              <a:rPr lang="it-IT" sz="2000"/>
              <a:t>4</a:t>
            </a:r>
            <a:endParaRPr lang="en-US" sz="2000"/>
          </a:p>
        </p:txBody>
      </p:sp>
      <p:sp>
        <p:nvSpPr>
          <p:cNvPr id="743488" name="Rectangle 64"/>
          <p:cNvSpPr>
            <a:spLocks noChangeArrowheads="1"/>
          </p:cNvSpPr>
          <p:nvPr/>
        </p:nvSpPr>
        <p:spPr bwMode="auto">
          <a:xfrm>
            <a:off x="7772400" y="24384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0.64</a:t>
            </a:r>
          </a:p>
          <a:p>
            <a:pPr algn="ctr"/>
            <a:r>
              <a:rPr lang="it-IT" sz="2000"/>
              <a:t>2.28</a:t>
            </a:r>
          </a:p>
          <a:p>
            <a:pPr algn="ctr"/>
            <a:r>
              <a:rPr lang="it-IT" sz="2000"/>
              <a:t>4</a:t>
            </a:r>
            <a:endParaRPr lang="en-US" sz="2000"/>
          </a:p>
        </p:txBody>
      </p:sp>
      <p:sp>
        <p:nvSpPr>
          <p:cNvPr id="743489" name="Rectangle 65"/>
          <p:cNvSpPr>
            <a:spLocks noChangeArrowheads="1"/>
          </p:cNvSpPr>
          <p:nvPr/>
        </p:nvSpPr>
        <p:spPr bwMode="auto">
          <a:xfrm>
            <a:off x="7772400" y="1600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0.84</a:t>
            </a:r>
          </a:p>
          <a:p>
            <a:pPr algn="ctr"/>
            <a:r>
              <a:rPr lang="it-IT" sz="2000"/>
              <a:t>2.29</a:t>
            </a:r>
          </a:p>
          <a:p>
            <a:pPr algn="ctr"/>
            <a:r>
              <a:rPr lang="it-IT" sz="2000"/>
              <a:t>4</a:t>
            </a:r>
            <a:endParaRPr lang="en-US" sz="2000"/>
          </a:p>
        </p:txBody>
      </p:sp>
      <p:sp>
        <p:nvSpPr>
          <p:cNvPr id="743490" name="Rectangle 66"/>
          <p:cNvSpPr>
            <a:spLocks noChangeArrowheads="1"/>
          </p:cNvSpPr>
          <p:nvPr/>
        </p:nvSpPr>
        <p:spPr bwMode="auto">
          <a:xfrm>
            <a:off x="7772400" y="762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1.00</a:t>
            </a:r>
          </a:p>
          <a:p>
            <a:pPr algn="ctr"/>
            <a:r>
              <a:rPr lang="it-IT" sz="2000"/>
              <a:t>2.32</a:t>
            </a:r>
          </a:p>
          <a:p>
            <a:pPr algn="ctr"/>
            <a:r>
              <a:rPr lang="it-IT" sz="2000"/>
              <a:t>4</a:t>
            </a:r>
            <a:endParaRPr lang="en-US" sz="20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3474" grpId="0" animBg="1" autoUpdateAnimBg="0"/>
      <p:bldP spid="743477" grpId="0" animBg="1" autoUpdateAnimBg="0"/>
      <p:bldP spid="743478" grpId="0" animBg="1" autoUpdateAnimBg="0"/>
      <p:bldP spid="743479" grpId="0" animBg="1" autoUpdateAnimBg="0"/>
      <p:bldP spid="743480" grpId="0" animBg="1" autoUpdateAnimBg="0"/>
      <p:bldP spid="743481" grpId="0" animBg="1" autoUpdateAnimBg="0"/>
      <p:bldP spid="743482" grpId="0" animBg="1" autoUpdateAnimBg="0"/>
      <p:bldP spid="743483" grpId="0" animBg="1" autoUpdateAnimBg="0"/>
      <p:bldP spid="743484" grpId="0" animBg="1" autoUpdateAnimBg="0"/>
      <p:bldP spid="743485" grpId="0" animBg="1" autoUpdateAnimBg="0"/>
      <p:bldP spid="743486" grpId="0" animBg="1" autoUpdateAnimBg="0"/>
      <p:bldP spid="743487" grpId="0" animBg="1" autoUpdateAnimBg="0"/>
      <p:bldP spid="743488" grpId="0" animBg="1" autoUpdateAnimBg="0"/>
      <p:bldP spid="743489" grpId="0" animBg="1" autoUpdateAnimBg="0"/>
      <p:bldP spid="743490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0" name="Text Box 2"/>
          <p:cNvSpPr txBox="1">
            <a:spLocks noChangeArrowheads="1"/>
          </p:cNvSpPr>
          <p:nvPr/>
        </p:nvSpPr>
        <p:spPr bwMode="auto">
          <a:xfrm>
            <a:off x="395536" y="1052736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Terzo passo</a:t>
            </a:r>
            <a:r>
              <a:rPr lang="it-IT" sz="2400" dirty="0">
                <a:sym typeface="Symbol" charset="0"/>
              </a:rPr>
              <a:t>: </a:t>
            </a:r>
            <a:r>
              <a:rPr lang="it-IT" sz="2400" i="1" dirty="0">
                <a:sym typeface="Symbol" charset="0"/>
              </a:rPr>
              <a:t>calcolo del numero medio di </a:t>
            </a:r>
            <a:r>
              <a:rPr lang="it-IT" sz="2400" i="1" dirty="0" smtClean="0">
                <a:sym typeface="Symbol" charset="0"/>
              </a:rPr>
              <a:t>passi</a:t>
            </a:r>
            <a:endParaRPr lang="it-IT" sz="2400" i="1" dirty="0">
              <a:sym typeface="Symbol" charset="0"/>
            </a:endParaRPr>
          </a:p>
        </p:txBody>
      </p:sp>
      <p:sp>
        <p:nvSpPr>
          <p:cNvPr id="744451" name="Text Box 3"/>
          <p:cNvSpPr txBox="1">
            <a:spLocks noChangeArrowheads="1"/>
          </p:cNvSpPr>
          <p:nvPr/>
        </p:nvSpPr>
        <p:spPr bwMode="auto">
          <a:xfrm>
            <a:off x="395536" y="1628800"/>
            <a:ext cx="8382000" cy="467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it-IT" sz="2400" dirty="0">
                <a:solidFill>
                  <a:srgbClr val="800000"/>
                </a:solidFill>
                <a:sym typeface="Symbol" charset="0"/>
              </a:rPr>
              <a:t>Passi</a:t>
            </a:r>
            <a:r>
              <a:rPr lang="it-IT" sz="2400" dirty="0">
                <a:sym typeface="Symbol" charset="0"/>
              </a:rPr>
              <a:t>(p,q,n)</a:t>
            </a: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>
                <a:sym typeface="Symbol" charset="0"/>
              </a:rPr>
              <a:t>s := 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400" dirty="0">
                <a:sym typeface="Symbol" charset="0"/>
              </a:rPr>
              <a:t>n+1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 </a:t>
            </a:r>
            <a:r>
              <a:rPr lang="it-IT" sz="2400" dirty="0">
                <a:sym typeface="Symbol" charset="0"/>
              </a:rPr>
              <a:t>E[s,s-1] </a:t>
            </a:r>
            <a:r>
              <a:rPr lang="it-IT" sz="2400" dirty="0" smtClean="0">
                <a:sym typeface="Symbol" charset="0"/>
              </a:rPr>
              <a:t>:= </a:t>
            </a:r>
            <a:r>
              <a:rPr lang="it-IT" sz="2400" dirty="0">
                <a:sym typeface="Symbol" charset="0"/>
              </a:rPr>
              <a:t>1, W[s,s-1] := q</a:t>
            </a:r>
            <a:r>
              <a:rPr lang="it-IT" sz="2400" baseline="-25000" dirty="0" smtClean="0">
                <a:sym typeface="Symbol" charset="0"/>
              </a:rPr>
              <a:t>s</a:t>
            </a:r>
            <a:endParaRPr lang="it-IT" sz="2400" dirty="0">
              <a:sym typeface="Symbol" charset="0"/>
            </a:endParaRP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 smtClean="0">
                <a:sym typeface="Symbol" charset="0"/>
              </a:rPr>
              <a:t>t </a:t>
            </a:r>
            <a:r>
              <a:rPr lang="it-IT" sz="2400" dirty="0">
                <a:sym typeface="Symbol" charset="0"/>
              </a:rPr>
              <a:t>:= 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400" dirty="0" smtClean="0">
                <a:sym typeface="Symbol" charset="0"/>
              </a:rPr>
              <a:t>n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 </a:t>
            </a:r>
            <a:endParaRPr lang="it-IT" sz="2400" dirty="0">
              <a:solidFill>
                <a:schemeClr val="accent2"/>
              </a:solidFill>
              <a:sym typeface="Symbol" charset="0"/>
            </a:endParaRP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 smtClean="0">
                <a:sym typeface="Symbol" charset="0"/>
              </a:rPr>
              <a:t>s </a:t>
            </a:r>
            <a:r>
              <a:rPr lang="it-IT" sz="2400" dirty="0">
                <a:sym typeface="Symbol" charset="0"/>
              </a:rPr>
              <a:t>:= t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downto </a:t>
            </a:r>
            <a:r>
              <a:rPr lang="it-IT" sz="2400" dirty="0">
                <a:sym typeface="Symbol" charset="0"/>
              </a:rPr>
              <a:t>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 </a:t>
            </a:r>
            <a:endParaRPr lang="it-IT" sz="2400" dirty="0">
              <a:solidFill>
                <a:schemeClr val="accent2"/>
              </a:solidFill>
              <a:sym typeface="Symbol" charset="0"/>
            </a:endParaRP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        E[s,t] :=   </a:t>
            </a: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        W[s,t] := W[s,t-1] +p</a:t>
            </a:r>
            <a:r>
              <a:rPr lang="it-IT" sz="2400" baseline="-25000" dirty="0">
                <a:sym typeface="Symbol" charset="0"/>
              </a:rPr>
              <a:t>t</a:t>
            </a:r>
            <a:r>
              <a:rPr lang="it-IT" sz="2400" dirty="0">
                <a:sym typeface="Symbol" charset="0"/>
              </a:rPr>
              <a:t>+q</a:t>
            </a:r>
            <a:r>
              <a:rPr lang="it-IT" sz="2400" baseline="-25000" dirty="0">
                <a:sym typeface="Symbol" charset="0"/>
              </a:rPr>
              <a:t>t</a:t>
            </a:r>
            <a:endParaRPr lang="it-IT" sz="2400" dirty="0"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 smtClean="0">
                <a:sym typeface="Symbol" charset="0"/>
              </a:rPr>
              <a:t>r </a:t>
            </a:r>
            <a:r>
              <a:rPr lang="it-IT" sz="2400" dirty="0">
                <a:sym typeface="Symbol" charset="0"/>
              </a:rPr>
              <a:t>:= s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400" dirty="0" smtClean="0">
                <a:sym typeface="Symbol" charset="0"/>
              </a:rPr>
              <a:t>t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 </a:t>
            </a:r>
            <a:endParaRPr lang="it-IT" sz="2400" dirty="0">
              <a:solidFill>
                <a:schemeClr val="accent2"/>
              </a:solidFill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            e := 1+(W[s,r-1]E[s,r-1]+ </a:t>
            </a:r>
          </a:p>
          <a:p>
            <a:r>
              <a:rPr lang="it-IT" sz="2400" dirty="0">
                <a:sym typeface="Symbol" charset="0"/>
              </a:rPr>
              <a:t>                             W[r+1,t]E[r+1,t])/ W[s,t] </a:t>
            </a:r>
          </a:p>
          <a:p>
            <a:r>
              <a:rPr lang="it-IT" sz="2400" dirty="0">
                <a:sym typeface="Symbol" charset="0"/>
              </a:rPr>
              <a:t>        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if </a:t>
            </a:r>
            <a:r>
              <a:rPr lang="it-IT" sz="2400" dirty="0">
                <a:sym typeface="Symbol" charset="0"/>
              </a:rPr>
              <a:t>e &lt; E[s,t]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then</a:t>
            </a:r>
          </a:p>
          <a:p>
            <a:r>
              <a:rPr lang="it-IT" sz="2400" dirty="0">
                <a:sym typeface="Symbol" charset="0"/>
              </a:rPr>
              <a:t>                    E[s,t] := e</a:t>
            </a:r>
          </a:p>
          <a:p>
            <a:r>
              <a:rPr lang="it-IT" sz="2400" dirty="0">
                <a:sym typeface="Symbol" charset="0"/>
              </a:rPr>
              <a:t>                    R[s,t] := r</a:t>
            </a:r>
          </a:p>
          <a:p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return </a:t>
            </a:r>
            <a:r>
              <a:rPr lang="it-IT" sz="2400" dirty="0">
                <a:sym typeface="Symbol" charset="0"/>
              </a:rPr>
              <a:t>E,R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Albero di ricerca ottimo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4" name="Text Box 2"/>
          <p:cNvSpPr txBox="1">
            <a:spLocks noChangeArrowheads="1"/>
          </p:cNvSpPr>
          <p:nvPr/>
        </p:nvSpPr>
        <p:spPr bwMode="auto">
          <a:xfrm>
            <a:off x="6444208" y="1124744"/>
            <a:ext cx="22322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rgbClr val="FF0000"/>
                </a:solidFill>
                <a:sym typeface="Symbol" charset="0"/>
              </a:rPr>
              <a:t>Quarto 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passo</a:t>
            </a:r>
          </a:p>
          <a:p>
            <a:r>
              <a:rPr lang="it-IT" sz="2400" i="1" u="sng" dirty="0" smtClean="0">
                <a:sym typeface="Symbol" charset="0"/>
              </a:rPr>
              <a:t>Esempio</a:t>
            </a:r>
            <a:endParaRPr lang="it-IT" sz="2400" i="1" u="sng" dirty="0">
              <a:sym typeface="Symbol" charset="0"/>
            </a:endParaRPr>
          </a:p>
        </p:txBody>
      </p:sp>
      <p:sp>
        <p:nvSpPr>
          <p:cNvPr id="745475" name="Text Box 3"/>
          <p:cNvSpPr txBox="1">
            <a:spLocks noChangeArrowheads="1"/>
          </p:cNvSpPr>
          <p:nvPr/>
        </p:nvSpPr>
        <p:spPr bwMode="auto">
          <a:xfrm>
            <a:off x="457200" y="5638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sym typeface="Symbol" charset="0"/>
              </a:rPr>
              <a:t>s</a:t>
            </a:r>
            <a:endParaRPr lang="it-IT" sz="2400" baseline="-25000">
              <a:sym typeface="Symbol" charset="0"/>
            </a:endParaRPr>
          </a:p>
        </p:txBody>
      </p:sp>
      <p:sp>
        <p:nvSpPr>
          <p:cNvPr id="745476" name="Text Box 4"/>
          <p:cNvSpPr txBox="1">
            <a:spLocks noChangeArrowheads="1"/>
          </p:cNvSpPr>
          <p:nvPr/>
        </p:nvSpPr>
        <p:spPr bwMode="auto">
          <a:xfrm>
            <a:off x="1524000" y="914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sym typeface="Symbol" charset="0"/>
              </a:rPr>
              <a:t>1</a:t>
            </a:r>
          </a:p>
        </p:txBody>
      </p:sp>
      <p:sp>
        <p:nvSpPr>
          <p:cNvPr id="745477" name="Text Box 5"/>
          <p:cNvSpPr txBox="1">
            <a:spLocks noChangeArrowheads="1"/>
          </p:cNvSpPr>
          <p:nvPr/>
        </p:nvSpPr>
        <p:spPr bwMode="auto">
          <a:xfrm>
            <a:off x="4876800" y="914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sym typeface="Symbol" charset="0"/>
              </a:rPr>
              <a:t>5</a:t>
            </a:r>
          </a:p>
        </p:txBody>
      </p:sp>
      <p:sp>
        <p:nvSpPr>
          <p:cNvPr id="745478" name="Text Box 6"/>
          <p:cNvSpPr txBox="1">
            <a:spLocks noChangeArrowheads="1"/>
          </p:cNvSpPr>
          <p:nvPr/>
        </p:nvSpPr>
        <p:spPr bwMode="auto">
          <a:xfrm>
            <a:off x="4038600" y="914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sym typeface="Symbol" charset="0"/>
              </a:rPr>
              <a:t>4</a:t>
            </a:r>
          </a:p>
        </p:txBody>
      </p:sp>
      <p:sp>
        <p:nvSpPr>
          <p:cNvPr id="745479" name="Text Box 7"/>
          <p:cNvSpPr txBox="1">
            <a:spLocks noChangeArrowheads="1"/>
          </p:cNvSpPr>
          <p:nvPr/>
        </p:nvSpPr>
        <p:spPr bwMode="auto">
          <a:xfrm>
            <a:off x="3200400" y="914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sym typeface="Symbol" charset="0"/>
              </a:rPr>
              <a:t>3</a:t>
            </a:r>
          </a:p>
        </p:txBody>
      </p:sp>
      <p:sp>
        <p:nvSpPr>
          <p:cNvPr id="745480" name="Text Box 8"/>
          <p:cNvSpPr txBox="1">
            <a:spLocks noChangeArrowheads="1"/>
          </p:cNvSpPr>
          <p:nvPr/>
        </p:nvSpPr>
        <p:spPr bwMode="auto">
          <a:xfrm>
            <a:off x="2362200" y="914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sym typeface="Symbol" charset="0"/>
              </a:rPr>
              <a:t>2</a:t>
            </a:r>
          </a:p>
        </p:txBody>
      </p:sp>
      <p:sp>
        <p:nvSpPr>
          <p:cNvPr id="745481" name="Text Box 9"/>
          <p:cNvSpPr txBox="1">
            <a:spLocks noChangeArrowheads="1"/>
          </p:cNvSpPr>
          <p:nvPr/>
        </p:nvSpPr>
        <p:spPr bwMode="auto">
          <a:xfrm>
            <a:off x="0" y="1524000"/>
            <a:ext cx="457200" cy="456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25000"/>
              </a:spcBef>
            </a:pPr>
            <a:r>
              <a:rPr lang="it-IT" sz="2400">
                <a:sym typeface="Symbol" charset="0"/>
              </a:rPr>
              <a:t>1</a:t>
            </a:r>
          </a:p>
          <a:p>
            <a:pPr>
              <a:spcBef>
                <a:spcPct val="125000"/>
              </a:spcBef>
            </a:pPr>
            <a:r>
              <a:rPr lang="it-IT" sz="2400">
                <a:sym typeface="Symbol" charset="0"/>
              </a:rPr>
              <a:t>2</a:t>
            </a:r>
          </a:p>
          <a:p>
            <a:pPr>
              <a:spcBef>
                <a:spcPct val="125000"/>
              </a:spcBef>
            </a:pPr>
            <a:r>
              <a:rPr lang="it-IT" sz="2400">
                <a:sym typeface="Symbol" charset="0"/>
              </a:rPr>
              <a:t>3</a:t>
            </a:r>
          </a:p>
          <a:p>
            <a:pPr>
              <a:spcBef>
                <a:spcPct val="125000"/>
              </a:spcBef>
            </a:pPr>
            <a:r>
              <a:rPr lang="it-IT" sz="2400">
                <a:sym typeface="Symbol" charset="0"/>
              </a:rPr>
              <a:t>4</a:t>
            </a:r>
          </a:p>
          <a:p>
            <a:pPr>
              <a:spcBef>
                <a:spcPct val="125000"/>
              </a:spcBef>
            </a:pPr>
            <a:r>
              <a:rPr lang="it-IT" sz="2400">
                <a:sym typeface="Symbol" charset="0"/>
              </a:rPr>
              <a:t>5</a:t>
            </a:r>
          </a:p>
          <a:p>
            <a:pPr>
              <a:spcBef>
                <a:spcPct val="125000"/>
              </a:spcBef>
            </a:pPr>
            <a:r>
              <a:rPr lang="it-IT" sz="2400">
                <a:sym typeface="Symbol" charset="0"/>
              </a:rPr>
              <a:t>6</a:t>
            </a:r>
          </a:p>
        </p:txBody>
      </p:sp>
      <p:sp>
        <p:nvSpPr>
          <p:cNvPr id="745482" name="Line 10"/>
          <p:cNvSpPr>
            <a:spLocks noChangeShapeType="1"/>
          </p:cNvSpPr>
          <p:nvPr/>
        </p:nvSpPr>
        <p:spPr bwMode="auto">
          <a:xfrm>
            <a:off x="457200" y="1371600"/>
            <a:ext cx="0" cy="480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5483" name="Line 11"/>
          <p:cNvSpPr>
            <a:spLocks noChangeShapeType="1"/>
          </p:cNvSpPr>
          <p:nvPr/>
        </p:nvSpPr>
        <p:spPr bwMode="auto">
          <a:xfrm>
            <a:off x="457200" y="13716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45484" name="Group 12"/>
          <p:cNvGrpSpPr>
            <a:grpSpLocks/>
          </p:cNvGrpSpPr>
          <p:nvPr/>
        </p:nvGrpSpPr>
        <p:grpSpPr bwMode="auto">
          <a:xfrm>
            <a:off x="381000" y="1295400"/>
            <a:ext cx="914400" cy="1006475"/>
            <a:chOff x="2208" y="432"/>
            <a:chExt cx="576" cy="634"/>
          </a:xfrm>
        </p:grpSpPr>
        <p:sp>
          <p:nvSpPr>
            <p:cNvPr id="745485" name="Rectangle 13"/>
            <p:cNvSpPr>
              <a:spLocks noChangeArrowheads="1"/>
            </p:cNvSpPr>
            <p:nvPr/>
          </p:nvSpPr>
          <p:spPr bwMode="auto">
            <a:xfrm>
              <a:off x="2256" y="480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 .01</a:t>
              </a:r>
            </a:p>
            <a:p>
              <a:pPr algn="ctr"/>
              <a:r>
                <a:rPr lang="it-IT" sz="2000"/>
                <a:t>1</a:t>
              </a:r>
            </a:p>
            <a:p>
              <a:pPr algn="ctr"/>
              <a:endParaRPr lang="en-US" sz="2000"/>
            </a:p>
          </p:txBody>
        </p:sp>
        <p:sp>
          <p:nvSpPr>
            <p:cNvPr id="745486" name="Text Box 14"/>
            <p:cNvSpPr txBox="1">
              <a:spLocks noChangeArrowheads="1"/>
            </p:cNvSpPr>
            <p:nvPr/>
          </p:nvSpPr>
          <p:spPr bwMode="auto">
            <a:xfrm>
              <a:off x="2208" y="432"/>
              <a:ext cx="336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 i="1">
                  <a:sym typeface="Symbol" charset="0"/>
                </a:rPr>
                <a:t>w</a:t>
              </a:r>
            </a:p>
            <a:p>
              <a:r>
                <a:rPr lang="it-IT" sz="2000" i="1">
                  <a:sym typeface="Symbol" charset="0"/>
                </a:rPr>
                <a:t>e</a:t>
              </a:r>
            </a:p>
            <a:p>
              <a:r>
                <a:rPr lang="it-IT" sz="2000" i="1">
                  <a:sym typeface="Symbol" charset="0"/>
                </a:rPr>
                <a:t>r</a:t>
              </a:r>
              <a:endParaRPr lang="it-IT" sz="2000">
                <a:sym typeface="Symbol" charset="0"/>
              </a:endParaRPr>
            </a:p>
          </p:txBody>
        </p:sp>
      </p:grpSp>
      <p:sp>
        <p:nvSpPr>
          <p:cNvPr id="745487" name="Text Box 15"/>
          <p:cNvSpPr txBox="1">
            <a:spLocks noChangeArrowheads="1"/>
          </p:cNvSpPr>
          <p:nvPr/>
        </p:nvSpPr>
        <p:spPr bwMode="auto">
          <a:xfrm>
            <a:off x="685800" y="914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sym typeface="Symbol" charset="0"/>
              </a:rPr>
              <a:t>0</a:t>
            </a:r>
          </a:p>
        </p:txBody>
      </p:sp>
      <p:grpSp>
        <p:nvGrpSpPr>
          <p:cNvPr id="745488" name="Group 16"/>
          <p:cNvGrpSpPr>
            <a:grpSpLocks/>
          </p:cNvGrpSpPr>
          <p:nvPr/>
        </p:nvGrpSpPr>
        <p:grpSpPr bwMode="auto">
          <a:xfrm>
            <a:off x="1219200" y="2133600"/>
            <a:ext cx="914400" cy="1006475"/>
            <a:chOff x="2208" y="432"/>
            <a:chExt cx="576" cy="634"/>
          </a:xfrm>
        </p:grpSpPr>
        <p:sp>
          <p:nvSpPr>
            <p:cNvPr id="745489" name="Rectangle 17"/>
            <p:cNvSpPr>
              <a:spLocks noChangeArrowheads="1"/>
            </p:cNvSpPr>
            <p:nvPr/>
          </p:nvSpPr>
          <p:spPr bwMode="auto">
            <a:xfrm>
              <a:off x="2256" y="480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 .13</a:t>
              </a:r>
            </a:p>
            <a:p>
              <a:pPr algn="ctr"/>
              <a:r>
                <a:rPr lang="it-IT" sz="2000"/>
                <a:t>1</a:t>
              </a:r>
            </a:p>
            <a:p>
              <a:pPr algn="ctr"/>
              <a:endParaRPr lang="en-US" sz="2000"/>
            </a:p>
          </p:txBody>
        </p:sp>
        <p:sp>
          <p:nvSpPr>
            <p:cNvPr id="745490" name="Text Box 18"/>
            <p:cNvSpPr txBox="1">
              <a:spLocks noChangeArrowheads="1"/>
            </p:cNvSpPr>
            <p:nvPr/>
          </p:nvSpPr>
          <p:spPr bwMode="auto">
            <a:xfrm>
              <a:off x="2208" y="432"/>
              <a:ext cx="336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 i="1">
                  <a:sym typeface="Symbol" charset="0"/>
                </a:rPr>
                <a:t>w</a:t>
              </a:r>
            </a:p>
            <a:p>
              <a:r>
                <a:rPr lang="it-IT" sz="2000" i="1">
                  <a:sym typeface="Symbol" charset="0"/>
                </a:rPr>
                <a:t>e</a:t>
              </a:r>
            </a:p>
            <a:p>
              <a:r>
                <a:rPr lang="it-IT" sz="2000" i="1">
                  <a:sym typeface="Symbol" charset="0"/>
                </a:rPr>
                <a:t>r</a:t>
              </a:r>
              <a:endParaRPr lang="it-IT" sz="2000">
                <a:sym typeface="Symbol" charset="0"/>
              </a:endParaRPr>
            </a:p>
          </p:txBody>
        </p:sp>
      </p:grpSp>
      <p:grpSp>
        <p:nvGrpSpPr>
          <p:cNvPr id="745491" name="Group 19"/>
          <p:cNvGrpSpPr>
            <a:grpSpLocks/>
          </p:cNvGrpSpPr>
          <p:nvPr/>
        </p:nvGrpSpPr>
        <p:grpSpPr bwMode="auto">
          <a:xfrm>
            <a:off x="2057400" y="2971800"/>
            <a:ext cx="914400" cy="1006475"/>
            <a:chOff x="2208" y="432"/>
            <a:chExt cx="576" cy="634"/>
          </a:xfrm>
        </p:grpSpPr>
        <p:sp>
          <p:nvSpPr>
            <p:cNvPr id="745492" name="Rectangle 20"/>
            <p:cNvSpPr>
              <a:spLocks noChangeArrowheads="1"/>
            </p:cNvSpPr>
            <p:nvPr/>
          </p:nvSpPr>
          <p:spPr bwMode="auto">
            <a:xfrm>
              <a:off x="2256" y="480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 .10</a:t>
              </a:r>
            </a:p>
            <a:p>
              <a:pPr algn="ctr"/>
              <a:r>
                <a:rPr lang="it-IT" sz="2000"/>
                <a:t>1</a:t>
              </a:r>
            </a:p>
            <a:p>
              <a:pPr algn="ctr"/>
              <a:endParaRPr lang="en-US" sz="2000"/>
            </a:p>
          </p:txBody>
        </p:sp>
        <p:sp>
          <p:nvSpPr>
            <p:cNvPr id="745493" name="Text Box 21"/>
            <p:cNvSpPr txBox="1">
              <a:spLocks noChangeArrowheads="1"/>
            </p:cNvSpPr>
            <p:nvPr/>
          </p:nvSpPr>
          <p:spPr bwMode="auto">
            <a:xfrm>
              <a:off x="2208" y="432"/>
              <a:ext cx="336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 i="1">
                  <a:sym typeface="Symbol" charset="0"/>
                </a:rPr>
                <a:t>w</a:t>
              </a:r>
            </a:p>
            <a:p>
              <a:r>
                <a:rPr lang="it-IT" sz="2000" i="1">
                  <a:sym typeface="Symbol" charset="0"/>
                </a:rPr>
                <a:t>e</a:t>
              </a:r>
            </a:p>
            <a:p>
              <a:r>
                <a:rPr lang="it-IT" sz="2000" i="1">
                  <a:sym typeface="Symbol" charset="0"/>
                </a:rPr>
                <a:t>r</a:t>
              </a:r>
              <a:endParaRPr lang="it-IT" sz="2000">
                <a:sym typeface="Symbol" charset="0"/>
              </a:endParaRPr>
            </a:p>
          </p:txBody>
        </p:sp>
      </p:grpSp>
      <p:grpSp>
        <p:nvGrpSpPr>
          <p:cNvPr id="745494" name="Group 22"/>
          <p:cNvGrpSpPr>
            <a:grpSpLocks/>
          </p:cNvGrpSpPr>
          <p:nvPr/>
        </p:nvGrpSpPr>
        <p:grpSpPr bwMode="auto">
          <a:xfrm>
            <a:off x="2895600" y="3810000"/>
            <a:ext cx="914400" cy="1006475"/>
            <a:chOff x="2208" y="432"/>
            <a:chExt cx="576" cy="634"/>
          </a:xfrm>
        </p:grpSpPr>
        <p:sp>
          <p:nvSpPr>
            <p:cNvPr id="745495" name="Rectangle 23"/>
            <p:cNvSpPr>
              <a:spLocks noChangeArrowheads="1"/>
            </p:cNvSpPr>
            <p:nvPr/>
          </p:nvSpPr>
          <p:spPr bwMode="auto">
            <a:xfrm>
              <a:off x="2256" y="480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 .02</a:t>
              </a:r>
            </a:p>
            <a:p>
              <a:pPr algn="ctr"/>
              <a:r>
                <a:rPr lang="it-IT" sz="2000"/>
                <a:t>1</a:t>
              </a:r>
            </a:p>
            <a:p>
              <a:pPr algn="ctr"/>
              <a:endParaRPr lang="en-US" sz="2000"/>
            </a:p>
          </p:txBody>
        </p:sp>
        <p:sp>
          <p:nvSpPr>
            <p:cNvPr id="745496" name="Text Box 24"/>
            <p:cNvSpPr txBox="1">
              <a:spLocks noChangeArrowheads="1"/>
            </p:cNvSpPr>
            <p:nvPr/>
          </p:nvSpPr>
          <p:spPr bwMode="auto">
            <a:xfrm>
              <a:off x="2208" y="432"/>
              <a:ext cx="336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 i="1">
                  <a:sym typeface="Symbol" charset="0"/>
                </a:rPr>
                <a:t>w</a:t>
              </a:r>
            </a:p>
            <a:p>
              <a:r>
                <a:rPr lang="it-IT" sz="2000" i="1">
                  <a:sym typeface="Symbol" charset="0"/>
                </a:rPr>
                <a:t>e</a:t>
              </a:r>
            </a:p>
            <a:p>
              <a:r>
                <a:rPr lang="it-IT" sz="2000" i="1">
                  <a:sym typeface="Symbol" charset="0"/>
                </a:rPr>
                <a:t>r</a:t>
              </a:r>
              <a:endParaRPr lang="it-IT" sz="2000">
                <a:sym typeface="Symbol" charset="0"/>
              </a:endParaRPr>
            </a:p>
          </p:txBody>
        </p:sp>
      </p:grpSp>
      <p:grpSp>
        <p:nvGrpSpPr>
          <p:cNvPr id="745497" name="Group 25"/>
          <p:cNvGrpSpPr>
            <a:grpSpLocks/>
          </p:cNvGrpSpPr>
          <p:nvPr/>
        </p:nvGrpSpPr>
        <p:grpSpPr bwMode="auto">
          <a:xfrm>
            <a:off x="4572000" y="5486400"/>
            <a:ext cx="914400" cy="1006475"/>
            <a:chOff x="2208" y="432"/>
            <a:chExt cx="576" cy="634"/>
          </a:xfrm>
        </p:grpSpPr>
        <p:sp>
          <p:nvSpPr>
            <p:cNvPr id="745498" name="Rectangle 26"/>
            <p:cNvSpPr>
              <a:spLocks noChangeArrowheads="1"/>
            </p:cNvSpPr>
            <p:nvPr/>
          </p:nvSpPr>
          <p:spPr bwMode="auto">
            <a:xfrm>
              <a:off x="2256" y="480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 .17</a:t>
              </a:r>
            </a:p>
            <a:p>
              <a:pPr algn="ctr"/>
              <a:r>
                <a:rPr lang="it-IT" sz="2000"/>
                <a:t>1</a:t>
              </a:r>
            </a:p>
            <a:p>
              <a:pPr algn="ctr"/>
              <a:endParaRPr lang="en-US" sz="2000"/>
            </a:p>
          </p:txBody>
        </p:sp>
        <p:sp>
          <p:nvSpPr>
            <p:cNvPr id="745499" name="Text Box 27"/>
            <p:cNvSpPr txBox="1">
              <a:spLocks noChangeArrowheads="1"/>
            </p:cNvSpPr>
            <p:nvPr/>
          </p:nvSpPr>
          <p:spPr bwMode="auto">
            <a:xfrm>
              <a:off x="2208" y="432"/>
              <a:ext cx="336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 i="1">
                  <a:sym typeface="Symbol" charset="0"/>
                </a:rPr>
                <a:t>w</a:t>
              </a:r>
            </a:p>
            <a:p>
              <a:r>
                <a:rPr lang="it-IT" sz="2000" i="1">
                  <a:sym typeface="Symbol" charset="0"/>
                </a:rPr>
                <a:t>e</a:t>
              </a:r>
            </a:p>
            <a:p>
              <a:r>
                <a:rPr lang="it-IT" sz="2000" i="1">
                  <a:sym typeface="Symbol" charset="0"/>
                </a:rPr>
                <a:t>r</a:t>
              </a:r>
              <a:endParaRPr lang="it-IT" sz="2000">
                <a:sym typeface="Symbol" charset="0"/>
              </a:endParaRPr>
            </a:p>
          </p:txBody>
        </p:sp>
      </p:grpSp>
      <p:grpSp>
        <p:nvGrpSpPr>
          <p:cNvPr id="745500" name="Group 28"/>
          <p:cNvGrpSpPr>
            <a:grpSpLocks/>
          </p:cNvGrpSpPr>
          <p:nvPr/>
        </p:nvGrpSpPr>
        <p:grpSpPr bwMode="auto">
          <a:xfrm>
            <a:off x="3733800" y="4648200"/>
            <a:ext cx="914400" cy="1006475"/>
            <a:chOff x="2208" y="432"/>
            <a:chExt cx="576" cy="634"/>
          </a:xfrm>
        </p:grpSpPr>
        <p:sp>
          <p:nvSpPr>
            <p:cNvPr id="745501" name="Rectangle 29"/>
            <p:cNvSpPr>
              <a:spLocks noChangeArrowheads="1"/>
            </p:cNvSpPr>
            <p:nvPr/>
          </p:nvSpPr>
          <p:spPr bwMode="auto">
            <a:xfrm>
              <a:off x="2256" y="480"/>
              <a:ext cx="528" cy="5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 .09</a:t>
              </a:r>
            </a:p>
            <a:p>
              <a:pPr algn="ctr"/>
              <a:r>
                <a:rPr lang="it-IT" sz="2000"/>
                <a:t>1</a:t>
              </a:r>
            </a:p>
            <a:p>
              <a:pPr algn="ctr"/>
              <a:endParaRPr lang="en-US" sz="2000"/>
            </a:p>
          </p:txBody>
        </p:sp>
        <p:sp>
          <p:nvSpPr>
            <p:cNvPr id="745502" name="Text Box 30"/>
            <p:cNvSpPr txBox="1">
              <a:spLocks noChangeArrowheads="1"/>
            </p:cNvSpPr>
            <p:nvPr/>
          </p:nvSpPr>
          <p:spPr bwMode="auto">
            <a:xfrm>
              <a:off x="2208" y="432"/>
              <a:ext cx="336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it-IT" sz="2000" i="1">
                  <a:sym typeface="Symbol" charset="0"/>
                </a:rPr>
                <a:t>w</a:t>
              </a:r>
            </a:p>
            <a:p>
              <a:r>
                <a:rPr lang="it-IT" sz="2000" i="1">
                  <a:sym typeface="Symbol" charset="0"/>
                </a:rPr>
                <a:t>e</a:t>
              </a:r>
            </a:p>
            <a:p>
              <a:r>
                <a:rPr lang="it-IT" sz="2000" i="1">
                  <a:sym typeface="Symbol" charset="0"/>
                </a:rPr>
                <a:t>r</a:t>
              </a:r>
              <a:endParaRPr lang="it-IT" sz="2000">
                <a:sym typeface="Symbol" charset="0"/>
              </a:endParaRPr>
            </a:p>
          </p:txBody>
        </p:sp>
      </p:grpSp>
      <p:sp>
        <p:nvSpPr>
          <p:cNvPr id="745503" name="Text Box 31"/>
          <p:cNvSpPr txBox="1">
            <a:spLocks noChangeArrowheads="1"/>
          </p:cNvSpPr>
          <p:nvPr/>
        </p:nvSpPr>
        <p:spPr bwMode="auto">
          <a:xfrm>
            <a:off x="5410200" y="914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sym typeface="Symbol" charset="0"/>
              </a:rPr>
              <a:t>t</a:t>
            </a:r>
          </a:p>
        </p:txBody>
      </p:sp>
      <p:sp>
        <p:nvSpPr>
          <p:cNvPr id="745504" name="Rectangle 32"/>
          <p:cNvSpPr>
            <a:spLocks noChangeArrowheads="1"/>
          </p:cNvSpPr>
          <p:nvPr/>
        </p:nvSpPr>
        <p:spPr bwMode="auto">
          <a:xfrm>
            <a:off x="1295400" y="1371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0.29</a:t>
            </a:r>
          </a:p>
          <a:p>
            <a:pPr algn="ctr"/>
            <a:r>
              <a:rPr lang="it-IT" sz="2000"/>
              <a:t>1.48</a:t>
            </a:r>
          </a:p>
          <a:p>
            <a:pPr algn="ctr"/>
            <a:r>
              <a:rPr lang="it-IT" sz="2000"/>
              <a:t>1</a:t>
            </a:r>
            <a:endParaRPr lang="en-US" sz="2000"/>
          </a:p>
        </p:txBody>
      </p:sp>
      <p:sp>
        <p:nvSpPr>
          <p:cNvPr id="745505" name="Rectangle 33"/>
          <p:cNvSpPr>
            <a:spLocks noChangeArrowheads="1"/>
          </p:cNvSpPr>
          <p:nvPr/>
        </p:nvSpPr>
        <p:spPr bwMode="auto">
          <a:xfrm>
            <a:off x="2133600" y="2209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0.30</a:t>
            </a:r>
          </a:p>
          <a:p>
            <a:pPr algn="ctr"/>
            <a:r>
              <a:rPr lang="it-IT" sz="2000"/>
              <a:t>1.53</a:t>
            </a:r>
          </a:p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745506" name="Rectangle 34"/>
          <p:cNvSpPr>
            <a:spLocks noChangeArrowheads="1"/>
          </p:cNvSpPr>
          <p:nvPr/>
        </p:nvSpPr>
        <p:spPr bwMode="auto">
          <a:xfrm>
            <a:off x="2133600" y="1371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0.46</a:t>
            </a:r>
          </a:p>
          <a:p>
            <a:pPr algn="ctr"/>
            <a:r>
              <a:rPr lang="it-IT" sz="2000"/>
              <a:t>1.49</a:t>
            </a:r>
          </a:p>
          <a:p>
            <a:pPr algn="ctr"/>
            <a:r>
              <a:rPr lang="it-IT" sz="2000"/>
              <a:t>1</a:t>
            </a:r>
            <a:endParaRPr lang="en-US" sz="2000"/>
          </a:p>
        </p:txBody>
      </p:sp>
      <p:sp>
        <p:nvSpPr>
          <p:cNvPr id="745507" name="Rectangle 35"/>
          <p:cNvSpPr>
            <a:spLocks noChangeArrowheads="1"/>
          </p:cNvSpPr>
          <p:nvPr/>
        </p:nvSpPr>
        <p:spPr bwMode="auto">
          <a:xfrm>
            <a:off x="2971800" y="3048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0.17</a:t>
            </a:r>
          </a:p>
          <a:p>
            <a:pPr algn="ctr"/>
            <a:r>
              <a:rPr lang="it-IT" sz="2000"/>
              <a:t>1.71</a:t>
            </a:r>
          </a:p>
          <a:p>
            <a:pPr algn="ctr"/>
            <a:r>
              <a:rPr lang="it-IT" sz="2000"/>
              <a:t>3</a:t>
            </a:r>
            <a:endParaRPr lang="en-US" sz="2000"/>
          </a:p>
        </p:txBody>
      </p:sp>
      <p:sp>
        <p:nvSpPr>
          <p:cNvPr id="745508" name="Rectangle 36"/>
          <p:cNvSpPr>
            <a:spLocks noChangeArrowheads="1"/>
          </p:cNvSpPr>
          <p:nvPr/>
        </p:nvSpPr>
        <p:spPr bwMode="auto">
          <a:xfrm>
            <a:off x="2971800" y="2209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0.37</a:t>
            </a:r>
          </a:p>
          <a:p>
            <a:pPr algn="ctr"/>
            <a:r>
              <a:rPr lang="it-IT" sz="2000"/>
              <a:t>1.94</a:t>
            </a:r>
          </a:p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745509" name="Rectangle 37"/>
          <p:cNvSpPr>
            <a:spLocks noChangeArrowheads="1"/>
          </p:cNvSpPr>
          <p:nvPr/>
        </p:nvSpPr>
        <p:spPr bwMode="auto">
          <a:xfrm>
            <a:off x="2971800" y="1371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0.53</a:t>
            </a:r>
          </a:p>
          <a:p>
            <a:pPr algn="ctr"/>
            <a:r>
              <a:rPr lang="it-IT" sz="2000"/>
              <a:t>1.41</a:t>
            </a:r>
          </a:p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745510" name="Rectangle 38"/>
          <p:cNvSpPr>
            <a:spLocks noChangeArrowheads="1"/>
          </p:cNvSpPr>
          <p:nvPr/>
        </p:nvSpPr>
        <p:spPr bwMode="auto">
          <a:xfrm>
            <a:off x="3810000" y="3886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0.31</a:t>
            </a:r>
          </a:p>
          <a:p>
            <a:pPr algn="ctr"/>
            <a:r>
              <a:rPr lang="it-IT" sz="2000"/>
              <a:t>1.35</a:t>
            </a:r>
          </a:p>
          <a:p>
            <a:pPr algn="ctr"/>
            <a:r>
              <a:rPr lang="it-IT" sz="2000"/>
              <a:t>4</a:t>
            </a:r>
            <a:endParaRPr lang="en-US" sz="2000"/>
          </a:p>
        </p:txBody>
      </p:sp>
      <p:sp>
        <p:nvSpPr>
          <p:cNvPr id="745511" name="Rectangle 39"/>
          <p:cNvSpPr>
            <a:spLocks noChangeArrowheads="1"/>
          </p:cNvSpPr>
          <p:nvPr/>
        </p:nvSpPr>
        <p:spPr bwMode="auto">
          <a:xfrm>
            <a:off x="3810000" y="3048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0.46</a:t>
            </a:r>
          </a:p>
          <a:p>
            <a:pPr algn="ctr"/>
            <a:r>
              <a:rPr lang="it-IT" sz="2000"/>
              <a:t>1.49</a:t>
            </a:r>
          </a:p>
          <a:p>
            <a:pPr algn="ctr"/>
            <a:r>
              <a:rPr lang="it-IT" sz="2000"/>
              <a:t>4</a:t>
            </a:r>
            <a:endParaRPr lang="en-US" sz="2000"/>
          </a:p>
        </p:txBody>
      </p:sp>
      <p:sp>
        <p:nvSpPr>
          <p:cNvPr id="745512" name="Rectangle 40"/>
          <p:cNvSpPr>
            <a:spLocks noChangeArrowheads="1"/>
          </p:cNvSpPr>
          <p:nvPr/>
        </p:nvSpPr>
        <p:spPr bwMode="auto">
          <a:xfrm>
            <a:off x="3810000" y="2209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0.66</a:t>
            </a:r>
          </a:p>
          <a:p>
            <a:pPr algn="ctr"/>
            <a:r>
              <a:rPr lang="it-IT" sz="2000"/>
              <a:t>1.88</a:t>
            </a:r>
          </a:p>
          <a:p>
            <a:pPr algn="ctr"/>
            <a:r>
              <a:rPr lang="it-IT" sz="2000"/>
              <a:t>2</a:t>
            </a:r>
            <a:endParaRPr lang="en-US" sz="2000"/>
          </a:p>
        </p:txBody>
      </p:sp>
      <p:sp>
        <p:nvSpPr>
          <p:cNvPr id="745513" name="Rectangle 41"/>
          <p:cNvSpPr>
            <a:spLocks noChangeArrowheads="1"/>
          </p:cNvSpPr>
          <p:nvPr/>
        </p:nvSpPr>
        <p:spPr bwMode="auto">
          <a:xfrm>
            <a:off x="3810000" y="1371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0.82</a:t>
            </a:r>
          </a:p>
          <a:p>
            <a:pPr algn="ctr"/>
            <a:r>
              <a:rPr lang="it-IT" sz="2000"/>
              <a:t>2.02</a:t>
            </a:r>
          </a:p>
          <a:p>
            <a:pPr algn="ctr"/>
            <a:r>
              <a:rPr lang="it-IT" sz="2000"/>
              <a:t>4</a:t>
            </a:r>
            <a:endParaRPr lang="en-US" sz="2000"/>
          </a:p>
        </p:txBody>
      </p:sp>
      <p:sp>
        <p:nvSpPr>
          <p:cNvPr id="745514" name="Rectangle 42"/>
          <p:cNvSpPr>
            <a:spLocks noChangeArrowheads="1"/>
          </p:cNvSpPr>
          <p:nvPr/>
        </p:nvSpPr>
        <p:spPr bwMode="auto">
          <a:xfrm>
            <a:off x="4648200" y="47244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0.27</a:t>
            </a:r>
          </a:p>
          <a:p>
            <a:pPr algn="ctr"/>
            <a:r>
              <a:rPr lang="it-IT" sz="2000"/>
              <a:t>1.96</a:t>
            </a:r>
          </a:p>
          <a:p>
            <a:pPr algn="ctr"/>
            <a:r>
              <a:rPr lang="it-IT" sz="2000"/>
              <a:t>5</a:t>
            </a:r>
            <a:endParaRPr lang="en-US" sz="2000"/>
          </a:p>
        </p:txBody>
      </p:sp>
      <p:sp>
        <p:nvSpPr>
          <p:cNvPr id="745515" name="Rectangle 43"/>
          <p:cNvSpPr>
            <a:spLocks noChangeArrowheads="1"/>
          </p:cNvSpPr>
          <p:nvPr/>
        </p:nvSpPr>
        <p:spPr bwMode="auto">
          <a:xfrm>
            <a:off x="4648200" y="38862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0.49</a:t>
            </a:r>
          </a:p>
          <a:p>
            <a:pPr algn="ctr"/>
            <a:r>
              <a:rPr lang="it-IT" sz="2000"/>
              <a:t>2.12</a:t>
            </a:r>
          </a:p>
          <a:p>
            <a:pPr algn="ctr"/>
            <a:r>
              <a:rPr lang="it-IT" sz="2000"/>
              <a:t>4</a:t>
            </a:r>
            <a:endParaRPr lang="en-US" sz="2000"/>
          </a:p>
        </p:txBody>
      </p:sp>
      <p:sp>
        <p:nvSpPr>
          <p:cNvPr id="745516" name="Rectangle 44"/>
          <p:cNvSpPr>
            <a:spLocks noChangeArrowheads="1"/>
          </p:cNvSpPr>
          <p:nvPr/>
        </p:nvSpPr>
        <p:spPr bwMode="auto">
          <a:xfrm>
            <a:off x="4648200" y="3048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0.64</a:t>
            </a:r>
          </a:p>
          <a:p>
            <a:pPr algn="ctr"/>
            <a:r>
              <a:rPr lang="it-IT" sz="2000"/>
              <a:t>2.28</a:t>
            </a:r>
          </a:p>
          <a:p>
            <a:pPr algn="ctr"/>
            <a:r>
              <a:rPr lang="it-IT" sz="2000"/>
              <a:t>4</a:t>
            </a:r>
            <a:endParaRPr lang="en-US" sz="2000"/>
          </a:p>
        </p:txBody>
      </p:sp>
      <p:sp>
        <p:nvSpPr>
          <p:cNvPr id="745517" name="Rectangle 45"/>
          <p:cNvSpPr>
            <a:spLocks noChangeArrowheads="1"/>
          </p:cNvSpPr>
          <p:nvPr/>
        </p:nvSpPr>
        <p:spPr bwMode="auto">
          <a:xfrm>
            <a:off x="4648200" y="22098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0.84</a:t>
            </a:r>
          </a:p>
          <a:p>
            <a:pPr algn="ctr"/>
            <a:r>
              <a:rPr lang="it-IT" sz="2000"/>
              <a:t>2.29</a:t>
            </a:r>
          </a:p>
          <a:p>
            <a:pPr algn="ctr"/>
            <a:r>
              <a:rPr lang="it-IT" sz="2000"/>
              <a:t>4</a:t>
            </a:r>
            <a:endParaRPr lang="en-US" sz="2000"/>
          </a:p>
        </p:txBody>
      </p:sp>
      <p:sp>
        <p:nvSpPr>
          <p:cNvPr id="745518" name="Rectangle 46"/>
          <p:cNvSpPr>
            <a:spLocks noChangeArrowheads="1"/>
          </p:cNvSpPr>
          <p:nvPr/>
        </p:nvSpPr>
        <p:spPr bwMode="auto">
          <a:xfrm>
            <a:off x="4648200" y="1371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1.00</a:t>
            </a:r>
          </a:p>
          <a:p>
            <a:pPr algn="ctr"/>
            <a:r>
              <a:rPr lang="it-IT" sz="2000"/>
              <a:t>2.32</a:t>
            </a:r>
          </a:p>
          <a:p>
            <a:pPr algn="ctr"/>
            <a:r>
              <a:rPr lang="it-IT" sz="2000"/>
              <a:t>4</a:t>
            </a:r>
            <a:endParaRPr lang="en-US" sz="2000"/>
          </a:p>
        </p:txBody>
      </p:sp>
      <p:sp>
        <p:nvSpPr>
          <p:cNvPr id="745519" name="Oval 47"/>
          <p:cNvSpPr>
            <a:spLocks noChangeArrowheads="1"/>
          </p:cNvSpPr>
          <p:nvPr/>
        </p:nvSpPr>
        <p:spPr bwMode="auto">
          <a:xfrm>
            <a:off x="7202016" y="2975992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/>
              <a:t>k</a:t>
            </a:r>
            <a:r>
              <a:rPr lang="it-IT" sz="2400" baseline="-25000"/>
              <a:t>4</a:t>
            </a:r>
            <a:endParaRPr lang="en-US" sz="2400" baseline="-25000"/>
          </a:p>
        </p:txBody>
      </p:sp>
      <p:grpSp>
        <p:nvGrpSpPr>
          <p:cNvPr id="745520" name="Group 48"/>
          <p:cNvGrpSpPr>
            <a:grpSpLocks/>
          </p:cNvGrpSpPr>
          <p:nvPr/>
        </p:nvGrpSpPr>
        <p:grpSpPr bwMode="auto">
          <a:xfrm>
            <a:off x="6516216" y="3356992"/>
            <a:ext cx="762000" cy="762000"/>
            <a:chOff x="4080" y="1104"/>
            <a:chExt cx="480" cy="480"/>
          </a:xfrm>
        </p:grpSpPr>
        <p:sp>
          <p:nvSpPr>
            <p:cNvPr id="745521" name="Oval 49"/>
            <p:cNvSpPr>
              <a:spLocks noChangeArrowheads="1"/>
            </p:cNvSpPr>
            <p:nvPr/>
          </p:nvSpPr>
          <p:spPr bwMode="auto">
            <a:xfrm>
              <a:off x="4080" y="1296"/>
              <a:ext cx="288" cy="2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/>
                <a:t>k</a:t>
              </a:r>
              <a:r>
                <a:rPr lang="it-IT" sz="2400" baseline="-25000"/>
                <a:t>2</a:t>
              </a:r>
              <a:endParaRPr lang="en-US" sz="2400" baseline="-25000"/>
            </a:p>
          </p:txBody>
        </p:sp>
        <p:sp>
          <p:nvSpPr>
            <p:cNvPr id="745522" name="Line 50"/>
            <p:cNvSpPr>
              <a:spLocks noChangeShapeType="1"/>
            </p:cNvSpPr>
            <p:nvPr/>
          </p:nvSpPr>
          <p:spPr bwMode="auto">
            <a:xfrm flipH="1">
              <a:off x="4320" y="1104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523" name="Group 51"/>
          <p:cNvGrpSpPr>
            <a:grpSpLocks/>
          </p:cNvGrpSpPr>
          <p:nvPr/>
        </p:nvGrpSpPr>
        <p:grpSpPr bwMode="auto">
          <a:xfrm>
            <a:off x="6059016" y="4118992"/>
            <a:ext cx="533400" cy="838200"/>
            <a:chOff x="3792" y="1584"/>
            <a:chExt cx="336" cy="528"/>
          </a:xfrm>
        </p:grpSpPr>
        <p:sp>
          <p:nvSpPr>
            <p:cNvPr id="745524" name="Oval 52"/>
            <p:cNvSpPr>
              <a:spLocks noChangeArrowheads="1"/>
            </p:cNvSpPr>
            <p:nvPr/>
          </p:nvSpPr>
          <p:spPr bwMode="auto">
            <a:xfrm>
              <a:off x="3792" y="1824"/>
              <a:ext cx="288" cy="2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/>
                <a:t>k</a:t>
              </a:r>
              <a:r>
                <a:rPr lang="it-IT" sz="2400" baseline="-25000"/>
                <a:t>1</a:t>
              </a:r>
              <a:endParaRPr lang="en-US" sz="2400" baseline="-25000"/>
            </a:p>
          </p:txBody>
        </p:sp>
        <p:sp>
          <p:nvSpPr>
            <p:cNvPr id="745525" name="Line 53"/>
            <p:cNvSpPr>
              <a:spLocks noChangeShapeType="1"/>
            </p:cNvSpPr>
            <p:nvPr/>
          </p:nvSpPr>
          <p:spPr bwMode="auto">
            <a:xfrm flipH="1">
              <a:off x="3984" y="1584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526" name="Group 54"/>
          <p:cNvGrpSpPr>
            <a:grpSpLocks/>
          </p:cNvGrpSpPr>
          <p:nvPr/>
        </p:nvGrpSpPr>
        <p:grpSpPr bwMode="auto">
          <a:xfrm>
            <a:off x="6897216" y="4118992"/>
            <a:ext cx="533400" cy="838200"/>
            <a:chOff x="4320" y="1584"/>
            <a:chExt cx="336" cy="528"/>
          </a:xfrm>
        </p:grpSpPr>
        <p:sp>
          <p:nvSpPr>
            <p:cNvPr id="745527" name="Oval 55"/>
            <p:cNvSpPr>
              <a:spLocks noChangeArrowheads="1"/>
            </p:cNvSpPr>
            <p:nvPr/>
          </p:nvSpPr>
          <p:spPr bwMode="auto">
            <a:xfrm>
              <a:off x="4368" y="1824"/>
              <a:ext cx="288" cy="2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/>
                <a:t>k</a:t>
              </a:r>
              <a:r>
                <a:rPr lang="it-IT" sz="2400" baseline="-25000"/>
                <a:t>3</a:t>
              </a:r>
              <a:endParaRPr lang="en-US" sz="2400" baseline="-25000"/>
            </a:p>
          </p:txBody>
        </p:sp>
        <p:sp>
          <p:nvSpPr>
            <p:cNvPr id="745528" name="Line 56"/>
            <p:cNvSpPr>
              <a:spLocks noChangeShapeType="1"/>
            </p:cNvSpPr>
            <p:nvPr/>
          </p:nvSpPr>
          <p:spPr bwMode="auto">
            <a:xfrm>
              <a:off x="4320" y="1584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5529" name="Group 57"/>
          <p:cNvGrpSpPr>
            <a:grpSpLocks/>
          </p:cNvGrpSpPr>
          <p:nvPr/>
        </p:nvGrpSpPr>
        <p:grpSpPr bwMode="auto">
          <a:xfrm>
            <a:off x="7583016" y="3356992"/>
            <a:ext cx="762000" cy="762000"/>
            <a:chOff x="4752" y="1104"/>
            <a:chExt cx="480" cy="480"/>
          </a:xfrm>
        </p:grpSpPr>
        <p:sp>
          <p:nvSpPr>
            <p:cNvPr id="745530" name="Oval 58"/>
            <p:cNvSpPr>
              <a:spLocks noChangeArrowheads="1"/>
            </p:cNvSpPr>
            <p:nvPr/>
          </p:nvSpPr>
          <p:spPr bwMode="auto">
            <a:xfrm>
              <a:off x="4944" y="1296"/>
              <a:ext cx="288" cy="2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/>
                <a:t>k</a:t>
              </a:r>
              <a:r>
                <a:rPr lang="it-IT" sz="2400" baseline="-25000"/>
                <a:t>5</a:t>
              </a:r>
              <a:endParaRPr lang="en-US" sz="2400" baseline="-25000"/>
            </a:p>
          </p:txBody>
        </p:sp>
        <p:sp>
          <p:nvSpPr>
            <p:cNvPr id="745531" name="Line 59"/>
            <p:cNvSpPr>
              <a:spLocks noChangeShapeType="1"/>
            </p:cNvSpPr>
            <p:nvPr/>
          </p:nvSpPr>
          <p:spPr bwMode="auto">
            <a:xfrm>
              <a:off x="4752" y="1104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45532" name="Rectangle 60"/>
          <p:cNvSpPr>
            <a:spLocks noChangeArrowheads="1"/>
          </p:cNvSpPr>
          <p:nvPr/>
        </p:nvSpPr>
        <p:spPr bwMode="auto">
          <a:xfrm>
            <a:off x="4648200" y="1371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1.00</a:t>
            </a:r>
          </a:p>
          <a:p>
            <a:pPr algn="ctr"/>
            <a:r>
              <a:rPr lang="it-IT" sz="2000"/>
              <a:t>2.32</a:t>
            </a:r>
          </a:p>
          <a:p>
            <a:pPr algn="ctr"/>
            <a:r>
              <a:rPr lang="it-IT" sz="2000">
                <a:solidFill>
                  <a:srgbClr val="FF0000"/>
                </a:solidFill>
              </a:rPr>
              <a:t>4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745533" name="Rectangle 61"/>
          <p:cNvSpPr>
            <a:spLocks noChangeArrowheads="1"/>
          </p:cNvSpPr>
          <p:nvPr/>
        </p:nvSpPr>
        <p:spPr bwMode="auto">
          <a:xfrm>
            <a:off x="2971800" y="1371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0.53</a:t>
            </a:r>
          </a:p>
          <a:p>
            <a:pPr algn="ctr"/>
            <a:r>
              <a:rPr lang="it-IT" sz="2000"/>
              <a:t>1.41</a:t>
            </a:r>
          </a:p>
          <a:p>
            <a:pPr algn="ctr"/>
            <a:r>
              <a:rPr lang="it-IT" sz="2000">
                <a:solidFill>
                  <a:srgbClr val="FF0000"/>
                </a:solidFill>
              </a:rPr>
              <a:t>2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745534" name="Rectangle 62"/>
          <p:cNvSpPr>
            <a:spLocks noChangeArrowheads="1"/>
          </p:cNvSpPr>
          <p:nvPr/>
        </p:nvSpPr>
        <p:spPr bwMode="auto">
          <a:xfrm>
            <a:off x="1295400" y="13716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0.29</a:t>
            </a:r>
          </a:p>
          <a:p>
            <a:pPr algn="ctr"/>
            <a:r>
              <a:rPr lang="it-IT" sz="2000"/>
              <a:t>1.48</a:t>
            </a:r>
          </a:p>
          <a:p>
            <a:pPr algn="ctr"/>
            <a:r>
              <a:rPr lang="it-IT" sz="2000">
                <a:solidFill>
                  <a:srgbClr val="FF0000"/>
                </a:solidFill>
              </a:rPr>
              <a:t>1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745535" name="Rectangle 63"/>
          <p:cNvSpPr>
            <a:spLocks noChangeArrowheads="1"/>
          </p:cNvSpPr>
          <p:nvPr/>
        </p:nvSpPr>
        <p:spPr bwMode="auto">
          <a:xfrm>
            <a:off x="2971800" y="30480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0.17</a:t>
            </a:r>
          </a:p>
          <a:p>
            <a:pPr algn="ctr"/>
            <a:r>
              <a:rPr lang="it-IT" sz="2000"/>
              <a:t>1.71</a:t>
            </a:r>
          </a:p>
          <a:p>
            <a:pPr algn="ctr"/>
            <a:r>
              <a:rPr lang="it-IT" sz="2000">
                <a:solidFill>
                  <a:srgbClr val="FF0000"/>
                </a:solidFill>
              </a:rPr>
              <a:t>3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745536" name="Rectangle 64"/>
          <p:cNvSpPr>
            <a:spLocks noChangeArrowheads="1"/>
          </p:cNvSpPr>
          <p:nvPr/>
        </p:nvSpPr>
        <p:spPr bwMode="auto">
          <a:xfrm>
            <a:off x="4648200" y="4724400"/>
            <a:ext cx="838200" cy="838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/>
              <a:t>0.27</a:t>
            </a:r>
          </a:p>
          <a:p>
            <a:pPr algn="ctr"/>
            <a:r>
              <a:rPr lang="it-IT" sz="2000"/>
              <a:t>1.96</a:t>
            </a:r>
          </a:p>
          <a:p>
            <a:pPr algn="ctr"/>
            <a:r>
              <a:rPr lang="it-IT" sz="2000">
                <a:solidFill>
                  <a:srgbClr val="FF0000"/>
                </a:solidFill>
              </a:rPr>
              <a:t>5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Albero di ricerca ottimo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5519" grpId="0" animBg="1" autoUpdateAnimBg="0"/>
      <p:bldP spid="745532" grpId="0" animBg="1" autoUpdateAnimBg="0"/>
      <p:bldP spid="745533" grpId="0" animBg="1" autoUpdateAnimBg="0"/>
      <p:bldP spid="745534" grpId="0" animBg="1" autoUpdateAnimBg="0"/>
      <p:bldP spid="745535" grpId="0" animBg="1" autoUpdateAnimBg="0"/>
      <p:bldP spid="745536" grpId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Text Box 2"/>
          <p:cNvSpPr txBox="1">
            <a:spLocks noChangeArrowheads="1"/>
          </p:cNvSpPr>
          <p:nvPr/>
        </p:nvSpPr>
        <p:spPr bwMode="auto">
          <a:xfrm>
            <a:off x="395536" y="1412776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Quarto passo</a:t>
            </a:r>
            <a:r>
              <a:rPr lang="it-IT" sz="2400" dirty="0">
                <a:sym typeface="Symbol" charset="0"/>
              </a:rPr>
              <a:t>: </a:t>
            </a:r>
            <a:r>
              <a:rPr lang="it-IT" sz="2400" i="1" dirty="0">
                <a:sym typeface="Symbol" charset="0"/>
              </a:rPr>
              <a:t>Costruzione dell’albero </a:t>
            </a:r>
            <a:r>
              <a:rPr lang="it-IT" sz="2400" i="1" dirty="0" smtClean="0">
                <a:sym typeface="Symbol" charset="0"/>
              </a:rPr>
              <a:t>ottimo</a:t>
            </a:r>
            <a:endParaRPr lang="it-IT" sz="2400" i="1" dirty="0">
              <a:sym typeface="Symbol" charset="0"/>
            </a:endParaRPr>
          </a:p>
        </p:txBody>
      </p:sp>
      <p:sp>
        <p:nvSpPr>
          <p:cNvPr id="746499" name="Text Box 3"/>
          <p:cNvSpPr txBox="1">
            <a:spLocks noChangeArrowheads="1"/>
          </p:cNvSpPr>
          <p:nvPr/>
        </p:nvSpPr>
        <p:spPr bwMode="auto">
          <a:xfrm>
            <a:off x="467544" y="2204864"/>
            <a:ext cx="7924800" cy="4087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it-IT" sz="2400" dirty="0">
                <a:solidFill>
                  <a:srgbClr val="800000"/>
                </a:solidFill>
                <a:sym typeface="Symbol" charset="0"/>
              </a:rPr>
              <a:t>StampaAlbero</a:t>
            </a:r>
            <a:r>
              <a:rPr lang="it-IT" sz="2400" dirty="0">
                <a:sym typeface="Symbol" charset="0"/>
              </a:rPr>
              <a:t>(R,s,t)</a:t>
            </a: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if </a:t>
            </a:r>
            <a:r>
              <a:rPr lang="it-IT" sz="2400" dirty="0">
                <a:sym typeface="Symbol" charset="0"/>
              </a:rPr>
              <a:t>s &gt; t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then</a:t>
            </a: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print </a:t>
            </a:r>
            <a:r>
              <a:rPr lang="it-IT" sz="2400" dirty="0" smtClean="0">
                <a:sym typeface="Symbol" charset="0"/>
              </a:rPr>
              <a:t>“</a:t>
            </a:r>
            <a:r>
              <a:rPr lang="it-IT" sz="2400" dirty="0">
                <a:sym typeface="Symbol" charset="0"/>
              </a:rPr>
              <a:t>”</a:t>
            </a: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    r := R</a:t>
            </a:r>
            <a:r>
              <a:rPr lang="it-IT" sz="2400" baseline="-25000" dirty="0" smtClean="0">
                <a:sym typeface="Symbol" charset="0"/>
              </a:rPr>
              <a:t>s</a:t>
            </a:r>
            <a:r>
              <a:rPr lang="it-IT" sz="2400" baseline="-25000" dirty="0">
                <a:sym typeface="Symbol" charset="0"/>
              </a:rPr>
              <a:t>,t</a:t>
            </a:r>
            <a:r>
              <a:rPr lang="it-IT" sz="2400" dirty="0">
                <a:sym typeface="Symbol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print </a:t>
            </a:r>
            <a:r>
              <a:rPr lang="it-IT" sz="2400" dirty="0" smtClean="0">
                <a:sym typeface="Symbol" charset="0"/>
              </a:rPr>
              <a:t>“</a:t>
            </a:r>
            <a:r>
              <a:rPr lang="it-IT" sz="2400" dirty="0">
                <a:sym typeface="Symbol" charset="0"/>
              </a:rPr>
              <a:t>(”</a:t>
            </a: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print </a:t>
            </a:r>
            <a:r>
              <a:rPr lang="it-IT" sz="2400" dirty="0" smtClean="0">
                <a:sym typeface="Symbol" charset="0"/>
              </a:rPr>
              <a:t>k</a:t>
            </a:r>
            <a:r>
              <a:rPr lang="it-IT" sz="2400" baseline="-25000" dirty="0" smtClean="0">
                <a:sym typeface="Symbol" charset="0"/>
              </a:rPr>
              <a:t>r</a:t>
            </a:r>
            <a:r>
              <a:rPr lang="it-IT" sz="2400" dirty="0" smtClean="0">
                <a:sym typeface="Symbol" charset="0"/>
              </a:rPr>
              <a:t> </a:t>
            </a:r>
            <a:endParaRPr lang="it-IT" sz="2400" dirty="0">
              <a:sym typeface="Symbol" charset="0"/>
            </a:endParaRP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print </a:t>
            </a:r>
            <a:r>
              <a:rPr lang="it-IT" sz="2400" dirty="0" smtClean="0">
                <a:sym typeface="Symbol" charset="0"/>
              </a:rPr>
              <a:t>“</a:t>
            </a:r>
            <a:r>
              <a:rPr lang="it-IT" sz="2400" dirty="0">
                <a:sym typeface="Symbol" charset="0"/>
              </a:rPr>
              <a:t>,”</a:t>
            </a: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800000"/>
                </a:solidFill>
                <a:sym typeface="Symbol" charset="0"/>
              </a:rPr>
              <a:t>StampaAlbero</a:t>
            </a:r>
            <a:r>
              <a:rPr lang="it-IT" sz="2400" dirty="0">
                <a:sym typeface="Symbol" charset="0"/>
              </a:rPr>
              <a:t>(R,s,r-1)</a:t>
            </a: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print </a:t>
            </a:r>
            <a:r>
              <a:rPr lang="it-IT" sz="2400" dirty="0" smtClean="0">
                <a:sym typeface="Symbol" charset="0"/>
              </a:rPr>
              <a:t>“</a:t>
            </a:r>
            <a:r>
              <a:rPr lang="it-IT" sz="2400" dirty="0">
                <a:sym typeface="Symbol" charset="0"/>
              </a:rPr>
              <a:t>,”</a:t>
            </a: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800000"/>
                </a:solidFill>
                <a:sym typeface="Symbol" charset="0"/>
              </a:rPr>
              <a:t>StampaAlbero</a:t>
            </a:r>
            <a:r>
              <a:rPr lang="it-IT" sz="2400" dirty="0">
                <a:sym typeface="Symbol" charset="0"/>
              </a:rPr>
              <a:t>(R,r+1,t)</a:t>
            </a:r>
          </a:p>
          <a:p>
            <a:pPr>
              <a:lnSpc>
                <a:spcPct val="90000"/>
              </a:lnSpc>
            </a:pPr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print </a:t>
            </a:r>
            <a:r>
              <a:rPr lang="it-IT" sz="2400" dirty="0" smtClean="0">
                <a:sym typeface="Symbol" charset="0"/>
              </a:rPr>
              <a:t>“</a:t>
            </a:r>
            <a:r>
              <a:rPr lang="it-IT" sz="2400" dirty="0">
                <a:sym typeface="Symbol" charset="0"/>
              </a:rPr>
              <a:t>)”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Albero di ricerca ottimo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24" name="Text Box 4"/>
          <p:cNvSpPr txBox="1">
            <a:spLocks noChangeArrowheads="1"/>
          </p:cNvSpPr>
          <p:nvPr/>
        </p:nvSpPr>
        <p:spPr bwMode="auto">
          <a:xfrm>
            <a:off x="539552" y="1484784"/>
            <a:ext cx="7848600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dirty="0">
                <a:solidFill>
                  <a:srgbClr val="201FF0"/>
                </a:solidFill>
                <a:sym typeface="Symbol" charset="0"/>
              </a:rPr>
              <a:t>Una triangolazione di un poligono convesso è una suddivisione del poligono in triangoli ottenuta tracciando delle diagonali che non si intersecano.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71736" y="3060576"/>
            <a:ext cx="6400800" cy="1676400"/>
            <a:chOff x="1071736" y="3060576"/>
            <a:chExt cx="6400800" cy="1676400"/>
          </a:xfrm>
        </p:grpSpPr>
        <p:grpSp>
          <p:nvGrpSpPr>
            <p:cNvPr id="747525" name="Group 5"/>
            <p:cNvGrpSpPr>
              <a:grpSpLocks/>
            </p:cNvGrpSpPr>
            <p:nvPr/>
          </p:nvGrpSpPr>
          <p:grpSpPr bwMode="auto">
            <a:xfrm>
              <a:off x="1071736" y="3060576"/>
              <a:ext cx="1676400" cy="1524000"/>
              <a:chOff x="672" y="2688"/>
              <a:chExt cx="1056" cy="960"/>
            </a:xfrm>
          </p:grpSpPr>
          <p:sp>
            <p:nvSpPr>
              <p:cNvPr id="747526" name="Line 6"/>
              <p:cNvSpPr>
                <a:spLocks noChangeShapeType="1"/>
              </p:cNvSpPr>
              <p:nvPr/>
            </p:nvSpPr>
            <p:spPr bwMode="auto">
              <a:xfrm flipH="1">
                <a:off x="672" y="2688"/>
                <a:ext cx="384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27" name="Line 7"/>
              <p:cNvSpPr>
                <a:spLocks noChangeShapeType="1"/>
              </p:cNvSpPr>
              <p:nvPr/>
            </p:nvSpPr>
            <p:spPr bwMode="auto">
              <a:xfrm>
                <a:off x="672" y="3072"/>
                <a:ext cx="96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28" name="Line 8"/>
              <p:cNvSpPr>
                <a:spLocks noChangeShapeType="1"/>
              </p:cNvSpPr>
              <p:nvPr/>
            </p:nvSpPr>
            <p:spPr bwMode="auto">
              <a:xfrm>
                <a:off x="1440" y="2832"/>
                <a:ext cx="288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29" name="Line 9"/>
              <p:cNvSpPr>
                <a:spLocks noChangeShapeType="1"/>
              </p:cNvSpPr>
              <p:nvPr/>
            </p:nvSpPr>
            <p:spPr bwMode="auto">
              <a:xfrm flipH="1">
                <a:off x="1104" y="3120"/>
                <a:ext cx="624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30" name="Line 10"/>
              <p:cNvSpPr>
                <a:spLocks noChangeShapeType="1"/>
              </p:cNvSpPr>
              <p:nvPr/>
            </p:nvSpPr>
            <p:spPr bwMode="auto">
              <a:xfrm flipH="1" flipV="1">
                <a:off x="1056" y="2688"/>
                <a:ext cx="384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31" name="Line 11"/>
              <p:cNvSpPr>
                <a:spLocks noChangeShapeType="1"/>
              </p:cNvSpPr>
              <p:nvPr/>
            </p:nvSpPr>
            <p:spPr bwMode="auto">
              <a:xfrm flipH="1" flipV="1">
                <a:off x="768" y="3504"/>
                <a:ext cx="336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47532" name="Line 12"/>
            <p:cNvSpPr>
              <a:spLocks noChangeShapeType="1"/>
            </p:cNvSpPr>
            <p:nvPr/>
          </p:nvSpPr>
          <p:spPr bwMode="auto">
            <a:xfrm flipH="1" flipV="1">
              <a:off x="1071736" y="3670176"/>
              <a:ext cx="1676400" cy="76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47533" name="Group 13"/>
            <p:cNvGrpSpPr>
              <a:grpSpLocks/>
            </p:cNvGrpSpPr>
            <p:nvPr/>
          </p:nvGrpSpPr>
          <p:grpSpPr bwMode="auto">
            <a:xfrm>
              <a:off x="3205336" y="3136776"/>
              <a:ext cx="1676400" cy="1524000"/>
              <a:chOff x="672" y="2688"/>
              <a:chExt cx="1056" cy="960"/>
            </a:xfrm>
          </p:grpSpPr>
          <p:sp>
            <p:nvSpPr>
              <p:cNvPr id="747534" name="Line 14"/>
              <p:cNvSpPr>
                <a:spLocks noChangeShapeType="1"/>
              </p:cNvSpPr>
              <p:nvPr/>
            </p:nvSpPr>
            <p:spPr bwMode="auto">
              <a:xfrm flipH="1">
                <a:off x="672" y="2688"/>
                <a:ext cx="384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35" name="Line 15"/>
              <p:cNvSpPr>
                <a:spLocks noChangeShapeType="1"/>
              </p:cNvSpPr>
              <p:nvPr/>
            </p:nvSpPr>
            <p:spPr bwMode="auto">
              <a:xfrm>
                <a:off x="672" y="3072"/>
                <a:ext cx="96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36" name="Line 16"/>
              <p:cNvSpPr>
                <a:spLocks noChangeShapeType="1"/>
              </p:cNvSpPr>
              <p:nvPr/>
            </p:nvSpPr>
            <p:spPr bwMode="auto">
              <a:xfrm>
                <a:off x="1440" y="2832"/>
                <a:ext cx="288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37" name="Line 17"/>
              <p:cNvSpPr>
                <a:spLocks noChangeShapeType="1"/>
              </p:cNvSpPr>
              <p:nvPr/>
            </p:nvSpPr>
            <p:spPr bwMode="auto">
              <a:xfrm flipH="1">
                <a:off x="1104" y="3120"/>
                <a:ext cx="624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38" name="Line 18"/>
              <p:cNvSpPr>
                <a:spLocks noChangeShapeType="1"/>
              </p:cNvSpPr>
              <p:nvPr/>
            </p:nvSpPr>
            <p:spPr bwMode="auto">
              <a:xfrm flipH="1" flipV="1">
                <a:off x="1056" y="2688"/>
                <a:ext cx="384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39" name="Line 19"/>
              <p:cNvSpPr>
                <a:spLocks noChangeShapeType="1"/>
              </p:cNvSpPr>
              <p:nvPr/>
            </p:nvSpPr>
            <p:spPr bwMode="auto">
              <a:xfrm flipH="1" flipV="1">
                <a:off x="768" y="3504"/>
                <a:ext cx="336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47540" name="Group 20"/>
            <p:cNvGrpSpPr>
              <a:grpSpLocks/>
            </p:cNvGrpSpPr>
            <p:nvPr/>
          </p:nvGrpSpPr>
          <p:grpSpPr bwMode="auto">
            <a:xfrm>
              <a:off x="5796136" y="3212976"/>
              <a:ext cx="1676400" cy="1524000"/>
              <a:chOff x="672" y="2688"/>
              <a:chExt cx="1056" cy="960"/>
            </a:xfrm>
          </p:grpSpPr>
          <p:sp>
            <p:nvSpPr>
              <p:cNvPr id="747541" name="Line 21"/>
              <p:cNvSpPr>
                <a:spLocks noChangeShapeType="1"/>
              </p:cNvSpPr>
              <p:nvPr/>
            </p:nvSpPr>
            <p:spPr bwMode="auto">
              <a:xfrm flipH="1">
                <a:off x="672" y="2688"/>
                <a:ext cx="384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42" name="Line 22"/>
              <p:cNvSpPr>
                <a:spLocks noChangeShapeType="1"/>
              </p:cNvSpPr>
              <p:nvPr/>
            </p:nvSpPr>
            <p:spPr bwMode="auto">
              <a:xfrm>
                <a:off x="672" y="3072"/>
                <a:ext cx="96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43" name="Line 23"/>
              <p:cNvSpPr>
                <a:spLocks noChangeShapeType="1"/>
              </p:cNvSpPr>
              <p:nvPr/>
            </p:nvSpPr>
            <p:spPr bwMode="auto">
              <a:xfrm>
                <a:off x="1440" y="2832"/>
                <a:ext cx="288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44" name="Line 24"/>
              <p:cNvSpPr>
                <a:spLocks noChangeShapeType="1"/>
              </p:cNvSpPr>
              <p:nvPr/>
            </p:nvSpPr>
            <p:spPr bwMode="auto">
              <a:xfrm flipH="1">
                <a:off x="1104" y="3120"/>
                <a:ext cx="624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45" name="Line 25"/>
              <p:cNvSpPr>
                <a:spLocks noChangeShapeType="1"/>
              </p:cNvSpPr>
              <p:nvPr/>
            </p:nvSpPr>
            <p:spPr bwMode="auto">
              <a:xfrm flipH="1" flipV="1">
                <a:off x="1056" y="2688"/>
                <a:ext cx="384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46" name="Line 26"/>
              <p:cNvSpPr>
                <a:spLocks noChangeShapeType="1"/>
              </p:cNvSpPr>
              <p:nvPr/>
            </p:nvSpPr>
            <p:spPr bwMode="auto">
              <a:xfrm flipH="1" flipV="1">
                <a:off x="768" y="3504"/>
                <a:ext cx="336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47547" name="Line 27"/>
            <p:cNvSpPr>
              <a:spLocks noChangeShapeType="1"/>
            </p:cNvSpPr>
            <p:nvPr/>
          </p:nvSpPr>
          <p:spPr bwMode="auto">
            <a:xfrm flipH="1">
              <a:off x="1071736" y="3289176"/>
              <a:ext cx="12192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7548" name="Line 28"/>
            <p:cNvSpPr>
              <a:spLocks noChangeShapeType="1"/>
            </p:cNvSpPr>
            <p:nvPr/>
          </p:nvSpPr>
          <p:spPr bwMode="auto">
            <a:xfrm flipH="1">
              <a:off x="1224136" y="3746376"/>
              <a:ext cx="15240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7549" name="Line 29"/>
            <p:cNvSpPr>
              <a:spLocks noChangeShapeType="1"/>
            </p:cNvSpPr>
            <p:nvPr/>
          </p:nvSpPr>
          <p:spPr bwMode="auto">
            <a:xfrm flipH="1">
              <a:off x="3357736" y="3365376"/>
              <a:ext cx="1066800" cy="1066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7550" name="Line 30"/>
            <p:cNvSpPr>
              <a:spLocks noChangeShapeType="1"/>
            </p:cNvSpPr>
            <p:nvPr/>
          </p:nvSpPr>
          <p:spPr bwMode="auto">
            <a:xfrm flipH="1">
              <a:off x="3357736" y="3822576"/>
              <a:ext cx="15240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7551" name="Line 31"/>
            <p:cNvSpPr>
              <a:spLocks noChangeShapeType="1"/>
            </p:cNvSpPr>
            <p:nvPr/>
          </p:nvSpPr>
          <p:spPr bwMode="auto">
            <a:xfrm>
              <a:off x="6405736" y="3212976"/>
              <a:ext cx="76200" cy="1524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7552" name="Line 32"/>
            <p:cNvSpPr>
              <a:spLocks noChangeShapeType="1"/>
            </p:cNvSpPr>
            <p:nvPr/>
          </p:nvSpPr>
          <p:spPr bwMode="auto">
            <a:xfrm flipH="1">
              <a:off x="6481936" y="3441576"/>
              <a:ext cx="533400" cy="1295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7553" name="Line 33"/>
            <p:cNvSpPr>
              <a:spLocks noChangeShapeType="1"/>
            </p:cNvSpPr>
            <p:nvPr/>
          </p:nvSpPr>
          <p:spPr bwMode="auto">
            <a:xfrm>
              <a:off x="5796136" y="3822576"/>
              <a:ext cx="685800" cy="914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7554" name="Line 34"/>
            <p:cNvSpPr>
              <a:spLocks noChangeShapeType="1"/>
            </p:cNvSpPr>
            <p:nvPr/>
          </p:nvSpPr>
          <p:spPr bwMode="auto">
            <a:xfrm flipH="1">
              <a:off x="3205336" y="3365376"/>
              <a:ext cx="12192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47555" name="Text Box 35"/>
          <p:cNvSpPr txBox="1">
            <a:spLocks noChangeArrowheads="1"/>
          </p:cNvSpPr>
          <p:nvPr/>
        </p:nvSpPr>
        <p:spPr bwMode="auto">
          <a:xfrm>
            <a:off x="609600" y="5105400"/>
            <a:ext cx="784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dirty="0">
                <a:solidFill>
                  <a:srgbClr val="201FF0"/>
                </a:solidFill>
                <a:sym typeface="Symbol" charset="0"/>
              </a:rPr>
              <a:t>Vi sono più triangolazioni possibili dello stesso poligono.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Triangolazione </a:t>
            </a:r>
            <a:r>
              <a:rPr lang="it-IT" dirty="0" smtClean="0">
                <a:solidFill>
                  <a:srgbClr val="FF0000"/>
                </a:solidFill>
              </a:rPr>
              <a:t>ottima</a:t>
            </a:r>
            <a:endParaRPr lang="it-IT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Text Box 2"/>
          <p:cNvSpPr txBox="1">
            <a:spLocks noChangeArrowheads="1"/>
          </p:cNvSpPr>
          <p:nvPr/>
        </p:nvSpPr>
        <p:spPr bwMode="auto">
          <a:xfrm>
            <a:off x="395536" y="1484784"/>
            <a:ext cx="82296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dirty="0">
                <a:solidFill>
                  <a:srgbClr val="201FF0"/>
                </a:solidFill>
                <a:sym typeface="Symbol" charset="0"/>
              </a:rPr>
              <a:t>Nel problema della triangolazione ottima sono dati i vertici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2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,…,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di un poligono convesso presi in ordine antiorario. </a:t>
            </a:r>
          </a:p>
          <a:p>
            <a:r>
              <a:rPr lang="it-IT" sz="2400" dirty="0">
                <a:solidFill>
                  <a:srgbClr val="201FF0"/>
                </a:solidFill>
                <a:sym typeface="Symbol" charset="0"/>
              </a:rPr>
              <a:t>Ad ogni triangolo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è attribuito un peso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w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(T)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. Ad esempio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w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(T)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potrebbe essere la lunghezza del perimetro, la somma delle altezze, il prodotto delle lunghezze dei lati, l’area, ecc. </a:t>
            </a:r>
          </a:p>
          <a:p>
            <a:endParaRPr lang="it-IT" sz="2400" dirty="0">
              <a:solidFill>
                <a:srgbClr val="201FF0"/>
              </a:solidFill>
              <a:sym typeface="Symbol" charset="0"/>
            </a:endParaRPr>
          </a:p>
          <a:p>
            <a:r>
              <a:rPr lang="it-IT" sz="2400" dirty="0">
                <a:solidFill>
                  <a:srgbClr val="201FF0"/>
                </a:solidFill>
                <a:sym typeface="Symbol" charset="0"/>
              </a:rPr>
              <a:t>Si vuole trovare una triangolazione tale che la somma dei pesi sia minima.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Triangolazione </a:t>
            </a:r>
            <a:r>
              <a:rPr lang="it-IT" dirty="0" smtClean="0">
                <a:solidFill>
                  <a:srgbClr val="FF0000"/>
                </a:solidFill>
              </a:rPr>
              <a:t>ottima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Text Box 2"/>
          <p:cNvSpPr txBox="1">
            <a:spLocks noChangeArrowheads="1"/>
          </p:cNvSpPr>
          <p:nvPr/>
        </p:nvSpPr>
        <p:spPr bwMode="auto">
          <a:xfrm>
            <a:off x="467544" y="1700808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Primo passo</a:t>
            </a:r>
            <a:r>
              <a:rPr lang="it-IT" sz="2400" dirty="0">
                <a:sym typeface="Symbol" charset="0"/>
              </a:rPr>
              <a:t>: </a:t>
            </a:r>
            <a:r>
              <a:rPr lang="it-IT" sz="2400" i="1" u="sng" dirty="0">
                <a:sym typeface="Symbol" charset="0"/>
              </a:rPr>
              <a:t>struttura di una triangolazione ottima</a:t>
            </a:r>
            <a:r>
              <a:rPr lang="it-IT" sz="2400" i="1" dirty="0">
                <a:sym typeface="Symbol" charset="0"/>
              </a:rPr>
              <a:t>.</a:t>
            </a:r>
          </a:p>
        </p:txBody>
      </p:sp>
      <p:sp>
        <p:nvSpPr>
          <p:cNvPr id="752643" name="Text Box 3"/>
          <p:cNvSpPr txBox="1">
            <a:spLocks noChangeArrowheads="1"/>
          </p:cNvSpPr>
          <p:nvPr/>
        </p:nvSpPr>
        <p:spPr bwMode="auto">
          <a:xfrm>
            <a:off x="611560" y="2636912"/>
            <a:ext cx="80772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Supponiamo che una triangolazione ottima suddivida il poligono convesso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P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di vertici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2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...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nel triangolo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di vertici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e nei due poligoni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P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P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2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di vertici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…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…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 smtClean="0">
                <a:solidFill>
                  <a:srgbClr val="201FF0"/>
                </a:solidFill>
                <a:sym typeface="Symbol" charset="0"/>
              </a:rPr>
              <a:t>rispettivamente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Le triangolazioni subordinate di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P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e di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P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2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sono triangolazioni ottime. </a:t>
            </a:r>
            <a:endParaRPr lang="it-IT" sz="2400" dirty="0" smtClean="0">
              <a:solidFill>
                <a:srgbClr val="201FF0"/>
              </a:solidFill>
              <a:sym typeface="Symbol" charset="0"/>
            </a:endParaRPr>
          </a:p>
          <a:p>
            <a:pPr algn="ctr">
              <a:spcBef>
                <a:spcPct val="50000"/>
              </a:spcBef>
            </a:pP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Perché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Triangolazione ottima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6" name="Text Box 2"/>
          <p:cNvSpPr txBox="1">
            <a:spLocks noChangeArrowheads="1"/>
          </p:cNvSpPr>
          <p:nvPr/>
        </p:nvSpPr>
        <p:spPr bwMode="auto">
          <a:xfrm>
            <a:off x="467544" y="1196752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Secondo passo</a:t>
            </a:r>
            <a:r>
              <a:rPr lang="it-IT" sz="2400" dirty="0">
                <a:sym typeface="Symbol" charset="0"/>
              </a:rPr>
              <a:t>: </a:t>
            </a:r>
            <a:r>
              <a:rPr lang="it-IT" sz="2400" i="1" u="sng" dirty="0">
                <a:sym typeface="Symbol" charset="0"/>
              </a:rPr>
              <a:t>soluzione ricorsiva</a:t>
            </a:r>
          </a:p>
        </p:txBody>
      </p:sp>
      <p:sp>
        <p:nvSpPr>
          <p:cNvPr id="753667" name="Text Box 3"/>
          <p:cNvSpPr txBox="1">
            <a:spLocks noChangeArrowheads="1"/>
          </p:cNvSpPr>
          <p:nvPr/>
        </p:nvSpPr>
        <p:spPr bwMode="auto">
          <a:xfrm>
            <a:off x="539552" y="1772816"/>
            <a:ext cx="8229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Prendiamo come sottoproblemi le triangolazioni dei poligoni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P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..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j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di vertici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…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j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 sia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w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,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j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la somma dei pesi dei triangoli che costituiscono una triangolazione ottima di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P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..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j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Se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j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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 i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+1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allora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P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..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j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è degenere 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w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,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j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= 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0</a:t>
            </a:r>
            <a:endParaRPr lang="it-IT" sz="2400" dirty="0">
              <a:solidFill>
                <a:srgbClr val="201FF0"/>
              </a:solidFill>
              <a:sym typeface="Symbol" charset="0"/>
            </a:endParaRP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201FF0"/>
                </a:solidFill>
                <a:sym typeface="Symbol" charset="0"/>
              </a:rPr>
              <a:t>Se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j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&gt;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i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+1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allora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P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..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j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si può scomporre in un triangolo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T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di vertici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i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j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e nei due poligoni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P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e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P</a:t>
            </a:r>
            <a:r>
              <a:rPr lang="it-IT" sz="2400" baseline="-25000" dirty="0">
                <a:solidFill>
                  <a:srgbClr val="FF0000"/>
                </a:solidFill>
                <a:sym typeface="Symbol" charset="0"/>
              </a:rPr>
              <a:t>2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di vertici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j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…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e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k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…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q</a:t>
            </a:r>
            <a:r>
              <a:rPr lang="it-IT" sz="2400" i="1" baseline="-25000" dirty="0">
                <a:solidFill>
                  <a:srgbClr val="FF0000"/>
                </a:solidFill>
                <a:sym typeface="Symbol" charset="0"/>
              </a:rPr>
              <a:t>j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con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i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&lt;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 k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&lt;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 j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. </a:t>
            </a:r>
          </a:p>
        </p:txBody>
      </p:sp>
      <p:graphicFrame>
        <p:nvGraphicFramePr>
          <p:cNvPr id="7536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700532"/>
              </p:ext>
            </p:extLst>
          </p:nvPr>
        </p:nvGraphicFramePr>
        <p:xfrm>
          <a:off x="1187624" y="5229200"/>
          <a:ext cx="633095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3" name="Equation" r:id="rId4" imgW="2921396" imgH="482997" progId="Equation.3">
                  <p:embed/>
                </p:oleObj>
              </mc:Choice>
              <mc:Fallback>
                <p:oleObj name="Equation" r:id="rId4" imgW="2921396" imgH="4829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229200"/>
                        <a:ext cx="633095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Triangolazione ottima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0" name="Text Box 2"/>
          <p:cNvSpPr txBox="1">
            <a:spLocks noChangeArrowheads="1"/>
          </p:cNvSpPr>
          <p:nvPr/>
        </p:nvSpPr>
        <p:spPr bwMode="auto">
          <a:xfrm>
            <a:off x="395536" y="1556792"/>
            <a:ext cx="81534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dirty="0">
                <a:solidFill>
                  <a:srgbClr val="800000"/>
                </a:solidFill>
                <a:sym typeface="Symbol" charset="0"/>
              </a:rPr>
              <a:t>PesoMinimo</a:t>
            </a:r>
            <a:r>
              <a:rPr lang="it-IT" sz="2400" dirty="0">
                <a:sym typeface="Symbol" charset="0"/>
              </a:rPr>
              <a:t>(p,n)</a:t>
            </a:r>
          </a:p>
          <a:p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>
                <a:sym typeface="Symbol" charset="0"/>
              </a:rPr>
              <a:t>i := 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400" dirty="0">
                <a:sym typeface="Symbol" charset="0"/>
              </a:rPr>
              <a:t>n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 </a:t>
            </a:r>
            <a:r>
              <a:rPr lang="it-IT" sz="2400" dirty="0">
                <a:sym typeface="Symbol" charset="0"/>
              </a:rPr>
              <a:t>W[i,i] := 0</a:t>
            </a:r>
            <a:endParaRPr lang="it-IT" sz="2400" baseline="-25000" dirty="0">
              <a:sym typeface="Symbol" charset="0"/>
            </a:endParaRPr>
          </a:p>
          <a:p>
            <a:r>
              <a:rPr lang="it-IT" sz="2400" dirty="0">
                <a:solidFill>
                  <a:schemeClr val="accent2"/>
                </a:solidFill>
                <a:sym typeface="Symbol" charset="0"/>
              </a:rPr>
              <a:t>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 smtClean="0">
                <a:sym typeface="Symbol" charset="0"/>
              </a:rPr>
              <a:t>i </a:t>
            </a:r>
            <a:r>
              <a:rPr lang="it-IT" sz="2400" dirty="0">
                <a:sym typeface="Symbol" charset="0"/>
              </a:rPr>
              <a:t>:= 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400" dirty="0" smtClean="0">
                <a:sym typeface="Symbol" charset="0"/>
              </a:rPr>
              <a:t>n</a:t>
            </a:r>
            <a:r>
              <a:rPr lang="it-IT" sz="2400" dirty="0">
                <a:sym typeface="Symbol" charset="0"/>
              </a:rPr>
              <a:t>-1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 </a:t>
            </a:r>
            <a:r>
              <a:rPr lang="it-IT" sz="2400" dirty="0" smtClean="0">
                <a:sym typeface="Symbol" charset="0"/>
              </a:rPr>
              <a:t>W</a:t>
            </a:r>
            <a:r>
              <a:rPr lang="it-IT" sz="2400" dirty="0">
                <a:sym typeface="Symbol" charset="0"/>
              </a:rPr>
              <a:t>[i,i+1] := 0</a:t>
            </a:r>
            <a:endParaRPr lang="it-IT" sz="2400" baseline="-25000" dirty="0"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 smtClean="0">
                <a:sym typeface="Symbol" charset="0"/>
              </a:rPr>
              <a:t>j </a:t>
            </a:r>
            <a:r>
              <a:rPr lang="it-IT" sz="2400" dirty="0">
                <a:sym typeface="Symbol" charset="0"/>
              </a:rPr>
              <a:t>:= 3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400" dirty="0" smtClean="0">
                <a:sym typeface="Symbol" charset="0"/>
              </a:rPr>
              <a:t>n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 </a:t>
            </a:r>
            <a:endParaRPr lang="it-IT" sz="2400" dirty="0">
              <a:solidFill>
                <a:schemeClr val="accent2"/>
              </a:solidFill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 smtClean="0">
                <a:sym typeface="Symbol" charset="0"/>
              </a:rPr>
              <a:t>i </a:t>
            </a:r>
            <a:r>
              <a:rPr lang="it-IT" sz="2400" dirty="0">
                <a:sym typeface="Symbol" charset="0"/>
              </a:rPr>
              <a:t>:= j-2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downto </a:t>
            </a:r>
            <a:r>
              <a:rPr lang="it-IT" sz="2400" dirty="0">
                <a:sym typeface="Symbol" charset="0"/>
              </a:rPr>
              <a:t>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 </a:t>
            </a:r>
            <a:endParaRPr lang="it-IT" sz="2400" dirty="0">
              <a:solidFill>
                <a:schemeClr val="accent2"/>
              </a:solidFill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        W[i,j] := </a:t>
            </a:r>
          </a:p>
          <a:p>
            <a:r>
              <a:rPr lang="it-IT" sz="2400" dirty="0">
                <a:sym typeface="Symbol" charset="0"/>
              </a:rPr>
              <a:t>    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for </a:t>
            </a:r>
            <a:r>
              <a:rPr lang="it-IT" sz="2400" dirty="0" smtClean="0">
                <a:sym typeface="Symbol" charset="0"/>
              </a:rPr>
              <a:t>k </a:t>
            </a:r>
            <a:r>
              <a:rPr lang="it-IT" sz="2400" dirty="0">
                <a:sym typeface="Symbol" charset="0"/>
              </a:rPr>
              <a:t>:= i+1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to </a:t>
            </a:r>
            <a:r>
              <a:rPr lang="it-IT" sz="2400" dirty="0" smtClean="0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-1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do </a:t>
            </a:r>
            <a:endParaRPr lang="it-IT" sz="2400" dirty="0">
              <a:solidFill>
                <a:schemeClr val="accent2"/>
              </a:solidFill>
              <a:sym typeface="Symbol" charset="0"/>
            </a:endParaRPr>
          </a:p>
          <a:p>
            <a:r>
              <a:rPr lang="it-IT" sz="2400" dirty="0">
                <a:sym typeface="Symbol" charset="0"/>
              </a:rPr>
              <a:t>                q := W[i,k]+W[k,j]+w(q</a:t>
            </a:r>
            <a:r>
              <a:rPr lang="it-IT" sz="2400" baseline="-25000" dirty="0">
                <a:sym typeface="Symbol" charset="0"/>
              </a:rPr>
              <a:t>i</a:t>
            </a:r>
            <a:r>
              <a:rPr lang="it-IT" sz="2400" dirty="0">
                <a:sym typeface="Symbol" charset="0"/>
              </a:rPr>
              <a:t>q</a:t>
            </a:r>
            <a:r>
              <a:rPr lang="it-IT" sz="2400" baseline="-25000" dirty="0">
                <a:sym typeface="Symbol" charset="0"/>
              </a:rPr>
              <a:t>k</a:t>
            </a:r>
            <a:r>
              <a:rPr lang="it-IT" sz="2400" dirty="0">
                <a:sym typeface="Symbol" charset="0"/>
              </a:rPr>
              <a:t>q</a:t>
            </a:r>
            <a:r>
              <a:rPr lang="it-IT" sz="2400" baseline="-25000" dirty="0">
                <a:sym typeface="Symbol" charset="0"/>
              </a:rPr>
              <a:t>j </a:t>
            </a:r>
            <a:r>
              <a:rPr lang="it-IT" sz="2400" dirty="0">
                <a:sym typeface="Symbol" charset="0"/>
              </a:rPr>
              <a:t>)</a:t>
            </a:r>
          </a:p>
          <a:p>
            <a:r>
              <a:rPr lang="it-IT" sz="2400" dirty="0">
                <a:sym typeface="Symbol" charset="0"/>
              </a:rPr>
              <a:t>            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if </a:t>
            </a:r>
            <a:r>
              <a:rPr lang="it-IT" sz="2400" dirty="0">
                <a:sym typeface="Symbol" charset="0"/>
              </a:rPr>
              <a:t>q &lt; W[i,j]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then</a:t>
            </a:r>
          </a:p>
          <a:p>
            <a:r>
              <a:rPr lang="it-IT" sz="2400" dirty="0">
                <a:sym typeface="Symbol" charset="0"/>
              </a:rPr>
              <a:t>                    W[i,j] := q</a:t>
            </a:r>
          </a:p>
          <a:p>
            <a:r>
              <a:rPr lang="it-IT" sz="2400" dirty="0">
                <a:sym typeface="Symbol" charset="0"/>
              </a:rPr>
              <a:t>                    K[i,j] := k</a:t>
            </a:r>
          </a:p>
          <a:p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return </a:t>
            </a:r>
            <a:r>
              <a:rPr lang="it-IT" sz="2400" dirty="0">
                <a:sym typeface="Symbol" charset="0"/>
              </a:rPr>
              <a:t>W,K</a:t>
            </a:r>
          </a:p>
        </p:txBody>
      </p:sp>
      <p:sp>
        <p:nvSpPr>
          <p:cNvPr id="754691" name="Text Box 3"/>
          <p:cNvSpPr txBox="1">
            <a:spLocks noChangeArrowheads="1"/>
          </p:cNvSpPr>
          <p:nvPr/>
        </p:nvSpPr>
        <p:spPr bwMode="auto">
          <a:xfrm>
            <a:off x="323528" y="1124744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Terzo passo</a:t>
            </a:r>
            <a:r>
              <a:rPr lang="it-IT" sz="2400" dirty="0">
                <a:sym typeface="Symbol" charset="0"/>
              </a:rPr>
              <a:t>: </a:t>
            </a:r>
            <a:r>
              <a:rPr lang="it-IT" sz="2400" i="1" u="sng" dirty="0">
                <a:sym typeface="Symbol" charset="0"/>
              </a:rPr>
              <a:t>calcolo del peso minimo</a:t>
            </a:r>
          </a:p>
        </p:txBody>
      </p:sp>
      <p:sp>
        <p:nvSpPr>
          <p:cNvPr id="754692" name="Text Box 4"/>
          <p:cNvSpPr txBox="1">
            <a:spLocks noChangeArrowheads="1"/>
          </p:cNvSpPr>
          <p:nvPr/>
        </p:nvSpPr>
        <p:spPr bwMode="auto">
          <a:xfrm>
            <a:off x="5029200" y="5562600"/>
            <a:ext cx="3429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FF0000"/>
                </a:solidFill>
                <a:sym typeface="Symbol" charset="0"/>
              </a:rPr>
              <a:t>Complessità: 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O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baseline="30000" dirty="0">
                <a:solidFill>
                  <a:srgbClr val="FF0000"/>
                </a:solidFill>
                <a:sym typeface="Symbol" charset="0"/>
              </a:rPr>
              <a:t>3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)</a:t>
            </a:r>
            <a:endParaRPr lang="it-IT" sz="2400" i="1" u="sng" dirty="0">
              <a:solidFill>
                <a:srgbClr val="FF0000"/>
              </a:solidFill>
              <a:sym typeface="Symbo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Triangolazione ottima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4" name="Text Box 2"/>
          <p:cNvSpPr txBox="1">
            <a:spLocks noChangeArrowheads="1"/>
          </p:cNvSpPr>
          <p:nvPr/>
        </p:nvSpPr>
        <p:spPr bwMode="auto">
          <a:xfrm>
            <a:off x="395536" y="1772816"/>
            <a:ext cx="8153400" cy="4154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dirty="0">
                <a:solidFill>
                  <a:srgbClr val="800000"/>
                </a:solidFill>
                <a:sym typeface="Symbol" charset="0"/>
              </a:rPr>
              <a:t>Triangolazione</a:t>
            </a:r>
            <a:r>
              <a:rPr lang="it-IT" sz="2400" dirty="0">
                <a:sym typeface="Symbol" charset="0"/>
              </a:rPr>
              <a:t>(K, i, </a:t>
            </a:r>
            <a:r>
              <a:rPr lang="it-IT" sz="2400" dirty="0" err="1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)</a:t>
            </a:r>
          </a:p>
          <a:p>
            <a:r>
              <a:rPr lang="it-IT" sz="2400" dirty="0"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if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err="1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 &gt; i+1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then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</a:p>
          <a:p>
            <a:r>
              <a:rPr lang="it-IT" sz="2400" dirty="0"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print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“(“</a:t>
            </a:r>
          </a:p>
          <a:p>
            <a:r>
              <a:rPr lang="it-IT" sz="2400" dirty="0">
                <a:solidFill>
                  <a:schemeClr val="accent2"/>
                </a:solidFill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print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smtClean="0">
                <a:sym typeface="Symbol" charset="0"/>
              </a:rPr>
              <a:t>i</a:t>
            </a:r>
            <a:endParaRPr lang="it-IT" sz="2400" baseline="-25000" dirty="0">
              <a:sym typeface="Symbol" charset="0"/>
            </a:endParaRPr>
          </a:p>
          <a:p>
            <a:r>
              <a:rPr lang="it-IT" sz="2400" dirty="0">
                <a:solidFill>
                  <a:schemeClr val="accent2"/>
                </a:solidFill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print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smtClean="0">
                <a:sym typeface="Symbol" charset="0"/>
              </a:rPr>
              <a:t>“</a:t>
            </a:r>
            <a:r>
              <a:rPr lang="it-IT" sz="2400" dirty="0">
                <a:sym typeface="Symbol" charset="0"/>
              </a:rPr>
              <a:t>,“</a:t>
            </a:r>
            <a:endParaRPr lang="it-IT" sz="2400" baseline="-25000" dirty="0">
              <a:sym typeface="Symbol" charset="0"/>
            </a:endParaRPr>
          </a:p>
          <a:p>
            <a:r>
              <a:rPr lang="it-IT" sz="2400" dirty="0">
                <a:solidFill>
                  <a:schemeClr val="accent2"/>
                </a:solidFill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print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err="1" smtClean="0">
                <a:sym typeface="Symbol" charset="0"/>
              </a:rPr>
              <a:t>j</a:t>
            </a:r>
            <a:endParaRPr lang="it-IT" sz="2400" baseline="-25000" dirty="0">
              <a:sym typeface="Symbol" charset="0"/>
            </a:endParaRPr>
          </a:p>
          <a:p>
            <a:r>
              <a:rPr lang="it-IT" sz="2400" dirty="0">
                <a:solidFill>
                  <a:schemeClr val="accent2"/>
                </a:solidFill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print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smtClean="0">
                <a:sym typeface="Symbol" charset="0"/>
              </a:rPr>
              <a:t>“</a:t>
            </a:r>
            <a:r>
              <a:rPr lang="it-IT" sz="2400" dirty="0">
                <a:sym typeface="Symbol" charset="0"/>
              </a:rPr>
              <a:t>,“</a:t>
            </a:r>
            <a:endParaRPr lang="it-IT" sz="2400" baseline="-25000" dirty="0">
              <a:sym typeface="Symbol" charset="0"/>
            </a:endParaRPr>
          </a:p>
          <a:p>
            <a:r>
              <a:rPr lang="it-IT" sz="2400" dirty="0">
                <a:solidFill>
                  <a:schemeClr val="accent2"/>
                </a:solidFill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print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smtClean="0">
                <a:sym typeface="Symbol" charset="0"/>
              </a:rPr>
              <a:t>K</a:t>
            </a:r>
            <a:r>
              <a:rPr lang="it-IT" sz="2400" dirty="0">
                <a:sym typeface="Symbol" charset="0"/>
              </a:rPr>
              <a:t>[</a:t>
            </a:r>
            <a:r>
              <a:rPr lang="it-IT" sz="2400" dirty="0" err="1">
                <a:sym typeface="Symbol" charset="0"/>
              </a:rPr>
              <a:t>i,j</a:t>
            </a:r>
            <a:r>
              <a:rPr lang="it-IT" sz="2400" dirty="0">
                <a:sym typeface="Symbol" charset="0"/>
              </a:rPr>
              <a:t>]</a:t>
            </a:r>
            <a:endParaRPr lang="it-IT" sz="2400" baseline="-25000" dirty="0">
              <a:sym typeface="Symbol" charset="0"/>
            </a:endParaRPr>
          </a:p>
          <a:p>
            <a:r>
              <a:rPr lang="it-IT" sz="2400" dirty="0">
                <a:solidFill>
                  <a:schemeClr val="accent2"/>
                </a:solidFill>
                <a:sym typeface="Symbol" charset="0"/>
              </a:rPr>
              <a:t>    </a:t>
            </a:r>
            <a:r>
              <a:rPr lang="it-IT" sz="2400" dirty="0" err="1">
                <a:solidFill>
                  <a:srgbClr val="201FF0"/>
                </a:solidFill>
                <a:sym typeface="Symbol" charset="0"/>
              </a:rPr>
              <a:t>print</a:t>
            </a:r>
            <a:r>
              <a:rPr lang="it-IT" sz="2400" dirty="0">
                <a:solidFill>
                  <a:srgbClr val="201FF0"/>
                </a:solidFill>
                <a:sym typeface="Symbol" charset="0"/>
              </a:rPr>
              <a:t> </a:t>
            </a:r>
            <a:r>
              <a:rPr lang="it-IT" sz="2400" dirty="0" smtClean="0">
                <a:sym typeface="Symbol" charset="0"/>
              </a:rPr>
              <a:t>“</a:t>
            </a:r>
            <a:r>
              <a:rPr lang="it-IT" sz="2400" dirty="0">
                <a:sym typeface="Symbol" charset="0"/>
              </a:rPr>
              <a:t>)“</a:t>
            </a:r>
          </a:p>
          <a:p>
            <a:r>
              <a:rPr lang="it-IT" sz="2400" dirty="0">
                <a:solidFill>
                  <a:srgbClr val="800000"/>
                </a:solidFill>
                <a:sym typeface="Symbol" charset="0"/>
              </a:rPr>
              <a:t>    Triangolazione</a:t>
            </a:r>
            <a:r>
              <a:rPr lang="it-IT" sz="2400" dirty="0">
                <a:sym typeface="Symbol" charset="0"/>
              </a:rPr>
              <a:t>(i, K[</a:t>
            </a:r>
            <a:r>
              <a:rPr lang="it-IT" sz="2400" dirty="0" err="1">
                <a:sym typeface="Symbol" charset="0"/>
              </a:rPr>
              <a:t>i,j</a:t>
            </a:r>
            <a:r>
              <a:rPr lang="it-IT" sz="2400" dirty="0">
                <a:sym typeface="Symbol" charset="0"/>
              </a:rPr>
              <a:t>])</a:t>
            </a:r>
          </a:p>
          <a:p>
            <a:r>
              <a:rPr lang="it-IT" sz="2400" dirty="0">
                <a:sym typeface="Symbol" charset="0"/>
              </a:rPr>
              <a:t>    </a:t>
            </a:r>
            <a:r>
              <a:rPr lang="it-IT" sz="2400" dirty="0">
                <a:solidFill>
                  <a:srgbClr val="800000"/>
                </a:solidFill>
                <a:sym typeface="Symbol" charset="0"/>
              </a:rPr>
              <a:t>Triangolazione</a:t>
            </a:r>
            <a:r>
              <a:rPr lang="it-IT" sz="2400" dirty="0">
                <a:sym typeface="Symbol" charset="0"/>
              </a:rPr>
              <a:t>(K[</a:t>
            </a:r>
            <a:r>
              <a:rPr lang="it-IT" sz="2400" dirty="0" err="1">
                <a:sym typeface="Symbol" charset="0"/>
              </a:rPr>
              <a:t>i,j</a:t>
            </a:r>
            <a:r>
              <a:rPr lang="it-IT" sz="2400" dirty="0">
                <a:sym typeface="Symbol" charset="0"/>
              </a:rPr>
              <a:t>], </a:t>
            </a:r>
            <a:r>
              <a:rPr lang="it-IT" sz="2400" dirty="0" err="1">
                <a:sym typeface="Symbol" charset="0"/>
              </a:rPr>
              <a:t>j</a:t>
            </a:r>
            <a:r>
              <a:rPr lang="it-IT" sz="2400" dirty="0">
                <a:sym typeface="Symbol" charset="0"/>
              </a:rPr>
              <a:t>)</a:t>
            </a:r>
            <a:endParaRPr lang="it-IT" sz="2400" baseline="-25000" dirty="0">
              <a:sym typeface="Symbol" charset="0"/>
            </a:endParaRPr>
          </a:p>
        </p:txBody>
      </p:sp>
      <p:sp>
        <p:nvSpPr>
          <p:cNvPr id="755715" name="Text Box 3"/>
          <p:cNvSpPr txBox="1">
            <a:spLocks noChangeArrowheads="1"/>
          </p:cNvSpPr>
          <p:nvPr/>
        </p:nvSpPr>
        <p:spPr bwMode="auto">
          <a:xfrm>
            <a:off x="395536" y="1124744"/>
            <a:ext cx="822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800" dirty="0">
                <a:solidFill>
                  <a:srgbClr val="FF0000"/>
                </a:solidFill>
                <a:sym typeface="Symbol" charset="0"/>
              </a:rPr>
              <a:t>Quarto passo</a:t>
            </a:r>
            <a:r>
              <a:rPr lang="it-IT" sz="2800" dirty="0">
                <a:sym typeface="Symbol" charset="0"/>
              </a:rPr>
              <a:t>: </a:t>
            </a:r>
            <a:r>
              <a:rPr lang="it-IT" sz="2800" i="1" dirty="0">
                <a:sym typeface="Symbol" charset="0"/>
              </a:rPr>
              <a:t>Stampa della triangolazione</a:t>
            </a:r>
          </a:p>
        </p:txBody>
      </p:sp>
      <p:sp>
        <p:nvSpPr>
          <p:cNvPr id="755716" name="Text Box 4"/>
          <p:cNvSpPr txBox="1">
            <a:spLocks noChangeArrowheads="1"/>
          </p:cNvSpPr>
          <p:nvPr/>
        </p:nvSpPr>
        <p:spPr bwMode="auto">
          <a:xfrm>
            <a:off x="5364088" y="5517232"/>
            <a:ext cx="3429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 err="1" smtClean="0">
                <a:solidFill>
                  <a:srgbClr val="FF0000"/>
                </a:solidFill>
                <a:sym typeface="Symbol" charset="0"/>
              </a:rPr>
              <a:t>Complessità:</a:t>
            </a:r>
            <a:r>
              <a:rPr lang="it-IT" sz="2400" i="1" dirty="0" err="1" smtClean="0">
                <a:solidFill>
                  <a:srgbClr val="FF0000"/>
                </a:solidFill>
                <a:sym typeface="Symbol" charset="0"/>
              </a:rPr>
              <a:t>O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sz="2400" i="1" dirty="0" err="1">
                <a:solidFill>
                  <a:srgbClr val="FF0000"/>
                </a:solidFill>
                <a:sym typeface="Symbol" charset="0"/>
              </a:rPr>
              <a:t>n</a:t>
            </a:r>
            <a:r>
              <a:rPr lang="it-IT" sz="2400" dirty="0" smtClean="0">
                <a:solidFill>
                  <a:srgbClr val="FF0000"/>
                </a:solidFill>
                <a:sym typeface="Symbol" charset="0"/>
              </a:rPr>
              <a:t>)</a:t>
            </a:r>
            <a:endParaRPr lang="it-IT" sz="2400" i="1" u="sng" dirty="0">
              <a:solidFill>
                <a:srgbClr val="FF0000"/>
              </a:solidFill>
              <a:sym typeface="Symbo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Triangolazione ottima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zione">
  <a:themeElements>
    <a:clrScheme name="Presentazion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sentazione">
      <a:majorFont>
        <a:latin typeface="Times New Roman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Presentazion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Templates:Presentazione.pot</Template>
  <TotalTime>2066</TotalTime>
  <Words>5861</Words>
  <Application>Microsoft Macintosh PowerPoint</Application>
  <PresentationFormat>On-screen Show (4:3)</PresentationFormat>
  <Paragraphs>1585</Paragraphs>
  <Slides>61</Slides>
  <Notes>58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Presentazione</vt:lpstr>
      <vt:lpstr>Equation</vt:lpstr>
      <vt:lpstr>Microsoft Equation 3.0</vt:lpstr>
      <vt:lpstr>UNIVERSITA’ DI MILANO-BICOCCA CdL IN INFORMATICA</vt:lpstr>
      <vt:lpstr>La programmazione dinamica</vt:lpstr>
      <vt:lpstr>Il problema della catena di montaggio</vt:lpstr>
      <vt:lpstr>Il problema della catena di montaggio</vt:lpstr>
      <vt:lpstr>Il problema della catena di montaggio</vt:lpstr>
      <vt:lpstr>Il problema della catena di montaggio</vt:lpstr>
      <vt:lpstr>Il problema della catena di montaggio</vt:lpstr>
      <vt:lpstr>Il problema della catena di montaggio</vt:lpstr>
      <vt:lpstr>Il problema della catena di montaggio</vt:lpstr>
      <vt:lpstr>Il problema della catena di montaggio</vt:lpstr>
      <vt:lpstr>Verso la soluzione</vt:lpstr>
      <vt:lpstr>Verso la soluzione</vt:lpstr>
      <vt:lpstr>Verso la soluzione</vt:lpstr>
      <vt:lpstr>Verso la soluzione</vt:lpstr>
      <vt:lpstr>Verso la soluzione</vt:lpstr>
      <vt:lpstr>Moltiplicazione di matrici </vt:lpstr>
      <vt:lpstr>Prodotto di matrici n*n</vt:lpstr>
      <vt:lpstr>L’algoritmo di Strassen</vt:lpstr>
      <vt:lpstr>L’algoritmo di Strassen</vt:lpstr>
      <vt:lpstr>Catena di moltiplicazioni di matrici</vt:lpstr>
      <vt:lpstr>Verso la soluzione</vt:lpstr>
      <vt:lpstr>Verso la soluzione</vt:lpstr>
      <vt:lpstr>Verso la soluzione</vt:lpstr>
      <vt:lpstr>Verso la soluzione</vt:lpstr>
      <vt:lpstr>Verso la soluzione</vt:lpstr>
      <vt:lpstr>Verso la soluzione</vt:lpstr>
      <vt:lpstr>Prodotto di una catena di matrici</vt:lpstr>
      <vt:lpstr>Versione ricorsiva</vt:lpstr>
      <vt:lpstr>Versione ricorsiva</vt:lpstr>
      <vt:lpstr>Complessità</vt:lpstr>
      <vt:lpstr>Complessità</vt:lpstr>
      <vt:lpstr>Causa della complessità esponenziale</vt:lpstr>
      <vt:lpstr>Memoizzazione</vt:lpstr>
      <vt:lpstr>Memoizzazione</vt:lpstr>
      <vt:lpstr>Algoritmo iterativo vs algoritmo ricorsivo con memoria</vt:lpstr>
      <vt:lpstr>Problemi risolubili con la programmazione dinamica</vt:lpstr>
      <vt:lpstr>Massima sottosequenza comune (LCS)</vt:lpstr>
      <vt:lpstr>Massima sottosequenza comune (LCS)</vt:lpstr>
      <vt:lpstr>Massima sottosequenza comune (LCS)</vt:lpstr>
      <vt:lpstr>Massima sottosequenza comune (LCS)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Albero di ricerca ottimo</vt:lpstr>
      <vt:lpstr>Albero di ricerca ottimo</vt:lpstr>
      <vt:lpstr>Albero di ricerca ottimo</vt:lpstr>
      <vt:lpstr>Albero di ricerca ottimo</vt:lpstr>
      <vt:lpstr>Albero di ricerca ottimo</vt:lpstr>
      <vt:lpstr>Albero di ricerca ottimo</vt:lpstr>
      <vt:lpstr>PowerPoint Presentation</vt:lpstr>
      <vt:lpstr>Albero di ricerca ottimo</vt:lpstr>
      <vt:lpstr>Albero di ricerca ottimo</vt:lpstr>
      <vt:lpstr>Albero di ricerca ottimo</vt:lpstr>
      <vt:lpstr>Triangolazione ottima</vt:lpstr>
      <vt:lpstr>Triangolazione ottima</vt:lpstr>
      <vt:lpstr>Triangolazione ottima</vt:lpstr>
      <vt:lpstr>Triangolazione ottima</vt:lpstr>
      <vt:lpstr>Triangolazione ottima</vt:lpstr>
      <vt:lpstr>Triangolazione ottima</vt:lpstr>
    </vt:vector>
  </TitlesOfParts>
  <Company>DISCo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UNIVERSITA’ DI MILANO-BICOCCA CdL IN INFORMATICA</dc:title>
  <dc:subject>Bioinformatics</dc:subject>
  <dc:creator>Giancarlo Mauri</dc:creator>
  <cp:lastModifiedBy>Giancarlo Mauri</cp:lastModifiedBy>
  <cp:revision>100</cp:revision>
  <cp:lastPrinted>2002-02-01T12:39:25Z</cp:lastPrinted>
  <dcterms:created xsi:type="dcterms:W3CDTF">2010-03-03T07:29:28Z</dcterms:created>
  <dcterms:modified xsi:type="dcterms:W3CDTF">2017-10-05T13:34:27Z</dcterms:modified>
</cp:coreProperties>
</file>