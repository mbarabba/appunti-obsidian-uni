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vml" ContentType="application/vnd.openxmlformats-officedocument.vmlDrawi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93"/>
  </p:notesMasterIdLst>
  <p:handoutMasterIdLst>
    <p:handoutMasterId r:id="rId94"/>
  </p:handoutMasterIdLst>
  <p:sldIdLst>
    <p:sldId id="453" r:id="rId2"/>
    <p:sldId id="454" r:id="rId3"/>
    <p:sldId id="455" r:id="rId4"/>
    <p:sldId id="456" r:id="rId5"/>
    <p:sldId id="457" r:id="rId6"/>
    <p:sldId id="458" r:id="rId7"/>
    <p:sldId id="459" r:id="rId8"/>
    <p:sldId id="460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5" r:id="rId24"/>
    <p:sldId id="476" r:id="rId25"/>
    <p:sldId id="477" r:id="rId26"/>
    <p:sldId id="478" r:id="rId27"/>
    <p:sldId id="479" r:id="rId28"/>
    <p:sldId id="480" r:id="rId29"/>
    <p:sldId id="481" r:id="rId30"/>
    <p:sldId id="482" r:id="rId31"/>
    <p:sldId id="483" r:id="rId32"/>
    <p:sldId id="484" r:id="rId33"/>
    <p:sldId id="485" r:id="rId34"/>
    <p:sldId id="486" r:id="rId35"/>
    <p:sldId id="487" r:id="rId36"/>
    <p:sldId id="488" r:id="rId37"/>
    <p:sldId id="489" r:id="rId38"/>
    <p:sldId id="490" r:id="rId39"/>
    <p:sldId id="491" r:id="rId40"/>
    <p:sldId id="492" r:id="rId41"/>
    <p:sldId id="493" r:id="rId42"/>
    <p:sldId id="494" r:id="rId43"/>
    <p:sldId id="495" r:id="rId44"/>
    <p:sldId id="496" r:id="rId45"/>
    <p:sldId id="497" r:id="rId46"/>
    <p:sldId id="498" r:id="rId47"/>
    <p:sldId id="499" r:id="rId48"/>
    <p:sldId id="500" r:id="rId49"/>
    <p:sldId id="501" r:id="rId50"/>
    <p:sldId id="502" r:id="rId51"/>
    <p:sldId id="503" r:id="rId52"/>
    <p:sldId id="504" r:id="rId53"/>
    <p:sldId id="505" r:id="rId54"/>
    <p:sldId id="506" r:id="rId55"/>
    <p:sldId id="507" r:id="rId56"/>
    <p:sldId id="508" r:id="rId57"/>
    <p:sldId id="509" r:id="rId58"/>
    <p:sldId id="510" r:id="rId59"/>
    <p:sldId id="511" r:id="rId60"/>
    <p:sldId id="512" r:id="rId61"/>
    <p:sldId id="513" r:id="rId62"/>
    <p:sldId id="514" r:id="rId63"/>
    <p:sldId id="515" r:id="rId64"/>
    <p:sldId id="516" r:id="rId65"/>
    <p:sldId id="517" r:id="rId66"/>
    <p:sldId id="518" r:id="rId67"/>
    <p:sldId id="519" r:id="rId68"/>
    <p:sldId id="520" r:id="rId69"/>
    <p:sldId id="521" r:id="rId70"/>
    <p:sldId id="522" r:id="rId71"/>
    <p:sldId id="523" r:id="rId72"/>
    <p:sldId id="524" r:id="rId73"/>
    <p:sldId id="525" r:id="rId74"/>
    <p:sldId id="526" r:id="rId75"/>
    <p:sldId id="527" r:id="rId76"/>
    <p:sldId id="528" r:id="rId77"/>
    <p:sldId id="529" r:id="rId78"/>
    <p:sldId id="530" r:id="rId79"/>
    <p:sldId id="531" r:id="rId80"/>
    <p:sldId id="532" r:id="rId81"/>
    <p:sldId id="533" r:id="rId82"/>
    <p:sldId id="534" r:id="rId83"/>
    <p:sldId id="535" r:id="rId84"/>
    <p:sldId id="536" r:id="rId85"/>
    <p:sldId id="537" r:id="rId86"/>
    <p:sldId id="538" r:id="rId87"/>
    <p:sldId id="539" r:id="rId88"/>
    <p:sldId id="540" r:id="rId89"/>
    <p:sldId id="541" r:id="rId90"/>
    <p:sldId id="542" r:id="rId91"/>
    <p:sldId id="543" r:id="rId9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760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notesMaster" Target="notesMasters/notesMaster1.xml"/><Relationship Id="rId94" Type="http://schemas.openxmlformats.org/officeDocument/2006/relationships/handoutMaster" Target="handoutMasters/handoutMaster1.xml"/><Relationship Id="rId95" Type="http://schemas.openxmlformats.org/officeDocument/2006/relationships/printerSettings" Target="printerSettings/printerSettings1.bin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wmf"/><Relationship Id="rId3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4" Type="http://schemas.openxmlformats.org/officeDocument/2006/relationships/image" Target="../media/image10.wmf"/><Relationship Id="rId5" Type="http://schemas.openxmlformats.org/officeDocument/2006/relationships/image" Target="../media/image11.wmf"/><Relationship Id="rId6" Type="http://schemas.openxmlformats.org/officeDocument/2006/relationships/image" Target="../media/image12.wmf"/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Relationship Id="rId2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wmf"/><Relationship Id="rId7" Type="http://schemas.openxmlformats.org/officeDocument/2006/relationships/oleObject" Target="../embeddings/oleObject6.bin"/><Relationship Id="rId8" Type="http://schemas.openxmlformats.org/officeDocument/2006/relationships/image" Target="../media/image6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1.bin"/><Relationship Id="rId12" Type="http://schemas.openxmlformats.org/officeDocument/2006/relationships/image" Target="../media/image11.wmf"/><Relationship Id="rId13" Type="http://schemas.openxmlformats.org/officeDocument/2006/relationships/oleObject" Target="../embeddings/oleObject12.bin"/><Relationship Id="rId14" Type="http://schemas.openxmlformats.org/officeDocument/2006/relationships/image" Target="../media/image12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8.bin"/><Relationship Id="rId6" Type="http://schemas.openxmlformats.org/officeDocument/2006/relationships/image" Target="../media/image8.wmf"/><Relationship Id="rId7" Type="http://schemas.openxmlformats.org/officeDocument/2006/relationships/oleObject" Target="../embeddings/oleObject9.bin"/><Relationship Id="rId8" Type="http://schemas.openxmlformats.org/officeDocument/2006/relationships/image" Target="../media/image9.wmf"/><Relationship Id="rId9" Type="http://schemas.openxmlformats.org/officeDocument/2006/relationships/oleObject" Target="../embeddings/oleObject10.bin"/><Relationship Id="rId10" Type="http://schemas.openxmlformats.org/officeDocument/2006/relationships/image" Target="../media/image10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4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6" Type="http://schemas.openxmlformats.org/officeDocument/2006/relationships/image" Target="../media/image14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4" Type="http://schemas.openxmlformats.org/officeDocument/2006/relationships/image" Target="../media/image15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4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6" Type="http://schemas.openxmlformats.org/officeDocument/2006/relationships/image" Target="../media/image17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4" Type="http://schemas.openxmlformats.org/officeDocument/2006/relationships/image" Target="../media/image18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 dirty="0">
                <a:ea typeface="ＭＳ Ｐゴシック" charset="0"/>
                <a:cs typeface="ＭＳ Ｐゴシック" charset="0"/>
              </a:rPr>
            </a:br>
            <a:r>
              <a:rPr lang="it-IT" dirty="0" err="1">
                <a:ea typeface="ＭＳ Ｐゴシック" charset="0"/>
                <a:cs typeface="ＭＳ Ｐゴシック" charset="0"/>
              </a:rPr>
              <a:t>CdL</a:t>
            </a:r>
            <a:r>
              <a:rPr lang="it-IT" dirty="0">
                <a:ea typeface="ＭＳ Ｐゴシック" charset="0"/>
                <a:cs typeface="ＭＳ Ｐゴシック" charset="0"/>
              </a:rPr>
              <a:t>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</a:t>
            </a: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XX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Strutture</a:t>
            </a:r>
            <a:r>
              <a:rPr lang="en-US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dati</a:t>
            </a:r>
            <a:r>
              <a:rPr lang="en-US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per </a:t>
            </a:r>
            <a:r>
              <a:rPr lang="en-US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insiemi</a:t>
            </a:r>
            <a:r>
              <a:rPr lang="en-US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disgiunti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Strutture dati per insiemi </a:t>
            </a:r>
            <a:r>
              <a:rPr lang="it-IT" dirty="0" smtClean="0">
                <a:solidFill>
                  <a:srgbClr val="FF0000"/>
                </a:solidFill>
              </a:rPr>
              <a:t>disgiunti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496944" cy="5184576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it-IT" dirty="0"/>
              <a:t>Servono a mantenere una collezione </a:t>
            </a:r>
          </a:p>
          <a:p>
            <a:pPr marL="0" indent="0" algn="ctr">
              <a:spcBef>
                <a:spcPct val="10000"/>
              </a:spcBef>
              <a:buNone/>
            </a:pPr>
            <a:r>
              <a:rPr lang="it-IT" b="1" dirty="0" err="1">
                <a:latin typeface="Lucida Calligraphy" charset="0"/>
              </a:rPr>
              <a:t>S</a:t>
            </a:r>
            <a:r>
              <a:rPr lang="it-IT" dirty="0"/>
              <a:t> = {S</a:t>
            </a:r>
            <a:r>
              <a:rPr lang="it-IT" baseline="-25000" dirty="0"/>
              <a:t>1</a:t>
            </a:r>
            <a:r>
              <a:rPr lang="it-IT" dirty="0"/>
              <a:t>, S</a:t>
            </a:r>
            <a:r>
              <a:rPr lang="it-IT" baseline="-25000" dirty="0"/>
              <a:t>2</a:t>
            </a:r>
            <a:r>
              <a:rPr lang="it-IT" dirty="0"/>
              <a:t>, ..., </a:t>
            </a:r>
            <a:r>
              <a:rPr lang="it-IT" dirty="0" err="1"/>
              <a:t>S</a:t>
            </a:r>
            <a:r>
              <a:rPr lang="it-IT" baseline="-25000" dirty="0" err="1"/>
              <a:t>k</a:t>
            </a:r>
            <a:r>
              <a:rPr lang="it-IT" dirty="0"/>
              <a:t>} </a:t>
            </a:r>
          </a:p>
          <a:p>
            <a:pPr marL="0" indent="0">
              <a:spcBef>
                <a:spcPct val="10000"/>
              </a:spcBef>
              <a:buNone/>
            </a:pPr>
            <a:r>
              <a:rPr lang="it-IT" dirty="0" smtClean="0"/>
              <a:t>    di </a:t>
            </a:r>
            <a:r>
              <a:rPr lang="it-IT" i="1" u="sng" dirty="0"/>
              <a:t>insiemi disgiunti</a:t>
            </a:r>
            <a:r>
              <a:rPr lang="it-IT" dirty="0"/>
              <a:t>. </a:t>
            </a:r>
          </a:p>
          <a:p>
            <a:pPr>
              <a:spcBef>
                <a:spcPct val="10000"/>
              </a:spcBef>
            </a:pPr>
            <a:endParaRPr lang="it-IT" dirty="0"/>
          </a:p>
          <a:p>
            <a:pPr>
              <a:spcBef>
                <a:spcPct val="10000"/>
              </a:spcBef>
            </a:pPr>
            <a:r>
              <a:rPr lang="it-IT" dirty="0"/>
              <a:t>Ogni insieme della collezione è individuato da un </a:t>
            </a:r>
            <a:r>
              <a:rPr lang="it-IT" i="1" u="sng" dirty="0"/>
              <a:t>rappresentante</a:t>
            </a:r>
            <a:r>
              <a:rPr lang="it-IT" dirty="0"/>
              <a:t> che è un particolare elemento dell’insieme.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Operazioni sugli insiemi disgiunti: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mtClean="0">
                <a:sym typeface="Symbol" charset="0"/>
              </a:rPr>
              <a:t>MakeSet(x)</a:t>
            </a:r>
            <a:r>
              <a:rPr lang="it-IT" smtClean="0"/>
              <a:t> : aggiunge alla struttura dati un nuovo insieme contenente solo l’elemento </a:t>
            </a:r>
            <a:r>
              <a:rPr lang="it-IT" smtClean="0">
                <a:sym typeface="Symbol" charset="0"/>
              </a:rPr>
              <a:t>x</a:t>
            </a:r>
            <a:r>
              <a:rPr lang="it-IT" smtClean="0"/>
              <a:t>. </a:t>
            </a:r>
          </a:p>
          <a:p>
            <a:r>
              <a:rPr lang="it-IT" smtClean="0"/>
              <a:t>Si richiede che </a:t>
            </a:r>
            <a:r>
              <a:rPr lang="it-IT" smtClean="0">
                <a:sym typeface="Symbol" charset="0"/>
              </a:rPr>
              <a:t>x</a:t>
            </a:r>
            <a:r>
              <a:rPr lang="it-IT" smtClean="0"/>
              <a:t> non compaia in nessun altro insieme della struttura.</a:t>
            </a:r>
          </a:p>
          <a:p>
            <a:r>
              <a:rPr lang="it-IT" smtClean="0">
                <a:sym typeface="Symbol" charset="0"/>
              </a:rPr>
              <a:t>FindSet(x)</a:t>
            </a:r>
            <a:r>
              <a:rPr lang="it-IT" smtClean="0"/>
              <a:t> : ritorna il rappresentante dell’insieme che contiene </a:t>
            </a:r>
            <a:r>
              <a:rPr lang="it-IT" smtClean="0">
                <a:sym typeface="Symbol" charset="0"/>
              </a:rPr>
              <a:t>x</a:t>
            </a:r>
            <a:r>
              <a:rPr lang="it-IT" smtClean="0"/>
              <a:t>. </a:t>
            </a:r>
          </a:p>
          <a:p>
            <a:r>
              <a:rPr lang="it-IT" smtClean="0">
                <a:sym typeface="Symbol" charset="0"/>
              </a:rPr>
              <a:t>Union(x,y)</a:t>
            </a:r>
            <a:r>
              <a:rPr lang="it-IT" smtClean="0"/>
              <a:t> : riunisce i due insiemi contenenti </a:t>
            </a:r>
            <a:r>
              <a:rPr lang="it-IT" smtClean="0">
                <a:sym typeface="Symbol" charset="0"/>
              </a:rPr>
              <a:t>x</a:t>
            </a:r>
            <a:r>
              <a:rPr lang="it-IT" smtClean="0"/>
              <a:t> ed </a:t>
            </a:r>
            <a:r>
              <a:rPr lang="it-IT" smtClean="0">
                <a:sym typeface="Symbol" charset="0"/>
              </a:rPr>
              <a:t>y</a:t>
            </a:r>
            <a:r>
              <a:rPr lang="it-IT" smtClean="0"/>
              <a:t> in un’unico insieme.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Text Box 2"/>
          <p:cNvSpPr txBox="1">
            <a:spLocks noChangeArrowheads="1"/>
          </p:cNvSpPr>
          <p:nvPr/>
        </p:nvSpPr>
        <p:spPr bwMode="auto">
          <a:xfrm>
            <a:off x="2057400" y="457200"/>
            <a:ext cx="4876800" cy="6048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100000"/>
              </a:spcBef>
            </a:pPr>
            <a:r>
              <a:rPr lang="it-IT" b="1">
                <a:solidFill>
                  <a:srgbClr val="FF0000"/>
                </a:solidFill>
              </a:rPr>
              <a:t>Rappresentazione con liste</a:t>
            </a:r>
            <a:endParaRPr lang="it-IT" sz="2400" i="1"/>
          </a:p>
        </p:txBody>
      </p:sp>
      <p:sp>
        <p:nvSpPr>
          <p:cNvPr id="678915" name="Text Box 3"/>
          <p:cNvSpPr txBox="1">
            <a:spLocks noChangeArrowheads="1"/>
          </p:cNvSpPr>
          <p:nvPr/>
        </p:nvSpPr>
        <p:spPr bwMode="auto">
          <a:xfrm>
            <a:off x="533400" y="129540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Il modo più semplice per rappresentare una famiglia di insiemi disgiunti è usare una lista circolare per ogni insieme.   </a:t>
            </a:r>
          </a:p>
        </p:txBody>
      </p:sp>
      <p:grpSp>
        <p:nvGrpSpPr>
          <p:cNvPr id="678917" name="Group 5"/>
          <p:cNvGrpSpPr>
            <a:grpSpLocks/>
          </p:cNvGrpSpPr>
          <p:nvPr/>
        </p:nvGrpSpPr>
        <p:grpSpPr bwMode="auto">
          <a:xfrm>
            <a:off x="609600" y="3124200"/>
            <a:ext cx="8229600" cy="3154363"/>
            <a:chOff x="384" y="1968"/>
            <a:chExt cx="5184" cy="1987"/>
          </a:xfrm>
        </p:grpSpPr>
        <p:sp>
          <p:nvSpPr>
            <p:cNvPr id="678918" name="Text Box 6"/>
            <p:cNvSpPr txBox="1">
              <a:spLocks noChangeArrowheads="1"/>
            </p:cNvSpPr>
            <p:nvPr/>
          </p:nvSpPr>
          <p:spPr bwMode="auto">
            <a:xfrm>
              <a:off x="384" y="2976"/>
              <a:ext cx="5184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0"/>
                </a:spcBef>
              </a:pPr>
              <a:r>
                <a:rPr lang="it-IT"/>
                <a:t>Ogni nodo ha un puntatore al nodo successivo ed un puntatore al nodo della lista che viene assunto come rappresentante.   </a:t>
              </a:r>
            </a:p>
          </p:txBody>
        </p:sp>
        <p:grpSp>
          <p:nvGrpSpPr>
            <p:cNvPr id="678919" name="Group 7"/>
            <p:cNvGrpSpPr>
              <a:grpSpLocks/>
            </p:cNvGrpSpPr>
            <p:nvPr/>
          </p:nvGrpSpPr>
          <p:grpSpPr bwMode="auto">
            <a:xfrm>
              <a:off x="576" y="1968"/>
              <a:ext cx="4416" cy="816"/>
              <a:chOff x="480" y="3024"/>
              <a:chExt cx="4416" cy="816"/>
            </a:xfrm>
          </p:grpSpPr>
          <p:sp>
            <p:nvSpPr>
              <p:cNvPr id="678920" name="Rectangle 8"/>
              <p:cNvSpPr>
                <a:spLocks noChangeArrowheads="1"/>
              </p:cNvSpPr>
              <p:nvPr/>
            </p:nvSpPr>
            <p:spPr bwMode="auto">
              <a:xfrm>
                <a:off x="1008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1" name="Rectangle 9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800"/>
                  <a:t>c</a:t>
                </a:r>
                <a:endParaRPr lang="it-IT"/>
              </a:p>
            </p:txBody>
          </p:sp>
          <p:sp>
            <p:nvSpPr>
              <p:cNvPr id="678922" name="Rectangle 10"/>
              <p:cNvSpPr>
                <a:spLocks noChangeArrowheads="1"/>
              </p:cNvSpPr>
              <p:nvPr/>
            </p:nvSpPr>
            <p:spPr bwMode="auto">
              <a:xfrm>
                <a:off x="1296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3" name="Rectangle 11"/>
              <p:cNvSpPr>
                <a:spLocks noChangeArrowheads="1"/>
              </p:cNvSpPr>
              <p:nvPr/>
            </p:nvSpPr>
            <p:spPr bwMode="auto">
              <a:xfrm>
                <a:off x="2064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4" name="Rectangle 12"/>
              <p:cNvSpPr>
                <a:spLocks noChangeArrowheads="1"/>
              </p:cNvSpPr>
              <p:nvPr/>
            </p:nvSpPr>
            <p:spPr bwMode="auto">
              <a:xfrm>
                <a:off x="1776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800"/>
                  <a:t>h</a:t>
                </a:r>
                <a:endParaRPr lang="it-IT"/>
              </a:p>
            </p:txBody>
          </p:sp>
          <p:sp>
            <p:nvSpPr>
              <p:cNvPr id="678925" name="Rectangle 13"/>
              <p:cNvSpPr>
                <a:spLocks noChangeArrowheads="1"/>
              </p:cNvSpPr>
              <p:nvPr/>
            </p:nvSpPr>
            <p:spPr bwMode="auto">
              <a:xfrm>
                <a:off x="2352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6" name="Rectangle 14"/>
              <p:cNvSpPr>
                <a:spLocks noChangeArrowheads="1"/>
              </p:cNvSpPr>
              <p:nvPr/>
            </p:nvSpPr>
            <p:spPr bwMode="auto">
              <a:xfrm>
                <a:off x="3120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7" name="Rectangle 15"/>
              <p:cNvSpPr>
                <a:spLocks noChangeArrowheads="1"/>
              </p:cNvSpPr>
              <p:nvPr/>
            </p:nvSpPr>
            <p:spPr bwMode="auto">
              <a:xfrm>
                <a:off x="2832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800"/>
                  <a:t>e</a:t>
                </a:r>
                <a:endParaRPr lang="it-IT"/>
              </a:p>
            </p:txBody>
          </p:sp>
          <p:sp>
            <p:nvSpPr>
              <p:cNvPr id="678928" name="Rectangle 16"/>
              <p:cNvSpPr>
                <a:spLocks noChangeArrowheads="1"/>
              </p:cNvSpPr>
              <p:nvPr/>
            </p:nvSpPr>
            <p:spPr bwMode="auto">
              <a:xfrm>
                <a:off x="3408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9" name="Rectangle 17"/>
              <p:cNvSpPr>
                <a:spLocks noChangeArrowheads="1"/>
              </p:cNvSpPr>
              <p:nvPr/>
            </p:nvSpPr>
            <p:spPr bwMode="auto">
              <a:xfrm>
                <a:off x="4176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0" name="Rectangle 18"/>
              <p:cNvSpPr>
                <a:spLocks noChangeArrowheads="1"/>
              </p:cNvSpPr>
              <p:nvPr/>
            </p:nvSpPr>
            <p:spPr bwMode="auto">
              <a:xfrm>
                <a:off x="3888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800"/>
                  <a:t>b</a:t>
                </a:r>
                <a:endParaRPr lang="it-IT"/>
              </a:p>
            </p:txBody>
          </p:sp>
          <p:sp>
            <p:nvSpPr>
              <p:cNvPr id="678931" name="Rectangle 1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it-IT"/>
              </a:p>
            </p:txBody>
          </p:sp>
          <p:sp>
            <p:nvSpPr>
              <p:cNvPr id="678932" name="Line 20"/>
              <p:cNvSpPr>
                <a:spLocks noChangeShapeType="1"/>
              </p:cNvSpPr>
              <p:nvPr/>
            </p:nvSpPr>
            <p:spPr bwMode="auto">
              <a:xfrm>
                <a:off x="1440" y="36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3" name="Line 21"/>
              <p:cNvSpPr>
                <a:spLocks noChangeShapeType="1"/>
              </p:cNvSpPr>
              <p:nvPr/>
            </p:nvSpPr>
            <p:spPr bwMode="auto">
              <a:xfrm>
                <a:off x="2496" y="36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4" name="Line 22"/>
              <p:cNvSpPr>
                <a:spLocks noChangeShapeType="1"/>
              </p:cNvSpPr>
              <p:nvPr/>
            </p:nvSpPr>
            <p:spPr bwMode="auto">
              <a:xfrm>
                <a:off x="3552" y="36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5" name="Line 23"/>
              <p:cNvSpPr>
                <a:spLocks noChangeShapeType="1"/>
              </p:cNvSpPr>
              <p:nvPr/>
            </p:nvSpPr>
            <p:spPr bwMode="auto">
              <a:xfrm flipV="1">
                <a:off x="3264" y="3120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6" name="Line 24"/>
              <p:cNvSpPr>
                <a:spLocks noChangeShapeType="1"/>
              </p:cNvSpPr>
              <p:nvPr/>
            </p:nvSpPr>
            <p:spPr bwMode="auto">
              <a:xfrm flipV="1">
                <a:off x="1152" y="3312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7" name="Line 25"/>
              <p:cNvSpPr>
                <a:spLocks noChangeShapeType="1"/>
              </p:cNvSpPr>
              <p:nvPr/>
            </p:nvSpPr>
            <p:spPr bwMode="auto">
              <a:xfrm flipH="1">
                <a:off x="1008" y="3312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8" name="Line 26"/>
              <p:cNvSpPr>
                <a:spLocks noChangeShapeType="1"/>
              </p:cNvSpPr>
              <p:nvPr/>
            </p:nvSpPr>
            <p:spPr bwMode="auto">
              <a:xfrm>
                <a:off x="1008" y="3312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9" name="Line 27"/>
              <p:cNvSpPr>
                <a:spLocks noChangeShapeType="1"/>
              </p:cNvSpPr>
              <p:nvPr/>
            </p:nvSpPr>
            <p:spPr bwMode="auto">
              <a:xfrm flipV="1">
                <a:off x="2208" y="321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0" name="Line 28"/>
              <p:cNvSpPr>
                <a:spLocks noChangeShapeType="1"/>
              </p:cNvSpPr>
              <p:nvPr/>
            </p:nvSpPr>
            <p:spPr bwMode="auto">
              <a:xfrm flipH="1">
                <a:off x="912" y="3216"/>
                <a:ext cx="12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1" name="Line 29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2" name="Line 30"/>
              <p:cNvSpPr>
                <a:spLocks noChangeShapeType="1"/>
              </p:cNvSpPr>
              <p:nvPr/>
            </p:nvSpPr>
            <p:spPr bwMode="auto">
              <a:xfrm>
                <a:off x="816" y="3120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3" name="Line 31"/>
              <p:cNvSpPr>
                <a:spLocks noChangeShapeType="1"/>
              </p:cNvSpPr>
              <p:nvPr/>
            </p:nvSpPr>
            <p:spPr bwMode="auto">
              <a:xfrm>
                <a:off x="720" y="3024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4" name="Line 32"/>
              <p:cNvSpPr>
                <a:spLocks noChangeShapeType="1"/>
              </p:cNvSpPr>
              <p:nvPr/>
            </p:nvSpPr>
            <p:spPr bwMode="auto">
              <a:xfrm flipH="1">
                <a:off x="720" y="3024"/>
                <a:ext cx="3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5" name="Line 33"/>
              <p:cNvSpPr>
                <a:spLocks noChangeShapeType="1"/>
              </p:cNvSpPr>
              <p:nvPr/>
            </p:nvSpPr>
            <p:spPr bwMode="auto">
              <a:xfrm flipH="1">
                <a:off x="816" y="3120"/>
                <a:ext cx="244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6" name="Line 34"/>
              <p:cNvSpPr>
                <a:spLocks noChangeShapeType="1"/>
              </p:cNvSpPr>
              <p:nvPr/>
            </p:nvSpPr>
            <p:spPr bwMode="auto">
              <a:xfrm flipV="1">
                <a:off x="4320" y="3024"/>
                <a:ext cx="0" cy="52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7" name="Line 35"/>
              <p:cNvSpPr>
                <a:spLocks noChangeShapeType="1"/>
              </p:cNvSpPr>
              <p:nvPr/>
            </p:nvSpPr>
            <p:spPr bwMode="auto">
              <a:xfrm>
                <a:off x="4608" y="360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8" name="Line 36"/>
              <p:cNvSpPr>
                <a:spLocks noChangeShapeType="1"/>
              </p:cNvSpPr>
              <p:nvPr/>
            </p:nvSpPr>
            <p:spPr bwMode="auto">
              <a:xfrm>
                <a:off x="4896" y="36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9" name="Line 37"/>
              <p:cNvSpPr>
                <a:spLocks noChangeShapeType="1"/>
              </p:cNvSpPr>
              <p:nvPr/>
            </p:nvSpPr>
            <p:spPr bwMode="auto">
              <a:xfrm flipH="1">
                <a:off x="480" y="3840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50" name="Line 38"/>
              <p:cNvSpPr>
                <a:spLocks noChangeShapeType="1"/>
              </p:cNvSpPr>
              <p:nvPr/>
            </p:nvSpPr>
            <p:spPr bwMode="auto">
              <a:xfrm flipV="1">
                <a:off x="480" y="36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51" name="Line 39"/>
              <p:cNvSpPr>
                <a:spLocks noChangeShapeType="1"/>
              </p:cNvSpPr>
              <p:nvPr/>
            </p:nvSpPr>
            <p:spPr bwMode="auto">
              <a:xfrm>
                <a:off x="480" y="36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8153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I nodi hanno i seguenti campi:</a:t>
            </a:r>
          </a:p>
          <a:p>
            <a:r>
              <a:rPr lang="it-IT" b="1" i="1"/>
              <a:t>info</a:t>
            </a:r>
            <a:r>
              <a:rPr lang="it-IT"/>
              <a:t> : l’informazione contenuta nel nodo</a:t>
            </a:r>
          </a:p>
          <a:p>
            <a:r>
              <a:rPr lang="it-IT" b="1" i="1"/>
              <a:t>rappr</a:t>
            </a:r>
            <a:r>
              <a:rPr lang="it-IT"/>
              <a:t> : il puntatore al rappresentante</a:t>
            </a:r>
          </a:p>
          <a:p>
            <a:r>
              <a:rPr lang="it-IT" b="1" i="1"/>
              <a:t>succ</a:t>
            </a:r>
            <a:r>
              <a:rPr lang="it-IT"/>
              <a:t> : il puntatore al nodo successivo</a:t>
            </a: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450850" y="2492375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Le operazioni sono: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492125" y="3200400"/>
            <a:ext cx="2751138" cy="13985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x </a:t>
            </a:r>
          </a:p>
          <a:p>
            <a:r>
              <a:rPr lang="it-IT" sz="2800" b="1" i="1">
                <a:sym typeface="Symbol" charset="0"/>
              </a:rPr>
              <a:t>    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x</a:t>
            </a:r>
          </a:p>
        </p:txBody>
      </p:sp>
      <p:sp>
        <p:nvSpPr>
          <p:cNvPr id="679941" name="Text Box 5"/>
          <p:cNvSpPr txBox="1">
            <a:spLocks noChangeArrowheads="1"/>
          </p:cNvSpPr>
          <p:nvPr/>
        </p:nvSpPr>
        <p:spPr bwMode="auto">
          <a:xfrm>
            <a:off x="492125" y="4876800"/>
            <a:ext cx="2751138" cy="13985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return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</a:t>
            </a:r>
          </a:p>
        </p:txBody>
      </p:sp>
      <p:grpSp>
        <p:nvGrpSpPr>
          <p:cNvPr id="679942" name="Group 6"/>
          <p:cNvGrpSpPr>
            <a:grpSpLocks/>
          </p:cNvGrpSpPr>
          <p:nvPr/>
        </p:nvGrpSpPr>
        <p:grpSpPr bwMode="auto">
          <a:xfrm>
            <a:off x="3508375" y="4941888"/>
            <a:ext cx="5318125" cy="1165225"/>
            <a:chOff x="2394" y="3113"/>
            <a:chExt cx="3629" cy="734"/>
          </a:xfrm>
        </p:grpSpPr>
        <p:sp>
          <p:nvSpPr>
            <p:cNvPr id="679943" name="Rectangle 7"/>
            <p:cNvSpPr>
              <a:spLocks noChangeArrowheads="1"/>
            </p:cNvSpPr>
            <p:nvPr/>
          </p:nvSpPr>
          <p:spPr bwMode="auto">
            <a:xfrm>
              <a:off x="2966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44" name="Rectangle 8"/>
            <p:cNvSpPr>
              <a:spLocks noChangeArrowheads="1"/>
            </p:cNvSpPr>
            <p:nvPr/>
          </p:nvSpPr>
          <p:spPr bwMode="auto">
            <a:xfrm>
              <a:off x="2654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c</a:t>
              </a:r>
              <a:endParaRPr lang="it-IT"/>
            </a:p>
          </p:txBody>
        </p:sp>
        <p:sp>
          <p:nvSpPr>
            <p:cNvPr id="679945" name="Rectangle 9"/>
            <p:cNvSpPr>
              <a:spLocks noChangeArrowheads="1"/>
            </p:cNvSpPr>
            <p:nvPr/>
          </p:nvSpPr>
          <p:spPr bwMode="auto">
            <a:xfrm>
              <a:off x="3278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46" name="Rectangle 10"/>
            <p:cNvSpPr>
              <a:spLocks noChangeArrowheads="1"/>
            </p:cNvSpPr>
            <p:nvPr/>
          </p:nvSpPr>
          <p:spPr bwMode="auto">
            <a:xfrm>
              <a:off x="4110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47" name="Rectangle 11"/>
            <p:cNvSpPr>
              <a:spLocks noChangeArrowheads="1"/>
            </p:cNvSpPr>
            <p:nvPr/>
          </p:nvSpPr>
          <p:spPr bwMode="auto">
            <a:xfrm>
              <a:off x="3798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h</a:t>
              </a:r>
              <a:endParaRPr lang="it-IT"/>
            </a:p>
          </p:txBody>
        </p:sp>
        <p:sp>
          <p:nvSpPr>
            <p:cNvPr id="679948" name="Rectangle 12"/>
            <p:cNvSpPr>
              <a:spLocks noChangeArrowheads="1"/>
            </p:cNvSpPr>
            <p:nvPr/>
          </p:nvSpPr>
          <p:spPr bwMode="auto">
            <a:xfrm>
              <a:off x="4422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49" name="Rectangle 13"/>
            <p:cNvSpPr>
              <a:spLocks noChangeArrowheads="1"/>
            </p:cNvSpPr>
            <p:nvPr/>
          </p:nvSpPr>
          <p:spPr bwMode="auto">
            <a:xfrm>
              <a:off x="5254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0" name="Rectangle 14"/>
            <p:cNvSpPr>
              <a:spLocks noChangeArrowheads="1"/>
            </p:cNvSpPr>
            <p:nvPr/>
          </p:nvSpPr>
          <p:spPr bwMode="auto">
            <a:xfrm>
              <a:off x="4942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e</a:t>
              </a:r>
              <a:endParaRPr lang="it-IT"/>
            </a:p>
          </p:txBody>
        </p:sp>
        <p:sp>
          <p:nvSpPr>
            <p:cNvPr id="679951" name="Rectangle 15"/>
            <p:cNvSpPr>
              <a:spLocks noChangeArrowheads="1"/>
            </p:cNvSpPr>
            <p:nvPr/>
          </p:nvSpPr>
          <p:spPr bwMode="auto">
            <a:xfrm>
              <a:off x="5566" y="344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2" name="Line 16"/>
            <p:cNvSpPr>
              <a:spLocks noChangeShapeType="1"/>
            </p:cNvSpPr>
            <p:nvPr/>
          </p:nvSpPr>
          <p:spPr bwMode="auto">
            <a:xfrm>
              <a:off x="3434" y="3593"/>
              <a:ext cx="3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3" name="Line 17"/>
            <p:cNvSpPr>
              <a:spLocks noChangeShapeType="1"/>
            </p:cNvSpPr>
            <p:nvPr/>
          </p:nvSpPr>
          <p:spPr bwMode="auto">
            <a:xfrm>
              <a:off x="4578" y="3593"/>
              <a:ext cx="3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4" name="Line 18"/>
            <p:cNvSpPr>
              <a:spLocks noChangeShapeType="1"/>
            </p:cNvSpPr>
            <p:nvPr/>
          </p:nvSpPr>
          <p:spPr bwMode="auto">
            <a:xfrm flipV="1">
              <a:off x="5410" y="3113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5" name="Line 19"/>
            <p:cNvSpPr>
              <a:spLocks noChangeShapeType="1"/>
            </p:cNvSpPr>
            <p:nvPr/>
          </p:nvSpPr>
          <p:spPr bwMode="auto">
            <a:xfrm flipV="1">
              <a:off x="3122" y="3305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6" name="Line 20"/>
            <p:cNvSpPr>
              <a:spLocks noChangeShapeType="1"/>
            </p:cNvSpPr>
            <p:nvPr/>
          </p:nvSpPr>
          <p:spPr bwMode="auto">
            <a:xfrm flipH="1">
              <a:off x="2966" y="3305"/>
              <a:ext cx="1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7" name="Line 21"/>
            <p:cNvSpPr>
              <a:spLocks noChangeShapeType="1"/>
            </p:cNvSpPr>
            <p:nvPr/>
          </p:nvSpPr>
          <p:spPr bwMode="auto">
            <a:xfrm>
              <a:off x="2966" y="3305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8" name="Line 22"/>
            <p:cNvSpPr>
              <a:spLocks noChangeShapeType="1"/>
            </p:cNvSpPr>
            <p:nvPr/>
          </p:nvSpPr>
          <p:spPr bwMode="auto">
            <a:xfrm flipV="1">
              <a:off x="4266" y="3209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59" name="Line 23"/>
            <p:cNvSpPr>
              <a:spLocks noChangeShapeType="1"/>
            </p:cNvSpPr>
            <p:nvPr/>
          </p:nvSpPr>
          <p:spPr bwMode="auto">
            <a:xfrm flipH="1">
              <a:off x="2862" y="3209"/>
              <a:ext cx="140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0" name="Line 24"/>
            <p:cNvSpPr>
              <a:spLocks noChangeShapeType="1"/>
            </p:cNvSpPr>
            <p:nvPr/>
          </p:nvSpPr>
          <p:spPr bwMode="auto">
            <a:xfrm>
              <a:off x="2862" y="3209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1" name="Line 25"/>
            <p:cNvSpPr>
              <a:spLocks noChangeShapeType="1"/>
            </p:cNvSpPr>
            <p:nvPr/>
          </p:nvSpPr>
          <p:spPr bwMode="auto">
            <a:xfrm>
              <a:off x="2758" y="3113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2" name="Line 26"/>
            <p:cNvSpPr>
              <a:spLocks noChangeShapeType="1"/>
            </p:cNvSpPr>
            <p:nvPr/>
          </p:nvSpPr>
          <p:spPr bwMode="auto">
            <a:xfrm flipH="1">
              <a:off x="2758" y="3113"/>
              <a:ext cx="26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3" name="Text Box 27"/>
            <p:cNvSpPr txBox="1">
              <a:spLocks noChangeArrowheads="1"/>
            </p:cNvSpPr>
            <p:nvPr/>
          </p:nvSpPr>
          <p:spPr bwMode="auto">
            <a:xfrm>
              <a:off x="4318" y="3209"/>
              <a:ext cx="2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x</a:t>
              </a:r>
            </a:p>
          </p:txBody>
        </p:sp>
        <p:sp>
          <p:nvSpPr>
            <p:cNvPr id="679964" name="Line 28"/>
            <p:cNvSpPr>
              <a:spLocks noChangeShapeType="1"/>
            </p:cNvSpPr>
            <p:nvPr/>
          </p:nvSpPr>
          <p:spPr bwMode="auto">
            <a:xfrm>
              <a:off x="5705" y="3607"/>
              <a:ext cx="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5" name="Line 29"/>
            <p:cNvSpPr>
              <a:spLocks noChangeShapeType="1"/>
            </p:cNvSpPr>
            <p:nvPr/>
          </p:nvSpPr>
          <p:spPr bwMode="auto">
            <a:xfrm>
              <a:off x="6023" y="360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6" name="Line 30"/>
            <p:cNvSpPr>
              <a:spLocks noChangeShapeType="1"/>
            </p:cNvSpPr>
            <p:nvPr/>
          </p:nvSpPr>
          <p:spPr bwMode="auto">
            <a:xfrm flipH="1" flipV="1">
              <a:off x="2394" y="3833"/>
              <a:ext cx="362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7" name="Line 31"/>
            <p:cNvSpPr>
              <a:spLocks noChangeShapeType="1"/>
            </p:cNvSpPr>
            <p:nvPr/>
          </p:nvSpPr>
          <p:spPr bwMode="auto">
            <a:xfrm flipV="1">
              <a:off x="2394" y="3593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68" name="Line 32"/>
            <p:cNvSpPr>
              <a:spLocks noChangeShapeType="1"/>
            </p:cNvSpPr>
            <p:nvPr/>
          </p:nvSpPr>
          <p:spPr bwMode="auto">
            <a:xfrm>
              <a:off x="2394" y="3593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79969" name="Group 33"/>
          <p:cNvGrpSpPr>
            <a:grpSpLocks/>
          </p:cNvGrpSpPr>
          <p:nvPr/>
        </p:nvGrpSpPr>
        <p:grpSpPr bwMode="auto">
          <a:xfrm>
            <a:off x="3973513" y="3141663"/>
            <a:ext cx="1995487" cy="1092200"/>
            <a:chOff x="2712" y="1979"/>
            <a:chExt cx="1361" cy="688"/>
          </a:xfrm>
        </p:grpSpPr>
        <p:sp>
          <p:nvSpPr>
            <p:cNvPr id="679970" name="Rectangle 34"/>
            <p:cNvSpPr>
              <a:spLocks noChangeArrowheads="1"/>
            </p:cNvSpPr>
            <p:nvPr/>
          </p:nvSpPr>
          <p:spPr bwMode="auto">
            <a:xfrm>
              <a:off x="3296" y="225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1" name="Rectangle 35"/>
            <p:cNvSpPr>
              <a:spLocks noChangeArrowheads="1"/>
            </p:cNvSpPr>
            <p:nvPr/>
          </p:nvSpPr>
          <p:spPr bwMode="auto">
            <a:xfrm>
              <a:off x="2984" y="225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f</a:t>
              </a:r>
              <a:endParaRPr lang="it-IT"/>
            </a:p>
          </p:txBody>
        </p:sp>
        <p:sp>
          <p:nvSpPr>
            <p:cNvPr id="679972" name="Rectangle 36"/>
            <p:cNvSpPr>
              <a:spLocks noChangeArrowheads="1"/>
            </p:cNvSpPr>
            <p:nvPr/>
          </p:nvSpPr>
          <p:spPr bwMode="auto">
            <a:xfrm>
              <a:off x="3608" y="2259"/>
              <a:ext cx="3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3" name="Line 37"/>
            <p:cNvSpPr>
              <a:spLocks noChangeShapeType="1"/>
            </p:cNvSpPr>
            <p:nvPr/>
          </p:nvSpPr>
          <p:spPr bwMode="auto">
            <a:xfrm flipV="1">
              <a:off x="3452" y="2115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4" name="Line 38"/>
            <p:cNvSpPr>
              <a:spLocks noChangeShapeType="1"/>
            </p:cNvSpPr>
            <p:nvPr/>
          </p:nvSpPr>
          <p:spPr bwMode="auto">
            <a:xfrm flipH="1">
              <a:off x="3296" y="2115"/>
              <a:ext cx="1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5" name="Line 39"/>
            <p:cNvSpPr>
              <a:spLocks noChangeShapeType="1"/>
            </p:cNvSpPr>
            <p:nvPr/>
          </p:nvSpPr>
          <p:spPr bwMode="auto">
            <a:xfrm>
              <a:off x="3296" y="2115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6" name="Line 40"/>
            <p:cNvSpPr>
              <a:spLocks noChangeShapeType="1"/>
            </p:cNvSpPr>
            <p:nvPr/>
          </p:nvSpPr>
          <p:spPr bwMode="auto">
            <a:xfrm flipH="1" flipV="1">
              <a:off x="2712" y="239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7" name="Line 41"/>
            <p:cNvSpPr>
              <a:spLocks noChangeShapeType="1"/>
            </p:cNvSpPr>
            <p:nvPr/>
          </p:nvSpPr>
          <p:spPr bwMode="auto">
            <a:xfrm>
              <a:off x="2712" y="2395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8" name="Line 42"/>
            <p:cNvSpPr>
              <a:spLocks noChangeShapeType="1"/>
            </p:cNvSpPr>
            <p:nvPr/>
          </p:nvSpPr>
          <p:spPr bwMode="auto">
            <a:xfrm flipH="1">
              <a:off x="2712" y="2667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79" name="Line 43"/>
            <p:cNvSpPr>
              <a:spLocks noChangeShapeType="1"/>
            </p:cNvSpPr>
            <p:nvPr/>
          </p:nvSpPr>
          <p:spPr bwMode="auto">
            <a:xfrm>
              <a:off x="3755" y="2395"/>
              <a:ext cx="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80" name="Line 44"/>
            <p:cNvSpPr>
              <a:spLocks noChangeShapeType="1"/>
            </p:cNvSpPr>
            <p:nvPr/>
          </p:nvSpPr>
          <p:spPr bwMode="auto">
            <a:xfrm>
              <a:off x="4073" y="239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81" name="Text Box 45"/>
            <p:cNvSpPr txBox="1">
              <a:spLocks noChangeArrowheads="1"/>
            </p:cNvSpPr>
            <p:nvPr/>
          </p:nvSpPr>
          <p:spPr bwMode="auto">
            <a:xfrm>
              <a:off x="3528" y="1979"/>
              <a:ext cx="2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x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962" name="Group 2"/>
          <p:cNvGrpSpPr>
            <a:grpSpLocks/>
          </p:cNvGrpSpPr>
          <p:nvPr/>
        </p:nvGrpSpPr>
        <p:grpSpPr bwMode="auto">
          <a:xfrm>
            <a:off x="914400" y="533400"/>
            <a:ext cx="7010400" cy="2590800"/>
            <a:chOff x="576" y="336"/>
            <a:chExt cx="4416" cy="1632"/>
          </a:xfrm>
        </p:grpSpPr>
        <p:sp>
          <p:nvSpPr>
            <p:cNvPr id="680963" name="Rectangle 3"/>
            <p:cNvSpPr>
              <a:spLocks noChangeArrowheads="1"/>
            </p:cNvSpPr>
            <p:nvPr/>
          </p:nvSpPr>
          <p:spPr bwMode="auto">
            <a:xfrm>
              <a:off x="1104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64" name="Rectangle 4"/>
            <p:cNvSpPr>
              <a:spLocks noChangeArrowheads="1"/>
            </p:cNvSpPr>
            <p:nvPr/>
          </p:nvSpPr>
          <p:spPr bwMode="auto">
            <a:xfrm>
              <a:off x="816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dirty="0"/>
                <a:t>c</a:t>
              </a:r>
              <a:endParaRPr lang="it-IT" dirty="0"/>
            </a:p>
          </p:txBody>
        </p:sp>
        <p:sp>
          <p:nvSpPr>
            <p:cNvPr id="680965" name="Rectangle 5"/>
            <p:cNvSpPr>
              <a:spLocks noChangeArrowheads="1"/>
            </p:cNvSpPr>
            <p:nvPr/>
          </p:nvSpPr>
          <p:spPr bwMode="auto">
            <a:xfrm>
              <a:off x="1392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66" name="Rectangle 6"/>
            <p:cNvSpPr>
              <a:spLocks noChangeArrowheads="1"/>
            </p:cNvSpPr>
            <p:nvPr/>
          </p:nvSpPr>
          <p:spPr bwMode="auto">
            <a:xfrm>
              <a:off x="2160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67" name="Rectangle 7"/>
            <p:cNvSpPr>
              <a:spLocks noChangeArrowheads="1"/>
            </p:cNvSpPr>
            <p:nvPr/>
          </p:nvSpPr>
          <p:spPr bwMode="auto">
            <a:xfrm>
              <a:off x="1872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h</a:t>
              </a:r>
              <a:endParaRPr lang="it-IT"/>
            </a:p>
          </p:txBody>
        </p:sp>
        <p:sp>
          <p:nvSpPr>
            <p:cNvPr id="680968" name="Rectangle 8"/>
            <p:cNvSpPr>
              <a:spLocks noChangeArrowheads="1"/>
            </p:cNvSpPr>
            <p:nvPr/>
          </p:nvSpPr>
          <p:spPr bwMode="auto">
            <a:xfrm>
              <a:off x="2448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69" name="Rectangle 9"/>
            <p:cNvSpPr>
              <a:spLocks noChangeArrowheads="1"/>
            </p:cNvSpPr>
            <p:nvPr/>
          </p:nvSpPr>
          <p:spPr bwMode="auto">
            <a:xfrm>
              <a:off x="3216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0" name="Rectangle 10"/>
            <p:cNvSpPr>
              <a:spLocks noChangeArrowheads="1"/>
            </p:cNvSpPr>
            <p:nvPr/>
          </p:nvSpPr>
          <p:spPr bwMode="auto">
            <a:xfrm>
              <a:off x="2928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e</a:t>
              </a:r>
              <a:endParaRPr lang="it-IT"/>
            </a:p>
          </p:txBody>
        </p:sp>
        <p:sp>
          <p:nvSpPr>
            <p:cNvPr id="680971" name="Rectangle 11"/>
            <p:cNvSpPr>
              <a:spLocks noChangeArrowheads="1"/>
            </p:cNvSpPr>
            <p:nvPr/>
          </p:nvSpPr>
          <p:spPr bwMode="auto">
            <a:xfrm>
              <a:off x="3504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2" name="Rectangle 12"/>
            <p:cNvSpPr>
              <a:spLocks noChangeArrowheads="1"/>
            </p:cNvSpPr>
            <p:nvPr/>
          </p:nvSpPr>
          <p:spPr bwMode="auto">
            <a:xfrm>
              <a:off x="4272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3" name="Rectangle 13"/>
            <p:cNvSpPr>
              <a:spLocks noChangeArrowheads="1"/>
            </p:cNvSpPr>
            <p:nvPr/>
          </p:nvSpPr>
          <p:spPr bwMode="auto">
            <a:xfrm>
              <a:off x="3984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b</a:t>
              </a:r>
              <a:endParaRPr lang="it-IT"/>
            </a:p>
          </p:txBody>
        </p:sp>
        <p:sp>
          <p:nvSpPr>
            <p:cNvPr id="680974" name="Rectangle 14"/>
            <p:cNvSpPr>
              <a:spLocks noChangeArrowheads="1"/>
            </p:cNvSpPr>
            <p:nvPr/>
          </p:nvSpPr>
          <p:spPr bwMode="auto">
            <a:xfrm>
              <a:off x="4560" y="76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/>
            </a:p>
          </p:txBody>
        </p:sp>
        <p:sp>
          <p:nvSpPr>
            <p:cNvPr id="680975" name="Line 15"/>
            <p:cNvSpPr>
              <a:spLocks noChangeShapeType="1"/>
            </p:cNvSpPr>
            <p:nvPr/>
          </p:nvSpPr>
          <p:spPr bwMode="auto">
            <a:xfrm>
              <a:off x="1536" y="9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6" name="Line 16"/>
            <p:cNvSpPr>
              <a:spLocks noChangeShapeType="1"/>
            </p:cNvSpPr>
            <p:nvPr/>
          </p:nvSpPr>
          <p:spPr bwMode="auto">
            <a:xfrm>
              <a:off x="2592" y="9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7" name="Line 17"/>
            <p:cNvSpPr>
              <a:spLocks noChangeShapeType="1"/>
            </p:cNvSpPr>
            <p:nvPr/>
          </p:nvSpPr>
          <p:spPr bwMode="auto">
            <a:xfrm>
              <a:off x="3648" y="9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8" name="Line 18"/>
            <p:cNvSpPr>
              <a:spLocks noChangeShapeType="1"/>
            </p:cNvSpPr>
            <p:nvPr/>
          </p:nvSpPr>
          <p:spPr bwMode="auto">
            <a:xfrm flipV="1">
              <a:off x="3360" y="432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79" name="Line 19"/>
            <p:cNvSpPr>
              <a:spLocks noChangeShapeType="1"/>
            </p:cNvSpPr>
            <p:nvPr/>
          </p:nvSpPr>
          <p:spPr bwMode="auto">
            <a:xfrm flipV="1">
              <a:off x="1248" y="624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0" name="Line 20"/>
            <p:cNvSpPr>
              <a:spLocks noChangeShapeType="1"/>
            </p:cNvSpPr>
            <p:nvPr/>
          </p:nvSpPr>
          <p:spPr bwMode="auto">
            <a:xfrm flipH="1">
              <a:off x="1104" y="624"/>
              <a:ext cx="1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1" name="Line 21"/>
            <p:cNvSpPr>
              <a:spLocks noChangeShapeType="1"/>
            </p:cNvSpPr>
            <p:nvPr/>
          </p:nvSpPr>
          <p:spPr bwMode="auto">
            <a:xfrm>
              <a:off x="1104" y="624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2" name="Line 22"/>
            <p:cNvSpPr>
              <a:spLocks noChangeShapeType="1"/>
            </p:cNvSpPr>
            <p:nvPr/>
          </p:nvSpPr>
          <p:spPr bwMode="auto">
            <a:xfrm flipV="1">
              <a:off x="2304" y="528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3" name="Line 23"/>
            <p:cNvSpPr>
              <a:spLocks noChangeShapeType="1"/>
            </p:cNvSpPr>
            <p:nvPr/>
          </p:nvSpPr>
          <p:spPr bwMode="auto">
            <a:xfrm flipH="1">
              <a:off x="1008" y="528"/>
              <a:ext cx="12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4" name="Line 24"/>
            <p:cNvSpPr>
              <a:spLocks noChangeShapeType="1"/>
            </p:cNvSpPr>
            <p:nvPr/>
          </p:nvSpPr>
          <p:spPr bwMode="auto">
            <a:xfrm>
              <a:off x="1008" y="528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5" name="Line 25"/>
            <p:cNvSpPr>
              <a:spLocks noChangeShapeType="1"/>
            </p:cNvSpPr>
            <p:nvPr/>
          </p:nvSpPr>
          <p:spPr bwMode="auto">
            <a:xfrm>
              <a:off x="912" y="432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6" name="Line 26"/>
            <p:cNvSpPr>
              <a:spLocks noChangeShapeType="1"/>
            </p:cNvSpPr>
            <p:nvPr/>
          </p:nvSpPr>
          <p:spPr bwMode="auto">
            <a:xfrm>
              <a:off x="816" y="336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7" name="Line 27"/>
            <p:cNvSpPr>
              <a:spLocks noChangeShapeType="1"/>
            </p:cNvSpPr>
            <p:nvPr/>
          </p:nvSpPr>
          <p:spPr bwMode="auto">
            <a:xfrm flipH="1">
              <a:off x="816" y="336"/>
              <a:ext cx="3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8" name="Line 28"/>
            <p:cNvSpPr>
              <a:spLocks noChangeShapeType="1"/>
            </p:cNvSpPr>
            <p:nvPr/>
          </p:nvSpPr>
          <p:spPr bwMode="auto">
            <a:xfrm flipH="1">
              <a:off x="912" y="432"/>
              <a:ext cx="244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89" name="Line 29"/>
            <p:cNvSpPr>
              <a:spLocks noChangeShapeType="1"/>
            </p:cNvSpPr>
            <p:nvPr/>
          </p:nvSpPr>
          <p:spPr bwMode="auto">
            <a:xfrm flipV="1">
              <a:off x="4416" y="336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90" name="Rectangle 30"/>
            <p:cNvSpPr>
              <a:spLocks noChangeArrowheads="1"/>
            </p:cNvSpPr>
            <p:nvPr/>
          </p:nvSpPr>
          <p:spPr bwMode="auto">
            <a:xfrm>
              <a:off x="1104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91" name="Rectangle 31"/>
            <p:cNvSpPr>
              <a:spLocks noChangeArrowheads="1"/>
            </p:cNvSpPr>
            <p:nvPr/>
          </p:nvSpPr>
          <p:spPr bwMode="auto">
            <a:xfrm>
              <a:off x="816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f</a:t>
              </a:r>
              <a:endParaRPr lang="it-IT"/>
            </a:p>
          </p:txBody>
        </p:sp>
        <p:sp>
          <p:nvSpPr>
            <p:cNvPr id="680992" name="Rectangle 32"/>
            <p:cNvSpPr>
              <a:spLocks noChangeArrowheads="1"/>
            </p:cNvSpPr>
            <p:nvPr/>
          </p:nvSpPr>
          <p:spPr bwMode="auto">
            <a:xfrm>
              <a:off x="1392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93" name="Rectangle 33"/>
            <p:cNvSpPr>
              <a:spLocks noChangeArrowheads="1"/>
            </p:cNvSpPr>
            <p:nvPr/>
          </p:nvSpPr>
          <p:spPr bwMode="auto">
            <a:xfrm>
              <a:off x="2160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94" name="Rectangle 34"/>
            <p:cNvSpPr>
              <a:spLocks noChangeArrowheads="1"/>
            </p:cNvSpPr>
            <p:nvPr/>
          </p:nvSpPr>
          <p:spPr bwMode="auto">
            <a:xfrm>
              <a:off x="1872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g</a:t>
              </a:r>
              <a:endParaRPr lang="it-IT"/>
            </a:p>
          </p:txBody>
        </p:sp>
        <p:sp>
          <p:nvSpPr>
            <p:cNvPr id="680995" name="Rectangle 35"/>
            <p:cNvSpPr>
              <a:spLocks noChangeArrowheads="1"/>
            </p:cNvSpPr>
            <p:nvPr/>
          </p:nvSpPr>
          <p:spPr bwMode="auto">
            <a:xfrm>
              <a:off x="2448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96" name="Rectangle 36"/>
            <p:cNvSpPr>
              <a:spLocks noChangeArrowheads="1"/>
            </p:cNvSpPr>
            <p:nvPr/>
          </p:nvSpPr>
          <p:spPr bwMode="auto">
            <a:xfrm>
              <a:off x="3216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0997" name="Rectangle 37"/>
            <p:cNvSpPr>
              <a:spLocks noChangeArrowheads="1"/>
            </p:cNvSpPr>
            <p:nvPr/>
          </p:nvSpPr>
          <p:spPr bwMode="auto">
            <a:xfrm>
              <a:off x="2928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d</a:t>
              </a:r>
              <a:endParaRPr lang="it-IT"/>
            </a:p>
          </p:txBody>
        </p:sp>
        <p:sp>
          <p:nvSpPr>
            <p:cNvPr id="680998" name="Rectangle 38"/>
            <p:cNvSpPr>
              <a:spLocks noChangeArrowheads="1"/>
            </p:cNvSpPr>
            <p:nvPr/>
          </p:nvSpPr>
          <p:spPr bwMode="auto">
            <a:xfrm>
              <a:off x="3504" y="1584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/>
            </a:p>
          </p:txBody>
        </p:sp>
        <p:sp>
          <p:nvSpPr>
            <p:cNvPr id="680999" name="Line 39"/>
            <p:cNvSpPr>
              <a:spLocks noChangeShapeType="1"/>
            </p:cNvSpPr>
            <p:nvPr/>
          </p:nvSpPr>
          <p:spPr bwMode="auto">
            <a:xfrm>
              <a:off x="1536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0" name="Line 40"/>
            <p:cNvSpPr>
              <a:spLocks noChangeShapeType="1"/>
            </p:cNvSpPr>
            <p:nvPr/>
          </p:nvSpPr>
          <p:spPr bwMode="auto">
            <a:xfrm>
              <a:off x="2592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1" name="Line 41"/>
            <p:cNvSpPr>
              <a:spLocks noChangeShapeType="1"/>
            </p:cNvSpPr>
            <p:nvPr/>
          </p:nvSpPr>
          <p:spPr bwMode="auto">
            <a:xfrm flipV="1">
              <a:off x="3360" y="1248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2" name="Line 42"/>
            <p:cNvSpPr>
              <a:spLocks noChangeShapeType="1"/>
            </p:cNvSpPr>
            <p:nvPr/>
          </p:nvSpPr>
          <p:spPr bwMode="auto">
            <a:xfrm flipV="1">
              <a:off x="1248" y="1440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3" name="Line 43"/>
            <p:cNvSpPr>
              <a:spLocks noChangeShapeType="1"/>
            </p:cNvSpPr>
            <p:nvPr/>
          </p:nvSpPr>
          <p:spPr bwMode="auto">
            <a:xfrm flipH="1">
              <a:off x="1104" y="1440"/>
              <a:ext cx="1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4" name="Line 44"/>
            <p:cNvSpPr>
              <a:spLocks noChangeShapeType="1"/>
            </p:cNvSpPr>
            <p:nvPr/>
          </p:nvSpPr>
          <p:spPr bwMode="auto">
            <a:xfrm>
              <a:off x="1104" y="1440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5" name="Line 45"/>
            <p:cNvSpPr>
              <a:spLocks noChangeShapeType="1"/>
            </p:cNvSpPr>
            <p:nvPr/>
          </p:nvSpPr>
          <p:spPr bwMode="auto">
            <a:xfrm flipV="1">
              <a:off x="2304" y="1344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6" name="Line 46"/>
            <p:cNvSpPr>
              <a:spLocks noChangeShapeType="1"/>
            </p:cNvSpPr>
            <p:nvPr/>
          </p:nvSpPr>
          <p:spPr bwMode="auto">
            <a:xfrm flipH="1">
              <a:off x="1008" y="1344"/>
              <a:ext cx="12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7" name="Line 47"/>
            <p:cNvSpPr>
              <a:spLocks noChangeShapeType="1"/>
            </p:cNvSpPr>
            <p:nvPr/>
          </p:nvSpPr>
          <p:spPr bwMode="auto">
            <a:xfrm>
              <a:off x="1008" y="1344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8" name="Line 48"/>
            <p:cNvSpPr>
              <a:spLocks noChangeShapeType="1"/>
            </p:cNvSpPr>
            <p:nvPr/>
          </p:nvSpPr>
          <p:spPr bwMode="auto">
            <a:xfrm>
              <a:off x="912" y="1248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09" name="Line 49"/>
            <p:cNvSpPr>
              <a:spLocks noChangeShapeType="1"/>
            </p:cNvSpPr>
            <p:nvPr/>
          </p:nvSpPr>
          <p:spPr bwMode="auto">
            <a:xfrm flipH="1">
              <a:off x="912" y="1248"/>
              <a:ext cx="244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0" name="Text Box 50"/>
            <p:cNvSpPr txBox="1">
              <a:spLocks noChangeArrowheads="1"/>
            </p:cNvSpPr>
            <p:nvPr/>
          </p:nvSpPr>
          <p:spPr bwMode="auto">
            <a:xfrm>
              <a:off x="2352" y="52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x</a:t>
              </a:r>
            </a:p>
          </p:txBody>
        </p:sp>
        <p:sp>
          <p:nvSpPr>
            <p:cNvPr id="681011" name="Text Box 51"/>
            <p:cNvSpPr txBox="1">
              <a:spLocks noChangeArrowheads="1"/>
            </p:cNvSpPr>
            <p:nvPr/>
          </p:nvSpPr>
          <p:spPr bwMode="auto">
            <a:xfrm>
              <a:off x="2352" y="134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y</a:t>
              </a:r>
            </a:p>
          </p:txBody>
        </p:sp>
        <p:sp>
          <p:nvSpPr>
            <p:cNvPr id="681012" name="Line 52"/>
            <p:cNvSpPr>
              <a:spLocks noChangeShapeType="1"/>
            </p:cNvSpPr>
            <p:nvPr/>
          </p:nvSpPr>
          <p:spPr bwMode="auto">
            <a:xfrm>
              <a:off x="4704" y="9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3" name="Line 53"/>
            <p:cNvSpPr>
              <a:spLocks noChangeShapeType="1"/>
            </p:cNvSpPr>
            <p:nvPr/>
          </p:nvSpPr>
          <p:spPr bwMode="auto">
            <a:xfrm>
              <a:off x="4992" y="9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4" name="Line 54"/>
            <p:cNvSpPr>
              <a:spLocks noChangeShapeType="1"/>
            </p:cNvSpPr>
            <p:nvPr/>
          </p:nvSpPr>
          <p:spPr bwMode="auto">
            <a:xfrm flipH="1">
              <a:off x="576" y="1152"/>
              <a:ext cx="4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5" name="Line 55"/>
            <p:cNvSpPr>
              <a:spLocks noChangeShapeType="1"/>
            </p:cNvSpPr>
            <p:nvPr/>
          </p:nvSpPr>
          <p:spPr bwMode="auto">
            <a:xfrm flipV="1">
              <a:off x="576" y="9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6" name="Line 56"/>
            <p:cNvSpPr>
              <a:spLocks noChangeShapeType="1"/>
            </p:cNvSpPr>
            <p:nvPr/>
          </p:nvSpPr>
          <p:spPr bwMode="auto">
            <a:xfrm>
              <a:off x="576" y="9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7" name="Line 57"/>
            <p:cNvSpPr>
              <a:spLocks noChangeShapeType="1"/>
            </p:cNvSpPr>
            <p:nvPr/>
          </p:nvSpPr>
          <p:spPr bwMode="auto">
            <a:xfrm flipV="1">
              <a:off x="576" y="17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8" name="Line 58"/>
            <p:cNvSpPr>
              <a:spLocks noChangeShapeType="1"/>
            </p:cNvSpPr>
            <p:nvPr/>
          </p:nvSpPr>
          <p:spPr bwMode="auto">
            <a:xfrm>
              <a:off x="576" y="17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19" name="Line 59"/>
            <p:cNvSpPr>
              <a:spLocks noChangeShapeType="1"/>
            </p:cNvSpPr>
            <p:nvPr/>
          </p:nvSpPr>
          <p:spPr bwMode="auto">
            <a:xfrm flipH="1">
              <a:off x="576" y="1968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20" name="Line 60"/>
            <p:cNvSpPr>
              <a:spLocks noChangeShapeType="1"/>
            </p:cNvSpPr>
            <p:nvPr/>
          </p:nvSpPr>
          <p:spPr bwMode="auto">
            <a:xfrm>
              <a:off x="3648" y="172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21" name="Line 61"/>
            <p:cNvSpPr>
              <a:spLocks noChangeShapeType="1"/>
            </p:cNvSpPr>
            <p:nvPr/>
          </p:nvSpPr>
          <p:spPr bwMode="auto">
            <a:xfrm>
              <a:off x="3936" y="17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1022" name="Group 62"/>
          <p:cNvGrpSpPr>
            <a:grpSpLocks/>
          </p:cNvGrpSpPr>
          <p:nvPr/>
        </p:nvGrpSpPr>
        <p:grpSpPr bwMode="auto">
          <a:xfrm>
            <a:off x="914400" y="3657600"/>
            <a:ext cx="7467600" cy="2590800"/>
            <a:chOff x="576" y="2304"/>
            <a:chExt cx="4704" cy="1632"/>
          </a:xfrm>
        </p:grpSpPr>
        <p:sp>
          <p:nvSpPr>
            <p:cNvPr id="681023" name="Rectangle 63"/>
            <p:cNvSpPr>
              <a:spLocks noChangeArrowheads="1"/>
            </p:cNvSpPr>
            <p:nvPr/>
          </p:nvSpPr>
          <p:spPr bwMode="auto">
            <a:xfrm>
              <a:off x="1104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24" name="Rectangle 64"/>
            <p:cNvSpPr>
              <a:spLocks noChangeArrowheads="1"/>
            </p:cNvSpPr>
            <p:nvPr/>
          </p:nvSpPr>
          <p:spPr bwMode="auto">
            <a:xfrm>
              <a:off x="816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c</a:t>
              </a:r>
              <a:endParaRPr lang="it-IT"/>
            </a:p>
          </p:txBody>
        </p:sp>
        <p:sp>
          <p:nvSpPr>
            <p:cNvPr id="681025" name="Rectangle 65"/>
            <p:cNvSpPr>
              <a:spLocks noChangeArrowheads="1"/>
            </p:cNvSpPr>
            <p:nvPr/>
          </p:nvSpPr>
          <p:spPr bwMode="auto">
            <a:xfrm>
              <a:off x="1392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26" name="Rectangle 66"/>
            <p:cNvSpPr>
              <a:spLocks noChangeArrowheads="1"/>
            </p:cNvSpPr>
            <p:nvPr/>
          </p:nvSpPr>
          <p:spPr bwMode="auto">
            <a:xfrm>
              <a:off x="2160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27" name="Rectangle 67"/>
            <p:cNvSpPr>
              <a:spLocks noChangeArrowheads="1"/>
            </p:cNvSpPr>
            <p:nvPr/>
          </p:nvSpPr>
          <p:spPr bwMode="auto">
            <a:xfrm>
              <a:off x="1872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h</a:t>
              </a:r>
              <a:endParaRPr lang="it-IT"/>
            </a:p>
          </p:txBody>
        </p:sp>
        <p:sp>
          <p:nvSpPr>
            <p:cNvPr id="681028" name="Rectangle 68"/>
            <p:cNvSpPr>
              <a:spLocks noChangeArrowheads="1"/>
            </p:cNvSpPr>
            <p:nvPr/>
          </p:nvSpPr>
          <p:spPr bwMode="auto">
            <a:xfrm>
              <a:off x="2448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29" name="Rectangle 69"/>
            <p:cNvSpPr>
              <a:spLocks noChangeArrowheads="1"/>
            </p:cNvSpPr>
            <p:nvPr/>
          </p:nvSpPr>
          <p:spPr bwMode="auto">
            <a:xfrm>
              <a:off x="3504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30" name="Rectangle 70"/>
            <p:cNvSpPr>
              <a:spLocks noChangeArrowheads="1"/>
            </p:cNvSpPr>
            <p:nvPr/>
          </p:nvSpPr>
          <p:spPr bwMode="auto">
            <a:xfrm>
              <a:off x="3216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e</a:t>
              </a:r>
              <a:endParaRPr lang="it-IT"/>
            </a:p>
          </p:txBody>
        </p:sp>
        <p:sp>
          <p:nvSpPr>
            <p:cNvPr id="681031" name="Rectangle 71"/>
            <p:cNvSpPr>
              <a:spLocks noChangeArrowheads="1"/>
            </p:cNvSpPr>
            <p:nvPr/>
          </p:nvSpPr>
          <p:spPr bwMode="auto">
            <a:xfrm>
              <a:off x="3792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32" name="Rectangle 72"/>
            <p:cNvSpPr>
              <a:spLocks noChangeArrowheads="1"/>
            </p:cNvSpPr>
            <p:nvPr/>
          </p:nvSpPr>
          <p:spPr bwMode="auto">
            <a:xfrm>
              <a:off x="4560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33" name="Rectangle 73"/>
            <p:cNvSpPr>
              <a:spLocks noChangeArrowheads="1"/>
            </p:cNvSpPr>
            <p:nvPr/>
          </p:nvSpPr>
          <p:spPr bwMode="auto">
            <a:xfrm>
              <a:off x="4272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b</a:t>
              </a:r>
              <a:endParaRPr lang="it-IT"/>
            </a:p>
          </p:txBody>
        </p:sp>
        <p:sp>
          <p:nvSpPr>
            <p:cNvPr id="681034" name="Rectangle 74"/>
            <p:cNvSpPr>
              <a:spLocks noChangeArrowheads="1"/>
            </p:cNvSpPr>
            <p:nvPr/>
          </p:nvSpPr>
          <p:spPr bwMode="auto">
            <a:xfrm>
              <a:off x="4848" y="273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/>
            </a:p>
          </p:txBody>
        </p:sp>
        <p:sp>
          <p:nvSpPr>
            <p:cNvPr id="681035" name="Line 75"/>
            <p:cNvSpPr>
              <a:spLocks noChangeShapeType="1"/>
            </p:cNvSpPr>
            <p:nvPr/>
          </p:nvSpPr>
          <p:spPr bwMode="auto">
            <a:xfrm>
              <a:off x="1536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36" name="Line 76"/>
            <p:cNvSpPr>
              <a:spLocks noChangeShapeType="1"/>
            </p:cNvSpPr>
            <p:nvPr/>
          </p:nvSpPr>
          <p:spPr bwMode="auto">
            <a:xfrm>
              <a:off x="3072" y="288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37" name="Line 77"/>
            <p:cNvSpPr>
              <a:spLocks noChangeShapeType="1"/>
            </p:cNvSpPr>
            <p:nvPr/>
          </p:nvSpPr>
          <p:spPr bwMode="auto">
            <a:xfrm>
              <a:off x="3936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38" name="Line 78"/>
            <p:cNvSpPr>
              <a:spLocks noChangeShapeType="1"/>
            </p:cNvSpPr>
            <p:nvPr/>
          </p:nvSpPr>
          <p:spPr bwMode="auto">
            <a:xfrm flipV="1">
              <a:off x="3648" y="2400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39" name="Line 79"/>
            <p:cNvSpPr>
              <a:spLocks noChangeShapeType="1"/>
            </p:cNvSpPr>
            <p:nvPr/>
          </p:nvSpPr>
          <p:spPr bwMode="auto">
            <a:xfrm flipV="1">
              <a:off x="1248" y="2592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0" name="Line 80"/>
            <p:cNvSpPr>
              <a:spLocks noChangeShapeType="1"/>
            </p:cNvSpPr>
            <p:nvPr/>
          </p:nvSpPr>
          <p:spPr bwMode="auto">
            <a:xfrm flipH="1">
              <a:off x="1104" y="2592"/>
              <a:ext cx="1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1" name="Line 81"/>
            <p:cNvSpPr>
              <a:spLocks noChangeShapeType="1"/>
            </p:cNvSpPr>
            <p:nvPr/>
          </p:nvSpPr>
          <p:spPr bwMode="auto">
            <a:xfrm>
              <a:off x="1104" y="2592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2" name="Line 82"/>
            <p:cNvSpPr>
              <a:spLocks noChangeShapeType="1"/>
            </p:cNvSpPr>
            <p:nvPr/>
          </p:nvSpPr>
          <p:spPr bwMode="auto">
            <a:xfrm flipV="1">
              <a:off x="2304" y="2496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3" name="Line 83"/>
            <p:cNvSpPr>
              <a:spLocks noChangeShapeType="1"/>
            </p:cNvSpPr>
            <p:nvPr/>
          </p:nvSpPr>
          <p:spPr bwMode="auto">
            <a:xfrm flipH="1">
              <a:off x="1008" y="2496"/>
              <a:ext cx="12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4" name="Line 84"/>
            <p:cNvSpPr>
              <a:spLocks noChangeShapeType="1"/>
            </p:cNvSpPr>
            <p:nvPr/>
          </p:nvSpPr>
          <p:spPr bwMode="auto">
            <a:xfrm>
              <a:off x="1008" y="2496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5" name="Line 85"/>
            <p:cNvSpPr>
              <a:spLocks noChangeShapeType="1"/>
            </p:cNvSpPr>
            <p:nvPr/>
          </p:nvSpPr>
          <p:spPr bwMode="auto">
            <a:xfrm>
              <a:off x="912" y="2400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6" name="Line 86"/>
            <p:cNvSpPr>
              <a:spLocks noChangeShapeType="1"/>
            </p:cNvSpPr>
            <p:nvPr/>
          </p:nvSpPr>
          <p:spPr bwMode="auto">
            <a:xfrm>
              <a:off x="816" y="2304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7" name="Line 87"/>
            <p:cNvSpPr>
              <a:spLocks noChangeShapeType="1"/>
            </p:cNvSpPr>
            <p:nvPr/>
          </p:nvSpPr>
          <p:spPr bwMode="auto">
            <a:xfrm flipH="1">
              <a:off x="816" y="2304"/>
              <a:ext cx="38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8" name="Line 88"/>
            <p:cNvSpPr>
              <a:spLocks noChangeShapeType="1"/>
            </p:cNvSpPr>
            <p:nvPr/>
          </p:nvSpPr>
          <p:spPr bwMode="auto">
            <a:xfrm flipH="1">
              <a:off x="912" y="2400"/>
              <a:ext cx="27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49" name="Line 89"/>
            <p:cNvSpPr>
              <a:spLocks noChangeShapeType="1"/>
            </p:cNvSpPr>
            <p:nvPr/>
          </p:nvSpPr>
          <p:spPr bwMode="auto">
            <a:xfrm flipV="1">
              <a:off x="4704" y="2304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50" name="Rectangle 90"/>
            <p:cNvSpPr>
              <a:spLocks noChangeArrowheads="1"/>
            </p:cNvSpPr>
            <p:nvPr/>
          </p:nvSpPr>
          <p:spPr bwMode="auto">
            <a:xfrm>
              <a:off x="1104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51" name="Rectangle 91"/>
            <p:cNvSpPr>
              <a:spLocks noChangeArrowheads="1"/>
            </p:cNvSpPr>
            <p:nvPr/>
          </p:nvSpPr>
          <p:spPr bwMode="auto">
            <a:xfrm>
              <a:off x="816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f</a:t>
              </a:r>
              <a:endParaRPr lang="it-IT"/>
            </a:p>
          </p:txBody>
        </p:sp>
        <p:sp>
          <p:nvSpPr>
            <p:cNvPr id="681052" name="Rectangle 92"/>
            <p:cNvSpPr>
              <a:spLocks noChangeArrowheads="1"/>
            </p:cNvSpPr>
            <p:nvPr/>
          </p:nvSpPr>
          <p:spPr bwMode="auto">
            <a:xfrm>
              <a:off x="1392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53" name="Rectangle 93"/>
            <p:cNvSpPr>
              <a:spLocks noChangeArrowheads="1"/>
            </p:cNvSpPr>
            <p:nvPr/>
          </p:nvSpPr>
          <p:spPr bwMode="auto">
            <a:xfrm>
              <a:off x="2160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54" name="Rectangle 94"/>
            <p:cNvSpPr>
              <a:spLocks noChangeArrowheads="1"/>
            </p:cNvSpPr>
            <p:nvPr/>
          </p:nvSpPr>
          <p:spPr bwMode="auto">
            <a:xfrm>
              <a:off x="1872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g</a:t>
              </a:r>
              <a:endParaRPr lang="it-IT"/>
            </a:p>
          </p:txBody>
        </p:sp>
        <p:sp>
          <p:nvSpPr>
            <p:cNvPr id="681055" name="Rectangle 95"/>
            <p:cNvSpPr>
              <a:spLocks noChangeArrowheads="1"/>
            </p:cNvSpPr>
            <p:nvPr/>
          </p:nvSpPr>
          <p:spPr bwMode="auto">
            <a:xfrm>
              <a:off x="2448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56" name="Rectangle 96"/>
            <p:cNvSpPr>
              <a:spLocks noChangeArrowheads="1"/>
            </p:cNvSpPr>
            <p:nvPr/>
          </p:nvSpPr>
          <p:spPr bwMode="auto">
            <a:xfrm>
              <a:off x="3504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57" name="Rectangle 97"/>
            <p:cNvSpPr>
              <a:spLocks noChangeArrowheads="1"/>
            </p:cNvSpPr>
            <p:nvPr/>
          </p:nvSpPr>
          <p:spPr bwMode="auto">
            <a:xfrm>
              <a:off x="3216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/>
                <a:t>d</a:t>
              </a:r>
              <a:endParaRPr lang="it-IT"/>
            </a:p>
          </p:txBody>
        </p:sp>
        <p:sp>
          <p:nvSpPr>
            <p:cNvPr id="681058" name="Rectangle 98"/>
            <p:cNvSpPr>
              <a:spLocks noChangeArrowheads="1"/>
            </p:cNvSpPr>
            <p:nvPr/>
          </p:nvSpPr>
          <p:spPr bwMode="auto">
            <a:xfrm>
              <a:off x="3792" y="3552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/>
            </a:p>
          </p:txBody>
        </p:sp>
        <p:sp>
          <p:nvSpPr>
            <p:cNvPr id="681059" name="Line 99"/>
            <p:cNvSpPr>
              <a:spLocks noChangeShapeType="1"/>
            </p:cNvSpPr>
            <p:nvPr/>
          </p:nvSpPr>
          <p:spPr bwMode="auto">
            <a:xfrm>
              <a:off x="1536" y="36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0" name="Line 100"/>
            <p:cNvSpPr>
              <a:spLocks noChangeShapeType="1"/>
            </p:cNvSpPr>
            <p:nvPr/>
          </p:nvSpPr>
          <p:spPr bwMode="auto">
            <a:xfrm>
              <a:off x="3072" y="36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1" name="Text Box 101"/>
            <p:cNvSpPr txBox="1">
              <a:spLocks noChangeArrowheads="1"/>
            </p:cNvSpPr>
            <p:nvPr/>
          </p:nvSpPr>
          <p:spPr bwMode="auto">
            <a:xfrm>
              <a:off x="2352" y="2496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x</a:t>
              </a:r>
            </a:p>
          </p:txBody>
        </p:sp>
        <p:sp>
          <p:nvSpPr>
            <p:cNvPr id="681062" name="Text Box 102"/>
            <p:cNvSpPr txBox="1">
              <a:spLocks noChangeArrowheads="1"/>
            </p:cNvSpPr>
            <p:nvPr/>
          </p:nvSpPr>
          <p:spPr bwMode="auto">
            <a:xfrm>
              <a:off x="2352" y="331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y</a:t>
              </a:r>
            </a:p>
          </p:txBody>
        </p:sp>
        <p:sp>
          <p:nvSpPr>
            <p:cNvPr id="681063" name="Line 103"/>
            <p:cNvSpPr>
              <a:spLocks noChangeShapeType="1"/>
            </p:cNvSpPr>
            <p:nvPr/>
          </p:nvSpPr>
          <p:spPr bwMode="auto">
            <a:xfrm>
              <a:off x="4992" y="288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4" name="Line 104"/>
            <p:cNvSpPr>
              <a:spLocks noChangeShapeType="1"/>
            </p:cNvSpPr>
            <p:nvPr/>
          </p:nvSpPr>
          <p:spPr bwMode="auto">
            <a:xfrm>
              <a:off x="5280" y="288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5" name="Line 105"/>
            <p:cNvSpPr>
              <a:spLocks noChangeShapeType="1"/>
            </p:cNvSpPr>
            <p:nvPr/>
          </p:nvSpPr>
          <p:spPr bwMode="auto">
            <a:xfrm flipH="1">
              <a:off x="576" y="3120"/>
              <a:ext cx="47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6" name="Line 106"/>
            <p:cNvSpPr>
              <a:spLocks noChangeShapeType="1"/>
            </p:cNvSpPr>
            <p:nvPr/>
          </p:nvSpPr>
          <p:spPr bwMode="auto">
            <a:xfrm flipV="1">
              <a:off x="576" y="288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7" name="Line 107"/>
            <p:cNvSpPr>
              <a:spLocks noChangeShapeType="1"/>
            </p:cNvSpPr>
            <p:nvPr/>
          </p:nvSpPr>
          <p:spPr bwMode="auto">
            <a:xfrm>
              <a:off x="576" y="28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8" name="Line 108"/>
            <p:cNvSpPr>
              <a:spLocks noChangeShapeType="1"/>
            </p:cNvSpPr>
            <p:nvPr/>
          </p:nvSpPr>
          <p:spPr bwMode="auto">
            <a:xfrm flipV="1">
              <a:off x="576" y="36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69" name="Line 109"/>
            <p:cNvSpPr>
              <a:spLocks noChangeShapeType="1"/>
            </p:cNvSpPr>
            <p:nvPr/>
          </p:nvSpPr>
          <p:spPr bwMode="auto">
            <a:xfrm>
              <a:off x="576" y="369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0" name="Line 110"/>
            <p:cNvSpPr>
              <a:spLocks noChangeShapeType="1"/>
            </p:cNvSpPr>
            <p:nvPr/>
          </p:nvSpPr>
          <p:spPr bwMode="auto">
            <a:xfrm flipH="1">
              <a:off x="576" y="3936"/>
              <a:ext cx="3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1" name="Line 111"/>
            <p:cNvSpPr>
              <a:spLocks noChangeShapeType="1"/>
            </p:cNvSpPr>
            <p:nvPr/>
          </p:nvSpPr>
          <p:spPr bwMode="auto">
            <a:xfrm>
              <a:off x="3936" y="369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2" name="Line 112"/>
            <p:cNvSpPr>
              <a:spLocks noChangeShapeType="1"/>
            </p:cNvSpPr>
            <p:nvPr/>
          </p:nvSpPr>
          <p:spPr bwMode="auto">
            <a:xfrm>
              <a:off x="4224" y="36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3" name="Line 113"/>
            <p:cNvSpPr>
              <a:spLocks noChangeShapeType="1"/>
            </p:cNvSpPr>
            <p:nvPr/>
          </p:nvSpPr>
          <p:spPr bwMode="auto">
            <a:xfrm flipV="1">
              <a:off x="3648" y="3216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4" name="Line 114"/>
            <p:cNvSpPr>
              <a:spLocks noChangeShapeType="1"/>
            </p:cNvSpPr>
            <p:nvPr/>
          </p:nvSpPr>
          <p:spPr bwMode="auto">
            <a:xfrm flipV="1">
              <a:off x="1248" y="3408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5" name="Line 115"/>
            <p:cNvSpPr>
              <a:spLocks noChangeShapeType="1"/>
            </p:cNvSpPr>
            <p:nvPr/>
          </p:nvSpPr>
          <p:spPr bwMode="auto">
            <a:xfrm flipH="1">
              <a:off x="912" y="3408"/>
              <a:ext cx="3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6" name="Line 116"/>
            <p:cNvSpPr>
              <a:spLocks noChangeShapeType="1"/>
            </p:cNvSpPr>
            <p:nvPr/>
          </p:nvSpPr>
          <p:spPr bwMode="auto">
            <a:xfrm flipV="1">
              <a:off x="1104" y="2976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7" name="Line 117"/>
            <p:cNvSpPr>
              <a:spLocks noChangeShapeType="1"/>
            </p:cNvSpPr>
            <p:nvPr/>
          </p:nvSpPr>
          <p:spPr bwMode="auto">
            <a:xfrm flipV="1">
              <a:off x="2304" y="3312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8" name="Line 118"/>
            <p:cNvSpPr>
              <a:spLocks noChangeShapeType="1"/>
            </p:cNvSpPr>
            <p:nvPr/>
          </p:nvSpPr>
          <p:spPr bwMode="auto">
            <a:xfrm flipH="1">
              <a:off x="1008" y="3312"/>
              <a:ext cx="12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79" name="Line 119"/>
            <p:cNvSpPr>
              <a:spLocks noChangeShapeType="1"/>
            </p:cNvSpPr>
            <p:nvPr/>
          </p:nvSpPr>
          <p:spPr bwMode="auto">
            <a:xfrm flipV="1">
              <a:off x="1008" y="2976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80" name="Line 120"/>
            <p:cNvSpPr>
              <a:spLocks noChangeShapeType="1"/>
            </p:cNvSpPr>
            <p:nvPr/>
          </p:nvSpPr>
          <p:spPr bwMode="auto">
            <a:xfrm flipV="1">
              <a:off x="912" y="2976"/>
              <a:ext cx="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81" name="Line 121"/>
            <p:cNvSpPr>
              <a:spLocks noChangeShapeType="1"/>
            </p:cNvSpPr>
            <p:nvPr/>
          </p:nvSpPr>
          <p:spPr bwMode="auto">
            <a:xfrm flipH="1">
              <a:off x="1104" y="3216"/>
              <a:ext cx="25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82" name="Line 122"/>
            <p:cNvSpPr>
              <a:spLocks noChangeShapeType="1"/>
            </p:cNvSpPr>
            <p:nvPr/>
          </p:nvSpPr>
          <p:spPr bwMode="auto">
            <a:xfrm>
              <a:off x="2592" y="369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83" name="Line 123"/>
            <p:cNvSpPr>
              <a:spLocks noChangeShapeType="1"/>
            </p:cNvSpPr>
            <p:nvPr/>
          </p:nvSpPr>
          <p:spPr bwMode="auto">
            <a:xfrm>
              <a:off x="2592" y="28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84" name="Line 124"/>
            <p:cNvSpPr>
              <a:spLocks noChangeShapeType="1"/>
            </p:cNvSpPr>
            <p:nvPr/>
          </p:nvSpPr>
          <p:spPr bwMode="auto">
            <a:xfrm>
              <a:off x="2832" y="2880"/>
              <a:ext cx="24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085" name="Line 125"/>
            <p:cNvSpPr>
              <a:spLocks noChangeShapeType="1"/>
            </p:cNvSpPr>
            <p:nvPr/>
          </p:nvSpPr>
          <p:spPr bwMode="auto">
            <a:xfrm flipV="1">
              <a:off x="2832" y="2880"/>
              <a:ext cx="24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Text Box 2"/>
          <p:cNvSpPr txBox="1">
            <a:spLocks noChangeArrowheads="1"/>
          </p:cNvSpPr>
          <p:nvPr/>
        </p:nvSpPr>
        <p:spPr bwMode="auto">
          <a:xfrm>
            <a:off x="633413" y="1066800"/>
            <a:ext cx="7924800" cy="310673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cambia i puntatori al rappresentante nella lista di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y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],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</a:t>
            </a:r>
          </a:p>
          <a:p>
            <a:r>
              <a:rPr lang="it-IT" sz="2800" b="1">
                <a:sym typeface="Symbol" charset="0"/>
              </a:rPr>
              <a:t>    while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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 do</a:t>
            </a:r>
          </a:p>
          <a:p>
            <a:r>
              <a:rPr lang="it-IT" sz="2800" b="1">
                <a:sym typeface="Symbol" charset="0"/>
              </a:rPr>
              <a:t>       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],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]</a:t>
            </a:r>
          </a:p>
          <a:p>
            <a:r>
              <a:rPr lang="it-IT" sz="28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concatena le due liste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],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],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153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La complessità di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 dipende dal numero di iterazioni richieste dal ciclo che cambia i puntatori al rappresentante dei nodi della lista contenente </a:t>
            </a:r>
            <a:r>
              <a:rPr lang="it-IT" b="1" i="1">
                <a:sym typeface="Symbol" charset="0"/>
              </a:rPr>
              <a:t>y</a:t>
            </a:r>
            <a:r>
              <a:rPr lang="it-IT"/>
              <a:t>. </a:t>
            </a:r>
          </a:p>
        </p:txBody>
      </p:sp>
      <p:sp>
        <p:nvSpPr>
          <p:cNvPr id="683011" name="Text Box 3"/>
          <p:cNvSpPr txBox="1">
            <a:spLocks noChangeArrowheads="1"/>
          </p:cNvSpPr>
          <p:nvPr/>
        </p:nvSpPr>
        <p:spPr bwMode="auto">
          <a:xfrm>
            <a:off x="457200" y="32766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Quindi </a:t>
            </a:r>
            <a:r>
              <a:rPr lang="it-IT" b="1" i="1">
                <a:sym typeface="Symbol" charset="0"/>
              </a:rPr>
              <a:t>Union</a:t>
            </a:r>
            <a:r>
              <a:rPr lang="it-IT" b="1">
                <a:sym typeface="Symbol" charset="0"/>
              </a:rPr>
              <a:t> </a:t>
            </a:r>
            <a:r>
              <a:rPr lang="it-IT"/>
              <a:t>ha complessità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n</a:t>
            </a:r>
            <a:r>
              <a:rPr lang="it-IT" b="1" i="1" baseline="-25000"/>
              <a:t>2</a:t>
            </a:r>
            <a:r>
              <a:rPr lang="it-IT" b="1"/>
              <a:t>)</a:t>
            </a:r>
            <a:r>
              <a:rPr lang="it-IT"/>
              <a:t> dove </a:t>
            </a:r>
            <a:r>
              <a:rPr lang="it-IT" b="1" i="1"/>
              <a:t>n</a:t>
            </a:r>
            <a:r>
              <a:rPr lang="it-IT" b="1" i="1" baseline="-25000"/>
              <a:t>2</a:t>
            </a:r>
            <a:r>
              <a:rPr lang="it-IT"/>
              <a:t> è la lunghezza della seconda lista.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Text Box 2"/>
          <p:cNvSpPr txBox="1">
            <a:spLocks noChangeArrowheads="1"/>
          </p:cNvSpPr>
          <p:nvPr/>
        </p:nvSpPr>
        <p:spPr bwMode="auto">
          <a:xfrm>
            <a:off x="352425" y="304800"/>
            <a:ext cx="85804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/>
              <a:t>Consideriamo la seguente sequenza di </a:t>
            </a:r>
            <a:r>
              <a:rPr lang="it-IT" sz="2800" b="1" i="1"/>
              <a:t>2n-1</a:t>
            </a:r>
            <a:r>
              <a:rPr lang="it-IT" sz="2800"/>
              <a:t> operazioni:</a:t>
            </a:r>
          </a:p>
        </p:txBody>
      </p:sp>
      <p:sp>
        <p:nvSpPr>
          <p:cNvPr id="684035" name="Text Box 3"/>
          <p:cNvSpPr txBox="1">
            <a:spLocks noChangeArrowheads="1"/>
          </p:cNvSpPr>
          <p:nvPr/>
        </p:nvSpPr>
        <p:spPr bwMode="auto">
          <a:xfrm>
            <a:off x="633413" y="1143000"/>
            <a:ext cx="7924800" cy="3960813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1</a:t>
            </a:r>
            <a:r>
              <a:rPr lang="it-IT" sz="2800" b="1">
                <a:sym typeface="Symbol" charset="0"/>
              </a:rPr>
              <a:t>)   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>
                <a:sym typeface="Symbol" charset="0"/>
              </a:rPr>
              <a:t> 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costo 1</a:t>
            </a:r>
          </a:p>
          <a:p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2</a:t>
            </a:r>
            <a:r>
              <a:rPr lang="it-IT" sz="2800" b="1">
                <a:sym typeface="Symbol" charset="0"/>
              </a:rPr>
              <a:t>) 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>
                <a:sym typeface="Symbol" charset="0"/>
              </a:rPr>
              <a:t> 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costo 1</a:t>
            </a:r>
          </a:p>
          <a:p>
            <a:r>
              <a:rPr lang="it-IT" sz="2800" b="1">
                <a:sym typeface="Symbol" charset="0"/>
              </a:rPr>
              <a:t>.......</a:t>
            </a:r>
          </a:p>
          <a:p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) 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 b="1">
                <a:sym typeface="Symbol" charset="0"/>
              </a:rPr>
              <a:t> 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costo 1</a:t>
            </a:r>
          </a:p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2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1</a:t>
            </a:r>
            <a:r>
              <a:rPr lang="it-IT" sz="2800" b="1">
                <a:sym typeface="Symbol" charset="0"/>
              </a:rPr>
              <a:t>) 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 b="1">
                <a:sym typeface="Symbol" charset="0"/>
              </a:rPr>
              <a:t> 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costo 1</a:t>
            </a:r>
          </a:p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3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1</a:t>
            </a:r>
            <a:r>
              <a:rPr lang="it-IT" sz="2800" b="1">
                <a:sym typeface="Symbol" charset="0"/>
              </a:rPr>
              <a:t>) 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 costo 2</a:t>
            </a:r>
          </a:p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4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1</a:t>
            </a:r>
            <a:r>
              <a:rPr lang="it-IT" sz="2800" b="1">
                <a:sym typeface="Symbol" charset="0"/>
              </a:rPr>
              <a:t>) 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 costo 3</a:t>
            </a:r>
          </a:p>
          <a:p>
            <a:r>
              <a:rPr lang="it-IT" sz="2800" b="1">
                <a:sym typeface="Symbol" charset="0"/>
              </a:rPr>
              <a:t>.......</a:t>
            </a:r>
          </a:p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1</a:t>
            </a:r>
            <a:r>
              <a:rPr lang="it-IT" sz="2800" b="1">
                <a:sym typeface="Symbol" charset="0"/>
              </a:rPr>
              <a:t>) 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 costo </a:t>
            </a:r>
            <a:r>
              <a:rPr lang="it-IT" sz="2800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-1</a:t>
            </a:r>
          </a:p>
        </p:txBody>
      </p:sp>
      <p:sp>
        <p:nvSpPr>
          <p:cNvPr id="684036" name="Text Box 4"/>
          <p:cNvSpPr txBox="1">
            <a:spLocks noChangeArrowheads="1"/>
          </p:cNvSpPr>
          <p:nvPr/>
        </p:nvSpPr>
        <p:spPr bwMode="auto">
          <a:xfrm>
            <a:off x="561975" y="5180013"/>
            <a:ext cx="81534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/>
              <a:t>Il costo totale è proporzionale ad </a:t>
            </a:r>
            <a:r>
              <a:rPr lang="it-IT" sz="2800" b="1" i="1"/>
              <a:t>n + n</a:t>
            </a:r>
            <a:r>
              <a:rPr lang="it-IT" sz="2800" b="1"/>
              <a:t>(</a:t>
            </a:r>
            <a:r>
              <a:rPr lang="it-IT" sz="2800" b="1" i="1"/>
              <a:t>n</a:t>
            </a:r>
            <a:r>
              <a:rPr lang="it-IT" sz="2800" b="1"/>
              <a:t>-1)/2</a:t>
            </a:r>
            <a:r>
              <a:rPr lang="it-IT" sz="2800"/>
              <a:t> ed è quindi </a:t>
            </a:r>
            <a:r>
              <a:rPr lang="it-IT" sz="2800" b="1">
                <a:sym typeface="Symbol" charset="0"/>
              </a:rPr>
              <a:t></a:t>
            </a:r>
            <a:r>
              <a:rPr lang="it-IT" sz="2800" b="1"/>
              <a:t>(</a:t>
            </a:r>
            <a:r>
              <a:rPr lang="it-IT" sz="2800" b="1" i="1"/>
              <a:t>n</a:t>
            </a:r>
            <a:r>
              <a:rPr lang="it-IT" sz="2800" b="1" baseline="30000"/>
              <a:t>2</a:t>
            </a:r>
            <a:r>
              <a:rPr lang="it-IT" sz="2800" b="1"/>
              <a:t>)</a:t>
            </a:r>
            <a:r>
              <a:rPr lang="it-IT" sz="2800"/>
              <a:t>. Di conseguenza </a:t>
            </a:r>
            <a:r>
              <a:rPr lang="it-IT" sz="2800" b="1" i="1">
                <a:sym typeface="Symbol" charset="0"/>
              </a:rPr>
              <a:t>Union</a:t>
            </a:r>
            <a:r>
              <a:rPr lang="it-IT" sz="2800"/>
              <a:t> ha costo ammortizzato </a:t>
            </a:r>
            <a:r>
              <a:rPr lang="it-IT" sz="2800" b="1" i="1"/>
              <a:t>O</a:t>
            </a:r>
            <a:r>
              <a:rPr lang="it-IT" sz="2800" b="1"/>
              <a:t>(</a:t>
            </a:r>
            <a:r>
              <a:rPr lang="it-IT" sz="2800" b="1" i="1"/>
              <a:t>n</a:t>
            </a:r>
            <a:r>
              <a:rPr lang="it-IT" sz="2800" b="1"/>
              <a:t>)</a:t>
            </a:r>
            <a:r>
              <a:rPr lang="it-IT" sz="2800"/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Text Box 2"/>
          <p:cNvSpPr txBox="1">
            <a:spLocks noChangeArrowheads="1"/>
          </p:cNvSpPr>
          <p:nvPr/>
        </p:nvSpPr>
        <p:spPr bwMode="auto">
          <a:xfrm>
            <a:off x="2057400" y="457200"/>
            <a:ext cx="5105400" cy="6048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 b="1">
                <a:solidFill>
                  <a:srgbClr val="FF0000"/>
                </a:solidFill>
              </a:rPr>
              <a:t>Euristica dell’unione pesata</a:t>
            </a:r>
            <a:endParaRPr lang="it-IT" sz="2400" i="1"/>
          </a:p>
        </p:txBody>
      </p:sp>
      <p:sp>
        <p:nvSpPr>
          <p:cNvPr id="685061" name="Text Box 5"/>
          <p:cNvSpPr txBox="1">
            <a:spLocks noChangeArrowheads="1"/>
          </p:cNvSpPr>
          <p:nvPr/>
        </p:nvSpPr>
        <p:spPr bwMode="auto">
          <a:xfrm>
            <a:off x="533400" y="2286000"/>
            <a:ext cx="797877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L’euristica dell’</a:t>
            </a:r>
            <a:r>
              <a:rPr lang="it-IT" i="1" u="sng"/>
              <a:t>unione pesata</a:t>
            </a:r>
            <a:r>
              <a:rPr lang="it-IT"/>
              <a:t> consiste nello scegliere sempre la lista più corta per aggiornare i puntatori al rappresentante.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Text Box 2"/>
          <p:cNvSpPr txBox="1">
            <a:spLocks noChangeArrowheads="1"/>
          </p:cNvSpPr>
          <p:nvPr/>
        </p:nvSpPr>
        <p:spPr bwMode="auto">
          <a:xfrm>
            <a:off x="422275" y="990600"/>
            <a:ext cx="815340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Per fare ciò occorre memorizzare la lunghezza di ciascuna lista in opportuno campo </a:t>
            </a:r>
            <a:r>
              <a:rPr lang="it-IT" b="1" i="1"/>
              <a:t>lung</a:t>
            </a:r>
            <a:r>
              <a:rPr lang="it-IT"/>
              <a:t> del rappresentante ed aggiungere ad ogni nodo un campo booleno </a:t>
            </a:r>
            <a:r>
              <a:rPr lang="it-IT" b="1" i="1"/>
              <a:t>rp</a:t>
            </a:r>
            <a:r>
              <a:rPr lang="it-IT"/>
              <a:t> per distinguere il rappresentante dagli altri nodi.   </a:t>
            </a:r>
          </a:p>
          <a:p>
            <a:r>
              <a:rPr lang="it-IT"/>
              <a:t>(Nel rappresentante possiamo mettere il campo </a:t>
            </a:r>
            <a:r>
              <a:rPr lang="it-IT" b="1" i="1"/>
              <a:t>lung</a:t>
            </a:r>
            <a:r>
              <a:rPr lang="it-IT"/>
              <a:t> al posto del campo </a:t>
            </a:r>
            <a:r>
              <a:rPr lang="it-IT" b="1" i="1"/>
              <a:t>rappr</a:t>
            </a:r>
            <a:r>
              <a:rPr lang="it-IT"/>
              <a:t> che risulta inutile).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Naturalmente occorre modificare le funzioni:</a:t>
            </a:r>
          </a:p>
        </p:txBody>
      </p:sp>
      <p:sp>
        <p:nvSpPr>
          <p:cNvPr id="687107" name="Text Box 3"/>
          <p:cNvSpPr txBox="1">
            <a:spLocks noChangeArrowheads="1"/>
          </p:cNvSpPr>
          <p:nvPr/>
        </p:nvSpPr>
        <p:spPr bwMode="auto">
          <a:xfrm>
            <a:off x="561975" y="1143000"/>
            <a:ext cx="7924800" cy="18256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rp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true 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lung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1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x</a:t>
            </a:r>
            <a:endParaRPr lang="it-IT" sz="2800" b="1">
              <a:sym typeface="Symbol" charset="0"/>
            </a:endParaRPr>
          </a:p>
        </p:txBody>
      </p:sp>
      <p:sp>
        <p:nvSpPr>
          <p:cNvPr id="687108" name="Text Box 4"/>
          <p:cNvSpPr txBox="1">
            <a:spLocks noChangeArrowheads="1"/>
          </p:cNvSpPr>
          <p:nvPr/>
        </p:nvSpPr>
        <p:spPr bwMode="auto">
          <a:xfrm>
            <a:off x="492125" y="3657600"/>
            <a:ext cx="7924800" cy="13985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 if </a:t>
            </a:r>
            <a:r>
              <a:rPr lang="it-IT" sz="2800" b="1" i="1">
                <a:sym typeface="Symbol" charset="0"/>
              </a:rPr>
              <a:t>rp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then return </a:t>
            </a:r>
            <a:r>
              <a:rPr lang="it-IT" sz="2800" b="1" i="1">
                <a:sym typeface="Symbol" charset="0"/>
              </a:rPr>
              <a:t>x</a:t>
            </a:r>
            <a:endParaRPr lang="it-IT" sz="2800" b="1">
              <a:sym typeface="Symbol" charset="0"/>
            </a:endParaRPr>
          </a:p>
          <a:p>
            <a:r>
              <a:rPr lang="it-IT" sz="2800" b="1">
                <a:sym typeface="Symbol" charset="0"/>
              </a:rPr>
              <a:t>    else return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7924800" cy="60960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 if not </a:t>
            </a:r>
            <a:r>
              <a:rPr lang="it-IT" sz="2800" b="1" i="1">
                <a:sym typeface="Symbol" charset="0"/>
              </a:rPr>
              <a:t>rp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then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</a:t>
            </a:r>
          </a:p>
          <a:p>
            <a:r>
              <a:rPr lang="it-IT" sz="2800" b="1">
                <a:sym typeface="Symbol" charset="0"/>
              </a:rPr>
              <a:t>    if not </a:t>
            </a:r>
            <a:r>
              <a:rPr lang="it-IT" sz="2800" b="1" i="1">
                <a:sym typeface="Symbol" charset="0"/>
              </a:rPr>
              <a:t>rp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then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</a:t>
            </a:r>
          </a:p>
          <a:p>
            <a:r>
              <a:rPr lang="it-IT" sz="28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se la lista di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è più corta scambia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y</a:t>
            </a:r>
          </a:p>
          <a:p>
            <a:r>
              <a:rPr lang="it-IT" sz="2800" b="1">
                <a:sym typeface="Symbol" charset="0"/>
              </a:rPr>
              <a:t>    if </a:t>
            </a:r>
            <a:r>
              <a:rPr lang="it-IT" sz="2800" b="1" i="1">
                <a:sym typeface="Symbol" charset="0"/>
              </a:rPr>
              <a:t>lung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&lt; </a:t>
            </a:r>
            <a:r>
              <a:rPr lang="it-IT" sz="2800" b="1" i="1">
                <a:sym typeface="Symbol" charset="0"/>
              </a:rPr>
              <a:t>lung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then</a:t>
            </a:r>
          </a:p>
          <a:p>
            <a:r>
              <a:rPr lang="it-IT" sz="2800" b="1" i="1">
                <a:sym typeface="Symbol" charset="0"/>
              </a:rPr>
              <a:t>        z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x, x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y, y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z</a:t>
            </a:r>
            <a:endParaRPr lang="it-IT" sz="2800" b="1">
              <a:sym typeface="Symbol" charset="0"/>
            </a:endParaRPr>
          </a:p>
          <a:p>
            <a:r>
              <a:rPr lang="it-IT" sz="28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somma le lunghezze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lung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lung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+ </a:t>
            </a:r>
            <a:r>
              <a:rPr lang="it-IT" sz="2800" b="1" i="1">
                <a:sym typeface="Symbol" charset="0"/>
              </a:rPr>
              <a:t>lung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</a:t>
            </a:r>
          </a:p>
          <a:p>
            <a:r>
              <a:rPr lang="it-IT" sz="28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cambia rappresentante alla lista di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y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rp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 false,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</a:t>
            </a:r>
          </a:p>
          <a:p>
            <a:r>
              <a:rPr lang="it-IT" sz="2800" b="1">
                <a:sym typeface="Symbol" charset="0"/>
              </a:rPr>
              <a:t>    while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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 do</a:t>
            </a:r>
          </a:p>
          <a:p>
            <a:r>
              <a:rPr lang="it-IT" sz="2800" b="1">
                <a:sym typeface="Symbol" charset="0"/>
              </a:rPr>
              <a:t>        </a:t>
            </a:r>
            <a:r>
              <a:rPr lang="it-IT" sz="2800" b="1" i="1">
                <a:sym typeface="Symbol" charset="0"/>
              </a:rPr>
              <a:t>rappr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]</a:t>
            </a:r>
          </a:p>
          <a:p>
            <a:r>
              <a:rPr lang="it-IT" sz="28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concatena le due liste</a:t>
            </a:r>
          </a:p>
          <a:p>
            <a:r>
              <a:rPr lang="it-IT" sz="2800" b="1">
                <a:sym typeface="Symbol" charset="0"/>
              </a:rPr>
              <a:t>   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],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], </a:t>
            </a:r>
            <a:r>
              <a:rPr lang="it-IT" sz="2800" b="1" i="1">
                <a:sym typeface="Symbol" charset="0"/>
              </a:rPr>
              <a:t>succ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z</a:t>
            </a:r>
            <a:r>
              <a:rPr lang="it-IT" sz="2800" b="1">
                <a:sym typeface="Symbo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Text Box 2"/>
          <p:cNvSpPr txBox="1">
            <a:spLocks noChangeArrowheads="1"/>
          </p:cNvSpPr>
          <p:nvPr/>
        </p:nvSpPr>
        <p:spPr bwMode="auto">
          <a:xfrm>
            <a:off x="450850" y="260350"/>
            <a:ext cx="83058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 u="sng"/>
              <a:t>Complessità con l’euristica dell’unione pesata.</a:t>
            </a:r>
            <a:endParaRPr lang="it-IT"/>
          </a:p>
          <a:p>
            <a:pPr>
              <a:spcBef>
                <a:spcPct val="10000"/>
              </a:spcBef>
            </a:pPr>
            <a:r>
              <a:rPr lang="it-IT"/>
              <a:t>Con la rappresentazione mediante liste circolari e l’euristica dell’unione pesata una sequenza di </a:t>
            </a:r>
            <a:r>
              <a:rPr lang="it-IT" b="1" i="1"/>
              <a:t>m</a:t>
            </a:r>
            <a:r>
              <a:rPr lang="it-IT"/>
              <a:t> operazioni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,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delle quali </a:t>
            </a:r>
            <a:r>
              <a:rPr lang="it-IT" b="1" i="1"/>
              <a:t>n</a:t>
            </a:r>
            <a:r>
              <a:rPr lang="it-IT"/>
              <a:t> sono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, richiede tempo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 + n </a:t>
            </a:r>
            <a:r>
              <a:rPr lang="it-IT" b="1"/>
              <a:t>log</a:t>
            </a:r>
            <a:r>
              <a:rPr lang="it-IT" b="1" i="1"/>
              <a:t> n</a:t>
            </a:r>
            <a:r>
              <a:rPr lang="it-IT" b="1"/>
              <a:t>)</a:t>
            </a:r>
            <a:r>
              <a:rPr lang="it-IT"/>
              <a:t>. </a:t>
            </a:r>
          </a:p>
        </p:txBody>
      </p:sp>
      <p:sp>
        <p:nvSpPr>
          <p:cNvPr id="689155" name="Text Box 3"/>
          <p:cNvSpPr txBox="1">
            <a:spLocks noChangeArrowheads="1"/>
          </p:cNvSpPr>
          <p:nvPr/>
        </p:nvSpPr>
        <p:spPr bwMode="auto">
          <a:xfrm>
            <a:off x="450850" y="3068638"/>
            <a:ext cx="7445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800"/>
              <a:t>La complessità ammortizzata delle operazioni è:</a:t>
            </a:r>
          </a:p>
        </p:txBody>
      </p:sp>
      <p:graphicFrame>
        <p:nvGraphicFramePr>
          <p:cNvPr id="689156" name="Object 4"/>
          <p:cNvGraphicFramePr>
            <a:graphicFrameLocks noChangeAspect="1"/>
          </p:cNvGraphicFramePr>
          <p:nvPr/>
        </p:nvGraphicFramePr>
        <p:xfrm>
          <a:off x="582613" y="3573463"/>
          <a:ext cx="6967537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3" imgW="2552400" imgH="393480" progId="Equation.3">
                  <p:embed/>
                </p:oleObj>
              </mc:Choice>
              <mc:Fallback>
                <p:oleObj name="Equation" r:id="rId3" imgW="2552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3573463"/>
                        <a:ext cx="6967537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9157" name="Text Box 5"/>
          <p:cNvSpPr txBox="1">
            <a:spLocks noChangeArrowheads="1"/>
          </p:cNvSpPr>
          <p:nvPr/>
        </p:nvSpPr>
        <p:spPr bwMode="auto">
          <a:xfrm>
            <a:off x="450850" y="4652963"/>
            <a:ext cx="8305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800"/>
              <a:t>Se il numero di </a:t>
            </a:r>
            <a:r>
              <a:rPr lang="it-IT" sz="2800" b="1" i="1">
                <a:sym typeface="Symbol" charset="0"/>
              </a:rPr>
              <a:t>MakeSet</a:t>
            </a:r>
            <a:r>
              <a:rPr lang="it-IT" sz="2800"/>
              <a:t> è molto minore del numero di </a:t>
            </a:r>
            <a:r>
              <a:rPr lang="it-IT" sz="2800" b="1" i="1">
                <a:sym typeface="Symbol" charset="0"/>
              </a:rPr>
              <a:t>Union</a:t>
            </a:r>
            <a:r>
              <a:rPr lang="it-IT" sz="2800"/>
              <a:t> e </a:t>
            </a:r>
            <a:r>
              <a:rPr lang="it-IT" sz="2800" b="1" i="1">
                <a:sym typeface="Symbol" charset="0"/>
              </a:rPr>
              <a:t>FindSet </a:t>
            </a:r>
            <a:r>
              <a:rPr lang="it-IT" sz="2800">
                <a:sym typeface="Symbol" charset="0"/>
              </a:rPr>
              <a:t>per cui</a:t>
            </a:r>
            <a:r>
              <a:rPr lang="it-IT" sz="2800"/>
              <a:t> </a:t>
            </a:r>
            <a:r>
              <a:rPr lang="it-IT" sz="2800" b="1" i="1"/>
              <a:t>n </a:t>
            </a:r>
            <a:r>
              <a:rPr lang="it-IT" sz="2800" b="1"/>
              <a:t>log</a:t>
            </a:r>
            <a:r>
              <a:rPr lang="it-IT" sz="2800" b="1" i="1"/>
              <a:t> n</a:t>
            </a:r>
            <a:r>
              <a:rPr lang="it-IT" sz="2800"/>
              <a:t> = </a:t>
            </a:r>
            <a:r>
              <a:rPr lang="it-IT" sz="2800" b="1" i="1"/>
              <a:t>O</a:t>
            </a:r>
            <a:r>
              <a:rPr lang="it-IT" sz="2800" b="1"/>
              <a:t>(</a:t>
            </a:r>
            <a:r>
              <a:rPr lang="it-IT" sz="2800" b="1" i="1"/>
              <a:t>m</a:t>
            </a:r>
            <a:r>
              <a:rPr lang="it-IT" sz="2800" b="1"/>
              <a:t>)</a:t>
            </a:r>
            <a:r>
              <a:rPr lang="it-IT" sz="2800"/>
              <a:t> allora </a:t>
            </a:r>
          </a:p>
        </p:txBody>
      </p:sp>
      <p:graphicFrame>
        <p:nvGraphicFramePr>
          <p:cNvPr id="689158" name="Object 6"/>
          <p:cNvGraphicFramePr>
            <a:graphicFrameLocks noChangeAspect="1"/>
          </p:cNvGraphicFramePr>
          <p:nvPr/>
        </p:nvGraphicFramePr>
        <p:xfrm>
          <a:off x="517525" y="5589588"/>
          <a:ext cx="3500438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5" imgW="1282680" imgH="393480" progId="Equation.3">
                  <p:embed/>
                </p:oleObj>
              </mc:Choice>
              <mc:Fallback>
                <p:oleObj name="Equation" r:id="rId5" imgW="1282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5589588"/>
                        <a:ext cx="3500438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Text Box 2"/>
          <p:cNvSpPr txBox="1">
            <a:spLocks noChangeArrowheads="1"/>
          </p:cNvSpPr>
          <p:nvPr/>
        </p:nvSpPr>
        <p:spPr bwMode="auto">
          <a:xfrm>
            <a:off x="450850" y="404813"/>
            <a:ext cx="83058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Dimostriamo quindi che una sequenza di </a:t>
            </a:r>
            <a:r>
              <a:rPr lang="it-IT" b="1" i="1"/>
              <a:t>m</a:t>
            </a:r>
            <a:r>
              <a:rPr lang="it-IT"/>
              <a:t> operazioni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,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delle quali </a:t>
            </a:r>
            <a:r>
              <a:rPr lang="it-IT" b="1" i="1"/>
              <a:t>n</a:t>
            </a:r>
            <a:r>
              <a:rPr lang="it-IT"/>
              <a:t> sono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, richiede tempo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 + n </a:t>
            </a:r>
            <a:r>
              <a:rPr lang="it-IT" b="1"/>
              <a:t>log</a:t>
            </a:r>
            <a:r>
              <a:rPr lang="it-IT" b="1" i="1"/>
              <a:t> n</a:t>
            </a:r>
            <a:r>
              <a:rPr lang="it-IT" b="1"/>
              <a:t>)</a:t>
            </a:r>
            <a:r>
              <a:rPr lang="it-IT"/>
              <a:t>. </a:t>
            </a:r>
          </a:p>
        </p:txBody>
      </p:sp>
      <p:sp>
        <p:nvSpPr>
          <p:cNvPr id="690179" name="Text Box 3"/>
          <p:cNvSpPr txBox="1">
            <a:spLocks noChangeArrowheads="1"/>
          </p:cNvSpPr>
          <p:nvPr/>
        </p:nvSpPr>
        <p:spPr bwMode="auto">
          <a:xfrm>
            <a:off x="450850" y="2708275"/>
            <a:ext cx="83058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 u="sng"/>
              <a:t>Dimostrazione.</a:t>
            </a:r>
            <a:endParaRPr lang="it-IT"/>
          </a:p>
          <a:p>
            <a:pPr>
              <a:spcBef>
                <a:spcPct val="10000"/>
              </a:spcBef>
            </a:pPr>
            <a:r>
              <a:rPr lang="it-IT"/>
              <a:t>Tutte le operazioni richiedono un tempo costante eccetto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 che richiede un tempo costante più un tempo proporzionale al numero di puntatori al rappresentante che vengono modificati.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83058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tempo richiesto dalla sequenza di </a:t>
            </a:r>
            <a:r>
              <a:rPr lang="it-IT" b="1" i="1"/>
              <a:t>m</a:t>
            </a:r>
            <a:r>
              <a:rPr lang="it-IT"/>
              <a:t> operazioni è quindi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 + N</a:t>
            </a:r>
            <a:r>
              <a:rPr lang="it-IT" b="1"/>
              <a:t>)</a:t>
            </a:r>
            <a:r>
              <a:rPr lang="it-IT"/>
              <a:t> dove </a:t>
            </a:r>
            <a:r>
              <a:rPr lang="it-IT" b="1" i="1"/>
              <a:t>N</a:t>
            </a:r>
            <a:r>
              <a:rPr lang="it-IT"/>
              <a:t> è il numero totale di aggiornamenti dei puntatori al rappresentante eseguiti durante tutta la sequenza di operazioni.</a:t>
            </a:r>
          </a:p>
        </p:txBody>
      </p:sp>
      <p:sp>
        <p:nvSpPr>
          <p:cNvPr id="691203" name="Text Box 3"/>
          <p:cNvSpPr txBox="1">
            <a:spLocks noChangeArrowheads="1"/>
          </p:cNvSpPr>
          <p:nvPr/>
        </p:nvSpPr>
        <p:spPr bwMode="auto">
          <a:xfrm>
            <a:off x="457200" y="2895600"/>
            <a:ext cx="8305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numero massimo di oggetti contenuti nella struttura è </a:t>
            </a:r>
            <a:r>
              <a:rPr lang="it-IT" b="1" i="1"/>
              <a:t>n</a:t>
            </a:r>
            <a:r>
              <a:rPr lang="it-IT"/>
              <a:t>, pari al numero di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.</a:t>
            </a:r>
          </a:p>
        </p:txBody>
      </p:sp>
      <p:sp>
        <p:nvSpPr>
          <p:cNvPr id="691204" name="Text Box 4"/>
          <p:cNvSpPr txBox="1">
            <a:spLocks noChangeArrowheads="1"/>
          </p:cNvSpPr>
          <p:nvPr/>
        </p:nvSpPr>
        <p:spPr bwMode="auto">
          <a:xfrm>
            <a:off x="457200" y="4191000"/>
            <a:ext cx="8305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Quando un oggetto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viene creato esso appartiene ad un insieme di cardinalità 1.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83058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rappresentante di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viene aggiornato quando l’insieme contenente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viene unito ad un insieme di cardinalità maggiore o uguale. </a:t>
            </a:r>
          </a:p>
        </p:txBody>
      </p:sp>
      <p:sp>
        <p:nvSpPr>
          <p:cNvPr id="692227" name="Text Box 3"/>
          <p:cNvSpPr txBox="1">
            <a:spLocks noChangeArrowheads="1"/>
          </p:cNvSpPr>
          <p:nvPr/>
        </p:nvSpPr>
        <p:spPr bwMode="auto">
          <a:xfrm>
            <a:off x="457200" y="2209800"/>
            <a:ext cx="83058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Ogni volta che viene aggiornato il puntatore al rappresentante di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la cardinalità dell’insieme a cui appartiene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viene almeno raddoppiata. </a:t>
            </a:r>
          </a:p>
        </p:txBody>
      </p:sp>
      <p:sp>
        <p:nvSpPr>
          <p:cNvPr id="692228" name="Text Box 4"/>
          <p:cNvSpPr txBox="1">
            <a:spLocks noChangeArrowheads="1"/>
          </p:cNvSpPr>
          <p:nvPr/>
        </p:nvSpPr>
        <p:spPr bwMode="auto">
          <a:xfrm>
            <a:off x="457200" y="4038600"/>
            <a:ext cx="8305800" cy="209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Siccome </a:t>
            </a:r>
            <a:r>
              <a:rPr lang="it-IT" b="1" i="1"/>
              <a:t>n</a:t>
            </a:r>
            <a:r>
              <a:rPr lang="it-IT"/>
              <a:t> è la massima cardinalità di un insieme il puntatore al rappresentante di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può essere aggiornato al più </a:t>
            </a:r>
            <a:r>
              <a:rPr lang="it-IT" b="1"/>
              <a:t>log</a:t>
            </a:r>
            <a:r>
              <a:rPr lang="it-IT" b="1" i="1" baseline="-25000"/>
              <a:t>2</a:t>
            </a:r>
            <a:r>
              <a:rPr lang="it-IT" b="1" i="1"/>
              <a:t> n</a:t>
            </a:r>
            <a:r>
              <a:rPr lang="it-IT"/>
              <a:t> volte. </a:t>
            </a:r>
          </a:p>
          <a:p>
            <a:pPr>
              <a:spcBef>
                <a:spcPct val="10000"/>
              </a:spcBef>
            </a:pPr>
            <a:r>
              <a:rPr lang="it-IT"/>
              <a:t>Quindi </a:t>
            </a:r>
            <a:r>
              <a:rPr lang="it-IT" b="1" i="1"/>
              <a:t>N </a:t>
            </a:r>
            <a:r>
              <a:rPr lang="it-IT" b="1">
                <a:sym typeface="Symbol" charset="0"/>
              </a:rPr>
              <a:t></a:t>
            </a:r>
            <a:r>
              <a:rPr lang="it-IT" b="1" i="1">
                <a:sym typeface="Symbol" charset="0"/>
              </a:rPr>
              <a:t> n</a:t>
            </a:r>
            <a:r>
              <a:rPr lang="it-IT">
                <a:sym typeface="Symbol" charset="0"/>
              </a:rPr>
              <a:t> </a:t>
            </a:r>
            <a:r>
              <a:rPr lang="it-IT" b="1"/>
              <a:t>log</a:t>
            </a:r>
            <a:r>
              <a:rPr lang="it-IT" b="1" i="1" baseline="-25000"/>
              <a:t>2</a:t>
            </a:r>
            <a:r>
              <a:rPr lang="it-IT" b="1" i="1"/>
              <a:t> n</a:t>
            </a:r>
            <a:r>
              <a:rPr lang="it-IT"/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Text Box 2"/>
          <p:cNvSpPr txBox="1">
            <a:spLocks noChangeArrowheads="1"/>
          </p:cNvSpPr>
          <p:nvPr/>
        </p:nvSpPr>
        <p:spPr bwMode="auto">
          <a:xfrm>
            <a:off x="1828800" y="304800"/>
            <a:ext cx="5486400" cy="6048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100000"/>
              </a:spcBef>
            </a:pPr>
            <a:r>
              <a:rPr lang="it-IT" b="1">
                <a:solidFill>
                  <a:srgbClr val="FF0000"/>
                </a:solidFill>
              </a:rPr>
              <a:t>Rappresentazione con foreste</a:t>
            </a:r>
            <a:endParaRPr lang="it-IT" sz="2400" i="1"/>
          </a:p>
        </p:txBody>
      </p:sp>
      <p:sp>
        <p:nvSpPr>
          <p:cNvPr id="693251" name="Text Box 3"/>
          <p:cNvSpPr txBox="1">
            <a:spLocks noChangeArrowheads="1"/>
          </p:cNvSpPr>
          <p:nvPr/>
        </p:nvSpPr>
        <p:spPr bwMode="auto">
          <a:xfrm>
            <a:off x="533400" y="12954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Una rappresentazione più efficiente si ottiene usando </a:t>
            </a:r>
            <a:r>
              <a:rPr lang="it-IT" i="1" u="sng"/>
              <a:t>foreste di insiemi disgiunti</a:t>
            </a:r>
            <a:r>
              <a:rPr lang="it-IT"/>
              <a:t>.   </a:t>
            </a:r>
          </a:p>
        </p:txBody>
      </p:sp>
      <p:sp>
        <p:nvSpPr>
          <p:cNvPr id="693253" name="Text Box 5"/>
          <p:cNvSpPr txBox="1">
            <a:spLocks noChangeArrowheads="1"/>
          </p:cNvSpPr>
          <p:nvPr/>
        </p:nvSpPr>
        <p:spPr bwMode="auto">
          <a:xfrm>
            <a:off x="561975" y="3276600"/>
            <a:ext cx="82296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Con questa rappresentazione ogni insieme è rappresentato con un albero i cui nodi, oltre al campo </a:t>
            </a:r>
            <a:r>
              <a:rPr lang="it-IT" b="1" i="1"/>
              <a:t>info</a:t>
            </a:r>
            <a:r>
              <a:rPr lang="it-IT"/>
              <a:t> che contiene l’informazione, hanno soltanto un campo </a:t>
            </a:r>
            <a:r>
              <a:rPr lang="it-IT" b="1" i="1"/>
              <a:t>parent</a:t>
            </a:r>
            <a:r>
              <a:rPr lang="it-IT"/>
              <a:t> che punta al padre.  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274" name="Group 2"/>
          <p:cNvGrpSpPr>
            <a:grpSpLocks/>
          </p:cNvGrpSpPr>
          <p:nvPr/>
        </p:nvGrpSpPr>
        <p:grpSpPr bwMode="auto">
          <a:xfrm>
            <a:off x="1600200" y="1981200"/>
            <a:ext cx="1828800" cy="1828800"/>
            <a:chOff x="576" y="384"/>
            <a:chExt cx="1152" cy="1152"/>
          </a:xfrm>
        </p:grpSpPr>
        <p:sp>
          <p:nvSpPr>
            <p:cNvPr id="694275" name="Line 3"/>
            <p:cNvSpPr>
              <a:spLocks noChangeShapeType="1"/>
            </p:cNvSpPr>
            <p:nvPr/>
          </p:nvSpPr>
          <p:spPr bwMode="auto">
            <a:xfrm flipV="1">
              <a:off x="912" y="57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4276" name="Line 4"/>
            <p:cNvSpPr>
              <a:spLocks noChangeShapeType="1"/>
            </p:cNvSpPr>
            <p:nvPr/>
          </p:nvSpPr>
          <p:spPr bwMode="auto">
            <a:xfrm flipV="1">
              <a:off x="720" y="1008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4277" name="Line 5"/>
            <p:cNvSpPr>
              <a:spLocks noChangeShapeType="1"/>
            </p:cNvSpPr>
            <p:nvPr/>
          </p:nvSpPr>
          <p:spPr bwMode="auto">
            <a:xfrm flipH="1" flipV="1">
              <a:off x="1344" y="576"/>
              <a:ext cx="2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4278" name="Oval 6"/>
            <p:cNvSpPr>
              <a:spLocks noChangeArrowheads="1"/>
            </p:cNvSpPr>
            <p:nvPr/>
          </p:nvSpPr>
          <p:spPr bwMode="auto">
            <a:xfrm>
              <a:off x="576" y="129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b</a:t>
              </a:r>
            </a:p>
          </p:txBody>
        </p:sp>
        <p:sp>
          <p:nvSpPr>
            <p:cNvPr id="694279" name="Oval 7"/>
            <p:cNvSpPr>
              <a:spLocks noChangeArrowheads="1"/>
            </p:cNvSpPr>
            <p:nvPr/>
          </p:nvSpPr>
          <p:spPr bwMode="auto">
            <a:xfrm>
              <a:off x="1488" y="7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e</a:t>
              </a:r>
            </a:p>
          </p:txBody>
        </p:sp>
        <p:sp>
          <p:nvSpPr>
            <p:cNvPr id="694280" name="Oval 8"/>
            <p:cNvSpPr>
              <a:spLocks noChangeArrowheads="1"/>
            </p:cNvSpPr>
            <p:nvPr/>
          </p:nvSpPr>
          <p:spPr bwMode="auto">
            <a:xfrm>
              <a:off x="768" y="7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h</a:t>
              </a:r>
            </a:p>
          </p:txBody>
        </p:sp>
        <p:sp>
          <p:nvSpPr>
            <p:cNvPr id="694281" name="Oval 9"/>
            <p:cNvSpPr>
              <a:spLocks noChangeArrowheads="1"/>
            </p:cNvSpPr>
            <p:nvPr/>
          </p:nvSpPr>
          <p:spPr bwMode="auto">
            <a:xfrm>
              <a:off x="1152" y="3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c</a:t>
              </a:r>
            </a:p>
          </p:txBody>
        </p:sp>
        <p:cxnSp>
          <p:nvCxnSpPr>
            <p:cNvPr id="694282" name="AutoShape 10"/>
            <p:cNvCxnSpPr>
              <a:cxnSpLocks noChangeShapeType="1"/>
              <a:stCxn id="694281" idx="0"/>
              <a:endCxn id="694281" idx="6"/>
            </p:cNvCxnSpPr>
            <p:nvPr/>
          </p:nvCxnSpPr>
          <p:spPr bwMode="auto">
            <a:xfrm rot="5400000" flipV="1">
              <a:off x="1272" y="384"/>
              <a:ext cx="120" cy="120"/>
            </a:xfrm>
            <a:prstGeom prst="curvedConnector4">
              <a:avLst>
                <a:gd name="adj1" fmla="val -120000"/>
                <a:gd name="adj2" fmla="val 22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694283" name="Group 11"/>
          <p:cNvGrpSpPr>
            <a:grpSpLocks/>
          </p:cNvGrpSpPr>
          <p:nvPr/>
        </p:nvGrpSpPr>
        <p:grpSpPr bwMode="auto">
          <a:xfrm>
            <a:off x="5791200" y="1981200"/>
            <a:ext cx="381000" cy="1905000"/>
            <a:chOff x="2016" y="384"/>
            <a:chExt cx="240" cy="1200"/>
          </a:xfrm>
        </p:grpSpPr>
        <p:sp>
          <p:nvSpPr>
            <p:cNvPr id="694284" name="Line 12"/>
            <p:cNvSpPr>
              <a:spLocks noChangeShapeType="1"/>
            </p:cNvSpPr>
            <p:nvPr/>
          </p:nvSpPr>
          <p:spPr bwMode="auto">
            <a:xfrm flipV="1">
              <a:off x="2160" y="6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4285" name="Line 13"/>
            <p:cNvSpPr>
              <a:spLocks noChangeShapeType="1"/>
            </p:cNvSpPr>
            <p:nvPr/>
          </p:nvSpPr>
          <p:spPr bwMode="auto">
            <a:xfrm flipV="1">
              <a:off x="2160" y="11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4286" name="Oval 14"/>
            <p:cNvSpPr>
              <a:spLocks noChangeArrowheads="1"/>
            </p:cNvSpPr>
            <p:nvPr/>
          </p:nvSpPr>
          <p:spPr bwMode="auto">
            <a:xfrm>
              <a:off x="2016" y="13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g</a:t>
              </a:r>
            </a:p>
          </p:txBody>
        </p:sp>
        <p:sp>
          <p:nvSpPr>
            <p:cNvPr id="694287" name="Oval 15"/>
            <p:cNvSpPr>
              <a:spLocks noChangeArrowheads="1"/>
            </p:cNvSpPr>
            <p:nvPr/>
          </p:nvSpPr>
          <p:spPr bwMode="auto">
            <a:xfrm>
              <a:off x="2016" y="86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d</a:t>
              </a:r>
            </a:p>
          </p:txBody>
        </p:sp>
        <p:sp>
          <p:nvSpPr>
            <p:cNvPr id="694288" name="Oval 16"/>
            <p:cNvSpPr>
              <a:spLocks noChangeArrowheads="1"/>
            </p:cNvSpPr>
            <p:nvPr/>
          </p:nvSpPr>
          <p:spPr bwMode="auto">
            <a:xfrm>
              <a:off x="2016" y="3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f</a:t>
              </a:r>
            </a:p>
          </p:txBody>
        </p:sp>
        <p:cxnSp>
          <p:nvCxnSpPr>
            <p:cNvPr id="694289" name="AutoShape 17"/>
            <p:cNvCxnSpPr>
              <a:cxnSpLocks noChangeShapeType="1"/>
              <a:stCxn id="694288" idx="0"/>
              <a:endCxn id="694288" idx="6"/>
            </p:cNvCxnSpPr>
            <p:nvPr/>
          </p:nvCxnSpPr>
          <p:spPr bwMode="auto">
            <a:xfrm rot="5400000" flipV="1">
              <a:off x="2136" y="384"/>
              <a:ext cx="120" cy="120"/>
            </a:xfrm>
            <a:prstGeom prst="curvedConnector4">
              <a:avLst>
                <a:gd name="adj1" fmla="val -120000"/>
                <a:gd name="adj2" fmla="val 22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Text Box 2"/>
          <p:cNvSpPr txBox="1">
            <a:spLocks noChangeArrowheads="1"/>
          </p:cNvSpPr>
          <p:nvPr/>
        </p:nvSpPr>
        <p:spPr bwMode="auto">
          <a:xfrm>
            <a:off x="561975" y="1143000"/>
            <a:ext cx="7924800" cy="9715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x</a:t>
            </a:r>
          </a:p>
        </p:txBody>
      </p:sp>
      <p:sp>
        <p:nvSpPr>
          <p:cNvPr id="695299" name="Text Box 3"/>
          <p:cNvSpPr txBox="1">
            <a:spLocks noChangeArrowheads="1"/>
          </p:cNvSpPr>
          <p:nvPr/>
        </p:nvSpPr>
        <p:spPr bwMode="auto">
          <a:xfrm>
            <a:off x="561975" y="2362200"/>
            <a:ext cx="7924800" cy="18256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while 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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 do </a:t>
            </a:r>
          </a:p>
          <a:p>
            <a:r>
              <a:rPr lang="it-IT" sz="2800" b="1">
                <a:sym typeface="Symbol" charset="0"/>
              </a:rPr>
              <a:t>      </a:t>
            </a:r>
            <a:r>
              <a:rPr lang="it-IT" sz="2800" b="1" i="1">
                <a:sym typeface="Symbol" charset="0"/>
              </a:rPr>
              <a:t>x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 i="1">
                <a:sym typeface="Symbol" charset="0"/>
              </a:rPr>
              <a:t> 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</a:t>
            </a:r>
          </a:p>
          <a:p>
            <a:r>
              <a:rPr lang="it-IT" sz="2800" b="1">
                <a:sym typeface="Symbol" charset="0"/>
              </a:rPr>
              <a:t>   return </a:t>
            </a:r>
            <a:r>
              <a:rPr lang="it-IT" sz="2800" b="1" i="1">
                <a:sym typeface="Symbol" charset="0"/>
              </a:rPr>
              <a:t>x</a:t>
            </a:r>
            <a:endParaRPr lang="it-IT" sz="2800" b="1">
              <a:sym typeface="Symbol" charset="0"/>
            </a:endParaRPr>
          </a:p>
        </p:txBody>
      </p:sp>
      <p:sp>
        <p:nvSpPr>
          <p:cNvPr id="695300" name="Text Box 4"/>
          <p:cNvSpPr txBox="1">
            <a:spLocks noChangeArrowheads="1"/>
          </p:cNvSpPr>
          <p:nvPr/>
        </p:nvSpPr>
        <p:spPr bwMode="auto">
          <a:xfrm>
            <a:off x="533400" y="4495800"/>
            <a:ext cx="7924800" cy="18256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y        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serve controllare se x  y?</a:t>
            </a:r>
          </a:p>
        </p:txBody>
      </p:sp>
      <p:sp>
        <p:nvSpPr>
          <p:cNvPr id="695301" name="Text Box 5"/>
          <p:cNvSpPr txBox="1">
            <a:spLocks noChangeArrowheads="1"/>
          </p:cNvSpPr>
          <p:nvPr/>
        </p:nvSpPr>
        <p:spPr bwMode="auto">
          <a:xfrm>
            <a:off x="533400" y="4572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Implementazione semplice:  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22" name="Group 2"/>
          <p:cNvGrpSpPr>
            <a:grpSpLocks/>
          </p:cNvGrpSpPr>
          <p:nvPr/>
        </p:nvGrpSpPr>
        <p:grpSpPr bwMode="auto">
          <a:xfrm>
            <a:off x="914400" y="1981200"/>
            <a:ext cx="1828800" cy="1828800"/>
            <a:chOff x="576" y="384"/>
            <a:chExt cx="1152" cy="1152"/>
          </a:xfrm>
        </p:grpSpPr>
        <p:sp>
          <p:nvSpPr>
            <p:cNvPr id="696323" name="Line 3"/>
            <p:cNvSpPr>
              <a:spLocks noChangeShapeType="1"/>
            </p:cNvSpPr>
            <p:nvPr/>
          </p:nvSpPr>
          <p:spPr bwMode="auto">
            <a:xfrm flipV="1">
              <a:off x="912" y="57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24" name="Line 4"/>
            <p:cNvSpPr>
              <a:spLocks noChangeShapeType="1"/>
            </p:cNvSpPr>
            <p:nvPr/>
          </p:nvSpPr>
          <p:spPr bwMode="auto">
            <a:xfrm flipV="1">
              <a:off x="720" y="1008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25" name="Line 5"/>
            <p:cNvSpPr>
              <a:spLocks noChangeShapeType="1"/>
            </p:cNvSpPr>
            <p:nvPr/>
          </p:nvSpPr>
          <p:spPr bwMode="auto">
            <a:xfrm flipH="1" flipV="1">
              <a:off x="1344" y="576"/>
              <a:ext cx="2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26" name="Oval 6"/>
            <p:cNvSpPr>
              <a:spLocks noChangeArrowheads="1"/>
            </p:cNvSpPr>
            <p:nvPr/>
          </p:nvSpPr>
          <p:spPr bwMode="auto">
            <a:xfrm>
              <a:off x="576" y="129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b</a:t>
              </a:r>
            </a:p>
          </p:txBody>
        </p:sp>
        <p:sp>
          <p:nvSpPr>
            <p:cNvPr id="696327" name="Oval 7"/>
            <p:cNvSpPr>
              <a:spLocks noChangeArrowheads="1"/>
            </p:cNvSpPr>
            <p:nvPr/>
          </p:nvSpPr>
          <p:spPr bwMode="auto">
            <a:xfrm>
              <a:off x="1488" y="7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e</a:t>
              </a:r>
            </a:p>
          </p:txBody>
        </p:sp>
        <p:sp>
          <p:nvSpPr>
            <p:cNvPr id="696328" name="Oval 8"/>
            <p:cNvSpPr>
              <a:spLocks noChangeArrowheads="1"/>
            </p:cNvSpPr>
            <p:nvPr/>
          </p:nvSpPr>
          <p:spPr bwMode="auto">
            <a:xfrm>
              <a:off x="768" y="7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h</a:t>
              </a:r>
            </a:p>
          </p:txBody>
        </p:sp>
        <p:sp>
          <p:nvSpPr>
            <p:cNvPr id="696329" name="Oval 9"/>
            <p:cNvSpPr>
              <a:spLocks noChangeArrowheads="1"/>
            </p:cNvSpPr>
            <p:nvPr/>
          </p:nvSpPr>
          <p:spPr bwMode="auto">
            <a:xfrm>
              <a:off x="1152" y="3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c</a:t>
              </a:r>
            </a:p>
          </p:txBody>
        </p:sp>
        <p:cxnSp>
          <p:nvCxnSpPr>
            <p:cNvPr id="696330" name="AutoShape 10"/>
            <p:cNvCxnSpPr>
              <a:cxnSpLocks noChangeShapeType="1"/>
              <a:stCxn id="696329" idx="0"/>
              <a:endCxn id="696329" idx="6"/>
            </p:cNvCxnSpPr>
            <p:nvPr/>
          </p:nvCxnSpPr>
          <p:spPr bwMode="auto">
            <a:xfrm rot="5400000" flipV="1">
              <a:off x="1272" y="384"/>
              <a:ext cx="120" cy="120"/>
            </a:xfrm>
            <a:prstGeom prst="curvedConnector4">
              <a:avLst>
                <a:gd name="adj1" fmla="val -120000"/>
                <a:gd name="adj2" fmla="val 22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696331" name="Group 11"/>
          <p:cNvGrpSpPr>
            <a:grpSpLocks/>
          </p:cNvGrpSpPr>
          <p:nvPr/>
        </p:nvGrpSpPr>
        <p:grpSpPr bwMode="auto">
          <a:xfrm>
            <a:off x="3352800" y="1981200"/>
            <a:ext cx="381000" cy="1905000"/>
            <a:chOff x="2016" y="384"/>
            <a:chExt cx="240" cy="1200"/>
          </a:xfrm>
        </p:grpSpPr>
        <p:sp>
          <p:nvSpPr>
            <p:cNvPr id="696332" name="Line 12"/>
            <p:cNvSpPr>
              <a:spLocks noChangeShapeType="1"/>
            </p:cNvSpPr>
            <p:nvPr/>
          </p:nvSpPr>
          <p:spPr bwMode="auto">
            <a:xfrm flipV="1">
              <a:off x="2160" y="6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33" name="Line 13"/>
            <p:cNvSpPr>
              <a:spLocks noChangeShapeType="1"/>
            </p:cNvSpPr>
            <p:nvPr/>
          </p:nvSpPr>
          <p:spPr bwMode="auto">
            <a:xfrm flipV="1">
              <a:off x="2160" y="11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34" name="Oval 14"/>
            <p:cNvSpPr>
              <a:spLocks noChangeArrowheads="1"/>
            </p:cNvSpPr>
            <p:nvPr/>
          </p:nvSpPr>
          <p:spPr bwMode="auto">
            <a:xfrm>
              <a:off x="2016" y="13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g</a:t>
              </a:r>
            </a:p>
          </p:txBody>
        </p:sp>
        <p:sp>
          <p:nvSpPr>
            <p:cNvPr id="696335" name="Oval 15"/>
            <p:cNvSpPr>
              <a:spLocks noChangeArrowheads="1"/>
            </p:cNvSpPr>
            <p:nvPr/>
          </p:nvSpPr>
          <p:spPr bwMode="auto">
            <a:xfrm>
              <a:off x="2016" y="86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d</a:t>
              </a:r>
            </a:p>
          </p:txBody>
        </p:sp>
        <p:sp>
          <p:nvSpPr>
            <p:cNvPr id="696336" name="Oval 16"/>
            <p:cNvSpPr>
              <a:spLocks noChangeArrowheads="1"/>
            </p:cNvSpPr>
            <p:nvPr/>
          </p:nvSpPr>
          <p:spPr bwMode="auto">
            <a:xfrm>
              <a:off x="2016" y="3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f</a:t>
              </a:r>
            </a:p>
          </p:txBody>
        </p:sp>
        <p:cxnSp>
          <p:nvCxnSpPr>
            <p:cNvPr id="696337" name="AutoShape 17"/>
            <p:cNvCxnSpPr>
              <a:cxnSpLocks noChangeShapeType="1"/>
              <a:stCxn id="696336" idx="0"/>
              <a:endCxn id="696336" idx="6"/>
            </p:cNvCxnSpPr>
            <p:nvPr/>
          </p:nvCxnSpPr>
          <p:spPr bwMode="auto">
            <a:xfrm rot="5400000" flipV="1">
              <a:off x="2136" y="384"/>
              <a:ext cx="120" cy="120"/>
            </a:xfrm>
            <a:prstGeom prst="curvedConnector4">
              <a:avLst>
                <a:gd name="adj1" fmla="val -120000"/>
                <a:gd name="adj2" fmla="val 22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696338" name="Group 18"/>
          <p:cNvGrpSpPr>
            <a:grpSpLocks/>
          </p:cNvGrpSpPr>
          <p:nvPr/>
        </p:nvGrpSpPr>
        <p:grpSpPr bwMode="auto">
          <a:xfrm>
            <a:off x="5562600" y="2057400"/>
            <a:ext cx="2590800" cy="2743200"/>
            <a:chOff x="3072" y="528"/>
            <a:chExt cx="1632" cy="1728"/>
          </a:xfrm>
        </p:grpSpPr>
        <p:sp>
          <p:nvSpPr>
            <p:cNvPr id="696339" name="Line 19"/>
            <p:cNvSpPr>
              <a:spLocks noChangeShapeType="1"/>
            </p:cNvSpPr>
            <p:nvPr/>
          </p:nvSpPr>
          <p:spPr bwMode="auto">
            <a:xfrm flipV="1">
              <a:off x="3408" y="129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40" name="Line 20"/>
            <p:cNvSpPr>
              <a:spLocks noChangeShapeType="1"/>
            </p:cNvSpPr>
            <p:nvPr/>
          </p:nvSpPr>
          <p:spPr bwMode="auto">
            <a:xfrm flipV="1">
              <a:off x="3216" y="1728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41" name="Line 21"/>
            <p:cNvSpPr>
              <a:spLocks noChangeShapeType="1"/>
            </p:cNvSpPr>
            <p:nvPr/>
          </p:nvSpPr>
          <p:spPr bwMode="auto">
            <a:xfrm flipH="1" flipV="1">
              <a:off x="3840" y="1296"/>
              <a:ext cx="2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42" name="Oval 22"/>
            <p:cNvSpPr>
              <a:spLocks noChangeArrowheads="1"/>
            </p:cNvSpPr>
            <p:nvPr/>
          </p:nvSpPr>
          <p:spPr bwMode="auto">
            <a:xfrm>
              <a:off x="3072" y="201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b</a:t>
              </a:r>
            </a:p>
          </p:txBody>
        </p:sp>
        <p:sp>
          <p:nvSpPr>
            <p:cNvPr id="696343" name="Oval 23"/>
            <p:cNvSpPr>
              <a:spLocks noChangeArrowheads="1"/>
            </p:cNvSpPr>
            <p:nvPr/>
          </p:nvSpPr>
          <p:spPr bwMode="auto">
            <a:xfrm>
              <a:off x="3984" y="14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e</a:t>
              </a:r>
            </a:p>
          </p:txBody>
        </p:sp>
        <p:sp>
          <p:nvSpPr>
            <p:cNvPr id="696344" name="Oval 24"/>
            <p:cNvSpPr>
              <a:spLocks noChangeArrowheads="1"/>
            </p:cNvSpPr>
            <p:nvPr/>
          </p:nvSpPr>
          <p:spPr bwMode="auto">
            <a:xfrm>
              <a:off x="3264" y="14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h</a:t>
              </a:r>
            </a:p>
          </p:txBody>
        </p:sp>
        <p:sp>
          <p:nvSpPr>
            <p:cNvPr id="696345" name="Oval 25"/>
            <p:cNvSpPr>
              <a:spLocks noChangeArrowheads="1"/>
            </p:cNvSpPr>
            <p:nvPr/>
          </p:nvSpPr>
          <p:spPr bwMode="auto">
            <a:xfrm>
              <a:off x="3648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c</a:t>
              </a:r>
            </a:p>
          </p:txBody>
        </p:sp>
        <p:sp>
          <p:nvSpPr>
            <p:cNvPr id="696346" name="Line 26"/>
            <p:cNvSpPr>
              <a:spLocks noChangeShapeType="1"/>
            </p:cNvSpPr>
            <p:nvPr/>
          </p:nvSpPr>
          <p:spPr bwMode="auto">
            <a:xfrm flipV="1">
              <a:off x="4608" y="7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47" name="Line 27"/>
            <p:cNvSpPr>
              <a:spLocks noChangeShapeType="1"/>
            </p:cNvSpPr>
            <p:nvPr/>
          </p:nvSpPr>
          <p:spPr bwMode="auto">
            <a:xfrm flipV="1">
              <a:off x="4608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48" name="Oval 28"/>
            <p:cNvSpPr>
              <a:spLocks noChangeArrowheads="1"/>
            </p:cNvSpPr>
            <p:nvPr/>
          </p:nvSpPr>
          <p:spPr bwMode="auto">
            <a:xfrm>
              <a:off x="4464" y="14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g</a:t>
              </a:r>
            </a:p>
          </p:txBody>
        </p:sp>
        <p:sp>
          <p:nvSpPr>
            <p:cNvPr id="696349" name="Oval 29"/>
            <p:cNvSpPr>
              <a:spLocks noChangeArrowheads="1"/>
            </p:cNvSpPr>
            <p:nvPr/>
          </p:nvSpPr>
          <p:spPr bwMode="auto">
            <a:xfrm>
              <a:off x="4464" y="100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d</a:t>
              </a:r>
            </a:p>
          </p:txBody>
        </p:sp>
        <p:sp>
          <p:nvSpPr>
            <p:cNvPr id="696350" name="Oval 30"/>
            <p:cNvSpPr>
              <a:spLocks noChangeArrowheads="1"/>
            </p:cNvSpPr>
            <p:nvPr/>
          </p:nvSpPr>
          <p:spPr bwMode="auto">
            <a:xfrm>
              <a:off x="4464" y="5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latin typeface="Courier New" charset="0"/>
                </a:rPr>
                <a:t>f</a:t>
              </a:r>
            </a:p>
          </p:txBody>
        </p:sp>
        <p:cxnSp>
          <p:nvCxnSpPr>
            <p:cNvPr id="696351" name="AutoShape 31"/>
            <p:cNvCxnSpPr>
              <a:cxnSpLocks noChangeShapeType="1"/>
              <a:stCxn id="696350" idx="0"/>
              <a:endCxn id="696350" idx="6"/>
            </p:cNvCxnSpPr>
            <p:nvPr/>
          </p:nvCxnSpPr>
          <p:spPr bwMode="auto">
            <a:xfrm rot="5400000" flipV="1">
              <a:off x="4584" y="528"/>
              <a:ext cx="120" cy="120"/>
            </a:xfrm>
            <a:prstGeom prst="curvedConnector4">
              <a:avLst>
                <a:gd name="adj1" fmla="val -120000"/>
                <a:gd name="adj2" fmla="val 22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696352" name="Line 32"/>
            <p:cNvSpPr>
              <a:spLocks noChangeShapeType="1"/>
            </p:cNvSpPr>
            <p:nvPr/>
          </p:nvSpPr>
          <p:spPr bwMode="auto">
            <a:xfrm flipV="1">
              <a:off x="3888" y="720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6353" name="Text Box 33"/>
          <p:cNvSpPr txBox="1">
            <a:spLocks noChangeArrowheads="1"/>
          </p:cNvSpPr>
          <p:nvPr/>
        </p:nvSpPr>
        <p:spPr bwMode="auto">
          <a:xfrm>
            <a:off x="1371600" y="3352800"/>
            <a:ext cx="33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>
                <a:sym typeface="Symbol" charset="0"/>
              </a:rPr>
              <a:t>x</a:t>
            </a:r>
          </a:p>
        </p:txBody>
      </p:sp>
      <p:sp>
        <p:nvSpPr>
          <p:cNvPr id="696354" name="Text Box 34"/>
          <p:cNvSpPr txBox="1">
            <a:spLocks noChangeArrowheads="1"/>
          </p:cNvSpPr>
          <p:nvPr/>
        </p:nvSpPr>
        <p:spPr bwMode="auto">
          <a:xfrm>
            <a:off x="3810000" y="3429000"/>
            <a:ext cx="31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>
                <a:sym typeface="Symbol" charset="0"/>
              </a:rPr>
              <a:t>y</a:t>
            </a:r>
          </a:p>
        </p:txBody>
      </p:sp>
      <p:sp>
        <p:nvSpPr>
          <p:cNvPr id="696355" name="Text Box 35"/>
          <p:cNvSpPr txBox="1">
            <a:spLocks noChangeArrowheads="1"/>
          </p:cNvSpPr>
          <p:nvPr/>
        </p:nvSpPr>
        <p:spPr bwMode="auto">
          <a:xfrm>
            <a:off x="6019800" y="2819400"/>
            <a:ext cx="33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>
                <a:sym typeface="Symbol" charset="0"/>
              </a:rPr>
              <a:t>x</a:t>
            </a:r>
          </a:p>
        </p:txBody>
      </p:sp>
      <p:sp>
        <p:nvSpPr>
          <p:cNvPr id="696356" name="Text Box 36"/>
          <p:cNvSpPr txBox="1">
            <a:spLocks noChangeArrowheads="1"/>
          </p:cNvSpPr>
          <p:nvPr/>
        </p:nvSpPr>
        <p:spPr bwMode="auto">
          <a:xfrm>
            <a:off x="8458200" y="1905000"/>
            <a:ext cx="31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>
                <a:sym typeface="Symbol" charset="0"/>
              </a:rPr>
              <a:t>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81534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i="1" u="sng"/>
              <a:t>Osservazione.</a:t>
            </a:r>
            <a:endParaRPr lang="it-IT"/>
          </a:p>
          <a:p>
            <a:r>
              <a:rPr lang="it-IT"/>
              <a:t>Sia nella rappresentazione con liste circolari che nella rappresentazione mediante alberi non abbiamo indicato nessun puntatore esterno alla lista o all’albero. </a:t>
            </a:r>
          </a:p>
        </p:txBody>
      </p:sp>
      <p:sp>
        <p:nvSpPr>
          <p:cNvPr id="697347" name="Text Box 3"/>
          <p:cNvSpPr txBox="1">
            <a:spLocks noChangeArrowheads="1"/>
          </p:cNvSpPr>
          <p:nvPr/>
        </p:nvSpPr>
        <p:spPr bwMode="auto">
          <a:xfrm>
            <a:off x="457200" y="3352800"/>
            <a:ext cx="81534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In realtà una struttura dati per insiemi disgiunti non è pensata per memorizzare dei dati ma soltanto per raggruppare in insiemi disgiunti dei dati che sono già memorizzati in qualche altra struttura (array, pila, albero, tavola hash, ecc.).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153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i="1" u="sng"/>
              <a:t>Complessità dell’implementazione semplice.</a:t>
            </a:r>
            <a:endParaRPr lang="it-IT"/>
          </a:p>
          <a:p>
            <a:r>
              <a:rPr lang="it-IT"/>
              <a:t>La complessità di </a:t>
            </a:r>
            <a:r>
              <a:rPr lang="it-IT" b="1" i="1">
                <a:sym typeface="Symbol" charset="0"/>
              </a:rPr>
              <a:t>FindSet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è proporzionale alla lunghezza del cammino che congiunge il nodo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alla radice dell’albero. </a:t>
            </a:r>
          </a:p>
        </p:txBody>
      </p:sp>
      <p:sp>
        <p:nvSpPr>
          <p:cNvPr id="698371" name="Text Box 3"/>
          <p:cNvSpPr txBox="1">
            <a:spLocks noChangeArrowheads="1"/>
          </p:cNvSpPr>
          <p:nvPr/>
        </p:nvSpPr>
        <p:spPr bwMode="auto">
          <a:xfrm>
            <a:off x="457200" y="27432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La complessità di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 è essenzialmente quella delle due chiamate </a:t>
            </a:r>
            <a:r>
              <a:rPr lang="it-IT" b="1" i="1">
                <a:sym typeface="Symbol" charset="0"/>
              </a:rPr>
              <a:t>FindSet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FindSet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.</a:t>
            </a:r>
          </a:p>
        </p:txBody>
      </p:sp>
      <p:sp>
        <p:nvSpPr>
          <p:cNvPr id="698372" name="Text Box 4"/>
          <p:cNvSpPr txBox="1">
            <a:spLocks noChangeArrowheads="1"/>
          </p:cNvSpPr>
          <p:nvPr/>
        </p:nvSpPr>
        <p:spPr bwMode="auto">
          <a:xfrm>
            <a:off x="457200" y="4313238"/>
            <a:ext cx="81534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Un esempio analogo a quello usato con le liste mostra che una sequenza di </a:t>
            </a:r>
            <a:r>
              <a:rPr lang="it-IT" b="1" i="1"/>
              <a:t>n</a:t>
            </a:r>
            <a:r>
              <a:rPr lang="it-IT"/>
              <a:t> operazioni può richiedere tempo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n</a:t>
            </a:r>
            <a:r>
              <a:rPr lang="it-IT" b="1" i="1" baseline="30000"/>
              <a:t>2</a:t>
            </a:r>
            <a:r>
              <a:rPr lang="it-IT" b="1"/>
              <a:t>)</a:t>
            </a:r>
            <a:r>
              <a:rPr lang="it-IT"/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Possiamo migliorare notevolmente l’efficienza usando due euristiche: </a:t>
            </a:r>
          </a:p>
        </p:txBody>
      </p:sp>
      <p:sp>
        <p:nvSpPr>
          <p:cNvPr id="699395" name="Text Box 3"/>
          <p:cNvSpPr txBox="1">
            <a:spLocks noChangeArrowheads="1"/>
          </p:cNvSpPr>
          <p:nvPr/>
        </p:nvSpPr>
        <p:spPr bwMode="auto">
          <a:xfrm>
            <a:off x="457200" y="18288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i="1" u="sng"/>
              <a:t>L’euristica dell’unione per rango</a:t>
            </a:r>
            <a:r>
              <a:rPr lang="it-IT"/>
              <a:t>: </a:t>
            </a:r>
          </a:p>
          <a:p>
            <a:r>
              <a:rPr lang="it-IT"/>
              <a:t>E’ simile a quella dell’unione pesata per le liste. </a:t>
            </a:r>
          </a:p>
        </p:txBody>
      </p:sp>
      <p:sp>
        <p:nvSpPr>
          <p:cNvPr id="699396" name="Text Box 4"/>
          <p:cNvSpPr txBox="1">
            <a:spLocks noChangeArrowheads="1"/>
          </p:cNvSpPr>
          <p:nvPr/>
        </p:nvSpPr>
        <p:spPr bwMode="auto">
          <a:xfrm>
            <a:off x="457200" y="2971800"/>
            <a:ext cx="8153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Per ogni nodo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manteniamo un campo </a:t>
            </a:r>
            <a:r>
              <a:rPr lang="it-IT" b="1" i="1">
                <a:sym typeface="Symbol" charset="0"/>
              </a:rPr>
              <a:t>rank</a:t>
            </a:r>
            <a:r>
              <a:rPr lang="it-IT"/>
              <a:t> che è un limite superiore all’altezza del sottoalbero di radice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ed è anche una approssimazione del logaritmo del numero di nodi del sottoalbero. </a:t>
            </a:r>
          </a:p>
        </p:txBody>
      </p:sp>
      <p:sp>
        <p:nvSpPr>
          <p:cNvPr id="699397" name="Text Box 5"/>
          <p:cNvSpPr txBox="1">
            <a:spLocks noChangeArrowheads="1"/>
          </p:cNvSpPr>
          <p:nvPr/>
        </p:nvSpPr>
        <p:spPr bwMode="auto">
          <a:xfrm>
            <a:off x="457200" y="51054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L’operazione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 mette la radice con rango minore come figlia di quella di rango maggiore.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Text Box 2"/>
          <p:cNvSpPr txBox="1">
            <a:spLocks noChangeArrowheads="1"/>
          </p:cNvSpPr>
          <p:nvPr/>
        </p:nvSpPr>
        <p:spPr bwMode="auto">
          <a:xfrm>
            <a:off x="457200" y="381000"/>
            <a:ext cx="8153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i="1" u="sng"/>
              <a:t>L’euristica della compressione dei cammini</a:t>
            </a:r>
            <a:r>
              <a:rPr lang="it-IT"/>
              <a:t>: </a:t>
            </a:r>
          </a:p>
          <a:p>
            <a:r>
              <a:rPr lang="it-IT"/>
              <a:t>Quando effettuiamo una </a:t>
            </a:r>
            <a:r>
              <a:rPr lang="it-IT" b="1" i="1">
                <a:sym typeface="Symbol" charset="0"/>
              </a:rPr>
              <a:t>FindSet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dobbiamo attraversare tutto il cammino da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alla radice. </a:t>
            </a:r>
          </a:p>
        </p:txBody>
      </p:sp>
      <p:sp>
        <p:nvSpPr>
          <p:cNvPr id="700419" name="Text Box 3"/>
          <p:cNvSpPr txBox="1">
            <a:spLocks noChangeArrowheads="1"/>
          </p:cNvSpPr>
          <p:nvPr/>
        </p:nvSpPr>
        <p:spPr bwMode="auto">
          <a:xfrm>
            <a:off x="457200" y="2362200"/>
            <a:ext cx="8153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Possiamo approfittarne per far puntare alla radice dell’albero i puntatori al padre di tutti i nodi incontrati lungo il cammino.</a:t>
            </a:r>
          </a:p>
        </p:txBody>
      </p:sp>
      <p:sp>
        <p:nvSpPr>
          <p:cNvPr id="700420" name="Text Box 4"/>
          <p:cNvSpPr txBox="1">
            <a:spLocks noChangeArrowheads="1"/>
          </p:cNvSpPr>
          <p:nvPr/>
        </p:nvSpPr>
        <p:spPr bwMode="auto">
          <a:xfrm>
            <a:off x="457200" y="4267200"/>
            <a:ext cx="8153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In questo modo le eventuali operazioni </a:t>
            </a:r>
            <a:r>
              <a:rPr lang="it-IT" b="1" i="1">
                <a:sym typeface="Symbol" charset="0"/>
              </a:rPr>
              <a:t>FindSet</a:t>
            </a:r>
            <a:r>
              <a:rPr lang="it-IT" b="1">
                <a:sym typeface="Symbol" charset="0"/>
              </a:rPr>
              <a:t> </a:t>
            </a:r>
            <a:r>
              <a:rPr lang="it-IT"/>
              <a:t>successive sui nodi di tale cammino risulteranno molto meno onerose.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Text Box 2"/>
          <p:cNvSpPr txBox="1">
            <a:spLocks noChangeArrowheads="1"/>
          </p:cNvSpPr>
          <p:nvPr/>
        </p:nvSpPr>
        <p:spPr bwMode="auto">
          <a:xfrm>
            <a:off x="457200" y="7620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L’implementazione con le due euristiche è la seguente:   </a:t>
            </a:r>
          </a:p>
        </p:txBody>
      </p:sp>
      <p:sp>
        <p:nvSpPr>
          <p:cNvPr id="701443" name="Text Box 3"/>
          <p:cNvSpPr txBox="1">
            <a:spLocks noChangeArrowheads="1"/>
          </p:cNvSpPr>
          <p:nvPr/>
        </p:nvSpPr>
        <p:spPr bwMode="auto">
          <a:xfrm>
            <a:off x="561975" y="1905000"/>
            <a:ext cx="7924800" cy="13985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x</a:t>
            </a:r>
          </a:p>
          <a:p>
            <a:r>
              <a:rPr lang="it-IT" sz="2800" b="1" i="1">
                <a:sym typeface="Symbol" charset="0"/>
              </a:rPr>
              <a:t>   rank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 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Line 2"/>
          <p:cNvSpPr>
            <a:spLocks noChangeShapeType="1"/>
          </p:cNvSpPr>
          <p:nvPr/>
        </p:nvSpPr>
        <p:spPr bwMode="auto">
          <a:xfrm flipV="1">
            <a:off x="1447800" y="4191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67" name="Line 3"/>
          <p:cNvSpPr>
            <a:spLocks noChangeShapeType="1"/>
          </p:cNvSpPr>
          <p:nvPr/>
        </p:nvSpPr>
        <p:spPr bwMode="auto">
          <a:xfrm flipV="1">
            <a:off x="1143000" y="48768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68" name="Line 4"/>
          <p:cNvSpPr>
            <a:spLocks noChangeShapeType="1"/>
          </p:cNvSpPr>
          <p:nvPr/>
        </p:nvSpPr>
        <p:spPr bwMode="auto">
          <a:xfrm flipH="1" flipV="1">
            <a:off x="2133600" y="41910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69" name="Oval 5"/>
          <p:cNvSpPr>
            <a:spLocks noChangeArrowheads="1"/>
          </p:cNvSpPr>
          <p:nvPr/>
        </p:nvSpPr>
        <p:spPr bwMode="auto">
          <a:xfrm>
            <a:off x="914400" y="5334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b</a:t>
            </a:r>
          </a:p>
        </p:txBody>
      </p:sp>
      <p:sp>
        <p:nvSpPr>
          <p:cNvPr id="702470" name="Oval 6"/>
          <p:cNvSpPr>
            <a:spLocks noChangeArrowheads="1"/>
          </p:cNvSpPr>
          <p:nvPr/>
        </p:nvSpPr>
        <p:spPr bwMode="auto">
          <a:xfrm>
            <a:off x="2362200" y="4495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e</a:t>
            </a:r>
          </a:p>
        </p:txBody>
      </p:sp>
      <p:sp>
        <p:nvSpPr>
          <p:cNvPr id="702471" name="Oval 7"/>
          <p:cNvSpPr>
            <a:spLocks noChangeArrowheads="1"/>
          </p:cNvSpPr>
          <p:nvPr/>
        </p:nvSpPr>
        <p:spPr bwMode="auto">
          <a:xfrm>
            <a:off x="1219200" y="4495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h</a:t>
            </a:r>
          </a:p>
        </p:txBody>
      </p:sp>
      <p:sp>
        <p:nvSpPr>
          <p:cNvPr id="702472" name="Oval 8"/>
          <p:cNvSpPr>
            <a:spLocks noChangeArrowheads="1"/>
          </p:cNvSpPr>
          <p:nvPr/>
        </p:nvSpPr>
        <p:spPr bwMode="auto">
          <a:xfrm>
            <a:off x="1828800" y="3886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c</a:t>
            </a:r>
          </a:p>
        </p:txBody>
      </p:sp>
      <p:sp>
        <p:nvSpPr>
          <p:cNvPr id="702473" name="Line 9"/>
          <p:cNvSpPr>
            <a:spLocks noChangeShapeType="1"/>
          </p:cNvSpPr>
          <p:nvPr/>
        </p:nvSpPr>
        <p:spPr bwMode="auto">
          <a:xfrm flipV="1">
            <a:off x="3352800" y="3352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74" name="Line 10"/>
          <p:cNvSpPr>
            <a:spLocks noChangeShapeType="1"/>
          </p:cNvSpPr>
          <p:nvPr/>
        </p:nvSpPr>
        <p:spPr bwMode="auto">
          <a:xfrm flipV="1">
            <a:off x="3352800" y="4114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75" name="Oval 11"/>
          <p:cNvSpPr>
            <a:spLocks noChangeArrowheads="1"/>
          </p:cNvSpPr>
          <p:nvPr/>
        </p:nvSpPr>
        <p:spPr bwMode="auto">
          <a:xfrm>
            <a:off x="3124200" y="4495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g</a:t>
            </a:r>
          </a:p>
        </p:txBody>
      </p:sp>
      <p:sp>
        <p:nvSpPr>
          <p:cNvPr id="702476" name="Oval 12"/>
          <p:cNvSpPr>
            <a:spLocks noChangeArrowheads="1"/>
          </p:cNvSpPr>
          <p:nvPr/>
        </p:nvSpPr>
        <p:spPr bwMode="auto">
          <a:xfrm>
            <a:off x="31242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d</a:t>
            </a:r>
          </a:p>
        </p:txBody>
      </p:sp>
      <p:sp>
        <p:nvSpPr>
          <p:cNvPr id="702477" name="Oval 13"/>
          <p:cNvSpPr>
            <a:spLocks noChangeArrowheads="1"/>
          </p:cNvSpPr>
          <p:nvPr/>
        </p:nvSpPr>
        <p:spPr bwMode="auto">
          <a:xfrm>
            <a:off x="3124200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f</a:t>
            </a:r>
          </a:p>
        </p:txBody>
      </p:sp>
      <p:cxnSp>
        <p:nvCxnSpPr>
          <p:cNvPr id="702478" name="AutoShape 14"/>
          <p:cNvCxnSpPr>
            <a:cxnSpLocks noChangeShapeType="1"/>
          </p:cNvCxnSpPr>
          <p:nvPr/>
        </p:nvCxnSpPr>
        <p:spPr bwMode="auto">
          <a:xfrm rot="5400000" flipV="1">
            <a:off x="3355802" y="2917007"/>
            <a:ext cx="190500" cy="206375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02479" name="Line 15"/>
          <p:cNvSpPr>
            <a:spLocks noChangeShapeType="1"/>
          </p:cNvSpPr>
          <p:nvPr/>
        </p:nvSpPr>
        <p:spPr bwMode="auto">
          <a:xfrm flipV="1">
            <a:off x="2209800" y="32766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80" name="Text Box 16"/>
          <p:cNvSpPr txBox="1">
            <a:spLocks noChangeArrowheads="1"/>
          </p:cNvSpPr>
          <p:nvPr/>
        </p:nvSpPr>
        <p:spPr bwMode="auto">
          <a:xfrm>
            <a:off x="457200" y="5181600"/>
            <a:ext cx="33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>
                <a:sym typeface="Symbol" charset="0"/>
              </a:rPr>
              <a:t>x</a:t>
            </a:r>
          </a:p>
        </p:txBody>
      </p:sp>
      <p:sp>
        <p:nvSpPr>
          <p:cNvPr id="702481" name="Line 17"/>
          <p:cNvSpPr>
            <a:spLocks noChangeShapeType="1"/>
          </p:cNvSpPr>
          <p:nvPr/>
        </p:nvSpPr>
        <p:spPr bwMode="auto">
          <a:xfrm flipV="1">
            <a:off x="6096000" y="3200400"/>
            <a:ext cx="1828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82" name="Line 18"/>
          <p:cNvSpPr>
            <a:spLocks noChangeShapeType="1"/>
          </p:cNvSpPr>
          <p:nvPr/>
        </p:nvSpPr>
        <p:spPr bwMode="auto">
          <a:xfrm flipV="1">
            <a:off x="5486400" y="3124200"/>
            <a:ext cx="2438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83" name="Line 19"/>
          <p:cNvSpPr>
            <a:spLocks noChangeShapeType="1"/>
          </p:cNvSpPr>
          <p:nvPr/>
        </p:nvSpPr>
        <p:spPr bwMode="auto">
          <a:xfrm flipH="1" flipV="1">
            <a:off x="6934200" y="41910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84" name="Oval 20"/>
          <p:cNvSpPr>
            <a:spLocks noChangeArrowheads="1"/>
          </p:cNvSpPr>
          <p:nvPr/>
        </p:nvSpPr>
        <p:spPr bwMode="auto">
          <a:xfrm>
            <a:off x="5105400" y="3886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b</a:t>
            </a:r>
          </a:p>
        </p:txBody>
      </p:sp>
      <p:sp>
        <p:nvSpPr>
          <p:cNvPr id="702485" name="Oval 21"/>
          <p:cNvSpPr>
            <a:spLocks noChangeArrowheads="1"/>
          </p:cNvSpPr>
          <p:nvPr/>
        </p:nvSpPr>
        <p:spPr bwMode="auto">
          <a:xfrm>
            <a:off x="7162800" y="4495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e</a:t>
            </a:r>
          </a:p>
        </p:txBody>
      </p:sp>
      <p:sp>
        <p:nvSpPr>
          <p:cNvPr id="702486" name="Oval 2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h</a:t>
            </a:r>
          </a:p>
        </p:txBody>
      </p:sp>
      <p:sp>
        <p:nvSpPr>
          <p:cNvPr id="702487" name="Oval 23"/>
          <p:cNvSpPr>
            <a:spLocks noChangeArrowheads="1"/>
          </p:cNvSpPr>
          <p:nvPr/>
        </p:nvSpPr>
        <p:spPr bwMode="auto">
          <a:xfrm>
            <a:off x="6629400" y="3886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c</a:t>
            </a:r>
          </a:p>
        </p:txBody>
      </p:sp>
      <p:sp>
        <p:nvSpPr>
          <p:cNvPr id="702488" name="Line 24"/>
          <p:cNvSpPr>
            <a:spLocks noChangeShapeType="1"/>
          </p:cNvSpPr>
          <p:nvPr/>
        </p:nvSpPr>
        <p:spPr bwMode="auto">
          <a:xfrm flipV="1">
            <a:off x="8153400" y="3352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89" name="Line 25"/>
          <p:cNvSpPr>
            <a:spLocks noChangeShapeType="1"/>
          </p:cNvSpPr>
          <p:nvPr/>
        </p:nvSpPr>
        <p:spPr bwMode="auto">
          <a:xfrm flipV="1">
            <a:off x="8153400" y="4114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90" name="Oval 26"/>
          <p:cNvSpPr>
            <a:spLocks noChangeArrowheads="1"/>
          </p:cNvSpPr>
          <p:nvPr/>
        </p:nvSpPr>
        <p:spPr bwMode="auto">
          <a:xfrm>
            <a:off x="7924800" y="4495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g</a:t>
            </a:r>
          </a:p>
        </p:txBody>
      </p:sp>
      <p:sp>
        <p:nvSpPr>
          <p:cNvPr id="702491" name="Oval 27"/>
          <p:cNvSpPr>
            <a:spLocks noChangeArrowheads="1"/>
          </p:cNvSpPr>
          <p:nvPr/>
        </p:nvSpPr>
        <p:spPr bwMode="auto">
          <a:xfrm>
            <a:off x="79248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d</a:t>
            </a:r>
          </a:p>
        </p:txBody>
      </p:sp>
      <p:sp>
        <p:nvSpPr>
          <p:cNvPr id="702492" name="Oval 28"/>
          <p:cNvSpPr>
            <a:spLocks noChangeArrowheads="1"/>
          </p:cNvSpPr>
          <p:nvPr/>
        </p:nvSpPr>
        <p:spPr bwMode="auto">
          <a:xfrm>
            <a:off x="7924800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latin typeface="Courier New" charset="0"/>
              </a:rPr>
              <a:t>f</a:t>
            </a:r>
          </a:p>
        </p:txBody>
      </p:sp>
      <p:cxnSp>
        <p:nvCxnSpPr>
          <p:cNvPr id="702493" name="AutoShape 29"/>
          <p:cNvCxnSpPr>
            <a:cxnSpLocks noChangeShapeType="1"/>
          </p:cNvCxnSpPr>
          <p:nvPr/>
        </p:nvCxnSpPr>
        <p:spPr bwMode="auto">
          <a:xfrm rot="5400000" flipV="1">
            <a:off x="8180338" y="2917007"/>
            <a:ext cx="190500" cy="206375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02494" name="Line 30"/>
          <p:cNvSpPr>
            <a:spLocks noChangeShapeType="1"/>
          </p:cNvSpPr>
          <p:nvPr/>
        </p:nvSpPr>
        <p:spPr bwMode="auto">
          <a:xfrm flipV="1">
            <a:off x="7010400" y="3276600"/>
            <a:ext cx="914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495" name="Text Box 31"/>
          <p:cNvSpPr txBox="1">
            <a:spLocks noChangeArrowheads="1"/>
          </p:cNvSpPr>
          <p:nvPr/>
        </p:nvSpPr>
        <p:spPr bwMode="auto">
          <a:xfrm>
            <a:off x="4724400" y="3733800"/>
            <a:ext cx="33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>
                <a:sym typeface="Symbol" charset="0"/>
              </a:rPr>
              <a:t>x</a:t>
            </a:r>
          </a:p>
        </p:txBody>
      </p:sp>
      <p:sp>
        <p:nvSpPr>
          <p:cNvPr id="702496" name="Text Box 32"/>
          <p:cNvSpPr txBox="1">
            <a:spLocks noChangeArrowheads="1"/>
          </p:cNvSpPr>
          <p:nvPr/>
        </p:nvSpPr>
        <p:spPr bwMode="auto">
          <a:xfrm>
            <a:off x="633413" y="457200"/>
            <a:ext cx="7924800" cy="18256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if 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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 then </a:t>
            </a:r>
          </a:p>
          <a:p>
            <a:r>
              <a:rPr lang="it-IT" sz="2800" b="1">
                <a:sym typeface="Symbol" charset="0"/>
              </a:rPr>
              <a:t>      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</a:t>
            </a:r>
            <a:r>
              <a:rPr lang="it-IT" sz="2800" b="1" i="1">
                <a:sym typeface="Symbol" charset="0"/>
              </a:rPr>
              <a:t> 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])</a:t>
            </a:r>
          </a:p>
          <a:p>
            <a:r>
              <a:rPr lang="it-IT" sz="2800" b="1">
                <a:sym typeface="Symbol" charset="0"/>
              </a:rPr>
              <a:t>   return </a:t>
            </a:r>
            <a:r>
              <a:rPr lang="it-IT" sz="2800" b="1" i="1">
                <a:sym typeface="Symbol" charset="0"/>
              </a:rPr>
              <a:t>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Text Box 2"/>
          <p:cNvSpPr txBox="1">
            <a:spLocks noChangeArrowheads="1"/>
          </p:cNvSpPr>
          <p:nvPr/>
        </p:nvSpPr>
        <p:spPr bwMode="auto">
          <a:xfrm>
            <a:off x="561975" y="2743200"/>
            <a:ext cx="7924800" cy="310673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Link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 y</a:t>
            </a:r>
            <a:r>
              <a:rPr lang="it-IT" sz="2800" b="1">
                <a:sym typeface="Symbol" charset="0"/>
              </a:rPr>
              <a:t>)</a:t>
            </a:r>
            <a:endParaRPr lang="it-IT" sz="2800" b="1" i="1">
              <a:sym typeface="Symbol" charset="0"/>
            </a:endParaRPr>
          </a:p>
          <a:p>
            <a:r>
              <a:rPr lang="it-IT" sz="2800" b="1" i="1">
                <a:sym typeface="Symbol" charset="0"/>
              </a:rPr>
              <a:t>   </a:t>
            </a:r>
            <a:r>
              <a:rPr lang="it-IT" sz="2800" b="1">
                <a:sym typeface="Symbol" charset="0"/>
              </a:rPr>
              <a:t>if </a:t>
            </a:r>
            <a:r>
              <a:rPr lang="it-IT" sz="2800" b="1" i="1">
                <a:sym typeface="Symbol" charset="0"/>
              </a:rPr>
              <a:t>rank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&gt; </a:t>
            </a:r>
            <a:r>
              <a:rPr lang="it-IT" sz="2800" b="1" i="1">
                <a:sym typeface="Symbol" charset="0"/>
              </a:rPr>
              <a:t>rank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then</a:t>
            </a:r>
            <a:endParaRPr lang="it-IT" sz="2800" b="1" i="1">
              <a:sym typeface="Symbol" charset="0"/>
            </a:endParaRPr>
          </a:p>
          <a:p>
            <a:r>
              <a:rPr lang="it-IT" sz="2800" b="1" i="1">
                <a:sym typeface="Symbol" charset="0"/>
              </a:rPr>
              <a:t>      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</a:t>
            </a:r>
            <a:r>
              <a:rPr lang="it-IT" sz="2800" b="1" i="1">
                <a:sym typeface="Symbol" charset="0"/>
              </a:rPr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 i="1">
                <a:sym typeface="Symbol" charset="0"/>
              </a:rPr>
              <a:t> x</a:t>
            </a:r>
          </a:p>
          <a:p>
            <a:r>
              <a:rPr lang="it-IT" sz="2800" b="1" i="1">
                <a:sym typeface="Symbol" charset="0"/>
              </a:rPr>
              <a:t>   </a:t>
            </a:r>
            <a:r>
              <a:rPr lang="it-IT" sz="2800" b="1">
                <a:sym typeface="Symbol" charset="0"/>
              </a:rPr>
              <a:t>else</a:t>
            </a:r>
            <a:endParaRPr lang="it-IT" sz="2800" b="1" i="1">
              <a:sym typeface="Symbol" charset="0"/>
            </a:endParaRPr>
          </a:p>
          <a:p>
            <a:r>
              <a:rPr lang="it-IT" sz="2800" b="1" i="1">
                <a:sym typeface="Symbol" charset="0"/>
              </a:rPr>
              <a:t>      parent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</a:t>
            </a:r>
            <a:r>
              <a:rPr lang="it-IT" sz="2800" b="1" i="1">
                <a:sym typeface="Symbol" charset="0"/>
              </a:rPr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 i="1">
                <a:sym typeface="Symbol" charset="0"/>
              </a:rPr>
              <a:t> y</a:t>
            </a:r>
          </a:p>
          <a:p>
            <a:r>
              <a:rPr lang="it-IT" sz="2800" b="1" i="1">
                <a:sym typeface="Symbol" charset="0"/>
              </a:rPr>
              <a:t>      </a:t>
            </a:r>
            <a:r>
              <a:rPr lang="it-IT" sz="2800" b="1">
                <a:sym typeface="Symbol" charset="0"/>
              </a:rPr>
              <a:t>if </a:t>
            </a:r>
            <a:r>
              <a:rPr lang="it-IT" sz="2800" b="1" i="1">
                <a:sym typeface="Symbol" charset="0"/>
              </a:rPr>
              <a:t>rank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] = </a:t>
            </a:r>
            <a:r>
              <a:rPr lang="it-IT" sz="2800" b="1" i="1">
                <a:sym typeface="Symbol" charset="0"/>
              </a:rPr>
              <a:t>rank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then</a:t>
            </a:r>
            <a:endParaRPr lang="it-IT" sz="2800" b="1" i="1">
              <a:sym typeface="Symbol" charset="0"/>
            </a:endParaRPr>
          </a:p>
          <a:p>
            <a:r>
              <a:rPr lang="it-IT" sz="2800" b="1" i="1">
                <a:sym typeface="Symbol" charset="0"/>
              </a:rPr>
              <a:t>          rank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</a:t>
            </a:r>
            <a:r>
              <a:rPr lang="it-IT" sz="2800" b="1" i="1">
                <a:sym typeface="Symbol" charset="0"/>
              </a:rPr>
              <a:t> rank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] + 1</a:t>
            </a:r>
            <a:endParaRPr lang="it-IT" sz="2800" b="1" i="1">
              <a:sym typeface="Symbol" charset="0"/>
            </a:endParaRPr>
          </a:p>
        </p:txBody>
      </p:sp>
      <p:sp>
        <p:nvSpPr>
          <p:cNvPr id="703491" name="Text Box 3"/>
          <p:cNvSpPr txBox="1">
            <a:spLocks noChangeArrowheads="1"/>
          </p:cNvSpPr>
          <p:nvPr/>
        </p:nvSpPr>
        <p:spPr bwMode="auto">
          <a:xfrm>
            <a:off x="633413" y="457200"/>
            <a:ext cx="7924800" cy="18256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Link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  <a:endParaRPr lang="it-IT" sz="2800" b="1">
              <a:solidFill>
                <a:srgbClr val="0000CC"/>
              </a:solidFill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Text Box 2"/>
          <p:cNvSpPr txBox="1">
            <a:spLocks noChangeArrowheads="1"/>
          </p:cNvSpPr>
          <p:nvPr/>
        </p:nvSpPr>
        <p:spPr bwMode="auto">
          <a:xfrm>
            <a:off x="381000" y="762000"/>
            <a:ext cx="830580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 u="sng"/>
              <a:t>Considerazioni sulla complessità.</a:t>
            </a:r>
            <a:endParaRPr lang="it-IT"/>
          </a:p>
          <a:p>
            <a:pPr>
              <a:spcBef>
                <a:spcPct val="10000"/>
              </a:spcBef>
            </a:pPr>
            <a:r>
              <a:rPr lang="it-IT"/>
              <a:t>Entrambe le euristiche migliorano le prestazioni quando sono usate separatamente.</a:t>
            </a:r>
          </a:p>
        </p:txBody>
      </p:sp>
      <p:sp>
        <p:nvSpPr>
          <p:cNvPr id="704515" name="Text Box 3"/>
          <p:cNvSpPr txBox="1">
            <a:spLocks noChangeArrowheads="1"/>
          </p:cNvSpPr>
          <p:nvPr/>
        </p:nvSpPr>
        <p:spPr bwMode="auto">
          <a:xfrm>
            <a:off x="381000" y="3657600"/>
            <a:ext cx="83058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Con l’euristica dell’unione per rango da sola una sequenza di </a:t>
            </a:r>
            <a:r>
              <a:rPr lang="it-IT" b="1" i="1"/>
              <a:t>m </a:t>
            </a:r>
            <a:r>
              <a:rPr lang="it-IT"/>
              <a:t>operazioni delle quali </a:t>
            </a:r>
            <a:r>
              <a:rPr lang="it-IT" b="1" i="1"/>
              <a:t>n</a:t>
            </a:r>
            <a:r>
              <a:rPr lang="it-IT"/>
              <a:t> sono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 richiede tempo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 </a:t>
            </a:r>
            <a:r>
              <a:rPr lang="it-IT" b="1"/>
              <a:t>log</a:t>
            </a:r>
            <a:r>
              <a:rPr lang="it-IT" b="1" i="1"/>
              <a:t> n</a:t>
            </a:r>
            <a:r>
              <a:rPr lang="it-IT" b="1"/>
              <a:t>)</a:t>
            </a:r>
            <a:r>
              <a:rPr lang="it-IT"/>
              <a:t>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Text Box 2"/>
          <p:cNvSpPr txBox="1">
            <a:spLocks noChangeArrowheads="1"/>
          </p:cNvSpPr>
          <p:nvPr/>
        </p:nvSpPr>
        <p:spPr bwMode="auto">
          <a:xfrm>
            <a:off x="533400" y="685800"/>
            <a:ext cx="83058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Con l’euristica della compressione dei cammini da sola una sequenza di </a:t>
            </a:r>
            <a:r>
              <a:rPr lang="it-IT" b="1" i="1"/>
              <a:t>m </a:t>
            </a:r>
            <a:r>
              <a:rPr lang="it-IT"/>
              <a:t>operazioni delle quali </a:t>
            </a:r>
            <a:r>
              <a:rPr lang="it-IT" b="1" i="1"/>
              <a:t>n</a:t>
            </a:r>
            <a:r>
              <a:rPr lang="it-IT"/>
              <a:t> sono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 ed </a:t>
            </a:r>
            <a:r>
              <a:rPr lang="it-IT" b="1" i="1"/>
              <a:t>f </a:t>
            </a:r>
            <a:r>
              <a:rPr lang="it-IT"/>
              <a:t>sono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richiede tempo</a:t>
            </a:r>
          </a:p>
        </p:txBody>
      </p:sp>
      <p:graphicFrame>
        <p:nvGraphicFramePr>
          <p:cNvPr id="705539" name="Object 3"/>
          <p:cNvGraphicFramePr>
            <a:graphicFrameLocks noChangeAspect="1"/>
          </p:cNvGraphicFramePr>
          <p:nvPr/>
        </p:nvGraphicFramePr>
        <p:xfrm>
          <a:off x="601663" y="2971800"/>
          <a:ext cx="4713287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3" imgW="1726920" imgH="457200" progId="Equation.3">
                  <p:embed/>
                </p:oleObj>
              </mc:Choice>
              <mc:Fallback>
                <p:oleObj name="Equation" r:id="rId3" imgW="1726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3" y="2971800"/>
                        <a:ext cx="4713287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8305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Le migliori prestazioni in assoluto si ottengono usando entrambe le euristiche. </a:t>
            </a:r>
          </a:p>
        </p:txBody>
      </p:sp>
      <p:sp>
        <p:nvSpPr>
          <p:cNvPr id="706563" name="Text Box 3"/>
          <p:cNvSpPr txBox="1">
            <a:spLocks noChangeArrowheads="1"/>
          </p:cNvSpPr>
          <p:nvPr/>
        </p:nvSpPr>
        <p:spPr bwMode="auto">
          <a:xfrm>
            <a:off x="533400" y="1524000"/>
            <a:ext cx="83058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Una sequenza di </a:t>
            </a:r>
            <a:r>
              <a:rPr lang="it-IT" b="1" i="1"/>
              <a:t>m </a:t>
            </a:r>
            <a:r>
              <a:rPr lang="it-IT"/>
              <a:t>operazioni delle quali </a:t>
            </a:r>
            <a:r>
              <a:rPr lang="it-IT" b="1" i="1"/>
              <a:t>n</a:t>
            </a:r>
            <a:r>
              <a:rPr lang="it-IT"/>
              <a:t> sono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 richiede tempo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 </a:t>
            </a:r>
            <a:r>
              <a:rPr lang="it-IT" b="1">
                <a:sym typeface="Symbol" charset="0"/>
              </a:rPr>
              <a:t></a:t>
            </a:r>
            <a:r>
              <a:rPr lang="it-IT" b="1"/>
              <a:t>(</a:t>
            </a:r>
            <a:r>
              <a:rPr lang="it-IT" b="1" i="1"/>
              <a:t>m,n</a:t>
            </a:r>
            <a:r>
              <a:rPr lang="it-IT" b="1"/>
              <a:t>))</a:t>
            </a:r>
            <a:r>
              <a:rPr lang="it-IT" b="1" i="1"/>
              <a:t> </a:t>
            </a:r>
            <a:r>
              <a:rPr lang="it-IT"/>
              <a:t>dove </a:t>
            </a:r>
            <a:r>
              <a:rPr lang="it-IT" b="1">
                <a:sym typeface="Symbol" charset="0"/>
              </a:rPr>
              <a:t></a:t>
            </a:r>
            <a:r>
              <a:rPr lang="it-IT" b="1"/>
              <a:t>(</a:t>
            </a:r>
            <a:r>
              <a:rPr lang="it-IT" b="1" i="1"/>
              <a:t>m,n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/>
              <a:t>è una funzione che cresce estremamente lentamente: </a:t>
            </a:r>
            <a:r>
              <a:rPr lang="it-IT" b="1">
                <a:sym typeface="Symbol" charset="0"/>
              </a:rPr>
              <a:t></a:t>
            </a:r>
            <a:r>
              <a:rPr lang="it-IT" b="1"/>
              <a:t>(</a:t>
            </a:r>
            <a:r>
              <a:rPr lang="it-IT" b="1" i="1"/>
              <a:t>m,n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 b="1">
                <a:sym typeface="Symbol" charset="0"/>
              </a:rPr>
              <a:t></a:t>
            </a:r>
            <a:r>
              <a:rPr lang="it-IT" b="1" i="1"/>
              <a:t> </a:t>
            </a:r>
            <a:r>
              <a:rPr lang="it-IT" b="1"/>
              <a:t>4</a:t>
            </a:r>
            <a:r>
              <a:rPr lang="it-IT" b="1" i="1"/>
              <a:t> </a:t>
            </a:r>
            <a:r>
              <a:rPr lang="it-IT"/>
              <a:t>in ogni concepibile uso di una struttura per insiemi disgiunti. </a:t>
            </a:r>
          </a:p>
        </p:txBody>
      </p:sp>
      <p:sp>
        <p:nvSpPr>
          <p:cNvPr id="706564" name="Text Box 4"/>
          <p:cNvSpPr txBox="1">
            <a:spLocks noChangeArrowheads="1"/>
          </p:cNvSpPr>
          <p:nvPr/>
        </p:nvSpPr>
        <p:spPr bwMode="auto">
          <a:xfrm>
            <a:off x="533400" y="4267200"/>
            <a:ext cx="83058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Questo rende praticamente lineare in </a:t>
            </a:r>
            <a:r>
              <a:rPr lang="it-IT" b="1" i="1"/>
              <a:t>m</a:t>
            </a:r>
            <a:r>
              <a:rPr lang="it-IT"/>
              <a:t> la complessità di una sequenza di </a:t>
            </a:r>
            <a:r>
              <a:rPr lang="it-IT" b="1" i="1"/>
              <a:t>m</a:t>
            </a:r>
            <a:r>
              <a:rPr lang="it-IT"/>
              <a:t> operazioni e quindi costante la complessità ammortizzata di una singola operazione.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Text Box 2"/>
          <p:cNvSpPr txBox="1">
            <a:spLocks noChangeArrowheads="1"/>
          </p:cNvSpPr>
          <p:nvPr/>
        </p:nvSpPr>
        <p:spPr bwMode="auto">
          <a:xfrm>
            <a:off x="533400" y="533400"/>
            <a:ext cx="8153400" cy="209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La dimostrazione di tali limiti è complicata. </a:t>
            </a:r>
          </a:p>
          <a:p>
            <a:pPr>
              <a:spcBef>
                <a:spcPct val="10000"/>
              </a:spcBef>
            </a:pPr>
            <a:r>
              <a:rPr lang="it-IT"/>
              <a:t>Ci limiteremo a dimostrare un limite un poco più largo di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 </a:t>
            </a:r>
            <a:r>
              <a:rPr lang="it-IT" b="1">
                <a:sym typeface="Symbol" charset="0"/>
              </a:rPr>
              <a:t></a:t>
            </a:r>
            <a:r>
              <a:rPr lang="it-IT" b="1"/>
              <a:t>(</a:t>
            </a:r>
            <a:r>
              <a:rPr lang="it-IT" b="1" i="1"/>
              <a:t>m,n</a:t>
            </a:r>
            <a:r>
              <a:rPr lang="it-IT" b="1"/>
              <a:t>))</a:t>
            </a:r>
            <a:r>
              <a:rPr lang="it-IT" b="1" i="1"/>
              <a:t> </a:t>
            </a:r>
            <a:r>
              <a:rPr lang="it-IT"/>
              <a:t>per il caso in cui vengono usate entrambe le euristiche. </a:t>
            </a:r>
          </a:p>
        </p:txBody>
      </p:sp>
      <p:sp>
        <p:nvSpPr>
          <p:cNvPr id="707587" name="Text Box 3"/>
          <p:cNvSpPr txBox="1">
            <a:spLocks noChangeArrowheads="1"/>
          </p:cNvSpPr>
          <p:nvPr/>
        </p:nvSpPr>
        <p:spPr bwMode="auto">
          <a:xfrm>
            <a:off x="533400" y="2819400"/>
            <a:ext cx="8077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limite che dimostreremo è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</a:t>
            </a:r>
            <a:r>
              <a:rPr lang="it-IT" b="1" i="1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log</a:t>
            </a:r>
            <a:r>
              <a:rPr lang="it-IT" b="1" i="1">
                <a:sym typeface="Symbol" charset="0"/>
              </a:rPr>
              <a:t>* n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/>
              <a:t>in cui </a:t>
            </a:r>
            <a:r>
              <a:rPr lang="it-IT" b="1">
                <a:sym typeface="Symbol" charset="0"/>
              </a:rPr>
              <a:t>log</a:t>
            </a:r>
            <a:r>
              <a:rPr lang="it-IT" b="1" i="1">
                <a:sym typeface="Symbol" charset="0"/>
              </a:rPr>
              <a:t>* n</a:t>
            </a:r>
            <a:r>
              <a:rPr lang="it-IT" b="1" i="1"/>
              <a:t> </a:t>
            </a:r>
            <a:r>
              <a:rPr lang="it-IT"/>
              <a:t>è la funzione logaritmo iterato che è pure una funzione che cresce molto lentamente.</a:t>
            </a:r>
          </a:p>
        </p:txBody>
      </p:sp>
      <p:sp>
        <p:nvSpPr>
          <p:cNvPr id="707588" name="Text Box 4"/>
          <p:cNvSpPr txBox="1">
            <a:spLocks noChangeArrowheads="1"/>
          </p:cNvSpPr>
          <p:nvPr/>
        </p:nvSpPr>
        <p:spPr bwMode="auto">
          <a:xfrm>
            <a:off x="533400" y="4572000"/>
            <a:ext cx="8077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Vedremo infatti che </a:t>
            </a:r>
            <a:r>
              <a:rPr lang="it-IT" b="1">
                <a:sym typeface="Symbol" charset="0"/>
              </a:rPr>
              <a:t>log</a:t>
            </a:r>
            <a:r>
              <a:rPr lang="it-IT" b="1" i="1">
                <a:sym typeface="Symbol" charset="0"/>
              </a:rPr>
              <a:t>* n </a:t>
            </a:r>
            <a:r>
              <a:rPr lang="it-IT" b="1">
                <a:sym typeface="Symbol" charset="0"/>
              </a:rPr>
              <a:t></a:t>
            </a:r>
            <a:r>
              <a:rPr lang="it-IT" b="1" i="1"/>
              <a:t> </a:t>
            </a:r>
            <a:r>
              <a:rPr lang="it-IT" b="1"/>
              <a:t>5</a:t>
            </a:r>
            <a:r>
              <a:rPr lang="it-IT" b="1" i="1"/>
              <a:t> </a:t>
            </a:r>
            <a:r>
              <a:rPr lang="it-IT"/>
              <a:t>per qualunque concepibile uso di una struttura dati per insiemi disgiunti.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Text Box 2"/>
          <p:cNvSpPr txBox="1">
            <a:spLocks noChangeArrowheads="1"/>
          </p:cNvSpPr>
          <p:nvPr/>
        </p:nvSpPr>
        <p:spPr bwMode="auto">
          <a:xfrm>
            <a:off x="533400" y="533400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Ricordiamo la definizione di logaritmo iterato: </a:t>
            </a:r>
          </a:p>
        </p:txBody>
      </p:sp>
      <p:graphicFrame>
        <p:nvGraphicFramePr>
          <p:cNvPr id="708611" name="Object 3"/>
          <p:cNvGraphicFramePr>
            <a:graphicFrameLocks noChangeAspect="1"/>
          </p:cNvGraphicFramePr>
          <p:nvPr/>
        </p:nvGraphicFramePr>
        <p:xfrm>
          <a:off x="725488" y="1219200"/>
          <a:ext cx="769302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3" imgW="2958840" imgH="583920" progId="Equation.3">
                  <p:embed/>
                </p:oleObj>
              </mc:Choice>
              <mc:Fallback>
                <p:oleObj name="Equation" r:id="rId3" imgW="295884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1219200"/>
                        <a:ext cx="769302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612" name="Object 4"/>
          <p:cNvGraphicFramePr>
            <a:graphicFrameLocks noChangeAspect="1"/>
          </p:cNvGraphicFramePr>
          <p:nvPr/>
        </p:nvGraphicFramePr>
        <p:xfrm>
          <a:off x="733425" y="2971800"/>
          <a:ext cx="46355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5" imgW="1892160" imgH="228600" progId="Equation.3">
                  <p:embed/>
                </p:oleObj>
              </mc:Choice>
              <mc:Fallback>
                <p:oleObj name="Equation" r:id="rId5" imgW="18921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2971800"/>
                        <a:ext cx="46355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8613" name="Text Box 5"/>
          <p:cNvSpPr txBox="1">
            <a:spLocks noChangeArrowheads="1"/>
          </p:cNvSpPr>
          <p:nvPr/>
        </p:nvSpPr>
        <p:spPr bwMode="auto">
          <a:xfrm>
            <a:off x="533400" y="39624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logaritmo iterato è l’inversa dell’esponenziale iterato: </a:t>
            </a:r>
          </a:p>
        </p:txBody>
      </p:sp>
      <p:graphicFrame>
        <p:nvGraphicFramePr>
          <p:cNvPr id="708614" name="Object 6"/>
          <p:cNvGraphicFramePr>
            <a:graphicFrameLocks noChangeAspect="1"/>
          </p:cNvGraphicFramePr>
          <p:nvPr/>
        </p:nvGraphicFramePr>
        <p:xfrm>
          <a:off x="752475" y="5105400"/>
          <a:ext cx="45561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7" imgW="1752480" imgH="406080" progId="Equation.3">
                  <p:embed/>
                </p:oleObj>
              </mc:Choice>
              <mc:Fallback>
                <p:oleObj name="Equation" r:id="rId7" imgW="1752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5105400"/>
                        <a:ext cx="45561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9634" name="Object 2"/>
          <p:cNvGraphicFramePr>
            <a:graphicFrameLocks noChangeAspect="1"/>
          </p:cNvGraphicFramePr>
          <p:nvPr/>
        </p:nvGraphicFramePr>
        <p:xfrm>
          <a:off x="581025" y="1143000"/>
          <a:ext cx="39639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3" imgW="1523880" imgH="203040" progId="Equation.3">
                  <p:embed/>
                </p:oleObj>
              </mc:Choice>
              <mc:Fallback>
                <p:oleObj name="Equation" r:id="rId3" imgW="1523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143000"/>
                        <a:ext cx="39639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9635" name="Text Box 3"/>
          <p:cNvSpPr txBox="1">
            <a:spLocks noChangeArrowheads="1"/>
          </p:cNvSpPr>
          <p:nvPr/>
        </p:nvSpPr>
        <p:spPr bwMode="auto">
          <a:xfrm>
            <a:off x="457200" y="457200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possiamo infatti osservare che: </a:t>
            </a:r>
          </a:p>
        </p:txBody>
      </p:sp>
      <p:graphicFrame>
        <p:nvGraphicFramePr>
          <p:cNvPr id="709636" name="Object 4"/>
          <p:cNvGraphicFramePr>
            <a:graphicFrameLocks noChangeAspect="1"/>
          </p:cNvGraphicFramePr>
          <p:nvPr/>
        </p:nvGraphicFramePr>
        <p:xfrm>
          <a:off x="615950" y="1752600"/>
          <a:ext cx="38973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5" imgW="1498320" imgH="203040" progId="Equation.3">
                  <p:embed/>
                </p:oleObj>
              </mc:Choice>
              <mc:Fallback>
                <p:oleObj name="Equation" r:id="rId5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1752600"/>
                        <a:ext cx="389731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7" name="Object 5"/>
          <p:cNvGraphicFramePr>
            <a:graphicFrameLocks noChangeAspect="1"/>
          </p:cNvGraphicFramePr>
          <p:nvPr/>
        </p:nvGraphicFramePr>
        <p:xfrm>
          <a:off x="582613" y="2362200"/>
          <a:ext cx="55530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7" imgW="2133360" imgH="228600" progId="Equation.3">
                  <p:embed/>
                </p:oleObj>
              </mc:Choice>
              <mc:Fallback>
                <p:oleObj name="Equation" r:id="rId7" imgW="2133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2362200"/>
                        <a:ext cx="55530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8" name="Object 6"/>
          <p:cNvGraphicFramePr>
            <a:graphicFrameLocks noChangeAspect="1"/>
          </p:cNvGraphicFramePr>
          <p:nvPr/>
        </p:nvGraphicFramePr>
        <p:xfrm>
          <a:off x="611188" y="3657600"/>
          <a:ext cx="63722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9" imgW="2476440" imgH="228600" progId="Equation.3">
                  <p:embed/>
                </p:oleObj>
              </mc:Choice>
              <mc:Fallback>
                <p:oleObj name="Equation" r:id="rId9" imgW="2476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657600"/>
                        <a:ext cx="63722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9" name="Object 7"/>
          <p:cNvGraphicFramePr>
            <a:graphicFrameLocks noChangeAspect="1"/>
          </p:cNvGraphicFramePr>
          <p:nvPr/>
        </p:nvGraphicFramePr>
        <p:xfrm>
          <a:off x="600075" y="2971800"/>
          <a:ext cx="56800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11" imgW="2184120" imgH="228600" progId="Equation.3">
                  <p:embed/>
                </p:oleObj>
              </mc:Choice>
              <mc:Fallback>
                <p:oleObj name="Equation" r:id="rId11" imgW="2184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2971800"/>
                        <a:ext cx="56800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0" name="Object 8"/>
          <p:cNvGraphicFramePr>
            <a:graphicFrameLocks noChangeAspect="1"/>
          </p:cNvGraphicFramePr>
          <p:nvPr/>
        </p:nvGraphicFramePr>
        <p:xfrm>
          <a:off x="611188" y="4343400"/>
          <a:ext cx="461486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3" imgW="1790640" imgH="228600" progId="Equation.3">
                  <p:embed/>
                </p:oleObj>
              </mc:Choice>
              <mc:Fallback>
                <p:oleObj name="Equation" r:id="rId13" imgW="1790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343400"/>
                        <a:ext cx="4614862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Text Box 2"/>
          <p:cNvSpPr txBox="1">
            <a:spLocks noChangeArrowheads="1"/>
          </p:cNvSpPr>
          <p:nvPr/>
        </p:nvSpPr>
        <p:spPr bwMode="auto">
          <a:xfrm>
            <a:off x="533400" y="762000"/>
            <a:ext cx="8153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Siccome </a:t>
            </a:r>
            <a:r>
              <a:rPr lang="it-IT" b="1"/>
              <a:t>exp* 5 = 2</a:t>
            </a:r>
            <a:r>
              <a:rPr lang="it-IT" b="1" baseline="30000"/>
              <a:t>65536</a:t>
            </a:r>
            <a:r>
              <a:rPr lang="it-IT"/>
              <a:t> è molto maggiore del numero stimato di atomi nell’universo che è </a:t>
            </a:r>
            <a:r>
              <a:rPr lang="it-IT" b="1"/>
              <a:t>10</a:t>
            </a:r>
            <a:r>
              <a:rPr lang="it-IT" b="1" baseline="30000"/>
              <a:t>80</a:t>
            </a:r>
            <a:r>
              <a:rPr lang="it-IT"/>
              <a:t> possiamo essere sicuri che  </a:t>
            </a:r>
            <a:r>
              <a:rPr lang="it-IT" b="1">
                <a:sym typeface="Symbol" charset="0"/>
              </a:rPr>
              <a:t>log</a:t>
            </a:r>
            <a:r>
              <a:rPr lang="it-IT" b="1" i="1">
                <a:sym typeface="Symbol" charset="0"/>
              </a:rPr>
              <a:t>* n </a:t>
            </a:r>
            <a:r>
              <a:rPr lang="it-IT" b="1">
                <a:sym typeface="Symbol" charset="0"/>
              </a:rPr>
              <a:t></a:t>
            </a:r>
            <a:r>
              <a:rPr lang="it-IT" b="1" i="1"/>
              <a:t> </a:t>
            </a:r>
            <a:r>
              <a:rPr lang="it-IT" b="1"/>
              <a:t>5</a:t>
            </a:r>
            <a:r>
              <a:rPr lang="it-IT" b="1" i="1"/>
              <a:t> </a:t>
            </a:r>
            <a:r>
              <a:rPr lang="it-IT"/>
              <a:t>in ogni concepibile uso di una struttura per insiemi disgiunti.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Text Box 2"/>
          <p:cNvSpPr txBox="1">
            <a:spLocks noChangeArrowheads="1"/>
          </p:cNvSpPr>
          <p:nvPr/>
        </p:nvSpPr>
        <p:spPr bwMode="auto">
          <a:xfrm>
            <a:off x="685800" y="762000"/>
            <a:ext cx="777240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it-IT" sz="3200" i="1" u="sng"/>
              <a:t>Proprietà dei ranghi.</a:t>
            </a:r>
            <a:endParaRPr lang="it-IT" sz="3200"/>
          </a:p>
          <a:p>
            <a:pPr>
              <a:spcBef>
                <a:spcPct val="10000"/>
              </a:spcBef>
              <a:buFontTx/>
              <a:buAutoNum type="alphaLcParenR"/>
            </a:pPr>
            <a:r>
              <a:rPr lang="it-IT" sz="3200"/>
              <a:t>Per ogni nodo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, </a:t>
            </a:r>
            <a:r>
              <a:rPr lang="it-IT" sz="3200" b="1" i="1">
                <a:sym typeface="Symbol" charset="0"/>
              </a:rPr>
              <a:t>rank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</a:t>
            </a:r>
            <a:r>
              <a:rPr lang="it-IT" sz="3200"/>
              <a:t> è inizialmente 0 e può soltanto crescere finché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rimane radice; </a:t>
            </a:r>
          </a:p>
        </p:txBody>
      </p:sp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685800" y="25146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2"/>
            </a:pPr>
            <a:r>
              <a:rPr lang="it-IT" sz="3200"/>
              <a:t>Se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non è radice allora </a:t>
            </a:r>
            <a:r>
              <a:rPr lang="it-IT" sz="3200" b="1" i="1">
                <a:sym typeface="Symbol" charset="0"/>
              </a:rPr>
              <a:t>rank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parent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]]</a:t>
            </a:r>
            <a:r>
              <a:rPr lang="it-IT" sz="3200"/>
              <a:t> può solo crescere.</a:t>
            </a:r>
          </a:p>
        </p:txBody>
      </p:sp>
      <p:sp>
        <p:nvSpPr>
          <p:cNvPr id="711684" name="Text Box 4"/>
          <p:cNvSpPr txBox="1">
            <a:spLocks noChangeArrowheads="1"/>
          </p:cNvSpPr>
          <p:nvPr/>
        </p:nvSpPr>
        <p:spPr bwMode="auto">
          <a:xfrm>
            <a:off x="685800" y="37338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3"/>
            </a:pPr>
            <a:r>
              <a:rPr lang="it-IT" sz="3200"/>
              <a:t>Se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non è radice allora </a:t>
            </a:r>
            <a:r>
              <a:rPr lang="it-IT" sz="3200" b="1" i="1">
                <a:sym typeface="Symbol" charset="0"/>
              </a:rPr>
              <a:t>rank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</a:t>
            </a:r>
            <a:r>
              <a:rPr lang="it-IT" sz="3200"/>
              <a:t> non può più cambiare e </a:t>
            </a:r>
            <a:r>
              <a:rPr lang="it-IT" sz="3200" b="1" i="1">
                <a:sym typeface="Symbol" charset="0"/>
              </a:rPr>
              <a:t>rank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</a:t>
            </a:r>
            <a:r>
              <a:rPr lang="it-IT" sz="3200"/>
              <a:t> </a:t>
            </a:r>
            <a:r>
              <a:rPr lang="it-IT" sz="3200" b="1">
                <a:sym typeface="Symbol" charset="0"/>
              </a:rPr>
              <a:t>&lt; </a:t>
            </a:r>
            <a:r>
              <a:rPr lang="it-IT" sz="3200" b="1" i="1">
                <a:sym typeface="Symbol" charset="0"/>
              </a:rPr>
              <a:t>rank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parent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]]</a:t>
            </a:r>
            <a:r>
              <a:rPr lang="it-IT" sz="3200"/>
              <a:t>.</a:t>
            </a:r>
          </a:p>
        </p:txBody>
      </p:sp>
      <p:sp>
        <p:nvSpPr>
          <p:cNvPr id="711685" name="Text Box 5"/>
          <p:cNvSpPr txBox="1">
            <a:spLocks noChangeArrowheads="1"/>
          </p:cNvSpPr>
          <p:nvPr/>
        </p:nvSpPr>
        <p:spPr bwMode="auto">
          <a:xfrm>
            <a:off x="685800" y="5029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4"/>
            </a:pPr>
            <a:r>
              <a:rPr lang="it-IT" sz="3200"/>
              <a:t>Se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è radice allora l’albero di radice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ha un numero di nodi </a:t>
            </a:r>
            <a:r>
              <a:rPr lang="it-IT" sz="3200" b="1" i="1"/>
              <a:t>size</a:t>
            </a:r>
            <a:r>
              <a:rPr lang="it-IT" sz="3200" b="1"/>
              <a:t>(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/>
              <a:t>)</a:t>
            </a:r>
            <a:r>
              <a:rPr lang="it-IT" sz="3200" b="1" i="1"/>
              <a:t> </a:t>
            </a:r>
            <a:r>
              <a:rPr lang="it-IT" sz="3200" b="1">
                <a:sym typeface="Symbol" charset="0"/>
              </a:rPr>
              <a:t> </a:t>
            </a:r>
            <a:r>
              <a:rPr lang="it-IT" sz="3200" b="1"/>
              <a:t>2</a:t>
            </a:r>
            <a:r>
              <a:rPr lang="it-IT" sz="3200" b="1" i="1" baseline="30000">
                <a:sym typeface="Symbol" charset="0"/>
              </a:rPr>
              <a:t>rank</a:t>
            </a:r>
            <a:r>
              <a:rPr lang="it-IT" sz="3200" b="1" baseline="30000">
                <a:sym typeface="Symbol" charset="0"/>
              </a:rPr>
              <a:t>[</a:t>
            </a:r>
            <a:r>
              <a:rPr lang="it-IT" sz="3200" b="1" i="1" baseline="30000">
                <a:sym typeface="Symbol" charset="0"/>
              </a:rPr>
              <a:t>x</a:t>
            </a:r>
            <a:r>
              <a:rPr lang="it-IT" sz="3200" b="1" baseline="30000">
                <a:sym typeface="Symbol" charset="0"/>
              </a:rPr>
              <a:t>]</a:t>
            </a:r>
            <a:r>
              <a:rPr lang="it-IT" sz="3200"/>
              <a:t>.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Text Box 2"/>
          <p:cNvSpPr txBox="1">
            <a:spLocks noChangeArrowheads="1"/>
          </p:cNvSpPr>
          <p:nvPr/>
        </p:nvSpPr>
        <p:spPr bwMode="auto">
          <a:xfrm>
            <a:off x="533400" y="838200"/>
            <a:ext cx="8077200" cy="306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 u="sng"/>
              <a:t>Dimostrazione.</a:t>
            </a:r>
            <a:endParaRPr lang="it-IT"/>
          </a:p>
          <a:p>
            <a:pPr>
              <a:spcBef>
                <a:spcPct val="10000"/>
              </a:spcBef>
            </a:pPr>
            <a:r>
              <a:rPr lang="it-IT"/>
              <a:t>Per induzione sul numero di operazioni. Supponiamo che le proprietà valgano durante l’esecuzione delle prime </a:t>
            </a:r>
            <a:r>
              <a:rPr lang="it-IT" b="1" i="1"/>
              <a:t>i-1</a:t>
            </a:r>
            <a:r>
              <a:rPr lang="it-IT"/>
              <a:t> operazioni e mostriamo che esse rimangono vere anche con la </a:t>
            </a:r>
            <a:r>
              <a:rPr lang="it-IT" b="1" i="1"/>
              <a:t>i</a:t>
            </a:r>
            <a:r>
              <a:rPr lang="it-IT"/>
              <a:t>-esima operazione.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Text Box 2"/>
          <p:cNvSpPr txBox="1">
            <a:spLocks noChangeArrowheads="1"/>
          </p:cNvSpPr>
          <p:nvPr/>
        </p:nvSpPr>
        <p:spPr bwMode="auto">
          <a:xfrm>
            <a:off x="533400" y="3200400"/>
            <a:ext cx="769620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2"/>
            </a:pPr>
            <a:r>
              <a:rPr lang="it-IT" sz="3200"/>
              <a:t>Il valore di </a:t>
            </a:r>
            <a:r>
              <a:rPr lang="it-IT" sz="3200" b="1" i="1">
                <a:sym typeface="Symbol" charset="0"/>
              </a:rPr>
              <a:t>rank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parent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]]</a:t>
            </a:r>
            <a:r>
              <a:rPr lang="it-IT" sz="3200"/>
              <a:t> può cambiare per effetto di una </a:t>
            </a:r>
            <a:r>
              <a:rPr lang="it-IT" sz="3200" b="1" i="1">
                <a:sym typeface="Symbol" charset="0"/>
              </a:rPr>
              <a:t>Link</a:t>
            </a:r>
            <a:r>
              <a:rPr lang="it-IT" sz="3200"/>
              <a:t> se </a:t>
            </a:r>
            <a:r>
              <a:rPr lang="it-IT" sz="3200" b="1" i="1">
                <a:sym typeface="Symbol" charset="0"/>
              </a:rPr>
              <a:t>parent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</a:t>
            </a:r>
            <a:r>
              <a:rPr lang="it-IT" sz="3200"/>
              <a:t> è radice oppure per effetto di una </a:t>
            </a:r>
            <a:r>
              <a:rPr lang="it-IT" sz="3200" b="1" i="1">
                <a:sym typeface="Symbol" charset="0"/>
              </a:rPr>
              <a:t>FindSet</a:t>
            </a:r>
            <a:r>
              <a:rPr lang="it-IT" sz="3200"/>
              <a:t> che fa puntare </a:t>
            </a:r>
            <a:r>
              <a:rPr lang="it-IT" sz="3200" b="1" i="1">
                <a:sym typeface="Symbol" charset="0"/>
              </a:rPr>
              <a:t>parent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</a:t>
            </a:r>
            <a:r>
              <a:rPr lang="it-IT" sz="3200"/>
              <a:t> alla radice dell’albero. In entrambi i casi </a:t>
            </a:r>
            <a:r>
              <a:rPr lang="it-IT" sz="3200" b="1" i="1">
                <a:sym typeface="Symbol" charset="0"/>
              </a:rPr>
              <a:t>rank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parent</a:t>
            </a:r>
            <a:r>
              <a:rPr lang="it-IT" sz="3200" b="1">
                <a:sym typeface="Symbol" charset="0"/>
              </a:rPr>
              <a:t>[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]]</a:t>
            </a:r>
            <a:r>
              <a:rPr lang="it-IT" sz="3200"/>
              <a:t> può solo crescere. </a:t>
            </a:r>
          </a:p>
        </p:txBody>
      </p:sp>
      <p:sp>
        <p:nvSpPr>
          <p:cNvPr id="713731" name="Text Box 3"/>
          <p:cNvSpPr txBox="1">
            <a:spLocks noChangeArrowheads="1"/>
          </p:cNvSpPr>
          <p:nvPr/>
        </p:nvSpPr>
        <p:spPr bwMode="auto">
          <a:xfrm>
            <a:off x="561975" y="609600"/>
            <a:ext cx="7948613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/>
            </a:pPr>
            <a:r>
              <a:rPr lang="it-IT" sz="3200"/>
              <a:t>Quando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viene creato da </a:t>
            </a:r>
            <a:r>
              <a:rPr lang="it-IT" sz="3200" b="1" i="1">
                <a:sym typeface="Symbol" charset="0"/>
              </a:rPr>
              <a:t>MakeSet</a:t>
            </a:r>
            <a:r>
              <a:rPr lang="it-IT" sz="3200" b="1">
                <a:sym typeface="Symbol" charset="0"/>
              </a:rPr>
              <a:t>(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)</a:t>
            </a:r>
            <a:r>
              <a:rPr lang="it-IT" sz="3200"/>
              <a:t>, il suo rango è posto uguale a </a:t>
            </a:r>
            <a:r>
              <a:rPr lang="it-IT" sz="3200" b="1"/>
              <a:t>0</a:t>
            </a:r>
            <a:r>
              <a:rPr lang="it-IT" sz="3200"/>
              <a:t>. L’unica operazione che modifica il rango di un nodo è </a:t>
            </a:r>
            <a:r>
              <a:rPr lang="it-IT" sz="3200" b="1" i="1">
                <a:sym typeface="Symbol" charset="0"/>
              </a:rPr>
              <a:t>Link</a:t>
            </a:r>
            <a:r>
              <a:rPr lang="it-IT" sz="3200"/>
              <a:t> che può solo aumentare il rango di una radice.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Text Box 2"/>
          <p:cNvSpPr txBox="1">
            <a:spLocks noChangeArrowheads="1"/>
          </p:cNvSpPr>
          <p:nvPr/>
        </p:nvSpPr>
        <p:spPr bwMode="auto">
          <a:xfrm>
            <a:off x="352425" y="457200"/>
            <a:ext cx="8158163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3"/>
            </a:pPr>
            <a:r>
              <a:rPr lang="it-IT" sz="3200"/>
              <a:t>Una radice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diventa nodo interno solo con una </a:t>
            </a:r>
            <a:r>
              <a:rPr lang="it-IT" sz="3200" b="1" i="1">
                <a:sym typeface="Symbol" charset="0"/>
              </a:rPr>
              <a:t>Link</a:t>
            </a:r>
            <a:r>
              <a:rPr lang="it-IT" sz="3200" b="1">
                <a:sym typeface="Symbol" charset="0"/>
              </a:rPr>
              <a:t>(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,</a:t>
            </a:r>
            <a:r>
              <a:rPr lang="it-IT" sz="3200" b="1" i="1">
                <a:sym typeface="Symbol" charset="0"/>
              </a:rPr>
              <a:t>y</a:t>
            </a:r>
            <a:r>
              <a:rPr lang="it-IT" sz="3200" b="1">
                <a:sym typeface="Symbol" charset="0"/>
              </a:rPr>
              <a:t>) </a:t>
            </a:r>
            <a:r>
              <a:rPr lang="it-IT" sz="3200">
                <a:sym typeface="Symbol" charset="0"/>
              </a:rPr>
              <a:t>o una</a:t>
            </a:r>
            <a:r>
              <a:rPr lang="it-IT" sz="3200"/>
              <a:t> </a:t>
            </a:r>
            <a:r>
              <a:rPr lang="it-IT" sz="3200" b="1" i="1">
                <a:sym typeface="Symbol" charset="0"/>
              </a:rPr>
              <a:t>Link</a:t>
            </a:r>
            <a:r>
              <a:rPr lang="it-IT" sz="3200" b="1">
                <a:sym typeface="Symbol" charset="0"/>
              </a:rPr>
              <a:t>(</a:t>
            </a:r>
            <a:r>
              <a:rPr lang="it-IT" sz="3200" b="1" i="1">
                <a:sym typeface="Symbol" charset="0"/>
              </a:rPr>
              <a:t>y</a:t>
            </a:r>
            <a:r>
              <a:rPr lang="it-IT" sz="3200" b="1">
                <a:sym typeface="Symbol" charset="0"/>
              </a:rPr>
              <a:t>,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)</a:t>
            </a:r>
            <a:r>
              <a:rPr lang="it-IT" sz="3200"/>
              <a:t> che la faccia diventare figlia di una radice </a:t>
            </a:r>
            <a:r>
              <a:rPr lang="it-IT" sz="3200" b="1" i="1">
                <a:sym typeface="Symbol" charset="0"/>
              </a:rPr>
              <a:t>y</a:t>
            </a:r>
            <a:r>
              <a:rPr lang="it-IT" sz="3200"/>
              <a:t> avente rango maggiore o uguale. Se i ranghi sono uguali il rango di </a:t>
            </a:r>
            <a:r>
              <a:rPr lang="it-IT" sz="3200" b="1" i="1">
                <a:sym typeface="Symbol" charset="0"/>
              </a:rPr>
              <a:t>y</a:t>
            </a:r>
            <a:r>
              <a:rPr lang="it-IT" sz="3200"/>
              <a:t> viene incrementato subito dopo. </a:t>
            </a:r>
          </a:p>
        </p:txBody>
      </p:sp>
      <p:sp>
        <p:nvSpPr>
          <p:cNvPr id="714755" name="Text Box 3"/>
          <p:cNvSpPr txBox="1">
            <a:spLocks noChangeArrowheads="1"/>
          </p:cNvSpPr>
          <p:nvPr/>
        </p:nvSpPr>
        <p:spPr bwMode="auto">
          <a:xfrm>
            <a:off x="773113" y="3200400"/>
            <a:ext cx="738663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Quindi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&lt;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parent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]]</a:t>
            </a:r>
            <a:r>
              <a:rPr lang="it-IT"/>
              <a:t> quando </a:t>
            </a:r>
            <a:r>
              <a:rPr lang="it-IT" b="1" i="1"/>
              <a:t>x</a:t>
            </a:r>
            <a:r>
              <a:rPr lang="it-IT"/>
              <a:t> diventa nodo interno.</a:t>
            </a:r>
          </a:p>
        </p:txBody>
      </p:sp>
      <p:sp>
        <p:nvSpPr>
          <p:cNvPr id="714756" name="Text Box 4"/>
          <p:cNvSpPr txBox="1">
            <a:spLocks noChangeArrowheads="1"/>
          </p:cNvSpPr>
          <p:nvPr/>
        </p:nvSpPr>
        <p:spPr bwMode="auto">
          <a:xfrm>
            <a:off x="773113" y="4419601"/>
            <a:ext cx="779533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it-IT" dirty="0"/>
              <a:t>Una volta che </a:t>
            </a:r>
            <a:r>
              <a:rPr lang="it-IT" b="1" i="1" dirty="0">
                <a:sym typeface="Symbol" charset="0"/>
              </a:rPr>
              <a:t>x</a:t>
            </a:r>
            <a:r>
              <a:rPr lang="it-IT" dirty="0"/>
              <a:t> sia diventa nodo interno nessuna operazione può farlo ritornare radice e quindi </a:t>
            </a:r>
            <a:r>
              <a:rPr lang="it-IT" b="1" i="1" dirty="0" err="1">
                <a:sym typeface="Symbol" charset="0"/>
              </a:rPr>
              <a:t>rank</a:t>
            </a:r>
            <a:r>
              <a:rPr lang="it-IT" b="1" dirty="0">
                <a:sym typeface="Symbol" charset="0"/>
              </a:rPr>
              <a:t>[</a:t>
            </a:r>
            <a:r>
              <a:rPr lang="it-IT" b="1" i="1" dirty="0">
                <a:sym typeface="Symbol" charset="0"/>
              </a:rPr>
              <a:t>x</a:t>
            </a:r>
            <a:r>
              <a:rPr lang="it-IT" b="1" dirty="0">
                <a:sym typeface="Symbol" charset="0"/>
              </a:rPr>
              <a:t>]</a:t>
            </a:r>
            <a:r>
              <a:rPr lang="it-IT" dirty="0"/>
              <a:t> non può </a:t>
            </a:r>
            <a:r>
              <a:rPr lang="it-IT" dirty="0" smtClean="0"/>
              <a:t>più cambiare</a:t>
            </a:r>
            <a:r>
              <a:rPr lang="it-IT"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7772400" cy="326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4"/>
            </a:pPr>
            <a:r>
              <a:rPr lang="it-IT" sz="3200"/>
              <a:t>Quando il nodo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viene creato</a:t>
            </a:r>
          </a:p>
          <a:p>
            <a:pPr>
              <a:spcBef>
                <a:spcPct val="10000"/>
              </a:spcBef>
            </a:pPr>
            <a:r>
              <a:rPr lang="it-IT" sz="3200"/>
              <a:t>                </a:t>
            </a:r>
            <a:r>
              <a:rPr lang="it-IT" sz="3200" b="1" i="1"/>
              <a:t>size</a:t>
            </a:r>
            <a:r>
              <a:rPr lang="it-IT" sz="3200" b="1"/>
              <a:t>(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/>
              <a:t>)</a:t>
            </a:r>
            <a:r>
              <a:rPr lang="it-IT" sz="3200" b="1" i="1"/>
              <a:t> </a:t>
            </a:r>
            <a:r>
              <a:rPr lang="it-IT" sz="3200" b="1"/>
              <a:t>= 1 = 2</a:t>
            </a:r>
            <a:r>
              <a:rPr lang="it-IT" sz="3200" b="1" baseline="30000"/>
              <a:t>0</a:t>
            </a:r>
            <a:r>
              <a:rPr lang="it-IT" sz="3200"/>
              <a:t> </a:t>
            </a:r>
            <a:r>
              <a:rPr lang="it-IT" sz="3200" b="1"/>
              <a:t>= 2</a:t>
            </a:r>
            <a:r>
              <a:rPr lang="it-IT" sz="3200" b="1" i="1" baseline="30000">
                <a:sym typeface="Symbol" charset="0"/>
              </a:rPr>
              <a:t>rank</a:t>
            </a:r>
            <a:r>
              <a:rPr lang="it-IT" sz="3200" b="1" baseline="30000">
                <a:sym typeface="Symbol" charset="0"/>
              </a:rPr>
              <a:t>[</a:t>
            </a:r>
            <a:r>
              <a:rPr lang="it-IT" sz="3200" b="1" i="1" baseline="30000">
                <a:sym typeface="Symbol" charset="0"/>
              </a:rPr>
              <a:t>x</a:t>
            </a:r>
            <a:r>
              <a:rPr lang="it-IT" sz="3200" b="1" baseline="30000">
                <a:sym typeface="Symbol" charset="0"/>
              </a:rPr>
              <a:t>]</a:t>
            </a:r>
            <a:r>
              <a:rPr lang="it-IT" sz="3200"/>
              <a:t>.</a:t>
            </a:r>
          </a:p>
          <a:p>
            <a:pPr>
              <a:spcBef>
                <a:spcPct val="10000"/>
              </a:spcBef>
            </a:pPr>
            <a:r>
              <a:rPr lang="it-IT" sz="3200"/>
              <a:t>     Supponiamo che</a:t>
            </a:r>
          </a:p>
          <a:p>
            <a:pPr>
              <a:spcBef>
                <a:spcPct val="10000"/>
              </a:spcBef>
            </a:pPr>
            <a:r>
              <a:rPr lang="it-IT" sz="3200"/>
              <a:t>                </a:t>
            </a:r>
            <a:r>
              <a:rPr lang="it-IT" sz="3200" b="1" i="1"/>
              <a:t>size</a:t>
            </a:r>
            <a:r>
              <a:rPr lang="it-IT" sz="3200" b="1"/>
              <a:t>(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/>
              <a:t>)</a:t>
            </a:r>
            <a:r>
              <a:rPr lang="it-IT" sz="3200" b="1" i="1"/>
              <a:t> </a:t>
            </a:r>
            <a:r>
              <a:rPr lang="it-IT" sz="3200" b="1">
                <a:sym typeface="Symbol" charset="0"/>
              </a:rPr>
              <a:t></a:t>
            </a:r>
            <a:r>
              <a:rPr lang="it-IT" sz="3200" b="1" i="1"/>
              <a:t> </a:t>
            </a:r>
            <a:r>
              <a:rPr lang="it-IT" sz="3200" b="1"/>
              <a:t>2</a:t>
            </a:r>
            <a:r>
              <a:rPr lang="it-IT" sz="3200" b="1" i="1" baseline="30000">
                <a:sym typeface="Symbol" charset="0"/>
              </a:rPr>
              <a:t>rank</a:t>
            </a:r>
            <a:r>
              <a:rPr lang="it-IT" sz="3200" b="1" baseline="30000">
                <a:sym typeface="Symbol" charset="0"/>
              </a:rPr>
              <a:t>[</a:t>
            </a:r>
            <a:r>
              <a:rPr lang="it-IT" sz="3200" b="1" i="1" baseline="30000">
                <a:sym typeface="Symbol" charset="0"/>
              </a:rPr>
              <a:t>x</a:t>
            </a:r>
            <a:r>
              <a:rPr lang="it-IT" sz="3200" b="1" baseline="30000">
                <a:sym typeface="Symbol" charset="0"/>
              </a:rPr>
              <a:t>]</a:t>
            </a:r>
            <a:r>
              <a:rPr lang="it-IT" sz="3200"/>
              <a:t>  e</a:t>
            </a:r>
          </a:p>
          <a:p>
            <a:pPr>
              <a:spcBef>
                <a:spcPct val="10000"/>
              </a:spcBef>
            </a:pPr>
            <a:r>
              <a:rPr lang="it-IT" sz="3200"/>
              <a:t>                </a:t>
            </a:r>
            <a:r>
              <a:rPr lang="it-IT" sz="3200" b="1" i="1"/>
              <a:t>size</a:t>
            </a:r>
            <a:r>
              <a:rPr lang="it-IT" sz="3200" b="1"/>
              <a:t>(</a:t>
            </a:r>
            <a:r>
              <a:rPr lang="it-IT" sz="3200" b="1" i="1">
                <a:sym typeface="Symbol" charset="0"/>
              </a:rPr>
              <a:t>y</a:t>
            </a:r>
            <a:r>
              <a:rPr lang="it-IT" sz="3200" b="1"/>
              <a:t>)</a:t>
            </a:r>
            <a:r>
              <a:rPr lang="it-IT" sz="3200" b="1" i="1"/>
              <a:t> </a:t>
            </a:r>
            <a:r>
              <a:rPr lang="it-IT" sz="3200" b="1">
                <a:sym typeface="Symbol" charset="0"/>
              </a:rPr>
              <a:t></a:t>
            </a:r>
            <a:r>
              <a:rPr lang="it-IT" sz="3200" b="1" i="1"/>
              <a:t> </a:t>
            </a:r>
            <a:r>
              <a:rPr lang="it-IT" sz="3200" b="1"/>
              <a:t>2</a:t>
            </a:r>
            <a:r>
              <a:rPr lang="it-IT" sz="3200" b="1" i="1" baseline="30000">
                <a:sym typeface="Symbol" charset="0"/>
              </a:rPr>
              <a:t>rank</a:t>
            </a:r>
            <a:r>
              <a:rPr lang="it-IT" sz="3200" b="1" baseline="30000">
                <a:sym typeface="Symbol" charset="0"/>
              </a:rPr>
              <a:t>[</a:t>
            </a:r>
            <a:r>
              <a:rPr lang="it-IT" sz="3200" b="1" i="1" baseline="30000">
                <a:sym typeface="Symbol" charset="0"/>
              </a:rPr>
              <a:t>y</a:t>
            </a:r>
            <a:r>
              <a:rPr lang="it-IT" sz="3200" b="1" baseline="30000">
                <a:sym typeface="Symbol" charset="0"/>
              </a:rPr>
              <a:t>]</a:t>
            </a:r>
            <a:r>
              <a:rPr lang="it-IT" sz="3200"/>
              <a:t>.</a:t>
            </a:r>
          </a:p>
          <a:p>
            <a:pPr>
              <a:spcBef>
                <a:spcPct val="10000"/>
              </a:spcBef>
            </a:pPr>
            <a:r>
              <a:rPr lang="it-IT" sz="3200"/>
              <a:t>     prima di eseguire </a:t>
            </a:r>
            <a:r>
              <a:rPr lang="it-IT" sz="3200" b="1" i="1">
                <a:sym typeface="Symbol" charset="0"/>
              </a:rPr>
              <a:t>Link</a:t>
            </a:r>
            <a:r>
              <a:rPr lang="it-IT" sz="3200" b="1">
                <a:sym typeface="Symbol" charset="0"/>
              </a:rPr>
              <a:t>(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 b="1">
                <a:sym typeface="Symbol" charset="0"/>
              </a:rPr>
              <a:t>,</a:t>
            </a:r>
            <a:r>
              <a:rPr lang="it-IT" sz="3200" b="1" i="1">
                <a:sym typeface="Symbol" charset="0"/>
              </a:rPr>
              <a:t>y</a:t>
            </a:r>
            <a:r>
              <a:rPr lang="it-IT" sz="3200" b="1">
                <a:sym typeface="Symbol" charset="0"/>
              </a:rPr>
              <a:t>)</a:t>
            </a:r>
            <a:r>
              <a:rPr lang="it-IT" sz="3200"/>
              <a:t>.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Text Box 2"/>
          <p:cNvSpPr txBox="1">
            <a:spLocks noChangeArrowheads="1"/>
          </p:cNvSpPr>
          <p:nvPr/>
        </p:nvSpPr>
        <p:spPr bwMode="auto">
          <a:xfrm>
            <a:off x="1055688" y="838200"/>
            <a:ext cx="6751637" cy="165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Se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&lt;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allora</a:t>
            </a:r>
          </a:p>
          <a:p>
            <a:pPr>
              <a:spcBef>
                <a:spcPct val="10000"/>
              </a:spcBef>
            </a:pPr>
            <a:r>
              <a:rPr lang="it-IT" b="1">
                <a:sym typeface="Symbol" charset="0"/>
              </a:rPr>
              <a:t>     </a:t>
            </a:r>
            <a:r>
              <a:rPr lang="it-IT" b="1" i="1">
                <a:sym typeface="Symbol" charset="0"/>
              </a:rPr>
              <a:t>rank'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=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e</a:t>
            </a:r>
          </a:p>
          <a:p>
            <a:pPr>
              <a:spcBef>
                <a:spcPct val="10000"/>
              </a:spcBef>
            </a:pPr>
            <a:r>
              <a:rPr lang="it-IT" b="1" i="1"/>
              <a:t>     size</a:t>
            </a:r>
            <a:r>
              <a:rPr lang="it-IT" b="1" i="1">
                <a:sym typeface="Symbol" charset="0"/>
              </a:rPr>
              <a:t>'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y</a:t>
            </a:r>
            <a:r>
              <a:rPr lang="it-IT" b="1"/>
              <a:t>)</a:t>
            </a:r>
            <a:r>
              <a:rPr lang="it-IT" b="1" i="1"/>
              <a:t> = size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/>
              <a:t>)</a:t>
            </a:r>
            <a:r>
              <a:rPr lang="it-IT" b="1" i="1"/>
              <a:t>+ size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y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 b="1">
                <a:sym typeface="Symbol" charset="0"/>
              </a:rPr>
              <a:t>&gt;</a:t>
            </a:r>
            <a:r>
              <a:rPr lang="it-IT" b="1" i="1"/>
              <a:t> </a:t>
            </a:r>
            <a:r>
              <a:rPr lang="it-IT" b="1"/>
              <a:t>2</a:t>
            </a:r>
            <a:r>
              <a:rPr lang="it-IT" b="1" i="1" baseline="30000">
                <a:sym typeface="Symbol" charset="0"/>
              </a:rPr>
              <a:t>rank'</a:t>
            </a:r>
            <a:r>
              <a:rPr lang="it-IT" b="1" baseline="30000">
                <a:sym typeface="Symbol" charset="0"/>
              </a:rPr>
              <a:t>[</a:t>
            </a:r>
            <a:r>
              <a:rPr lang="it-IT" b="1" i="1" baseline="30000">
                <a:sym typeface="Symbol" charset="0"/>
              </a:rPr>
              <a:t>x</a:t>
            </a:r>
            <a:r>
              <a:rPr lang="it-IT" b="1" baseline="30000">
                <a:sym typeface="Symbol" charset="0"/>
              </a:rPr>
              <a:t>]</a:t>
            </a:r>
            <a:endParaRPr lang="it-IT"/>
          </a:p>
        </p:txBody>
      </p:sp>
      <p:sp>
        <p:nvSpPr>
          <p:cNvPr id="716803" name="Text Box 3"/>
          <p:cNvSpPr txBox="1">
            <a:spLocks noChangeArrowheads="1"/>
          </p:cNvSpPr>
          <p:nvPr/>
        </p:nvSpPr>
        <p:spPr bwMode="auto">
          <a:xfrm>
            <a:off x="1055688" y="3429000"/>
            <a:ext cx="7596187" cy="165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Se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=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allora</a:t>
            </a:r>
          </a:p>
          <a:p>
            <a:pPr>
              <a:spcBef>
                <a:spcPct val="10000"/>
              </a:spcBef>
            </a:pPr>
            <a:r>
              <a:rPr lang="it-IT"/>
              <a:t>     </a:t>
            </a:r>
            <a:r>
              <a:rPr lang="it-IT" b="1" i="1">
                <a:sym typeface="Symbol" charset="0"/>
              </a:rPr>
              <a:t>rank'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]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= </a:t>
            </a:r>
            <a:r>
              <a:rPr lang="it-IT" b="1" i="1">
                <a:sym typeface="Symbol" charset="0"/>
              </a:rPr>
              <a:t>rank</a:t>
            </a:r>
            <a:r>
              <a:rPr lang="it-IT" b="1">
                <a:sym typeface="Symbol" charset="0"/>
              </a:rPr>
              <a:t>[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] + 1 </a:t>
            </a:r>
            <a:r>
              <a:rPr lang="it-IT"/>
              <a:t> e</a:t>
            </a:r>
          </a:p>
          <a:p>
            <a:pPr>
              <a:spcBef>
                <a:spcPct val="10000"/>
              </a:spcBef>
            </a:pPr>
            <a:r>
              <a:rPr lang="it-IT" b="1" i="1"/>
              <a:t>     size</a:t>
            </a:r>
            <a:r>
              <a:rPr lang="it-IT" b="1" i="1">
                <a:sym typeface="Symbol" charset="0"/>
              </a:rPr>
              <a:t>'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y</a:t>
            </a:r>
            <a:r>
              <a:rPr lang="it-IT" b="1"/>
              <a:t>)</a:t>
            </a:r>
            <a:r>
              <a:rPr lang="it-IT" b="1" i="1"/>
              <a:t> = size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/>
              <a:t>)</a:t>
            </a:r>
            <a:r>
              <a:rPr lang="it-IT" b="1" i="1"/>
              <a:t>+ size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y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 b="1">
                <a:sym typeface="Symbol" charset="0"/>
              </a:rPr>
              <a:t></a:t>
            </a:r>
            <a:r>
              <a:rPr lang="it-IT" b="1" i="1"/>
              <a:t> </a:t>
            </a:r>
            <a:r>
              <a:rPr lang="it-IT" b="1"/>
              <a:t>2</a:t>
            </a:r>
            <a:r>
              <a:rPr lang="it-IT" b="1" i="1" baseline="30000">
                <a:sym typeface="Symbol" charset="0"/>
              </a:rPr>
              <a:t>rank</a:t>
            </a:r>
            <a:r>
              <a:rPr lang="it-IT" b="1" baseline="30000">
                <a:sym typeface="Symbol" charset="0"/>
              </a:rPr>
              <a:t>[</a:t>
            </a:r>
            <a:r>
              <a:rPr lang="it-IT" b="1" i="1" baseline="30000">
                <a:sym typeface="Symbol" charset="0"/>
              </a:rPr>
              <a:t>y</a:t>
            </a:r>
            <a:r>
              <a:rPr lang="it-IT" b="1" baseline="30000">
                <a:sym typeface="Symbol" charset="0"/>
              </a:rPr>
              <a:t>]+1</a:t>
            </a:r>
            <a:r>
              <a:rPr lang="it-IT" b="1" baseline="40000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=</a:t>
            </a:r>
            <a:r>
              <a:rPr lang="it-IT" b="1" i="1"/>
              <a:t> </a:t>
            </a:r>
            <a:r>
              <a:rPr lang="it-IT" b="1"/>
              <a:t>2</a:t>
            </a:r>
            <a:r>
              <a:rPr lang="it-IT" b="1" i="1" baseline="30000">
                <a:sym typeface="Symbol" charset="0"/>
              </a:rPr>
              <a:t>rank'</a:t>
            </a:r>
            <a:r>
              <a:rPr lang="it-IT" b="1" baseline="30000">
                <a:sym typeface="Symbol" charset="0"/>
              </a:rPr>
              <a:t>[</a:t>
            </a:r>
            <a:r>
              <a:rPr lang="it-IT" b="1" i="1" baseline="30000">
                <a:sym typeface="Symbol" charset="0"/>
              </a:rPr>
              <a:t>y</a:t>
            </a:r>
            <a:r>
              <a:rPr lang="it-IT" b="1" baseline="30000">
                <a:sym typeface="Symbol" charset="0"/>
              </a:rPr>
              <a:t>]</a:t>
            </a:r>
            <a:endParaRPr lang="it-IT" b="1" baseline="40000">
              <a:sym typeface="Symbol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Text Box 2"/>
          <p:cNvSpPr txBox="1">
            <a:spLocks noChangeArrowheads="1"/>
          </p:cNvSpPr>
          <p:nvPr/>
        </p:nvSpPr>
        <p:spPr bwMode="auto">
          <a:xfrm>
            <a:off x="685800" y="533400"/>
            <a:ext cx="777240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it-IT" sz="3200" i="1" u="sng"/>
              <a:t>Ulteriori proprietà dei ranghi.</a:t>
            </a:r>
            <a:endParaRPr lang="it-IT" sz="3200"/>
          </a:p>
          <a:p>
            <a:pPr>
              <a:spcBef>
                <a:spcPct val="10000"/>
              </a:spcBef>
              <a:buFontTx/>
              <a:buAutoNum type="alphaLcParenR" startAt="5"/>
            </a:pPr>
            <a:r>
              <a:rPr lang="it-IT" sz="3200"/>
              <a:t>Per ogni intero </a:t>
            </a:r>
            <a:r>
              <a:rPr lang="it-IT" sz="3200" b="1" i="1"/>
              <a:t>r</a:t>
            </a:r>
            <a:r>
              <a:rPr lang="it-IT" sz="3200" b="1"/>
              <a:t> </a:t>
            </a:r>
            <a:r>
              <a:rPr lang="it-IT" sz="3200" b="1">
                <a:sym typeface="Symbol" charset="0"/>
              </a:rPr>
              <a:t> 0</a:t>
            </a:r>
            <a:r>
              <a:rPr lang="it-IT" sz="3200"/>
              <a:t> vi sono al più </a:t>
            </a:r>
            <a:r>
              <a:rPr lang="it-IT" sz="3200" b="1" i="1"/>
              <a:t>n / </a:t>
            </a:r>
            <a:r>
              <a:rPr lang="it-IT" sz="3200" b="1"/>
              <a:t>2</a:t>
            </a:r>
            <a:r>
              <a:rPr lang="it-IT" sz="3200" b="1" i="1" baseline="30000"/>
              <a:t>r</a:t>
            </a:r>
            <a:r>
              <a:rPr lang="it-IT" sz="3200"/>
              <a:t> nodi a cui viene assegnato il rango </a:t>
            </a:r>
            <a:r>
              <a:rPr lang="it-IT" sz="3200" b="1" i="1"/>
              <a:t>r</a:t>
            </a:r>
            <a:r>
              <a:rPr lang="it-IT" sz="3200"/>
              <a:t>; </a:t>
            </a:r>
            <a:endParaRPr lang="it-IT" b="1">
              <a:latin typeface="Courier New" charset="0"/>
              <a:sym typeface="Symbol" charset="0"/>
            </a:endParaRPr>
          </a:p>
        </p:txBody>
      </p:sp>
      <p:sp>
        <p:nvSpPr>
          <p:cNvPr id="717827" name="Text Box 3"/>
          <p:cNvSpPr txBox="1">
            <a:spLocks noChangeArrowheads="1"/>
          </p:cNvSpPr>
          <p:nvPr/>
        </p:nvSpPr>
        <p:spPr bwMode="auto">
          <a:xfrm>
            <a:off x="685800" y="3505200"/>
            <a:ext cx="7754938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it-IT" sz="3200" i="1" u="sng"/>
              <a:t>Dimostrazione.</a:t>
            </a:r>
            <a:endParaRPr lang="it-IT" sz="3200"/>
          </a:p>
          <a:p>
            <a:pPr>
              <a:spcBef>
                <a:spcPct val="10000"/>
              </a:spcBef>
              <a:buFontTx/>
              <a:buAutoNum type="alphaLcParenR" startAt="5"/>
            </a:pPr>
            <a:r>
              <a:rPr lang="it-IT" sz="3200"/>
              <a:t>Sia </a:t>
            </a:r>
            <a:r>
              <a:rPr lang="it-IT" sz="3200" b="1" i="1"/>
              <a:t>r</a:t>
            </a:r>
            <a:r>
              <a:rPr lang="it-IT" sz="3200" b="1"/>
              <a:t> </a:t>
            </a:r>
            <a:r>
              <a:rPr lang="it-IT" sz="3200" b="1">
                <a:sym typeface="Symbol" charset="0"/>
              </a:rPr>
              <a:t> 0</a:t>
            </a:r>
            <a:r>
              <a:rPr lang="it-IT" sz="3200"/>
              <a:t> un intero prefissato e supponiamo che ogni volta che viene assegnato rango </a:t>
            </a:r>
            <a:r>
              <a:rPr lang="it-IT" sz="3200" b="1" i="1"/>
              <a:t>r</a:t>
            </a:r>
            <a:r>
              <a:rPr lang="it-IT" sz="3200"/>
              <a:t> ad un nodo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 vengano marcati tutti i nodi dell’albero di radice </a:t>
            </a:r>
            <a:r>
              <a:rPr lang="it-IT" sz="3200" b="1" i="1">
                <a:sym typeface="Symbol" charset="0"/>
              </a:rPr>
              <a:t>x</a:t>
            </a:r>
            <a:r>
              <a:rPr lang="it-IT" sz="3200"/>
              <a:t>. </a:t>
            </a:r>
            <a:endParaRPr lang="it-IT" sz="3200" b="1">
              <a:sym typeface="Symbol" charset="0"/>
            </a:endParaRPr>
          </a:p>
        </p:txBody>
      </p:sp>
      <p:sp>
        <p:nvSpPr>
          <p:cNvPr id="717828" name="Text Box 4"/>
          <p:cNvSpPr txBox="1">
            <a:spLocks noChangeArrowheads="1"/>
          </p:cNvSpPr>
          <p:nvPr/>
        </p:nvSpPr>
        <p:spPr bwMode="auto">
          <a:xfrm>
            <a:off x="685800" y="22098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6"/>
            </a:pPr>
            <a:r>
              <a:rPr lang="it-IT" sz="3200"/>
              <a:t>A nessun nodo viene assegnato rango maggiore di </a:t>
            </a:r>
            <a:r>
              <a:rPr lang="it-IT" sz="3200">
                <a:sym typeface="Symbol" charset="0"/>
              </a:rPr>
              <a:t></a:t>
            </a:r>
            <a:r>
              <a:rPr lang="it-IT" sz="3200" b="1"/>
              <a:t>log</a:t>
            </a:r>
            <a:r>
              <a:rPr lang="it-IT" sz="3200" b="1" baseline="-25000"/>
              <a:t>2</a:t>
            </a:r>
            <a:r>
              <a:rPr lang="it-IT" sz="3200" b="1" i="1"/>
              <a:t> n</a:t>
            </a:r>
            <a:r>
              <a:rPr lang="it-IT" sz="3200">
                <a:sym typeface="Symbol" charset="0"/>
              </a:rPr>
              <a:t>.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Text Box 2"/>
          <p:cNvSpPr txBox="1">
            <a:spLocks noChangeArrowheads="1"/>
          </p:cNvSpPr>
          <p:nvPr/>
        </p:nvSpPr>
        <p:spPr bwMode="auto">
          <a:xfrm>
            <a:off x="984250" y="609600"/>
            <a:ext cx="7315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Siccome </a:t>
            </a:r>
            <a:r>
              <a:rPr lang="it-IT" b="1" i="1"/>
              <a:t>size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 b="1">
                <a:sym typeface="Symbol" charset="0"/>
              </a:rPr>
              <a:t></a:t>
            </a:r>
            <a:r>
              <a:rPr lang="it-IT" b="1" i="1"/>
              <a:t> </a:t>
            </a:r>
            <a:r>
              <a:rPr lang="it-IT" b="1"/>
              <a:t>2</a:t>
            </a:r>
            <a:r>
              <a:rPr lang="it-IT" b="1" i="1" baseline="30000">
                <a:sym typeface="Symbol" charset="0"/>
              </a:rPr>
              <a:t>rank</a:t>
            </a:r>
            <a:r>
              <a:rPr lang="it-IT" b="1" baseline="30000">
                <a:sym typeface="Symbol" charset="0"/>
              </a:rPr>
              <a:t>[</a:t>
            </a:r>
            <a:r>
              <a:rPr lang="it-IT" b="1" i="1" baseline="30000">
                <a:sym typeface="Symbol" charset="0"/>
              </a:rPr>
              <a:t>x</a:t>
            </a:r>
            <a:r>
              <a:rPr lang="it-IT" b="1" baseline="30000">
                <a:sym typeface="Symbol" charset="0"/>
              </a:rPr>
              <a:t>]</a:t>
            </a:r>
            <a:r>
              <a:rPr lang="it-IT"/>
              <a:t> ogni volta che viene assegnato rango </a:t>
            </a:r>
            <a:r>
              <a:rPr lang="it-IT" b="1" i="1"/>
              <a:t>r</a:t>
            </a:r>
            <a:r>
              <a:rPr lang="it-IT"/>
              <a:t> ad un nodo vengono marcati almeno </a:t>
            </a:r>
            <a:r>
              <a:rPr lang="it-IT" b="1"/>
              <a:t>2</a:t>
            </a:r>
            <a:r>
              <a:rPr lang="it-IT" b="1" i="1" baseline="30000"/>
              <a:t>r</a:t>
            </a:r>
            <a:r>
              <a:rPr lang="it-IT"/>
              <a:t> nodi.</a:t>
            </a:r>
          </a:p>
        </p:txBody>
      </p:sp>
      <p:sp>
        <p:nvSpPr>
          <p:cNvPr id="718851" name="Text Box 3"/>
          <p:cNvSpPr txBox="1">
            <a:spLocks noChangeArrowheads="1"/>
          </p:cNvSpPr>
          <p:nvPr/>
        </p:nvSpPr>
        <p:spPr bwMode="auto">
          <a:xfrm>
            <a:off x="984250" y="2438400"/>
            <a:ext cx="7315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Per le proprietà a) e b) il rango della radice dell’albero contenente un dato nodo </a:t>
            </a:r>
            <a:r>
              <a:rPr lang="it-IT" b="1" i="1">
                <a:sym typeface="Symbol" charset="0"/>
              </a:rPr>
              <a:t>y</a:t>
            </a:r>
            <a:r>
              <a:rPr lang="it-IT"/>
              <a:t> può solo aumentare.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Text Box 2"/>
          <p:cNvSpPr txBox="1">
            <a:spLocks noChangeArrowheads="1"/>
          </p:cNvSpPr>
          <p:nvPr/>
        </p:nvSpPr>
        <p:spPr bwMode="auto">
          <a:xfrm>
            <a:off x="633413" y="4648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"/>
              </a:spcBef>
              <a:buFontTx/>
              <a:buAutoNum type="alphaLcParenR" startAt="6"/>
            </a:pPr>
            <a:r>
              <a:rPr lang="it-IT" sz="3200"/>
              <a:t>Se </a:t>
            </a:r>
            <a:r>
              <a:rPr lang="it-IT" sz="3200" b="1" i="1">
                <a:sym typeface="Symbol" charset="0"/>
              </a:rPr>
              <a:t>r &gt;</a:t>
            </a:r>
            <a:r>
              <a:rPr lang="it-IT" sz="3200">
                <a:sym typeface="Symbol" charset="0"/>
              </a:rPr>
              <a:t> </a:t>
            </a:r>
            <a:r>
              <a:rPr lang="it-IT" sz="3200" b="1"/>
              <a:t>log</a:t>
            </a:r>
            <a:r>
              <a:rPr lang="it-IT" sz="3200" b="1" baseline="-25000"/>
              <a:t>2</a:t>
            </a:r>
            <a:r>
              <a:rPr lang="it-IT" sz="3200" b="1" i="1"/>
              <a:t> n</a:t>
            </a:r>
            <a:r>
              <a:rPr lang="it-IT" sz="3200">
                <a:sym typeface="Symbol" charset="0"/>
              </a:rPr>
              <a:t> allora </a:t>
            </a:r>
            <a:r>
              <a:rPr lang="it-IT" sz="3200" b="1" i="1"/>
              <a:t>n /</a:t>
            </a:r>
            <a:r>
              <a:rPr lang="it-IT" sz="3200"/>
              <a:t> </a:t>
            </a:r>
            <a:r>
              <a:rPr lang="it-IT" sz="3200" b="1"/>
              <a:t>2</a:t>
            </a:r>
            <a:r>
              <a:rPr lang="it-IT" sz="3200" b="1" i="1" baseline="30000"/>
              <a:t>r</a:t>
            </a:r>
            <a:r>
              <a:rPr lang="it-IT" sz="3200"/>
              <a:t> </a:t>
            </a:r>
            <a:r>
              <a:rPr lang="it-IT" sz="3200" b="1" i="1">
                <a:sym typeface="Symbol" charset="0"/>
              </a:rPr>
              <a:t>&lt; </a:t>
            </a:r>
            <a:r>
              <a:rPr lang="it-IT" sz="3200" b="1">
                <a:sym typeface="Symbol" charset="0"/>
              </a:rPr>
              <a:t>1</a:t>
            </a:r>
            <a:r>
              <a:rPr lang="it-IT" sz="3200">
                <a:sym typeface="Symbol" charset="0"/>
              </a:rPr>
              <a:t> e a nessun nodo viene assegnato rango </a:t>
            </a:r>
            <a:r>
              <a:rPr lang="it-IT" sz="3200" b="1" i="1">
                <a:sym typeface="Symbol" charset="0"/>
              </a:rPr>
              <a:t>r</a:t>
            </a:r>
            <a:r>
              <a:rPr lang="it-IT" sz="3200">
                <a:sym typeface="Symbol" charset="0"/>
              </a:rPr>
              <a:t>.</a:t>
            </a:r>
          </a:p>
        </p:txBody>
      </p:sp>
      <p:sp>
        <p:nvSpPr>
          <p:cNvPr id="719875" name="Text Box 3"/>
          <p:cNvSpPr txBox="1">
            <a:spLocks noChangeArrowheads="1"/>
          </p:cNvSpPr>
          <p:nvPr/>
        </p:nvSpPr>
        <p:spPr bwMode="auto">
          <a:xfrm>
            <a:off x="1055688" y="685800"/>
            <a:ext cx="72612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Di conseguenza ogni nodo può essere marcato una sola volta.</a:t>
            </a:r>
          </a:p>
        </p:txBody>
      </p:sp>
      <p:sp>
        <p:nvSpPr>
          <p:cNvPr id="719876" name="Text Box 4"/>
          <p:cNvSpPr txBox="1">
            <a:spLocks noChangeArrowheads="1"/>
          </p:cNvSpPr>
          <p:nvPr/>
        </p:nvSpPr>
        <p:spPr bwMode="auto">
          <a:xfrm>
            <a:off x="1055688" y="2438400"/>
            <a:ext cx="74549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Siccome ogni volta che viene assegnato rango </a:t>
            </a:r>
            <a:r>
              <a:rPr lang="it-IT" b="1" i="1"/>
              <a:t>r</a:t>
            </a:r>
            <a:r>
              <a:rPr lang="it-IT"/>
              <a:t> ad un nodo vengono marcati almeno </a:t>
            </a:r>
            <a:r>
              <a:rPr lang="it-IT" b="1"/>
              <a:t>2</a:t>
            </a:r>
            <a:r>
              <a:rPr lang="it-IT" b="1" i="1" baseline="30000"/>
              <a:t>r</a:t>
            </a:r>
            <a:r>
              <a:rPr lang="it-IT"/>
              <a:t> nodi, il rango </a:t>
            </a:r>
            <a:r>
              <a:rPr lang="it-IT" b="1" i="1"/>
              <a:t>r</a:t>
            </a:r>
            <a:r>
              <a:rPr lang="it-IT"/>
              <a:t> viene assegnato al più </a:t>
            </a:r>
            <a:r>
              <a:rPr lang="it-IT" b="1" i="1"/>
              <a:t>n /</a:t>
            </a:r>
            <a:r>
              <a:rPr lang="it-IT"/>
              <a:t> </a:t>
            </a:r>
            <a:r>
              <a:rPr lang="it-IT" b="1"/>
              <a:t>2</a:t>
            </a:r>
            <a:r>
              <a:rPr lang="it-IT" b="1" i="1" baseline="30000"/>
              <a:t>r</a:t>
            </a:r>
            <a:r>
              <a:rPr lang="it-IT"/>
              <a:t> volte.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7772400" cy="608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800" dirty="0"/>
              <a:t>Riassumendo :</a:t>
            </a:r>
          </a:p>
          <a:p>
            <a:pPr marL="514350" indent="-514350">
              <a:spcBef>
                <a:spcPct val="10000"/>
              </a:spcBef>
              <a:buAutoNum type="alphaLcParenR"/>
            </a:pPr>
            <a:r>
              <a:rPr lang="it-IT" sz="2800" dirty="0" smtClean="0"/>
              <a:t>Per </a:t>
            </a:r>
            <a:r>
              <a:rPr lang="it-IT" sz="2800" dirty="0"/>
              <a:t>ogni nodo 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dirty="0"/>
              <a:t>, </a:t>
            </a:r>
            <a:r>
              <a:rPr lang="it-IT" sz="2800" b="1" i="1" dirty="0" err="1">
                <a:sym typeface="Symbol" charset="0"/>
              </a:rPr>
              <a:t>rank</a:t>
            </a:r>
            <a:r>
              <a:rPr lang="it-IT" sz="2800" b="1" dirty="0">
                <a:sym typeface="Symbol" charset="0"/>
              </a:rPr>
              <a:t>[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b="1" dirty="0">
                <a:sym typeface="Symbol" charset="0"/>
              </a:rPr>
              <a:t>]</a:t>
            </a:r>
            <a:r>
              <a:rPr lang="it-IT" sz="2800" dirty="0"/>
              <a:t> è inizialmente 0 e può solo </a:t>
            </a:r>
            <a:r>
              <a:rPr lang="it-IT" sz="2800" dirty="0" smtClean="0"/>
              <a:t>crescere </a:t>
            </a:r>
            <a:r>
              <a:rPr lang="it-IT" sz="2800" dirty="0"/>
              <a:t>finché 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dirty="0"/>
              <a:t> rimane radice; </a:t>
            </a:r>
          </a:p>
          <a:p>
            <a:pPr>
              <a:spcBef>
                <a:spcPct val="10000"/>
              </a:spcBef>
            </a:pPr>
            <a:r>
              <a:rPr lang="it-IT" sz="2800" dirty="0"/>
              <a:t>b) Se 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dirty="0"/>
              <a:t> non è radice allora </a:t>
            </a:r>
            <a:r>
              <a:rPr lang="it-IT" sz="2800" b="1" i="1" dirty="0" err="1">
                <a:sym typeface="Symbol" charset="0"/>
              </a:rPr>
              <a:t>rank</a:t>
            </a:r>
            <a:r>
              <a:rPr lang="it-IT" sz="2800" b="1" dirty="0">
                <a:sym typeface="Symbol" charset="0"/>
              </a:rPr>
              <a:t>[</a:t>
            </a:r>
            <a:r>
              <a:rPr lang="it-IT" sz="2800" b="1" i="1" dirty="0" err="1">
                <a:sym typeface="Symbol" charset="0"/>
              </a:rPr>
              <a:t>parent</a:t>
            </a:r>
            <a:r>
              <a:rPr lang="it-IT" sz="2800" b="1" dirty="0">
                <a:sym typeface="Symbol" charset="0"/>
              </a:rPr>
              <a:t>[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b="1" dirty="0">
                <a:sym typeface="Symbol" charset="0"/>
              </a:rPr>
              <a:t>]]</a:t>
            </a:r>
            <a:r>
              <a:rPr lang="it-IT" sz="2800" dirty="0"/>
              <a:t> può solo </a:t>
            </a:r>
          </a:p>
          <a:p>
            <a:pPr>
              <a:spcBef>
                <a:spcPct val="10000"/>
              </a:spcBef>
            </a:pPr>
            <a:r>
              <a:rPr lang="it-IT" sz="2800" dirty="0"/>
              <a:t>    crescere.</a:t>
            </a:r>
          </a:p>
          <a:p>
            <a:pPr>
              <a:spcBef>
                <a:spcPct val="10000"/>
              </a:spcBef>
            </a:pPr>
            <a:r>
              <a:rPr lang="it-IT" sz="2800" dirty="0"/>
              <a:t>c) Se 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dirty="0"/>
              <a:t> non è radice allora </a:t>
            </a:r>
            <a:r>
              <a:rPr lang="it-IT" sz="2800" b="1" i="1" dirty="0" err="1">
                <a:sym typeface="Symbol" charset="0"/>
              </a:rPr>
              <a:t>rank</a:t>
            </a:r>
            <a:r>
              <a:rPr lang="it-IT" sz="2800" b="1" dirty="0">
                <a:sym typeface="Symbol" charset="0"/>
              </a:rPr>
              <a:t>[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b="1" dirty="0">
                <a:sym typeface="Symbol" charset="0"/>
              </a:rPr>
              <a:t>]</a:t>
            </a:r>
            <a:r>
              <a:rPr lang="it-IT" sz="2800" dirty="0"/>
              <a:t> rimane costante e </a:t>
            </a:r>
          </a:p>
          <a:p>
            <a:pPr>
              <a:spcBef>
                <a:spcPct val="10000"/>
              </a:spcBef>
            </a:pPr>
            <a:r>
              <a:rPr lang="it-IT" sz="2800" b="1" i="1" dirty="0">
                <a:sym typeface="Symbol" charset="0"/>
              </a:rPr>
              <a:t>    </a:t>
            </a:r>
            <a:r>
              <a:rPr lang="it-IT" sz="2800" b="1" i="1" dirty="0" err="1">
                <a:sym typeface="Symbol" charset="0"/>
              </a:rPr>
              <a:t>rank</a:t>
            </a:r>
            <a:r>
              <a:rPr lang="it-IT" sz="2800" b="1" dirty="0">
                <a:sym typeface="Symbol" charset="0"/>
              </a:rPr>
              <a:t>[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b="1" dirty="0">
                <a:sym typeface="Symbol" charset="0"/>
              </a:rPr>
              <a:t>]</a:t>
            </a:r>
            <a:r>
              <a:rPr lang="it-IT" sz="2800" dirty="0"/>
              <a:t> </a:t>
            </a:r>
            <a:r>
              <a:rPr lang="it-IT" sz="2800" b="1" dirty="0">
                <a:sym typeface="Symbol" charset="0"/>
              </a:rPr>
              <a:t>&lt; </a:t>
            </a:r>
            <a:r>
              <a:rPr lang="it-IT" sz="2800" b="1" i="1" dirty="0" err="1">
                <a:sym typeface="Symbol" charset="0"/>
              </a:rPr>
              <a:t>rank</a:t>
            </a:r>
            <a:r>
              <a:rPr lang="it-IT" sz="2800" b="1" dirty="0">
                <a:sym typeface="Symbol" charset="0"/>
              </a:rPr>
              <a:t>[</a:t>
            </a:r>
            <a:r>
              <a:rPr lang="it-IT" sz="2800" b="1" i="1" dirty="0" err="1">
                <a:sym typeface="Symbol" charset="0"/>
              </a:rPr>
              <a:t>parent</a:t>
            </a:r>
            <a:r>
              <a:rPr lang="it-IT" sz="2800" b="1" dirty="0">
                <a:sym typeface="Symbol" charset="0"/>
              </a:rPr>
              <a:t>[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b="1" dirty="0">
                <a:sym typeface="Symbol" charset="0"/>
              </a:rPr>
              <a:t>]]</a:t>
            </a:r>
            <a:r>
              <a:rPr lang="it-IT" sz="2800" dirty="0"/>
              <a:t>.</a:t>
            </a:r>
          </a:p>
          <a:p>
            <a:pPr>
              <a:spcBef>
                <a:spcPct val="10000"/>
              </a:spcBef>
            </a:pPr>
            <a:r>
              <a:rPr lang="it-IT" sz="2800" dirty="0"/>
              <a:t>d) Se 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dirty="0"/>
              <a:t> è radice allora l’albero di radice 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dirty="0"/>
              <a:t> ha un numero </a:t>
            </a:r>
            <a:r>
              <a:rPr lang="it-IT" sz="2800" dirty="0" smtClean="0"/>
              <a:t>di </a:t>
            </a:r>
            <a:r>
              <a:rPr lang="it-IT" sz="2800" dirty="0"/>
              <a:t>nodi </a:t>
            </a:r>
            <a:r>
              <a:rPr lang="it-IT" sz="2800" b="1" i="1" dirty="0" err="1"/>
              <a:t>size</a:t>
            </a:r>
            <a:r>
              <a:rPr lang="it-IT" sz="2800" b="1" dirty="0"/>
              <a:t>(</a:t>
            </a:r>
            <a:r>
              <a:rPr lang="it-IT" sz="2800" b="1" i="1" dirty="0">
                <a:sym typeface="Symbol" charset="0"/>
              </a:rPr>
              <a:t>x</a:t>
            </a:r>
            <a:r>
              <a:rPr lang="it-IT" sz="2800" b="1" dirty="0"/>
              <a:t>)</a:t>
            </a:r>
            <a:r>
              <a:rPr lang="it-IT" sz="2800" b="1" i="1" dirty="0"/>
              <a:t> </a:t>
            </a:r>
            <a:r>
              <a:rPr lang="it-IT" sz="2800" b="1" dirty="0">
                <a:sym typeface="Symbol" charset="0"/>
              </a:rPr>
              <a:t> </a:t>
            </a:r>
            <a:r>
              <a:rPr lang="it-IT" sz="2800" b="1" dirty="0"/>
              <a:t>2</a:t>
            </a:r>
            <a:r>
              <a:rPr lang="it-IT" sz="2800" b="1" i="1" baseline="30000" dirty="0">
                <a:sym typeface="Symbol" charset="0"/>
              </a:rPr>
              <a:t>rank</a:t>
            </a:r>
            <a:r>
              <a:rPr lang="it-IT" sz="2800" b="1" baseline="30000" dirty="0">
                <a:sym typeface="Symbol" charset="0"/>
              </a:rPr>
              <a:t>[</a:t>
            </a:r>
            <a:r>
              <a:rPr lang="it-IT" sz="2800" b="1" i="1" baseline="30000" dirty="0">
                <a:sym typeface="Symbol" charset="0"/>
              </a:rPr>
              <a:t>x</a:t>
            </a:r>
            <a:r>
              <a:rPr lang="it-IT" sz="2800" b="1" baseline="30000" dirty="0">
                <a:sym typeface="Symbol" charset="0"/>
              </a:rPr>
              <a:t>]</a:t>
            </a:r>
            <a:r>
              <a:rPr lang="it-IT" sz="2800" dirty="0"/>
              <a:t>. </a:t>
            </a:r>
          </a:p>
          <a:p>
            <a:pPr>
              <a:spcBef>
                <a:spcPct val="10000"/>
              </a:spcBef>
            </a:pPr>
            <a:r>
              <a:rPr lang="it-IT" sz="2800" dirty="0"/>
              <a:t>e) Per ogni intero </a:t>
            </a:r>
            <a:r>
              <a:rPr lang="it-IT" sz="2800" b="1" i="1" dirty="0" err="1"/>
              <a:t>r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 0</a:t>
            </a:r>
            <a:r>
              <a:rPr lang="it-IT" sz="2800" dirty="0"/>
              <a:t> vi sono al più </a:t>
            </a:r>
            <a:r>
              <a:rPr lang="it-IT" sz="2800" b="1" i="1" dirty="0" err="1"/>
              <a:t>n</a:t>
            </a:r>
            <a:r>
              <a:rPr lang="it-IT" sz="2800" b="1" i="1" dirty="0"/>
              <a:t> / </a:t>
            </a:r>
            <a:r>
              <a:rPr lang="it-IT" sz="2800" b="1" dirty="0"/>
              <a:t>2</a:t>
            </a:r>
            <a:r>
              <a:rPr lang="it-IT" sz="2800" b="1" i="1" baseline="30000" dirty="0"/>
              <a:t>r</a:t>
            </a:r>
            <a:r>
              <a:rPr lang="it-IT" sz="2800" dirty="0"/>
              <a:t> nodi a cui </a:t>
            </a:r>
            <a:r>
              <a:rPr lang="it-IT" sz="2800" dirty="0" smtClean="0"/>
              <a:t>viene </a:t>
            </a:r>
            <a:r>
              <a:rPr lang="it-IT" sz="2800" dirty="0"/>
              <a:t>assegnato il rango </a:t>
            </a:r>
            <a:r>
              <a:rPr lang="it-IT" sz="2800" b="1" i="1" dirty="0" err="1"/>
              <a:t>r</a:t>
            </a:r>
            <a:r>
              <a:rPr lang="it-IT" sz="2800" dirty="0"/>
              <a:t>; </a:t>
            </a:r>
          </a:p>
          <a:p>
            <a:pPr>
              <a:spcBef>
                <a:spcPct val="10000"/>
              </a:spcBef>
            </a:pPr>
            <a:r>
              <a:rPr lang="it-IT" sz="2800" dirty="0" err="1"/>
              <a:t>f</a:t>
            </a:r>
            <a:r>
              <a:rPr lang="it-IT" sz="2800" dirty="0"/>
              <a:t>) A nessun nodo viene assegnato rango maggiore di </a:t>
            </a:r>
          </a:p>
          <a:p>
            <a:pPr>
              <a:spcBef>
                <a:spcPct val="10000"/>
              </a:spcBef>
            </a:pPr>
            <a:r>
              <a:rPr lang="it-IT" sz="2800" dirty="0">
                <a:sym typeface="Symbol" charset="0"/>
              </a:rPr>
              <a:t>    </a:t>
            </a:r>
            <a:r>
              <a:rPr lang="it-IT" sz="2800" b="1" dirty="0"/>
              <a:t>log</a:t>
            </a:r>
            <a:r>
              <a:rPr lang="it-IT" sz="2800" b="1" baseline="-25000" dirty="0"/>
              <a:t>2</a:t>
            </a:r>
            <a:r>
              <a:rPr lang="it-IT" sz="2800" b="1" i="1" dirty="0"/>
              <a:t> </a:t>
            </a:r>
            <a:r>
              <a:rPr lang="it-IT" sz="2800" b="1" i="1" dirty="0" err="1"/>
              <a:t>n</a:t>
            </a:r>
            <a:r>
              <a:rPr lang="it-IT" sz="2800" dirty="0">
                <a:sym typeface="Symbol" charset="0"/>
              </a:rPr>
              <a:t>.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52425" y="152400"/>
            <a:ext cx="2109788" cy="228600"/>
          </a:xfrm>
        </p:spPr>
        <p:txBody>
          <a:bodyPr/>
          <a:lstStyle/>
          <a:p>
            <a:r>
              <a:rPr lang="it-IT" sz="800">
                <a:solidFill>
                  <a:schemeClr val="bg1"/>
                </a:solidFill>
              </a:rPr>
              <a:t>Proprietà dei ranghi</a:t>
            </a:r>
            <a:endParaRPr lang="en-US" sz="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Text Box 2"/>
          <p:cNvSpPr txBox="1">
            <a:spLocks noChangeArrowheads="1"/>
          </p:cNvSpPr>
          <p:nvPr/>
        </p:nvSpPr>
        <p:spPr bwMode="auto">
          <a:xfrm>
            <a:off x="685800" y="457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Siamo ora in grado di valutare la complessità di una sequenza di operazioni.</a:t>
            </a:r>
          </a:p>
        </p:txBody>
      </p:sp>
      <p:sp>
        <p:nvSpPr>
          <p:cNvPr id="721923" name="Text Box 3"/>
          <p:cNvSpPr txBox="1">
            <a:spLocks noChangeArrowheads="1"/>
          </p:cNvSpPr>
          <p:nvPr/>
        </p:nvSpPr>
        <p:spPr bwMode="auto">
          <a:xfrm>
            <a:off x="703263" y="1447800"/>
            <a:ext cx="777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A questo scopo scomponiamo ogni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: </a:t>
            </a:r>
          </a:p>
        </p:txBody>
      </p:sp>
      <p:sp>
        <p:nvSpPr>
          <p:cNvPr id="721924" name="Text Box 4"/>
          <p:cNvSpPr txBox="1">
            <a:spLocks noChangeArrowheads="1"/>
          </p:cNvSpPr>
          <p:nvPr/>
        </p:nvSpPr>
        <p:spPr bwMode="auto">
          <a:xfrm>
            <a:off x="762000" y="4114800"/>
            <a:ext cx="802957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nelle due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e nella </a:t>
            </a:r>
            <a:r>
              <a:rPr lang="it-IT" b="1" i="1">
                <a:sym typeface="Symbol" charset="0"/>
              </a:rPr>
              <a:t>Link</a:t>
            </a:r>
            <a:r>
              <a:rPr lang="it-IT"/>
              <a:t> che la costituiscono e valuteremo la complessità in funzione del numero </a:t>
            </a:r>
            <a:r>
              <a:rPr lang="it-IT" b="1" i="1"/>
              <a:t>m</a:t>
            </a:r>
            <a:r>
              <a:rPr lang="it-IT"/>
              <a:t> di operazioni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,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Link</a:t>
            </a:r>
            <a:r>
              <a:rPr lang="it-IT"/>
              <a:t> così ottenute. </a:t>
            </a:r>
          </a:p>
        </p:txBody>
      </p:sp>
      <p:sp>
        <p:nvSpPr>
          <p:cNvPr id="721925" name="Text Box 5"/>
          <p:cNvSpPr txBox="1">
            <a:spLocks noChangeArrowheads="1"/>
          </p:cNvSpPr>
          <p:nvPr/>
        </p:nvSpPr>
        <p:spPr bwMode="auto">
          <a:xfrm>
            <a:off x="703263" y="2133600"/>
            <a:ext cx="7924800" cy="18256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Link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</a:t>
            </a:r>
            <a:endParaRPr lang="it-IT" sz="2800" b="1">
              <a:solidFill>
                <a:srgbClr val="0000CC"/>
              </a:solidFill>
              <a:sym typeface="Symbol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Text Box 2"/>
          <p:cNvSpPr txBox="1">
            <a:spLocks noChangeArrowheads="1"/>
          </p:cNvSpPr>
          <p:nvPr/>
        </p:nvSpPr>
        <p:spPr bwMode="auto">
          <a:xfrm>
            <a:off x="685800" y="914400"/>
            <a:ext cx="777240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Se </a:t>
            </a:r>
            <a:r>
              <a:rPr lang="it-IT" b="1" i="1"/>
              <a:t>m'</a:t>
            </a:r>
            <a:r>
              <a:rPr lang="it-IT"/>
              <a:t> è il numero di operazioni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,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Union</a:t>
            </a:r>
            <a:r>
              <a:rPr lang="it-IT"/>
              <a:t> della sequenza originale allora</a:t>
            </a:r>
          </a:p>
          <a:p>
            <a:pPr>
              <a:spcBef>
                <a:spcPct val="10000"/>
              </a:spcBef>
            </a:pPr>
            <a:r>
              <a:rPr lang="it-IT"/>
              <a:t>                         </a:t>
            </a:r>
            <a:r>
              <a:rPr lang="it-IT" b="1" i="1"/>
              <a:t>m'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 </a:t>
            </a:r>
            <a:r>
              <a:rPr lang="it-IT" b="1" i="1"/>
              <a:t>m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 3</a:t>
            </a:r>
            <a:r>
              <a:rPr lang="it-IT" b="1" i="1"/>
              <a:t>m'</a:t>
            </a:r>
            <a:r>
              <a:rPr lang="it-IT"/>
              <a:t> </a:t>
            </a:r>
          </a:p>
        </p:txBody>
      </p:sp>
      <p:sp>
        <p:nvSpPr>
          <p:cNvPr id="722947" name="Text Box 3"/>
          <p:cNvSpPr txBox="1">
            <a:spLocks noChangeArrowheads="1"/>
          </p:cNvSpPr>
          <p:nvPr/>
        </p:nvSpPr>
        <p:spPr bwMode="auto">
          <a:xfrm>
            <a:off x="685800" y="32004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Quindi è indifferente calcolare la complessità asintotica in funzione di </a:t>
            </a:r>
            <a:r>
              <a:rPr lang="it-IT" b="1" i="1"/>
              <a:t>m</a:t>
            </a:r>
            <a:r>
              <a:rPr lang="it-IT"/>
              <a:t> o di </a:t>
            </a:r>
            <a:r>
              <a:rPr lang="it-IT" b="1" i="1"/>
              <a:t>m'</a:t>
            </a:r>
            <a:r>
              <a:rPr lang="it-IT"/>
              <a:t>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Text Box 2"/>
          <p:cNvSpPr txBox="1">
            <a:spLocks noChangeArrowheads="1"/>
          </p:cNvSpPr>
          <p:nvPr/>
        </p:nvSpPr>
        <p:spPr bwMode="auto">
          <a:xfrm>
            <a:off x="685800" y="685800"/>
            <a:ext cx="7772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Le operazioni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Link</a:t>
            </a:r>
            <a:r>
              <a:rPr lang="it-IT"/>
              <a:t> richiedono tempo costante e contribuiscono quindi per </a:t>
            </a:r>
            <a:r>
              <a:rPr lang="it-IT" b="1" i="1"/>
              <a:t>O</a:t>
            </a:r>
            <a:r>
              <a:rPr lang="it-IT" b="1"/>
              <a:t>(</a:t>
            </a:r>
            <a:r>
              <a:rPr lang="it-IT" b="1" i="1"/>
              <a:t>m</a:t>
            </a:r>
            <a:r>
              <a:rPr lang="it-IT" b="1"/>
              <a:t>)</a:t>
            </a:r>
            <a:r>
              <a:rPr lang="it-IT"/>
              <a:t> alla complessità della sequenza. </a:t>
            </a:r>
          </a:p>
        </p:txBody>
      </p:sp>
      <p:sp>
        <p:nvSpPr>
          <p:cNvPr id="723971" name="Text Box 3"/>
          <p:cNvSpPr txBox="1">
            <a:spLocks noChangeArrowheads="1"/>
          </p:cNvSpPr>
          <p:nvPr/>
        </p:nvSpPr>
        <p:spPr bwMode="auto">
          <a:xfrm>
            <a:off x="685800" y="3048000"/>
            <a:ext cx="77724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Per valutare la complessità delle operazioni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cominciamo con il suddividere i ranghi dei nodi in gruppi </a:t>
            </a:r>
            <a:r>
              <a:rPr lang="it-IT" b="1" i="1"/>
              <a:t>G</a:t>
            </a:r>
            <a:r>
              <a:rPr lang="it-IT" b="1" i="1" baseline="-25000"/>
              <a:t>0</a:t>
            </a:r>
            <a:r>
              <a:rPr lang="it-IT"/>
              <a:t>, </a:t>
            </a:r>
            <a:r>
              <a:rPr lang="it-IT" b="1" i="1"/>
              <a:t>G</a:t>
            </a:r>
            <a:r>
              <a:rPr lang="it-IT" b="1" i="1" baseline="-25000"/>
              <a:t>1</a:t>
            </a:r>
            <a:r>
              <a:rPr lang="it-IT"/>
              <a:t>, ..., </a:t>
            </a:r>
            <a:r>
              <a:rPr lang="it-IT" b="1" i="1"/>
              <a:t>G</a:t>
            </a:r>
            <a:r>
              <a:rPr lang="it-IT" b="1" i="1" baseline="-25000">
                <a:sym typeface="Symbol" charset="0"/>
              </a:rPr>
              <a:t>k</a:t>
            </a:r>
            <a:r>
              <a:rPr lang="it-IT">
                <a:sym typeface="Symbol" charset="0"/>
              </a:rPr>
              <a:t> </a:t>
            </a:r>
            <a:r>
              <a:rPr lang="it-IT"/>
              <a:t>mettendo ogni rango </a:t>
            </a:r>
            <a:r>
              <a:rPr lang="it-IT" b="1" i="1"/>
              <a:t>r</a:t>
            </a:r>
            <a:r>
              <a:rPr lang="it-IT"/>
              <a:t> nel gruppo </a:t>
            </a:r>
            <a:r>
              <a:rPr lang="it-IT" b="1" i="1"/>
              <a:t>G</a:t>
            </a:r>
            <a:r>
              <a:rPr lang="it-IT" b="1" baseline="-25000"/>
              <a:t>log* </a:t>
            </a:r>
            <a:r>
              <a:rPr lang="it-IT" b="1" i="1" baseline="-25000"/>
              <a:t>r </a:t>
            </a:r>
            <a:r>
              <a:rPr lang="it-IT"/>
              <a:t> avente per indice il logaritmo iterato </a:t>
            </a:r>
            <a:r>
              <a:rPr lang="it-IT" b="1"/>
              <a:t>log* </a:t>
            </a:r>
            <a:r>
              <a:rPr lang="it-IT" b="1" i="1"/>
              <a:t>r</a:t>
            </a:r>
            <a:r>
              <a:rPr lang="it-IT"/>
              <a:t>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Text Box 2"/>
          <p:cNvSpPr txBox="1">
            <a:spLocks noChangeArrowheads="1"/>
          </p:cNvSpPr>
          <p:nvPr/>
        </p:nvSpPr>
        <p:spPr bwMode="auto">
          <a:xfrm>
            <a:off x="762000" y="3200400"/>
            <a:ext cx="7772400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Se, per comodità notazionale, definiamo</a:t>
            </a:r>
          </a:p>
          <a:p>
            <a:pPr>
              <a:spcBef>
                <a:spcPct val="10000"/>
              </a:spcBef>
            </a:pPr>
            <a:r>
              <a:rPr lang="it-IT"/>
              <a:t>                         </a:t>
            </a:r>
            <a:r>
              <a:rPr lang="it-IT" b="1"/>
              <a:t>exp* (-1) = -1</a:t>
            </a:r>
            <a:r>
              <a:rPr lang="it-IT"/>
              <a:t> </a:t>
            </a:r>
          </a:p>
          <a:p>
            <a:pPr>
              <a:spcBef>
                <a:spcPct val="10000"/>
              </a:spcBef>
            </a:pPr>
            <a:r>
              <a:rPr lang="it-IT"/>
              <a:t>allora i ranghi </a:t>
            </a:r>
            <a:r>
              <a:rPr lang="it-IT" b="1" i="1"/>
              <a:t>r</a:t>
            </a:r>
            <a:r>
              <a:rPr lang="it-IT"/>
              <a:t> appartenenti al gruppo </a:t>
            </a:r>
            <a:r>
              <a:rPr lang="it-IT" b="1" i="1"/>
              <a:t>G</a:t>
            </a:r>
            <a:r>
              <a:rPr lang="it-IT" b="1" i="1" baseline="-25000"/>
              <a:t>j</a:t>
            </a:r>
            <a:r>
              <a:rPr lang="it-IT"/>
              <a:t> sono quelli per cui</a:t>
            </a:r>
          </a:p>
          <a:p>
            <a:pPr>
              <a:spcBef>
                <a:spcPct val="10000"/>
              </a:spcBef>
            </a:pPr>
            <a:r>
              <a:rPr lang="it-IT"/>
              <a:t>                   </a:t>
            </a:r>
            <a:r>
              <a:rPr lang="it-IT" b="1"/>
              <a:t>exp* (</a:t>
            </a:r>
            <a:r>
              <a:rPr lang="it-IT" b="1" i="1"/>
              <a:t>j</a:t>
            </a:r>
            <a:r>
              <a:rPr lang="it-IT" b="1"/>
              <a:t>-1)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&lt; </a:t>
            </a:r>
            <a:r>
              <a:rPr lang="it-IT" b="1" i="1"/>
              <a:t>r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 </a:t>
            </a:r>
            <a:r>
              <a:rPr lang="it-IT" b="1"/>
              <a:t>exp* (</a:t>
            </a:r>
            <a:r>
              <a:rPr lang="it-IT" b="1" i="1"/>
              <a:t>j</a:t>
            </a:r>
            <a:r>
              <a:rPr lang="it-IT" b="1"/>
              <a:t>)</a:t>
            </a:r>
            <a:endParaRPr lang="it-IT"/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762000" y="914400"/>
            <a:ext cx="777240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Siccome </a:t>
            </a:r>
            <a:r>
              <a:rPr lang="it-IT" b="1" i="1"/>
              <a:t>r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 </a:t>
            </a:r>
            <a:r>
              <a:rPr lang="it-IT">
                <a:sym typeface="Symbol" charset="0"/>
              </a:rPr>
              <a:t></a:t>
            </a:r>
            <a:r>
              <a:rPr lang="it-IT" b="1"/>
              <a:t>log</a:t>
            </a:r>
            <a:r>
              <a:rPr lang="it-IT" b="1" baseline="-25000"/>
              <a:t>2</a:t>
            </a:r>
            <a:r>
              <a:rPr lang="it-IT" b="1" i="1"/>
              <a:t> n</a:t>
            </a:r>
            <a:r>
              <a:rPr lang="it-IT">
                <a:sym typeface="Symbol" charset="0"/>
              </a:rPr>
              <a:t> l’ultimo gruppo ha indice </a:t>
            </a:r>
            <a:r>
              <a:rPr lang="it-IT" b="1" i="1"/>
              <a:t>k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 </a:t>
            </a:r>
            <a:r>
              <a:rPr lang="it-IT" b="1"/>
              <a:t>log* (log</a:t>
            </a:r>
            <a:r>
              <a:rPr lang="it-IT" b="1" baseline="-25000"/>
              <a:t>2</a:t>
            </a:r>
            <a:r>
              <a:rPr lang="it-IT" b="1" i="1"/>
              <a:t> n</a:t>
            </a:r>
            <a:r>
              <a:rPr lang="it-IT">
                <a:sym typeface="Symbol" charset="0"/>
              </a:rPr>
              <a:t>) = </a:t>
            </a:r>
            <a:r>
              <a:rPr lang="it-IT" b="1"/>
              <a:t>log* </a:t>
            </a:r>
            <a:r>
              <a:rPr lang="it-IT" b="1" i="1"/>
              <a:t>n</a:t>
            </a:r>
            <a:r>
              <a:rPr lang="it-IT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-</a:t>
            </a:r>
            <a:r>
              <a:rPr lang="it-IT" b="1" i="1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1</a:t>
            </a:r>
            <a:r>
              <a:rPr lang="it-IT">
                <a:sym typeface="Symbol" charset="0"/>
              </a:rPr>
              <a:t>. </a:t>
            </a:r>
          </a:p>
          <a:p>
            <a:pPr>
              <a:spcBef>
                <a:spcPct val="10000"/>
              </a:spcBef>
            </a:pPr>
            <a:r>
              <a:rPr lang="it-IT">
                <a:sym typeface="Symbol" charset="0"/>
              </a:rPr>
              <a:t>Vi sono quindi al più </a:t>
            </a:r>
            <a:r>
              <a:rPr lang="it-IT" b="1"/>
              <a:t>log* </a:t>
            </a:r>
            <a:r>
              <a:rPr lang="it-IT" b="1" i="1"/>
              <a:t>n</a:t>
            </a:r>
            <a:r>
              <a:rPr lang="it-IT">
                <a:sym typeface="Symbol" charset="0"/>
              </a:rPr>
              <a:t> gruppi.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Una operazione </a:t>
            </a:r>
            <a:r>
              <a:rPr lang="it-IT" b="1" i="1">
                <a:sym typeface="Symbol" charset="0"/>
              </a:rPr>
              <a:t>FindSet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richiede tempo proporzionale al numero di nodi attraversati nel percorrere il cammino </a:t>
            </a:r>
            <a:r>
              <a:rPr lang="it-IT" b="1" i="1"/>
              <a:t>x</a:t>
            </a:r>
            <a:r>
              <a:rPr lang="it-IT" b="1" i="1" baseline="-25000"/>
              <a:t>0</a:t>
            </a:r>
            <a:r>
              <a:rPr lang="it-IT" b="1" i="1"/>
              <a:t>, x</a:t>
            </a:r>
            <a:r>
              <a:rPr lang="it-IT" b="1" i="1" baseline="-25000"/>
              <a:t>1</a:t>
            </a:r>
            <a:r>
              <a:rPr lang="it-IT" b="1" i="1"/>
              <a:t>,... ,x</a:t>
            </a:r>
            <a:r>
              <a:rPr lang="it-IT" b="1" i="1" baseline="-25000"/>
              <a:t>t</a:t>
            </a:r>
            <a:r>
              <a:rPr lang="it-IT"/>
              <a:t> dal nodo </a:t>
            </a:r>
            <a:r>
              <a:rPr lang="it-IT" b="1" i="1"/>
              <a:t>x</a:t>
            </a:r>
            <a:r>
              <a:rPr lang="it-IT" b="1" i="1" baseline="-25000"/>
              <a:t>0</a:t>
            </a:r>
            <a:r>
              <a:rPr lang="it-IT"/>
              <a:t> </a:t>
            </a:r>
            <a:r>
              <a:rPr lang="it-IT" b="1"/>
              <a:t>=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x</a:t>
            </a:r>
            <a:r>
              <a:rPr lang="it-IT"/>
              <a:t> alla radice dell’albero </a:t>
            </a:r>
            <a:r>
              <a:rPr lang="it-IT" b="1" i="1"/>
              <a:t>x</a:t>
            </a:r>
            <a:r>
              <a:rPr lang="it-IT" b="1" i="1" baseline="-25000"/>
              <a:t>t</a:t>
            </a:r>
            <a:r>
              <a:rPr lang="it-IT"/>
              <a:t>.</a:t>
            </a:r>
          </a:p>
        </p:txBody>
      </p: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685800" y="28194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Assegneremo quindi una unità di costo ad ogni nodo attraversato durante le operazioni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. </a:t>
            </a:r>
          </a:p>
        </p:txBody>
      </p:sp>
      <p:sp>
        <p:nvSpPr>
          <p:cNvPr id="726020" name="Text Box 4"/>
          <p:cNvSpPr txBox="1">
            <a:spLocks noChangeArrowheads="1"/>
          </p:cNvSpPr>
          <p:nvPr/>
        </p:nvSpPr>
        <p:spPr bwMode="auto">
          <a:xfrm>
            <a:off x="703263" y="4343400"/>
            <a:ext cx="7772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numero totale di unità di costo necessarie ci darà la complessità delle operazioni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della sequenza.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Divideremo le unità di costo usate in </a:t>
            </a:r>
            <a:r>
              <a:rPr lang="it-IT" i="1" u="sng"/>
              <a:t>costi di gruppo</a:t>
            </a:r>
            <a:r>
              <a:rPr lang="it-IT"/>
              <a:t> e </a:t>
            </a:r>
            <a:r>
              <a:rPr lang="it-IT" i="1" u="sng"/>
              <a:t>costi di cammino</a:t>
            </a:r>
            <a:r>
              <a:rPr lang="it-IT"/>
              <a:t>. </a:t>
            </a:r>
          </a:p>
        </p:txBody>
      </p:sp>
      <p:sp>
        <p:nvSpPr>
          <p:cNvPr id="727043" name="Text Box 3"/>
          <p:cNvSpPr txBox="1">
            <a:spLocks noChangeArrowheads="1"/>
          </p:cNvSpPr>
          <p:nvPr/>
        </p:nvSpPr>
        <p:spPr bwMode="auto">
          <a:xfrm>
            <a:off x="685800" y="19050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Supponiamo che </a:t>
            </a:r>
            <a:r>
              <a:rPr lang="it-IT" b="1" i="1">
                <a:sym typeface="Symbol" charset="0"/>
              </a:rPr>
              <a:t>FindSet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percorra il cammino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</a:t>
            </a:r>
            <a:r>
              <a:rPr lang="it-IT" b="1"/>
              <a:t>=</a:t>
            </a:r>
            <a:r>
              <a:rPr lang="it-IT"/>
              <a:t> </a:t>
            </a:r>
            <a:r>
              <a:rPr lang="it-IT" b="1" i="1"/>
              <a:t>x</a:t>
            </a:r>
            <a:r>
              <a:rPr lang="it-IT" b="1" i="1" baseline="-25000"/>
              <a:t>0</a:t>
            </a:r>
            <a:r>
              <a:rPr lang="it-IT" b="1" i="1"/>
              <a:t>, x</a:t>
            </a:r>
            <a:r>
              <a:rPr lang="it-IT" b="1" i="1" baseline="-25000"/>
              <a:t>1</a:t>
            </a:r>
            <a:r>
              <a:rPr lang="it-IT" b="1" i="1"/>
              <a:t>,... ,x</a:t>
            </a:r>
            <a:r>
              <a:rPr lang="it-IT" b="1" i="1" baseline="-25000"/>
              <a:t>t</a:t>
            </a:r>
            <a:r>
              <a:rPr lang="it-IT"/>
              <a:t>.</a:t>
            </a:r>
          </a:p>
        </p:txBody>
      </p:sp>
      <p:sp>
        <p:nvSpPr>
          <p:cNvPr id="727044" name="Text Box 4"/>
          <p:cNvSpPr txBox="1">
            <a:spLocks noChangeArrowheads="1"/>
          </p:cNvSpPr>
          <p:nvPr/>
        </p:nvSpPr>
        <p:spPr bwMode="auto">
          <a:xfrm>
            <a:off x="685800" y="3352800"/>
            <a:ext cx="77724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Noi assegnamo un costo di gruppo al nodo </a:t>
            </a:r>
            <a:r>
              <a:rPr lang="it-IT" b="1" i="1"/>
              <a:t>x</a:t>
            </a:r>
            <a:r>
              <a:rPr lang="it-IT" b="1" i="1" baseline="-25000"/>
              <a:t>t</a:t>
            </a:r>
            <a:r>
              <a:rPr lang="it-IT"/>
              <a:t> e al nodo precedente </a:t>
            </a:r>
            <a:r>
              <a:rPr lang="it-IT" b="1" i="1"/>
              <a:t>x</a:t>
            </a:r>
            <a:r>
              <a:rPr lang="it-IT" b="1" i="1" baseline="-25000"/>
              <a:t>t-1</a:t>
            </a:r>
            <a:r>
              <a:rPr lang="it-IT"/>
              <a:t> (se </a:t>
            </a:r>
            <a:r>
              <a:rPr lang="it-IT" b="1" i="1"/>
              <a:t>t &gt; 0</a:t>
            </a:r>
            <a:r>
              <a:rPr lang="it-IT"/>
              <a:t>) e ad ogni altro nodo </a:t>
            </a:r>
            <a:r>
              <a:rPr lang="it-IT" b="1" i="1"/>
              <a:t>x</a:t>
            </a:r>
            <a:r>
              <a:rPr lang="it-IT" b="1" i="1" baseline="-25000"/>
              <a:t>i</a:t>
            </a:r>
            <a:r>
              <a:rPr lang="it-IT"/>
              <a:t> del cammino tale il suo rango </a:t>
            </a:r>
            <a:r>
              <a:rPr lang="it-IT" b="1" i="1"/>
              <a:t>r</a:t>
            </a:r>
            <a:r>
              <a:rPr lang="it-IT" b="1" i="1" baseline="-25000"/>
              <a:t>i</a:t>
            </a:r>
            <a:r>
              <a:rPr lang="it-IT"/>
              <a:t> ed il rango </a:t>
            </a:r>
            <a:r>
              <a:rPr lang="it-IT" b="1" i="1"/>
              <a:t>r</a:t>
            </a:r>
            <a:r>
              <a:rPr lang="it-IT" b="1" i="1" baseline="-25000"/>
              <a:t>i+1</a:t>
            </a:r>
            <a:r>
              <a:rPr lang="it-IT"/>
              <a:t> del padre appartengano a gruppi diversi, ossia tale che </a:t>
            </a:r>
            <a:r>
              <a:rPr lang="it-IT" b="1"/>
              <a:t>log* </a:t>
            </a:r>
            <a:r>
              <a:rPr lang="it-IT" b="1" i="1"/>
              <a:t>r</a:t>
            </a:r>
            <a:r>
              <a:rPr lang="it-IT" b="1" i="1" baseline="-25000"/>
              <a:t>i</a:t>
            </a:r>
            <a:r>
              <a:rPr lang="it-IT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&lt;</a:t>
            </a:r>
            <a:r>
              <a:rPr lang="it-IT">
                <a:sym typeface="Symbol" charset="0"/>
              </a:rPr>
              <a:t> </a:t>
            </a:r>
            <a:r>
              <a:rPr lang="it-IT" b="1"/>
              <a:t>log* </a:t>
            </a:r>
            <a:r>
              <a:rPr lang="it-IT" b="1" i="1"/>
              <a:t>r</a:t>
            </a:r>
            <a:r>
              <a:rPr lang="it-IT" b="1" i="1" baseline="-25000"/>
              <a:t>i+1</a:t>
            </a:r>
            <a:r>
              <a:rPr lang="it-IT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7772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dirty="0" err="1" smtClean="0"/>
              <a:t>Assegnamo</a:t>
            </a:r>
            <a:r>
              <a:rPr lang="it-IT" dirty="0" smtClean="0"/>
              <a:t> </a:t>
            </a:r>
            <a:r>
              <a:rPr lang="it-IT" dirty="0"/>
              <a:t>invece un costo di cammino a tutti gli altri nodi del cammino. </a:t>
            </a:r>
          </a:p>
        </p:txBody>
      </p:sp>
      <p:sp>
        <p:nvSpPr>
          <p:cNvPr id="728067" name="Text Box 3"/>
          <p:cNvSpPr txBox="1">
            <a:spLocks noChangeArrowheads="1"/>
          </p:cNvSpPr>
          <p:nvPr/>
        </p:nvSpPr>
        <p:spPr bwMode="auto">
          <a:xfrm>
            <a:off x="685800" y="28194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Valuteremo separatamente i costi di gruppo e i costi di cammino.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Text Box 2"/>
          <p:cNvSpPr txBox="1">
            <a:spLocks noChangeArrowheads="1"/>
          </p:cNvSpPr>
          <p:nvPr/>
        </p:nvSpPr>
        <p:spPr bwMode="auto">
          <a:xfrm>
            <a:off x="685800" y="685800"/>
            <a:ext cx="7772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Siccome vi </a:t>
            </a:r>
            <a:r>
              <a:rPr lang="it-IT">
                <a:sym typeface="Symbol" charset="0"/>
              </a:rPr>
              <a:t>sono al più </a:t>
            </a:r>
            <a:r>
              <a:rPr lang="it-IT" b="1"/>
              <a:t>log* </a:t>
            </a:r>
            <a:r>
              <a:rPr lang="it-IT" b="1" i="1"/>
              <a:t>n</a:t>
            </a:r>
            <a:r>
              <a:rPr lang="it-IT">
                <a:sym typeface="Symbol" charset="0"/>
              </a:rPr>
              <a:t> gruppi, ad ogni esecuzione di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vengono assegnati al più </a:t>
            </a:r>
            <a:r>
              <a:rPr lang="it-IT" b="1"/>
              <a:t>log* </a:t>
            </a:r>
            <a:r>
              <a:rPr lang="it-IT" b="1" i="1"/>
              <a:t>n</a:t>
            </a:r>
            <a:r>
              <a:rPr lang="it-IT">
                <a:sym typeface="Symbol" charset="0"/>
              </a:rPr>
              <a:t> </a:t>
            </a:r>
            <a:r>
              <a:rPr lang="it-IT"/>
              <a:t>costi di gruppo oltre eventualmente ad un costo di gruppo per </a:t>
            </a:r>
            <a:r>
              <a:rPr lang="it-IT" b="1" i="1"/>
              <a:t>x</a:t>
            </a:r>
            <a:r>
              <a:rPr lang="it-IT" b="1" i="1" baseline="-25000"/>
              <a:t>t-1</a:t>
            </a:r>
            <a:r>
              <a:rPr lang="it-IT"/>
              <a:t>.</a:t>
            </a:r>
          </a:p>
        </p:txBody>
      </p:sp>
      <p:sp>
        <p:nvSpPr>
          <p:cNvPr id="729091" name="Text Box 3"/>
          <p:cNvSpPr txBox="1">
            <a:spLocks noChangeArrowheads="1"/>
          </p:cNvSpPr>
          <p:nvPr/>
        </p:nvSpPr>
        <p:spPr bwMode="auto">
          <a:xfrm>
            <a:off x="685800" y="3352800"/>
            <a:ext cx="777240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Le operazioni </a:t>
            </a:r>
            <a:r>
              <a:rPr lang="it-IT" b="1" i="1">
                <a:sym typeface="Symbol" charset="0"/>
              </a:rPr>
              <a:t>FindSet</a:t>
            </a:r>
            <a:r>
              <a:rPr lang="it-IT"/>
              <a:t> sono meno di </a:t>
            </a:r>
            <a:r>
              <a:rPr lang="it-IT" b="1" i="1"/>
              <a:t>m</a:t>
            </a:r>
            <a:r>
              <a:rPr lang="it-IT"/>
              <a:t> e quindi il numero totale di costi di gruppo assegnati è</a:t>
            </a:r>
          </a:p>
          <a:p>
            <a:pPr>
              <a:spcBef>
                <a:spcPct val="10000"/>
              </a:spcBef>
            </a:pPr>
            <a:r>
              <a:rPr lang="it-IT"/>
              <a:t>        </a:t>
            </a:r>
            <a:r>
              <a:rPr lang="it-IT" b="1" i="1"/>
              <a:t>CG</a:t>
            </a:r>
            <a:r>
              <a:rPr lang="it-IT"/>
              <a:t> </a:t>
            </a:r>
            <a:r>
              <a:rPr lang="it-IT" b="1"/>
              <a:t>&lt;</a:t>
            </a:r>
            <a:r>
              <a:rPr lang="it-IT"/>
              <a:t> </a:t>
            </a:r>
            <a:r>
              <a:rPr lang="it-IT" b="1" i="1"/>
              <a:t>m</a:t>
            </a:r>
            <a:r>
              <a:rPr lang="it-IT"/>
              <a:t> </a:t>
            </a:r>
            <a:r>
              <a:rPr lang="it-IT" b="1"/>
              <a:t>(log* </a:t>
            </a:r>
            <a:r>
              <a:rPr lang="it-IT" b="1" i="1"/>
              <a:t>n</a:t>
            </a:r>
            <a:r>
              <a:rPr lang="it-IT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+ </a:t>
            </a:r>
            <a:r>
              <a:rPr lang="it-IT" b="1" i="1">
                <a:sym typeface="Symbol" charset="0"/>
              </a:rPr>
              <a:t>1</a:t>
            </a:r>
            <a:r>
              <a:rPr lang="it-IT" b="1">
                <a:sym typeface="Symbol" charset="0"/>
              </a:rPr>
              <a:t>) = O(</a:t>
            </a:r>
            <a:r>
              <a:rPr lang="it-IT" b="1" i="1"/>
              <a:t>m</a:t>
            </a:r>
            <a:r>
              <a:rPr lang="it-IT"/>
              <a:t> </a:t>
            </a:r>
            <a:r>
              <a:rPr lang="it-IT" b="1"/>
              <a:t>log* </a:t>
            </a:r>
            <a:r>
              <a:rPr lang="it-IT" b="1" i="1"/>
              <a:t>n</a:t>
            </a:r>
            <a:r>
              <a:rPr lang="it-IT" b="1">
                <a:sym typeface="Symbol" charset="0"/>
              </a:rPr>
              <a:t>)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Text Box 2"/>
          <p:cNvSpPr txBox="1">
            <a:spLocks noChangeArrowheads="1"/>
          </p:cNvSpPr>
          <p:nvPr/>
        </p:nvSpPr>
        <p:spPr bwMode="auto">
          <a:xfrm>
            <a:off x="685800" y="5334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La valutazione dei costi di cammino è più delicata.</a:t>
            </a:r>
          </a:p>
        </p:txBody>
      </p:sp>
      <p:sp>
        <p:nvSpPr>
          <p:cNvPr id="730115" name="Text Box 3"/>
          <p:cNvSpPr txBox="1">
            <a:spLocks noChangeArrowheads="1"/>
          </p:cNvSpPr>
          <p:nvPr/>
        </p:nvSpPr>
        <p:spPr bwMode="auto">
          <a:xfrm>
            <a:off x="685800" y="1828800"/>
            <a:ext cx="7772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Osserviamo intanto che una volta che ad un nodo che non sia radice o figlio di radice venga assegnato un costo di gruppo non gli verrà mai più assegnato un costo di cammino.</a:t>
            </a:r>
          </a:p>
        </p:txBody>
      </p:sp>
      <p:sp>
        <p:nvSpPr>
          <p:cNvPr id="730116" name="Text Box 4"/>
          <p:cNvSpPr txBox="1">
            <a:spLocks noChangeArrowheads="1"/>
          </p:cNvSpPr>
          <p:nvPr/>
        </p:nvSpPr>
        <p:spPr bwMode="auto">
          <a:xfrm>
            <a:off x="685800" y="4038601"/>
            <a:ext cx="795465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it-IT" dirty="0"/>
              <a:t>Infatti a tale nodo </a:t>
            </a:r>
            <a:r>
              <a:rPr lang="it-IT" b="1" i="1" dirty="0">
                <a:sym typeface="Symbol" charset="0"/>
              </a:rPr>
              <a:t>x</a:t>
            </a:r>
            <a:r>
              <a:rPr lang="it-IT" dirty="0"/>
              <a:t> viene assegnato un costo di gruppo quando il suo rango </a:t>
            </a:r>
            <a:r>
              <a:rPr lang="it-IT" b="1" i="1" dirty="0" err="1"/>
              <a:t>r</a:t>
            </a:r>
            <a:r>
              <a:rPr lang="it-IT" b="1" i="1" baseline="-25000" dirty="0" err="1"/>
              <a:t>i</a:t>
            </a:r>
            <a:r>
              <a:rPr lang="it-IT" dirty="0"/>
              <a:t> ed il rango </a:t>
            </a:r>
            <a:r>
              <a:rPr lang="it-IT" b="1" i="1" dirty="0"/>
              <a:t>r</a:t>
            </a:r>
            <a:r>
              <a:rPr lang="it-IT" b="1" i="1" baseline="-25000" dirty="0"/>
              <a:t>i+1</a:t>
            </a:r>
            <a:r>
              <a:rPr lang="it-IT" dirty="0"/>
              <a:t> del padre appartengono a gruppi diversi, ossia quando </a:t>
            </a:r>
            <a:r>
              <a:rPr lang="it-IT" b="1" dirty="0"/>
              <a:t>log* </a:t>
            </a:r>
            <a:r>
              <a:rPr lang="it-IT" b="1" i="1" dirty="0" err="1"/>
              <a:t>r</a:t>
            </a:r>
            <a:r>
              <a:rPr lang="it-IT" b="1" i="1" baseline="-25000" dirty="0" err="1"/>
              <a:t>i</a:t>
            </a:r>
            <a:r>
              <a:rPr lang="it-IT" dirty="0"/>
              <a:t> </a:t>
            </a:r>
            <a:r>
              <a:rPr lang="it-IT" b="1" dirty="0">
                <a:sym typeface="Symbol" charset="0"/>
              </a:rPr>
              <a:t>&lt;</a:t>
            </a:r>
            <a:r>
              <a:rPr lang="it-IT" dirty="0">
                <a:sym typeface="Symbol" charset="0"/>
              </a:rPr>
              <a:t> </a:t>
            </a:r>
            <a:r>
              <a:rPr lang="it-IT" b="1" dirty="0"/>
              <a:t>log* </a:t>
            </a:r>
            <a:r>
              <a:rPr lang="it-IT" b="1" i="1" dirty="0"/>
              <a:t>r</a:t>
            </a:r>
            <a:r>
              <a:rPr lang="it-IT" b="1" i="1" baseline="-25000" dirty="0"/>
              <a:t>i+1</a:t>
            </a:r>
            <a:r>
              <a:rPr lang="it-IT" dirty="0"/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Ma il rango di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non cambia più mentre il rango del padre può solo aumentare e quindi la diseguaglianza </a:t>
            </a:r>
            <a:r>
              <a:rPr lang="it-IT" b="1"/>
              <a:t>log* </a:t>
            </a:r>
            <a:r>
              <a:rPr lang="it-IT" b="1" i="1"/>
              <a:t>r</a:t>
            </a:r>
            <a:r>
              <a:rPr lang="it-IT" b="1" i="1" baseline="-25000"/>
              <a:t>i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&lt;</a:t>
            </a:r>
            <a:r>
              <a:rPr lang="it-IT">
                <a:sym typeface="Symbol" charset="0"/>
              </a:rPr>
              <a:t> </a:t>
            </a:r>
            <a:r>
              <a:rPr lang="it-IT" b="1"/>
              <a:t>log* </a:t>
            </a:r>
            <a:r>
              <a:rPr lang="it-IT" b="1" i="1"/>
              <a:t>r</a:t>
            </a:r>
            <a:r>
              <a:rPr lang="it-IT" b="1" i="1" baseline="-25000"/>
              <a:t>i+1</a:t>
            </a:r>
            <a:r>
              <a:rPr lang="it-IT"/>
              <a:t> rimarrà sempre vera.</a:t>
            </a:r>
          </a:p>
        </p:txBody>
      </p:sp>
      <p:sp>
        <p:nvSpPr>
          <p:cNvPr id="731139" name="Text Box 3"/>
          <p:cNvSpPr txBox="1">
            <a:spLocks noChangeArrowheads="1"/>
          </p:cNvSpPr>
          <p:nvPr/>
        </p:nvSpPr>
        <p:spPr bwMode="auto">
          <a:xfrm>
            <a:off x="685800" y="2895600"/>
            <a:ext cx="77724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Ogni volta che ad un nodo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viene assegnato un costo di cammino esso cambia padre per effetto della compressione del cammino e il rango del nuovo padre è strettamente maggiore del rango del padre precedente.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Quante volte un nodo può cambiare padre prima che gli venga assegnato un padre il cui rango appartiene ad un gruppo diverso?</a:t>
            </a:r>
          </a:p>
          <a:p>
            <a:pPr>
              <a:spcBef>
                <a:spcPct val="10000"/>
              </a:spcBef>
            </a:pPr>
            <a:r>
              <a:rPr lang="it-IT"/>
              <a:t>Al più tante volte quanti sono i ranghi nel suo gruppo meno uno.</a:t>
            </a:r>
          </a:p>
        </p:txBody>
      </p:sp>
      <p:sp>
        <p:nvSpPr>
          <p:cNvPr id="732163" name="Text Box 3"/>
          <p:cNvSpPr txBox="1">
            <a:spLocks noChangeArrowheads="1"/>
          </p:cNvSpPr>
          <p:nvPr/>
        </p:nvSpPr>
        <p:spPr bwMode="auto">
          <a:xfrm>
            <a:off x="685800" y="3352800"/>
            <a:ext cx="7772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In altre parole se il rango di </a:t>
            </a:r>
            <a:r>
              <a:rPr lang="it-IT" b="1" i="1">
                <a:sym typeface="Symbol" charset="0"/>
              </a:rPr>
              <a:t>x</a:t>
            </a:r>
            <a:r>
              <a:rPr lang="it-IT"/>
              <a:t> appartiene al gruppo </a:t>
            </a:r>
            <a:r>
              <a:rPr lang="it-IT" b="1" i="1"/>
              <a:t>G</a:t>
            </a:r>
            <a:r>
              <a:rPr lang="it-IT" b="1" i="1" baseline="-25000"/>
              <a:t>j</a:t>
            </a:r>
            <a:r>
              <a:rPr lang="it-IT"/>
              <a:t> allora dopo che gli siano stati assegnati al più </a:t>
            </a:r>
            <a:r>
              <a:rPr lang="it-IT" b="1"/>
              <a:t>exp*(</a:t>
            </a:r>
            <a:r>
              <a:rPr lang="it-IT" b="1" i="1"/>
              <a:t>j</a:t>
            </a:r>
            <a:r>
              <a:rPr lang="it-IT" b="1"/>
              <a:t>) - exp*(</a:t>
            </a:r>
            <a:r>
              <a:rPr lang="it-IT" b="1" i="1"/>
              <a:t>j </a:t>
            </a:r>
            <a:r>
              <a:rPr lang="it-IT" b="1"/>
              <a:t>-1) -1</a:t>
            </a:r>
            <a:r>
              <a:rPr lang="it-IT"/>
              <a:t> costi di cammino gli possono essere assegnati solo costi di gruppo.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803592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Siccome ci sono al più </a:t>
            </a:r>
            <a:r>
              <a:rPr lang="it-IT" b="1" i="1"/>
              <a:t>n / </a:t>
            </a:r>
            <a:r>
              <a:rPr lang="it-IT" b="1"/>
              <a:t>2</a:t>
            </a:r>
            <a:r>
              <a:rPr lang="it-IT" b="1" i="1" baseline="30000"/>
              <a:t>r</a:t>
            </a:r>
            <a:r>
              <a:rPr lang="it-IT"/>
              <a:t> nodi a cui può essere assegnato rango </a:t>
            </a:r>
            <a:r>
              <a:rPr lang="it-IT" b="1" i="1"/>
              <a:t>r</a:t>
            </a:r>
            <a:r>
              <a:rPr lang="it-IT"/>
              <a:t>, il numero </a:t>
            </a:r>
            <a:r>
              <a:rPr lang="it-IT" b="1" i="1"/>
              <a:t>N</a:t>
            </a:r>
            <a:r>
              <a:rPr lang="it-IT" b="1" i="1" baseline="-25000"/>
              <a:t>j</a:t>
            </a:r>
            <a:r>
              <a:rPr lang="it-IT"/>
              <a:t> di nodi il cui rango appartiene al gruppo </a:t>
            </a:r>
            <a:r>
              <a:rPr lang="it-IT" b="1" i="1"/>
              <a:t>G</a:t>
            </a:r>
            <a:r>
              <a:rPr lang="it-IT" b="1" i="1" baseline="-25000"/>
              <a:t>j</a:t>
            </a:r>
            <a:r>
              <a:rPr lang="it-IT"/>
              <a:t> è limitato da: </a:t>
            </a:r>
          </a:p>
        </p:txBody>
      </p:sp>
      <p:graphicFrame>
        <p:nvGraphicFramePr>
          <p:cNvPr id="733187" name="Object 3"/>
          <p:cNvGraphicFramePr>
            <a:graphicFrameLocks noChangeAspect="1"/>
          </p:cNvGraphicFramePr>
          <p:nvPr/>
        </p:nvGraphicFramePr>
        <p:xfrm>
          <a:off x="811213" y="2362200"/>
          <a:ext cx="293687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3" imgW="1130040" imgH="457200" progId="Equation.3">
                  <p:embed/>
                </p:oleObj>
              </mc:Choice>
              <mc:Fallback>
                <p:oleObj name="Equation" r:id="rId3" imgW="1130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362200"/>
                        <a:ext cx="2936875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188" name="Text Box 4"/>
          <p:cNvSpPr txBox="1">
            <a:spLocks noChangeArrowheads="1"/>
          </p:cNvSpPr>
          <p:nvPr/>
        </p:nvSpPr>
        <p:spPr bwMode="auto">
          <a:xfrm>
            <a:off x="685800" y="3810000"/>
            <a:ext cx="777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Per </a:t>
            </a:r>
            <a:r>
              <a:rPr lang="it-IT" b="1" i="1"/>
              <a:t>j = </a:t>
            </a:r>
            <a:r>
              <a:rPr lang="it-IT" b="1"/>
              <a:t>0</a:t>
            </a:r>
            <a:r>
              <a:rPr lang="it-IT"/>
              <a:t> si  ottiene:</a:t>
            </a:r>
          </a:p>
        </p:txBody>
      </p:sp>
      <p:graphicFrame>
        <p:nvGraphicFramePr>
          <p:cNvPr id="733189" name="Object 5"/>
          <p:cNvGraphicFramePr>
            <a:graphicFrameLocks noChangeAspect="1"/>
          </p:cNvGraphicFramePr>
          <p:nvPr/>
        </p:nvGraphicFramePr>
        <p:xfrm>
          <a:off x="844550" y="4648200"/>
          <a:ext cx="41592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5" imgW="1600200" imgH="419040" progId="Equation.3">
                  <p:embed/>
                </p:oleObj>
              </mc:Choice>
              <mc:Fallback>
                <p:oleObj name="Equation" r:id="rId5" imgW="16002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4648200"/>
                        <a:ext cx="415925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4210" name="Object 2"/>
          <p:cNvGraphicFramePr>
            <a:graphicFrameLocks noChangeAspect="1"/>
          </p:cNvGraphicFramePr>
          <p:nvPr/>
        </p:nvGraphicFramePr>
        <p:xfrm>
          <a:off x="830263" y="1295400"/>
          <a:ext cx="5180012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3" imgW="1981080" imgH="1803240" progId="Equation.3">
                  <p:embed/>
                </p:oleObj>
              </mc:Choice>
              <mc:Fallback>
                <p:oleObj name="Equation" r:id="rId3" imgW="1981080" imgH="1803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1295400"/>
                        <a:ext cx="5180012" cy="471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1" name="Text Box 3"/>
          <p:cNvSpPr txBox="1">
            <a:spLocks noChangeArrowheads="1"/>
          </p:cNvSpPr>
          <p:nvPr/>
        </p:nvSpPr>
        <p:spPr bwMode="auto">
          <a:xfrm>
            <a:off x="609600" y="457200"/>
            <a:ext cx="777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mentre per </a:t>
            </a:r>
            <a:r>
              <a:rPr lang="it-IT" b="1" i="1"/>
              <a:t>j &gt; </a:t>
            </a:r>
            <a:r>
              <a:rPr lang="it-IT" b="1"/>
              <a:t>0</a:t>
            </a:r>
            <a:r>
              <a:rPr lang="it-IT"/>
              <a:t> si  ottiene: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Text Box 2"/>
          <p:cNvSpPr txBox="1">
            <a:spLocks noChangeArrowheads="1"/>
          </p:cNvSpPr>
          <p:nvPr/>
        </p:nvSpPr>
        <p:spPr bwMode="auto">
          <a:xfrm>
            <a:off x="609600" y="457200"/>
            <a:ext cx="777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Quindi per ogni </a:t>
            </a:r>
            <a:r>
              <a:rPr lang="it-IT" b="1" i="1"/>
              <a:t>j</a:t>
            </a:r>
            <a:r>
              <a:rPr lang="it-IT"/>
              <a:t>:</a:t>
            </a:r>
          </a:p>
        </p:txBody>
      </p:sp>
      <p:graphicFrame>
        <p:nvGraphicFramePr>
          <p:cNvPr id="735235" name="Object 3"/>
          <p:cNvGraphicFramePr>
            <a:graphicFrameLocks noChangeAspect="1"/>
          </p:cNvGraphicFramePr>
          <p:nvPr/>
        </p:nvGraphicFramePr>
        <p:xfrm>
          <a:off x="717550" y="1143000"/>
          <a:ext cx="25781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3" imgW="990360" imgH="419040" progId="Equation.3">
                  <p:embed/>
                </p:oleObj>
              </mc:Choice>
              <mc:Fallback>
                <p:oleObj name="Equation" r:id="rId3" imgW="990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1143000"/>
                        <a:ext cx="25781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5236" name="Text Box 4"/>
          <p:cNvSpPr txBox="1">
            <a:spLocks noChangeArrowheads="1"/>
          </p:cNvSpPr>
          <p:nvPr/>
        </p:nvSpPr>
        <p:spPr bwMode="auto">
          <a:xfrm>
            <a:off x="609600" y="24384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Infine il numero totale di costi di cammino assegnati è:</a:t>
            </a:r>
          </a:p>
        </p:txBody>
      </p:sp>
      <p:graphicFrame>
        <p:nvGraphicFramePr>
          <p:cNvPr id="735237" name="Object 5"/>
          <p:cNvGraphicFramePr>
            <a:graphicFrameLocks noChangeAspect="1"/>
          </p:cNvGraphicFramePr>
          <p:nvPr/>
        </p:nvGraphicFramePr>
        <p:xfrm>
          <a:off x="784225" y="3581400"/>
          <a:ext cx="7827963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5" imgW="3009600" imgH="939600" progId="Equation.3">
                  <p:embed/>
                </p:oleObj>
              </mc:Choice>
              <mc:Fallback>
                <p:oleObj name="Equation" r:id="rId5" imgW="300960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3581400"/>
                        <a:ext cx="7827963" cy="245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Text Box 2"/>
          <p:cNvSpPr txBox="1">
            <a:spLocks noChangeArrowheads="1"/>
          </p:cNvSpPr>
          <p:nvPr/>
        </p:nvSpPr>
        <p:spPr bwMode="auto">
          <a:xfrm>
            <a:off x="609600" y="457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Concludendo, il costo totale di una sequenza di </a:t>
            </a:r>
            <a:r>
              <a:rPr lang="it-IT" b="1" i="1"/>
              <a:t>m</a:t>
            </a:r>
            <a:r>
              <a:rPr lang="it-IT"/>
              <a:t> operazioni delle quali </a:t>
            </a:r>
            <a:r>
              <a:rPr lang="it-IT" b="1" i="1"/>
              <a:t>n</a:t>
            </a:r>
            <a:r>
              <a:rPr lang="it-IT"/>
              <a:t> sono delle </a:t>
            </a:r>
            <a:r>
              <a:rPr lang="it-IT" b="1" i="1">
                <a:sym typeface="Symbol" charset="0"/>
              </a:rPr>
              <a:t>MakeSet</a:t>
            </a:r>
            <a:r>
              <a:rPr lang="it-IT"/>
              <a:t> è: </a:t>
            </a:r>
          </a:p>
        </p:txBody>
      </p:sp>
      <p:graphicFrame>
        <p:nvGraphicFramePr>
          <p:cNvPr id="736259" name="Object 3"/>
          <p:cNvGraphicFramePr>
            <a:graphicFrameLocks noChangeAspect="1"/>
          </p:cNvGraphicFramePr>
          <p:nvPr/>
        </p:nvGraphicFramePr>
        <p:xfrm>
          <a:off x="757238" y="2362200"/>
          <a:ext cx="6872287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3" imgW="2641320" imgH="660240" progId="Equation.3">
                  <p:embed/>
                </p:oleObj>
              </mc:Choice>
              <mc:Fallback>
                <p:oleObj name="Equation" r:id="rId3" imgW="264132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2362200"/>
                        <a:ext cx="6872287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966075" cy="506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/>
              <a:t>Problema 22-1 del libro</a:t>
            </a:r>
          </a:p>
          <a:p>
            <a:pPr>
              <a:spcBef>
                <a:spcPct val="10000"/>
              </a:spcBef>
            </a:pPr>
            <a:r>
              <a:rPr lang="it-IT"/>
              <a:t>Sia dato l’insieme </a:t>
            </a:r>
            <a:r>
              <a:rPr lang="it-IT" b="1" i="1"/>
              <a:t>T = </a:t>
            </a:r>
            <a:r>
              <a:rPr lang="it-IT" b="1"/>
              <a:t>{1</a:t>
            </a:r>
            <a:r>
              <a:rPr lang="it-IT" b="1" i="1"/>
              <a:t>, </a:t>
            </a:r>
            <a:r>
              <a:rPr lang="it-IT" b="1"/>
              <a:t>2</a:t>
            </a:r>
            <a:r>
              <a:rPr lang="it-IT" b="1" i="1"/>
              <a:t>, ... , n</a:t>
            </a:r>
            <a:r>
              <a:rPr lang="it-IT" b="1"/>
              <a:t>}</a:t>
            </a:r>
            <a:r>
              <a:rPr lang="it-IT"/>
              <a:t> ed una sequenza </a:t>
            </a:r>
            <a:r>
              <a:rPr lang="it-IT" b="1" i="1"/>
              <a:t>S = </a:t>
            </a:r>
            <a:r>
              <a:rPr lang="it-IT" b="1"/>
              <a:t>{</a:t>
            </a:r>
            <a:r>
              <a:rPr lang="it-IT" b="1" i="1"/>
              <a:t>o</a:t>
            </a:r>
            <a:r>
              <a:rPr lang="it-IT" b="1" i="1" baseline="-25000"/>
              <a:t>1 </a:t>
            </a:r>
            <a:r>
              <a:rPr lang="it-IT" b="1" i="1"/>
              <a:t>, o</a:t>
            </a:r>
            <a:r>
              <a:rPr lang="it-IT" b="1" i="1" baseline="-25000"/>
              <a:t>2 </a:t>
            </a:r>
            <a:r>
              <a:rPr lang="it-IT" b="1" i="1"/>
              <a:t>, ... , o</a:t>
            </a:r>
            <a:r>
              <a:rPr lang="it-IT" b="1" i="1" baseline="-25000"/>
              <a:t>n+m </a:t>
            </a:r>
            <a:r>
              <a:rPr lang="it-IT" b="1"/>
              <a:t>}</a:t>
            </a:r>
            <a:r>
              <a:rPr lang="it-IT"/>
              <a:t> di </a:t>
            </a:r>
            <a:r>
              <a:rPr lang="it-IT" b="1" i="1"/>
              <a:t>n</a:t>
            </a:r>
            <a:r>
              <a:rPr lang="it-IT"/>
              <a:t> operazioni </a:t>
            </a:r>
            <a:r>
              <a:rPr lang="it-IT" b="1" i="1"/>
              <a:t>Insert</a:t>
            </a:r>
            <a:r>
              <a:rPr lang="it-IT"/>
              <a:t> che inseriscono ogni elemento di </a:t>
            </a:r>
            <a:r>
              <a:rPr lang="it-IT" b="1" i="1"/>
              <a:t>T</a:t>
            </a:r>
            <a:r>
              <a:rPr lang="it-IT"/>
              <a:t>  una e una sola volta ed </a:t>
            </a:r>
            <a:r>
              <a:rPr lang="it-IT" b="1" i="1"/>
              <a:t>m</a:t>
            </a:r>
            <a:r>
              <a:rPr lang="it-IT"/>
              <a:t> operazioni </a:t>
            </a:r>
            <a:r>
              <a:rPr lang="it-IT" b="1" i="1"/>
              <a:t>ExtractMin</a:t>
            </a:r>
            <a:r>
              <a:rPr lang="it-IT"/>
              <a:t> che estraggono </a:t>
            </a:r>
            <a:r>
              <a:rPr lang="it-IT" b="1" i="1"/>
              <a:t>m</a:t>
            </a:r>
            <a:r>
              <a:rPr lang="it-IT"/>
              <a:t> degli elementi inseriti. </a:t>
            </a:r>
          </a:p>
          <a:p>
            <a:pPr>
              <a:spcBef>
                <a:spcPct val="10000"/>
              </a:spcBef>
            </a:pPr>
            <a:r>
              <a:rPr lang="it-IT"/>
              <a:t>Le operazioni possono essere in un ordine qualsiasi con il solo vincolo che se </a:t>
            </a:r>
            <a:r>
              <a:rPr lang="it-IT" b="1" i="1"/>
              <a:t>o</a:t>
            </a:r>
            <a:r>
              <a:rPr lang="it-IT" b="1" i="1" baseline="-25000"/>
              <a:t>i</a:t>
            </a:r>
            <a:r>
              <a:rPr lang="it-IT"/>
              <a:t> è una </a:t>
            </a:r>
            <a:r>
              <a:rPr lang="it-IT" b="1" i="1"/>
              <a:t>ExtractMin</a:t>
            </a:r>
            <a:r>
              <a:rPr lang="it-IT"/>
              <a:t> la sequenza </a:t>
            </a:r>
            <a:r>
              <a:rPr lang="it-IT" b="1"/>
              <a:t>{</a:t>
            </a:r>
            <a:r>
              <a:rPr lang="it-IT" b="1" i="1"/>
              <a:t>o</a:t>
            </a:r>
            <a:r>
              <a:rPr lang="it-IT" b="1" i="1" baseline="-25000"/>
              <a:t>1 </a:t>
            </a:r>
            <a:r>
              <a:rPr lang="it-IT" b="1" i="1"/>
              <a:t>, o</a:t>
            </a:r>
            <a:r>
              <a:rPr lang="it-IT" b="1" i="1" baseline="-25000"/>
              <a:t>2 </a:t>
            </a:r>
            <a:r>
              <a:rPr lang="it-IT" b="1" i="1"/>
              <a:t>, ... , o</a:t>
            </a:r>
            <a:r>
              <a:rPr lang="it-IT" b="1" i="1" baseline="-25000"/>
              <a:t>i-1 </a:t>
            </a:r>
            <a:r>
              <a:rPr lang="it-IT" b="1"/>
              <a:t>}</a:t>
            </a:r>
            <a:r>
              <a:rPr lang="it-IT"/>
              <a:t> deve contenere più </a:t>
            </a:r>
            <a:r>
              <a:rPr lang="it-IT" b="1" i="1"/>
              <a:t>Insert</a:t>
            </a:r>
            <a:r>
              <a:rPr lang="it-IT"/>
              <a:t> che </a:t>
            </a:r>
            <a:r>
              <a:rPr lang="it-IT" b="1" i="1"/>
              <a:t>ExtractMin</a:t>
            </a:r>
            <a:r>
              <a:rPr lang="it-IT"/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Una possibile sequenza con </a:t>
            </a:r>
            <a:r>
              <a:rPr lang="it-IT" b="1" i="1"/>
              <a:t>n = 9</a:t>
            </a:r>
            <a:r>
              <a:rPr lang="it-IT"/>
              <a:t> ed </a:t>
            </a:r>
            <a:r>
              <a:rPr lang="it-IT" b="1" i="1"/>
              <a:t>m = 6</a:t>
            </a:r>
            <a:r>
              <a:rPr lang="it-IT"/>
              <a:t> è:</a:t>
            </a:r>
          </a:p>
        </p:txBody>
      </p:sp>
      <p:sp>
        <p:nvSpPr>
          <p:cNvPr id="738307" name="Text Box 3"/>
          <p:cNvSpPr txBox="1">
            <a:spLocks noChangeArrowheads="1"/>
          </p:cNvSpPr>
          <p:nvPr/>
        </p:nvSpPr>
        <p:spPr bwMode="auto">
          <a:xfrm>
            <a:off x="773113" y="19050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b="1" i="1"/>
              <a:t>S = </a:t>
            </a:r>
            <a:r>
              <a:rPr lang="it-IT" b="1"/>
              <a:t>{ 4, 8, </a:t>
            </a:r>
            <a:r>
              <a:rPr lang="it-IT" b="1" i="1"/>
              <a:t>e</a:t>
            </a:r>
            <a:r>
              <a:rPr lang="it-IT" b="1"/>
              <a:t>, 3, </a:t>
            </a:r>
            <a:r>
              <a:rPr lang="it-IT" b="1" i="1"/>
              <a:t>e</a:t>
            </a:r>
            <a:r>
              <a:rPr lang="it-IT" b="1"/>
              <a:t>, 9, 2, 6, </a:t>
            </a:r>
            <a:r>
              <a:rPr lang="it-IT" b="1" i="1"/>
              <a:t>e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/>
              <a:t>, 1, 7, </a:t>
            </a:r>
            <a:r>
              <a:rPr lang="it-IT" b="1" i="1"/>
              <a:t>e</a:t>
            </a:r>
            <a:r>
              <a:rPr lang="it-IT" b="1"/>
              <a:t>, 5 }</a:t>
            </a:r>
            <a:endParaRPr lang="it-IT"/>
          </a:p>
        </p:txBody>
      </p:sp>
      <p:sp>
        <p:nvSpPr>
          <p:cNvPr id="738308" name="Text Box 4"/>
          <p:cNvSpPr txBox="1">
            <a:spLocks noChangeArrowheads="1"/>
          </p:cNvSpPr>
          <p:nvPr/>
        </p:nvSpPr>
        <p:spPr bwMode="auto">
          <a:xfrm>
            <a:off x="762000" y="2743200"/>
            <a:ext cx="7696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In cui le operazioni </a:t>
            </a:r>
            <a:r>
              <a:rPr lang="it-IT" b="1" i="1"/>
              <a:t>Insert</a:t>
            </a:r>
            <a:r>
              <a:rPr lang="it-IT"/>
              <a:t> sono indicate con il numero che viene inserito mentre le operazioni </a:t>
            </a:r>
            <a:r>
              <a:rPr lang="it-IT" b="1" i="1"/>
              <a:t>ExtractMin</a:t>
            </a:r>
            <a:r>
              <a:rPr lang="it-IT"/>
              <a:t> sono indicate con la lettera </a:t>
            </a:r>
            <a:r>
              <a:rPr lang="it-IT" b="1" i="1"/>
              <a:t>e</a:t>
            </a:r>
            <a:r>
              <a:rPr lang="it-IT"/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6962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Si chiede un algoritmo efficiente che data la sequenza di operazioni </a:t>
            </a:r>
            <a:r>
              <a:rPr lang="it-IT" b="1" i="1"/>
              <a:t>S</a:t>
            </a:r>
            <a:r>
              <a:rPr lang="it-IT"/>
              <a:t> </a:t>
            </a:r>
            <a:r>
              <a:rPr lang="it-IT" b="1" i="1"/>
              <a:t>= </a:t>
            </a:r>
            <a:r>
              <a:rPr lang="it-IT" b="1"/>
              <a:t>{</a:t>
            </a:r>
            <a:r>
              <a:rPr lang="it-IT" b="1" i="1"/>
              <a:t>o</a:t>
            </a:r>
            <a:r>
              <a:rPr lang="it-IT" b="1" i="1" baseline="-25000"/>
              <a:t>1</a:t>
            </a:r>
            <a:r>
              <a:rPr lang="it-IT" b="1" i="1"/>
              <a:t>, o</a:t>
            </a:r>
            <a:r>
              <a:rPr lang="it-IT" b="1" i="1" baseline="-25000"/>
              <a:t>2</a:t>
            </a:r>
            <a:r>
              <a:rPr lang="it-IT" b="1" i="1"/>
              <a:t>, ..., o</a:t>
            </a:r>
            <a:r>
              <a:rPr lang="it-IT" b="1" i="1" baseline="-25000"/>
              <a:t>n+m</a:t>
            </a:r>
            <a:r>
              <a:rPr lang="it-IT" b="1"/>
              <a:t>}</a:t>
            </a:r>
            <a:r>
              <a:rPr lang="it-IT"/>
              <a:t> calcoli la sequenza </a:t>
            </a:r>
            <a:r>
              <a:rPr lang="it-IT" b="1" i="1"/>
              <a:t>X = </a:t>
            </a:r>
            <a:r>
              <a:rPr lang="it-IT" b="1"/>
              <a:t>{</a:t>
            </a:r>
            <a:r>
              <a:rPr lang="it-IT" b="1" i="1"/>
              <a:t>x</a:t>
            </a:r>
            <a:r>
              <a:rPr lang="it-IT" b="1" i="1" baseline="-25000"/>
              <a:t>1</a:t>
            </a:r>
            <a:r>
              <a:rPr lang="it-IT" b="1" i="1"/>
              <a:t>, x</a:t>
            </a:r>
            <a:r>
              <a:rPr lang="it-IT" b="1" i="1" baseline="-25000"/>
              <a:t>2</a:t>
            </a:r>
            <a:r>
              <a:rPr lang="it-IT" b="1" i="1"/>
              <a:t>, ..., x</a:t>
            </a:r>
            <a:r>
              <a:rPr lang="it-IT" b="1" i="1" baseline="-25000"/>
              <a:t>m</a:t>
            </a:r>
            <a:r>
              <a:rPr lang="it-IT" b="1"/>
              <a:t>} </a:t>
            </a:r>
            <a:r>
              <a:rPr lang="it-IT"/>
              <a:t>degli </a:t>
            </a:r>
            <a:r>
              <a:rPr lang="it-IT" b="1" i="1"/>
              <a:t>m</a:t>
            </a:r>
            <a:r>
              <a:rPr lang="it-IT"/>
              <a:t> elementi estratti. </a:t>
            </a:r>
          </a:p>
        </p:txBody>
      </p:sp>
      <p:sp>
        <p:nvSpPr>
          <p:cNvPr id="739331" name="Text Box 3"/>
          <p:cNvSpPr txBox="1">
            <a:spLocks noChangeArrowheads="1"/>
          </p:cNvSpPr>
          <p:nvPr/>
        </p:nvSpPr>
        <p:spPr bwMode="auto">
          <a:xfrm>
            <a:off x="685800" y="35814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b="1" i="1"/>
              <a:t>S = </a:t>
            </a:r>
            <a:r>
              <a:rPr lang="it-IT" b="1"/>
              <a:t>{ 4, 8, </a:t>
            </a:r>
            <a:r>
              <a:rPr lang="it-IT" b="1" i="1"/>
              <a:t>e</a:t>
            </a:r>
            <a:r>
              <a:rPr lang="it-IT" b="1"/>
              <a:t>, 3, </a:t>
            </a:r>
            <a:r>
              <a:rPr lang="it-IT" b="1" i="1"/>
              <a:t>e</a:t>
            </a:r>
            <a:r>
              <a:rPr lang="it-IT" b="1"/>
              <a:t>, 9, 2, 6, </a:t>
            </a:r>
            <a:r>
              <a:rPr lang="it-IT" b="1" i="1"/>
              <a:t>e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/>
              <a:t>, 1, 7, </a:t>
            </a:r>
            <a:r>
              <a:rPr lang="it-IT" b="1" i="1"/>
              <a:t>e</a:t>
            </a:r>
            <a:r>
              <a:rPr lang="it-IT" b="1"/>
              <a:t>, 5 }</a:t>
            </a:r>
            <a:endParaRPr lang="it-IT"/>
          </a:p>
        </p:txBody>
      </p:sp>
      <p:sp>
        <p:nvSpPr>
          <p:cNvPr id="739332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risultato dovrebbe essere</a:t>
            </a:r>
          </a:p>
        </p:txBody>
      </p:sp>
      <p:sp>
        <p:nvSpPr>
          <p:cNvPr id="739333" name="Text Box 5"/>
          <p:cNvSpPr txBox="1">
            <a:spLocks noChangeArrowheads="1"/>
          </p:cNvSpPr>
          <p:nvPr/>
        </p:nvSpPr>
        <p:spPr bwMode="auto">
          <a:xfrm>
            <a:off x="685800" y="28194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Ad esempio, con la sequenza </a:t>
            </a:r>
          </a:p>
        </p:txBody>
      </p:sp>
      <p:sp>
        <p:nvSpPr>
          <p:cNvPr id="739334" name="Text Box 6"/>
          <p:cNvSpPr txBox="1">
            <a:spLocks noChangeArrowheads="1"/>
          </p:cNvSpPr>
          <p:nvPr/>
        </p:nvSpPr>
        <p:spPr bwMode="auto">
          <a:xfrm>
            <a:off x="685800" y="51816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b="1" i="1"/>
              <a:t>X = </a:t>
            </a:r>
            <a:r>
              <a:rPr lang="it-IT" b="1"/>
              <a:t>{4, 3, 2, 6, 8, 1}</a:t>
            </a:r>
            <a:endParaRPr lang="it-IT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Text Box 2"/>
          <p:cNvSpPr txBox="1">
            <a:spLocks noChangeArrowheads="1"/>
          </p:cNvSpPr>
          <p:nvPr/>
        </p:nvSpPr>
        <p:spPr bwMode="auto">
          <a:xfrm>
            <a:off x="703263" y="381000"/>
            <a:ext cx="769620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 u="sng"/>
              <a:t>Soluzione.</a:t>
            </a:r>
            <a:endParaRPr lang="it-IT"/>
          </a:p>
          <a:p>
            <a:pPr>
              <a:spcBef>
                <a:spcPct val="10000"/>
              </a:spcBef>
            </a:pPr>
            <a:r>
              <a:rPr lang="it-IT"/>
              <a:t>Raggruppiamo in un insieme </a:t>
            </a:r>
            <a:r>
              <a:rPr lang="it-IT" b="1" i="1"/>
              <a:t>I</a:t>
            </a:r>
            <a:r>
              <a:rPr lang="it-IT" b="1" i="1" baseline="-25000"/>
              <a:t>1</a:t>
            </a:r>
            <a:r>
              <a:rPr lang="it-IT"/>
              <a:t> le </a:t>
            </a:r>
            <a:r>
              <a:rPr lang="it-IT" b="1" i="1"/>
              <a:t>Insert</a:t>
            </a:r>
            <a:r>
              <a:rPr lang="it-IT"/>
              <a:t> della sequenza </a:t>
            </a:r>
            <a:r>
              <a:rPr lang="it-IT" b="1" i="1"/>
              <a:t>S</a:t>
            </a:r>
            <a:r>
              <a:rPr lang="it-IT"/>
              <a:t> che precedono la prima </a:t>
            </a:r>
            <a:r>
              <a:rPr lang="it-IT" b="1" i="1"/>
              <a:t>ExtractMin</a:t>
            </a:r>
            <a:r>
              <a:rPr lang="it-IT"/>
              <a:t>, quindi per </a:t>
            </a:r>
            <a:r>
              <a:rPr lang="it-IT" b="1" i="1"/>
              <a:t>i = </a:t>
            </a:r>
            <a:r>
              <a:rPr lang="it-IT" b="1"/>
              <a:t>2</a:t>
            </a:r>
            <a:r>
              <a:rPr lang="it-IT" b="1" i="1"/>
              <a:t>,...,m</a:t>
            </a:r>
            <a:r>
              <a:rPr lang="it-IT"/>
              <a:t> raggruppiamo in un insieme </a:t>
            </a:r>
            <a:r>
              <a:rPr lang="it-IT" b="1" i="1"/>
              <a:t>I</a:t>
            </a:r>
            <a:r>
              <a:rPr lang="it-IT" b="1" i="1" baseline="-25000"/>
              <a:t>i</a:t>
            </a:r>
            <a:r>
              <a:rPr lang="it-IT"/>
              <a:t> quelle comprese tra la (</a:t>
            </a:r>
            <a:r>
              <a:rPr lang="it-IT" b="1" i="1"/>
              <a:t>i</a:t>
            </a:r>
            <a:r>
              <a:rPr lang="it-IT" b="1"/>
              <a:t>-1)</a:t>
            </a:r>
            <a:r>
              <a:rPr lang="it-IT"/>
              <a:t>-esima </a:t>
            </a:r>
            <a:r>
              <a:rPr lang="it-IT" b="1" i="1"/>
              <a:t>ExtractMin</a:t>
            </a:r>
            <a:r>
              <a:rPr lang="it-IT"/>
              <a:t> e la </a:t>
            </a:r>
            <a:r>
              <a:rPr lang="it-IT" b="1" i="1"/>
              <a:t>i</a:t>
            </a:r>
            <a:r>
              <a:rPr lang="it-IT"/>
              <a:t>-esima ed infine raggruppiamo quelle finali in un insieme </a:t>
            </a:r>
            <a:r>
              <a:rPr lang="it-IT" b="1" i="1"/>
              <a:t>I</a:t>
            </a:r>
            <a:r>
              <a:rPr lang="it-IT" b="1" i="1" baseline="-25000"/>
              <a:t>m+1</a:t>
            </a:r>
            <a:r>
              <a:rPr lang="it-IT"/>
              <a:t>.</a:t>
            </a:r>
          </a:p>
        </p:txBody>
      </p:sp>
      <p:sp>
        <p:nvSpPr>
          <p:cNvPr id="740355" name="Text Box 3"/>
          <p:cNvSpPr txBox="1">
            <a:spLocks noChangeArrowheads="1"/>
          </p:cNvSpPr>
          <p:nvPr/>
        </p:nvSpPr>
        <p:spPr bwMode="auto">
          <a:xfrm>
            <a:off x="685800" y="40386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b="1" i="1"/>
              <a:t>S = </a:t>
            </a:r>
            <a:r>
              <a:rPr lang="it-IT" b="1"/>
              <a:t>{</a:t>
            </a:r>
            <a:r>
              <a:rPr lang="it-IT" b="1" i="1"/>
              <a:t>I</a:t>
            </a:r>
            <a:r>
              <a:rPr lang="it-IT" b="1" i="1" baseline="-25000"/>
              <a:t>1 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 i="1" baseline="-25000"/>
              <a:t>1 </a:t>
            </a:r>
            <a:r>
              <a:rPr lang="it-IT" b="1"/>
              <a:t>, </a:t>
            </a:r>
            <a:r>
              <a:rPr lang="it-IT" b="1" i="1"/>
              <a:t>I</a:t>
            </a:r>
            <a:r>
              <a:rPr lang="it-IT" b="1" i="1" baseline="-25000"/>
              <a:t>2 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 i="1" baseline="-25000"/>
              <a:t>2 </a:t>
            </a:r>
            <a:r>
              <a:rPr lang="it-IT" b="1"/>
              <a:t>, ... , </a:t>
            </a:r>
            <a:r>
              <a:rPr lang="it-IT" b="1" i="1"/>
              <a:t>I</a:t>
            </a:r>
            <a:r>
              <a:rPr lang="it-IT" b="1" i="1" baseline="-25000"/>
              <a:t>m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 i="1" baseline="-25000"/>
              <a:t>m</a:t>
            </a:r>
            <a:r>
              <a:rPr lang="it-IT" b="1"/>
              <a:t>, </a:t>
            </a:r>
            <a:r>
              <a:rPr lang="it-IT" b="1" i="1"/>
              <a:t>I</a:t>
            </a:r>
            <a:r>
              <a:rPr lang="it-IT" b="1" i="1" baseline="-25000"/>
              <a:t>m+1</a:t>
            </a:r>
            <a:r>
              <a:rPr lang="it-IT" b="1"/>
              <a:t>}</a:t>
            </a:r>
          </a:p>
        </p:txBody>
      </p:sp>
      <p:sp>
        <p:nvSpPr>
          <p:cNvPr id="740356" name="Text Box 4"/>
          <p:cNvSpPr txBox="1">
            <a:spLocks noChangeArrowheads="1"/>
          </p:cNvSpPr>
          <p:nvPr/>
        </p:nvSpPr>
        <p:spPr bwMode="auto">
          <a:xfrm>
            <a:off x="685800" y="4800600"/>
            <a:ext cx="7696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Naturalmente alcune degli insiemi possono essere vuoti.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Text Box 2"/>
          <p:cNvSpPr txBox="1">
            <a:spLocks noChangeArrowheads="1"/>
          </p:cNvSpPr>
          <p:nvPr/>
        </p:nvSpPr>
        <p:spPr bwMode="auto">
          <a:xfrm>
            <a:off x="609600" y="3048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L’algoritmo è il seguente:</a:t>
            </a:r>
          </a:p>
        </p:txBody>
      </p:sp>
      <p:sp>
        <p:nvSpPr>
          <p:cNvPr id="741379" name="Text Box 3"/>
          <p:cNvSpPr txBox="1">
            <a:spLocks noChangeArrowheads="1"/>
          </p:cNvSpPr>
          <p:nvPr/>
        </p:nvSpPr>
        <p:spPr bwMode="auto">
          <a:xfrm>
            <a:off x="609600" y="949325"/>
            <a:ext cx="7924800" cy="53594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MinimoOffLine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S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m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)  </a:t>
            </a:r>
          </a:p>
          <a:p>
            <a:r>
              <a:rPr lang="it-IT" sz="24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 u="sng">
                <a:solidFill>
                  <a:srgbClr val="0000CC"/>
                </a:solidFill>
                <a:sym typeface="Symbol" charset="0"/>
              </a:rPr>
              <a:t>Pre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: S è l’array di interi che rappresenta la sequenza di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</a:t>
            </a:r>
          </a:p>
          <a:p>
            <a:r>
              <a:rPr lang="it-IT" sz="24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Insert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(indicate con l’intero inserito) e di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m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ExtractMin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</a:t>
            </a:r>
          </a:p>
          <a:p>
            <a:r>
              <a:rPr lang="it-IT" sz="2400" b="1">
                <a:solidFill>
                  <a:srgbClr val="0000CC"/>
                </a:solidFill>
                <a:sym typeface="Symbol" charset="0"/>
              </a:rPr>
              <a:t>    (indicate con l’intero 0).</a:t>
            </a:r>
          </a:p>
          <a:p>
            <a:r>
              <a:rPr lang="it-IT" sz="2800" b="1">
                <a:sym typeface="Symbol" charset="0"/>
              </a:rPr>
              <a:t>   “raggruppa le </a:t>
            </a:r>
            <a:r>
              <a:rPr lang="it-IT" sz="2800" b="1" i="1">
                <a:sym typeface="Symbol" charset="0"/>
              </a:rPr>
              <a:t>Insert</a:t>
            </a:r>
            <a:r>
              <a:rPr lang="it-IT" sz="2800" b="1">
                <a:sym typeface="Symbol" charset="0"/>
              </a:rPr>
              <a:t> in insiemi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1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2</a:t>
            </a:r>
            <a:r>
              <a:rPr lang="it-IT" sz="2800" b="1">
                <a:sym typeface="Symbol" charset="0"/>
              </a:rPr>
              <a:t>,...,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m+1</a:t>
            </a:r>
            <a:r>
              <a:rPr lang="it-IT" sz="2800" b="1">
                <a:sym typeface="Symbol" charset="0"/>
              </a:rPr>
              <a:t>”</a:t>
            </a:r>
          </a:p>
          <a:p>
            <a:r>
              <a:rPr lang="it-IT" sz="2800" b="1">
                <a:sym typeface="Symbol" charset="0"/>
              </a:rPr>
              <a:t>   for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  1 to </a:t>
            </a:r>
            <a:r>
              <a:rPr lang="it-IT" sz="2800" b="1" i="1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 do</a:t>
            </a:r>
          </a:p>
          <a:p>
            <a:r>
              <a:rPr lang="it-IT" sz="2800" b="1">
                <a:sym typeface="Symbol" charset="0"/>
              </a:rPr>
              <a:t>       “trova l’indice </a:t>
            </a:r>
            <a:r>
              <a:rPr lang="it-IT" sz="2800" b="1" i="1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dell’insieme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j</a:t>
            </a:r>
            <a:r>
              <a:rPr lang="it-IT" sz="2800" b="1" i="1">
                <a:sym typeface="Symbol" charset="0"/>
              </a:rPr>
              <a:t> </a:t>
            </a:r>
            <a:r>
              <a:rPr lang="it-IT" sz="2800" b="1">
                <a:sym typeface="Symbol" charset="0"/>
              </a:rPr>
              <a:t>che contiene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”</a:t>
            </a:r>
          </a:p>
          <a:p>
            <a:r>
              <a:rPr lang="it-IT" sz="2800" b="1">
                <a:sym typeface="Symbol" charset="0"/>
              </a:rPr>
              <a:t>       if </a:t>
            </a:r>
            <a:r>
              <a:rPr lang="it-IT" sz="2800" b="1" i="1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 </a:t>
            </a:r>
            <a:r>
              <a:rPr lang="it-IT" sz="2800" b="1" i="1">
                <a:cs typeface="Courier New" charset="0"/>
              </a:rPr>
              <a:t>m</a:t>
            </a:r>
            <a:r>
              <a:rPr lang="it-IT" sz="2800" b="1" baseline="-25000">
                <a:sym typeface="Symbol" charset="0"/>
              </a:rPr>
              <a:t> </a:t>
            </a:r>
            <a:r>
              <a:rPr lang="it-IT" sz="2800" b="1">
                <a:sym typeface="Symbol" charset="0"/>
              </a:rPr>
              <a:t>then</a:t>
            </a:r>
          </a:p>
          <a:p>
            <a:r>
              <a:rPr lang="it-IT" sz="2800" b="1">
                <a:sym typeface="Symbol" charset="0"/>
              </a:rPr>
              <a:t>          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cs typeface="Courier New" charset="0"/>
              </a:rPr>
              <a:t>i</a:t>
            </a:r>
            <a:endParaRPr lang="it-IT" sz="2800" b="1">
              <a:sym typeface="Symbol" charset="0"/>
            </a:endParaRPr>
          </a:p>
          <a:p>
            <a:r>
              <a:rPr lang="it-IT" sz="2800" b="1">
                <a:sym typeface="Symbol" charset="0"/>
              </a:rPr>
              <a:t>           “trova il primo </a:t>
            </a:r>
            <a:r>
              <a:rPr lang="it-IT" sz="2800" b="1" i="1">
                <a:sym typeface="Symbol" charset="0"/>
              </a:rPr>
              <a:t>h </a:t>
            </a:r>
            <a:r>
              <a:rPr lang="it-IT" sz="2800" b="1">
                <a:sym typeface="Symbol" charset="0"/>
              </a:rPr>
              <a:t>&gt; </a:t>
            </a:r>
            <a:r>
              <a:rPr lang="it-IT" sz="2800" b="1" i="1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con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h</a:t>
            </a:r>
            <a:r>
              <a:rPr lang="it-IT" sz="2800" b="1">
                <a:sym typeface="Symbol" charset="0"/>
              </a:rPr>
              <a:t> non definito”</a:t>
            </a:r>
          </a:p>
          <a:p>
            <a:r>
              <a:rPr lang="it-IT" sz="2800" b="1">
                <a:sym typeface="Symbol" charset="0"/>
              </a:rPr>
              <a:t>          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h</a:t>
            </a:r>
            <a:r>
              <a:rPr lang="it-IT" sz="2800" b="1">
                <a:sym typeface="Symbol" charset="0"/>
              </a:rPr>
              <a:t> =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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h</a:t>
            </a:r>
            <a:endParaRPr lang="it-IT" sz="2800" b="1">
              <a:sym typeface="Symbol" charset="0"/>
            </a:endParaRPr>
          </a:p>
          <a:p>
            <a:r>
              <a:rPr lang="it-IT" sz="24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 u="sng">
                <a:solidFill>
                  <a:srgbClr val="0000CC"/>
                </a:solidFill>
                <a:sym typeface="Symbol" charset="0"/>
              </a:rPr>
              <a:t>Post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: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sz="2400" b="1" i="1" baseline="-25000">
                <a:solidFill>
                  <a:srgbClr val="0000CC"/>
                </a:solidFill>
                <a:sym typeface="Symbol" charset="0"/>
              </a:rPr>
              <a:t>1..m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sono gli estratti.</a:t>
            </a:r>
            <a:endParaRPr lang="it-IT" sz="2400" b="1">
              <a:sym typeface="Symbol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Text Box 2"/>
          <p:cNvSpPr txBox="1">
            <a:spLocks noChangeArrowheads="1"/>
          </p:cNvSpPr>
          <p:nvPr/>
        </p:nvSpPr>
        <p:spPr bwMode="auto">
          <a:xfrm>
            <a:off x="703263" y="0"/>
            <a:ext cx="7696200" cy="652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Useremo la struttura dati </a:t>
            </a:r>
            <a:r>
              <a:rPr lang="it-IT" i="1" u="sng"/>
              <a:t>foreste di insiemi disgiunti</a:t>
            </a:r>
            <a:r>
              <a:rPr lang="it-IT"/>
              <a:t> i cui nodi rappresentano le </a:t>
            </a:r>
            <a:r>
              <a:rPr lang="it-IT" b="1" i="1"/>
              <a:t>Insert</a:t>
            </a:r>
            <a:r>
              <a:rPr lang="it-IT"/>
              <a:t> </a:t>
            </a:r>
            <a:r>
              <a:rPr lang="it-IT" b="1"/>
              <a:t>1</a:t>
            </a:r>
            <a:r>
              <a:rPr lang="it-IT"/>
              <a:t>, </a:t>
            </a:r>
            <a:r>
              <a:rPr lang="it-IT" b="1"/>
              <a:t>2</a:t>
            </a:r>
            <a:r>
              <a:rPr lang="it-IT"/>
              <a:t>, .... , </a:t>
            </a:r>
            <a:r>
              <a:rPr lang="it-IT" b="1" i="1"/>
              <a:t>n</a:t>
            </a:r>
            <a:r>
              <a:rPr lang="it-IT"/>
              <a:t> e gli alberi rappresentano gli insiemi disgiunti </a:t>
            </a:r>
            <a:r>
              <a:rPr lang="it-IT" b="1" i="1"/>
              <a:t>I</a:t>
            </a:r>
            <a:r>
              <a:rPr lang="it-IT" b="1" i="1" baseline="-25000"/>
              <a:t>1 </a:t>
            </a:r>
            <a:r>
              <a:rPr lang="it-IT" b="1"/>
              <a:t>, </a:t>
            </a:r>
            <a:r>
              <a:rPr lang="it-IT" b="1" i="1"/>
              <a:t>I</a:t>
            </a:r>
            <a:r>
              <a:rPr lang="it-IT" b="1" i="1" baseline="-25000"/>
              <a:t>2 </a:t>
            </a:r>
            <a:r>
              <a:rPr lang="it-IT" b="1"/>
              <a:t>, ... , </a:t>
            </a:r>
            <a:r>
              <a:rPr lang="it-IT" b="1" i="1"/>
              <a:t>I</a:t>
            </a:r>
            <a:r>
              <a:rPr lang="it-IT" b="1" i="1" baseline="-25000"/>
              <a:t>m+1</a:t>
            </a:r>
            <a:r>
              <a:rPr lang="it-IT"/>
              <a:t>. </a:t>
            </a:r>
          </a:p>
          <a:p>
            <a:pPr>
              <a:spcBef>
                <a:spcPct val="10000"/>
              </a:spcBef>
            </a:pPr>
            <a:r>
              <a:rPr lang="it-IT"/>
              <a:t>Le </a:t>
            </a:r>
            <a:r>
              <a:rPr lang="it-IT" b="1" i="1"/>
              <a:t>Insert</a:t>
            </a:r>
            <a:r>
              <a:rPr lang="it-IT"/>
              <a:t> devono essere percorse dall’algoritmo nell’ordine </a:t>
            </a:r>
            <a:r>
              <a:rPr lang="it-IT" b="1"/>
              <a:t>1</a:t>
            </a:r>
            <a:r>
              <a:rPr lang="it-IT"/>
              <a:t>, </a:t>
            </a:r>
            <a:r>
              <a:rPr lang="it-IT" b="1"/>
              <a:t>2</a:t>
            </a:r>
            <a:r>
              <a:rPr lang="it-IT"/>
              <a:t>, .... , </a:t>
            </a:r>
            <a:r>
              <a:rPr lang="it-IT" b="1" i="1"/>
              <a:t>n</a:t>
            </a:r>
            <a:r>
              <a:rPr lang="it-IT"/>
              <a:t>. Per questo metteremo tali nodi in un array nell’ordine </a:t>
            </a:r>
            <a:r>
              <a:rPr lang="it-IT" b="1"/>
              <a:t>1</a:t>
            </a:r>
            <a:r>
              <a:rPr lang="it-IT"/>
              <a:t>, </a:t>
            </a:r>
            <a:r>
              <a:rPr lang="it-IT" b="1"/>
              <a:t>2</a:t>
            </a:r>
            <a:r>
              <a:rPr lang="it-IT"/>
              <a:t>, .... , </a:t>
            </a:r>
            <a:r>
              <a:rPr lang="it-IT" b="1" i="1"/>
              <a:t>n</a:t>
            </a:r>
            <a:r>
              <a:rPr lang="it-IT"/>
              <a:t>.</a:t>
            </a:r>
          </a:p>
          <a:p>
            <a:pPr>
              <a:spcBef>
                <a:spcPct val="10000"/>
              </a:spcBef>
            </a:pPr>
            <a:r>
              <a:rPr lang="it-IT"/>
              <a:t>Siccome qualcuno degli insiemi </a:t>
            </a:r>
            <a:r>
              <a:rPr lang="it-IT" b="1" i="1"/>
              <a:t>I</a:t>
            </a:r>
            <a:r>
              <a:rPr lang="it-IT" b="1" i="1" baseline="-25000"/>
              <a:t>1 </a:t>
            </a:r>
            <a:r>
              <a:rPr lang="it-IT" b="1"/>
              <a:t>, </a:t>
            </a:r>
            <a:r>
              <a:rPr lang="it-IT" b="1" i="1"/>
              <a:t>I</a:t>
            </a:r>
            <a:r>
              <a:rPr lang="it-IT" b="1" i="1" baseline="-25000"/>
              <a:t>2 </a:t>
            </a:r>
            <a:r>
              <a:rPr lang="it-IT" b="1"/>
              <a:t>, ... , </a:t>
            </a:r>
            <a:r>
              <a:rPr lang="it-IT" b="1" i="1"/>
              <a:t>I</a:t>
            </a:r>
            <a:r>
              <a:rPr lang="it-IT" b="1" i="1" baseline="-25000"/>
              <a:t>m+1</a:t>
            </a:r>
            <a:r>
              <a:rPr lang="it-IT"/>
              <a:t> può essere vuoto aggiungiamo un nodo fittizio ad ognuno di tali insiemi e mettiamo i nodi fittizi alla fine dell’array partendo dal fondo.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Text Box 2"/>
          <p:cNvSpPr txBox="1">
            <a:spLocks noChangeArrowheads="1"/>
          </p:cNvSpPr>
          <p:nvPr/>
        </p:nvSpPr>
        <p:spPr bwMode="auto">
          <a:xfrm>
            <a:off x="703263" y="3810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Per poter eseguire in modo efficiente l’istruzione </a:t>
            </a:r>
          </a:p>
        </p:txBody>
      </p:sp>
      <p:sp>
        <p:nvSpPr>
          <p:cNvPr id="743427" name="Text Box 3"/>
          <p:cNvSpPr txBox="1">
            <a:spLocks noChangeArrowheads="1"/>
          </p:cNvSpPr>
          <p:nvPr/>
        </p:nvSpPr>
        <p:spPr bwMode="auto">
          <a:xfrm>
            <a:off x="773113" y="12192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b="1">
                <a:sym typeface="Symbol" charset="0"/>
              </a:rPr>
              <a:t>“trova l’indice </a:t>
            </a:r>
            <a:r>
              <a:rPr lang="it-IT" b="1" i="1">
                <a:sym typeface="Symbol" charset="0"/>
              </a:rPr>
              <a:t>j</a:t>
            </a:r>
            <a:r>
              <a:rPr lang="it-IT" b="1">
                <a:sym typeface="Symbol" charset="0"/>
              </a:rPr>
              <a:t> dell’insieme </a:t>
            </a:r>
            <a:r>
              <a:rPr lang="it-IT" b="1" i="1">
                <a:sym typeface="Symbol" charset="0"/>
              </a:rPr>
              <a:t>I</a:t>
            </a:r>
            <a:r>
              <a:rPr lang="it-IT" b="1" i="1" baseline="-25000">
                <a:sym typeface="Symbol" charset="0"/>
              </a:rPr>
              <a:t>j</a:t>
            </a:r>
            <a:r>
              <a:rPr lang="it-IT" b="1" i="1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che contiene </a:t>
            </a:r>
            <a:r>
              <a:rPr lang="it-IT" b="1" i="1">
                <a:sym typeface="Symbol" charset="0"/>
              </a:rPr>
              <a:t>i</a:t>
            </a:r>
            <a:r>
              <a:rPr lang="it-IT" b="1">
                <a:sym typeface="Symbol" charset="0"/>
              </a:rPr>
              <a:t>”</a:t>
            </a:r>
          </a:p>
        </p:txBody>
      </p:sp>
      <p:sp>
        <p:nvSpPr>
          <p:cNvPr id="743428" name="Text Box 4"/>
          <p:cNvSpPr txBox="1">
            <a:spLocks noChangeArrowheads="1"/>
          </p:cNvSpPr>
          <p:nvPr/>
        </p:nvSpPr>
        <p:spPr bwMode="auto">
          <a:xfrm>
            <a:off x="773113" y="2133600"/>
            <a:ext cx="75977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aggiungeremo al rappresentante un campo che contiene l’indice dell’insieme di appartenenza. </a:t>
            </a:r>
          </a:p>
        </p:txBody>
      </p:sp>
      <p:sp>
        <p:nvSpPr>
          <p:cNvPr id="743429" name="Text Box 5"/>
          <p:cNvSpPr txBox="1">
            <a:spLocks noChangeArrowheads="1"/>
          </p:cNvSpPr>
          <p:nvPr/>
        </p:nvSpPr>
        <p:spPr bwMode="auto">
          <a:xfrm>
            <a:off x="773113" y="3810000"/>
            <a:ext cx="7696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Ricordiamo che, per i primi </a:t>
            </a:r>
            <a:r>
              <a:rPr lang="it-IT" b="1" i="1"/>
              <a:t>m</a:t>
            </a:r>
            <a:r>
              <a:rPr lang="it-IT"/>
              <a:t> insiemi tale indice è anche l’indice dell’operazione </a:t>
            </a:r>
            <a:r>
              <a:rPr lang="it-IT" b="1" i="1"/>
              <a:t>ExtractMin</a:t>
            </a:r>
            <a:r>
              <a:rPr lang="it-IT"/>
              <a:t> successiva mentre per l’ultimo insieme è </a:t>
            </a:r>
            <a:r>
              <a:rPr lang="it-IT" b="1" i="1"/>
              <a:t>m+1</a:t>
            </a:r>
            <a:r>
              <a:rPr lang="it-IT"/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Text Box 2"/>
          <p:cNvSpPr txBox="1">
            <a:spLocks noChangeArrowheads="1"/>
          </p:cNvSpPr>
          <p:nvPr/>
        </p:nvSpPr>
        <p:spPr bwMode="auto">
          <a:xfrm>
            <a:off x="703263" y="685800"/>
            <a:ext cx="7696200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Per semplicità aggiungeremo tale campo a tutti i nodi ma ci preoccuperemo di mantenere aggiornato soltanto quello del rappresentante. </a:t>
            </a:r>
          </a:p>
          <a:p>
            <a:pPr>
              <a:spcBef>
                <a:spcPct val="10000"/>
              </a:spcBef>
            </a:pPr>
            <a:endParaRPr lang="it-IT"/>
          </a:p>
          <a:p>
            <a:pPr>
              <a:spcBef>
                <a:spcPct val="10000"/>
              </a:spcBef>
            </a:pPr>
            <a:r>
              <a:rPr lang="it-IT"/>
              <a:t>I campi richiesti sono quindi </a:t>
            </a:r>
            <a:r>
              <a:rPr lang="it-IT" b="1" i="1">
                <a:sym typeface="Symbol" charset="0"/>
              </a:rPr>
              <a:t>indice</a:t>
            </a:r>
            <a:r>
              <a:rPr lang="it-IT"/>
              <a:t>, </a:t>
            </a:r>
            <a:r>
              <a:rPr lang="it-IT" b="1" i="1">
                <a:sym typeface="Symbol" charset="0"/>
              </a:rPr>
              <a:t>rank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parent</a:t>
            </a:r>
            <a:r>
              <a:rPr lang="it-IT"/>
              <a:t>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ChangeArrowheads="1"/>
          </p:cNvSpPr>
          <p:nvPr/>
        </p:nvSpPr>
        <p:spPr bwMode="auto">
          <a:xfrm>
            <a:off x="984250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75" name="Rectangle 3"/>
          <p:cNvSpPr>
            <a:spLocks noChangeArrowheads="1"/>
          </p:cNvSpPr>
          <p:nvPr/>
        </p:nvSpPr>
        <p:spPr bwMode="auto">
          <a:xfrm>
            <a:off x="1476375" y="3505200"/>
            <a:ext cx="493713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76" name="Rectangle 4"/>
          <p:cNvSpPr>
            <a:spLocks noChangeArrowheads="1"/>
          </p:cNvSpPr>
          <p:nvPr/>
        </p:nvSpPr>
        <p:spPr bwMode="auto">
          <a:xfrm>
            <a:off x="2462213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77" name="Rectangle 5"/>
          <p:cNvSpPr>
            <a:spLocks noChangeArrowheads="1"/>
          </p:cNvSpPr>
          <p:nvPr/>
        </p:nvSpPr>
        <p:spPr bwMode="auto">
          <a:xfrm>
            <a:off x="2954338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78" name="Rectangle 6"/>
          <p:cNvSpPr>
            <a:spLocks noChangeArrowheads="1"/>
          </p:cNvSpPr>
          <p:nvPr/>
        </p:nvSpPr>
        <p:spPr bwMode="auto">
          <a:xfrm>
            <a:off x="3446463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79" name="Rectangle 7"/>
          <p:cNvSpPr>
            <a:spLocks noChangeArrowheads="1"/>
          </p:cNvSpPr>
          <p:nvPr/>
        </p:nvSpPr>
        <p:spPr bwMode="auto">
          <a:xfrm>
            <a:off x="3938588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0" name="Rectangle 8"/>
          <p:cNvSpPr>
            <a:spLocks noChangeArrowheads="1"/>
          </p:cNvSpPr>
          <p:nvPr/>
        </p:nvSpPr>
        <p:spPr bwMode="auto">
          <a:xfrm>
            <a:off x="4430713" y="3505200"/>
            <a:ext cx="493712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1" name="Rectangle 9"/>
          <p:cNvSpPr>
            <a:spLocks noChangeArrowheads="1"/>
          </p:cNvSpPr>
          <p:nvPr/>
        </p:nvSpPr>
        <p:spPr bwMode="auto">
          <a:xfrm>
            <a:off x="4924425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2" name="Rectangle 10"/>
          <p:cNvSpPr>
            <a:spLocks noChangeArrowheads="1"/>
          </p:cNvSpPr>
          <p:nvPr/>
        </p:nvSpPr>
        <p:spPr bwMode="auto">
          <a:xfrm>
            <a:off x="1970088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3" name="Rectangle 11"/>
          <p:cNvSpPr>
            <a:spLocks noChangeArrowheads="1"/>
          </p:cNvSpPr>
          <p:nvPr/>
        </p:nvSpPr>
        <p:spPr bwMode="auto">
          <a:xfrm>
            <a:off x="7877175" y="3505200"/>
            <a:ext cx="493713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4" name="Rectangle 12"/>
          <p:cNvSpPr>
            <a:spLocks noChangeArrowheads="1"/>
          </p:cNvSpPr>
          <p:nvPr/>
        </p:nvSpPr>
        <p:spPr bwMode="auto">
          <a:xfrm>
            <a:off x="7385050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5" name="Rectangle 13"/>
          <p:cNvSpPr>
            <a:spLocks noChangeArrowheads="1"/>
          </p:cNvSpPr>
          <p:nvPr/>
        </p:nvSpPr>
        <p:spPr bwMode="auto">
          <a:xfrm>
            <a:off x="6892925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6" name="Rectangle 14"/>
          <p:cNvSpPr>
            <a:spLocks noChangeArrowheads="1"/>
          </p:cNvSpPr>
          <p:nvPr/>
        </p:nvSpPr>
        <p:spPr bwMode="auto">
          <a:xfrm>
            <a:off x="6400800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7" name="Rectangle 15"/>
          <p:cNvSpPr>
            <a:spLocks noChangeArrowheads="1"/>
          </p:cNvSpPr>
          <p:nvPr/>
        </p:nvSpPr>
        <p:spPr bwMode="auto">
          <a:xfrm>
            <a:off x="5908675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8" name="Rectangle 16"/>
          <p:cNvSpPr>
            <a:spLocks noChangeArrowheads="1"/>
          </p:cNvSpPr>
          <p:nvPr/>
        </p:nvSpPr>
        <p:spPr bwMode="auto">
          <a:xfrm>
            <a:off x="5416550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89" name="Rectangle 17"/>
          <p:cNvSpPr>
            <a:spLocks noChangeArrowheads="1"/>
          </p:cNvSpPr>
          <p:nvPr/>
        </p:nvSpPr>
        <p:spPr bwMode="auto">
          <a:xfrm>
            <a:off x="8370888" y="35052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490" name="Text Box 18"/>
          <p:cNvSpPr txBox="1">
            <a:spLocks noChangeArrowheads="1"/>
          </p:cNvSpPr>
          <p:nvPr/>
        </p:nvSpPr>
        <p:spPr bwMode="auto">
          <a:xfrm>
            <a:off x="609600" y="457200"/>
            <a:ext cx="7543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Esempio:</a:t>
            </a:r>
          </a:p>
        </p:txBody>
      </p:sp>
      <p:sp>
        <p:nvSpPr>
          <p:cNvPr id="745491" name="Text Box 19"/>
          <p:cNvSpPr txBox="1">
            <a:spLocks noChangeArrowheads="1"/>
          </p:cNvSpPr>
          <p:nvPr/>
        </p:nvSpPr>
        <p:spPr bwMode="auto">
          <a:xfrm>
            <a:off x="533400" y="1143000"/>
            <a:ext cx="807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b="1" i="1"/>
              <a:t>S = </a:t>
            </a:r>
            <a:r>
              <a:rPr lang="it-IT" b="1"/>
              <a:t>{ 4, 8, </a:t>
            </a:r>
            <a:r>
              <a:rPr lang="it-IT" b="1" i="1"/>
              <a:t>e</a:t>
            </a:r>
            <a:r>
              <a:rPr lang="it-IT" b="1" i="1" baseline="-25000"/>
              <a:t>1</a:t>
            </a:r>
            <a:r>
              <a:rPr lang="it-IT" b="1"/>
              <a:t>, 3, </a:t>
            </a:r>
            <a:r>
              <a:rPr lang="it-IT" b="1" i="1"/>
              <a:t>e</a:t>
            </a:r>
            <a:r>
              <a:rPr lang="it-IT" b="1" i="1" baseline="-25000"/>
              <a:t>2</a:t>
            </a:r>
            <a:r>
              <a:rPr lang="it-IT" b="1"/>
              <a:t>, 9, 2, 6, </a:t>
            </a:r>
            <a:r>
              <a:rPr lang="it-IT" b="1" i="1"/>
              <a:t>e</a:t>
            </a:r>
            <a:r>
              <a:rPr lang="it-IT" b="1" i="1" baseline="-25000"/>
              <a:t>3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 i="1" baseline="-25000"/>
              <a:t>4</a:t>
            </a:r>
            <a:r>
              <a:rPr lang="it-IT" b="1"/>
              <a:t>, </a:t>
            </a:r>
            <a:r>
              <a:rPr lang="it-IT" b="1" i="1"/>
              <a:t>e</a:t>
            </a:r>
            <a:r>
              <a:rPr lang="it-IT" b="1" i="1" baseline="-25000"/>
              <a:t>5</a:t>
            </a:r>
            <a:r>
              <a:rPr lang="it-IT" b="1"/>
              <a:t>, 1, 7, </a:t>
            </a:r>
            <a:r>
              <a:rPr lang="it-IT" b="1" i="1"/>
              <a:t>e</a:t>
            </a:r>
            <a:r>
              <a:rPr lang="it-IT" b="1" i="1" baseline="-25000"/>
              <a:t>6</a:t>
            </a:r>
            <a:r>
              <a:rPr lang="it-IT" b="1"/>
              <a:t>, 5 }</a:t>
            </a:r>
          </a:p>
        </p:txBody>
      </p:sp>
      <p:sp>
        <p:nvSpPr>
          <p:cNvPr id="745492" name="Rectangle 20"/>
          <p:cNvSpPr>
            <a:spLocks noChangeArrowheads="1"/>
          </p:cNvSpPr>
          <p:nvPr/>
        </p:nvSpPr>
        <p:spPr bwMode="auto">
          <a:xfrm>
            <a:off x="984250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400" b="1">
              <a:latin typeface="Courier New" charset="0"/>
            </a:endParaRPr>
          </a:p>
        </p:txBody>
      </p:sp>
      <p:sp>
        <p:nvSpPr>
          <p:cNvPr id="745493" name="Rectangle 21"/>
          <p:cNvSpPr>
            <a:spLocks noChangeArrowheads="1"/>
          </p:cNvSpPr>
          <p:nvPr/>
        </p:nvSpPr>
        <p:spPr bwMode="auto">
          <a:xfrm>
            <a:off x="1970088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494" name="Rectangle 22"/>
          <p:cNvSpPr>
            <a:spLocks noChangeArrowheads="1"/>
          </p:cNvSpPr>
          <p:nvPr/>
        </p:nvSpPr>
        <p:spPr bwMode="auto">
          <a:xfrm>
            <a:off x="2462213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495" name="Rectangle 23"/>
          <p:cNvSpPr>
            <a:spLocks noChangeArrowheads="1"/>
          </p:cNvSpPr>
          <p:nvPr/>
        </p:nvSpPr>
        <p:spPr bwMode="auto">
          <a:xfrm>
            <a:off x="2954338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496" name="Rectangle 24"/>
          <p:cNvSpPr>
            <a:spLocks noChangeArrowheads="1"/>
          </p:cNvSpPr>
          <p:nvPr/>
        </p:nvSpPr>
        <p:spPr bwMode="auto">
          <a:xfrm>
            <a:off x="1476375" y="3124200"/>
            <a:ext cx="493713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497" name="Rectangle 25"/>
          <p:cNvSpPr>
            <a:spLocks noChangeArrowheads="1"/>
          </p:cNvSpPr>
          <p:nvPr/>
        </p:nvSpPr>
        <p:spPr bwMode="auto">
          <a:xfrm>
            <a:off x="4430713" y="3124200"/>
            <a:ext cx="493712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498" name="Rectangle 26"/>
          <p:cNvSpPr>
            <a:spLocks noChangeArrowheads="1"/>
          </p:cNvSpPr>
          <p:nvPr/>
        </p:nvSpPr>
        <p:spPr bwMode="auto">
          <a:xfrm>
            <a:off x="3446463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499" name="Rectangle 27"/>
          <p:cNvSpPr>
            <a:spLocks noChangeArrowheads="1"/>
          </p:cNvSpPr>
          <p:nvPr/>
        </p:nvSpPr>
        <p:spPr bwMode="auto">
          <a:xfrm>
            <a:off x="3938588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500" name="Rectangle 28"/>
          <p:cNvSpPr>
            <a:spLocks noChangeArrowheads="1"/>
          </p:cNvSpPr>
          <p:nvPr/>
        </p:nvSpPr>
        <p:spPr bwMode="auto">
          <a:xfrm>
            <a:off x="4924425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5501" name="Rectangle 29"/>
          <p:cNvSpPr>
            <a:spLocks noChangeArrowheads="1"/>
          </p:cNvSpPr>
          <p:nvPr/>
        </p:nvSpPr>
        <p:spPr bwMode="auto">
          <a:xfrm>
            <a:off x="984250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2" name="Rectangle 30"/>
          <p:cNvSpPr>
            <a:spLocks noChangeArrowheads="1"/>
          </p:cNvSpPr>
          <p:nvPr/>
        </p:nvSpPr>
        <p:spPr bwMode="auto">
          <a:xfrm>
            <a:off x="1476375" y="2895600"/>
            <a:ext cx="493713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3" name="Rectangle 31"/>
          <p:cNvSpPr>
            <a:spLocks noChangeArrowheads="1"/>
          </p:cNvSpPr>
          <p:nvPr/>
        </p:nvSpPr>
        <p:spPr bwMode="auto">
          <a:xfrm>
            <a:off x="2462213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4" name="Rectangle 32"/>
          <p:cNvSpPr>
            <a:spLocks noChangeArrowheads="1"/>
          </p:cNvSpPr>
          <p:nvPr/>
        </p:nvSpPr>
        <p:spPr bwMode="auto">
          <a:xfrm>
            <a:off x="2954338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5" name="Rectangle 33"/>
          <p:cNvSpPr>
            <a:spLocks noChangeArrowheads="1"/>
          </p:cNvSpPr>
          <p:nvPr/>
        </p:nvSpPr>
        <p:spPr bwMode="auto">
          <a:xfrm>
            <a:off x="3446463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6" name="Rectangle 34"/>
          <p:cNvSpPr>
            <a:spLocks noChangeArrowheads="1"/>
          </p:cNvSpPr>
          <p:nvPr/>
        </p:nvSpPr>
        <p:spPr bwMode="auto">
          <a:xfrm>
            <a:off x="3938588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7" name="Rectangle 35"/>
          <p:cNvSpPr>
            <a:spLocks noChangeArrowheads="1"/>
          </p:cNvSpPr>
          <p:nvPr/>
        </p:nvSpPr>
        <p:spPr bwMode="auto">
          <a:xfrm>
            <a:off x="4430713" y="2895600"/>
            <a:ext cx="493712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8" name="Rectangle 36"/>
          <p:cNvSpPr>
            <a:spLocks noChangeArrowheads="1"/>
          </p:cNvSpPr>
          <p:nvPr/>
        </p:nvSpPr>
        <p:spPr bwMode="auto">
          <a:xfrm>
            <a:off x="4924425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09" name="Rectangle 37"/>
          <p:cNvSpPr>
            <a:spLocks noChangeArrowheads="1"/>
          </p:cNvSpPr>
          <p:nvPr/>
        </p:nvSpPr>
        <p:spPr bwMode="auto">
          <a:xfrm>
            <a:off x="1970088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1600" b="1">
              <a:latin typeface="Courier New" charset="0"/>
            </a:endParaRPr>
          </a:p>
        </p:txBody>
      </p:sp>
      <p:sp>
        <p:nvSpPr>
          <p:cNvPr id="745510" name="Text Box 38"/>
          <p:cNvSpPr txBox="1">
            <a:spLocks noChangeArrowheads="1"/>
          </p:cNvSpPr>
          <p:nvPr/>
        </p:nvSpPr>
        <p:spPr bwMode="auto">
          <a:xfrm>
            <a:off x="211138" y="2743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400" b="1" i="1"/>
              <a:t>rank</a:t>
            </a:r>
          </a:p>
        </p:txBody>
      </p:sp>
      <p:sp>
        <p:nvSpPr>
          <p:cNvPr id="745511" name="Text Box 39"/>
          <p:cNvSpPr txBox="1">
            <a:spLocks noChangeArrowheads="1"/>
          </p:cNvSpPr>
          <p:nvPr/>
        </p:nvSpPr>
        <p:spPr bwMode="auto">
          <a:xfrm>
            <a:off x="0" y="3048000"/>
            <a:ext cx="1125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400" b="1" i="1"/>
              <a:t>indice</a:t>
            </a:r>
          </a:p>
        </p:txBody>
      </p:sp>
      <p:sp>
        <p:nvSpPr>
          <p:cNvPr id="745512" name="Text Box 40"/>
          <p:cNvSpPr txBox="1">
            <a:spLocks noChangeArrowheads="1"/>
          </p:cNvSpPr>
          <p:nvPr/>
        </p:nvSpPr>
        <p:spPr bwMode="auto">
          <a:xfrm>
            <a:off x="0" y="3352800"/>
            <a:ext cx="1125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400" b="1" i="1"/>
              <a:t>parent</a:t>
            </a:r>
          </a:p>
        </p:txBody>
      </p:sp>
      <p:sp>
        <p:nvSpPr>
          <p:cNvPr id="745513" name="Rectangle 41"/>
          <p:cNvSpPr>
            <a:spLocks noChangeArrowheads="1"/>
          </p:cNvSpPr>
          <p:nvPr/>
        </p:nvSpPr>
        <p:spPr bwMode="auto">
          <a:xfrm>
            <a:off x="984250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1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14" name="Rectangle 42"/>
          <p:cNvSpPr>
            <a:spLocks noChangeArrowheads="1"/>
          </p:cNvSpPr>
          <p:nvPr/>
        </p:nvSpPr>
        <p:spPr bwMode="auto">
          <a:xfrm>
            <a:off x="1476375" y="2590800"/>
            <a:ext cx="493713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2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15" name="Rectangle 43"/>
          <p:cNvSpPr>
            <a:spLocks noChangeArrowheads="1"/>
          </p:cNvSpPr>
          <p:nvPr/>
        </p:nvSpPr>
        <p:spPr bwMode="auto">
          <a:xfrm>
            <a:off x="1970088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3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16" name="Rectangle 44"/>
          <p:cNvSpPr>
            <a:spLocks noChangeArrowheads="1"/>
          </p:cNvSpPr>
          <p:nvPr/>
        </p:nvSpPr>
        <p:spPr bwMode="auto">
          <a:xfrm>
            <a:off x="2462213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4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17" name="Rectangle 45"/>
          <p:cNvSpPr>
            <a:spLocks noChangeArrowheads="1"/>
          </p:cNvSpPr>
          <p:nvPr/>
        </p:nvSpPr>
        <p:spPr bwMode="auto">
          <a:xfrm>
            <a:off x="2954338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5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18" name="Rectangle 46"/>
          <p:cNvSpPr>
            <a:spLocks noChangeArrowheads="1"/>
          </p:cNvSpPr>
          <p:nvPr/>
        </p:nvSpPr>
        <p:spPr bwMode="auto">
          <a:xfrm>
            <a:off x="3446463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6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19" name="Rectangle 47"/>
          <p:cNvSpPr>
            <a:spLocks noChangeArrowheads="1"/>
          </p:cNvSpPr>
          <p:nvPr/>
        </p:nvSpPr>
        <p:spPr bwMode="auto">
          <a:xfrm>
            <a:off x="3938588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7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0" name="Rectangle 48"/>
          <p:cNvSpPr>
            <a:spLocks noChangeArrowheads="1"/>
          </p:cNvSpPr>
          <p:nvPr/>
        </p:nvSpPr>
        <p:spPr bwMode="auto">
          <a:xfrm>
            <a:off x="4430713" y="2590800"/>
            <a:ext cx="493712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8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1" name="Rectangle 49"/>
          <p:cNvSpPr>
            <a:spLocks noChangeArrowheads="1"/>
          </p:cNvSpPr>
          <p:nvPr/>
        </p:nvSpPr>
        <p:spPr bwMode="auto">
          <a:xfrm>
            <a:off x="4924425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9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2" name="Rectangle 50"/>
          <p:cNvSpPr>
            <a:spLocks noChangeArrowheads="1"/>
          </p:cNvSpPr>
          <p:nvPr/>
        </p:nvSpPr>
        <p:spPr bwMode="auto">
          <a:xfrm>
            <a:off x="5416550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7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3" name="Rectangle 51"/>
          <p:cNvSpPr>
            <a:spLocks noChangeArrowheads="1"/>
          </p:cNvSpPr>
          <p:nvPr/>
        </p:nvSpPr>
        <p:spPr bwMode="auto">
          <a:xfrm>
            <a:off x="5908675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6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4" name="Rectangle 52"/>
          <p:cNvSpPr>
            <a:spLocks noChangeArrowheads="1"/>
          </p:cNvSpPr>
          <p:nvPr/>
        </p:nvSpPr>
        <p:spPr bwMode="auto">
          <a:xfrm>
            <a:off x="6400800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5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5" name="Rectangle 53"/>
          <p:cNvSpPr>
            <a:spLocks noChangeArrowheads="1"/>
          </p:cNvSpPr>
          <p:nvPr/>
        </p:nvSpPr>
        <p:spPr bwMode="auto">
          <a:xfrm>
            <a:off x="6892925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4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6" name="Rectangle 54"/>
          <p:cNvSpPr>
            <a:spLocks noChangeArrowheads="1"/>
          </p:cNvSpPr>
          <p:nvPr/>
        </p:nvSpPr>
        <p:spPr bwMode="auto">
          <a:xfrm>
            <a:off x="7385050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3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7" name="Rectangle 55"/>
          <p:cNvSpPr>
            <a:spLocks noChangeArrowheads="1"/>
          </p:cNvSpPr>
          <p:nvPr/>
        </p:nvSpPr>
        <p:spPr bwMode="auto">
          <a:xfrm>
            <a:off x="7877175" y="2590800"/>
            <a:ext cx="493713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2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8" name="Rectangle 56"/>
          <p:cNvSpPr>
            <a:spLocks noChangeArrowheads="1"/>
          </p:cNvSpPr>
          <p:nvPr/>
        </p:nvSpPr>
        <p:spPr bwMode="auto">
          <a:xfrm>
            <a:off x="8370888" y="25908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1</a:t>
            </a:r>
            <a:endParaRPr lang="en-GB" sz="2000" b="1">
              <a:latin typeface="Courier New" charset="0"/>
            </a:endParaRPr>
          </a:p>
        </p:txBody>
      </p:sp>
      <p:sp>
        <p:nvSpPr>
          <p:cNvPr id="745529" name="Rectangle 57"/>
          <p:cNvSpPr>
            <a:spLocks noChangeArrowheads="1"/>
          </p:cNvSpPr>
          <p:nvPr/>
        </p:nvSpPr>
        <p:spPr bwMode="auto">
          <a:xfrm>
            <a:off x="5416550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7</a:t>
            </a:r>
            <a:endParaRPr lang="en-GB" sz="1400" b="1">
              <a:latin typeface="Courier New" charset="0"/>
            </a:endParaRPr>
          </a:p>
        </p:txBody>
      </p:sp>
      <p:sp>
        <p:nvSpPr>
          <p:cNvPr id="745530" name="Rectangle 58"/>
          <p:cNvSpPr>
            <a:spLocks noChangeArrowheads="1"/>
          </p:cNvSpPr>
          <p:nvPr/>
        </p:nvSpPr>
        <p:spPr bwMode="auto">
          <a:xfrm>
            <a:off x="5908675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6</a:t>
            </a:r>
            <a:endParaRPr lang="en-GB" sz="1400" b="1">
              <a:latin typeface="Courier New" charset="0"/>
            </a:endParaRPr>
          </a:p>
        </p:txBody>
      </p:sp>
      <p:sp>
        <p:nvSpPr>
          <p:cNvPr id="745531" name="Rectangle 59"/>
          <p:cNvSpPr>
            <a:spLocks noChangeArrowheads="1"/>
          </p:cNvSpPr>
          <p:nvPr/>
        </p:nvSpPr>
        <p:spPr bwMode="auto">
          <a:xfrm>
            <a:off x="6400800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5</a:t>
            </a:r>
            <a:endParaRPr lang="en-GB" sz="1400" b="1">
              <a:latin typeface="Courier New" charset="0"/>
            </a:endParaRPr>
          </a:p>
        </p:txBody>
      </p:sp>
      <p:sp>
        <p:nvSpPr>
          <p:cNvPr id="745532" name="Rectangle 60"/>
          <p:cNvSpPr>
            <a:spLocks noChangeArrowheads="1"/>
          </p:cNvSpPr>
          <p:nvPr/>
        </p:nvSpPr>
        <p:spPr bwMode="auto">
          <a:xfrm>
            <a:off x="6892925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4</a:t>
            </a:r>
            <a:endParaRPr lang="en-GB" sz="1400" b="1">
              <a:latin typeface="Courier New" charset="0"/>
            </a:endParaRPr>
          </a:p>
        </p:txBody>
      </p:sp>
      <p:sp>
        <p:nvSpPr>
          <p:cNvPr id="745533" name="Rectangle 61"/>
          <p:cNvSpPr>
            <a:spLocks noChangeArrowheads="1"/>
          </p:cNvSpPr>
          <p:nvPr/>
        </p:nvSpPr>
        <p:spPr bwMode="auto">
          <a:xfrm>
            <a:off x="7385050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3</a:t>
            </a:r>
            <a:endParaRPr lang="en-GB" sz="1400" b="1">
              <a:latin typeface="Courier New" charset="0"/>
            </a:endParaRPr>
          </a:p>
        </p:txBody>
      </p:sp>
      <p:sp>
        <p:nvSpPr>
          <p:cNvPr id="745534" name="Rectangle 62"/>
          <p:cNvSpPr>
            <a:spLocks noChangeArrowheads="1"/>
          </p:cNvSpPr>
          <p:nvPr/>
        </p:nvSpPr>
        <p:spPr bwMode="auto">
          <a:xfrm>
            <a:off x="7877175" y="3124200"/>
            <a:ext cx="493713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2</a:t>
            </a:r>
            <a:endParaRPr lang="en-GB" sz="1400" b="1">
              <a:latin typeface="Courier New" charset="0"/>
            </a:endParaRPr>
          </a:p>
        </p:txBody>
      </p:sp>
      <p:sp>
        <p:nvSpPr>
          <p:cNvPr id="745535" name="Rectangle 63"/>
          <p:cNvSpPr>
            <a:spLocks noChangeArrowheads="1"/>
          </p:cNvSpPr>
          <p:nvPr/>
        </p:nvSpPr>
        <p:spPr bwMode="auto">
          <a:xfrm>
            <a:off x="8370888" y="31242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1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5536" name="Group 64"/>
          <p:cNvGrpSpPr>
            <a:grpSpLocks/>
          </p:cNvGrpSpPr>
          <p:nvPr/>
        </p:nvGrpSpPr>
        <p:grpSpPr bwMode="auto">
          <a:xfrm>
            <a:off x="6119813" y="3657600"/>
            <a:ext cx="139700" cy="228600"/>
            <a:chOff x="5088" y="2832"/>
            <a:chExt cx="96" cy="144"/>
          </a:xfrm>
        </p:grpSpPr>
        <p:sp>
          <p:nvSpPr>
            <p:cNvPr id="745537" name="Line 65"/>
            <p:cNvSpPr>
              <a:spLocks noChangeShapeType="1"/>
            </p:cNvSpPr>
            <p:nvPr/>
          </p:nvSpPr>
          <p:spPr bwMode="auto">
            <a:xfrm flipV="1">
              <a:off x="5088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38" name="Line 66"/>
            <p:cNvSpPr>
              <a:spLocks noChangeShapeType="1"/>
            </p:cNvSpPr>
            <p:nvPr/>
          </p:nvSpPr>
          <p:spPr bwMode="auto">
            <a:xfrm>
              <a:off x="518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39" name="Line 67"/>
            <p:cNvSpPr>
              <a:spLocks noChangeShapeType="1"/>
            </p:cNvSpPr>
            <p:nvPr/>
          </p:nvSpPr>
          <p:spPr bwMode="auto">
            <a:xfrm flipH="1">
              <a:off x="5088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40" name="Group 68"/>
          <p:cNvGrpSpPr>
            <a:grpSpLocks/>
          </p:cNvGrpSpPr>
          <p:nvPr/>
        </p:nvGrpSpPr>
        <p:grpSpPr bwMode="auto">
          <a:xfrm>
            <a:off x="6611938" y="3657600"/>
            <a:ext cx="141287" cy="228600"/>
            <a:chOff x="5088" y="2832"/>
            <a:chExt cx="96" cy="144"/>
          </a:xfrm>
        </p:grpSpPr>
        <p:sp>
          <p:nvSpPr>
            <p:cNvPr id="745541" name="Line 69"/>
            <p:cNvSpPr>
              <a:spLocks noChangeShapeType="1"/>
            </p:cNvSpPr>
            <p:nvPr/>
          </p:nvSpPr>
          <p:spPr bwMode="auto">
            <a:xfrm flipV="1">
              <a:off x="5088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42" name="Line 70"/>
            <p:cNvSpPr>
              <a:spLocks noChangeShapeType="1"/>
            </p:cNvSpPr>
            <p:nvPr/>
          </p:nvSpPr>
          <p:spPr bwMode="auto">
            <a:xfrm>
              <a:off x="518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43" name="Line 71"/>
            <p:cNvSpPr>
              <a:spLocks noChangeShapeType="1"/>
            </p:cNvSpPr>
            <p:nvPr/>
          </p:nvSpPr>
          <p:spPr bwMode="auto">
            <a:xfrm flipH="1">
              <a:off x="5088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44" name="Group 72"/>
          <p:cNvGrpSpPr>
            <a:grpSpLocks/>
          </p:cNvGrpSpPr>
          <p:nvPr/>
        </p:nvGrpSpPr>
        <p:grpSpPr bwMode="auto">
          <a:xfrm>
            <a:off x="7104063" y="3657600"/>
            <a:ext cx="141287" cy="228600"/>
            <a:chOff x="5088" y="2832"/>
            <a:chExt cx="96" cy="144"/>
          </a:xfrm>
        </p:grpSpPr>
        <p:sp>
          <p:nvSpPr>
            <p:cNvPr id="745545" name="Line 73"/>
            <p:cNvSpPr>
              <a:spLocks noChangeShapeType="1"/>
            </p:cNvSpPr>
            <p:nvPr/>
          </p:nvSpPr>
          <p:spPr bwMode="auto">
            <a:xfrm flipV="1">
              <a:off x="5088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46" name="Line 74"/>
            <p:cNvSpPr>
              <a:spLocks noChangeShapeType="1"/>
            </p:cNvSpPr>
            <p:nvPr/>
          </p:nvSpPr>
          <p:spPr bwMode="auto">
            <a:xfrm>
              <a:off x="518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47" name="Line 75"/>
            <p:cNvSpPr>
              <a:spLocks noChangeShapeType="1"/>
            </p:cNvSpPr>
            <p:nvPr/>
          </p:nvSpPr>
          <p:spPr bwMode="auto">
            <a:xfrm flipH="1">
              <a:off x="5088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48" name="Group 76"/>
          <p:cNvGrpSpPr>
            <a:grpSpLocks/>
          </p:cNvGrpSpPr>
          <p:nvPr/>
        </p:nvGrpSpPr>
        <p:grpSpPr bwMode="auto">
          <a:xfrm>
            <a:off x="7596188" y="3657600"/>
            <a:ext cx="141287" cy="228600"/>
            <a:chOff x="5088" y="2832"/>
            <a:chExt cx="96" cy="144"/>
          </a:xfrm>
        </p:grpSpPr>
        <p:sp>
          <p:nvSpPr>
            <p:cNvPr id="745549" name="Line 77"/>
            <p:cNvSpPr>
              <a:spLocks noChangeShapeType="1"/>
            </p:cNvSpPr>
            <p:nvPr/>
          </p:nvSpPr>
          <p:spPr bwMode="auto">
            <a:xfrm flipV="1">
              <a:off x="5088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50" name="Line 78"/>
            <p:cNvSpPr>
              <a:spLocks noChangeShapeType="1"/>
            </p:cNvSpPr>
            <p:nvPr/>
          </p:nvSpPr>
          <p:spPr bwMode="auto">
            <a:xfrm>
              <a:off x="518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51" name="Line 79"/>
            <p:cNvSpPr>
              <a:spLocks noChangeShapeType="1"/>
            </p:cNvSpPr>
            <p:nvPr/>
          </p:nvSpPr>
          <p:spPr bwMode="auto">
            <a:xfrm flipH="1">
              <a:off x="5088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52" name="Group 80"/>
          <p:cNvGrpSpPr>
            <a:grpSpLocks/>
          </p:cNvGrpSpPr>
          <p:nvPr/>
        </p:nvGrpSpPr>
        <p:grpSpPr bwMode="auto">
          <a:xfrm>
            <a:off x="8088313" y="3657600"/>
            <a:ext cx="141287" cy="228600"/>
            <a:chOff x="5088" y="2832"/>
            <a:chExt cx="96" cy="144"/>
          </a:xfrm>
        </p:grpSpPr>
        <p:sp>
          <p:nvSpPr>
            <p:cNvPr id="745553" name="Line 81"/>
            <p:cNvSpPr>
              <a:spLocks noChangeShapeType="1"/>
            </p:cNvSpPr>
            <p:nvPr/>
          </p:nvSpPr>
          <p:spPr bwMode="auto">
            <a:xfrm flipV="1">
              <a:off x="5088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54" name="Line 82"/>
            <p:cNvSpPr>
              <a:spLocks noChangeShapeType="1"/>
            </p:cNvSpPr>
            <p:nvPr/>
          </p:nvSpPr>
          <p:spPr bwMode="auto">
            <a:xfrm>
              <a:off x="518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55" name="Line 83"/>
            <p:cNvSpPr>
              <a:spLocks noChangeShapeType="1"/>
            </p:cNvSpPr>
            <p:nvPr/>
          </p:nvSpPr>
          <p:spPr bwMode="auto">
            <a:xfrm flipH="1">
              <a:off x="5088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56" name="Group 84"/>
          <p:cNvGrpSpPr>
            <a:grpSpLocks/>
          </p:cNvGrpSpPr>
          <p:nvPr/>
        </p:nvGrpSpPr>
        <p:grpSpPr bwMode="auto">
          <a:xfrm>
            <a:off x="8582025" y="3657600"/>
            <a:ext cx="139700" cy="228600"/>
            <a:chOff x="5088" y="2832"/>
            <a:chExt cx="96" cy="144"/>
          </a:xfrm>
        </p:grpSpPr>
        <p:sp>
          <p:nvSpPr>
            <p:cNvPr id="745557" name="Line 85"/>
            <p:cNvSpPr>
              <a:spLocks noChangeShapeType="1"/>
            </p:cNvSpPr>
            <p:nvPr/>
          </p:nvSpPr>
          <p:spPr bwMode="auto">
            <a:xfrm flipV="1">
              <a:off x="5088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58" name="Line 86"/>
            <p:cNvSpPr>
              <a:spLocks noChangeShapeType="1"/>
            </p:cNvSpPr>
            <p:nvPr/>
          </p:nvSpPr>
          <p:spPr bwMode="auto">
            <a:xfrm>
              <a:off x="518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59" name="Line 87"/>
            <p:cNvSpPr>
              <a:spLocks noChangeShapeType="1"/>
            </p:cNvSpPr>
            <p:nvPr/>
          </p:nvSpPr>
          <p:spPr bwMode="auto">
            <a:xfrm flipH="1">
              <a:off x="5088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60" name="Group 88"/>
          <p:cNvGrpSpPr>
            <a:grpSpLocks/>
          </p:cNvGrpSpPr>
          <p:nvPr/>
        </p:nvGrpSpPr>
        <p:grpSpPr bwMode="auto">
          <a:xfrm>
            <a:off x="5627688" y="3657600"/>
            <a:ext cx="139700" cy="228600"/>
            <a:chOff x="5088" y="2832"/>
            <a:chExt cx="96" cy="144"/>
          </a:xfrm>
        </p:grpSpPr>
        <p:sp>
          <p:nvSpPr>
            <p:cNvPr id="745561" name="Line 89"/>
            <p:cNvSpPr>
              <a:spLocks noChangeShapeType="1"/>
            </p:cNvSpPr>
            <p:nvPr/>
          </p:nvSpPr>
          <p:spPr bwMode="auto">
            <a:xfrm flipV="1">
              <a:off x="5088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62" name="Line 90"/>
            <p:cNvSpPr>
              <a:spLocks noChangeShapeType="1"/>
            </p:cNvSpPr>
            <p:nvPr/>
          </p:nvSpPr>
          <p:spPr bwMode="auto">
            <a:xfrm>
              <a:off x="518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63" name="Line 91"/>
            <p:cNvSpPr>
              <a:spLocks noChangeShapeType="1"/>
            </p:cNvSpPr>
            <p:nvPr/>
          </p:nvSpPr>
          <p:spPr bwMode="auto">
            <a:xfrm flipH="1">
              <a:off x="5088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5564" name="Rectangle 92"/>
          <p:cNvSpPr>
            <a:spLocks noChangeArrowheads="1"/>
          </p:cNvSpPr>
          <p:nvPr/>
        </p:nvSpPr>
        <p:spPr bwMode="auto">
          <a:xfrm>
            <a:off x="8370888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600" b="1">
                <a:latin typeface="Courier New" charset="0"/>
              </a:rPr>
              <a:t>0</a:t>
            </a:r>
            <a:endParaRPr lang="en-GB" sz="1600" b="1">
              <a:latin typeface="Courier New" charset="0"/>
            </a:endParaRPr>
          </a:p>
        </p:txBody>
      </p:sp>
      <p:sp>
        <p:nvSpPr>
          <p:cNvPr id="745565" name="Rectangle 93"/>
          <p:cNvSpPr>
            <a:spLocks noChangeArrowheads="1"/>
          </p:cNvSpPr>
          <p:nvPr/>
        </p:nvSpPr>
        <p:spPr bwMode="auto">
          <a:xfrm>
            <a:off x="7877175" y="2895600"/>
            <a:ext cx="493713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600" b="1">
                <a:latin typeface="Courier New" charset="0"/>
              </a:rPr>
              <a:t>0</a:t>
            </a:r>
            <a:endParaRPr lang="en-GB" sz="1600" b="1">
              <a:latin typeface="Courier New" charset="0"/>
            </a:endParaRPr>
          </a:p>
        </p:txBody>
      </p:sp>
      <p:sp>
        <p:nvSpPr>
          <p:cNvPr id="745566" name="Rectangle 94"/>
          <p:cNvSpPr>
            <a:spLocks noChangeArrowheads="1"/>
          </p:cNvSpPr>
          <p:nvPr/>
        </p:nvSpPr>
        <p:spPr bwMode="auto">
          <a:xfrm>
            <a:off x="7385050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600" b="1">
                <a:latin typeface="Courier New" charset="0"/>
              </a:rPr>
              <a:t>0</a:t>
            </a:r>
            <a:endParaRPr lang="en-GB" sz="1600" b="1">
              <a:latin typeface="Courier New" charset="0"/>
            </a:endParaRPr>
          </a:p>
        </p:txBody>
      </p:sp>
      <p:sp>
        <p:nvSpPr>
          <p:cNvPr id="745567" name="Rectangle 95"/>
          <p:cNvSpPr>
            <a:spLocks noChangeArrowheads="1"/>
          </p:cNvSpPr>
          <p:nvPr/>
        </p:nvSpPr>
        <p:spPr bwMode="auto">
          <a:xfrm>
            <a:off x="6892925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600" b="1">
                <a:latin typeface="Courier New" charset="0"/>
              </a:rPr>
              <a:t>0</a:t>
            </a:r>
            <a:endParaRPr lang="en-GB" sz="1600" b="1">
              <a:latin typeface="Courier New" charset="0"/>
            </a:endParaRPr>
          </a:p>
        </p:txBody>
      </p:sp>
      <p:sp>
        <p:nvSpPr>
          <p:cNvPr id="745568" name="Rectangle 96"/>
          <p:cNvSpPr>
            <a:spLocks noChangeArrowheads="1"/>
          </p:cNvSpPr>
          <p:nvPr/>
        </p:nvSpPr>
        <p:spPr bwMode="auto">
          <a:xfrm>
            <a:off x="6400800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600" b="1">
                <a:latin typeface="Courier New" charset="0"/>
              </a:rPr>
              <a:t>0</a:t>
            </a:r>
            <a:endParaRPr lang="en-GB" sz="1600" b="1">
              <a:latin typeface="Courier New" charset="0"/>
            </a:endParaRPr>
          </a:p>
        </p:txBody>
      </p:sp>
      <p:sp>
        <p:nvSpPr>
          <p:cNvPr id="745569" name="Rectangle 97"/>
          <p:cNvSpPr>
            <a:spLocks noChangeArrowheads="1"/>
          </p:cNvSpPr>
          <p:nvPr/>
        </p:nvSpPr>
        <p:spPr bwMode="auto">
          <a:xfrm>
            <a:off x="5908675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600" b="1">
                <a:latin typeface="Courier New" charset="0"/>
              </a:rPr>
              <a:t>0</a:t>
            </a:r>
            <a:endParaRPr lang="en-GB" sz="1600" b="1">
              <a:latin typeface="Courier New" charset="0"/>
            </a:endParaRPr>
          </a:p>
        </p:txBody>
      </p:sp>
      <p:sp>
        <p:nvSpPr>
          <p:cNvPr id="745570" name="Rectangle 98"/>
          <p:cNvSpPr>
            <a:spLocks noChangeArrowheads="1"/>
          </p:cNvSpPr>
          <p:nvPr/>
        </p:nvSpPr>
        <p:spPr bwMode="auto">
          <a:xfrm>
            <a:off x="5416550" y="2895600"/>
            <a:ext cx="492125" cy="2286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600" b="1">
                <a:latin typeface="Courier New" charset="0"/>
              </a:rPr>
              <a:t>0</a:t>
            </a:r>
            <a:endParaRPr lang="en-GB" sz="1600" b="1">
              <a:latin typeface="Courier New" charset="0"/>
            </a:endParaRPr>
          </a:p>
        </p:txBody>
      </p:sp>
      <p:grpSp>
        <p:nvGrpSpPr>
          <p:cNvPr id="745571" name="Group 99"/>
          <p:cNvGrpSpPr>
            <a:grpSpLocks/>
          </p:cNvGrpSpPr>
          <p:nvPr/>
        </p:nvGrpSpPr>
        <p:grpSpPr bwMode="auto">
          <a:xfrm>
            <a:off x="2462213" y="2895600"/>
            <a:ext cx="492125" cy="990600"/>
            <a:chOff x="576" y="2832"/>
            <a:chExt cx="336" cy="624"/>
          </a:xfrm>
        </p:grpSpPr>
        <p:sp>
          <p:nvSpPr>
            <p:cNvPr id="745572" name="Line 100"/>
            <p:cNvSpPr>
              <a:spLocks noChangeShapeType="1"/>
            </p:cNvSpPr>
            <p:nvPr/>
          </p:nvSpPr>
          <p:spPr bwMode="auto">
            <a:xfrm flipV="1">
              <a:off x="720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73" name="Line 101"/>
            <p:cNvSpPr>
              <a:spLocks noChangeShapeType="1"/>
            </p:cNvSpPr>
            <p:nvPr/>
          </p:nvSpPr>
          <p:spPr bwMode="auto">
            <a:xfrm>
              <a:off x="816" y="3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74" name="Line 102"/>
            <p:cNvSpPr>
              <a:spLocks noChangeShapeType="1"/>
            </p:cNvSpPr>
            <p:nvPr/>
          </p:nvSpPr>
          <p:spPr bwMode="auto">
            <a:xfrm flipH="1">
              <a:off x="720" y="34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75" name="Rectangle 103"/>
            <p:cNvSpPr>
              <a:spLocks noChangeArrowheads="1"/>
            </p:cNvSpPr>
            <p:nvPr/>
          </p:nvSpPr>
          <p:spPr bwMode="auto">
            <a:xfrm>
              <a:off x="576" y="283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5576" name="Rectangle 104"/>
            <p:cNvSpPr>
              <a:spLocks noChangeArrowheads="1"/>
            </p:cNvSpPr>
            <p:nvPr/>
          </p:nvSpPr>
          <p:spPr bwMode="auto">
            <a:xfrm>
              <a:off x="576" y="297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1</a:t>
              </a:r>
              <a:endParaRPr lang="en-GB" sz="1400" b="1">
                <a:latin typeface="Courier New" charset="0"/>
              </a:endParaRPr>
            </a:p>
          </p:txBody>
        </p:sp>
      </p:grpSp>
      <p:grpSp>
        <p:nvGrpSpPr>
          <p:cNvPr id="745577" name="Group 105"/>
          <p:cNvGrpSpPr>
            <a:grpSpLocks/>
          </p:cNvGrpSpPr>
          <p:nvPr/>
        </p:nvGrpSpPr>
        <p:grpSpPr bwMode="auto">
          <a:xfrm>
            <a:off x="4430713" y="2895600"/>
            <a:ext cx="493712" cy="990600"/>
            <a:chOff x="3024" y="1824"/>
            <a:chExt cx="336" cy="624"/>
          </a:xfrm>
        </p:grpSpPr>
        <p:sp>
          <p:nvSpPr>
            <p:cNvPr id="745578" name="Rectangle 106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1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579" name="Rectangle 107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580" name="Group 108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581" name="Line 109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582" name="Line 110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583" name="Line 111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584" name="Group 112"/>
          <p:cNvGrpSpPr>
            <a:grpSpLocks/>
          </p:cNvGrpSpPr>
          <p:nvPr/>
        </p:nvGrpSpPr>
        <p:grpSpPr bwMode="auto">
          <a:xfrm>
            <a:off x="2462213" y="2895600"/>
            <a:ext cx="6259512" cy="1066800"/>
            <a:chOff x="288" y="1296"/>
            <a:chExt cx="4272" cy="672"/>
          </a:xfrm>
        </p:grpSpPr>
        <p:sp>
          <p:nvSpPr>
            <p:cNvPr id="745585" name="Rectangle 113"/>
            <p:cNvSpPr>
              <a:spLocks noChangeArrowheads="1"/>
            </p:cNvSpPr>
            <p:nvPr/>
          </p:nvSpPr>
          <p:spPr bwMode="auto">
            <a:xfrm>
              <a:off x="288" y="129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5586" name="Line 114"/>
            <p:cNvSpPr>
              <a:spLocks noChangeShapeType="1"/>
            </p:cNvSpPr>
            <p:nvPr/>
          </p:nvSpPr>
          <p:spPr bwMode="auto">
            <a:xfrm flipV="1">
              <a:off x="4464" y="1824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87" name="Line 115"/>
            <p:cNvSpPr>
              <a:spLocks noChangeShapeType="1"/>
            </p:cNvSpPr>
            <p:nvPr/>
          </p:nvSpPr>
          <p:spPr bwMode="auto">
            <a:xfrm>
              <a:off x="4560" y="1776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88" name="Line 116"/>
            <p:cNvSpPr>
              <a:spLocks noChangeShapeType="1"/>
            </p:cNvSpPr>
            <p:nvPr/>
          </p:nvSpPr>
          <p:spPr bwMode="auto">
            <a:xfrm flipH="1">
              <a:off x="4464" y="1920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89" name="Line 117"/>
            <p:cNvSpPr>
              <a:spLocks noChangeShapeType="1"/>
            </p:cNvSpPr>
            <p:nvPr/>
          </p:nvSpPr>
          <p:spPr bwMode="auto">
            <a:xfrm>
              <a:off x="432" y="1968"/>
              <a:ext cx="4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90" name="Line 118"/>
            <p:cNvSpPr>
              <a:spLocks noChangeShapeType="1"/>
            </p:cNvSpPr>
            <p:nvPr/>
          </p:nvSpPr>
          <p:spPr bwMode="auto">
            <a:xfrm flipV="1">
              <a:off x="432" y="18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91" name="Line 119"/>
            <p:cNvSpPr>
              <a:spLocks noChangeShapeType="1"/>
            </p:cNvSpPr>
            <p:nvPr/>
          </p:nvSpPr>
          <p:spPr bwMode="auto">
            <a:xfrm>
              <a:off x="4560" y="17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92" name="Group 120"/>
          <p:cNvGrpSpPr>
            <a:grpSpLocks/>
          </p:cNvGrpSpPr>
          <p:nvPr/>
        </p:nvGrpSpPr>
        <p:grpSpPr bwMode="auto">
          <a:xfrm>
            <a:off x="2673350" y="3657600"/>
            <a:ext cx="2109788" cy="381000"/>
            <a:chOff x="1824" y="2304"/>
            <a:chExt cx="1440" cy="240"/>
          </a:xfrm>
        </p:grpSpPr>
        <p:sp>
          <p:nvSpPr>
            <p:cNvPr id="745593" name="Line 121"/>
            <p:cNvSpPr>
              <a:spLocks noChangeShapeType="1"/>
            </p:cNvSpPr>
            <p:nvPr/>
          </p:nvSpPr>
          <p:spPr bwMode="auto">
            <a:xfrm flipV="1">
              <a:off x="3168" y="23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94" name="Line 122"/>
            <p:cNvSpPr>
              <a:spLocks noChangeShapeType="1"/>
            </p:cNvSpPr>
            <p:nvPr/>
          </p:nvSpPr>
          <p:spPr bwMode="auto">
            <a:xfrm>
              <a:off x="3264" y="2304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95" name="Line 123"/>
            <p:cNvSpPr>
              <a:spLocks noChangeShapeType="1"/>
            </p:cNvSpPr>
            <p:nvPr/>
          </p:nvSpPr>
          <p:spPr bwMode="auto">
            <a:xfrm flipH="1">
              <a:off x="3168" y="2448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96" name="Line 124"/>
            <p:cNvSpPr>
              <a:spLocks noChangeShapeType="1"/>
            </p:cNvSpPr>
            <p:nvPr/>
          </p:nvSpPr>
          <p:spPr bwMode="auto">
            <a:xfrm>
              <a:off x="3264" y="23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97" name="Line 125"/>
            <p:cNvSpPr>
              <a:spLocks noChangeShapeType="1"/>
            </p:cNvSpPr>
            <p:nvPr/>
          </p:nvSpPr>
          <p:spPr bwMode="auto">
            <a:xfrm>
              <a:off x="1824" y="2544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598" name="Line 126"/>
            <p:cNvSpPr>
              <a:spLocks noChangeShapeType="1"/>
            </p:cNvSpPr>
            <p:nvPr/>
          </p:nvSpPr>
          <p:spPr bwMode="auto">
            <a:xfrm flipV="1">
              <a:off x="1824" y="23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99" name="Group 127"/>
          <p:cNvGrpSpPr>
            <a:grpSpLocks/>
          </p:cNvGrpSpPr>
          <p:nvPr/>
        </p:nvGrpSpPr>
        <p:grpSpPr bwMode="auto">
          <a:xfrm>
            <a:off x="1970088" y="2895600"/>
            <a:ext cx="492125" cy="990600"/>
            <a:chOff x="3024" y="1824"/>
            <a:chExt cx="336" cy="624"/>
          </a:xfrm>
        </p:grpSpPr>
        <p:sp>
          <p:nvSpPr>
            <p:cNvPr id="745600" name="Rectangle 128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2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601" name="Rectangle 129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602" name="Group 130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603" name="Line 131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04" name="Line 132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05" name="Line 133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606" name="Group 134"/>
          <p:cNvGrpSpPr>
            <a:grpSpLocks/>
          </p:cNvGrpSpPr>
          <p:nvPr/>
        </p:nvGrpSpPr>
        <p:grpSpPr bwMode="auto">
          <a:xfrm>
            <a:off x="2181225" y="2895600"/>
            <a:ext cx="6189663" cy="1219200"/>
            <a:chOff x="1872" y="0"/>
            <a:chExt cx="4224" cy="768"/>
          </a:xfrm>
        </p:grpSpPr>
        <p:sp>
          <p:nvSpPr>
            <p:cNvPr id="745607" name="Line 135"/>
            <p:cNvSpPr>
              <a:spLocks noChangeShapeType="1"/>
            </p:cNvSpPr>
            <p:nvPr/>
          </p:nvSpPr>
          <p:spPr bwMode="auto">
            <a:xfrm flipV="1">
              <a:off x="1872" y="528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08" name="Line 136"/>
            <p:cNvSpPr>
              <a:spLocks noChangeShapeType="1"/>
            </p:cNvSpPr>
            <p:nvPr/>
          </p:nvSpPr>
          <p:spPr bwMode="auto">
            <a:xfrm>
              <a:off x="1968" y="48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09" name="Line 137"/>
            <p:cNvSpPr>
              <a:spLocks noChangeShapeType="1"/>
            </p:cNvSpPr>
            <p:nvPr/>
          </p:nvSpPr>
          <p:spPr bwMode="auto">
            <a:xfrm flipH="1">
              <a:off x="1872" y="624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10" name="Rectangle 138"/>
            <p:cNvSpPr>
              <a:spLocks noChangeArrowheads="1"/>
            </p:cNvSpPr>
            <p:nvPr/>
          </p:nvSpPr>
          <p:spPr bwMode="auto">
            <a:xfrm>
              <a:off x="5760" y="0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5611" name="Line 139"/>
            <p:cNvSpPr>
              <a:spLocks noChangeShapeType="1"/>
            </p:cNvSpPr>
            <p:nvPr/>
          </p:nvSpPr>
          <p:spPr bwMode="auto">
            <a:xfrm>
              <a:off x="1968" y="4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12" name="Line 140"/>
            <p:cNvSpPr>
              <a:spLocks noChangeShapeType="1"/>
            </p:cNvSpPr>
            <p:nvPr/>
          </p:nvSpPr>
          <p:spPr bwMode="auto">
            <a:xfrm>
              <a:off x="1968" y="768"/>
              <a:ext cx="39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13" name="Line 141"/>
            <p:cNvSpPr>
              <a:spLocks noChangeShapeType="1"/>
            </p:cNvSpPr>
            <p:nvPr/>
          </p:nvSpPr>
          <p:spPr bwMode="auto">
            <a:xfrm flipV="1">
              <a:off x="5904" y="5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614" name="Group 142"/>
          <p:cNvGrpSpPr>
            <a:grpSpLocks/>
          </p:cNvGrpSpPr>
          <p:nvPr/>
        </p:nvGrpSpPr>
        <p:grpSpPr bwMode="auto">
          <a:xfrm>
            <a:off x="4924425" y="2895600"/>
            <a:ext cx="492125" cy="990600"/>
            <a:chOff x="3024" y="1824"/>
            <a:chExt cx="336" cy="624"/>
          </a:xfrm>
        </p:grpSpPr>
        <p:sp>
          <p:nvSpPr>
            <p:cNvPr id="745615" name="Rectangle 143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3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616" name="Rectangle 144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617" name="Group 145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618" name="Line 146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19" name="Line 147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20" name="Line 148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621" name="Group 149"/>
          <p:cNvGrpSpPr>
            <a:grpSpLocks/>
          </p:cNvGrpSpPr>
          <p:nvPr/>
        </p:nvGrpSpPr>
        <p:grpSpPr bwMode="auto">
          <a:xfrm>
            <a:off x="2954338" y="2895600"/>
            <a:ext cx="492125" cy="990600"/>
            <a:chOff x="3024" y="1824"/>
            <a:chExt cx="336" cy="624"/>
          </a:xfrm>
        </p:grpSpPr>
        <p:sp>
          <p:nvSpPr>
            <p:cNvPr id="745622" name="Rectangle 150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7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623" name="Rectangle 151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624" name="Group 152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625" name="Line 153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26" name="Line 154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27" name="Line 155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628" name="Group 156"/>
          <p:cNvGrpSpPr>
            <a:grpSpLocks/>
          </p:cNvGrpSpPr>
          <p:nvPr/>
        </p:nvGrpSpPr>
        <p:grpSpPr bwMode="auto">
          <a:xfrm>
            <a:off x="4924425" y="2895600"/>
            <a:ext cx="2813050" cy="1295400"/>
            <a:chOff x="3360" y="1824"/>
            <a:chExt cx="1920" cy="816"/>
          </a:xfrm>
        </p:grpSpPr>
        <p:sp>
          <p:nvSpPr>
            <p:cNvPr id="745629" name="Line 157"/>
            <p:cNvSpPr>
              <a:spLocks noChangeShapeType="1"/>
            </p:cNvSpPr>
            <p:nvPr/>
          </p:nvSpPr>
          <p:spPr bwMode="auto">
            <a:xfrm flipV="1">
              <a:off x="5184" y="23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30" name="Line 158"/>
            <p:cNvSpPr>
              <a:spLocks noChangeShapeType="1"/>
            </p:cNvSpPr>
            <p:nvPr/>
          </p:nvSpPr>
          <p:spPr bwMode="auto">
            <a:xfrm>
              <a:off x="5280" y="2304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31" name="Line 159"/>
            <p:cNvSpPr>
              <a:spLocks noChangeShapeType="1"/>
            </p:cNvSpPr>
            <p:nvPr/>
          </p:nvSpPr>
          <p:spPr bwMode="auto">
            <a:xfrm flipH="1">
              <a:off x="5184" y="2448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32" name="Line 160"/>
            <p:cNvSpPr>
              <a:spLocks noChangeShapeType="1"/>
            </p:cNvSpPr>
            <p:nvPr/>
          </p:nvSpPr>
          <p:spPr bwMode="auto">
            <a:xfrm>
              <a:off x="5280" y="23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33" name="Line 161"/>
            <p:cNvSpPr>
              <a:spLocks noChangeShapeType="1"/>
            </p:cNvSpPr>
            <p:nvPr/>
          </p:nvSpPr>
          <p:spPr bwMode="auto">
            <a:xfrm flipH="1">
              <a:off x="3504" y="264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34" name="Line 162"/>
            <p:cNvSpPr>
              <a:spLocks noChangeShapeType="1"/>
            </p:cNvSpPr>
            <p:nvPr/>
          </p:nvSpPr>
          <p:spPr bwMode="auto">
            <a:xfrm flipV="1">
              <a:off x="3504" y="23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35" name="Rectangle 163"/>
            <p:cNvSpPr>
              <a:spLocks noChangeArrowheads="1"/>
            </p:cNvSpPr>
            <p:nvPr/>
          </p:nvSpPr>
          <p:spPr bwMode="auto">
            <a:xfrm>
              <a:off x="3360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</p:grpSp>
      <p:grpSp>
        <p:nvGrpSpPr>
          <p:cNvPr id="745636" name="Group 164"/>
          <p:cNvGrpSpPr>
            <a:grpSpLocks/>
          </p:cNvGrpSpPr>
          <p:nvPr/>
        </p:nvGrpSpPr>
        <p:grpSpPr bwMode="auto">
          <a:xfrm>
            <a:off x="1476375" y="2895600"/>
            <a:ext cx="493713" cy="990600"/>
            <a:chOff x="3024" y="1824"/>
            <a:chExt cx="336" cy="624"/>
          </a:xfrm>
        </p:grpSpPr>
        <p:sp>
          <p:nvSpPr>
            <p:cNvPr id="745637" name="Rectangle 165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3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638" name="Rectangle 166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639" name="Group 167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640" name="Line 168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41" name="Line 169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42" name="Line 170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643" name="Group 171"/>
          <p:cNvGrpSpPr>
            <a:grpSpLocks/>
          </p:cNvGrpSpPr>
          <p:nvPr/>
        </p:nvGrpSpPr>
        <p:grpSpPr bwMode="auto">
          <a:xfrm>
            <a:off x="1687513" y="3657600"/>
            <a:ext cx="3446462" cy="609600"/>
            <a:chOff x="1152" y="2304"/>
            <a:chExt cx="2352" cy="384"/>
          </a:xfrm>
        </p:grpSpPr>
        <p:sp>
          <p:nvSpPr>
            <p:cNvPr id="745644" name="Line 172"/>
            <p:cNvSpPr>
              <a:spLocks noChangeShapeType="1"/>
            </p:cNvSpPr>
            <p:nvPr/>
          </p:nvSpPr>
          <p:spPr bwMode="auto">
            <a:xfrm flipV="1">
              <a:off x="1152" y="23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45" name="Line 173"/>
            <p:cNvSpPr>
              <a:spLocks noChangeShapeType="1"/>
            </p:cNvSpPr>
            <p:nvPr/>
          </p:nvSpPr>
          <p:spPr bwMode="auto">
            <a:xfrm>
              <a:off x="1248" y="2304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46" name="Line 174"/>
            <p:cNvSpPr>
              <a:spLocks noChangeShapeType="1"/>
            </p:cNvSpPr>
            <p:nvPr/>
          </p:nvSpPr>
          <p:spPr bwMode="auto">
            <a:xfrm flipH="1">
              <a:off x="1152" y="2448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47" name="Line 175"/>
            <p:cNvSpPr>
              <a:spLocks noChangeShapeType="1"/>
            </p:cNvSpPr>
            <p:nvPr/>
          </p:nvSpPr>
          <p:spPr bwMode="auto">
            <a:xfrm>
              <a:off x="1248" y="23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48" name="Line 176"/>
            <p:cNvSpPr>
              <a:spLocks noChangeShapeType="1"/>
            </p:cNvSpPr>
            <p:nvPr/>
          </p:nvSpPr>
          <p:spPr bwMode="auto">
            <a:xfrm>
              <a:off x="1248" y="2688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49" name="Line 177"/>
            <p:cNvSpPr>
              <a:spLocks noChangeShapeType="1"/>
            </p:cNvSpPr>
            <p:nvPr/>
          </p:nvSpPr>
          <p:spPr bwMode="auto">
            <a:xfrm flipV="1">
              <a:off x="3504" y="23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650" name="Group 178"/>
          <p:cNvGrpSpPr>
            <a:grpSpLocks/>
          </p:cNvGrpSpPr>
          <p:nvPr/>
        </p:nvGrpSpPr>
        <p:grpSpPr bwMode="auto">
          <a:xfrm>
            <a:off x="3446463" y="2895600"/>
            <a:ext cx="492125" cy="990600"/>
            <a:chOff x="3024" y="1824"/>
            <a:chExt cx="336" cy="624"/>
          </a:xfrm>
        </p:grpSpPr>
        <p:sp>
          <p:nvSpPr>
            <p:cNvPr id="745651" name="Rectangle 179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3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652" name="Rectangle 180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653" name="Group 181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654" name="Line 182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55" name="Line 183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56" name="Line 184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657" name="Group 185"/>
          <p:cNvGrpSpPr>
            <a:grpSpLocks/>
          </p:cNvGrpSpPr>
          <p:nvPr/>
        </p:nvGrpSpPr>
        <p:grpSpPr bwMode="auto">
          <a:xfrm>
            <a:off x="3657600" y="3657600"/>
            <a:ext cx="1476375" cy="685800"/>
            <a:chOff x="2496" y="2304"/>
            <a:chExt cx="1008" cy="432"/>
          </a:xfrm>
        </p:grpSpPr>
        <p:sp>
          <p:nvSpPr>
            <p:cNvPr id="745658" name="Line 186"/>
            <p:cNvSpPr>
              <a:spLocks noChangeShapeType="1"/>
            </p:cNvSpPr>
            <p:nvPr/>
          </p:nvSpPr>
          <p:spPr bwMode="auto">
            <a:xfrm flipV="1">
              <a:off x="2496" y="23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59" name="Line 187"/>
            <p:cNvSpPr>
              <a:spLocks noChangeShapeType="1"/>
            </p:cNvSpPr>
            <p:nvPr/>
          </p:nvSpPr>
          <p:spPr bwMode="auto">
            <a:xfrm>
              <a:off x="2592" y="2304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60" name="Line 188"/>
            <p:cNvSpPr>
              <a:spLocks noChangeShapeType="1"/>
            </p:cNvSpPr>
            <p:nvPr/>
          </p:nvSpPr>
          <p:spPr bwMode="auto">
            <a:xfrm flipH="1">
              <a:off x="2496" y="2448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61" name="Line 189"/>
            <p:cNvSpPr>
              <a:spLocks noChangeShapeType="1"/>
            </p:cNvSpPr>
            <p:nvPr/>
          </p:nvSpPr>
          <p:spPr bwMode="auto">
            <a:xfrm>
              <a:off x="2592" y="23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62" name="Line 190"/>
            <p:cNvSpPr>
              <a:spLocks noChangeShapeType="1"/>
            </p:cNvSpPr>
            <p:nvPr/>
          </p:nvSpPr>
          <p:spPr bwMode="auto">
            <a:xfrm>
              <a:off x="2592" y="273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63" name="Line 191"/>
            <p:cNvSpPr>
              <a:spLocks noChangeShapeType="1"/>
            </p:cNvSpPr>
            <p:nvPr/>
          </p:nvSpPr>
          <p:spPr bwMode="auto">
            <a:xfrm flipV="1">
              <a:off x="3504" y="235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664" name="Group 192"/>
          <p:cNvGrpSpPr>
            <a:grpSpLocks/>
          </p:cNvGrpSpPr>
          <p:nvPr/>
        </p:nvGrpSpPr>
        <p:grpSpPr bwMode="auto">
          <a:xfrm>
            <a:off x="984250" y="2895600"/>
            <a:ext cx="492125" cy="990600"/>
            <a:chOff x="3024" y="1824"/>
            <a:chExt cx="336" cy="624"/>
          </a:xfrm>
        </p:grpSpPr>
        <p:sp>
          <p:nvSpPr>
            <p:cNvPr id="745665" name="Rectangle 193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6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666" name="Rectangle 194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667" name="Group 195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668" name="Line 196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69" name="Line 197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70" name="Line 198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671" name="Group 199"/>
          <p:cNvGrpSpPr>
            <a:grpSpLocks/>
          </p:cNvGrpSpPr>
          <p:nvPr/>
        </p:nvGrpSpPr>
        <p:grpSpPr bwMode="auto">
          <a:xfrm>
            <a:off x="1195388" y="2895600"/>
            <a:ext cx="5205412" cy="1524000"/>
            <a:chOff x="816" y="1824"/>
            <a:chExt cx="3552" cy="960"/>
          </a:xfrm>
        </p:grpSpPr>
        <p:sp>
          <p:nvSpPr>
            <p:cNvPr id="745672" name="Line 200"/>
            <p:cNvSpPr>
              <a:spLocks noChangeShapeType="1"/>
            </p:cNvSpPr>
            <p:nvPr/>
          </p:nvSpPr>
          <p:spPr bwMode="auto">
            <a:xfrm flipV="1">
              <a:off x="816" y="23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73" name="Line 201"/>
            <p:cNvSpPr>
              <a:spLocks noChangeShapeType="1"/>
            </p:cNvSpPr>
            <p:nvPr/>
          </p:nvSpPr>
          <p:spPr bwMode="auto">
            <a:xfrm>
              <a:off x="912" y="2304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74" name="Line 202"/>
            <p:cNvSpPr>
              <a:spLocks noChangeShapeType="1"/>
            </p:cNvSpPr>
            <p:nvPr/>
          </p:nvSpPr>
          <p:spPr bwMode="auto">
            <a:xfrm flipH="1">
              <a:off x="816" y="2448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75" name="Line 203"/>
            <p:cNvSpPr>
              <a:spLocks noChangeShapeType="1"/>
            </p:cNvSpPr>
            <p:nvPr/>
          </p:nvSpPr>
          <p:spPr bwMode="auto">
            <a:xfrm>
              <a:off x="912" y="23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76" name="Line 204"/>
            <p:cNvSpPr>
              <a:spLocks noChangeShapeType="1"/>
            </p:cNvSpPr>
            <p:nvPr/>
          </p:nvSpPr>
          <p:spPr bwMode="auto">
            <a:xfrm>
              <a:off x="912" y="2784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77" name="Line 205"/>
            <p:cNvSpPr>
              <a:spLocks noChangeShapeType="1"/>
            </p:cNvSpPr>
            <p:nvPr/>
          </p:nvSpPr>
          <p:spPr bwMode="auto">
            <a:xfrm flipV="1">
              <a:off x="4176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78" name="Rectangle 206"/>
            <p:cNvSpPr>
              <a:spLocks noChangeArrowheads="1"/>
            </p:cNvSpPr>
            <p:nvPr/>
          </p:nvSpPr>
          <p:spPr bwMode="auto">
            <a:xfrm>
              <a:off x="4032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</p:grpSp>
      <p:grpSp>
        <p:nvGrpSpPr>
          <p:cNvPr id="745679" name="Group 207"/>
          <p:cNvGrpSpPr>
            <a:grpSpLocks/>
          </p:cNvGrpSpPr>
          <p:nvPr/>
        </p:nvGrpSpPr>
        <p:grpSpPr bwMode="auto">
          <a:xfrm>
            <a:off x="3938588" y="2895600"/>
            <a:ext cx="492125" cy="990600"/>
            <a:chOff x="3024" y="1824"/>
            <a:chExt cx="336" cy="624"/>
          </a:xfrm>
        </p:grpSpPr>
        <p:sp>
          <p:nvSpPr>
            <p:cNvPr id="745680" name="Rectangle 208"/>
            <p:cNvSpPr>
              <a:spLocks noChangeArrowheads="1"/>
            </p:cNvSpPr>
            <p:nvPr/>
          </p:nvSpPr>
          <p:spPr bwMode="auto">
            <a:xfrm>
              <a:off x="3024" y="1968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6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5681" name="Rectangle 209"/>
            <p:cNvSpPr>
              <a:spLocks noChangeArrowheads="1"/>
            </p:cNvSpPr>
            <p:nvPr/>
          </p:nvSpPr>
          <p:spPr bwMode="auto">
            <a:xfrm>
              <a:off x="3024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grpSp>
          <p:nvGrpSpPr>
            <p:cNvPr id="745682" name="Group 210"/>
            <p:cNvGrpSpPr>
              <a:grpSpLocks/>
            </p:cNvGrpSpPr>
            <p:nvPr/>
          </p:nvGrpSpPr>
          <p:grpSpPr bwMode="auto">
            <a:xfrm>
              <a:off x="3168" y="2304"/>
              <a:ext cx="96" cy="144"/>
              <a:chOff x="5088" y="2832"/>
              <a:chExt cx="96" cy="144"/>
            </a:xfrm>
          </p:grpSpPr>
          <p:sp>
            <p:nvSpPr>
              <p:cNvPr id="745683" name="Line 211"/>
              <p:cNvSpPr>
                <a:spLocks noChangeShapeType="1"/>
              </p:cNvSpPr>
              <p:nvPr/>
            </p:nvSpPr>
            <p:spPr bwMode="auto">
              <a:xfrm flipV="1">
                <a:off x="5088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84" name="Line 212"/>
              <p:cNvSpPr>
                <a:spLocks noChangeShapeType="1"/>
              </p:cNvSpPr>
              <p:nvPr/>
            </p:nvSpPr>
            <p:spPr bwMode="auto">
              <a:xfrm>
                <a:off x="5184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85" name="Line 213"/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5686" name="Group 214"/>
          <p:cNvGrpSpPr>
            <a:grpSpLocks/>
          </p:cNvGrpSpPr>
          <p:nvPr/>
        </p:nvGrpSpPr>
        <p:grpSpPr bwMode="auto">
          <a:xfrm>
            <a:off x="4149725" y="3657600"/>
            <a:ext cx="1970088" cy="838200"/>
            <a:chOff x="2832" y="2304"/>
            <a:chExt cx="1344" cy="528"/>
          </a:xfrm>
        </p:grpSpPr>
        <p:sp>
          <p:nvSpPr>
            <p:cNvPr id="745687" name="Line 215"/>
            <p:cNvSpPr>
              <a:spLocks noChangeShapeType="1"/>
            </p:cNvSpPr>
            <p:nvPr/>
          </p:nvSpPr>
          <p:spPr bwMode="auto">
            <a:xfrm flipV="1">
              <a:off x="2832" y="23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88" name="Line 216"/>
            <p:cNvSpPr>
              <a:spLocks noChangeShapeType="1"/>
            </p:cNvSpPr>
            <p:nvPr/>
          </p:nvSpPr>
          <p:spPr bwMode="auto">
            <a:xfrm>
              <a:off x="2928" y="2304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89" name="Line 217"/>
            <p:cNvSpPr>
              <a:spLocks noChangeShapeType="1"/>
            </p:cNvSpPr>
            <p:nvPr/>
          </p:nvSpPr>
          <p:spPr bwMode="auto">
            <a:xfrm flipH="1">
              <a:off x="2832" y="2448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90" name="Line 218"/>
            <p:cNvSpPr>
              <a:spLocks noChangeShapeType="1"/>
            </p:cNvSpPr>
            <p:nvPr/>
          </p:nvSpPr>
          <p:spPr bwMode="auto">
            <a:xfrm>
              <a:off x="2928" y="230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91" name="Line 219"/>
            <p:cNvSpPr>
              <a:spLocks noChangeShapeType="1"/>
            </p:cNvSpPr>
            <p:nvPr/>
          </p:nvSpPr>
          <p:spPr bwMode="auto">
            <a:xfrm>
              <a:off x="2928" y="28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92" name="Line 220"/>
            <p:cNvSpPr>
              <a:spLocks noChangeShapeType="1"/>
            </p:cNvSpPr>
            <p:nvPr/>
          </p:nvSpPr>
          <p:spPr bwMode="auto">
            <a:xfrm flipV="1">
              <a:off x="4176" y="235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693" name="Group 221"/>
          <p:cNvGrpSpPr>
            <a:grpSpLocks/>
          </p:cNvGrpSpPr>
          <p:nvPr/>
        </p:nvGrpSpPr>
        <p:grpSpPr bwMode="auto">
          <a:xfrm>
            <a:off x="2954338" y="2895600"/>
            <a:ext cx="2813050" cy="1676400"/>
            <a:chOff x="2016" y="1824"/>
            <a:chExt cx="1920" cy="1056"/>
          </a:xfrm>
        </p:grpSpPr>
        <p:sp>
          <p:nvSpPr>
            <p:cNvPr id="745694" name="Line 222"/>
            <p:cNvSpPr>
              <a:spLocks noChangeShapeType="1"/>
            </p:cNvSpPr>
            <p:nvPr/>
          </p:nvSpPr>
          <p:spPr bwMode="auto">
            <a:xfrm flipV="1">
              <a:off x="3840" y="23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95" name="Line 223"/>
            <p:cNvSpPr>
              <a:spLocks noChangeShapeType="1"/>
            </p:cNvSpPr>
            <p:nvPr/>
          </p:nvSpPr>
          <p:spPr bwMode="auto">
            <a:xfrm>
              <a:off x="3936" y="2304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96" name="Line 224"/>
            <p:cNvSpPr>
              <a:spLocks noChangeShapeType="1"/>
            </p:cNvSpPr>
            <p:nvPr/>
          </p:nvSpPr>
          <p:spPr bwMode="auto">
            <a:xfrm flipH="1">
              <a:off x="3840" y="2448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97" name="Rectangle 225"/>
            <p:cNvSpPr>
              <a:spLocks noChangeArrowheads="1"/>
            </p:cNvSpPr>
            <p:nvPr/>
          </p:nvSpPr>
          <p:spPr bwMode="auto">
            <a:xfrm>
              <a:off x="2016" y="1824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5698" name="Line 226"/>
            <p:cNvSpPr>
              <a:spLocks noChangeShapeType="1"/>
            </p:cNvSpPr>
            <p:nvPr/>
          </p:nvSpPr>
          <p:spPr bwMode="auto">
            <a:xfrm>
              <a:off x="3936" y="230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699" name="Line 227"/>
            <p:cNvSpPr>
              <a:spLocks noChangeShapeType="1"/>
            </p:cNvSpPr>
            <p:nvPr/>
          </p:nvSpPr>
          <p:spPr bwMode="auto">
            <a:xfrm flipH="1">
              <a:off x="2160" y="288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00" name="Line 228"/>
            <p:cNvSpPr>
              <a:spLocks noChangeShapeType="1"/>
            </p:cNvSpPr>
            <p:nvPr/>
          </p:nvSpPr>
          <p:spPr bwMode="auto">
            <a:xfrm flipV="1">
              <a:off x="2160" y="23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701" name="Group 229"/>
          <p:cNvGrpSpPr>
            <a:grpSpLocks/>
          </p:cNvGrpSpPr>
          <p:nvPr/>
        </p:nvGrpSpPr>
        <p:grpSpPr bwMode="auto">
          <a:xfrm>
            <a:off x="2673350" y="4876800"/>
            <a:ext cx="3797300" cy="990600"/>
            <a:chOff x="1824" y="3072"/>
            <a:chExt cx="2592" cy="624"/>
          </a:xfrm>
        </p:grpSpPr>
        <p:sp>
          <p:nvSpPr>
            <p:cNvPr id="745702" name="Line 230"/>
            <p:cNvSpPr>
              <a:spLocks noChangeShapeType="1"/>
            </p:cNvSpPr>
            <p:nvPr/>
          </p:nvSpPr>
          <p:spPr bwMode="auto">
            <a:xfrm>
              <a:off x="3456" y="3120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03" name="Line 231"/>
            <p:cNvSpPr>
              <a:spLocks noChangeShapeType="1"/>
            </p:cNvSpPr>
            <p:nvPr/>
          </p:nvSpPr>
          <p:spPr bwMode="auto">
            <a:xfrm flipH="1">
              <a:off x="3360" y="3120"/>
              <a:ext cx="96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04" name="Line 232"/>
            <p:cNvSpPr>
              <a:spLocks noChangeShapeType="1"/>
            </p:cNvSpPr>
            <p:nvPr/>
          </p:nvSpPr>
          <p:spPr bwMode="auto">
            <a:xfrm flipH="1">
              <a:off x="3360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05" name="Line 233"/>
            <p:cNvSpPr>
              <a:spLocks noChangeShapeType="1"/>
            </p:cNvSpPr>
            <p:nvPr/>
          </p:nvSpPr>
          <p:spPr bwMode="auto">
            <a:xfrm flipH="1">
              <a:off x="3312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06" name="Line 234"/>
            <p:cNvSpPr>
              <a:spLocks noChangeShapeType="1"/>
            </p:cNvSpPr>
            <p:nvPr/>
          </p:nvSpPr>
          <p:spPr bwMode="auto">
            <a:xfrm flipH="1" flipV="1">
              <a:off x="3504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07" name="Line 235"/>
            <p:cNvSpPr>
              <a:spLocks noChangeShapeType="1"/>
            </p:cNvSpPr>
            <p:nvPr/>
          </p:nvSpPr>
          <p:spPr bwMode="auto">
            <a:xfrm flipH="1" flipV="1">
              <a:off x="3312" y="3072"/>
              <a:ext cx="1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08" name="Line 236"/>
            <p:cNvSpPr>
              <a:spLocks noChangeShapeType="1"/>
            </p:cNvSpPr>
            <p:nvPr/>
          </p:nvSpPr>
          <p:spPr bwMode="auto">
            <a:xfrm>
              <a:off x="2448" y="3120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09" name="Line 237"/>
            <p:cNvSpPr>
              <a:spLocks noChangeShapeType="1"/>
            </p:cNvSpPr>
            <p:nvPr/>
          </p:nvSpPr>
          <p:spPr bwMode="auto">
            <a:xfrm flipH="1">
              <a:off x="2352" y="3120"/>
              <a:ext cx="96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10" name="Line 238"/>
            <p:cNvSpPr>
              <a:spLocks noChangeShapeType="1"/>
            </p:cNvSpPr>
            <p:nvPr/>
          </p:nvSpPr>
          <p:spPr bwMode="auto">
            <a:xfrm flipH="1">
              <a:off x="2352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11" name="Line 239"/>
            <p:cNvSpPr>
              <a:spLocks noChangeShapeType="1"/>
            </p:cNvSpPr>
            <p:nvPr/>
          </p:nvSpPr>
          <p:spPr bwMode="auto">
            <a:xfrm flipH="1">
              <a:off x="2304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12" name="Line 240"/>
            <p:cNvSpPr>
              <a:spLocks noChangeShapeType="1"/>
            </p:cNvSpPr>
            <p:nvPr/>
          </p:nvSpPr>
          <p:spPr bwMode="auto">
            <a:xfrm flipH="1" flipV="1">
              <a:off x="2496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13" name="Line 241"/>
            <p:cNvSpPr>
              <a:spLocks noChangeShapeType="1"/>
            </p:cNvSpPr>
            <p:nvPr/>
          </p:nvSpPr>
          <p:spPr bwMode="auto">
            <a:xfrm flipH="1" flipV="1">
              <a:off x="2304" y="3072"/>
              <a:ext cx="1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14" name="Line 242"/>
            <p:cNvSpPr>
              <a:spLocks noChangeShapeType="1"/>
            </p:cNvSpPr>
            <p:nvPr/>
          </p:nvSpPr>
          <p:spPr bwMode="auto">
            <a:xfrm>
              <a:off x="2784" y="3120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15" name="Line 243"/>
            <p:cNvSpPr>
              <a:spLocks noChangeShapeType="1"/>
            </p:cNvSpPr>
            <p:nvPr/>
          </p:nvSpPr>
          <p:spPr bwMode="auto">
            <a:xfrm flipH="1">
              <a:off x="2688" y="3120"/>
              <a:ext cx="96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16" name="Line 244"/>
            <p:cNvSpPr>
              <a:spLocks noChangeShapeType="1"/>
            </p:cNvSpPr>
            <p:nvPr/>
          </p:nvSpPr>
          <p:spPr bwMode="auto">
            <a:xfrm flipH="1">
              <a:off x="2688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17" name="Line 245"/>
            <p:cNvSpPr>
              <a:spLocks noChangeShapeType="1"/>
            </p:cNvSpPr>
            <p:nvPr/>
          </p:nvSpPr>
          <p:spPr bwMode="auto">
            <a:xfrm flipH="1">
              <a:off x="2640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18" name="Line 246"/>
            <p:cNvSpPr>
              <a:spLocks noChangeShapeType="1"/>
            </p:cNvSpPr>
            <p:nvPr/>
          </p:nvSpPr>
          <p:spPr bwMode="auto">
            <a:xfrm flipH="1" flipV="1">
              <a:off x="2832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19" name="Line 247"/>
            <p:cNvSpPr>
              <a:spLocks noChangeShapeType="1"/>
            </p:cNvSpPr>
            <p:nvPr/>
          </p:nvSpPr>
          <p:spPr bwMode="auto">
            <a:xfrm flipH="1" flipV="1">
              <a:off x="2640" y="3072"/>
              <a:ext cx="1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20" name="Line 248"/>
            <p:cNvSpPr>
              <a:spLocks noChangeShapeType="1"/>
            </p:cNvSpPr>
            <p:nvPr/>
          </p:nvSpPr>
          <p:spPr bwMode="auto">
            <a:xfrm>
              <a:off x="3120" y="3120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21" name="Line 249"/>
            <p:cNvSpPr>
              <a:spLocks noChangeShapeType="1"/>
            </p:cNvSpPr>
            <p:nvPr/>
          </p:nvSpPr>
          <p:spPr bwMode="auto">
            <a:xfrm flipH="1">
              <a:off x="3024" y="3120"/>
              <a:ext cx="96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22" name="Line 250"/>
            <p:cNvSpPr>
              <a:spLocks noChangeShapeType="1"/>
            </p:cNvSpPr>
            <p:nvPr/>
          </p:nvSpPr>
          <p:spPr bwMode="auto">
            <a:xfrm flipH="1">
              <a:off x="3024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23" name="Line 251"/>
            <p:cNvSpPr>
              <a:spLocks noChangeShapeType="1"/>
            </p:cNvSpPr>
            <p:nvPr/>
          </p:nvSpPr>
          <p:spPr bwMode="auto">
            <a:xfrm flipH="1">
              <a:off x="2976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24" name="Line 252"/>
            <p:cNvSpPr>
              <a:spLocks noChangeShapeType="1"/>
            </p:cNvSpPr>
            <p:nvPr/>
          </p:nvSpPr>
          <p:spPr bwMode="auto">
            <a:xfrm flipH="1" flipV="1">
              <a:off x="3168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25" name="Line 253"/>
            <p:cNvSpPr>
              <a:spLocks noChangeShapeType="1"/>
            </p:cNvSpPr>
            <p:nvPr/>
          </p:nvSpPr>
          <p:spPr bwMode="auto">
            <a:xfrm flipH="1" flipV="1">
              <a:off x="2976" y="3072"/>
              <a:ext cx="1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26" name="Line 254"/>
            <p:cNvSpPr>
              <a:spLocks noChangeShapeType="1"/>
            </p:cNvSpPr>
            <p:nvPr/>
          </p:nvSpPr>
          <p:spPr bwMode="auto">
            <a:xfrm>
              <a:off x="3792" y="3120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27" name="Line 255"/>
            <p:cNvSpPr>
              <a:spLocks noChangeShapeType="1"/>
            </p:cNvSpPr>
            <p:nvPr/>
          </p:nvSpPr>
          <p:spPr bwMode="auto">
            <a:xfrm flipH="1">
              <a:off x="3696" y="3120"/>
              <a:ext cx="96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28" name="Line 256"/>
            <p:cNvSpPr>
              <a:spLocks noChangeShapeType="1"/>
            </p:cNvSpPr>
            <p:nvPr/>
          </p:nvSpPr>
          <p:spPr bwMode="auto">
            <a:xfrm flipH="1">
              <a:off x="3696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29" name="Line 257"/>
            <p:cNvSpPr>
              <a:spLocks noChangeShapeType="1"/>
            </p:cNvSpPr>
            <p:nvPr/>
          </p:nvSpPr>
          <p:spPr bwMode="auto">
            <a:xfrm flipH="1">
              <a:off x="3648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30" name="Line 258"/>
            <p:cNvSpPr>
              <a:spLocks noChangeShapeType="1"/>
            </p:cNvSpPr>
            <p:nvPr/>
          </p:nvSpPr>
          <p:spPr bwMode="auto">
            <a:xfrm flipH="1" flipV="1">
              <a:off x="3840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31" name="Line 259"/>
            <p:cNvSpPr>
              <a:spLocks noChangeShapeType="1"/>
            </p:cNvSpPr>
            <p:nvPr/>
          </p:nvSpPr>
          <p:spPr bwMode="auto">
            <a:xfrm flipH="1" flipV="1">
              <a:off x="3648" y="3072"/>
              <a:ext cx="1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32" name="Rectangle 260"/>
            <p:cNvSpPr>
              <a:spLocks noChangeArrowheads="1"/>
            </p:cNvSpPr>
            <p:nvPr/>
          </p:nvSpPr>
          <p:spPr bwMode="auto">
            <a:xfrm>
              <a:off x="2064" y="3264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2000" b="1">
                <a:latin typeface="Courier New" charset="0"/>
              </a:endParaRPr>
            </a:p>
          </p:txBody>
        </p:sp>
        <p:sp>
          <p:nvSpPr>
            <p:cNvPr id="745733" name="Rectangle 261"/>
            <p:cNvSpPr>
              <a:spLocks noChangeArrowheads="1"/>
            </p:cNvSpPr>
            <p:nvPr/>
          </p:nvSpPr>
          <p:spPr bwMode="auto">
            <a:xfrm>
              <a:off x="2400" y="3264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2000" b="1">
                <a:latin typeface="Courier New" charset="0"/>
              </a:endParaRPr>
            </a:p>
          </p:txBody>
        </p:sp>
        <p:sp>
          <p:nvSpPr>
            <p:cNvPr id="745734" name="Rectangle 262"/>
            <p:cNvSpPr>
              <a:spLocks noChangeArrowheads="1"/>
            </p:cNvSpPr>
            <p:nvPr/>
          </p:nvSpPr>
          <p:spPr bwMode="auto">
            <a:xfrm>
              <a:off x="2736" y="3264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2000" b="1">
                <a:latin typeface="Courier New" charset="0"/>
              </a:endParaRPr>
            </a:p>
          </p:txBody>
        </p:sp>
        <p:sp>
          <p:nvSpPr>
            <p:cNvPr id="745735" name="Rectangle 263"/>
            <p:cNvSpPr>
              <a:spLocks noChangeArrowheads="1"/>
            </p:cNvSpPr>
            <p:nvPr/>
          </p:nvSpPr>
          <p:spPr bwMode="auto">
            <a:xfrm>
              <a:off x="3072" y="3264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2000" b="1">
                <a:latin typeface="Courier New" charset="0"/>
              </a:endParaRPr>
            </a:p>
          </p:txBody>
        </p:sp>
        <p:sp>
          <p:nvSpPr>
            <p:cNvPr id="745736" name="Rectangle 264"/>
            <p:cNvSpPr>
              <a:spLocks noChangeArrowheads="1"/>
            </p:cNvSpPr>
            <p:nvPr/>
          </p:nvSpPr>
          <p:spPr bwMode="auto">
            <a:xfrm>
              <a:off x="3408" y="3264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2000" b="1">
                <a:latin typeface="Courier New" charset="0"/>
              </a:endParaRPr>
            </a:p>
          </p:txBody>
        </p:sp>
        <p:sp>
          <p:nvSpPr>
            <p:cNvPr id="745737" name="Rectangle 265"/>
            <p:cNvSpPr>
              <a:spLocks noChangeArrowheads="1"/>
            </p:cNvSpPr>
            <p:nvPr/>
          </p:nvSpPr>
          <p:spPr bwMode="auto">
            <a:xfrm>
              <a:off x="2064" y="3456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1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5738" name="Rectangle 266"/>
            <p:cNvSpPr>
              <a:spLocks noChangeArrowheads="1"/>
            </p:cNvSpPr>
            <p:nvPr/>
          </p:nvSpPr>
          <p:spPr bwMode="auto">
            <a:xfrm>
              <a:off x="2400" y="3456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2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5739" name="Rectangle 267"/>
            <p:cNvSpPr>
              <a:spLocks noChangeArrowheads="1"/>
            </p:cNvSpPr>
            <p:nvPr/>
          </p:nvSpPr>
          <p:spPr bwMode="auto">
            <a:xfrm>
              <a:off x="2736" y="3456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3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5740" name="Rectangle 268"/>
            <p:cNvSpPr>
              <a:spLocks noChangeArrowheads="1"/>
            </p:cNvSpPr>
            <p:nvPr/>
          </p:nvSpPr>
          <p:spPr bwMode="auto">
            <a:xfrm>
              <a:off x="3072" y="3456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4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5741" name="Rectangle 269"/>
            <p:cNvSpPr>
              <a:spLocks noChangeArrowheads="1"/>
            </p:cNvSpPr>
            <p:nvPr/>
          </p:nvSpPr>
          <p:spPr bwMode="auto">
            <a:xfrm>
              <a:off x="3408" y="3456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5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5742" name="Rectangle 270"/>
            <p:cNvSpPr>
              <a:spLocks noChangeArrowheads="1"/>
            </p:cNvSpPr>
            <p:nvPr/>
          </p:nvSpPr>
          <p:spPr bwMode="auto">
            <a:xfrm>
              <a:off x="3744" y="3456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6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5743" name="Text Box 271"/>
            <p:cNvSpPr txBox="1">
              <a:spLocks noChangeArrowheads="1"/>
            </p:cNvSpPr>
            <p:nvPr/>
          </p:nvSpPr>
          <p:spPr bwMode="auto">
            <a:xfrm>
              <a:off x="1824" y="3216"/>
              <a:ext cx="2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 b="1">
                  <a:latin typeface="Courier New" charset="0"/>
                </a:rPr>
                <a:t>X</a:t>
              </a:r>
            </a:p>
          </p:txBody>
        </p:sp>
        <p:sp>
          <p:nvSpPr>
            <p:cNvPr id="745744" name="Rectangle 272"/>
            <p:cNvSpPr>
              <a:spLocks noChangeArrowheads="1"/>
            </p:cNvSpPr>
            <p:nvPr/>
          </p:nvSpPr>
          <p:spPr bwMode="auto">
            <a:xfrm>
              <a:off x="3744" y="3264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2000" b="1">
                <a:latin typeface="Courier New" charset="0"/>
              </a:endParaRPr>
            </a:p>
          </p:txBody>
        </p:sp>
        <p:sp>
          <p:nvSpPr>
            <p:cNvPr id="745745" name="Rectangle 273"/>
            <p:cNvSpPr>
              <a:spLocks noChangeArrowheads="1"/>
            </p:cNvSpPr>
            <p:nvPr/>
          </p:nvSpPr>
          <p:spPr bwMode="auto">
            <a:xfrm>
              <a:off x="4080" y="3264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2000" b="1">
                <a:latin typeface="Courier New" charset="0"/>
              </a:endParaRPr>
            </a:p>
          </p:txBody>
        </p:sp>
        <p:sp>
          <p:nvSpPr>
            <p:cNvPr id="745746" name="Rectangle 274"/>
            <p:cNvSpPr>
              <a:spLocks noChangeArrowheads="1"/>
            </p:cNvSpPr>
            <p:nvPr/>
          </p:nvSpPr>
          <p:spPr bwMode="auto">
            <a:xfrm>
              <a:off x="4080" y="3456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7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5747" name="Line 275"/>
            <p:cNvSpPr>
              <a:spLocks noChangeShapeType="1"/>
            </p:cNvSpPr>
            <p:nvPr/>
          </p:nvSpPr>
          <p:spPr bwMode="auto">
            <a:xfrm>
              <a:off x="4128" y="3120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48" name="Line 276"/>
            <p:cNvSpPr>
              <a:spLocks noChangeShapeType="1"/>
            </p:cNvSpPr>
            <p:nvPr/>
          </p:nvSpPr>
          <p:spPr bwMode="auto">
            <a:xfrm flipH="1">
              <a:off x="4032" y="3120"/>
              <a:ext cx="96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49" name="Line 277"/>
            <p:cNvSpPr>
              <a:spLocks noChangeShapeType="1"/>
            </p:cNvSpPr>
            <p:nvPr/>
          </p:nvSpPr>
          <p:spPr bwMode="auto">
            <a:xfrm flipH="1">
              <a:off x="4032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750" name="Line 278"/>
            <p:cNvSpPr>
              <a:spLocks noChangeShapeType="1"/>
            </p:cNvSpPr>
            <p:nvPr/>
          </p:nvSpPr>
          <p:spPr bwMode="auto">
            <a:xfrm flipH="1">
              <a:off x="3984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51" name="Line 279"/>
            <p:cNvSpPr>
              <a:spLocks noChangeShapeType="1"/>
            </p:cNvSpPr>
            <p:nvPr/>
          </p:nvSpPr>
          <p:spPr bwMode="auto">
            <a:xfrm flipH="1" flipV="1">
              <a:off x="4176" y="307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752" name="Line 280"/>
            <p:cNvSpPr>
              <a:spLocks noChangeShapeType="1"/>
            </p:cNvSpPr>
            <p:nvPr/>
          </p:nvSpPr>
          <p:spPr bwMode="auto">
            <a:xfrm flipH="1" flipV="1">
              <a:off x="3984" y="3072"/>
              <a:ext cx="1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498" name="Group 2"/>
          <p:cNvGrpSpPr>
            <a:grpSpLocks/>
          </p:cNvGrpSpPr>
          <p:nvPr/>
        </p:nvGrpSpPr>
        <p:grpSpPr bwMode="auto">
          <a:xfrm>
            <a:off x="5697538" y="3733800"/>
            <a:ext cx="280987" cy="304800"/>
            <a:chOff x="3984" y="2448"/>
            <a:chExt cx="192" cy="192"/>
          </a:xfrm>
        </p:grpSpPr>
        <p:sp>
          <p:nvSpPr>
            <p:cNvPr id="746499" name="Line 3"/>
            <p:cNvSpPr>
              <a:spLocks noChangeShapeType="1"/>
            </p:cNvSpPr>
            <p:nvPr/>
          </p:nvSpPr>
          <p:spPr bwMode="auto">
            <a:xfrm>
              <a:off x="4128" y="2496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0" name="Line 4"/>
            <p:cNvSpPr>
              <a:spLocks noChangeShapeType="1"/>
            </p:cNvSpPr>
            <p:nvPr/>
          </p:nvSpPr>
          <p:spPr bwMode="auto">
            <a:xfrm flipH="1">
              <a:off x="4032" y="2496"/>
              <a:ext cx="96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1" name="Line 5"/>
            <p:cNvSpPr>
              <a:spLocks noChangeShapeType="1"/>
            </p:cNvSpPr>
            <p:nvPr/>
          </p:nvSpPr>
          <p:spPr bwMode="auto">
            <a:xfrm flipH="1">
              <a:off x="4032" y="24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2" name="Line 6"/>
            <p:cNvSpPr>
              <a:spLocks noChangeShapeType="1"/>
            </p:cNvSpPr>
            <p:nvPr/>
          </p:nvSpPr>
          <p:spPr bwMode="auto">
            <a:xfrm flipH="1">
              <a:off x="3984" y="2448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03" name="Line 7"/>
            <p:cNvSpPr>
              <a:spLocks noChangeShapeType="1"/>
            </p:cNvSpPr>
            <p:nvPr/>
          </p:nvSpPr>
          <p:spPr bwMode="auto">
            <a:xfrm flipH="1" flipV="1">
              <a:off x="4176" y="2448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04" name="Line 8"/>
            <p:cNvSpPr>
              <a:spLocks noChangeShapeType="1"/>
            </p:cNvSpPr>
            <p:nvPr/>
          </p:nvSpPr>
          <p:spPr bwMode="auto">
            <a:xfrm flipH="1" flipV="1">
              <a:off x="3984" y="2448"/>
              <a:ext cx="1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505" name="Line 9"/>
          <p:cNvSpPr>
            <a:spLocks noChangeShapeType="1"/>
          </p:cNvSpPr>
          <p:nvPr/>
        </p:nvSpPr>
        <p:spPr bwMode="auto">
          <a:xfrm>
            <a:off x="4924425" y="3810000"/>
            <a:ext cx="0" cy="228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06" name="Line 10"/>
          <p:cNvSpPr>
            <a:spLocks noChangeShapeType="1"/>
          </p:cNvSpPr>
          <p:nvPr/>
        </p:nvSpPr>
        <p:spPr bwMode="auto">
          <a:xfrm flipH="1">
            <a:off x="4783138" y="3810000"/>
            <a:ext cx="141287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07" name="Line 11"/>
          <p:cNvSpPr>
            <a:spLocks noChangeShapeType="1"/>
          </p:cNvSpPr>
          <p:nvPr/>
        </p:nvSpPr>
        <p:spPr bwMode="auto">
          <a:xfrm flipH="1">
            <a:off x="4783138" y="3810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08" name="Line 12"/>
          <p:cNvSpPr>
            <a:spLocks noChangeShapeType="1"/>
          </p:cNvSpPr>
          <p:nvPr/>
        </p:nvSpPr>
        <p:spPr bwMode="auto">
          <a:xfrm flipH="1">
            <a:off x="4713288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09" name="Line 13"/>
          <p:cNvSpPr>
            <a:spLocks noChangeShapeType="1"/>
          </p:cNvSpPr>
          <p:nvPr/>
        </p:nvSpPr>
        <p:spPr bwMode="auto">
          <a:xfrm flipH="1" flipV="1">
            <a:off x="4994275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10" name="Line 14"/>
          <p:cNvSpPr>
            <a:spLocks noChangeShapeType="1"/>
          </p:cNvSpPr>
          <p:nvPr/>
        </p:nvSpPr>
        <p:spPr bwMode="auto">
          <a:xfrm flipH="1" flipV="1">
            <a:off x="4713288" y="3733800"/>
            <a:ext cx="28098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11" name="Line 15"/>
          <p:cNvSpPr>
            <a:spLocks noChangeShapeType="1"/>
          </p:cNvSpPr>
          <p:nvPr/>
        </p:nvSpPr>
        <p:spPr bwMode="auto">
          <a:xfrm>
            <a:off x="3446463" y="3810000"/>
            <a:ext cx="0" cy="228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12" name="Line 16"/>
          <p:cNvSpPr>
            <a:spLocks noChangeShapeType="1"/>
          </p:cNvSpPr>
          <p:nvPr/>
        </p:nvSpPr>
        <p:spPr bwMode="auto">
          <a:xfrm flipH="1">
            <a:off x="3305175" y="3810000"/>
            <a:ext cx="141288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13" name="Line 17"/>
          <p:cNvSpPr>
            <a:spLocks noChangeShapeType="1"/>
          </p:cNvSpPr>
          <p:nvPr/>
        </p:nvSpPr>
        <p:spPr bwMode="auto">
          <a:xfrm flipH="1">
            <a:off x="3305175" y="3810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14" name="Line 18"/>
          <p:cNvSpPr>
            <a:spLocks noChangeShapeType="1"/>
          </p:cNvSpPr>
          <p:nvPr/>
        </p:nvSpPr>
        <p:spPr bwMode="auto">
          <a:xfrm flipH="1">
            <a:off x="3235325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15" name="Line 19"/>
          <p:cNvSpPr>
            <a:spLocks noChangeShapeType="1"/>
          </p:cNvSpPr>
          <p:nvPr/>
        </p:nvSpPr>
        <p:spPr bwMode="auto">
          <a:xfrm flipH="1" flipV="1">
            <a:off x="3516313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16" name="Line 20"/>
          <p:cNvSpPr>
            <a:spLocks noChangeShapeType="1"/>
          </p:cNvSpPr>
          <p:nvPr/>
        </p:nvSpPr>
        <p:spPr bwMode="auto">
          <a:xfrm flipH="1" flipV="1">
            <a:off x="3235325" y="3733800"/>
            <a:ext cx="2809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17" name="Line 21"/>
          <p:cNvSpPr>
            <a:spLocks noChangeShapeType="1"/>
          </p:cNvSpPr>
          <p:nvPr/>
        </p:nvSpPr>
        <p:spPr bwMode="auto">
          <a:xfrm>
            <a:off x="3938588" y="3810000"/>
            <a:ext cx="0" cy="228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18" name="Line 22"/>
          <p:cNvSpPr>
            <a:spLocks noChangeShapeType="1"/>
          </p:cNvSpPr>
          <p:nvPr/>
        </p:nvSpPr>
        <p:spPr bwMode="auto">
          <a:xfrm flipH="1">
            <a:off x="3798888" y="3810000"/>
            <a:ext cx="139700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19" name="Line 23"/>
          <p:cNvSpPr>
            <a:spLocks noChangeShapeType="1"/>
          </p:cNvSpPr>
          <p:nvPr/>
        </p:nvSpPr>
        <p:spPr bwMode="auto">
          <a:xfrm flipH="1">
            <a:off x="3798888" y="3810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20" name="Line 24"/>
          <p:cNvSpPr>
            <a:spLocks noChangeShapeType="1"/>
          </p:cNvSpPr>
          <p:nvPr/>
        </p:nvSpPr>
        <p:spPr bwMode="auto">
          <a:xfrm flipH="1">
            <a:off x="3727450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21" name="Line 25"/>
          <p:cNvSpPr>
            <a:spLocks noChangeShapeType="1"/>
          </p:cNvSpPr>
          <p:nvPr/>
        </p:nvSpPr>
        <p:spPr bwMode="auto">
          <a:xfrm flipH="1" flipV="1">
            <a:off x="4010025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22" name="Line 26"/>
          <p:cNvSpPr>
            <a:spLocks noChangeShapeType="1"/>
          </p:cNvSpPr>
          <p:nvPr/>
        </p:nvSpPr>
        <p:spPr bwMode="auto">
          <a:xfrm flipH="1" flipV="1">
            <a:off x="3727450" y="3733800"/>
            <a:ext cx="2825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23" name="Line 27"/>
          <p:cNvSpPr>
            <a:spLocks noChangeShapeType="1"/>
          </p:cNvSpPr>
          <p:nvPr/>
        </p:nvSpPr>
        <p:spPr bwMode="auto">
          <a:xfrm>
            <a:off x="4430713" y="3810000"/>
            <a:ext cx="0" cy="228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24" name="Line 28"/>
          <p:cNvSpPr>
            <a:spLocks noChangeShapeType="1"/>
          </p:cNvSpPr>
          <p:nvPr/>
        </p:nvSpPr>
        <p:spPr bwMode="auto">
          <a:xfrm flipH="1">
            <a:off x="4291013" y="3810000"/>
            <a:ext cx="139700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25" name="Line 29"/>
          <p:cNvSpPr>
            <a:spLocks noChangeShapeType="1"/>
          </p:cNvSpPr>
          <p:nvPr/>
        </p:nvSpPr>
        <p:spPr bwMode="auto">
          <a:xfrm flipH="1">
            <a:off x="4291013" y="3810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26" name="Line 30"/>
          <p:cNvSpPr>
            <a:spLocks noChangeShapeType="1"/>
          </p:cNvSpPr>
          <p:nvPr/>
        </p:nvSpPr>
        <p:spPr bwMode="auto">
          <a:xfrm flipH="1">
            <a:off x="4219575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27" name="Line 31"/>
          <p:cNvSpPr>
            <a:spLocks noChangeShapeType="1"/>
          </p:cNvSpPr>
          <p:nvPr/>
        </p:nvSpPr>
        <p:spPr bwMode="auto">
          <a:xfrm flipH="1" flipV="1">
            <a:off x="4502150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28" name="Line 32"/>
          <p:cNvSpPr>
            <a:spLocks noChangeShapeType="1"/>
          </p:cNvSpPr>
          <p:nvPr/>
        </p:nvSpPr>
        <p:spPr bwMode="auto">
          <a:xfrm flipH="1" flipV="1">
            <a:off x="4219575" y="3733800"/>
            <a:ext cx="2825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29" name="Line 33"/>
          <p:cNvSpPr>
            <a:spLocks noChangeShapeType="1"/>
          </p:cNvSpPr>
          <p:nvPr/>
        </p:nvSpPr>
        <p:spPr bwMode="auto">
          <a:xfrm>
            <a:off x="5416550" y="3810000"/>
            <a:ext cx="0" cy="228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30" name="Line 34"/>
          <p:cNvSpPr>
            <a:spLocks noChangeShapeType="1"/>
          </p:cNvSpPr>
          <p:nvPr/>
        </p:nvSpPr>
        <p:spPr bwMode="auto">
          <a:xfrm flipH="1">
            <a:off x="5275263" y="3810000"/>
            <a:ext cx="141287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31" name="Line 35"/>
          <p:cNvSpPr>
            <a:spLocks noChangeShapeType="1"/>
          </p:cNvSpPr>
          <p:nvPr/>
        </p:nvSpPr>
        <p:spPr bwMode="auto">
          <a:xfrm flipH="1">
            <a:off x="5275263" y="3810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32" name="Line 36"/>
          <p:cNvSpPr>
            <a:spLocks noChangeShapeType="1"/>
          </p:cNvSpPr>
          <p:nvPr/>
        </p:nvSpPr>
        <p:spPr bwMode="auto">
          <a:xfrm flipH="1">
            <a:off x="5205413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33" name="Line 37"/>
          <p:cNvSpPr>
            <a:spLocks noChangeShapeType="1"/>
          </p:cNvSpPr>
          <p:nvPr/>
        </p:nvSpPr>
        <p:spPr bwMode="auto">
          <a:xfrm flipH="1" flipV="1">
            <a:off x="5486400" y="3733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34" name="Line 38"/>
          <p:cNvSpPr>
            <a:spLocks noChangeShapeType="1"/>
          </p:cNvSpPr>
          <p:nvPr/>
        </p:nvSpPr>
        <p:spPr bwMode="auto">
          <a:xfrm flipH="1" flipV="1">
            <a:off x="5205413" y="3733800"/>
            <a:ext cx="28098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535" name="Rectangle 39"/>
          <p:cNvSpPr>
            <a:spLocks noChangeArrowheads="1"/>
          </p:cNvSpPr>
          <p:nvPr/>
        </p:nvSpPr>
        <p:spPr bwMode="auto">
          <a:xfrm>
            <a:off x="2884488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6536" name="Rectangle 40"/>
          <p:cNvSpPr>
            <a:spLocks noChangeArrowheads="1"/>
          </p:cNvSpPr>
          <p:nvPr/>
        </p:nvSpPr>
        <p:spPr bwMode="auto">
          <a:xfrm>
            <a:off x="3376613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6537" name="Rectangle 41"/>
          <p:cNvSpPr>
            <a:spLocks noChangeArrowheads="1"/>
          </p:cNvSpPr>
          <p:nvPr/>
        </p:nvSpPr>
        <p:spPr bwMode="auto">
          <a:xfrm>
            <a:off x="3868738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6538" name="Rectangle 42"/>
          <p:cNvSpPr>
            <a:spLocks noChangeArrowheads="1"/>
          </p:cNvSpPr>
          <p:nvPr/>
        </p:nvSpPr>
        <p:spPr bwMode="auto">
          <a:xfrm>
            <a:off x="4360863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6539" name="Rectangle 43"/>
          <p:cNvSpPr>
            <a:spLocks noChangeArrowheads="1"/>
          </p:cNvSpPr>
          <p:nvPr/>
        </p:nvSpPr>
        <p:spPr bwMode="auto">
          <a:xfrm>
            <a:off x="4852988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sp>
        <p:nvSpPr>
          <p:cNvPr id="746540" name="Rectangle 44"/>
          <p:cNvSpPr>
            <a:spLocks noChangeArrowheads="1"/>
          </p:cNvSpPr>
          <p:nvPr/>
        </p:nvSpPr>
        <p:spPr bwMode="auto">
          <a:xfrm>
            <a:off x="2884488" y="43434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1</a:t>
            </a:r>
            <a:endParaRPr lang="en-GB" sz="2000" b="1">
              <a:latin typeface="Courier New" charset="0"/>
            </a:endParaRPr>
          </a:p>
        </p:txBody>
      </p:sp>
      <p:sp>
        <p:nvSpPr>
          <p:cNvPr id="746541" name="Rectangle 45"/>
          <p:cNvSpPr>
            <a:spLocks noChangeArrowheads="1"/>
          </p:cNvSpPr>
          <p:nvPr/>
        </p:nvSpPr>
        <p:spPr bwMode="auto">
          <a:xfrm>
            <a:off x="3376613" y="43434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2</a:t>
            </a:r>
            <a:endParaRPr lang="en-GB" sz="2000" b="1">
              <a:latin typeface="Courier New" charset="0"/>
            </a:endParaRPr>
          </a:p>
        </p:txBody>
      </p:sp>
      <p:sp>
        <p:nvSpPr>
          <p:cNvPr id="746542" name="Rectangle 46"/>
          <p:cNvSpPr>
            <a:spLocks noChangeArrowheads="1"/>
          </p:cNvSpPr>
          <p:nvPr/>
        </p:nvSpPr>
        <p:spPr bwMode="auto">
          <a:xfrm>
            <a:off x="3868738" y="43434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3</a:t>
            </a:r>
            <a:endParaRPr lang="en-GB" sz="2000" b="1">
              <a:latin typeface="Courier New" charset="0"/>
            </a:endParaRPr>
          </a:p>
        </p:txBody>
      </p:sp>
      <p:sp>
        <p:nvSpPr>
          <p:cNvPr id="746543" name="Rectangle 47"/>
          <p:cNvSpPr>
            <a:spLocks noChangeArrowheads="1"/>
          </p:cNvSpPr>
          <p:nvPr/>
        </p:nvSpPr>
        <p:spPr bwMode="auto">
          <a:xfrm>
            <a:off x="4360863" y="43434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4</a:t>
            </a:r>
            <a:endParaRPr lang="en-GB" sz="2000" b="1">
              <a:latin typeface="Courier New" charset="0"/>
            </a:endParaRPr>
          </a:p>
        </p:txBody>
      </p:sp>
      <p:sp>
        <p:nvSpPr>
          <p:cNvPr id="746544" name="Rectangle 48"/>
          <p:cNvSpPr>
            <a:spLocks noChangeArrowheads="1"/>
          </p:cNvSpPr>
          <p:nvPr/>
        </p:nvSpPr>
        <p:spPr bwMode="auto">
          <a:xfrm>
            <a:off x="4852988" y="43434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5</a:t>
            </a:r>
            <a:endParaRPr lang="en-GB" sz="2000" b="1">
              <a:latin typeface="Courier New" charset="0"/>
            </a:endParaRPr>
          </a:p>
        </p:txBody>
      </p:sp>
      <p:sp>
        <p:nvSpPr>
          <p:cNvPr id="746545" name="Rectangle 49"/>
          <p:cNvSpPr>
            <a:spLocks noChangeArrowheads="1"/>
          </p:cNvSpPr>
          <p:nvPr/>
        </p:nvSpPr>
        <p:spPr bwMode="auto">
          <a:xfrm>
            <a:off x="5345113" y="4343400"/>
            <a:ext cx="493712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6</a:t>
            </a:r>
            <a:endParaRPr lang="en-GB" sz="2000" b="1">
              <a:latin typeface="Courier New" charset="0"/>
            </a:endParaRPr>
          </a:p>
        </p:txBody>
      </p:sp>
      <p:sp>
        <p:nvSpPr>
          <p:cNvPr id="746546" name="Text Box 50"/>
          <p:cNvSpPr txBox="1">
            <a:spLocks noChangeArrowheads="1"/>
          </p:cNvSpPr>
          <p:nvPr/>
        </p:nvSpPr>
        <p:spPr bwMode="auto">
          <a:xfrm>
            <a:off x="2462213" y="3962400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X</a:t>
            </a:r>
          </a:p>
        </p:txBody>
      </p:sp>
      <p:sp>
        <p:nvSpPr>
          <p:cNvPr id="746547" name="Rectangle 51"/>
          <p:cNvSpPr>
            <a:spLocks noChangeArrowheads="1"/>
          </p:cNvSpPr>
          <p:nvPr/>
        </p:nvSpPr>
        <p:spPr bwMode="auto">
          <a:xfrm>
            <a:off x="5345113" y="4038600"/>
            <a:ext cx="493712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sz="2000" b="1">
              <a:latin typeface="Courier New" charset="0"/>
            </a:endParaRPr>
          </a:p>
        </p:txBody>
      </p:sp>
      <p:grpSp>
        <p:nvGrpSpPr>
          <p:cNvPr id="746548" name="Group 52"/>
          <p:cNvGrpSpPr>
            <a:grpSpLocks/>
          </p:cNvGrpSpPr>
          <p:nvPr/>
        </p:nvGrpSpPr>
        <p:grpSpPr bwMode="auto">
          <a:xfrm>
            <a:off x="703263" y="762000"/>
            <a:ext cx="7878762" cy="1981200"/>
            <a:chOff x="480" y="480"/>
            <a:chExt cx="5376" cy="1248"/>
          </a:xfrm>
        </p:grpSpPr>
        <p:sp>
          <p:nvSpPr>
            <p:cNvPr id="746549" name="Rectangle 53"/>
            <p:cNvSpPr>
              <a:spLocks noChangeArrowheads="1"/>
            </p:cNvSpPr>
            <p:nvPr/>
          </p:nvSpPr>
          <p:spPr bwMode="auto">
            <a:xfrm>
              <a:off x="480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0" name="Rectangle 54"/>
            <p:cNvSpPr>
              <a:spLocks noChangeArrowheads="1"/>
            </p:cNvSpPr>
            <p:nvPr/>
          </p:nvSpPr>
          <p:spPr bwMode="auto">
            <a:xfrm>
              <a:off x="816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1" name="Rectangle 55"/>
            <p:cNvSpPr>
              <a:spLocks noChangeArrowheads="1"/>
            </p:cNvSpPr>
            <p:nvPr/>
          </p:nvSpPr>
          <p:spPr bwMode="auto">
            <a:xfrm>
              <a:off x="1488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2" name="Rectangle 56"/>
            <p:cNvSpPr>
              <a:spLocks noChangeArrowheads="1"/>
            </p:cNvSpPr>
            <p:nvPr/>
          </p:nvSpPr>
          <p:spPr bwMode="auto">
            <a:xfrm>
              <a:off x="1824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3" name="Rectangle 57"/>
            <p:cNvSpPr>
              <a:spLocks noChangeArrowheads="1"/>
            </p:cNvSpPr>
            <p:nvPr/>
          </p:nvSpPr>
          <p:spPr bwMode="auto">
            <a:xfrm>
              <a:off x="2160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4" name="Rectangle 58"/>
            <p:cNvSpPr>
              <a:spLocks noChangeArrowheads="1"/>
            </p:cNvSpPr>
            <p:nvPr/>
          </p:nvSpPr>
          <p:spPr bwMode="auto">
            <a:xfrm>
              <a:off x="2496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5" name="Rectangle 59"/>
            <p:cNvSpPr>
              <a:spLocks noChangeArrowheads="1"/>
            </p:cNvSpPr>
            <p:nvPr/>
          </p:nvSpPr>
          <p:spPr bwMode="auto">
            <a:xfrm>
              <a:off x="2832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6" name="Rectangle 60"/>
            <p:cNvSpPr>
              <a:spLocks noChangeArrowheads="1"/>
            </p:cNvSpPr>
            <p:nvPr/>
          </p:nvSpPr>
          <p:spPr bwMode="auto">
            <a:xfrm>
              <a:off x="3168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7" name="Rectangle 61"/>
            <p:cNvSpPr>
              <a:spLocks noChangeArrowheads="1"/>
            </p:cNvSpPr>
            <p:nvPr/>
          </p:nvSpPr>
          <p:spPr bwMode="auto">
            <a:xfrm>
              <a:off x="1152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8" name="Rectangle 62"/>
            <p:cNvSpPr>
              <a:spLocks noChangeArrowheads="1"/>
            </p:cNvSpPr>
            <p:nvPr/>
          </p:nvSpPr>
          <p:spPr bwMode="auto">
            <a:xfrm>
              <a:off x="5184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59" name="Rectangle 63"/>
            <p:cNvSpPr>
              <a:spLocks noChangeArrowheads="1"/>
            </p:cNvSpPr>
            <p:nvPr/>
          </p:nvSpPr>
          <p:spPr bwMode="auto">
            <a:xfrm>
              <a:off x="4848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60" name="Rectangle 64"/>
            <p:cNvSpPr>
              <a:spLocks noChangeArrowheads="1"/>
            </p:cNvSpPr>
            <p:nvPr/>
          </p:nvSpPr>
          <p:spPr bwMode="auto">
            <a:xfrm>
              <a:off x="4512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61" name="Rectangle 65"/>
            <p:cNvSpPr>
              <a:spLocks noChangeArrowheads="1"/>
            </p:cNvSpPr>
            <p:nvPr/>
          </p:nvSpPr>
          <p:spPr bwMode="auto">
            <a:xfrm>
              <a:off x="4176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62" name="Rectangle 66"/>
            <p:cNvSpPr>
              <a:spLocks noChangeArrowheads="1"/>
            </p:cNvSpPr>
            <p:nvPr/>
          </p:nvSpPr>
          <p:spPr bwMode="auto">
            <a:xfrm>
              <a:off x="3840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63" name="Rectangle 67"/>
            <p:cNvSpPr>
              <a:spLocks noChangeArrowheads="1"/>
            </p:cNvSpPr>
            <p:nvPr/>
          </p:nvSpPr>
          <p:spPr bwMode="auto">
            <a:xfrm>
              <a:off x="3504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64" name="Rectangle 68"/>
            <p:cNvSpPr>
              <a:spLocks noChangeArrowheads="1"/>
            </p:cNvSpPr>
            <p:nvPr/>
          </p:nvSpPr>
          <p:spPr bwMode="auto">
            <a:xfrm>
              <a:off x="5520" y="1056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GB" sz="1600" b="1">
                <a:latin typeface="Courier New" charset="0"/>
              </a:endParaRPr>
            </a:p>
          </p:txBody>
        </p:sp>
        <p:sp>
          <p:nvSpPr>
            <p:cNvPr id="746565" name="Rectangle 69"/>
            <p:cNvSpPr>
              <a:spLocks noChangeArrowheads="1"/>
            </p:cNvSpPr>
            <p:nvPr/>
          </p:nvSpPr>
          <p:spPr bwMode="auto">
            <a:xfrm>
              <a:off x="480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1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66" name="Rectangle 70"/>
            <p:cNvSpPr>
              <a:spLocks noChangeArrowheads="1"/>
            </p:cNvSpPr>
            <p:nvPr/>
          </p:nvSpPr>
          <p:spPr bwMode="auto">
            <a:xfrm>
              <a:off x="816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2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67" name="Rectangle 71"/>
            <p:cNvSpPr>
              <a:spLocks noChangeArrowheads="1"/>
            </p:cNvSpPr>
            <p:nvPr/>
          </p:nvSpPr>
          <p:spPr bwMode="auto">
            <a:xfrm>
              <a:off x="1152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3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68" name="Rectangle 72"/>
            <p:cNvSpPr>
              <a:spLocks noChangeArrowheads="1"/>
            </p:cNvSpPr>
            <p:nvPr/>
          </p:nvSpPr>
          <p:spPr bwMode="auto">
            <a:xfrm>
              <a:off x="1488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4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69" name="Rectangle 73"/>
            <p:cNvSpPr>
              <a:spLocks noChangeArrowheads="1"/>
            </p:cNvSpPr>
            <p:nvPr/>
          </p:nvSpPr>
          <p:spPr bwMode="auto">
            <a:xfrm>
              <a:off x="1824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5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0" name="Rectangle 74"/>
            <p:cNvSpPr>
              <a:spLocks noChangeArrowheads="1"/>
            </p:cNvSpPr>
            <p:nvPr/>
          </p:nvSpPr>
          <p:spPr bwMode="auto">
            <a:xfrm>
              <a:off x="2160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6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1" name="Rectangle 75"/>
            <p:cNvSpPr>
              <a:spLocks noChangeArrowheads="1"/>
            </p:cNvSpPr>
            <p:nvPr/>
          </p:nvSpPr>
          <p:spPr bwMode="auto">
            <a:xfrm>
              <a:off x="2496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7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2" name="Rectangle 76"/>
            <p:cNvSpPr>
              <a:spLocks noChangeArrowheads="1"/>
            </p:cNvSpPr>
            <p:nvPr/>
          </p:nvSpPr>
          <p:spPr bwMode="auto">
            <a:xfrm>
              <a:off x="2832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8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3" name="Rectangle 77"/>
            <p:cNvSpPr>
              <a:spLocks noChangeArrowheads="1"/>
            </p:cNvSpPr>
            <p:nvPr/>
          </p:nvSpPr>
          <p:spPr bwMode="auto">
            <a:xfrm>
              <a:off x="3168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9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4" name="Rectangle 78"/>
            <p:cNvSpPr>
              <a:spLocks noChangeArrowheads="1"/>
            </p:cNvSpPr>
            <p:nvPr/>
          </p:nvSpPr>
          <p:spPr bwMode="auto">
            <a:xfrm>
              <a:off x="3504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7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5" name="Rectangle 79"/>
            <p:cNvSpPr>
              <a:spLocks noChangeArrowheads="1"/>
            </p:cNvSpPr>
            <p:nvPr/>
          </p:nvSpPr>
          <p:spPr bwMode="auto">
            <a:xfrm>
              <a:off x="3840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6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6" name="Rectangle 80"/>
            <p:cNvSpPr>
              <a:spLocks noChangeArrowheads="1"/>
            </p:cNvSpPr>
            <p:nvPr/>
          </p:nvSpPr>
          <p:spPr bwMode="auto">
            <a:xfrm>
              <a:off x="4176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5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7" name="Rectangle 81"/>
            <p:cNvSpPr>
              <a:spLocks noChangeArrowheads="1"/>
            </p:cNvSpPr>
            <p:nvPr/>
          </p:nvSpPr>
          <p:spPr bwMode="auto">
            <a:xfrm>
              <a:off x="4512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4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8" name="Rectangle 82"/>
            <p:cNvSpPr>
              <a:spLocks noChangeArrowheads="1"/>
            </p:cNvSpPr>
            <p:nvPr/>
          </p:nvSpPr>
          <p:spPr bwMode="auto">
            <a:xfrm>
              <a:off x="4848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3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79" name="Rectangle 83"/>
            <p:cNvSpPr>
              <a:spLocks noChangeArrowheads="1"/>
            </p:cNvSpPr>
            <p:nvPr/>
          </p:nvSpPr>
          <p:spPr bwMode="auto">
            <a:xfrm>
              <a:off x="5184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2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80" name="Rectangle 84"/>
            <p:cNvSpPr>
              <a:spLocks noChangeArrowheads="1"/>
            </p:cNvSpPr>
            <p:nvPr/>
          </p:nvSpPr>
          <p:spPr bwMode="auto">
            <a:xfrm>
              <a:off x="5520" y="480"/>
              <a:ext cx="33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1</a:t>
              </a:r>
              <a:endParaRPr lang="en-GB" sz="2000" b="1">
                <a:latin typeface="Courier New" charset="0"/>
              </a:endParaRPr>
            </a:p>
          </p:txBody>
        </p:sp>
        <p:sp>
          <p:nvSpPr>
            <p:cNvPr id="746581" name="Rectangle 85"/>
            <p:cNvSpPr>
              <a:spLocks noChangeArrowheads="1"/>
            </p:cNvSpPr>
            <p:nvPr/>
          </p:nvSpPr>
          <p:spPr bwMode="auto">
            <a:xfrm>
              <a:off x="3504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582" name="Rectangle 86"/>
            <p:cNvSpPr>
              <a:spLocks noChangeArrowheads="1"/>
            </p:cNvSpPr>
            <p:nvPr/>
          </p:nvSpPr>
          <p:spPr bwMode="auto">
            <a:xfrm>
              <a:off x="3840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6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583" name="Rectangle 87"/>
            <p:cNvSpPr>
              <a:spLocks noChangeArrowheads="1"/>
            </p:cNvSpPr>
            <p:nvPr/>
          </p:nvSpPr>
          <p:spPr bwMode="auto">
            <a:xfrm>
              <a:off x="4176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5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584" name="Rectangle 88"/>
            <p:cNvSpPr>
              <a:spLocks noChangeArrowheads="1"/>
            </p:cNvSpPr>
            <p:nvPr/>
          </p:nvSpPr>
          <p:spPr bwMode="auto">
            <a:xfrm>
              <a:off x="4512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4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585" name="Rectangle 89"/>
            <p:cNvSpPr>
              <a:spLocks noChangeArrowheads="1"/>
            </p:cNvSpPr>
            <p:nvPr/>
          </p:nvSpPr>
          <p:spPr bwMode="auto">
            <a:xfrm>
              <a:off x="4848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586" name="Rectangle 90"/>
            <p:cNvSpPr>
              <a:spLocks noChangeArrowheads="1"/>
            </p:cNvSpPr>
            <p:nvPr/>
          </p:nvSpPr>
          <p:spPr bwMode="auto">
            <a:xfrm>
              <a:off x="5184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2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587" name="Rectangle 91"/>
            <p:cNvSpPr>
              <a:spLocks noChangeArrowheads="1"/>
            </p:cNvSpPr>
            <p:nvPr/>
          </p:nvSpPr>
          <p:spPr bwMode="auto">
            <a:xfrm>
              <a:off x="5520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588" name="Line 92"/>
            <p:cNvSpPr>
              <a:spLocks noChangeShapeType="1"/>
            </p:cNvSpPr>
            <p:nvPr/>
          </p:nvSpPr>
          <p:spPr bwMode="auto">
            <a:xfrm flipV="1">
              <a:off x="3984" y="120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89" name="Line 93"/>
            <p:cNvSpPr>
              <a:spLocks noChangeShapeType="1"/>
            </p:cNvSpPr>
            <p:nvPr/>
          </p:nvSpPr>
          <p:spPr bwMode="auto">
            <a:xfrm>
              <a:off x="4080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0" name="Line 94"/>
            <p:cNvSpPr>
              <a:spLocks noChangeShapeType="1"/>
            </p:cNvSpPr>
            <p:nvPr/>
          </p:nvSpPr>
          <p:spPr bwMode="auto">
            <a:xfrm flipH="1">
              <a:off x="3984" y="12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1" name="Line 95"/>
            <p:cNvSpPr>
              <a:spLocks noChangeShapeType="1"/>
            </p:cNvSpPr>
            <p:nvPr/>
          </p:nvSpPr>
          <p:spPr bwMode="auto">
            <a:xfrm flipV="1">
              <a:off x="4320" y="120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2" name="Line 96"/>
            <p:cNvSpPr>
              <a:spLocks noChangeShapeType="1"/>
            </p:cNvSpPr>
            <p:nvPr/>
          </p:nvSpPr>
          <p:spPr bwMode="auto">
            <a:xfrm>
              <a:off x="4416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3" name="Line 97"/>
            <p:cNvSpPr>
              <a:spLocks noChangeShapeType="1"/>
            </p:cNvSpPr>
            <p:nvPr/>
          </p:nvSpPr>
          <p:spPr bwMode="auto">
            <a:xfrm flipH="1">
              <a:off x="4320" y="12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4" name="Line 98"/>
            <p:cNvSpPr>
              <a:spLocks noChangeShapeType="1"/>
            </p:cNvSpPr>
            <p:nvPr/>
          </p:nvSpPr>
          <p:spPr bwMode="auto">
            <a:xfrm flipV="1">
              <a:off x="4656" y="120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5" name="Line 99"/>
            <p:cNvSpPr>
              <a:spLocks noChangeShapeType="1"/>
            </p:cNvSpPr>
            <p:nvPr/>
          </p:nvSpPr>
          <p:spPr bwMode="auto">
            <a:xfrm>
              <a:off x="4752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6" name="Line 100"/>
            <p:cNvSpPr>
              <a:spLocks noChangeShapeType="1"/>
            </p:cNvSpPr>
            <p:nvPr/>
          </p:nvSpPr>
          <p:spPr bwMode="auto">
            <a:xfrm flipH="1">
              <a:off x="4656" y="12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7" name="Line 101"/>
            <p:cNvSpPr>
              <a:spLocks noChangeShapeType="1"/>
            </p:cNvSpPr>
            <p:nvPr/>
          </p:nvSpPr>
          <p:spPr bwMode="auto">
            <a:xfrm>
              <a:off x="5424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8" name="Line 102"/>
            <p:cNvSpPr>
              <a:spLocks noChangeShapeType="1"/>
            </p:cNvSpPr>
            <p:nvPr/>
          </p:nvSpPr>
          <p:spPr bwMode="auto">
            <a:xfrm flipH="1">
              <a:off x="5328" y="12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99" name="Rectangle 103"/>
            <p:cNvSpPr>
              <a:spLocks noChangeArrowheads="1"/>
            </p:cNvSpPr>
            <p:nvPr/>
          </p:nvSpPr>
          <p:spPr bwMode="auto">
            <a:xfrm>
              <a:off x="5520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00" name="Rectangle 104"/>
            <p:cNvSpPr>
              <a:spLocks noChangeArrowheads="1"/>
            </p:cNvSpPr>
            <p:nvPr/>
          </p:nvSpPr>
          <p:spPr bwMode="auto">
            <a:xfrm>
              <a:off x="4848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01" name="Rectangle 105"/>
            <p:cNvSpPr>
              <a:spLocks noChangeArrowheads="1"/>
            </p:cNvSpPr>
            <p:nvPr/>
          </p:nvSpPr>
          <p:spPr bwMode="auto">
            <a:xfrm>
              <a:off x="4512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02" name="Rectangle 106"/>
            <p:cNvSpPr>
              <a:spLocks noChangeArrowheads="1"/>
            </p:cNvSpPr>
            <p:nvPr/>
          </p:nvSpPr>
          <p:spPr bwMode="auto">
            <a:xfrm>
              <a:off x="4176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03" name="Rectangle 107"/>
            <p:cNvSpPr>
              <a:spLocks noChangeArrowheads="1"/>
            </p:cNvSpPr>
            <p:nvPr/>
          </p:nvSpPr>
          <p:spPr bwMode="auto">
            <a:xfrm>
              <a:off x="3504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04" name="Rectangle 108"/>
            <p:cNvSpPr>
              <a:spLocks noChangeArrowheads="1"/>
            </p:cNvSpPr>
            <p:nvPr/>
          </p:nvSpPr>
          <p:spPr bwMode="auto">
            <a:xfrm>
              <a:off x="1488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1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05" name="Rectangle 109"/>
            <p:cNvSpPr>
              <a:spLocks noChangeArrowheads="1"/>
            </p:cNvSpPr>
            <p:nvPr/>
          </p:nvSpPr>
          <p:spPr bwMode="auto">
            <a:xfrm>
              <a:off x="2832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06" name="Rectangle 110"/>
            <p:cNvSpPr>
              <a:spLocks noChangeArrowheads="1"/>
            </p:cNvSpPr>
            <p:nvPr/>
          </p:nvSpPr>
          <p:spPr bwMode="auto">
            <a:xfrm>
              <a:off x="2832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07" name="Rectangle 111"/>
            <p:cNvSpPr>
              <a:spLocks noChangeArrowheads="1"/>
            </p:cNvSpPr>
            <p:nvPr/>
          </p:nvSpPr>
          <p:spPr bwMode="auto">
            <a:xfrm>
              <a:off x="1488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08" name="Line 112"/>
            <p:cNvSpPr>
              <a:spLocks noChangeShapeType="1"/>
            </p:cNvSpPr>
            <p:nvPr/>
          </p:nvSpPr>
          <p:spPr bwMode="auto">
            <a:xfrm>
              <a:off x="1632" y="1344"/>
              <a:ext cx="4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09" name="Line 113"/>
            <p:cNvSpPr>
              <a:spLocks noChangeShapeType="1"/>
            </p:cNvSpPr>
            <p:nvPr/>
          </p:nvSpPr>
          <p:spPr bwMode="auto">
            <a:xfrm>
              <a:off x="5760" y="11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10" name="Line 114"/>
            <p:cNvSpPr>
              <a:spLocks noChangeShapeType="1"/>
            </p:cNvSpPr>
            <p:nvPr/>
          </p:nvSpPr>
          <p:spPr bwMode="auto">
            <a:xfrm>
              <a:off x="3072" y="11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11" name="Line 115"/>
            <p:cNvSpPr>
              <a:spLocks noChangeShapeType="1"/>
            </p:cNvSpPr>
            <p:nvPr/>
          </p:nvSpPr>
          <p:spPr bwMode="auto">
            <a:xfrm>
              <a:off x="1632" y="139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12" name="Line 116"/>
            <p:cNvSpPr>
              <a:spLocks noChangeShapeType="1"/>
            </p:cNvSpPr>
            <p:nvPr/>
          </p:nvSpPr>
          <p:spPr bwMode="auto">
            <a:xfrm flipV="1">
              <a:off x="1632" y="12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13" name="Rectangle 117"/>
            <p:cNvSpPr>
              <a:spLocks noChangeArrowheads="1"/>
            </p:cNvSpPr>
            <p:nvPr/>
          </p:nvSpPr>
          <p:spPr bwMode="auto">
            <a:xfrm>
              <a:off x="1152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14" name="Rectangle 118"/>
            <p:cNvSpPr>
              <a:spLocks noChangeArrowheads="1"/>
            </p:cNvSpPr>
            <p:nvPr/>
          </p:nvSpPr>
          <p:spPr bwMode="auto">
            <a:xfrm>
              <a:off x="1152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15" name="Rectangle 119"/>
            <p:cNvSpPr>
              <a:spLocks noChangeArrowheads="1"/>
            </p:cNvSpPr>
            <p:nvPr/>
          </p:nvSpPr>
          <p:spPr bwMode="auto">
            <a:xfrm>
              <a:off x="5184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16" name="Line 120"/>
            <p:cNvSpPr>
              <a:spLocks noChangeShapeType="1"/>
            </p:cNvSpPr>
            <p:nvPr/>
          </p:nvSpPr>
          <p:spPr bwMode="auto">
            <a:xfrm>
              <a:off x="1392" y="11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17" name="Line 121"/>
            <p:cNvSpPr>
              <a:spLocks noChangeShapeType="1"/>
            </p:cNvSpPr>
            <p:nvPr/>
          </p:nvSpPr>
          <p:spPr bwMode="auto">
            <a:xfrm>
              <a:off x="1392" y="1440"/>
              <a:ext cx="39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18" name="Line 122"/>
            <p:cNvSpPr>
              <a:spLocks noChangeShapeType="1"/>
            </p:cNvSpPr>
            <p:nvPr/>
          </p:nvSpPr>
          <p:spPr bwMode="auto">
            <a:xfrm flipV="1">
              <a:off x="5328" y="12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19" name="Rectangle 123"/>
            <p:cNvSpPr>
              <a:spLocks noChangeArrowheads="1"/>
            </p:cNvSpPr>
            <p:nvPr/>
          </p:nvSpPr>
          <p:spPr bwMode="auto">
            <a:xfrm>
              <a:off x="3168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3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20" name="Line 124"/>
            <p:cNvSpPr>
              <a:spLocks noChangeShapeType="1"/>
            </p:cNvSpPr>
            <p:nvPr/>
          </p:nvSpPr>
          <p:spPr bwMode="auto">
            <a:xfrm>
              <a:off x="3408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21" name="Line 125"/>
            <p:cNvSpPr>
              <a:spLocks noChangeShapeType="1"/>
            </p:cNvSpPr>
            <p:nvPr/>
          </p:nvSpPr>
          <p:spPr bwMode="auto">
            <a:xfrm flipH="1">
              <a:off x="3312" y="12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22" name="Rectangle 126"/>
            <p:cNvSpPr>
              <a:spLocks noChangeArrowheads="1"/>
            </p:cNvSpPr>
            <p:nvPr/>
          </p:nvSpPr>
          <p:spPr bwMode="auto">
            <a:xfrm>
              <a:off x="1824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7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23" name="Line 127"/>
            <p:cNvSpPr>
              <a:spLocks noChangeShapeType="1"/>
            </p:cNvSpPr>
            <p:nvPr/>
          </p:nvSpPr>
          <p:spPr bwMode="auto">
            <a:xfrm>
              <a:off x="5088" y="11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24" name="Line 128"/>
            <p:cNvSpPr>
              <a:spLocks noChangeShapeType="1"/>
            </p:cNvSpPr>
            <p:nvPr/>
          </p:nvSpPr>
          <p:spPr bwMode="auto">
            <a:xfrm flipH="1">
              <a:off x="3312" y="1488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25" name="Rectangle 129"/>
            <p:cNvSpPr>
              <a:spLocks noChangeArrowheads="1"/>
            </p:cNvSpPr>
            <p:nvPr/>
          </p:nvSpPr>
          <p:spPr bwMode="auto">
            <a:xfrm>
              <a:off x="3168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26" name="Rectangle 130"/>
            <p:cNvSpPr>
              <a:spLocks noChangeArrowheads="1"/>
            </p:cNvSpPr>
            <p:nvPr/>
          </p:nvSpPr>
          <p:spPr bwMode="auto">
            <a:xfrm>
              <a:off x="816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27" name="Rectangle 131"/>
            <p:cNvSpPr>
              <a:spLocks noChangeArrowheads="1"/>
            </p:cNvSpPr>
            <p:nvPr/>
          </p:nvSpPr>
          <p:spPr bwMode="auto">
            <a:xfrm>
              <a:off x="816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28" name="Line 132"/>
            <p:cNvSpPr>
              <a:spLocks noChangeShapeType="1"/>
            </p:cNvSpPr>
            <p:nvPr/>
          </p:nvSpPr>
          <p:spPr bwMode="auto">
            <a:xfrm>
              <a:off x="1056" y="115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29" name="Line 133"/>
            <p:cNvSpPr>
              <a:spLocks noChangeShapeType="1"/>
            </p:cNvSpPr>
            <p:nvPr/>
          </p:nvSpPr>
          <p:spPr bwMode="auto">
            <a:xfrm>
              <a:off x="1056" y="1536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30" name="Rectangle 134"/>
            <p:cNvSpPr>
              <a:spLocks noChangeArrowheads="1"/>
            </p:cNvSpPr>
            <p:nvPr/>
          </p:nvSpPr>
          <p:spPr bwMode="auto">
            <a:xfrm>
              <a:off x="2160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31" name="Rectangle 135"/>
            <p:cNvSpPr>
              <a:spLocks noChangeArrowheads="1"/>
            </p:cNvSpPr>
            <p:nvPr/>
          </p:nvSpPr>
          <p:spPr bwMode="auto">
            <a:xfrm>
              <a:off x="2160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32" name="Line 136"/>
            <p:cNvSpPr>
              <a:spLocks noChangeShapeType="1"/>
            </p:cNvSpPr>
            <p:nvPr/>
          </p:nvSpPr>
          <p:spPr bwMode="auto">
            <a:xfrm>
              <a:off x="2400" y="11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33" name="Line 137"/>
            <p:cNvSpPr>
              <a:spLocks noChangeShapeType="1"/>
            </p:cNvSpPr>
            <p:nvPr/>
          </p:nvSpPr>
          <p:spPr bwMode="auto">
            <a:xfrm>
              <a:off x="2400" y="158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34" name="Line 138"/>
            <p:cNvSpPr>
              <a:spLocks noChangeShapeType="1"/>
            </p:cNvSpPr>
            <p:nvPr/>
          </p:nvSpPr>
          <p:spPr bwMode="auto">
            <a:xfrm flipV="1">
              <a:off x="3312" y="12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35" name="Rectangle 139"/>
            <p:cNvSpPr>
              <a:spLocks noChangeArrowheads="1"/>
            </p:cNvSpPr>
            <p:nvPr/>
          </p:nvSpPr>
          <p:spPr bwMode="auto">
            <a:xfrm>
              <a:off x="480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36" name="Rectangle 140"/>
            <p:cNvSpPr>
              <a:spLocks noChangeArrowheads="1"/>
            </p:cNvSpPr>
            <p:nvPr/>
          </p:nvSpPr>
          <p:spPr bwMode="auto">
            <a:xfrm>
              <a:off x="480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37" name="Line 141"/>
            <p:cNvSpPr>
              <a:spLocks noChangeShapeType="1"/>
            </p:cNvSpPr>
            <p:nvPr/>
          </p:nvSpPr>
          <p:spPr bwMode="auto">
            <a:xfrm>
              <a:off x="720" y="115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38" name="Line 142"/>
            <p:cNvSpPr>
              <a:spLocks noChangeShapeType="1"/>
            </p:cNvSpPr>
            <p:nvPr/>
          </p:nvSpPr>
          <p:spPr bwMode="auto">
            <a:xfrm>
              <a:off x="720" y="1632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39" name="Rectangle 143"/>
            <p:cNvSpPr>
              <a:spLocks noChangeArrowheads="1"/>
            </p:cNvSpPr>
            <p:nvPr/>
          </p:nvSpPr>
          <p:spPr bwMode="auto">
            <a:xfrm>
              <a:off x="3840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40" name="Rectangle 144"/>
            <p:cNvSpPr>
              <a:spLocks noChangeArrowheads="1"/>
            </p:cNvSpPr>
            <p:nvPr/>
          </p:nvSpPr>
          <p:spPr bwMode="auto">
            <a:xfrm>
              <a:off x="2496" y="816"/>
              <a:ext cx="336" cy="240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latin typeface="Courier New" charset="0"/>
                </a:rPr>
                <a:t>*</a:t>
              </a:r>
              <a:endParaRPr lang="en-GB" sz="1400" b="1">
                <a:latin typeface="Courier New" charset="0"/>
              </a:endParaRPr>
            </a:p>
          </p:txBody>
        </p:sp>
        <p:sp>
          <p:nvSpPr>
            <p:cNvPr id="746641" name="Rectangle 145"/>
            <p:cNvSpPr>
              <a:spLocks noChangeArrowheads="1"/>
            </p:cNvSpPr>
            <p:nvPr/>
          </p:nvSpPr>
          <p:spPr bwMode="auto">
            <a:xfrm>
              <a:off x="2496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0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42" name="Line 146"/>
            <p:cNvSpPr>
              <a:spLocks noChangeShapeType="1"/>
            </p:cNvSpPr>
            <p:nvPr/>
          </p:nvSpPr>
          <p:spPr bwMode="auto">
            <a:xfrm>
              <a:off x="1728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43" name="Line 147"/>
            <p:cNvSpPr>
              <a:spLocks noChangeShapeType="1"/>
            </p:cNvSpPr>
            <p:nvPr/>
          </p:nvSpPr>
          <p:spPr bwMode="auto">
            <a:xfrm flipH="1">
              <a:off x="1632" y="12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44" name="Line 148"/>
            <p:cNvSpPr>
              <a:spLocks noChangeShapeType="1"/>
            </p:cNvSpPr>
            <p:nvPr/>
          </p:nvSpPr>
          <p:spPr bwMode="auto">
            <a:xfrm flipV="1">
              <a:off x="2640" y="1200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45" name="Line 149"/>
            <p:cNvSpPr>
              <a:spLocks noChangeShapeType="1"/>
            </p:cNvSpPr>
            <p:nvPr/>
          </p:nvSpPr>
          <p:spPr bwMode="auto">
            <a:xfrm>
              <a:off x="2736" y="1152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46" name="Line 150"/>
            <p:cNvSpPr>
              <a:spLocks noChangeShapeType="1"/>
            </p:cNvSpPr>
            <p:nvPr/>
          </p:nvSpPr>
          <p:spPr bwMode="auto">
            <a:xfrm flipH="1">
              <a:off x="2640" y="12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47" name="Line 151"/>
            <p:cNvSpPr>
              <a:spLocks noChangeShapeType="1"/>
            </p:cNvSpPr>
            <p:nvPr/>
          </p:nvSpPr>
          <p:spPr bwMode="auto">
            <a:xfrm>
              <a:off x="2736" y="11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48" name="Line 152"/>
            <p:cNvSpPr>
              <a:spLocks noChangeShapeType="1"/>
            </p:cNvSpPr>
            <p:nvPr/>
          </p:nvSpPr>
          <p:spPr bwMode="auto">
            <a:xfrm>
              <a:off x="2736" y="168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49" name="Line 153"/>
            <p:cNvSpPr>
              <a:spLocks noChangeShapeType="1"/>
            </p:cNvSpPr>
            <p:nvPr/>
          </p:nvSpPr>
          <p:spPr bwMode="auto">
            <a:xfrm flipV="1">
              <a:off x="3984" y="120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50" name="Rectangle 154"/>
            <p:cNvSpPr>
              <a:spLocks noChangeArrowheads="1"/>
            </p:cNvSpPr>
            <p:nvPr/>
          </p:nvSpPr>
          <p:spPr bwMode="auto">
            <a:xfrm>
              <a:off x="1824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1</a:t>
              </a:r>
              <a:endParaRPr lang="en-GB" sz="1600" b="1">
                <a:latin typeface="Courier New" charset="0"/>
              </a:endParaRPr>
            </a:p>
          </p:txBody>
        </p:sp>
        <p:sp>
          <p:nvSpPr>
            <p:cNvPr id="746651" name="Line 155"/>
            <p:cNvSpPr>
              <a:spLocks noChangeShapeType="1"/>
            </p:cNvSpPr>
            <p:nvPr/>
          </p:nvSpPr>
          <p:spPr bwMode="auto">
            <a:xfrm>
              <a:off x="3744" y="11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52" name="Line 156"/>
            <p:cNvSpPr>
              <a:spLocks noChangeShapeType="1"/>
            </p:cNvSpPr>
            <p:nvPr/>
          </p:nvSpPr>
          <p:spPr bwMode="auto">
            <a:xfrm flipH="1">
              <a:off x="1968" y="1728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53" name="Line 157"/>
            <p:cNvSpPr>
              <a:spLocks noChangeShapeType="1"/>
            </p:cNvSpPr>
            <p:nvPr/>
          </p:nvSpPr>
          <p:spPr bwMode="auto">
            <a:xfrm flipV="1">
              <a:off x="1968" y="120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54" name="Line 158"/>
            <p:cNvSpPr>
              <a:spLocks noChangeShapeType="1"/>
            </p:cNvSpPr>
            <p:nvPr/>
          </p:nvSpPr>
          <p:spPr bwMode="auto">
            <a:xfrm>
              <a:off x="2064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55" name="Line 159"/>
            <p:cNvSpPr>
              <a:spLocks noChangeShapeType="1"/>
            </p:cNvSpPr>
            <p:nvPr/>
          </p:nvSpPr>
          <p:spPr bwMode="auto">
            <a:xfrm flipH="1">
              <a:off x="1968" y="12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6656" name="AutoShape 160"/>
          <p:cNvSpPr>
            <a:spLocks noChangeArrowheads="1"/>
          </p:cNvSpPr>
          <p:nvPr/>
        </p:nvSpPr>
        <p:spPr bwMode="auto">
          <a:xfrm>
            <a:off x="703263" y="685800"/>
            <a:ext cx="141287" cy="381000"/>
          </a:xfrm>
          <a:prstGeom prst="downArrow">
            <a:avLst>
              <a:gd name="adj1" fmla="val 50000"/>
              <a:gd name="adj2" fmla="val 6741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657" name="AutoShape 161"/>
          <p:cNvSpPr>
            <a:spLocks noChangeArrowheads="1"/>
          </p:cNvSpPr>
          <p:nvPr/>
        </p:nvSpPr>
        <p:spPr bwMode="auto">
          <a:xfrm>
            <a:off x="5627688" y="685800"/>
            <a:ext cx="211137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658" name="Rectangle 162"/>
          <p:cNvSpPr>
            <a:spLocks noChangeArrowheads="1"/>
          </p:cNvSpPr>
          <p:nvPr/>
        </p:nvSpPr>
        <p:spPr bwMode="auto">
          <a:xfrm>
            <a:off x="5345113" y="4038600"/>
            <a:ext cx="493712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1</a:t>
            </a:r>
            <a:endParaRPr lang="en-GB" sz="1400" b="1">
              <a:latin typeface="Courier New" charset="0"/>
            </a:endParaRPr>
          </a:p>
        </p:txBody>
      </p:sp>
      <p:sp>
        <p:nvSpPr>
          <p:cNvPr id="746659" name="AutoShape 163"/>
          <p:cNvSpPr>
            <a:spLocks noChangeArrowheads="1"/>
          </p:cNvSpPr>
          <p:nvPr/>
        </p:nvSpPr>
        <p:spPr bwMode="auto">
          <a:xfrm>
            <a:off x="5133975" y="685800"/>
            <a:ext cx="141288" cy="381000"/>
          </a:xfrm>
          <a:prstGeom prst="downArrow">
            <a:avLst>
              <a:gd name="adj1" fmla="val 50000"/>
              <a:gd name="adj2" fmla="val 67415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660" name="AutoShape 164"/>
          <p:cNvSpPr>
            <a:spLocks noChangeArrowheads="1"/>
          </p:cNvSpPr>
          <p:nvPr/>
        </p:nvSpPr>
        <p:spPr bwMode="auto">
          <a:xfrm>
            <a:off x="2673350" y="685800"/>
            <a:ext cx="211138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661" name="Rectangle 165"/>
          <p:cNvSpPr>
            <a:spLocks noChangeArrowheads="1"/>
          </p:cNvSpPr>
          <p:nvPr/>
        </p:nvSpPr>
        <p:spPr bwMode="auto">
          <a:xfrm>
            <a:off x="5627688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7</a:t>
            </a:r>
            <a:endParaRPr lang="en-GB" sz="1400" b="1">
              <a:latin typeface="Courier New" charset="0"/>
            </a:endParaRPr>
          </a:p>
        </p:txBody>
      </p:sp>
      <p:sp>
        <p:nvSpPr>
          <p:cNvPr id="746662" name="Rectangle 166"/>
          <p:cNvSpPr>
            <a:spLocks noChangeArrowheads="1"/>
          </p:cNvSpPr>
          <p:nvPr/>
        </p:nvSpPr>
        <p:spPr bwMode="auto">
          <a:xfrm>
            <a:off x="2673350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*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663" name="Group 167"/>
          <p:cNvGrpSpPr>
            <a:grpSpLocks/>
          </p:cNvGrpSpPr>
          <p:nvPr/>
        </p:nvGrpSpPr>
        <p:grpSpPr bwMode="auto">
          <a:xfrm>
            <a:off x="2884488" y="1066800"/>
            <a:ext cx="3235325" cy="1752600"/>
            <a:chOff x="1968" y="672"/>
            <a:chExt cx="2208" cy="1104"/>
          </a:xfrm>
        </p:grpSpPr>
        <p:sp>
          <p:nvSpPr>
            <p:cNvPr id="746664" name="Line 168"/>
            <p:cNvSpPr>
              <a:spLocks noChangeShapeType="1"/>
            </p:cNvSpPr>
            <p:nvPr/>
          </p:nvSpPr>
          <p:spPr bwMode="auto">
            <a:xfrm>
              <a:off x="2064" y="1152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65" name="Line 169"/>
            <p:cNvSpPr>
              <a:spLocks noChangeShapeType="1"/>
            </p:cNvSpPr>
            <p:nvPr/>
          </p:nvSpPr>
          <p:spPr bwMode="auto">
            <a:xfrm>
              <a:off x="1968" y="12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66" name="Line 170"/>
            <p:cNvSpPr>
              <a:spLocks noChangeShapeType="1"/>
            </p:cNvSpPr>
            <p:nvPr/>
          </p:nvSpPr>
          <p:spPr bwMode="auto">
            <a:xfrm>
              <a:off x="2064" y="115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67" name="Line 171"/>
            <p:cNvSpPr>
              <a:spLocks noChangeShapeType="1"/>
            </p:cNvSpPr>
            <p:nvPr/>
          </p:nvSpPr>
          <p:spPr bwMode="auto">
            <a:xfrm>
              <a:off x="2064" y="1776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68" name="Line 172"/>
            <p:cNvSpPr>
              <a:spLocks noChangeShapeType="1"/>
            </p:cNvSpPr>
            <p:nvPr/>
          </p:nvSpPr>
          <p:spPr bwMode="auto">
            <a:xfrm flipV="1">
              <a:off x="3984" y="16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69" name="Rectangle 173"/>
            <p:cNvSpPr>
              <a:spLocks noChangeArrowheads="1"/>
            </p:cNvSpPr>
            <p:nvPr/>
          </p:nvSpPr>
          <p:spPr bwMode="auto">
            <a:xfrm>
              <a:off x="3840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2</a:t>
              </a:r>
              <a:endParaRPr lang="en-GB" sz="1600" b="1">
                <a:latin typeface="Courier New" charset="0"/>
              </a:endParaRPr>
            </a:p>
          </p:txBody>
        </p:sp>
      </p:grpSp>
      <p:grpSp>
        <p:nvGrpSpPr>
          <p:cNvPr id="746670" name="Group 174"/>
          <p:cNvGrpSpPr>
            <a:grpSpLocks/>
          </p:cNvGrpSpPr>
          <p:nvPr/>
        </p:nvGrpSpPr>
        <p:grpSpPr bwMode="auto">
          <a:xfrm>
            <a:off x="5205413" y="3733800"/>
            <a:ext cx="773112" cy="304800"/>
            <a:chOff x="3552" y="2352"/>
            <a:chExt cx="528" cy="192"/>
          </a:xfrm>
        </p:grpSpPr>
        <p:sp>
          <p:nvSpPr>
            <p:cNvPr id="746671" name="Line 175"/>
            <p:cNvSpPr>
              <a:spLocks noChangeShapeType="1"/>
            </p:cNvSpPr>
            <p:nvPr/>
          </p:nvSpPr>
          <p:spPr bwMode="auto">
            <a:xfrm>
              <a:off x="3696" y="240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72" name="Line 176"/>
            <p:cNvSpPr>
              <a:spLocks noChangeShapeType="1"/>
            </p:cNvSpPr>
            <p:nvPr/>
          </p:nvSpPr>
          <p:spPr bwMode="auto">
            <a:xfrm flipH="1">
              <a:off x="3936" y="240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73" name="Line 177"/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674" name="Line 178"/>
            <p:cNvSpPr>
              <a:spLocks noChangeShapeType="1"/>
            </p:cNvSpPr>
            <p:nvPr/>
          </p:nvSpPr>
          <p:spPr bwMode="auto">
            <a:xfrm flipH="1" flipV="1">
              <a:off x="3744" y="235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675" name="Line 179"/>
            <p:cNvSpPr>
              <a:spLocks noChangeShapeType="1"/>
            </p:cNvSpPr>
            <p:nvPr/>
          </p:nvSpPr>
          <p:spPr bwMode="auto">
            <a:xfrm flipH="1">
              <a:off x="3600" y="2400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76" name="Line 180"/>
            <p:cNvSpPr>
              <a:spLocks noChangeShapeType="1"/>
            </p:cNvSpPr>
            <p:nvPr/>
          </p:nvSpPr>
          <p:spPr bwMode="auto">
            <a:xfrm flipH="1" flipV="1">
              <a:off x="3552" y="2352"/>
              <a:ext cx="52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6677" name="Group 181"/>
          <p:cNvGrpSpPr>
            <a:grpSpLocks/>
          </p:cNvGrpSpPr>
          <p:nvPr/>
        </p:nvGrpSpPr>
        <p:grpSpPr bwMode="auto">
          <a:xfrm>
            <a:off x="703263" y="685800"/>
            <a:ext cx="5135562" cy="381000"/>
            <a:chOff x="480" y="432"/>
            <a:chExt cx="3504" cy="240"/>
          </a:xfrm>
        </p:grpSpPr>
        <p:sp>
          <p:nvSpPr>
            <p:cNvPr id="746678" name="AutoShape 182"/>
            <p:cNvSpPr>
              <a:spLocks noChangeArrowheads="1"/>
            </p:cNvSpPr>
            <p:nvPr/>
          </p:nvSpPr>
          <p:spPr bwMode="auto">
            <a:xfrm>
              <a:off x="182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679" name="AutoShape 183"/>
            <p:cNvSpPr>
              <a:spLocks noChangeArrowheads="1"/>
            </p:cNvSpPr>
            <p:nvPr/>
          </p:nvSpPr>
          <p:spPr bwMode="auto">
            <a:xfrm>
              <a:off x="3504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680" name="AutoShape 184"/>
            <p:cNvSpPr>
              <a:spLocks noChangeArrowheads="1"/>
            </p:cNvSpPr>
            <p:nvPr/>
          </p:nvSpPr>
          <p:spPr bwMode="auto">
            <a:xfrm>
              <a:off x="480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681" name="AutoShape 185"/>
            <p:cNvSpPr>
              <a:spLocks noChangeArrowheads="1"/>
            </p:cNvSpPr>
            <p:nvPr/>
          </p:nvSpPr>
          <p:spPr bwMode="auto">
            <a:xfrm>
              <a:off x="816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682" name="AutoShape 186"/>
            <p:cNvSpPr>
              <a:spLocks noChangeArrowheads="1"/>
            </p:cNvSpPr>
            <p:nvPr/>
          </p:nvSpPr>
          <p:spPr bwMode="auto">
            <a:xfrm>
              <a:off x="3840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683" name="AutoShape 187"/>
          <p:cNvSpPr>
            <a:spLocks noChangeArrowheads="1"/>
          </p:cNvSpPr>
          <p:nvPr/>
        </p:nvSpPr>
        <p:spPr bwMode="auto">
          <a:xfrm>
            <a:off x="4641850" y="685800"/>
            <a:ext cx="211138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684" name="Rectangle 188"/>
          <p:cNvSpPr>
            <a:spLocks noChangeArrowheads="1"/>
          </p:cNvSpPr>
          <p:nvPr/>
        </p:nvSpPr>
        <p:spPr bwMode="auto">
          <a:xfrm>
            <a:off x="3868738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2</a:t>
            </a:r>
            <a:endParaRPr lang="en-GB" sz="1400" b="1">
              <a:latin typeface="Courier New" charset="0"/>
            </a:endParaRPr>
          </a:p>
        </p:txBody>
      </p:sp>
      <p:sp>
        <p:nvSpPr>
          <p:cNvPr id="746685" name="AutoShape 189"/>
          <p:cNvSpPr>
            <a:spLocks noChangeArrowheads="1"/>
          </p:cNvSpPr>
          <p:nvPr/>
        </p:nvSpPr>
        <p:spPr bwMode="auto">
          <a:xfrm>
            <a:off x="6611938" y="685800"/>
            <a:ext cx="211137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6686" name="Group 190"/>
          <p:cNvGrpSpPr>
            <a:grpSpLocks/>
          </p:cNvGrpSpPr>
          <p:nvPr/>
        </p:nvGrpSpPr>
        <p:grpSpPr bwMode="auto">
          <a:xfrm>
            <a:off x="4852988" y="1828800"/>
            <a:ext cx="2109787" cy="1066800"/>
            <a:chOff x="3312" y="1152"/>
            <a:chExt cx="1440" cy="672"/>
          </a:xfrm>
        </p:grpSpPr>
        <p:sp>
          <p:nvSpPr>
            <p:cNvPr id="746687" name="Line 191"/>
            <p:cNvSpPr>
              <a:spLocks noChangeShapeType="1"/>
            </p:cNvSpPr>
            <p:nvPr/>
          </p:nvSpPr>
          <p:spPr bwMode="auto">
            <a:xfrm flipV="1">
              <a:off x="4656" y="1200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88" name="Line 192"/>
            <p:cNvSpPr>
              <a:spLocks noChangeShapeType="1"/>
            </p:cNvSpPr>
            <p:nvPr/>
          </p:nvSpPr>
          <p:spPr bwMode="auto">
            <a:xfrm>
              <a:off x="4752" y="1152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89" name="Line 193"/>
            <p:cNvSpPr>
              <a:spLocks noChangeShapeType="1"/>
            </p:cNvSpPr>
            <p:nvPr/>
          </p:nvSpPr>
          <p:spPr bwMode="auto">
            <a:xfrm flipH="1">
              <a:off x="4656" y="12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90" name="Line 194"/>
            <p:cNvSpPr>
              <a:spLocks noChangeShapeType="1"/>
            </p:cNvSpPr>
            <p:nvPr/>
          </p:nvSpPr>
          <p:spPr bwMode="auto">
            <a:xfrm>
              <a:off x="4752" y="115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91" name="Line 195"/>
            <p:cNvSpPr>
              <a:spLocks noChangeShapeType="1"/>
            </p:cNvSpPr>
            <p:nvPr/>
          </p:nvSpPr>
          <p:spPr bwMode="auto">
            <a:xfrm flipH="1">
              <a:off x="3312" y="1824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92" name="Line 196"/>
            <p:cNvSpPr>
              <a:spLocks noChangeShapeType="1"/>
            </p:cNvSpPr>
            <p:nvPr/>
          </p:nvSpPr>
          <p:spPr bwMode="auto">
            <a:xfrm>
              <a:off x="3312" y="15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6693" name="Rectangle 197"/>
          <p:cNvSpPr>
            <a:spLocks noChangeArrowheads="1"/>
          </p:cNvSpPr>
          <p:nvPr/>
        </p:nvSpPr>
        <p:spPr bwMode="auto">
          <a:xfrm>
            <a:off x="4641850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4</a:t>
            </a:r>
            <a:endParaRPr lang="en-GB" sz="1400" b="1">
              <a:latin typeface="Courier New" charset="0"/>
            </a:endParaRPr>
          </a:p>
        </p:txBody>
      </p:sp>
      <p:sp>
        <p:nvSpPr>
          <p:cNvPr id="746694" name="Rectangle 198"/>
          <p:cNvSpPr>
            <a:spLocks noChangeArrowheads="1"/>
          </p:cNvSpPr>
          <p:nvPr/>
        </p:nvSpPr>
        <p:spPr bwMode="auto">
          <a:xfrm>
            <a:off x="6611938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*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695" name="Group 199"/>
          <p:cNvGrpSpPr>
            <a:grpSpLocks/>
          </p:cNvGrpSpPr>
          <p:nvPr/>
        </p:nvGrpSpPr>
        <p:grpSpPr bwMode="auto">
          <a:xfrm>
            <a:off x="3727450" y="3733800"/>
            <a:ext cx="774700" cy="304800"/>
            <a:chOff x="3552" y="2352"/>
            <a:chExt cx="528" cy="192"/>
          </a:xfrm>
        </p:grpSpPr>
        <p:sp>
          <p:nvSpPr>
            <p:cNvPr id="746696" name="Line 200"/>
            <p:cNvSpPr>
              <a:spLocks noChangeShapeType="1"/>
            </p:cNvSpPr>
            <p:nvPr/>
          </p:nvSpPr>
          <p:spPr bwMode="auto">
            <a:xfrm>
              <a:off x="3696" y="240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97" name="Line 201"/>
            <p:cNvSpPr>
              <a:spLocks noChangeShapeType="1"/>
            </p:cNvSpPr>
            <p:nvPr/>
          </p:nvSpPr>
          <p:spPr bwMode="auto">
            <a:xfrm flipH="1">
              <a:off x="3936" y="240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698" name="Line 202"/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699" name="Line 203"/>
            <p:cNvSpPr>
              <a:spLocks noChangeShapeType="1"/>
            </p:cNvSpPr>
            <p:nvPr/>
          </p:nvSpPr>
          <p:spPr bwMode="auto">
            <a:xfrm flipH="1" flipV="1">
              <a:off x="3744" y="235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00" name="Line 204"/>
            <p:cNvSpPr>
              <a:spLocks noChangeShapeType="1"/>
            </p:cNvSpPr>
            <p:nvPr/>
          </p:nvSpPr>
          <p:spPr bwMode="auto">
            <a:xfrm flipH="1">
              <a:off x="3600" y="2400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01" name="Line 205"/>
            <p:cNvSpPr>
              <a:spLocks noChangeShapeType="1"/>
            </p:cNvSpPr>
            <p:nvPr/>
          </p:nvSpPr>
          <p:spPr bwMode="auto">
            <a:xfrm flipH="1" flipV="1">
              <a:off x="3552" y="2352"/>
              <a:ext cx="52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6702" name="Group 206"/>
          <p:cNvGrpSpPr>
            <a:grpSpLocks/>
          </p:cNvGrpSpPr>
          <p:nvPr/>
        </p:nvGrpSpPr>
        <p:grpSpPr bwMode="auto">
          <a:xfrm>
            <a:off x="1195388" y="685800"/>
            <a:ext cx="5627687" cy="381000"/>
            <a:chOff x="816" y="432"/>
            <a:chExt cx="3840" cy="240"/>
          </a:xfrm>
        </p:grpSpPr>
        <p:sp>
          <p:nvSpPr>
            <p:cNvPr id="746703" name="AutoShape 207"/>
            <p:cNvSpPr>
              <a:spLocks noChangeArrowheads="1"/>
            </p:cNvSpPr>
            <p:nvPr/>
          </p:nvSpPr>
          <p:spPr bwMode="auto">
            <a:xfrm>
              <a:off x="816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04" name="AutoShape 208"/>
            <p:cNvSpPr>
              <a:spLocks noChangeArrowheads="1"/>
            </p:cNvSpPr>
            <p:nvPr/>
          </p:nvSpPr>
          <p:spPr bwMode="auto">
            <a:xfrm>
              <a:off x="3168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05" name="AutoShape 209"/>
            <p:cNvSpPr>
              <a:spLocks noChangeArrowheads="1"/>
            </p:cNvSpPr>
            <p:nvPr/>
          </p:nvSpPr>
          <p:spPr bwMode="auto">
            <a:xfrm>
              <a:off x="1152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06" name="AutoShape 210"/>
            <p:cNvSpPr>
              <a:spLocks noChangeArrowheads="1"/>
            </p:cNvSpPr>
            <p:nvPr/>
          </p:nvSpPr>
          <p:spPr bwMode="auto">
            <a:xfrm>
              <a:off x="4512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07" name="AutoShape 211"/>
          <p:cNvSpPr>
            <a:spLocks noChangeArrowheads="1"/>
          </p:cNvSpPr>
          <p:nvPr/>
        </p:nvSpPr>
        <p:spPr bwMode="auto">
          <a:xfrm>
            <a:off x="7596188" y="685800"/>
            <a:ext cx="211137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708" name="Rectangle 212"/>
          <p:cNvSpPr>
            <a:spLocks noChangeArrowheads="1"/>
          </p:cNvSpPr>
          <p:nvPr/>
        </p:nvSpPr>
        <p:spPr bwMode="auto">
          <a:xfrm>
            <a:off x="3376613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3</a:t>
            </a:r>
            <a:endParaRPr lang="en-GB" sz="1400" b="1">
              <a:latin typeface="Courier New" charset="0"/>
            </a:endParaRPr>
          </a:p>
        </p:txBody>
      </p:sp>
      <p:sp>
        <p:nvSpPr>
          <p:cNvPr id="746709" name="AutoShape 213"/>
          <p:cNvSpPr>
            <a:spLocks noChangeArrowheads="1"/>
          </p:cNvSpPr>
          <p:nvPr/>
        </p:nvSpPr>
        <p:spPr bwMode="auto">
          <a:xfrm>
            <a:off x="6611938" y="685800"/>
            <a:ext cx="141287" cy="381000"/>
          </a:xfrm>
          <a:prstGeom prst="downArrow">
            <a:avLst>
              <a:gd name="adj1" fmla="val 50000"/>
              <a:gd name="adj2" fmla="val 67416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710" name="AutoShape 214"/>
          <p:cNvSpPr>
            <a:spLocks noChangeArrowheads="1"/>
          </p:cNvSpPr>
          <p:nvPr/>
        </p:nvSpPr>
        <p:spPr bwMode="auto">
          <a:xfrm>
            <a:off x="4641850" y="685800"/>
            <a:ext cx="211138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711" name="Rectangle 215"/>
          <p:cNvSpPr>
            <a:spLocks noChangeArrowheads="1"/>
          </p:cNvSpPr>
          <p:nvPr/>
        </p:nvSpPr>
        <p:spPr bwMode="auto">
          <a:xfrm>
            <a:off x="7596188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4</a:t>
            </a:r>
            <a:endParaRPr lang="en-GB" sz="1400" b="1">
              <a:latin typeface="Courier New" charset="0"/>
            </a:endParaRPr>
          </a:p>
        </p:txBody>
      </p:sp>
      <p:sp>
        <p:nvSpPr>
          <p:cNvPr id="746712" name="Rectangle 216"/>
          <p:cNvSpPr>
            <a:spLocks noChangeArrowheads="1"/>
          </p:cNvSpPr>
          <p:nvPr/>
        </p:nvSpPr>
        <p:spPr bwMode="auto">
          <a:xfrm>
            <a:off x="4641850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*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713" name="Group 217"/>
          <p:cNvGrpSpPr>
            <a:grpSpLocks/>
          </p:cNvGrpSpPr>
          <p:nvPr/>
        </p:nvGrpSpPr>
        <p:grpSpPr bwMode="auto">
          <a:xfrm>
            <a:off x="3235325" y="3733800"/>
            <a:ext cx="1266825" cy="304800"/>
            <a:chOff x="384" y="2832"/>
            <a:chExt cx="864" cy="192"/>
          </a:xfrm>
        </p:grpSpPr>
        <p:sp>
          <p:nvSpPr>
            <p:cNvPr id="746714" name="Line 218"/>
            <p:cNvSpPr>
              <a:spLocks noChangeShapeType="1"/>
            </p:cNvSpPr>
            <p:nvPr/>
          </p:nvSpPr>
          <p:spPr bwMode="auto">
            <a:xfrm>
              <a:off x="528" y="288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15" name="Line 219"/>
            <p:cNvSpPr>
              <a:spLocks noChangeShapeType="1"/>
            </p:cNvSpPr>
            <p:nvPr/>
          </p:nvSpPr>
          <p:spPr bwMode="auto">
            <a:xfrm flipH="1">
              <a:off x="768" y="288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16" name="Line 220"/>
            <p:cNvSpPr>
              <a:spLocks noChangeShapeType="1"/>
            </p:cNvSpPr>
            <p:nvPr/>
          </p:nvSpPr>
          <p:spPr bwMode="auto">
            <a:xfrm flipH="1">
              <a:off x="720" y="283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17" name="Line 221"/>
            <p:cNvSpPr>
              <a:spLocks noChangeShapeType="1"/>
            </p:cNvSpPr>
            <p:nvPr/>
          </p:nvSpPr>
          <p:spPr bwMode="auto">
            <a:xfrm flipH="1" flipV="1">
              <a:off x="576" y="283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18" name="Line 222"/>
            <p:cNvSpPr>
              <a:spLocks noChangeShapeType="1"/>
            </p:cNvSpPr>
            <p:nvPr/>
          </p:nvSpPr>
          <p:spPr bwMode="auto">
            <a:xfrm flipH="1">
              <a:off x="432" y="2880"/>
              <a:ext cx="768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19" name="Line 223"/>
            <p:cNvSpPr>
              <a:spLocks noChangeShapeType="1"/>
            </p:cNvSpPr>
            <p:nvPr/>
          </p:nvSpPr>
          <p:spPr bwMode="auto">
            <a:xfrm flipH="1" flipV="1">
              <a:off x="384" y="2832"/>
              <a:ext cx="86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20" name="Rectangle 224"/>
          <p:cNvSpPr>
            <a:spLocks noChangeArrowheads="1"/>
          </p:cNvSpPr>
          <p:nvPr/>
        </p:nvSpPr>
        <p:spPr bwMode="auto">
          <a:xfrm>
            <a:off x="2884488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4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721" name="Group 225"/>
          <p:cNvGrpSpPr>
            <a:grpSpLocks/>
          </p:cNvGrpSpPr>
          <p:nvPr/>
        </p:nvGrpSpPr>
        <p:grpSpPr bwMode="auto">
          <a:xfrm>
            <a:off x="1687513" y="685800"/>
            <a:ext cx="6119812" cy="381000"/>
            <a:chOff x="1152" y="432"/>
            <a:chExt cx="4176" cy="240"/>
          </a:xfrm>
        </p:grpSpPr>
        <p:sp>
          <p:nvSpPr>
            <p:cNvPr id="746722" name="AutoShape 226"/>
            <p:cNvSpPr>
              <a:spLocks noChangeArrowheads="1"/>
            </p:cNvSpPr>
            <p:nvPr/>
          </p:nvSpPr>
          <p:spPr bwMode="auto">
            <a:xfrm>
              <a:off x="1152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23" name="AutoShape 227"/>
            <p:cNvSpPr>
              <a:spLocks noChangeArrowheads="1"/>
            </p:cNvSpPr>
            <p:nvPr/>
          </p:nvSpPr>
          <p:spPr bwMode="auto">
            <a:xfrm>
              <a:off x="3168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24" name="AutoShape 228"/>
            <p:cNvSpPr>
              <a:spLocks noChangeArrowheads="1"/>
            </p:cNvSpPr>
            <p:nvPr/>
          </p:nvSpPr>
          <p:spPr bwMode="auto">
            <a:xfrm>
              <a:off x="4512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25" name="AutoShape 229"/>
            <p:cNvSpPr>
              <a:spLocks noChangeArrowheads="1"/>
            </p:cNvSpPr>
            <p:nvPr/>
          </p:nvSpPr>
          <p:spPr bwMode="auto">
            <a:xfrm>
              <a:off x="518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26" name="AutoShape 230"/>
            <p:cNvSpPr>
              <a:spLocks noChangeArrowheads="1"/>
            </p:cNvSpPr>
            <p:nvPr/>
          </p:nvSpPr>
          <p:spPr bwMode="auto">
            <a:xfrm>
              <a:off x="1488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27" name="AutoShape 231"/>
          <p:cNvSpPr>
            <a:spLocks noChangeArrowheads="1"/>
          </p:cNvSpPr>
          <p:nvPr/>
        </p:nvSpPr>
        <p:spPr bwMode="auto">
          <a:xfrm>
            <a:off x="6611938" y="685800"/>
            <a:ext cx="141287" cy="381000"/>
          </a:xfrm>
          <a:prstGeom prst="downArrow">
            <a:avLst>
              <a:gd name="adj1" fmla="val 50000"/>
              <a:gd name="adj2" fmla="val 67416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6728" name="Group 232"/>
          <p:cNvGrpSpPr>
            <a:grpSpLocks/>
          </p:cNvGrpSpPr>
          <p:nvPr/>
        </p:nvGrpSpPr>
        <p:grpSpPr bwMode="auto">
          <a:xfrm>
            <a:off x="4852988" y="685800"/>
            <a:ext cx="2954337" cy="2209800"/>
            <a:chOff x="3312" y="432"/>
            <a:chExt cx="2016" cy="1392"/>
          </a:xfrm>
        </p:grpSpPr>
        <p:sp>
          <p:nvSpPr>
            <p:cNvPr id="746729" name="Line 233"/>
            <p:cNvSpPr>
              <a:spLocks noChangeShapeType="1"/>
            </p:cNvSpPr>
            <p:nvPr/>
          </p:nvSpPr>
          <p:spPr bwMode="auto">
            <a:xfrm flipH="1">
              <a:off x="3312" y="1824"/>
              <a:ext cx="14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30" name="Line 234"/>
            <p:cNvSpPr>
              <a:spLocks noChangeShapeType="1"/>
            </p:cNvSpPr>
            <p:nvPr/>
          </p:nvSpPr>
          <p:spPr bwMode="auto">
            <a:xfrm>
              <a:off x="3312" y="1584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31" name="Line 235"/>
            <p:cNvSpPr>
              <a:spLocks noChangeShapeType="1"/>
            </p:cNvSpPr>
            <p:nvPr/>
          </p:nvSpPr>
          <p:spPr bwMode="auto">
            <a:xfrm>
              <a:off x="4752" y="18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32" name="AutoShape 236"/>
            <p:cNvSpPr>
              <a:spLocks noChangeArrowheads="1"/>
            </p:cNvSpPr>
            <p:nvPr/>
          </p:nvSpPr>
          <p:spPr bwMode="auto">
            <a:xfrm>
              <a:off x="518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33" name="Rectangle 237"/>
          <p:cNvSpPr>
            <a:spLocks noChangeArrowheads="1"/>
          </p:cNvSpPr>
          <p:nvPr/>
        </p:nvSpPr>
        <p:spPr bwMode="auto">
          <a:xfrm>
            <a:off x="2181225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*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734" name="Group 238"/>
          <p:cNvGrpSpPr>
            <a:grpSpLocks/>
          </p:cNvGrpSpPr>
          <p:nvPr/>
        </p:nvGrpSpPr>
        <p:grpSpPr bwMode="auto">
          <a:xfrm>
            <a:off x="2181225" y="685800"/>
            <a:ext cx="5626100" cy="381000"/>
            <a:chOff x="1488" y="432"/>
            <a:chExt cx="3840" cy="240"/>
          </a:xfrm>
        </p:grpSpPr>
        <p:sp>
          <p:nvSpPr>
            <p:cNvPr id="746735" name="AutoShape 239"/>
            <p:cNvSpPr>
              <a:spLocks noChangeArrowheads="1"/>
            </p:cNvSpPr>
            <p:nvPr/>
          </p:nvSpPr>
          <p:spPr bwMode="auto">
            <a:xfrm>
              <a:off x="1488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36" name="AutoShape 240"/>
            <p:cNvSpPr>
              <a:spLocks noChangeArrowheads="1"/>
            </p:cNvSpPr>
            <p:nvPr/>
          </p:nvSpPr>
          <p:spPr bwMode="auto">
            <a:xfrm>
              <a:off x="1824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37" name="AutoShape 241"/>
            <p:cNvSpPr>
              <a:spLocks noChangeArrowheads="1"/>
            </p:cNvSpPr>
            <p:nvPr/>
          </p:nvSpPr>
          <p:spPr bwMode="auto">
            <a:xfrm>
              <a:off x="4512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38" name="AutoShape 242"/>
            <p:cNvSpPr>
              <a:spLocks noChangeArrowheads="1"/>
            </p:cNvSpPr>
            <p:nvPr/>
          </p:nvSpPr>
          <p:spPr bwMode="auto">
            <a:xfrm>
              <a:off x="518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39" name="Rectangle 243"/>
          <p:cNvSpPr>
            <a:spLocks noChangeArrowheads="1"/>
          </p:cNvSpPr>
          <p:nvPr/>
        </p:nvSpPr>
        <p:spPr bwMode="auto">
          <a:xfrm>
            <a:off x="5838825" y="4343400"/>
            <a:ext cx="492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7</a:t>
            </a:r>
            <a:endParaRPr lang="en-GB" sz="2000" b="1">
              <a:latin typeface="Courier New" charset="0"/>
            </a:endParaRPr>
          </a:p>
        </p:txBody>
      </p:sp>
      <p:grpSp>
        <p:nvGrpSpPr>
          <p:cNvPr id="746740" name="Group 244"/>
          <p:cNvGrpSpPr>
            <a:grpSpLocks/>
          </p:cNvGrpSpPr>
          <p:nvPr/>
        </p:nvGrpSpPr>
        <p:grpSpPr bwMode="auto">
          <a:xfrm>
            <a:off x="3235325" y="3733800"/>
            <a:ext cx="1266825" cy="304800"/>
            <a:chOff x="2208" y="2160"/>
            <a:chExt cx="864" cy="192"/>
          </a:xfrm>
        </p:grpSpPr>
        <p:sp>
          <p:nvSpPr>
            <p:cNvPr id="746741" name="Line 245"/>
            <p:cNvSpPr>
              <a:spLocks noChangeShapeType="1"/>
            </p:cNvSpPr>
            <p:nvPr/>
          </p:nvSpPr>
          <p:spPr bwMode="auto">
            <a:xfrm>
              <a:off x="3024" y="2208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42" name="Line 246"/>
            <p:cNvSpPr>
              <a:spLocks noChangeShapeType="1"/>
            </p:cNvSpPr>
            <p:nvPr/>
          </p:nvSpPr>
          <p:spPr bwMode="auto">
            <a:xfrm flipH="1">
              <a:off x="2256" y="2208"/>
              <a:ext cx="76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43" name="Line 247"/>
            <p:cNvSpPr>
              <a:spLocks noChangeShapeType="1"/>
            </p:cNvSpPr>
            <p:nvPr/>
          </p:nvSpPr>
          <p:spPr bwMode="auto">
            <a:xfrm flipH="1">
              <a:off x="2256" y="2208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44" name="Line 248"/>
            <p:cNvSpPr>
              <a:spLocks noChangeShapeType="1"/>
            </p:cNvSpPr>
            <p:nvPr/>
          </p:nvSpPr>
          <p:spPr bwMode="auto">
            <a:xfrm flipH="1">
              <a:off x="2208" y="2160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45" name="Line 249"/>
            <p:cNvSpPr>
              <a:spLocks noChangeShapeType="1"/>
            </p:cNvSpPr>
            <p:nvPr/>
          </p:nvSpPr>
          <p:spPr bwMode="auto">
            <a:xfrm flipH="1" flipV="1">
              <a:off x="3072" y="2160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46" name="Line 250"/>
            <p:cNvSpPr>
              <a:spLocks noChangeShapeType="1"/>
            </p:cNvSpPr>
            <p:nvPr/>
          </p:nvSpPr>
          <p:spPr bwMode="auto">
            <a:xfrm flipH="1" flipV="1">
              <a:off x="2208" y="2160"/>
              <a:ext cx="86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47" name="AutoShape 251"/>
          <p:cNvSpPr>
            <a:spLocks noChangeArrowheads="1"/>
          </p:cNvSpPr>
          <p:nvPr/>
        </p:nvSpPr>
        <p:spPr bwMode="auto">
          <a:xfrm>
            <a:off x="5627688" y="685800"/>
            <a:ext cx="211137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748" name="Rectangle 252"/>
          <p:cNvSpPr>
            <a:spLocks noChangeArrowheads="1"/>
          </p:cNvSpPr>
          <p:nvPr/>
        </p:nvSpPr>
        <p:spPr bwMode="auto">
          <a:xfrm>
            <a:off x="5838825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*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749" name="Group 253"/>
          <p:cNvGrpSpPr>
            <a:grpSpLocks/>
          </p:cNvGrpSpPr>
          <p:nvPr/>
        </p:nvGrpSpPr>
        <p:grpSpPr bwMode="auto">
          <a:xfrm>
            <a:off x="2673350" y="685800"/>
            <a:ext cx="3165475" cy="381000"/>
            <a:chOff x="1824" y="432"/>
            <a:chExt cx="2160" cy="240"/>
          </a:xfrm>
        </p:grpSpPr>
        <p:sp>
          <p:nvSpPr>
            <p:cNvPr id="746750" name="AutoShape 254"/>
            <p:cNvSpPr>
              <a:spLocks noChangeArrowheads="1"/>
            </p:cNvSpPr>
            <p:nvPr/>
          </p:nvSpPr>
          <p:spPr bwMode="auto">
            <a:xfrm>
              <a:off x="3840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51" name="AutoShape 255"/>
            <p:cNvSpPr>
              <a:spLocks noChangeArrowheads="1"/>
            </p:cNvSpPr>
            <p:nvPr/>
          </p:nvSpPr>
          <p:spPr bwMode="auto">
            <a:xfrm>
              <a:off x="1824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52" name="AutoShape 256"/>
            <p:cNvSpPr>
              <a:spLocks noChangeArrowheads="1"/>
            </p:cNvSpPr>
            <p:nvPr/>
          </p:nvSpPr>
          <p:spPr bwMode="auto">
            <a:xfrm>
              <a:off x="2160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6753" name="Group 257"/>
          <p:cNvGrpSpPr>
            <a:grpSpLocks/>
          </p:cNvGrpSpPr>
          <p:nvPr/>
        </p:nvGrpSpPr>
        <p:grpSpPr bwMode="auto">
          <a:xfrm>
            <a:off x="4852988" y="1066800"/>
            <a:ext cx="3235325" cy="1905000"/>
            <a:chOff x="3312" y="672"/>
            <a:chExt cx="2208" cy="1200"/>
          </a:xfrm>
        </p:grpSpPr>
        <p:sp>
          <p:nvSpPr>
            <p:cNvPr id="746754" name="Line 258"/>
            <p:cNvSpPr>
              <a:spLocks noChangeShapeType="1"/>
            </p:cNvSpPr>
            <p:nvPr/>
          </p:nvSpPr>
          <p:spPr bwMode="auto">
            <a:xfrm>
              <a:off x="3408" y="1152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55" name="Line 259"/>
            <p:cNvSpPr>
              <a:spLocks noChangeShapeType="1"/>
            </p:cNvSpPr>
            <p:nvPr/>
          </p:nvSpPr>
          <p:spPr bwMode="auto">
            <a:xfrm flipH="1">
              <a:off x="3312" y="12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56" name="Line 260"/>
            <p:cNvSpPr>
              <a:spLocks noChangeShapeType="1"/>
            </p:cNvSpPr>
            <p:nvPr/>
          </p:nvSpPr>
          <p:spPr bwMode="auto">
            <a:xfrm>
              <a:off x="3408" y="115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57" name="Line 261"/>
            <p:cNvSpPr>
              <a:spLocks noChangeShapeType="1"/>
            </p:cNvSpPr>
            <p:nvPr/>
          </p:nvSpPr>
          <p:spPr bwMode="auto">
            <a:xfrm>
              <a:off x="3408" y="1872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58" name="Line 262"/>
            <p:cNvSpPr>
              <a:spLocks noChangeShapeType="1"/>
            </p:cNvSpPr>
            <p:nvPr/>
          </p:nvSpPr>
          <p:spPr bwMode="auto">
            <a:xfrm flipV="1">
              <a:off x="5328" y="144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59" name="Rectangle 263"/>
            <p:cNvSpPr>
              <a:spLocks noChangeArrowheads="1"/>
            </p:cNvSpPr>
            <p:nvPr/>
          </p:nvSpPr>
          <p:spPr bwMode="auto">
            <a:xfrm>
              <a:off x="5184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2</a:t>
              </a:r>
              <a:endParaRPr lang="en-GB" sz="1600" b="1">
                <a:latin typeface="Courier New" charset="0"/>
              </a:endParaRPr>
            </a:p>
          </p:txBody>
        </p:sp>
      </p:grpSp>
      <p:grpSp>
        <p:nvGrpSpPr>
          <p:cNvPr id="746760" name="Group 264"/>
          <p:cNvGrpSpPr>
            <a:grpSpLocks/>
          </p:cNvGrpSpPr>
          <p:nvPr/>
        </p:nvGrpSpPr>
        <p:grpSpPr bwMode="auto">
          <a:xfrm>
            <a:off x="2390775" y="1828800"/>
            <a:ext cx="5416550" cy="1219200"/>
            <a:chOff x="1632" y="1152"/>
            <a:chExt cx="3696" cy="768"/>
          </a:xfrm>
        </p:grpSpPr>
        <p:sp>
          <p:nvSpPr>
            <p:cNvPr id="746761" name="Line 265"/>
            <p:cNvSpPr>
              <a:spLocks noChangeShapeType="1"/>
            </p:cNvSpPr>
            <p:nvPr/>
          </p:nvSpPr>
          <p:spPr bwMode="auto">
            <a:xfrm>
              <a:off x="1728" y="115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62" name="Line 266"/>
            <p:cNvSpPr>
              <a:spLocks noChangeShapeType="1"/>
            </p:cNvSpPr>
            <p:nvPr/>
          </p:nvSpPr>
          <p:spPr bwMode="auto">
            <a:xfrm>
              <a:off x="1728" y="1920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63" name="Line 267"/>
            <p:cNvSpPr>
              <a:spLocks noChangeShapeType="1"/>
            </p:cNvSpPr>
            <p:nvPr/>
          </p:nvSpPr>
          <p:spPr bwMode="auto">
            <a:xfrm>
              <a:off x="5328" y="1872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64" name="Line 268"/>
            <p:cNvSpPr>
              <a:spLocks noChangeShapeType="1"/>
            </p:cNvSpPr>
            <p:nvPr/>
          </p:nvSpPr>
          <p:spPr bwMode="auto">
            <a:xfrm>
              <a:off x="1632" y="12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6765" name="Group 269"/>
          <p:cNvGrpSpPr>
            <a:grpSpLocks/>
          </p:cNvGrpSpPr>
          <p:nvPr/>
        </p:nvGrpSpPr>
        <p:grpSpPr bwMode="auto">
          <a:xfrm>
            <a:off x="4852988" y="685800"/>
            <a:ext cx="2954337" cy="1828800"/>
            <a:chOff x="3312" y="432"/>
            <a:chExt cx="2016" cy="1152"/>
          </a:xfrm>
        </p:grpSpPr>
        <p:sp>
          <p:nvSpPr>
            <p:cNvPr id="746766" name="AutoShape 270"/>
            <p:cNvSpPr>
              <a:spLocks noChangeArrowheads="1"/>
            </p:cNvSpPr>
            <p:nvPr/>
          </p:nvSpPr>
          <p:spPr bwMode="auto">
            <a:xfrm>
              <a:off x="518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67" name="Line 271"/>
            <p:cNvSpPr>
              <a:spLocks noChangeShapeType="1"/>
            </p:cNvSpPr>
            <p:nvPr/>
          </p:nvSpPr>
          <p:spPr bwMode="auto">
            <a:xfrm>
              <a:off x="3312" y="1584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68" name="Line 272"/>
            <p:cNvSpPr>
              <a:spLocks noChangeShapeType="1"/>
            </p:cNvSpPr>
            <p:nvPr/>
          </p:nvSpPr>
          <p:spPr bwMode="auto">
            <a:xfrm>
              <a:off x="3312" y="1536"/>
              <a:ext cx="0" cy="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6769" name="Rectangle 273"/>
          <p:cNvSpPr>
            <a:spLocks noChangeArrowheads="1"/>
          </p:cNvSpPr>
          <p:nvPr/>
        </p:nvSpPr>
        <p:spPr bwMode="auto">
          <a:xfrm>
            <a:off x="4360863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6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770" name="Group 274"/>
          <p:cNvGrpSpPr>
            <a:grpSpLocks/>
          </p:cNvGrpSpPr>
          <p:nvPr/>
        </p:nvGrpSpPr>
        <p:grpSpPr bwMode="auto">
          <a:xfrm>
            <a:off x="6330950" y="1828800"/>
            <a:ext cx="1476375" cy="609600"/>
            <a:chOff x="4320" y="1152"/>
            <a:chExt cx="1008" cy="384"/>
          </a:xfrm>
        </p:grpSpPr>
        <p:sp>
          <p:nvSpPr>
            <p:cNvPr id="746771" name="Line 275"/>
            <p:cNvSpPr>
              <a:spLocks noChangeShapeType="1"/>
            </p:cNvSpPr>
            <p:nvPr/>
          </p:nvSpPr>
          <p:spPr bwMode="auto">
            <a:xfrm flipV="1">
              <a:off x="4320" y="1200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72" name="Line 276"/>
            <p:cNvSpPr>
              <a:spLocks noChangeShapeType="1"/>
            </p:cNvSpPr>
            <p:nvPr/>
          </p:nvSpPr>
          <p:spPr bwMode="auto">
            <a:xfrm>
              <a:off x="4416" y="1152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73" name="Line 277"/>
            <p:cNvSpPr>
              <a:spLocks noChangeShapeType="1"/>
            </p:cNvSpPr>
            <p:nvPr/>
          </p:nvSpPr>
          <p:spPr bwMode="auto">
            <a:xfrm flipH="1">
              <a:off x="4320" y="12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74" name="Line 278"/>
            <p:cNvSpPr>
              <a:spLocks noChangeShapeType="1"/>
            </p:cNvSpPr>
            <p:nvPr/>
          </p:nvSpPr>
          <p:spPr bwMode="auto">
            <a:xfrm>
              <a:off x="4416" y="115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75" name="Line 279"/>
            <p:cNvSpPr>
              <a:spLocks noChangeShapeType="1"/>
            </p:cNvSpPr>
            <p:nvPr/>
          </p:nvSpPr>
          <p:spPr bwMode="auto">
            <a:xfrm>
              <a:off x="4416" y="153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6776" name="Rectangle 280"/>
          <p:cNvSpPr>
            <a:spLocks noChangeArrowheads="1"/>
          </p:cNvSpPr>
          <p:nvPr/>
        </p:nvSpPr>
        <p:spPr bwMode="auto">
          <a:xfrm>
            <a:off x="7596188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5</a:t>
            </a:r>
            <a:endParaRPr lang="en-GB" sz="1400" b="1">
              <a:latin typeface="Courier New" charset="0"/>
            </a:endParaRPr>
          </a:p>
        </p:txBody>
      </p:sp>
      <p:sp>
        <p:nvSpPr>
          <p:cNvPr id="746777" name="Rectangle 281"/>
          <p:cNvSpPr>
            <a:spLocks noChangeArrowheads="1"/>
          </p:cNvSpPr>
          <p:nvPr/>
        </p:nvSpPr>
        <p:spPr bwMode="auto">
          <a:xfrm>
            <a:off x="6119813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*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778" name="Group 282"/>
          <p:cNvGrpSpPr>
            <a:grpSpLocks/>
          </p:cNvGrpSpPr>
          <p:nvPr/>
        </p:nvGrpSpPr>
        <p:grpSpPr bwMode="auto">
          <a:xfrm>
            <a:off x="4713288" y="3733800"/>
            <a:ext cx="280987" cy="304800"/>
            <a:chOff x="3984" y="2448"/>
            <a:chExt cx="192" cy="192"/>
          </a:xfrm>
        </p:grpSpPr>
        <p:sp>
          <p:nvSpPr>
            <p:cNvPr id="746779" name="Line 283"/>
            <p:cNvSpPr>
              <a:spLocks noChangeShapeType="1"/>
            </p:cNvSpPr>
            <p:nvPr/>
          </p:nvSpPr>
          <p:spPr bwMode="auto">
            <a:xfrm>
              <a:off x="4128" y="2496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80" name="Line 284"/>
            <p:cNvSpPr>
              <a:spLocks noChangeShapeType="1"/>
            </p:cNvSpPr>
            <p:nvPr/>
          </p:nvSpPr>
          <p:spPr bwMode="auto">
            <a:xfrm flipH="1">
              <a:off x="4032" y="24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81" name="Line 285"/>
            <p:cNvSpPr>
              <a:spLocks noChangeShapeType="1"/>
            </p:cNvSpPr>
            <p:nvPr/>
          </p:nvSpPr>
          <p:spPr bwMode="auto">
            <a:xfrm flipH="1">
              <a:off x="4032" y="2496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782" name="Line 286"/>
            <p:cNvSpPr>
              <a:spLocks noChangeShapeType="1"/>
            </p:cNvSpPr>
            <p:nvPr/>
          </p:nvSpPr>
          <p:spPr bwMode="auto">
            <a:xfrm flipH="1">
              <a:off x="3984" y="2448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83" name="Line 287"/>
            <p:cNvSpPr>
              <a:spLocks noChangeShapeType="1"/>
            </p:cNvSpPr>
            <p:nvPr/>
          </p:nvSpPr>
          <p:spPr bwMode="auto">
            <a:xfrm flipH="1" flipV="1">
              <a:off x="4176" y="2448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84" name="Line 288"/>
            <p:cNvSpPr>
              <a:spLocks noChangeShapeType="1"/>
            </p:cNvSpPr>
            <p:nvPr/>
          </p:nvSpPr>
          <p:spPr bwMode="auto">
            <a:xfrm flipH="1" flipV="1">
              <a:off x="3984" y="2448"/>
              <a:ext cx="19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85" name="AutoShape 289"/>
          <p:cNvSpPr>
            <a:spLocks noChangeArrowheads="1"/>
          </p:cNvSpPr>
          <p:nvPr/>
        </p:nvSpPr>
        <p:spPr bwMode="auto">
          <a:xfrm>
            <a:off x="6119813" y="685800"/>
            <a:ext cx="211137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786" name="Rectangle 290"/>
          <p:cNvSpPr>
            <a:spLocks noChangeArrowheads="1"/>
          </p:cNvSpPr>
          <p:nvPr/>
        </p:nvSpPr>
        <p:spPr bwMode="auto">
          <a:xfrm>
            <a:off x="4852988" y="40386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8</a:t>
            </a:r>
            <a:endParaRPr lang="en-GB" sz="1400" b="1">
              <a:latin typeface="Courier New" charset="0"/>
            </a:endParaRPr>
          </a:p>
        </p:txBody>
      </p:sp>
      <p:sp>
        <p:nvSpPr>
          <p:cNvPr id="746787" name="AutoShape 291"/>
          <p:cNvSpPr>
            <a:spLocks noChangeArrowheads="1"/>
          </p:cNvSpPr>
          <p:nvPr/>
        </p:nvSpPr>
        <p:spPr bwMode="auto">
          <a:xfrm>
            <a:off x="5133975" y="685800"/>
            <a:ext cx="141288" cy="381000"/>
          </a:xfrm>
          <a:prstGeom prst="downArrow">
            <a:avLst>
              <a:gd name="adj1" fmla="val 50000"/>
              <a:gd name="adj2" fmla="val 67415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788" name="Rectangle 292"/>
          <p:cNvSpPr>
            <a:spLocks noChangeArrowheads="1"/>
          </p:cNvSpPr>
          <p:nvPr/>
        </p:nvSpPr>
        <p:spPr bwMode="auto">
          <a:xfrm>
            <a:off x="7596188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7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789" name="Group 293"/>
          <p:cNvGrpSpPr>
            <a:grpSpLocks/>
          </p:cNvGrpSpPr>
          <p:nvPr/>
        </p:nvGrpSpPr>
        <p:grpSpPr bwMode="auto">
          <a:xfrm>
            <a:off x="3165475" y="685800"/>
            <a:ext cx="4641850" cy="381000"/>
            <a:chOff x="2160" y="432"/>
            <a:chExt cx="3168" cy="240"/>
          </a:xfrm>
        </p:grpSpPr>
        <p:sp>
          <p:nvSpPr>
            <p:cNvPr id="746790" name="AutoShape 294"/>
            <p:cNvSpPr>
              <a:spLocks noChangeArrowheads="1"/>
            </p:cNvSpPr>
            <p:nvPr/>
          </p:nvSpPr>
          <p:spPr bwMode="auto">
            <a:xfrm>
              <a:off x="2160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91" name="AutoShape 295"/>
            <p:cNvSpPr>
              <a:spLocks noChangeArrowheads="1"/>
            </p:cNvSpPr>
            <p:nvPr/>
          </p:nvSpPr>
          <p:spPr bwMode="auto">
            <a:xfrm>
              <a:off x="518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92" name="AutoShape 296"/>
            <p:cNvSpPr>
              <a:spLocks noChangeArrowheads="1"/>
            </p:cNvSpPr>
            <p:nvPr/>
          </p:nvSpPr>
          <p:spPr bwMode="auto">
            <a:xfrm>
              <a:off x="4176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93" name="AutoShape 297"/>
            <p:cNvSpPr>
              <a:spLocks noChangeArrowheads="1"/>
            </p:cNvSpPr>
            <p:nvPr/>
          </p:nvSpPr>
          <p:spPr bwMode="auto">
            <a:xfrm>
              <a:off x="2496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794" name="AutoShape 298"/>
          <p:cNvSpPr>
            <a:spLocks noChangeArrowheads="1"/>
          </p:cNvSpPr>
          <p:nvPr/>
        </p:nvSpPr>
        <p:spPr bwMode="auto">
          <a:xfrm>
            <a:off x="5627688" y="685800"/>
            <a:ext cx="211137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6795" name="Group 299"/>
          <p:cNvGrpSpPr>
            <a:grpSpLocks/>
          </p:cNvGrpSpPr>
          <p:nvPr/>
        </p:nvGrpSpPr>
        <p:grpSpPr bwMode="auto">
          <a:xfrm>
            <a:off x="3657600" y="685800"/>
            <a:ext cx="2181225" cy="381000"/>
            <a:chOff x="2496" y="432"/>
            <a:chExt cx="1488" cy="240"/>
          </a:xfrm>
        </p:grpSpPr>
        <p:sp>
          <p:nvSpPr>
            <p:cNvPr id="746796" name="AutoShape 300"/>
            <p:cNvSpPr>
              <a:spLocks noChangeArrowheads="1"/>
            </p:cNvSpPr>
            <p:nvPr/>
          </p:nvSpPr>
          <p:spPr bwMode="auto">
            <a:xfrm>
              <a:off x="2496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97" name="AutoShape 301"/>
            <p:cNvSpPr>
              <a:spLocks noChangeArrowheads="1"/>
            </p:cNvSpPr>
            <p:nvPr/>
          </p:nvSpPr>
          <p:spPr bwMode="auto">
            <a:xfrm>
              <a:off x="3840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798" name="AutoShape 302"/>
            <p:cNvSpPr>
              <a:spLocks noChangeArrowheads="1"/>
            </p:cNvSpPr>
            <p:nvPr/>
          </p:nvSpPr>
          <p:spPr bwMode="auto">
            <a:xfrm>
              <a:off x="2832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6799" name="Group 303"/>
          <p:cNvGrpSpPr>
            <a:grpSpLocks/>
          </p:cNvGrpSpPr>
          <p:nvPr/>
        </p:nvGrpSpPr>
        <p:grpSpPr bwMode="auto">
          <a:xfrm>
            <a:off x="2390775" y="685800"/>
            <a:ext cx="5416550" cy="1524000"/>
            <a:chOff x="1632" y="432"/>
            <a:chExt cx="3696" cy="960"/>
          </a:xfrm>
        </p:grpSpPr>
        <p:sp>
          <p:nvSpPr>
            <p:cNvPr id="746800" name="Line 304"/>
            <p:cNvSpPr>
              <a:spLocks noChangeShapeType="1"/>
            </p:cNvSpPr>
            <p:nvPr/>
          </p:nvSpPr>
          <p:spPr bwMode="auto">
            <a:xfrm>
              <a:off x="1632" y="1392"/>
              <a:ext cx="14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01" name="Line 305"/>
            <p:cNvSpPr>
              <a:spLocks noChangeShapeType="1"/>
            </p:cNvSpPr>
            <p:nvPr/>
          </p:nvSpPr>
          <p:spPr bwMode="auto">
            <a:xfrm>
              <a:off x="1632" y="1344"/>
              <a:ext cx="0" cy="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02" name="Line 306"/>
            <p:cNvSpPr>
              <a:spLocks noChangeShapeType="1"/>
            </p:cNvSpPr>
            <p:nvPr/>
          </p:nvSpPr>
          <p:spPr bwMode="auto">
            <a:xfrm>
              <a:off x="3072" y="139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03" name="AutoShape 307"/>
            <p:cNvSpPr>
              <a:spLocks noChangeArrowheads="1"/>
            </p:cNvSpPr>
            <p:nvPr/>
          </p:nvSpPr>
          <p:spPr bwMode="auto">
            <a:xfrm>
              <a:off x="518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6804" name="Group 308"/>
          <p:cNvGrpSpPr>
            <a:grpSpLocks/>
          </p:cNvGrpSpPr>
          <p:nvPr/>
        </p:nvGrpSpPr>
        <p:grpSpPr bwMode="auto">
          <a:xfrm>
            <a:off x="2884488" y="685800"/>
            <a:ext cx="2954337" cy="2057400"/>
            <a:chOff x="1968" y="432"/>
            <a:chExt cx="2016" cy="1296"/>
          </a:xfrm>
        </p:grpSpPr>
        <p:sp>
          <p:nvSpPr>
            <p:cNvPr id="746805" name="AutoShape 309"/>
            <p:cNvSpPr>
              <a:spLocks noChangeArrowheads="1"/>
            </p:cNvSpPr>
            <p:nvPr/>
          </p:nvSpPr>
          <p:spPr bwMode="auto">
            <a:xfrm>
              <a:off x="3840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806" name="Line 310"/>
            <p:cNvSpPr>
              <a:spLocks noChangeShapeType="1"/>
            </p:cNvSpPr>
            <p:nvPr/>
          </p:nvSpPr>
          <p:spPr bwMode="auto">
            <a:xfrm flipV="1">
              <a:off x="1968" y="1200"/>
              <a:ext cx="0" cy="52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07" name="Line 311"/>
            <p:cNvSpPr>
              <a:spLocks noChangeShapeType="1"/>
            </p:cNvSpPr>
            <p:nvPr/>
          </p:nvSpPr>
          <p:spPr bwMode="auto">
            <a:xfrm>
              <a:off x="1968" y="1728"/>
              <a:ext cx="177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08" name="Line 312"/>
            <p:cNvSpPr>
              <a:spLocks noChangeShapeType="1"/>
            </p:cNvSpPr>
            <p:nvPr/>
          </p:nvSpPr>
          <p:spPr bwMode="auto">
            <a:xfrm>
              <a:off x="3744" y="17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6809" name="Group 313"/>
          <p:cNvGrpSpPr>
            <a:grpSpLocks/>
          </p:cNvGrpSpPr>
          <p:nvPr/>
        </p:nvGrpSpPr>
        <p:grpSpPr bwMode="auto">
          <a:xfrm>
            <a:off x="5838825" y="1066800"/>
            <a:ext cx="2249488" cy="1524000"/>
            <a:chOff x="3984" y="672"/>
            <a:chExt cx="1536" cy="960"/>
          </a:xfrm>
        </p:grpSpPr>
        <p:sp>
          <p:nvSpPr>
            <p:cNvPr id="746810" name="Line 314"/>
            <p:cNvSpPr>
              <a:spLocks noChangeShapeType="1"/>
            </p:cNvSpPr>
            <p:nvPr/>
          </p:nvSpPr>
          <p:spPr bwMode="auto">
            <a:xfrm>
              <a:off x="3984" y="1296"/>
              <a:ext cx="9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11" name="Line 315"/>
            <p:cNvSpPr>
              <a:spLocks noChangeShapeType="1"/>
            </p:cNvSpPr>
            <p:nvPr/>
          </p:nvSpPr>
          <p:spPr bwMode="auto">
            <a:xfrm>
              <a:off x="4080" y="16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12" name="Line 316"/>
            <p:cNvSpPr>
              <a:spLocks noChangeShapeType="1"/>
            </p:cNvSpPr>
            <p:nvPr/>
          </p:nvSpPr>
          <p:spPr bwMode="auto">
            <a:xfrm>
              <a:off x="4080" y="129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13" name="Rectangle 317"/>
            <p:cNvSpPr>
              <a:spLocks noChangeArrowheads="1"/>
            </p:cNvSpPr>
            <p:nvPr/>
          </p:nvSpPr>
          <p:spPr bwMode="auto">
            <a:xfrm>
              <a:off x="5184" y="672"/>
              <a:ext cx="336" cy="144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600" b="1">
                  <a:latin typeface="Courier New" charset="0"/>
                </a:rPr>
                <a:t>3</a:t>
              </a:r>
              <a:endParaRPr lang="en-GB" sz="1600" b="1">
                <a:latin typeface="Courier New" charset="0"/>
              </a:endParaRPr>
            </a:p>
          </p:txBody>
        </p:sp>
      </p:grpSp>
      <p:sp>
        <p:nvSpPr>
          <p:cNvPr id="746814" name="Rectangle 318"/>
          <p:cNvSpPr>
            <a:spLocks noChangeArrowheads="1"/>
          </p:cNvSpPr>
          <p:nvPr/>
        </p:nvSpPr>
        <p:spPr bwMode="auto">
          <a:xfrm>
            <a:off x="5627688" y="1295400"/>
            <a:ext cx="492125" cy="381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>
                <a:latin typeface="Courier New" charset="0"/>
              </a:rPr>
              <a:t>*</a:t>
            </a:r>
            <a:endParaRPr lang="en-GB" sz="1400" b="1">
              <a:latin typeface="Courier New" charset="0"/>
            </a:endParaRPr>
          </a:p>
        </p:txBody>
      </p:sp>
      <p:grpSp>
        <p:nvGrpSpPr>
          <p:cNvPr id="746815" name="Group 319"/>
          <p:cNvGrpSpPr>
            <a:grpSpLocks/>
          </p:cNvGrpSpPr>
          <p:nvPr/>
        </p:nvGrpSpPr>
        <p:grpSpPr bwMode="auto">
          <a:xfrm>
            <a:off x="4149725" y="685800"/>
            <a:ext cx="3657600" cy="381000"/>
            <a:chOff x="2832" y="432"/>
            <a:chExt cx="2496" cy="240"/>
          </a:xfrm>
        </p:grpSpPr>
        <p:sp>
          <p:nvSpPr>
            <p:cNvPr id="746816" name="AutoShape 320"/>
            <p:cNvSpPr>
              <a:spLocks noChangeArrowheads="1"/>
            </p:cNvSpPr>
            <p:nvPr/>
          </p:nvSpPr>
          <p:spPr bwMode="auto">
            <a:xfrm>
              <a:off x="2832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817" name="AutoShape 321"/>
            <p:cNvSpPr>
              <a:spLocks noChangeArrowheads="1"/>
            </p:cNvSpPr>
            <p:nvPr/>
          </p:nvSpPr>
          <p:spPr bwMode="auto">
            <a:xfrm>
              <a:off x="3168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818" name="AutoShape 322"/>
            <p:cNvSpPr>
              <a:spLocks noChangeArrowheads="1"/>
            </p:cNvSpPr>
            <p:nvPr/>
          </p:nvSpPr>
          <p:spPr bwMode="auto">
            <a:xfrm>
              <a:off x="3504" y="432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819" name="AutoShape 323"/>
            <p:cNvSpPr>
              <a:spLocks noChangeArrowheads="1"/>
            </p:cNvSpPr>
            <p:nvPr/>
          </p:nvSpPr>
          <p:spPr bwMode="auto">
            <a:xfrm>
              <a:off x="3840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820" name="AutoShape 324"/>
            <p:cNvSpPr>
              <a:spLocks noChangeArrowheads="1"/>
            </p:cNvSpPr>
            <p:nvPr/>
          </p:nvSpPr>
          <p:spPr bwMode="auto">
            <a:xfrm>
              <a:off x="5184" y="432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6821" name="Group 325"/>
          <p:cNvGrpSpPr>
            <a:grpSpLocks/>
          </p:cNvGrpSpPr>
          <p:nvPr/>
        </p:nvGrpSpPr>
        <p:grpSpPr bwMode="auto">
          <a:xfrm>
            <a:off x="5205413" y="3733800"/>
            <a:ext cx="773112" cy="304800"/>
            <a:chOff x="3552" y="2112"/>
            <a:chExt cx="528" cy="192"/>
          </a:xfrm>
        </p:grpSpPr>
        <p:sp>
          <p:nvSpPr>
            <p:cNvPr id="746822" name="Line 326"/>
            <p:cNvSpPr>
              <a:spLocks noChangeShapeType="1"/>
            </p:cNvSpPr>
            <p:nvPr/>
          </p:nvSpPr>
          <p:spPr bwMode="auto">
            <a:xfrm>
              <a:off x="4032" y="216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23" name="Line 327"/>
            <p:cNvSpPr>
              <a:spLocks noChangeShapeType="1"/>
            </p:cNvSpPr>
            <p:nvPr/>
          </p:nvSpPr>
          <p:spPr bwMode="auto">
            <a:xfrm flipH="1">
              <a:off x="3600" y="2160"/>
              <a:ext cx="43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24" name="Line 328"/>
            <p:cNvSpPr>
              <a:spLocks noChangeShapeType="1"/>
            </p:cNvSpPr>
            <p:nvPr/>
          </p:nvSpPr>
          <p:spPr bwMode="auto">
            <a:xfrm flipH="1">
              <a:off x="3600" y="2160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825" name="Line 329"/>
            <p:cNvSpPr>
              <a:spLocks noChangeShapeType="1"/>
            </p:cNvSpPr>
            <p:nvPr/>
          </p:nvSpPr>
          <p:spPr bwMode="auto">
            <a:xfrm flipH="1">
              <a:off x="3552" y="211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826" name="Line 330"/>
            <p:cNvSpPr>
              <a:spLocks noChangeShapeType="1"/>
            </p:cNvSpPr>
            <p:nvPr/>
          </p:nvSpPr>
          <p:spPr bwMode="auto">
            <a:xfrm flipH="1" flipV="1">
              <a:off x="4080" y="2112"/>
              <a:ext cx="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827" name="Line 331"/>
            <p:cNvSpPr>
              <a:spLocks noChangeShapeType="1"/>
            </p:cNvSpPr>
            <p:nvPr/>
          </p:nvSpPr>
          <p:spPr bwMode="auto">
            <a:xfrm flipH="1" flipV="1">
              <a:off x="3552" y="2112"/>
              <a:ext cx="52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6828" name="AutoShape 332"/>
          <p:cNvSpPr>
            <a:spLocks noChangeArrowheads="1"/>
          </p:cNvSpPr>
          <p:nvPr/>
        </p:nvSpPr>
        <p:spPr bwMode="auto">
          <a:xfrm>
            <a:off x="7596188" y="685800"/>
            <a:ext cx="211137" cy="381000"/>
          </a:xfrm>
          <a:prstGeom prst="downArrow">
            <a:avLst>
              <a:gd name="adj1" fmla="val 50000"/>
              <a:gd name="adj2" fmla="val 451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6829" name="Text Box 333"/>
          <p:cNvSpPr txBox="1">
            <a:spLocks noChangeArrowheads="1"/>
          </p:cNvSpPr>
          <p:nvPr/>
        </p:nvSpPr>
        <p:spPr bwMode="auto">
          <a:xfrm>
            <a:off x="304800" y="5257800"/>
            <a:ext cx="8205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Il risultato è quello giusto </a:t>
            </a:r>
            <a:r>
              <a:rPr lang="it-IT" b="1" i="1"/>
              <a:t> X = </a:t>
            </a:r>
            <a:r>
              <a:rPr lang="it-IT" b="1"/>
              <a:t>{ 4, 3, 2, 6, 8, 1 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656" grpId="0" animBg="1"/>
      <p:bldP spid="746657" grpId="0" animBg="1"/>
      <p:bldP spid="746658" grpId="0" animBg="1" autoUpdateAnimBg="0"/>
      <p:bldP spid="746659" grpId="0" animBg="1"/>
      <p:bldP spid="746660" grpId="0" animBg="1"/>
      <p:bldP spid="746661" grpId="0" animBg="1" autoUpdateAnimBg="0"/>
      <p:bldP spid="746662" grpId="0" animBg="1" autoUpdateAnimBg="0"/>
      <p:bldP spid="746683" grpId="0" animBg="1"/>
      <p:bldP spid="746684" grpId="0" animBg="1" autoUpdateAnimBg="0"/>
      <p:bldP spid="746685" grpId="0" animBg="1"/>
      <p:bldP spid="746693" grpId="0" animBg="1" autoUpdateAnimBg="0"/>
      <p:bldP spid="746694" grpId="0" animBg="1" autoUpdateAnimBg="0"/>
      <p:bldP spid="746707" grpId="0" animBg="1"/>
      <p:bldP spid="746708" grpId="0" animBg="1" autoUpdateAnimBg="0"/>
      <p:bldP spid="746709" grpId="0" animBg="1"/>
      <p:bldP spid="746710" grpId="0" animBg="1"/>
      <p:bldP spid="746711" grpId="0" animBg="1" autoUpdateAnimBg="0"/>
      <p:bldP spid="746712" grpId="0" animBg="1" autoUpdateAnimBg="0"/>
      <p:bldP spid="746720" grpId="0" animBg="1" autoUpdateAnimBg="0"/>
      <p:bldP spid="746727" grpId="0" animBg="1"/>
      <p:bldP spid="746733" grpId="0" animBg="1" autoUpdateAnimBg="0"/>
      <p:bldP spid="746747" grpId="0" animBg="1"/>
      <p:bldP spid="746769" grpId="0" animBg="1" autoUpdateAnimBg="0"/>
      <p:bldP spid="746776" grpId="0" animBg="1" autoUpdateAnimBg="0"/>
      <p:bldP spid="746777" grpId="0" animBg="1" autoUpdateAnimBg="0"/>
      <p:bldP spid="746785" grpId="0" animBg="1"/>
      <p:bldP spid="746786" grpId="0" animBg="1" autoUpdateAnimBg="0"/>
      <p:bldP spid="746787" grpId="0" animBg="1"/>
      <p:bldP spid="746788" grpId="0" animBg="1" autoUpdateAnimBg="0"/>
      <p:bldP spid="746794" grpId="0" animBg="1"/>
      <p:bldP spid="746814" grpId="0" animBg="1" autoUpdateAnimBg="0"/>
      <p:bldP spid="746828" grpId="0" animBg="1"/>
      <p:bldP spid="746829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Text Box 2"/>
          <p:cNvSpPr txBox="1">
            <a:spLocks noChangeArrowheads="1"/>
          </p:cNvSpPr>
          <p:nvPr/>
        </p:nvSpPr>
        <p:spPr bwMode="auto">
          <a:xfrm>
            <a:off x="422275" y="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Correttezza dell’algoritmo:</a:t>
            </a:r>
          </a:p>
        </p:txBody>
      </p:sp>
      <p:sp>
        <p:nvSpPr>
          <p:cNvPr id="747523" name="Text Box 3"/>
          <p:cNvSpPr txBox="1">
            <a:spLocks noChangeArrowheads="1"/>
          </p:cNvSpPr>
          <p:nvPr/>
        </p:nvSpPr>
        <p:spPr bwMode="auto">
          <a:xfrm>
            <a:off x="633413" y="685800"/>
            <a:ext cx="7924800" cy="54768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2800" b="1" i="1">
                <a:sym typeface="Symbol" charset="0"/>
              </a:rPr>
              <a:t>MinimoOffLine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S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m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 “raggruppa le </a:t>
            </a:r>
            <a:r>
              <a:rPr lang="it-IT" sz="2800" b="1" i="1">
                <a:sym typeface="Symbol" charset="0"/>
              </a:rPr>
              <a:t>Insert</a:t>
            </a:r>
            <a:r>
              <a:rPr lang="it-IT" sz="2800" b="1">
                <a:sym typeface="Symbol" charset="0"/>
              </a:rPr>
              <a:t> in insiemi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1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2</a:t>
            </a:r>
            <a:r>
              <a:rPr lang="it-IT" sz="2800" b="1">
                <a:sym typeface="Symbol" charset="0"/>
              </a:rPr>
              <a:t>,...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m+1</a:t>
            </a:r>
            <a:r>
              <a:rPr lang="it-IT" sz="2800" b="1">
                <a:sym typeface="Symbol" charset="0"/>
              </a:rPr>
              <a:t>”</a:t>
            </a:r>
          </a:p>
          <a:p>
            <a:r>
              <a:rPr lang="it-IT" sz="2800" b="1">
                <a:sym typeface="Symbol" charset="0"/>
              </a:rPr>
              <a:t>    for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  1 to </a:t>
            </a:r>
            <a:r>
              <a:rPr lang="it-IT" sz="2800" b="1" i="1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 do</a:t>
            </a:r>
          </a:p>
          <a:p>
            <a:r>
              <a:rPr lang="it-IT" b="1" u="sng">
                <a:solidFill>
                  <a:srgbClr val="0000CC"/>
                </a:solidFill>
                <a:sym typeface="Symbol" charset="0"/>
              </a:rPr>
              <a:t>PreFor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: 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</a:t>
            </a:r>
          </a:p>
          <a:p>
            <a:r>
              <a:rPr lang="it-IT" sz="2800" b="1">
                <a:sym typeface="Symbol" charset="0"/>
              </a:rPr>
              <a:t>       “istruzione interna di for”</a:t>
            </a:r>
          </a:p>
          <a:p>
            <a:r>
              <a:rPr lang="it-IT" b="1" u="sng">
                <a:solidFill>
                  <a:srgbClr val="0000CC"/>
                </a:solidFill>
                <a:sym typeface="Symbol" charset="0"/>
              </a:rPr>
              <a:t>PostFor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: 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Text Box 2"/>
          <p:cNvSpPr txBox="1">
            <a:spLocks noChangeArrowheads="1"/>
          </p:cNvSpPr>
          <p:nvPr/>
        </p:nvSpPr>
        <p:spPr bwMode="auto">
          <a:xfrm>
            <a:off x="561975" y="533400"/>
            <a:ext cx="7924800" cy="53530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b="1" u="sng">
                <a:solidFill>
                  <a:srgbClr val="0000CC"/>
                </a:solidFill>
                <a:sym typeface="Symbol" charset="0"/>
              </a:rPr>
              <a:t>PreFor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: 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</a:t>
            </a:r>
          </a:p>
          <a:p>
            <a:endParaRPr lang="it-IT" b="1">
              <a:solidFill>
                <a:srgbClr val="0000CC"/>
              </a:solidFill>
              <a:sym typeface="Symbol" charset="0"/>
            </a:endParaRPr>
          </a:p>
          <a:p>
            <a:r>
              <a:rPr lang="it-IT" sz="2800" b="1">
                <a:sym typeface="Symbol" charset="0"/>
              </a:rPr>
              <a:t>    “trova l’insieme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j</a:t>
            </a:r>
            <a:r>
              <a:rPr lang="it-IT" sz="2800" b="1" i="1">
                <a:sym typeface="Symbol" charset="0"/>
              </a:rPr>
              <a:t> </a:t>
            </a:r>
            <a:r>
              <a:rPr lang="it-IT" sz="2800" b="1">
                <a:sym typeface="Symbol" charset="0"/>
              </a:rPr>
              <a:t>che contiene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”</a:t>
            </a:r>
          </a:p>
          <a:p>
            <a:endParaRPr lang="it-IT" sz="2800" b="1">
              <a:sym typeface="Symbol" charset="0"/>
            </a:endParaRPr>
          </a:p>
          <a:p>
            <a:r>
              <a:rPr lang="it-IT" b="1">
                <a:solidFill>
                  <a:srgbClr val="0000CC"/>
                </a:solidFill>
                <a:sym typeface="Symbol" charset="0"/>
              </a:rPr>
              <a:t>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.</a:t>
            </a:r>
            <a:endParaRPr lang="it-IT" sz="2800" b="1"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Text Box 2"/>
          <p:cNvSpPr txBox="1">
            <a:spLocks noChangeArrowheads="1"/>
          </p:cNvSpPr>
          <p:nvPr/>
        </p:nvSpPr>
        <p:spPr bwMode="auto">
          <a:xfrm>
            <a:off x="561975" y="304800"/>
            <a:ext cx="7924800" cy="23082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b="1">
                <a:solidFill>
                  <a:srgbClr val="0000CC"/>
                </a:solidFill>
                <a:sym typeface="Symbol" charset="0"/>
              </a:rPr>
              <a:t>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.</a:t>
            </a:r>
            <a:endParaRPr lang="it-IT" sz="2800" b="1">
              <a:sym typeface="Symbol" charset="0"/>
            </a:endParaRPr>
          </a:p>
        </p:txBody>
      </p:sp>
      <p:sp>
        <p:nvSpPr>
          <p:cNvPr id="749571" name="Text Box 3"/>
          <p:cNvSpPr txBox="1">
            <a:spLocks noChangeArrowheads="1"/>
          </p:cNvSpPr>
          <p:nvPr/>
        </p:nvSpPr>
        <p:spPr bwMode="auto">
          <a:xfrm>
            <a:off x="492125" y="28956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Se </a:t>
            </a:r>
            <a:r>
              <a:rPr lang="it-IT" b="1" i="1">
                <a:sym typeface="Symbol" charset="0"/>
              </a:rPr>
              <a:t>j</a:t>
            </a:r>
            <a:r>
              <a:rPr lang="it-IT" b="1">
                <a:sym typeface="Symbol" charset="0"/>
              </a:rPr>
              <a:t> = </a:t>
            </a:r>
            <a:r>
              <a:rPr lang="it-IT" b="1" i="1">
                <a:sym typeface="Symbol" charset="0"/>
              </a:rPr>
              <a:t>m</a:t>
            </a:r>
            <a:r>
              <a:rPr lang="it-IT" b="1">
                <a:sym typeface="Symbol" charset="0"/>
              </a:rPr>
              <a:t>+1 </a:t>
            </a:r>
            <a:r>
              <a:rPr lang="it-IT"/>
              <a:t>allora </a:t>
            </a:r>
            <a:r>
              <a:rPr lang="it-IT" b="1" i="1">
                <a:sym typeface="Symbol" charset="0"/>
              </a:rPr>
              <a:t>i</a:t>
            </a:r>
            <a:r>
              <a:rPr lang="it-IT"/>
              <a:t> non può essere estratto e quindi è vera la postcondizione.</a:t>
            </a:r>
          </a:p>
        </p:txBody>
      </p:sp>
      <p:sp>
        <p:nvSpPr>
          <p:cNvPr id="749572" name="Text Box 4"/>
          <p:cNvSpPr txBox="1">
            <a:spLocks noChangeArrowheads="1"/>
          </p:cNvSpPr>
          <p:nvPr/>
        </p:nvSpPr>
        <p:spPr bwMode="auto">
          <a:xfrm>
            <a:off x="561975" y="4267200"/>
            <a:ext cx="7924800" cy="19431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b="1" u="sng">
                <a:solidFill>
                  <a:srgbClr val="0000CC"/>
                </a:solidFill>
                <a:sym typeface="Symbol" charset="0"/>
              </a:rPr>
              <a:t>PostFor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: 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Text Box 2"/>
          <p:cNvSpPr txBox="1">
            <a:spLocks noChangeArrowheads="1"/>
          </p:cNvSpPr>
          <p:nvPr/>
        </p:nvSpPr>
        <p:spPr bwMode="auto">
          <a:xfrm>
            <a:off x="561975" y="152400"/>
            <a:ext cx="7924800" cy="23082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b="1">
                <a:solidFill>
                  <a:srgbClr val="0000CC"/>
                </a:solidFill>
                <a:sym typeface="Symbol" charset="0"/>
              </a:rPr>
              <a:t>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.</a:t>
            </a:r>
            <a:endParaRPr lang="it-IT" sz="2800" b="1">
              <a:sym typeface="Symbol" charset="0"/>
            </a:endParaRPr>
          </a:p>
        </p:txBody>
      </p:sp>
      <p:sp>
        <p:nvSpPr>
          <p:cNvPr id="750595" name="Text Box 3"/>
          <p:cNvSpPr txBox="1">
            <a:spLocks noChangeArrowheads="1"/>
          </p:cNvSpPr>
          <p:nvPr/>
        </p:nvSpPr>
        <p:spPr bwMode="auto">
          <a:xfrm>
            <a:off x="561975" y="2514600"/>
            <a:ext cx="8001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Se </a:t>
            </a:r>
            <a:r>
              <a:rPr lang="it-IT" b="1" i="1">
                <a:sym typeface="Symbol" charset="0"/>
              </a:rPr>
              <a:t>j</a:t>
            </a:r>
            <a:r>
              <a:rPr lang="it-IT" b="1">
                <a:sym typeface="Symbol" charset="0"/>
              </a:rPr>
              <a:t>  </a:t>
            </a:r>
            <a:r>
              <a:rPr lang="it-IT" b="1" i="1">
                <a:sym typeface="Symbol" charset="0"/>
              </a:rPr>
              <a:t>m</a:t>
            </a:r>
            <a:r>
              <a:rPr lang="it-IT" b="1">
                <a:sym typeface="Symbol" charset="0"/>
              </a:rPr>
              <a:t> </a:t>
            </a:r>
            <a:r>
              <a:rPr lang="it-IT"/>
              <a:t>allora </a:t>
            </a:r>
            <a:r>
              <a:rPr lang="it-IT" b="1" i="1">
                <a:sym typeface="Symbol" charset="0"/>
              </a:rPr>
              <a:t>i</a:t>
            </a:r>
            <a:r>
              <a:rPr lang="it-IT"/>
              <a:t> è stato inserito prima di </a:t>
            </a:r>
            <a:r>
              <a:rPr lang="it-IT" b="1" i="1">
                <a:sym typeface="Symbol" charset="0"/>
              </a:rPr>
              <a:t>e</a:t>
            </a:r>
            <a:r>
              <a:rPr lang="it-IT" b="1" i="1" baseline="-25000">
                <a:sym typeface="Symbol" charset="0"/>
              </a:rPr>
              <a:t>j</a:t>
            </a:r>
            <a:r>
              <a:rPr lang="it-IT" b="1" baseline="-25000">
                <a:sym typeface="Symbol" charset="0"/>
              </a:rPr>
              <a:t> </a:t>
            </a:r>
            <a:r>
              <a:rPr lang="it-IT"/>
              <a:t>ed è il minimo elemento inserito prima di </a:t>
            </a:r>
            <a:r>
              <a:rPr lang="it-IT" b="1" i="1">
                <a:sym typeface="Symbol" charset="0"/>
              </a:rPr>
              <a:t>e</a:t>
            </a:r>
            <a:r>
              <a:rPr lang="it-IT" b="1" i="1" baseline="-25000">
                <a:sym typeface="Symbol" charset="0"/>
              </a:rPr>
              <a:t>j</a:t>
            </a:r>
            <a:r>
              <a:rPr lang="it-IT" b="1" baseline="-25000">
                <a:sym typeface="Symbol" charset="0"/>
              </a:rPr>
              <a:t> </a:t>
            </a:r>
            <a:r>
              <a:rPr lang="it-IT"/>
              <a:t>che possa essere estratto da </a:t>
            </a:r>
            <a:r>
              <a:rPr lang="it-IT" b="1" i="1">
                <a:sym typeface="Symbol" charset="0"/>
              </a:rPr>
              <a:t>e</a:t>
            </a:r>
            <a:r>
              <a:rPr lang="it-IT" b="1" i="1" baseline="-25000">
                <a:sym typeface="Symbol" charset="0"/>
              </a:rPr>
              <a:t>j</a:t>
            </a:r>
            <a:r>
              <a:rPr lang="it-IT"/>
              <a:t>. Quindi </a:t>
            </a:r>
            <a:r>
              <a:rPr lang="it-IT" b="1" i="1">
                <a:sym typeface="Symbol" charset="0"/>
              </a:rPr>
              <a:t>e</a:t>
            </a:r>
            <a:r>
              <a:rPr lang="it-IT" b="1" i="1" baseline="-25000">
                <a:sym typeface="Symbol" charset="0"/>
              </a:rPr>
              <a:t>j</a:t>
            </a:r>
            <a:r>
              <a:rPr lang="it-IT" b="1" baseline="-25000">
                <a:sym typeface="Symbol" charset="0"/>
              </a:rPr>
              <a:t> </a:t>
            </a:r>
            <a:r>
              <a:rPr lang="it-IT"/>
              <a:t>estrae </a:t>
            </a:r>
            <a:r>
              <a:rPr lang="it-IT" b="1" i="1">
                <a:sym typeface="Symbol" charset="0"/>
              </a:rPr>
              <a:t>i</a:t>
            </a:r>
            <a:r>
              <a:rPr lang="it-IT"/>
              <a:t>. Vale quindi:</a:t>
            </a:r>
            <a:endParaRPr lang="it-IT" b="1">
              <a:sym typeface="Symbol" charset="0"/>
            </a:endParaRPr>
          </a:p>
        </p:txBody>
      </p:sp>
      <p:sp>
        <p:nvSpPr>
          <p:cNvPr id="750596" name="Text Box 4"/>
          <p:cNvSpPr txBox="1">
            <a:spLocks noChangeArrowheads="1"/>
          </p:cNvSpPr>
          <p:nvPr/>
        </p:nvSpPr>
        <p:spPr bwMode="auto">
          <a:xfrm>
            <a:off x="633413" y="4191000"/>
            <a:ext cx="8112125" cy="23082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b="1">
                <a:solidFill>
                  <a:srgbClr val="0000CC"/>
                </a:solidFill>
                <a:sym typeface="Symbol" charset="0"/>
              </a:rPr>
              <a:t>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Inoltre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ed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 baseline="-2500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b="1">
                <a:solidFill>
                  <a:srgbClr val="0000CC"/>
                </a:solidFill>
              </a:rPr>
              <a:t>estrae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Text Box 2"/>
          <p:cNvSpPr txBox="1">
            <a:spLocks noChangeArrowheads="1"/>
          </p:cNvSpPr>
          <p:nvPr/>
        </p:nvSpPr>
        <p:spPr bwMode="auto">
          <a:xfrm>
            <a:off x="492125" y="762000"/>
            <a:ext cx="8112125" cy="57800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b="1">
                <a:solidFill>
                  <a:srgbClr val="0000CC"/>
                </a:solidFill>
                <a:sym typeface="Symbol" charset="0"/>
              </a:rPr>
              <a:t>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ed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 baseline="-2500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b="1">
                <a:solidFill>
                  <a:srgbClr val="0000CC"/>
                </a:solidFill>
              </a:rPr>
              <a:t>estrae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</a:t>
            </a:r>
          </a:p>
          <a:p>
            <a:endParaRPr lang="it-IT" sz="2800" b="1">
              <a:solidFill>
                <a:srgbClr val="0000CC"/>
              </a:solidFill>
              <a:sym typeface="Symbol" charset="0"/>
            </a:endParaRPr>
          </a:p>
          <a:p>
            <a:r>
              <a:rPr lang="it-IT" sz="2800" b="1" i="1">
                <a:sym typeface="Symbol" charset="0"/>
              </a:rPr>
              <a:t>          X</a:t>
            </a:r>
            <a:r>
              <a:rPr lang="it-IT" sz="2800" b="1" i="1" baseline="-25000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cs typeface="Courier New" charset="0"/>
              </a:rPr>
              <a:t>i</a:t>
            </a:r>
          </a:p>
          <a:p>
            <a:endParaRPr lang="it-IT" sz="2800" b="1">
              <a:sym typeface="Symbol" charset="0"/>
            </a:endParaRPr>
          </a:p>
          <a:p>
            <a:r>
              <a:rPr lang="it-IT" b="1">
                <a:solidFill>
                  <a:srgbClr val="0000CC"/>
                </a:solidFill>
                <a:sym typeface="Symbol" charset="0"/>
              </a:rPr>
              <a:t>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b="1">
                <a:solidFill>
                  <a:schemeClr val="accent2"/>
                </a:solidFill>
                <a:sym typeface="Symbol" charset="0"/>
              </a:rPr>
              <a:t> </a:t>
            </a:r>
            <a:r>
              <a:rPr lang="it-IT" b="1" i="1">
                <a:solidFill>
                  <a:schemeClr val="accent2"/>
                </a:solidFill>
                <a:sym typeface="Symbol" charset="0"/>
              </a:rPr>
              <a:t>m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</a:t>
            </a:r>
          </a:p>
        </p:txBody>
      </p:sp>
      <p:sp>
        <p:nvSpPr>
          <p:cNvPr id="751619" name="Text Box 3"/>
          <p:cNvSpPr txBox="1">
            <a:spLocks noChangeArrowheads="1"/>
          </p:cNvSpPr>
          <p:nvPr/>
        </p:nvSpPr>
        <p:spPr bwMode="auto">
          <a:xfrm>
            <a:off x="609600" y="1524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In questo caso viene eseguita l’istruzione:</a:t>
            </a:r>
            <a:endParaRPr lang="it-IT" b="1"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Text Box 2"/>
          <p:cNvSpPr txBox="1">
            <a:spLocks noChangeArrowheads="1"/>
          </p:cNvSpPr>
          <p:nvPr/>
        </p:nvSpPr>
        <p:spPr bwMode="auto">
          <a:xfrm>
            <a:off x="609600" y="838200"/>
            <a:ext cx="8112125" cy="57800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b="1">
                <a:solidFill>
                  <a:srgbClr val="0000CC"/>
                </a:solidFill>
                <a:sym typeface="Symbol" charset="0"/>
              </a:rPr>
              <a:t>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j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b="1">
                <a:solidFill>
                  <a:schemeClr val="accent2"/>
                </a:solidFill>
                <a:sym typeface="Symbol" charset="0"/>
              </a:rPr>
              <a:t> </a:t>
            </a:r>
            <a:r>
              <a:rPr lang="it-IT" b="1" i="1">
                <a:solidFill>
                  <a:schemeClr val="accent2"/>
                </a:solidFill>
                <a:sym typeface="Symbol" charset="0"/>
              </a:rPr>
              <a:t>m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</a:t>
            </a:r>
          </a:p>
          <a:p>
            <a:endParaRPr lang="it-IT" b="1">
              <a:solidFill>
                <a:srgbClr val="0000CC"/>
              </a:solidFill>
              <a:sym typeface="Symbol" charset="0"/>
            </a:endParaRPr>
          </a:p>
          <a:p>
            <a:r>
              <a:rPr lang="it-IT" sz="2800" b="1">
                <a:sym typeface="Symbol" charset="0"/>
              </a:rPr>
              <a:t>        “trova il primo </a:t>
            </a:r>
            <a:r>
              <a:rPr lang="it-IT" sz="2800" b="1" i="1">
                <a:sym typeface="Symbol" charset="0"/>
              </a:rPr>
              <a:t>h </a:t>
            </a:r>
            <a:r>
              <a:rPr lang="it-IT" sz="2800" b="1">
                <a:sym typeface="Symbol" charset="0"/>
              </a:rPr>
              <a:t>&gt; </a:t>
            </a:r>
            <a:r>
              <a:rPr lang="it-IT" sz="2800" b="1" i="1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con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 i="1" baseline="-25000">
                <a:sym typeface="Symbol" charset="0"/>
              </a:rPr>
              <a:t>h</a:t>
            </a:r>
            <a:r>
              <a:rPr lang="it-IT" sz="2800" b="1">
                <a:sym typeface="Symbol" charset="0"/>
              </a:rPr>
              <a:t> non definito”</a:t>
            </a:r>
          </a:p>
          <a:p>
            <a:r>
              <a:rPr lang="it-IT" sz="2800" b="1">
                <a:sym typeface="Symbol" charset="0"/>
              </a:rPr>
              <a:t>       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h</a:t>
            </a:r>
            <a:r>
              <a:rPr lang="it-IT" sz="2800" b="1">
                <a:sym typeface="Symbol" charset="0"/>
              </a:rPr>
              <a:t> =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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 i="1" baseline="-25000">
                <a:sym typeface="Symbol" charset="0"/>
              </a:rPr>
              <a:t>h</a:t>
            </a:r>
          </a:p>
          <a:p>
            <a:endParaRPr lang="it-IT" sz="2800" b="1">
              <a:sym typeface="Symbol" charset="0"/>
            </a:endParaRPr>
          </a:p>
          <a:p>
            <a:r>
              <a:rPr lang="it-IT" b="1" u="sng">
                <a:solidFill>
                  <a:srgbClr val="0000CC"/>
                </a:solidFill>
                <a:sym typeface="Symbol" charset="0"/>
              </a:rPr>
              <a:t>PostFor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: Ogni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estratto è stato memorizzato al posto giusto nell’array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. Se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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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allora: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è stato inserito prima di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 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,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x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non può venire estratto da una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con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&lt; 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 </a:t>
            </a:r>
          </a:p>
          <a:p>
            <a:pPr>
              <a:buFontTx/>
              <a:buAutoNum type="alphaLcParenR"/>
            </a:pPr>
            <a:r>
              <a:rPr lang="it-IT" b="1" i="1">
                <a:solidFill>
                  <a:srgbClr val="0000CC"/>
                </a:solidFill>
                <a:sym typeface="Symbol" charset="0"/>
              </a:rPr>
              <a:t>e</a:t>
            </a:r>
            <a:r>
              <a:rPr lang="it-IT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 estrae un valore </a:t>
            </a:r>
            <a:r>
              <a:rPr lang="it-IT" b="1" i="1">
                <a:solidFill>
                  <a:srgbClr val="0000CC"/>
                </a:solidFill>
                <a:sym typeface="Symbol" charset="0"/>
              </a:rPr>
              <a:t> i</a:t>
            </a:r>
            <a:r>
              <a:rPr lang="it-IT" b="1">
                <a:solidFill>
                  <a:srgbClr val="0000CC"/>
                </a:solidFill>
                <a:sym typeface="Symbol" charset="0"/>
              </a:rPr>
              <a:t>+1.</a:t>
            </a:r>
          </a:p>
        </p:txBody>
      </p:sp>
      <p:sp>
        <p:nvSpPr>
          <p:cNvPr id="752643" name="Text Box 3"/>
          <p:cNvSpPr txBox="1">
            <a:spLocks noChangeArrowheads="1"/>
          </p:cNvSpPr>
          <p:nvPr/>
        </p:nvSpPr>
        <p:spPr bwMode="auto">
          <a:xfrm>
            <a:off x="609600" y="304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Dopo di che:</a:t>
            </a:r>
            <a:endParaRPr lang="it-IT" sz="2400" b="1">
              <a:latin typeface="Courier New" charset="0"/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Text Box 2"/>
          <p:cNvSpPr txBox="1">
            <a:spLocks noChangeArrowheads="1"/>
          </p:cNvSpPr>
          <p:nvPr/>
        </p:nvSpPr>
        <p:spPr bwMode="auto">
          <a:xfrm>
            <a:off x="609600" y="685800"/>
            <a:ext cx="7543800" cy="209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/>
              <a:t>Problema 22-3 del libro</a:t>
            </a:r>
          </a:p>
          <a:p>
            <a:pPr>
              <a:spcBef>
                <a:spcPct val="10000"/>
              </a:spcBef>
            </a:pPr>
            <a:r>
              <a:rPr lang="it-IT"/>
              <a:t>Il minimo antenato comune di due nodi </a:t>
            </a:r>
            <a:r>
              <a:rPr lang="it-IT" b="1" i="1"/>
              <a:t>u</a:t>
            </a:r>
            <a:r>
              <a:rPr lang="it-IT"/>
              <a:t> e </a:t>
            </a:r>
            <a:r>
              <a:rPr lang="it-IT" b="1" i="1"/>
              <a:t>v</a:t>
            </a:r>
            <a:r>
              <a:rPr lang="it-IT"/>
              <a:t> in un albero </a:t>
            </a:r>
            <a:r>
              <a:rPr lang="it-IT" b="1" i="1"/>
              <a:t>T</a:t>
            </a:r>
            <a:r>
              <a:rPr lang="it-IT"/>
              <a:t> è il nodo </a:t>
            </a:r>
            <a:r>
              <a:rPr lang="it-IT" b="1" i="1"/>
              <a:t>w</a:t>
            </a:r>
            <a:r>
              <a:rPr lang="it-IT"/>
              <a:t> di massima profondità che è antenato sia di </a:t>
            </a:r>
            <a:r>
              <a:rPr lang="it-IT" b="1" i="1"/>
              <a:t>u</a:t>
            </a:r>
            <a:r>
              <a:rPr lang="it-IT"/>
              <a:t> che di </a:t>
            </a:r>
            <a:r>
              <a:rPr lang="it-IT" b="1" i="1"/>
              <a:t>v</a:t>
            </a:r>
            <a:r>
              <a:rPr lang="it-IT"/>
              <a:t>.</a:t>
            </a:r>
          </a:p>
        </p:txBody>
      </p:sp>
      <p:grpSp>
        <p:nvGrpSpPr>
          <p:cNvPr id="753667" name="Group 3"/>
          <p:cNvGrpSpPr>
            <a:grpSpLocks/>
          </p:cNvGrpSpPr>
          <p:nvPr/>
        </p:nvGrpSpPr>
        <p:grpSpPr bwMode="auto">
          <a:xfrm>
            <a:off x="2362200" y="3505200"/>
            <a:ext cx="3657600" cy="2514600"/>
            <a:chOff x="1488" y="2208"/>
            <a:chExt cx="2304" cy="1584"/>
          </a:xfrm>
        </p:grpSpPr>
        <p:sp>
          <p:nvSpPr>
            <p:cNvPr id="753668" name="AutoShape 4"/>
            <p:cNvSpPr>
              <a:spLocks noChangeArrowheads="1"/>
            </p:cNvSpPr>
            <p:nvPr/>
          </p:nvSpPr>
          <p:spPr bwMode="auto">
            <a:xfrm>
              <a:off x="1488" y="2208"/>
              <a:ext cx="2304" cy="158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69" name="Text Box 5"/>
            <p:cNvSpPr txBox="1">
              <a:spLocks noChangeArrowheads="1"/>
            </p:cNvSpPr>
            <p:nvPr/>
          </p:nvSpPr>
          <p:spPr bwMode="auto">
            <a:xfrm>
              <a:off x="2112" y="3408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b="1" i="1"/>
                <a:t>u</a:t>
              </a:r>
              <a:endParaRPr lang="it-IT"/>
            </a:p>
          </p:txBody>
        </p:sp>
        <p:sp>
          <p:nvSpPr>
            <p:cNvPr id="753670" name="Text Box 6"/>
            <p:cNvSpPr txBox="1">
              <a:spLocks noChangeArrowheads="1"/>
            </p:cNvSpPr>
            <p:nvPr/>
          </p:nvSpPr>
          <p:spPr bwMode="auto">
            <a:xfrm>
              <a:off x="2784" y="3216"/>
              <a:ext cx="2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b="1" i="1"/>
                <a:t>v</a:t>
              </a:r>
              <a:endParaRPr lang="it-IT"/>
            </a:p>
          </p:txBody>
        </p:sp>
        <p:sp>
          <p:nvSpPr>
            <p:cNvPr id="753671" name="Text Box 7"/>
            <p:cNvSpPr txBox="1">
              <a:spLocks noChangeArrowheads="1"/>
            </p:cNvSpPr>
            <p:nvPr/>
          </p:nvSpPr>
          <p:spPr bwMode="auto">
            <a:xfrm>
              <a:off x="2496" y="2736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b="1" i="1"/>
                <a:t>w</a:t>
              </a:r>
              <a:endParaRPr lang="it-IT"/>
            </a:p>
          </p:txBody>
        </p:sp>
        <p:sp>
          <p:nvSpPr>
            <p:cNvPr id="753672" name="Line 8"/>
            <p:cNvSpPr>
              <a:spLocks noChangeShapeType="1"/>
            </p:cNvSpPr>
            <p:nvPr/>
          </p:nvSpPr>
          <p:spPr bwMode="auto">
            <a:xfrm flipH="1">
              <a:off x="2256" y="3408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73" name="Line 9"/>
            <p:cNvSpPr>
              <a:spLocks noChangeShapeType="1"/>
            </p:cNvSpPr>
            <p:nvPr/>
          </p:nvSpPr>
          <p:spPr bwMode="auto">
            <a:xfrm flipH="1">
              <a:off x="2304" y="326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74" name="Line 10"/>
            <p:cNvSpPr>
              <a:spLocks noChangeShapeType="1"/>
            </p:cNvSpPr>
            <p:nvPr/>
          </p:nvSpPr>
          <p:spPr bwMode="auto">
            <a:xfrm flipH="1">
              <a:off x="2448" y="302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75" name="Line 11"/>
            <p:cNvSpPr>
              <a:spLocks noChangeShapeType="1"/>
            </p:cNvSpPr>
            <p:nvPr/>
          </p:nvSpPr>
          <p:spPr bwMode="auto">
            <a:xfrm>
              <a:off x="2688" y="302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76" name="Line 12"/>
            <p:cNvSpPr>
              <a:spLocks noChangeShapeType="1"/>
            </p:cNvSpPr>
            <p:nvPr/>
          </p:nvSpPr>
          <p:spPr bwMode="auto">
            <a:xfrm>
              <a:off x="2832" y="3168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77" name="Line 13"/>
            <p:cNvSpPr>
              <a:spLocks noChangeShapeType="1"/>
            </p:cNvSpPr>
            <p:nvPr/>
          </p:nvSpPr>
          <p:spPr bwMode="auto">
            <a:xfrm>
              <a:off x="2592" y="2736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78" name="Line 14"/>
            <p:cNvSpPr>
              <a:spLocks noChangeShapeType="1"/>
            </p:cNvSpPr>
            <p:nvPr/>
          </p:nvSpPr>
          <p:spPr bwMode="auto">
            <a:xfrm flipH="1">
              <a:off x="2592" y="259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79" name="Line 15"/>
            <p:cNvSpPr>
              <a:spLocks noChangeShapeType="1"/>
            </p:cNvSpPr>
            <p:nvPr/>
          </p:nvSpPr>
          <p:spPr bwMode="auto">
            <a:xfrm>
              <a:off x="2592" y="2400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3680" name="Line 16"/>
            <p:cNvSpPr>
              <a:spLocks noChangeShapeType="1"/>
            </p:cNvSpPr>
            <p:nvPr/>
          </p:nvSpPr>
          <p:spPr bwMode="auto">
            <a:xfrm flipH="1">
              <a:off x="2592" y="2208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Text Box 2"/>
          <p:cNvSpPr txBox="1">
            <a:spLocks noChangeArrowheads="1"/>
          </p:cNvSpPr>
          <p:nvPr/>
        </p:nvSpPr>
        <p:spPr bwMode="auto">
          <a:xfrm>
            <a:off x="609600" y="990600"/>
            <a:ext cx="7761288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Nel problema dei </a:t>
            </a:r>
            <a:r>
              <a:rPr lang="it-IT" i="1" u="sng"/>
              <a:t>minimi comuni antenati off-line</a:t>
            </a:r>
            <a:r>
              <a:rPr lang="it-IT"/>
              <a:t> sono dati un albero </a:t>
            </a:r>
            <a:r>
              <a:rPr lang="it-IT" b="1" i="1"/>
              <a:t>T</a:t>
            </a:r>
            <a:r>
              <a:rPr lang="it-IT"/>
              <a:t> con </a:t>
            </a:r>
            <a:r>
              <a:rPr lang="it-IT" b="1" i="1"/>
              <a:t>n</a:t>
            </a:r>
            <a:r>
              <a:rPr lang="it-IT"/>
              <a:t> nodi ed una lista</a:t>
            </a:r>
          </a:p>
          <a:p>
            <a:pPr>
              <a:spcBef>
                <a:spcPct val="10000"/>
              </a:spcBef>
            </a:pPr>
            <a:r>
              <a:rPr lang="it-IT"/>
              <a:t>      </a:t>
            </a:r>
            <a:r>
              <a:rPr lang="it-IT" b="1" i="1"/>
              <a:t>L =</a:t>
            </a:r>
            <a:r>
              <a:rPr lang="it-IT" b="1"/>
              <a:t> { (</a:t>
            </a:r>
            <a:r>
              <a:rPr lang="it-IT" b="1" i="1"/>
              <a:t>u</a:t>
            </a:r>
            <a:r>
              <a:rPr lang="it-IT" b="1" i="1" baseline="-25000"/>
              <a:t>1</a:t>
            </a:r>
            <a:r>
              <a:rPr lang="it-IT" b="1"/>
              <a:t>,</a:t>
            </a:r>
            <a:r>
              <a:rPr lang="it-IT" b="1" i="1"/>
              <a:t>v</a:t>
            </a:r>
            <a:r>
              <a:rPr lang="it-IT" b="1" i="1" baseline="-25000"/>
              <a:t>1</a:t>
            </a:r>
            <a:r>
              <a:rPr lang="it-IT" b="1"/>
              <a:t>), (</a:t>
            </a:r>
            <a:r>
              <a:rPr lang="it-IT" b="1" i="1"/>
              <a:t>u</a:t>
            </a:r>
            <a:r>
              <a:rPr lang="it-IT" b="1" i="1" baseline="-25000"/>
              <a:t>2</a:t>
            </a:r>
            <a:r>
              <a:rPr lang="it-IT" b="1"/>
              <a:t>,</a:t>
            </a:r>
            <a:r>
              <a:rPr lang="it-IT" b="1" i="1"/>
              <a:t>v</a:t>
            </a:r>
            <a:r>
              <a:rPr lang="it-IT" b="1" i="1" baseline="-25000"/>
              <a:t>2</a:t>
            </a:r>
            <a:r>
              <a:rPr lang="it-IT" b="1"/>
              <a:t>),..., (</a:t>
            </a:r>
            <a:r>
              <a:rPr lang="it-IT" b="1" i="1"/>
              <a:t>u</a:t>
            </a:r>
            <a:r>
              <a:rPr lang="it-IT" b="1" i="1" baseline="-25000"/>
              <a:t>m</a:t>
            </a:r>
            <a:r>
              <a:rPr lang="it-IT" b="1"/>
              <a:t>,</a:t>
            </a:r>
            <a:r>
              <a:rPr lang="it-IT" b="1" i="1"/>
              <a:t>v</a:t>
            </a:r>
            <a:r>
              <a:rPr lang="it-IT" b="1" i="1" baseline="-25000"/>
              <a:t>m</a:t>
            </a:r>
            <a:r>
              <a:rPr lang="it-IT" b="1"/>
              <a:t>) }</a:t>
            </a:r>
            <a:r>
              <a:rPr lang="it-IT"/>
              <a:t> </a:t>
            </a:r>
          </a:p>
          <a:p>
            <a:pPr>
              <a:spcBef>
                <a:spcPct val="10000"/>
              </a:spcBef>
            </a:pPr>
            <a:r>
              <a:rPr lang="it-IT"/>
              <a:t>di </a:t>
            </a:r>
            <a:r>
              <a:rPr lang="it-IT" b="1" i="1"/>
              <a:t>m</a:t>
            </a:r>
            <a:r>
              <a:rPr lang="it-IT"/>
              <a:t> coppie di nodi. </a:t>
            </a:r>
          </a:p>
          <a:p>
            <a:pPr>
              <a:spcBef>
                <a:spcPct val="10000"/>
              </a:spcBef>
            </a:pPr>
            <a:r>
              <a:rPr lang="it-IT"/>
              <a:t>Si chiede di calcolare la lista</a:t>
            </a:r>
          </a:p>
          <a:p>
            <a:pPr>
              <a:spcBef>
                <a:spcPct val="10000"/>
              </a:spcBef>
            </a:pPr>
            <a:r>
              <a:rPr lang="it-IT" b="1" i="1"/>
              <a:t>      W = </a:t>
            </a:r>
            <a:r>
              <a:rPr lang="it-IT" b="1"/>
              <a:t>{ </a:t>
            </a:r>
            <a:r>
              <a:rPr lang="it-IT" b="1" i="1"/>
              <a:t>w</a:t>
            </a:r>
            <a:r>
              <a:rPr lang="it-IT" b="1" i="1" baseline="-25000"/>
              <a:t>1</a:t>
            </a:r>
            <a:r>
              <a:rPr lang="it-IT" b="1"/>
              <a:t>, </a:t>
            </a:r>
            <a:r>
              <a:rPr lang="it-IT" b="1" i="1"/>
              <a:t>w</a:t>
            </a:r>
            <a:r>
              <a:rPr lang="it-IT" b="1" i="1" baseline="-25000"/>
              <a:t>2</a:t>
            </a:r>
            <a:r>
              <a:rPr lang="it-IT" b="1"/>
              <a:t>, ... , </a:t>
            </a:r>
            <a:r>
              <a:rPr lang="it-IT" b="1" i="1"/>
              <a:t>w</a:t>
            </a:r>
            <a:r>
              <a:rPr lang="it-IT" b="1" i="1" baseline="-25000"/>
              <a:t>m</a:t>
            </a:r>
            <a:r>
              <a:rPr lang="it-IT" b="1"/>
              <a:t>}</a:t>
            </a:r>
            <a:r>
              <a:rPr lang="it-IT"/>
              <a:t> </a:t>
            </a:r>
          </a:p>
          <a:p>
            <a:pPr>
              <a:spcBef>
                <a:spcPct val="10000"/>
              </a:spcBef>
            </a:pPr>
            <a:r>
              <a:rPr lang="it-IT"/>
              <a:t>dei minimi comuni antenati di ogni coppia.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Text Box 2"/>
          <p:cNvSpPr txBox="1">
            <a:spLocks noChangeArrowheads="1"/>
          </p:cNvSpPr>
          <p:nvPr/>
        </p:nvSpPr>
        <p:spPr bwMode="auto">
          <a:xfrm>
            <a:off x="381000" y="457200"/>
            <a:ext cx="8382000" cy="526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Esiste un algoritmo, dovuto a Robert E. Tarjan, che risolve il problema in tempo (quasi) lineare con una sola percorrenza dell’albero.</a:t>
            </a:r>
          </a:p>
          <a:p>
            <a:pPr>
              <a:spcBef>
                <a:spcPct val="10000"/>
              </a:spcBef>
            </a:pPr>
            <a:r>
              <a:rPr lang="it-IT"/>
              <a:t>Assumiamo che ogni nodo dell’albero abbia i seguenti campi puntatore:</a:t>
            </a:r>
          </a:p>
          <a:p>
            <a:pPr>
              <a:spcBef>
                <a:spcPct val="10000"/>
              </a:spcBef>
            </a:pPr>
            <a:r>
              <a:rPr lang="it-IT"/>
              <a:t>- </a:t>
            </a:r>
            <a:r>
              <a:rPr lang="it-IT" b="1" i="1">
                <a:sym typeface="Symbol" charset="0"/>
              </a:rPr>
              <a:t>child</a:t>
            </a:r>
            <a:r>
              <a:rPr lang="it-IT" b="1">
                <a:sym typeface="Symbol" charset="0"/>
              </a:rPr>
              <a:t> </a:t>
            </a:r>
            <a:r>
              <a:rPr lang="it-IT"/>
              <a:t>che punta al primo figlio;</a:t>
            </a:r>
          </a:p>
          <a:p>
            <a:pPr>
              <a:spcBef>
                <a:spcPct val="10000"/>
              </a:spcBef>
            </a:pPr>
            <a:r>
              <a:rPr lang="it-IT"/>
              <a:t>- </a:t>
            </a:r>
            <a:r>
              <a:rPr lang="it-IT" b="1" i="1">
                <a:sym typeface="Symbol" charset="0"/>
              </a:rPr>
              <a:t>sibling</a:t>
            </a:r>
            <a:r>
              <a:rPr lang="it-IT"/>
              <a:t> che punta al fratello;</a:t>
            </a:r>
          </a:p>
          <a:p>
            <a:pPr>
              <a:spcBef>
                <a:spcPct val="10000"/>
              </a:spcBef>
            </a:pPr>
            <a:r>
              <a:rPr lang="it-IT"/>
              <a:t>- </a:t>
            </a:r>
            <a:r>
              <a:rPr lang="it-IT" b="1" i="1">
                <a:sym typeface="Symbol" charset="0"/>
              </a:rPr>
              <a:t>ancestor</a:t>
            </a:r>
            <a:r>
              <a:rPr lang="it-IT"/>
              <a:t> che punta ad un suo antenato;</a:t>
            </a:r>
          </a:p>
          <a:p>
            <a:pPr>
              <a:spcBef>
                <a:spcPct val="10000"/>
              </a:spcBef>
            </a:pPr>
            <a:r>
              <a:rPr lang="it-IT"/>
              <a:t>ed un campo:</a:t>
            </a:r>
          </a:p>
          <a:p>
            <a:pPr>
              <a:spcBef>
                <a:spcPct val="10000"/>
              </a:spcBef>
            </a:pPr>
            <a:r>
              <a:rPr lang="it-IT"/>
              <a:t>- </a:t>
            </a:r>
            <a:r>
              <a:rPr lang="it-IT" b="1" i="1">
                <a:sym typeface="Symbol" charset="0"/>
              </a:rPr>
              <a:t>color</a:t>
            </a:r>
            <a:r>
              <a:rPr lang="it-IT" b="1">
                <a:sym typeface="Symbol" charset="0"/>
              </a:rPr>
              <a:t> </a:t>
            </a:r>
            <a:r>
              <a:rPr lang="it-IT"/>
              <a:t>che è </a:t>
            </a:r>
            <a:r>
              <a:rPr lang="it-IT" b="1" i="1">
                <a:sym typeface="Symbol" charset="0"/>
              </a:rPr>
              <a:t>white</a:t>
            </a:r>
            <a:r>
              <a:rPr lang="it-IT"/>
              <a:t> all’inizio e poi diventa </a:t>
            </a:r>
            <a:r>
              <a:rPr lang="it-IT" b="1" i="1">
                <a:sym typeface="Symbol" charset="0"/>
              </a:rPr>
              <a:t>black</a:t>
            </a:r>
            <a:r>
              <a:rPr lang="it-IT"/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Text Box 2"/>
          <p:cNvSpPr txBox="1">
            <a:spLocks noChangeArrowheads="1"/>
          </p:cNvSpPr>
          <p:nvPr/>
        </p:nvSpPr>
        <p:spPr bwMode="auto">
          <a:xfrm>
            <a:off x="633413" y="1828800"/>
            <a:ext cx="8077200" cy="48148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i="1">
                <a:sym typeface="Symbol" charset="0"/>
              </a:rPr>
              <a:t>MinComAnt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MakeSet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), </a:t>
            </a:r>
            <a:r>
              <a:rPr lang="it-IT" sz="2800" b="1" i="1">
                <a:sym typeface="Symbol" charset="0"/>
              </a:rPr>
              <a:t>ancestor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u</a:t>
            </a:r>
            <a:endParaRPr lang="it-IT" sz="2800" b="1">
              <a:sym typeface="Symbol" charset="0"/>
            </a:endParaRP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child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]</a:t>
            </a:r>
          </a:p>
          <a:p>
            <a:r>
              <a:rPr lang="it-IT" sz="2800" b="1">
                <a:sym typeface="Symbol" charset="0"/>
              </a:rPr>
              <a:t>   while 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>
                <a:sym typeface="Symbol" charset="0"/>
              </a:rPr>
              <a:t>  nil do</a:t>
            </a:r>
          </a:p>
          <a:p>
            <a:r>
              <a:rPr lang="it-IT" sz="2800" b="1">
                <a:sym typeface="Symbol" charset="0"/>
              </a:rPr>
              <a:t>      </a:t>
            </a:r>
            <a:r>
              <a:rPr lang="it-IT" sz="2800" b="1" i="1">
                <a:sym typeface="Symbol" charset="0"/>
              </a:rPr>
              <a:t>MinComAnt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>
                <a:sym typeface="Symbol" charset="0"/>
              </a:rPr>
              <a:t>), </a:t>
            </a:r>
            <a:r>
              <a:rPr lang="it-IT" sz="2800" b="1" i="1">
                <a:sym typeface="Symbol" charset="0"/>
              </a:rPr>
              <a:t>Union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>
                <a:sym typeface="Symbol" charset="0"/>
              </a:rPr>
              <a:t>) </a:t>
            </a:r>
          </a:p>
          <a:p>
            <a:r>
              <a:rPr lang="it-IT" sz="2800" b="1">
                <a:sym typeface="Symbol" charset="0"/>
              </a:rPr>
              <a:t>      </a:t>
            </a:r>
            <a:r>
              <a:rPr lang="it-IT" sz="2800" b="1" i="1">
                <a:sym typeface="Symbol" charset="0"/>
              </a:rPr>
              <a:t>ancestor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)]  </a:t>
            </a:r>
            <a:r>
              <a:rPr lang="it-IT" sz="2800" b="1" i="1">
                <a:sym typeface="Symbol" charset="0"/>
              </a:rPr>
              <a:t>u</a:t>
            </a:r>
            <a:endParaRPr lang="it-IT" sz="2800" b="1">
              <a:sym typeface="Symbol" charset="0"/>
            </a:endParaRPr>
          </a:p>
          <a:p>
            <a:r>
              <a:rPr lang="it-IT" sz="2800" b="1">
                <a:sym typeface="Symbol" charset="0"/>
              </a:rPr>
              <a:t>      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sibling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>
                <a:sym typeface="Symbol" charset="0"/>
              </a:rPr>
              <a:t>]</a:t>
            </a:r>
          </a:p>
          <a:p>
            <a:r>
              <a:rPr lang="it-IT" sz="2800" b="1">
                <a:sym typeface="Symbol" charset="0"/>
              </a:rPr>
              <a:t>   </a:t>
            </a:r>
            <a:r>
              <a:rPr lang="it-IT" sz="2800" b="1" i="1">
                <a:sym typeface="Symbol" charset="0"/>
              </a:rPr>
              <a:t>color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]  </a:t>
            </a:r>
            <a:r>
              <a:rPr lang="it-IT" sz="2800" b="1" i="1">
                <a:sym typeface="Symbol" charset="0"/>
              </a:rPr>
              <a:t>black</a:t>
            </a:r>
          </a:p>
          <a:p>
            <a:r>
              <a:rPr lang="it-IT" sz="2800" b="1">
                <a:sym typeface="Symbol" charset="0"/>
              </a:rPr>
              <a:t>   for “ogni (</a:t>
            </a:r>
            <a:r>
              <a:rPr lang="it-IT" sz="2800" b="1" i="1">
                <a:sym typeface="Symbol" charset="0"/>
              </a:rPr>
              <a:t>u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 i="1" baseline="-25000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)  </a:t>
            </a:r>
            <a:r>
              <a:rPr lang="it-IT" sz="2800" b="1" i="1">
                <a:sym typeface="Symbol" charset="0"/>
              </a:rPr>
              <a:t>L</a:t>
            </a:r>
            <a:r>
              <a:rPr lang="it-IT" sz="2800" b="1">
                <a:sym typeface="Symbol" charset="0"/>
              </a:rPr>
              <a:t>” do</a:t>
            </a:r>
          </a:p>
          <a:p>
            <a:r>
              <a:rPr lang="it-IT" sz="2800" b="1">
                <a:sym typeface="Symbol" charset="0"/>
              </a:rPr>
              <a:t>       if </a:t>
            </a:r>
            <a:r>
              <a:rPr lang="it-IT" sz="2800" b="1" i="1">
                <a:sym typeface="Symbol" charset="0"/>
              </a:rPr>
              <a:t>color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 i="1" baseline="-25000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] = </a:t>
            </a:r>
            <a:r>
              <a:rPr lang="it-IT" sz="2800" b="1" i="1">
                <a:sym typeface="Symbol" charset="0"/>
              </a:rPr>
              <a:t>black</a:t>
            </a:r>
            <a:r>
              <a:rPr lang="it-IT" sz="2800" b="1">
                <a:sym typeface="Symbol" charset="0"/>
              </a:rPr>
              <a:t> then</a:t>
            </a:r>
          </a:p>
          <a:p>
            <a:r>
              <a:rPr lang="it-IT" sz="2800" b="1">
                <a:sym typeface="Symbol" charset="0"/>
              </a:rPr>
              <a:t>            </a:t>
            </a:r>
            <a:r>
              <a:rPr lang="it-IT" sz="2800" b="1" i="1">
                <a:sym typeface="Symbol" charset="0"/>
              </a:rPr>
              <a:t>w</a:t>
            </a:r>
            <a:r>
              <a:rPr lang="it-IT" sz="2800" b="1" i="1" baseline="-25000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ancestor</a:t>
            </a:r>
            <a:r>
              <a:rPr lang="it-IT" sz="2800" b="1">
                <a:sym typeface="Symbol" charset="0"/>
              </a:rPr>
              <a:t>[</a:t>
            </a:r>
            <a:r>
              <a:rPr lang="it-IT" sz="2800" b="1" i="1">
                <a:sym typeface="Symbol" charset="0"/>
              </a:rPr>
              <a:t>FindSet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v</a:t>
            </a:r>
            <a:r>
              <a:rPr lang="it-IT" sz="2800" b="1" i="1" baseline="-25000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)]</a:t>
            </a:r>
          </a:p>
        </p:txBody>
      </p:sp>
      <p:sp>
        <p:nvSpPr>
          <p:cNvPr id="756739" name="Text Box 3"/>
          <p:cNvSpPr txBox="1">
            <a:spLocks noChangeArrowheads="1"/>
          </p:cNvSpPr>
          <p:nvPr/>
        </p:nvSpPr>
        <p:spPr bwMode="auto">
          <a:xfrm>
            <a:off x="609600" y="304800"/>
            <a:ext cx="8001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L’algoritmo di Tarjan è descritto dalla seguente funzione ricorsiva che deve essere chiamata sulla radice dell’albero. </a:t>
            </a:r>
            <a:endParaRPr lang="it-IT" sz="2400" b="1">
              <a:latin typeface="Courier New" charset="0"/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2" name="Text Box 2"/>
          <p:cNvSpPr txBox="1">
            <a:spLocks noChangeArrowheads="1"/>
          </p:cNvSpPr>
          <p:nvPr/>
        </p:nvSpPr>
        <p:spPr bwMode="auto">
          <a:xfrm>
            <a:off x="609600" y="609600"/>
            <a:ext cx="8001000" cy="262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i="1" u="sng"/>
              <a:t>Correttezza dell’algoritmo di Tarjan</a:t>
            </a:r>
            <a:r>
              <a:rPr lang="it-IT"/>
              <a:t>.</a:t>
            </a:r>
          </a:p>
          <a:p>
            <a:pPr>
              <a:spcBef>
                <a:spcPct val="10000"/>
              </a:spcBef>
            </a:pPr>
            <a:endParaRPr lang="it-IT"/>
          </a:p>
          <a:p>
            <a:pPr>
              <a:spcBef>
                <a:spcPct val="10000"/>
              </a:spcBef>
            </a:pPr>
            <a:r>
              <a:rPr lang="it-IT"/>
              <a:t>Sia </a:t>
            </a:r>
            <a:r>
              <a:rPr lang="it-IT" b="1" i="1">
                <a:sym typeface="Symbol" charset="0"/>
              </a:rPr>
              <a:t>u</a:t>
            </a:r>
            <a:r>
              <a:rPr lang="it-IT"/>
              <a:t> un nodo appartenente ad un albero con radice </a:t>
            </a:r>
            <a:r>
              <a:rPr lang="it-IT" b="1" i="1">
                <a:sym typeface="Symbol" charset="0"/>
              </a:rPr>
              <a:t>root</a:t>
            </a:r>
            <a:r>
              <a:rPr lang="it-IT"/>
              <a:t> e sia 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0</a:t>
            </a:r>
            <a:r>
              <a:rPr lang="it-IT" b="1">
                <a:sym typeface="Symbol" charset="0"/>
              </a:rPr>
              <a:t>,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1</a:t>
            </a:r>
            <a:r>
              <a:rPr lang="it-IT" b="1">
                <a:sym typeface="Symbol" charset="0"/>
              </a:rPr>
              <a:t>,...,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k-1</a:t>
            </a:r>
            <a:r>
              <a:rPr lang="it-IT" b="1">
                <a:sym typeface="Symbol" charset="0"/>
              </a:rPr>
              <a:t>,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il cammino dalla radice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0</a:t>
            </a:r>
            <a:r>
              <a:rPr lang="it-IT" b="1" baseline="-25000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=</a:t>
            </a:r>
            <a:r>
              <a:rPr lang="it-IT" b="1" baseline="-25000">
                <a:sym typeface="Symbol" charset="0"/>
              </a:rPr>
              <a:t> </a:t>
            </a:r>
            <a:r>
              <a:rPr lang="it-IT" b="1" i="1">
                <a:sym typeface="Symbol" charset="0"/>
              </a:rPr>
              <a:t>root</a:t>
            </a:r>
            <a:r>
              <a:rPr lang="it-IT"/>
              <a:t> al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</a:t>
            </a:r>
            <a:r>
              <a:rPr lang="it-IT" b="1" baseline="-25000">
                <a:sym typeface="Symbol" charset="0"/>
              </a:rPr>
              <a:t> </a:t>
            </a:r>
            <a:r>
              <a:rPr lang="it-IT" b="1">
                <a:sym typeface="Symbol" charset="0"/>
              </a:rPr>
              <a:t>=</a:t>
            </a:r>
            <a:r>
              <a:rPr lang="it-IT"/>
              <a:t> </a:t>
            </a:r>
            <a:r>
              <a:rPr lang="it-IT" b="1" i="1">
                <a:sym typeface="Symbol" charset="0"/>
              </a:rPr>
              <a:t>u</a:t>
            </a:r>
            <a:r>
              <a:rPr lang="it-IT"/>
              <a:t>. </a:t>
            </a:r>
          </a:p>
        </p:txBody>
      </p:sp>
      <p:sp>
        <p:nvSpPr>
          <p:cNvPr id="757763" name="Text Box 3"/>
          <p:cNvSpPr txBox="1">
            <a:spLocks noChangeArrowheads="1"/>
          </p:cNvSpPr>
          <p:nvPr/>
        </p:nvSpPr>
        <p:spPr bwMode="auto">
          <a:xfrm>
            <a:off x="533400" y="38100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Quando si chiama </a:t>
            </a:r>
            <a:r>
              <a:rPr lang="it-IT" b="1" i="1">
                <a:sym typeface="Symbol" charset="0"/>
              </a:rPr>
              <a:t>MinComAnt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u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la situazione è la seguente: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Freeform 2"/>
          <p:cNvSpPr>
            <a:spLocks/>
          </p:cNvSpPr>
          <p:nvPr/>
        </p:nvSpPr>
        <p:spPr bwMode="auto">
          <a:xfrm>
            <a:off x="3043238" y="2235200"/>
            <a:ext cx="1341437" cy="2903538"/>
          </a:xfrm>
          <a:custGeom>
            <a:avLst/>
            <a:gdLst>
              <a:gd name="T0" fmla="*/ 46 w 845"/>
              <a:gd name="T1" fmla="*/ 514 h 1829"/>
              <a:gd name="T2" fmla="*/ 529 w 845"/>
              <a:gd name="T3" fmla="*/ 0 h 1829"/>
              <a:gd name="T4" fmla="*/ 845 w 845"/>
              <a:gd name="T5" fmla="*/ 0 h 1829"/>
              <a:gd name="T6" fmla="*/ 845 w 845"/>
              <a:gd name="T7" fmla="*/ 346 h 1829"/>
              <a:gd name="T8" fmla="*/ 454 w 845"/>
              <a:gd name="T9" fmla="*/ 537 h 1829"/>
              <a:gd name="T10" fmla="*/ 492 w 845"/>
              <a:gd name="T11" fmla="*/ 1806 h 1829"/>
              <a:gd name="T12" fmla="*/ 0 w 845"/>
              <a:gd name="T13" fmla="*/ 1829 h 1829"/>
              <a:gd name="T14" fmla="*/ 46 w 845"/>
              <a:gd name="T15" fmla="*/ 514 h 1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5" h="1829">
                <a:moveTo>
                  <a:pt x="46" y="514"/>
                </a:moveTo>
                <a:lnTo>
                  <a:pt x="529" y="0"/>
                </a:lnTo>
                <a:lnTo>
                  <a:pt x="845" y="0"/>
                </a:lnTo>
                <a:lnTo>
                  <a:pt x="845" y="346"/>
                </a:lnTo>
                <a:lnTo>
                  <a:pt x="454" y="537"/>
                </a:lnTo>
                <a:lnTo>
                  <a:pt x="492" y="1806"/>
                </a:lnTo>
                <a:lnTo>
                  <a:pt x="0" y="1829"/>
                </a:lnTo>
                <a:lnTo>
                  <a:pt x="46" y="514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787" name="Freeform 3"/>
          <p:cNvSpPr>
            <a:spLocks/>
          </p:cNvSpPr>
          <p:nvPr/>
        </p:nvSpPr>
        <p:spPr bwMode="auto">
          <a:xfrm>
            <a:off x="4151313" y="4343400"/>
            <a:ext cx="1189037" cy="2311400"/>
          </a:xfrm>
          <a:custGeom>
            <a:avLst/>
            <a:gdLst>
              <a:gd name="T0" fmla="*/ 111 w 749"/>
              <a:gd name="T1" fmla="*/ 475 h 1456"/>
              <a:gd name="T2" fmla="*/ 342 w 749"/>
              <a:gd name="T3" fmla="*/ 0 h 1456"/>
              <a:gd name="T4" fmla="*/ 749 w 749"/>
              <a:gd name="T5" fmla="*/ 14 h 1456"/>
              <a:gd name="T6" fmla="*/ 749 w 749"/>
              <a:gd name="T7" fmla="*/ 283 h 1456"/>
              <a:gd name="T8" fmla="*/ 519 w 749"/>
              <a:gd name="T9" fmla="*/ 483 h 1456"/>
              <a:gd name="T10" fmla="*/ 608 w 749"/>
              <a:gd name="T11" fmla="*/ 1456 h 1456"/>
              <a:gd name="T12" fmla="*/ 0 w 749"/>
              <a:gd name="T13" fmla="*/ 1456 h 1456"/>
              <a:gd name="T14" fmla="*/ 111 w 749"/>
              <a:gd name="T15" fmla="*/ 475 h 1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49" h="1456">
                <a:moveTo>
                  <a:pt x="111" y="475"/>
                </a:moveTo>
                <a:lnTo>
                  <a:pt x="342" y="0"/>
                </a:lnTo>
                <a:lnTo>
                  <a:pt x="749" y="14"/>
                </a:lnTo>
                <a:lnTo>
                  <a:pt x="749" y="283"/>
                </a:lnTo>
                <a:lnTo>
                  <a:pt x="519" y="483"/>
                </a:lnTo>
                <a:lnTo>
                  <a:pt x="608" y="1456"/>
                </a:lnTo>
                <a:lnTo>
                  <a:pt x="0" y="1456"/>
                </a:lnTo>
                <a:lnTo>
                  <a:pt x="111" y="4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788" name="Freeform 4"/>
          <p:cNvSpPr>
            <a:spLocks/>
          </p:cNvSpPr>
          <p:nvPr/>
        </p:nvSpPr>
        <p:spPr bwMode="auto">
          <a:xfrm>
            <a:off x="2166938" y="1389063"/>
            <a:ext cx="2479675" cy="3516312"/>
          </a:xfrm>
          <a:custGeom>
            <a:avLst/>
            <a:gdLst>
              <a:gd name="T0" fmla="*/ 46 w 1562"/>
              <a:gd name="T1" fmla="*/ 569 h 2215"/>
              <a:gd name="T2" fmla="*/ 1246 w 1562"/>
              <a:gd name="T3" fmla="*/ 0 h 2215"/>
              <a:gd name="T4" fmla="*/ 1562 w 1562"/>
              <a:gd name="T5" fmla="*/ 0 h 2215"/>
              <a:gd name="T6" fmla="*/ 1562 w 1562"/>
              <a:gd name="T7" fmla="*/ 346 h 2215"/>
              <a:gd name="T8" fmla="*/ 485 w 1562"/>
              <a:gd name="T9" fmla="*/ 600 h 2215"/>
              <a:gd name="T10" fmla="*/ 516 w 1562"/>
              <a:gd name="T11" fmla="*/ 2215 h 2215"/>
              <a:gd name="T12" fmla="*/ 0 w 1562"/>
              <a:gd name="T13" fmla="*/ 2207 h 2215"/>
              <a:gd name="T14" fmla="*/ 46 w 1562"/>
              <a:gd name="T15" fmla="*/ 569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2" h="2215">
                <a:moveTo>
                  <a:pt x="46" y="569"/>
                </a:moveTo>
                <a:lnTo>
                  <a:pt x="1246" y="0"/>
                </a:lnTo>
                <a:lnTo>
                  <a:pt x="1562" y="0"/>
                </a:lnTo>
                <a:lnTo>
                  <a:pt x="1562" y="346"/>
                </a:lnTo>
                <a:lnTo>
                  <a:pt x="485" y="600"/>
                </a:lnTo>
                <a:lnTo>
                  <a:pt x="516" y="2215"/>
                </a:lnTo>
                <a:lnTo>
                  <a:pt x="0" y="2207"/>
                </a:lnTo>
                <a:lnTo>
                  <a:pt x="46" y="569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789" name="Freeform 5"/>
          <p:cNvSpPr>
            <a:spLocks/>
          </p:cNvSpPr>
          <p:nvPr/>
        </p:nvSpPr>
        <p:spPr bwMode="auto">
          <a:xfrm>
            <a:off x="381000" y="533400"/>
            <a:ext cx="4130675" cy="4216400"/>
          </a:xfrm>
          <a:custGeom>
            <a:avLst/>
            <a:gdLst>
              <a:gd name="T0" fmla="*/ 141 w 2602"/>
              <a:gd name="T1" fmla="*/ 577 h 2656"/>
              <a:gd name="T2" fmla="*/ 2287 w 2602"/>
              <a:gd name="T3" fmla="*/ 0 h 2656"/>
              <a:gd name="T4" fmla="*/ 2602 w 2602"/>
              <a:gd name="T5" fmla="*/ 0 h 2656"/>
              <a:gd name="T6" fmla="*/ 2594 w 2602"/>
              <a:gd name="T7" fmla="*/ 362 h 2656"/>
              <a:gd name="T8" fmla="*/ 1017 w 2602"/>
              <a:gd name="T9" fmla="*/ 600 h 2656"/>
              <a:gd name="T10" fmla="*/ 1056 w 2602"/>
              <a:gd name="T11" fmla="*/ 2656 h 2656"/>
              <a:gd name="T12" fmla="*/ 0 w 2602"/>
              <a:gd name="T13" fmla="*/ 2656 h 2656"/>
              <a:gd name="T14" fmla="*/ 141 w 2602"/>
              <a:gd name="T15" fmla="*/ 577 h 2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2" h="2656">
                <a:moveTo>
                  <a:pt x="141" y="577"/>
                </a:moveTo>
                <a:lnTo>
                  <a:pt x="2287" y="0"/>
                </a:lnTo>
                <a:lnTo>
                  <a:pt x="2602" y="0"/>
                </a:lnTo>
                <a:lnTo>
                  <a:pt x="2594" y="362"/>
                </a:lnTo>
                <a:lnTo>
                  <a:pt x="1017" y="600"/>
                </a:lnTo>
                <a:lnTo>
                  <a:pt x="1056" y="2656"/>
                </a:lnTo>
                <a:lnTo>
                  <a:pt x="0" y="2656"/>
                </a:lnTo>
                <a:lnTo>
                  <a:pt x="141" y="577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790" name="Rectangle 6"/>
          <p:cNvSpPr>
            <a:spLocks noChangeArrowheads="1"/>
          </p:cNvSpPr>
          <p:nvPr/>
        </p:nvSpPr>
        <p:spPr bwMode="auto">
          <a:xfrm>
            <a:off x="3962400" y="6350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400" b="1" i="1"/>
              <a:t>x</a:t>
            </a:r>
            <a:r>
              <a:rPr lang="it-IT" sz="2400" b="1" i="1" baseline="-25000"/>
              <a:t>0</a:t>
            </a:r>
            <a:endParaRPr lang="it-IT" sz="2400" b="1" i="1"/>
          </a:p>
        </p:txBody>
      </p:sp>
      <p:sp>
        <p:nvSpPr>
          <p:cNvPr id="758791" name="Rectangle 7"/>
          <p:cNvSpPr>
            <a:spLocks noChangeArrowheads="1"/>
          </p:cNvSpPr>
          <p:nvPr/>
        </p:nvSpPr>
        <p:spPr bwMode="auto">
          <a:xfrm>
            <a:off x="4114800" y="14732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400" b="1" i="1"/>
              <a:t>x</a:t>
            </a:r>
            <a:r>
              <a:rPr lang="it-IT" sz="2400" b="1" i="1" baseline="-25000"/>
              <a:t>1</a:t>
            </a:r>
            <a:endParaRPr lang="it-IT" sz="2400" b="1" i="1"/>
          </a:p>
        </p:txBody>
      </p:sp>
      <p:sp>
        <p:nvSpPr>
          <p:cNvPr id="758792" name="Rectangle 8"/>
          <p:cNvSpPr>
            <a:spLocks noChangeArrowheads="1"/>
          </p:cNvSpPr>
          <p:nvPr/>
        </p:nvSpPr>
        <p:spPr bwMode="auto">
          <a:xfrm>
            <a:off x="3810000" y="2311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400" b="1" i="1"/>
              <a:t>x</a:t>
            </a:r>
            <a:r>
              <a:rPr lang="it-IT" sz="2400" b="1" i="1" baseline="-25000"/>
              <a:t>2</a:t>
            </a:r>
            <a:endParaRPr lang="it-IT" sz="2400" b="1" i="1"/>
          </a:p>
        </p:txBody>
      </p:sp>
      <p:sp>
        <p:nvSpPr>
          <p:cNvPr id="758793" name="Rectangle 9"/>
          <p:cNvSpPr>
            <a:spLocks noChangeArrowheads="1"/>
          </p:cNvSpPr>
          <p:nvPr/>
        </p:nvSpPr>
        <p:spPr bwMode="auto">
          <a:xfrm>
            <a:off x="13716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794" name="Rectangle 10"/>
          <p:cNvSpPr>
            <a:spLocks noChangeArrowheads="1"/>
          </p:cNvSpPr>
          <p:nvPr/>
        </p:nvSpPr>
        <p:spPr bwMode="auto">
          <a:xfrm>
            <a:off x="7620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795" name="Rectangle 11"/>
          <p:cNvSpPr>
            <a:spLocks noChangeArrowheads="1"/>
          </p:cNvSpPr>
          <p:nvPr/>
        </p:nvSpPr>
        <p:spPr bwMode="auto">
          <a:xfrm>
            <a:off x="8077200" y="14478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796" name="Rectangle 12"/>
          <p:cNvSpPr>
            <a:spLocks noChangeArrowheads="1"/>
          </p:cNvSpPr>
          <p:nvPr/>
        </p:nvSpPr>
        <p:spPr bwMode="auto">
          <a:xfrm>
            <a:off x="63246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797" name="Rectangle 13"/>
          <p:cNvSpPr>
            <a:spLocks noChangeArrowheads="1"/>
          </p:cNvSpPr>
          <p:nvPr/>
        </p:nvSpPr>
        <p:spPr bwMode="auto">
          <a:xfrm>
            <a:off x="72390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798" name="Rectangle 14"/>
          <p:cNvSpPr>
            <a:spLocks noChangeArrowheads="1"/>
          </p:cNvSpPr>
          <p:nvPr/>
        </p:nvSpPr>
        <p:spPr bwMode="auto">
          <a:xfrm>
            <a:off x="66294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799" name="Rectangle 15"/>
          <p:cNvSpPr>
            <a:spLocks noChangeArrowheads="1"/>
          </p:cNvSpPr>
          <p:nvPr/>
        </p:nvSpPr>
        <p:spPr bwMode="auto">
          <a:xfrm>
            <a:off x="2362200" y="2311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800" name="Rectangle 16"/>
          <p:cNvSpPr>
            <a:spLocks noChangeArrowheads="1"/>
          </p:cNvSpPr>
          <p:nvPr/>
        </p:nvSpPr>
        <p:spPr bwMode="auto">
          <a:xfrm>
            <a:off x="4419600" y="5105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801" name="Rectangle 17"/>
          <p:cNvSpPr>
            <a:spLocks noChangeArrowheads="1"/>
          </p:cNvSpPr>
          <p:nvPr/>
        </p:nvSpPr>
        <p:spPr bwMode="auto">
          <a:xfrm>
            <a:off x="69342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802" name="Line 18"/>
          <p:cNvSpPr>
            <a:spLocks noChangeShapeType="1"/>
          </p:cNvSpPr>
          <p:nvPr/>
        </p:nvSpPr>
        <p:spPr bwMode="auto">
          <a:xfrm flipH="1">
            <a:off x="990600" y="1016000"/>
            <a:ext cx="2971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03" name="Line 19"/>
          <p:cNvSpPr>
            <a:spLocks noChangeShapeType="1"/>
          </p:cNvSpPr>
          <p:nvPr/>
        </p:nvSpPr>
        <p:spPr bwMode="auto">
          <a:xfrm flipH="1">
            <a:off x="2590800" y="1854200"/>
            <a:ext cx="1524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04" name="Text Box 20"/>
          <p:cNvSpPr txBox="1">
            <a:spLocks noChangeArrowheads="1"/>
          </p:cNvSpPr>
          <p:nvPr/>
        </p:nvSpPr>
        <p:spPr bwMode="auto">
          <a:xfrm>
            <a:off x="4191000" y="3124200"/>
            <a:ext cx="592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......</a:t>
            </a:r>
          </a:p>
        </p:txBody>
      </p:sp>
      <p:sp>
        <p:nvSpPr>
          <p:cNvPr id="758805" name="Line 21"/>
          <p:cNvSpPr>
            <a:spLocks noChangeShapeType="1"/>
          </p:cNvSpPr>
          <p:nvPr/>
        </p:nvSpPr>
        <p:spPr bwMode="auto">
          <a:xfrm flipH="1">
            <a:off x="4572000" y="4800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06" name="Line 22"/>
          <p:cNvSpPr>
            <a:spLocks noChangeShapeType="1"/>
          </p:cNvSpPr>
          <p:nvPr/>
        </p:nvSpPr>
        <p:spPr bwMode="auto">
          <a:xfrm>
            <a:off x="1828800" y="1676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07" name="Line 23"/>
          <p:cNvSpPr>
            <a:spLocks noChangeShapeType="1"/>
          </p:cNvSpPr>
          <p:nvPr/>
        </p:nvSpPr>
        <p:spPr bwMode="auto">
          <a:xfrm flipV="1">
            <a:off x="4572000" y="16764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08" name="Line 24"/>
          <p:cNvSpPr>
            <a:spLocks noChangeShapeType="1"/>
          </p:cNvSpPr>
          <p:nvPr/>
        </p:nvSpPr>
        <p:spPr bwMode="auto">
          <a:xfrm>
            <a:off x="1219200" y="1701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09" name="Line 25"/>
          <p:cNvSpPr>
            <a:spLocks noChangeShapeType="1"/>
          </p:cNvSpPr>
          <p:nvPr/>
        </p:nvSpPr>
        <p:spPr bwMode="auto">
          <a:xfrm>
            <a:off x="7086600" y="2514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0" name="Line 26"/>
          <p:cNvSpPr>
            <a:spLocks noChangeShapeType="1"/>
          </p:cNvSpPr>
          <p:nvPr/>
        </p:nvSpPr>
        <p:spPr bwMode="auto">
          <a:xfrm>
            <a:off x="6781800" y="533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1" name="Line 27"/>
          <p:cNvSpPr>
            <a:spLocks noChangeShapeType="1"/>
          </p:cNvSpPr>
          <p:nvPr/>
        </p:nvSpPr>
        <p:spPr bwMode="auto">
          <a:xfrm>
            <a:off x="2819400" y="2514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2" name="Line 28"/>
          <p:cNvSpPr>
            <a:spLocks noChangeShapeType="1"/>
          </p:cNvSpPr>
          <p:nvPr/>
        </p:nvSpPr>
        <p:spPr bwMode="auto">
          <a:xfrm flipV="1">
            <a:off x="42672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3" name="Line 29"/>
          <p:cNvSpPr>
            <a:spLocks noChangeShapeType="1"/>
          </p:cNvSpPr>
          <p:nvPr/>
        </p:nvSpPr>
        <p:spPr bwMode="auto">
          <a:xfrm>
            <a:off x="4876800" y="5334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4" name="Line 30"/>
          <p:cNvSpPr>
            <a:spLocks noChangeShapeType="1"/>
          </p:cNvSpPr>
          <p:nvPr/>
        </p:nvSpPr>
        <p:spPr bwMode="auto">
          <a:xfrm>
            <a:off x="5867400" y="5334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5" name="AutoShape 31"/>
          <p:cNvSpPr>
            <a:spLocks noChangeArrowheads="1"/>
          </p:cNvSpPr>
          <p:nvPr/>
        </p:nvSpPr>
        <p:spPr bwMode="auto">
          <a:xfrm flipV="1">
            <a:off x="609600" y="1930400"/>
            <a:ext cx="1371600" cy="2590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6" name="AutoShape 32"/>
          <p:cNvSpPr>
            <a:spLocks noChangeArrowheads="1"/>
          </p:cNvSpPr>
          <p:nvPr/>
        </p:nvSpPr>
        <p:spPr bwMode="auto">
          <a:xfrm flipV="1">
            <a:off x="2286000" y="2768600"/>
            <a:ext cx="609600" cy="19812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7" name="AutoShape 33"/>
          <p:cNvSpPr>
            <a:spLocks noChangeArrowheads="1"/>
          </p:cNvSpPr>
          <p:nvPr/>
        </p:nvSpPr>
        <p:spPr bwMode="auto">
          <a:xfrm flipV="1">
            <a:off x="4267200" y="5562600"/>
            <a:ext cx="7620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8" name="AutoShape 34"/>
          <p:cNvSpPr>
            <a:spLocks noChangeArrowheads="1"/>
          </p:cNvSpPr>
          <p:nvPr/>
        </p:nvSpPr>
        <p:spPr bwMode="auto">
          <a:xfrm flipV="1">
            <a:off x="5334000" y="5562600"/>
            <a:ext cx="6096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19" name="AutoShape 35"/>
          <p:cNvSpPr>
            <a:spLocks noChangeArrowheads="1"/>
          </p:cNvSpPr>
          <p:nvPr/>
        </p:nvSpPr>
        <p:spPr bwMode="auto">
          <a:xfrm flipV="1">
            <a:off x="6324600" y="5562600"/>
            <a:ext cx="1066800" cy="914400"/>
          </a:xfrm>
          <a:custGeom>
            <a:avLst/>
            <a:gdLst>
              <a:gd name="G0" fmla="+- 2129 0 0"/>
              <a:gd name="G1" fmla="+- 21600 0 2129"/>
              <a:gd name="G2" fmla="*/ 2129 1 2"/>
              <a:gd name="G3" fmla="+- 21600 0 G2"/>
              <a:gd name="G4" fmla="+/ 2129 21600 2"/>
              <a:gd name="G5" fmla="+/ G1 0 2"/>
              <a:gd name="G6" fmla="*/ 21600 21600 2129"/>
              <a:gd name="G7" fmla="*/ G6 1 2"/>
              <a:gd name="G8" fmla="+- 21600 0 G7"/>
              <a:gd name="G9" fmla="*/ 21600 1 2"/>
              <a:gd name="G10" fmla="+- 2129 0 G9"/>
              <a:gd name="G11" fmla="?: G10 G8 0"/>
              <a:gd name="G12" fmla="?: G10 G7 21600"/>
              <a:gd name="T0" fmla="*/ 20535 w 21600"/>
              <a:gd name="T1" fmla="*/ 10800 h 21600"/>
              <a:gd name="T2" fmla="*/ 10800 w 21600"/>
              <a:gd name="T3" fmla="*/ 21600 h 21600"/>
              <a:gd name="T4" fmla="*/ 1065 w 21600"/>
              <a:gd name="T5" fmla="*/ 10800 h 21600"/>
              <a:gd name="T6" fmla="*/ 10800 w 21600"/>
              <a:gd name="T7" fmla="*/ 0 h 21600"/>
              <a:gd name="T8" fmla="*/ 2865 w 21600"/>
              <a:gd name="T9" fmla="*/ 2865 h 21600"/>
              <a:gd name="T10" fmla="*/ 18735 w 21600"/>
              <a:gd name="T11" fmla="*/ 187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129" y="21600"/>
                </a:lnTo>
                <a:lnTo>
                  <a:pt x="194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20" name="AutoShape 36"/>
          <p:cNvSpPr>
            <a:spLocks noChangeArrowheads="1"/>
          </p:cNvSpPr>
          <p:nvPr/>
        </p:nvSpPr>
        <p:spPr bwMode="auto">
          <a:xfrm flipV="1">
            <a:off x="6553200" y="2743200"/>
            <a:ext cx="1295400" cy="1981200"/>
          </a:xfrm>
          <a:custGeom>
            <a:avLst/>
            <a:gdLst>
              <a:gd name="G0" fmla="+- 3459 0 0"/>
              <a:gd name="G1" fmla="+- 21600 0 3459"/>
              <a:gd name="G2" fmla="*/ 3459 1 2"/>
              <a:gd name="G3" fmla="+- 21600 0 G2"/>
              <a:gd name="G4" fmla="+/ 3459 21600 2"/>
              <a:gd name="G5" fmla="+/ G1 0 2"/>
              <a:gd name="G6" fmla="*/ 21600 21600 3459"/>
              <a:gd name="G7" fmla="*/ G6 1 2"/>
              <a:gd name="G8" fmla="+- 21600 0 G7"/>
              <a:gd name="G9" fmla="*/ 21600 1 2"/>
              <a:gd name="G10" fmla="+- 3459 0 G9"/>
              <a:gd name="G11" fmla="?: G10 G8 0"/>
              <a:gd name="G12" fmla="?: G10 G7 21600"/>
              <a:gd name="T0" fmla="*/ 19870 w 21600"/>
              <a:gd name="T1" fmla="*/ 10800 h 21600"/>
              <a:gd name="T2" fmla="*/ 10800 w 21600"/>
              <a:gd name="T3" fmla="*/ 21600 h 21600"/>
              <a:gd name="T4" fmla="*/ 1730 w 21600"/>
              <a:gd name="T5" fmla="*/ 10800 h 21600"/>
              <a:gd name="T6" fmla="*/ 10800 w 21600"/>
              <a:gd name="T7" fmla="*/ 0 h 21600"/>
              <a:gd name="T8" fmla="*/ 3530 w 21600"/>
              <a:gd name="T9" fmla="*/ 3530 h 21600"/>
              <a:gd name="T10" fmla="*/ 18070 w 21600"/>
              <a:gd name="T11" fmla="*/ 180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59" y="21600"/>
                </a:lnTo>
                <a:lnTo>
                  <a:pt x="181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21" name="AutoShape 37"/>
          <p:cNvSpPr>
            <a:spLocks noChangeArrowheads="1"/>
          </p:cNvSpPr>
          <p:nvPr/>
        </p:nvSpPr>
        <p:spPr bwMode="auto">
          <a:xfrm flipV="1">
            <a:off x="8001000" y="1905000"/>
            <a:ext cx="609600" cy="25146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22" name="Text Box 38"/>
          <p:cNvSpPr txBox="1">
            <a:spLocks noChangeArrowheads="1"/>
          </p:cNvSpPr>
          <p:nvPr/>
        </p:nvSpPr>
        <p:spPr bwMode="auto">
          <a:xfrm>
            <a:off x="5638800" y="203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x</a:t>
            </a:r>
            <a:r>
              <a:rPr lang="it-IT" sz="2400" b="1" i="1" baseline="-25000"/>
              <a:t>0</a:t>
            </a:r>
            <a:r>
              <a:rPr lang="it-IT" sz="2400" b="1"/>
              <a:t> = </a:t>
            </a:r>
            <a:r>
              <a:rPr lang="it-IT" sz="2400" b="1" i="1"/>
              <a:t>root</a:t>
            </a:r>
            <a:r>
              <a:rPr lang="it-IT" sz="2400" b="1"/>
              <a:t>,  </a:t>
            </a:r>
            <a:r>
              <a:rPr lang="it-IT" sz="2400" b="1" i="1"/>
              <a:t>x</a:t>
            </a:r>
            <a:r>
              <a:rPr lang="it-IT" sz="2400" b="1" i="1" baseline="-25000"/>
              <a:t>k</a:t>
            </a:r>
            <a:r>
              <a:rPr lang="it-IT" sz="2400" b="1"/>
              <a:t> = </a:t>
            </a:r>
            <a:r>
              <a:rPr lang="it-IT" sz="2400" b="1" i="1"/>
              <a:t>u</a:t>
            </a:r>
          </a:p>
        </p:txBody>
      </p:sp>
      <p:grpSp>
        <p:nvGrpSpPr>
          <p:cNvPr id="758823" name="Group 39"/>
          <p:cNvGrpSpPr>
            <a:grpSpLocks/>
          </p:cNvGrpSpPr>
          <p:nvPr/>
        </p:nvGrpSpPr>
        <p:grpSpPr bwMode="auto">
          <a:xfrm>
            <a:off x="2362200" y="1778000"/>
            <a:ext cx="1676400" cy="2133600"/>
            <a:chOff x="1612" y="1120"/>
            <a:chExt cx="1144" cy="1344"/>
          </a:xfrm>
        </p:grpSpPr>
        <p:sp>
          <p:nvSpPr>
            <p:cNvPr id="758824" name="Rectangle 40"/>
            <p:cNvSpPr>
              <a:spLocks noChangeArrowheads="1"/>
            </p:cNvSpPr>
            <p:nvPr/>
          </p:nvSpPr>
          <p:spPr bwMode="auto">
            <a:xfrm>
              <a:off x="1612" y="2224"/>
              <a:ext cx="312" cy="240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65000"/>
                </a:lnSpc>
              </a:pPr>
              <a:r>
                <a:rPr lang="it-IT" sz="2400" b="1" i="1"/>
                <a:t>r</a:t>
              </a:r>
              <a:r>
                <a:rPr lang="it-IT" sz="2400" b="1" i="1" baseline="-25000"/>
                <a:t>1</a:t>
              </a:r>
              <a:endParaRPr lang="it-IT" sz="2400" b="1" i="1"/>
            </a:p>
          </p:txBody>
        </p:sp>
        <p:sp>
          <p:nvSpPr>
            <p:cNvPr id="758825" name="Line 41"/>
            <p:cNvSpPr>
              <a:spLocks noChangeShapeType="1"/>
            </p:cNvSpPr>
            <p:nvPr/>
          </p:nvSpPr>
          <p:spPr bwMode="auto">
            <a:xfrm flipV="1">
              <a:off x="1768" y="1120"/>
              <a:ext cx="988" cy="11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8826" name="Group 42"/>
          <p:cNvGrpSpPr>
            <a:grpSpLocks/>
          </p:cNvGrpSpPr>
          <p:nvPr/>
        </p:nvGrpSpPr>
        <p:grpSpPr bwMode="auto">
          <a:xfrm>
            <a:off x="914400" y="787400"/>
            <a:ext cx="3048000" cy="1981200"/>
            <a:chOff x="624" y="496"/>
            <a:chExt cx="2080" cy="1248"/>
          </a:xfrm>
        </p:grpSpPr>
        <p:sp>
          <p:nvSpPr>
            <p:cNvPr id="758827" name="Rectangle 43"/>
            <p:cNvSpPr>
              <a:spLocks noChangeArrowheads="1"/>
            </p:cNvSpPr>
            <p:nvPr/>
          </p:nvSpPr>
          <p:spPr bwMode="auto">
            <a:xfrm>
              <a:off x="624" y="1504"/>
              <a:ext cx="312" cy="240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65000"/>
                </a:lnSpc>
              </a:pPr>
              <a:r>
                <a:rPr lang="it-IT" sz="2400" b="1" i="1"/>
                <a:t>r</a:t>
              </a:r>
              <a:r>
                <a:rPr lang="it-IT" sz="2400" b="1" i="1" baseline="-25000"/>
                <a:t>0</a:t>
              </a:r>
              <a:endParaRPr lang="it-IT" sz="2400" b="1" i="1"/>
            </a:p>
          </p:txBody>
        </p:sp>
        <p:sp>
          <p:nvSpPr>
            <p:cNvPr id="758828" name="Line 44"/>
            <p:cNvSpPr>
              <a:spLocks noChangeShapeType="1"/>
            </p:cNvSpPr>
            <p:nvPr/>
          </p:nvSpPr>
          <p:spPr bwMode="auto">
            <a:xfrm flipV="1">
              <a:off x="780" y="496"/>
              <a:ext cx="1924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8829" name="Group 45"/>
          <p:cNvGrpSpPr>
            <a:grpSpLocks/>
          </p:cNvGrpSpPr>
          <p:nvPr/>
        </p:nvGrpSpPr>
        <p:grpSpPr bwMode="auto">
          <a:xfrm>
            <a:off x="4343400" y="4800600"/>
            <a:ext cx="533400" cy="1524000"/>
            <a:chOff x="2964" y="3024"/>
            <a:chExt cx="364" cy="960"/>
          </a:xfrm>
        </p:grpSpPr>
        <p:sp>
          <p:nvSpPr>
            <p:cNvPr id="758830" name="Rectangle 46"/>
            <p:cNvSpPr>
              <a:spLocks noChangeArrowheads="1"/>
            </p:cNvSpPr>
            <p:nvPr/>
          </p:nvSpPr>
          <p:spPr bwMode="auto">
            <a:xfrm>
              <a:off x="2964" y="3744"/>
              <a:ext cx="364" cy="240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65000"/>
                </a:lnSpc>
              </a:pPr>
              <a:r>
                <a:rPr lang="it-IT" sz="2400" b="1" i="1"/>
                <a:t>r</a:t>
              </a:r>
              <a:r>
                <a:rPr lang="it-IT" sz="2400" b="1" i="1" baseline="-25000"/>
                <a:t>k-1</a:t>
              </a:r>
              <a:endParaRPr lang="it-IT" sz="2400" b="1" i="1"/>
            </a:p>
          </p:txBody>
        </p:sp>
        <p:sp>
          <p:nvSpPr>
            <p:cNvPr id="758831" name="Line 47"/>
            <p:cNvSpPr>
              <a:spLocks noChangeShapeType="1"/>
            </p:cNvSpPr>
            <p:nvPr/>
          </p:nvSpPr>
          <p:spPr bwMode="auto">
            <a:xfrm flipV="1">
              <a:off x="3172" y="3024"/>
              <a:ext cx="104" cy="7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58832" name="Text Box 48"/>
          <p:cNvSpPr txBox="1">
            <a:spLocks noChangeArrowheads="1"/>
          </p:cNvSpPr>
          <p:nvPr/>
        </p:nvSpPr>
        <p:spPr bwMode="auto">
          <a:xfrm>
            <a:off x="4495800" y="3810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S</a:t>
            </a:r>
            <a:r>
              <a:rPr lang="it-IT" sz="2400" b="1" i="1" baseline="-25000"/>
              <a:t>0</a:t>
            </a:r>
          </a:p>
        </p:txBody>
      </p:sp>
      <p:sp>
        <p:nvSpPr>
          <p:cNvPr id="758833" name="Text Box 49"/>
          <p:cNvSpPr txBox="1">
            <a:spLocks noChangeArrowheads="1"/>
          </p:cNvSpPr>
          <p:nvPr/>
        </p:nvSpPr>
        <p:spPr bwMode="auto">
          <a:xfrm>
            <a:off x="4648200" y="12192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S</a:t>
            </a:r>
            <a:r>
              <a:rPr lang="it-IT" sz="2400" b="1" i="1" baseline="-25000"/>
              <a:t>1</a:t>
            </a:r>
          </a:p>
        </p:txBody>
      </p:sp>
      <p:sp>
        <p:nvSpPr>
          <p:cNvPr id="758834" name="Text Box 50"/>
          <p:cNvSpPr txBox="1">
            <a:spLocks noChangeArrowheads="1"/>
          </p:cNvSpPr>
          <p:nvPr/>
        </p:nvSpPr>
        <p:spPr bwMode="auto">
          <a:xfrm>
            <a:off x="4419600" y="20574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S</a:t>
            </a:r>
            <a:r>
              <a:rPr lang="it-IT" sz="2400" b="1" i="1" baseline="-25000"/>
              <a:t>2</a:t>
            </a:r>
          </a:p>
        </p:txBody>
      </p:sp>
      <p:sp>
        <p:nvSpPr>
          <p:cNvPr id="758835" name="Text Box 51"/>
          <p:cNvSpPr txBox="1">
            <a:spLocks noChangeArrowheads="1"/>
          </p:cNvSpPr>
          <p:nvPr/>
        </p:nvSpPr>
        <p:spPr bwMode="auto">
          <a:xfrm>
            <a:off x="5334000" y="41656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S</a:t>
            </a:r>
            <a:r>
              <a:rPr lang="it-IT" sz="2400" b="1" i="1" baseline="-25000"/>
              <a:t>k-1</a:t>
            </a:r>
          </a:p>
        </p:txBody>
      </p:sp>
      <p:sp>
        <p:nvSpPr>
          <p:cNvPr id="758836" name="Line 52"/>
          <p:cNvSpPr>
            <a:spLocks noChangeShapeType="1"/>
          </p:cNvSpPr>
          <p:nvPr/>
        </p:nvSpPr>
        <p:spPr bwMode="auto">
          <a:xfrm>
            <a:off x="4191000" y="10160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37" name="Line 53"/>
          <p:cNvSpPr>
            <a:spLocks noChangeShapeType="1"/>
          </p:cNvSpPr>
          <p:nvPr/>
        </p:nvSpPr>
        <p:spPr bwMode="auto">
          <a:xfrm flipH="1">
            <a:off x="4038600" y="1854200"/>
            <a:ext cx="3048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38" name="Line 54"/>
          <p:cNvSpPr>
            <a:spLocks noChangeShapeType="1"/>
          </p:cNvSpPr>
          <p:nvPr/>
        </p:nvSpPr>
        <p:spPr bwMode="auto">
          <a:xfrm>
            <a:off x="4114800" y="26924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39" name="Line 55"/>
          <p:cNvSpPr>
            <a:spLocks noChangeShapeType="1"/>
          </p:cNvSpPr>
          <p:nvPr/>
        </p:nvSpPr>
        <p:spPr bwMode="auto">
          <a:xfrm>
            <a:off x="5029200" y="4800600"/>
            <a:ext cx="609600" cy="3048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40" name="Rectangle 56"/>
          <p:cNvSpPr>
            <a:spLocks noChangeArrowheads="1"/>
          </p:cNvSpPr>
          <p:nvPr/>
        </p:nvSpPr>
        <p:spPr bwMode="auto">
          <a:xfrm>
            <a:off x="4648200" y="4419600"/>
            <a:ext cx="6096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400" b="1" i="1"/>
              <a:t>x</a:t>
            </a:r>
            <a:r>
              <a:rPr lang="it-IT" sz="2400" b="1" i="1" baseline="-25000"/>
              <a:t>k-1</a:t>
            </a:r>
            <a:endParaRPr lang="it-IT" sz="2400" b="1" i="1"/>
          </a:p>
        </p:txBody>
      </p:sp>
      <p:sp>
        <p:nvSpPr>
          <p:cNvPr id="758841" name="Line 57"/>
          <p:cNvSpPr>
            <a:spLocks noChangeShapeType="1"/>
          </p:cNvSpPr>
          <p:nvPr/>
        </p:nvSpPr>
        <p:spPr bwMode="auto">
          <a:xfrm>
            <a:off x="4953000" y="3962400"/>
            <a:ext cx="762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42" name="AutoShape 58"/>
          <p:cNvSpPr>
            <a:spLocks noChangeArrowheads="1"/>
          </p:cNvSpPr>
          <p:nvPr/>
        </p:nvSpPr>
        <p:spPr bwMode="auto">
          <a:xfrm flipV="1">
            <a:off x="3124200" y="3505200"/>
            <a:ext cx="609600" cy="1447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43" name="Rectangle 59"/>
          <p:cNvSpPr>
            <a:spLocks noChangeArrowheads="1"/>
          </p:cNvSpPr>
          <p:nvPr/>
        </p:nvSpPr>
        <p:spPr bwMode="auto">
          <a:xfrm>
            <a:off x="3200400" y="3048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400" b="1"/>
          </a:p>
        </p:txBody>
      </p:sp>
      <p:sp>
        <p:nvSpPr>
          <p:cNvPr id="758844" name="Line 60"/>
          <p:cNvSpPr>
            <a:spLocks noChangeShapeType="1"/>
          </p:cNvSpPr>
          <p:nvPr/>
        </p:nvSpPr>
        <p:spPr bwMode="auto">
          <a:xfrm>
            <a:off x="3657600" y="3302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45" name="Line 61"/>
          <p:cNvSpPr>
            <a:spLocks noChangeShapeType="1"/>
          </p:cNvSpPr>
          <p:nvPr/>
        </p:nvSpPr>
        <p:spPr bwMode="auto">
          <a:xfrm>
            <a:off x="43434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46" name="Line 62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58847" name="Group 63"/>
          <p:cNvGrpSpPr>
            <a:grpSpLocks/>
          </p:cNvGrpSpPr>
          <p:nvPr/>
        </p:nvGrpSpPr>
        <p:grpSpPr bwMode="auto">
          <a:xfrm>
            <a:off x="3200400" y="2667000"/>
            <a:ext cx="685800" cy="1905000"/>
            <a:chOff x="2184" y="1680"/>
            <a:chExt cx="468" cy="1200"/>
          </a:xfrm>
        </p:grpSpPr>
        <p:sp>
          <p:nvSpPr>
            <p:cNvPr id="758848" name="Line 64"/>
            <p:cNvSpPr>
              <a:spLocks noChangeShapeType="1"/>
            </p:cNvSpPr>
            <p:nvPr/>
          </p:nvSpPr>
          <p:spPr bwMode="auto">
            <a:xfrm flipV="1">
              <a:off x="2288" y="1680"/>
              <a:ext cx="364" cy="96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849" name="Rectangle 65"/>
            <p:cNvSpPr>
              <a:spLocks noChangeArrowheads="1"/>
            </p:cNvSpPr>
            <p:nvPr/>
          </p:nvSpPr>
          <p:spPr bwMode="auto">
            <a:xfrm>
              <a:off x="2184" y="2640"/>
              <a:ext cx="312" cy="240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65000"/>
                </a:lnSpc>
              </a:pPr>
              <a:r>
                <a:rPr lang="it-IT" sz="2400" b="1" i="1"/>
                <a:t>r</a:t>
              </a:r>
              <a:r>
                <a:rPr lang="it-IT" sz="2400" b="1" i="1" baseline="-25000"/>
                <a:t>2</a:t>
              </a:r>
              <a:endParaRPr lang="it-IT" sz="2400" b="1" i="1"/>
            </a:p>
          </p:txBody>
        </p:sp>
      </p:grpSp>
      <p:sp>
        <p:nvSpPr>
          <p:cNvPr id="758850" name="Text Box 66"/>
          <p:cNvSpPr txBox="1">
            <a:spLocks noChangeArrowheads="1"/>
          </p:cNvSpPr>
          <p:nvPr/>
        </p:nvSpPr>
        <p:spPr bwMode="auto">
          <a:xfrm>
            <a:off x="5638800" y="6604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r</a:t>
            </a:r>
            <a:r>
              <a:rPr lang="it-IT" sz="2400" b="1" i="1" baseline="-25000"/>
              <a:t>i</a:t>
            </a:r>
            <a:r>
              <a:rPr lang="it-IT" sz="2400" b="1"/>
              <a:t> = rappresentante</a:t>
            </a:r>
          </a:p>
        </p:txBody>
      </p:sp>
      <p:sp>
        <p:nvSpPr>
          <p:cNvPr id="758851" name="Line 67"/>
          <p:cNvSpPr>
            <a:spLocks noChangeShapeType="1"/>
          </p:cNvSpPr>
          <p:nvPr/>
        </p:nvSpPr>
        <p:spPr bwMode="auto">
          <a:xfrm flipH="1">
            <a:off x="3429000" y="269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52" name="Line 68"/>
          <p:cNvSpPr>
            <a:spLocks noChangeShapeType="1"/>
          </p:cNvSpPr>
          <p:nvPr/>
        </p:nvSpPr>
        <p:spPr bwMode="auto">
          <a:xfrm flipV="1">
            <a:off x="211138" y="6019800"/>
            <a:ext cx="4222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53" name="Line 69"/>
          <p:cNvSpPr>
            <a:spLocks noChangeShapeType="1"/>
          </p:cNvSpPr>
          <p:nvPr/>
        </p:nvSpPr>
        <p:spPr bwMode="auto">
          <a:xfrm>
            <a:off x="211138" y="6400800"/>
            <a:ext cx="422275" cy="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54" name="Line 70"/>
          <p:cNvSpPr>
            <a:spLocks noChangeShapeType="1"/>
          </p:cNvSpPr>
          <p:nvPr/>
        </p:nvSpPr>
        <p:spPr bwMode="auto">
          <a:xfrm>
            <a:off x="211138" y="5638800"/>
            <a:ext cx="422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855" name="Text Box 71"/>
          <p:cNvSpPr txBox="1">
            <a:spLocks noChangeArrowheads="1"/>
          </p:cNvSpPr>
          <p:nvPr/>
        </p:nvSpPr>
        <p:spPr bwMode="auto">
          <a:xfrm>
            <a:off x="703263" y="6178550"/>
            <a:ext cx="2576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chiamate ricorsive</a:t>
            </a:r>
          </a:p>
        </p:txBody>
      </p:sp>
      <p:sp>
        <p:nvSpPr>
          <p:cNvPr id="758856" name="Text Box 72"/>
          <p:cNvSpPr txBox="1">
            <a:spLocks noChangeArrowheads="1"/>
          </p:cNvSpPr>
          <p:nvPr/>
        </p:nvSpPr>
        <p:spPr bwMode="auto">
          <a:xfrm>
            <a:off x="703263" y="572135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ancestor</a:t>
            </a:r>
          </a:p>
        </p:txBody>
      </p:sp>
      <p:sp>
        <p:nvSpPr>
          <p:cNvPr id="758857" name="Text Box 73"/>
          <p:cNvSpPr txBox="1">
            <a:spLocks noChangeArrowheads="1"/>
          </p:cNvSpPr>
          <p:nvPr/>
        </p:nvSpPr>
        <p:spPr bwMode="auto">
          <a:xfrm>
            <a:off x="703263" y="5340350"/>
            <a:ext cx="194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/>
              <a:t>child</a:t>
            </a:r>
            <a:r>
              <a:rPr lang="it-IT" sz="2400" b="1"/>
              <a:t> e </a:t>
            </a:r>
            <a:r>
              <a:rPr lang="it-IT" sz="2400" b="1" i="1"/>
              <a:t>sibling</a:t>
            </a:r>
          </a:p>
        </p:txBody>
      </p:sp>
      <p:sp>
        <p:nvSpPr>
          <p:cNvPr id="758858" name="Rectangle 74"/>
          <p:cNvSpPr>
            <a:spLocks noChangeArrowheads="1"/>
          </p:cNvSpPr>
          <p:nvPr/>
        </p:nvSpPr>
        <p:spPr bwMode="auto">
          <a:xfrm>
            <a:off x="5416550" y="5105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400" b="1" i="1"/>
              <a:t>x</a:t>
            </a:r>
            <a:r>
              <a:rPr lang="it-IT" sz="2400" b="1" i="1" baseline="-25000"/>
              <a:t>k</a:t>
            </a:r>
            <a:endParaRPr lang="it-IT" sz="2400" b="1" i="1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786" grpId="0" animBg="1"/>
      <p:bldP spid="758787" grpId="0" animBg="1"/>
      <p:bldP spid="758788" grpId="0" animBg="1"/>
      <p:bldP spid="75878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Text Box 2"/>
          <p:cNvSpPr txBox="1">
            <a:spLocks noChangeArrowheads="1"/>
          </p:cNvSpPr>
          <p:nvPr/>
        </p:nvSpPr>
        <p:spPr bwMode="auto">
          <a:xfrm>
            <a:off x="152400" y="838200"/>
            <a:ext cx="8686800" cy="447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P</a:t>
            </a:r>
            <a:r>
              <a:rPr lang="it-IT" baseline="-25000"/>
              <a:t>1</a:t>
            </a:r>
            <a:r>
              <a:rPr lang="it-IT"/>
              <a:t> - esistono </a:t>
            </a:r>
            <a:r>
              <a:rPr lang="it-IT" b="1" i="1"/>
              <a:t>k</a:t>
            </a:r>
            <a:r>
              <a:rPr lang="it-IT"/>
              <a:t> insiemi disgiunti </a:t>
            </a:r>
            <a:r>
              <a:rPr lang="it-IT" b="1" i="1"/>
              <a:t>S</a:t>
            </a:r>
            <a:r>
              <a:rPr lang="it-IT" b="1" i="1" baseline="-25000"/>
              <a:t>0</a:t>
            </a:r>
            <a:r>
              <a:rPr lang="it-IT" b="1" i="1"/>
              <a:t>, ..., S</a:t>
            </a:r>
            <a:r>
              <a:rPr lang="it-IT" b="1" i="1" baseline="-25000"/>
              <a:t>k-1</a:t>
            </a:r>
            <a:r>
              <a:rPr lang="it-IT"/>
              <a:t>, </a:t>
            </a:r>
          </a:p>
          <a:p>
            <a:r>
              <a:rPr lang="it-IT"/>
              <a:t>P</a:t>
            </a:r>
            <a:r>
              <a:rPr lang="it-IT" baseline="-25000"/>
              <a:t>2</a:t>
            </a:r>
            <a:r>
              <a:rPr lang="it-IT"/>
              <a:t> - ogni insieme 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 contiene il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e tutti i suoi</a:t>
            </a:r>
          </a:p>
          <a:p>
            <a:r>
              <a:rPr lang="it-IT"/>
              <a:t>       discendenti che stanno alla sinistra di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i+1</a:t>
            </a:r>
            <a:r>
              <a:rPr lang="it-IT"/>
              <a:t>, </a:t>
            </a:r>
          </a:p>
          <a:p>
            <a:r>
              <a:rPr lang="it-IT"/>
              <a:t>P</a:t>
            </a:r>
            <a:r>
              <a:rPr lang="it-IT" baseline="-25000"/>
              <a:t>3</a:t>
            </a:r>
            <a:r>
              <a:rPr lang="it-IT"/>
              <a:t> - il campo </a:t>
            </a:r>
            <a:r>
              <a:rPr lang="it-IT" b="1" i="1">
                <a:sym typeface="Symbol" charset="0"/>
              </a:rPr>
              <a:t>ancestor</a:t>
            </a:r>
            <a:r>
              <a:rPr lang="it-IT"/>
              <a:t> del rappresentante </a:t>
            </a:r>
            <a:r>
              <a:rPr lang="it-IT" b="1" i="1">
                <a:sym typeface="Symbol" charset="0"/>
              </a:rPr>
              <a:t>r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di 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 </a:t>
            </a:r>
          </a:p>
          <a:p>
            <a:r>
              <a:rPr lang="it-IT"/>
              <a:t>       punta al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,</a:t>
            </a:r>
          </a:p>
          <a:p>
            <a:r>
              <a:rPr lang="it-IT"/>
              <a:t>P</a:t>
            </a:r>
            <a:r>
              <a:rPr lang="it-IT" baseline="-25000"/>
              <a:t>4</a:t>
            </a:r>
            <a:r>
              <a:rPr lang="it-IT"/>
              <a:t> - sono </a:t>
            </a:r>
            <a:r>
              <a:rPr lang="it-IT" b="1" i="1">
                <a:sym typeface="Symbol" charset="0"/>
              </a:rPr>
              <a:t>black</a:t>
            </a:r>
            <a:r>
              <a:rPr lang="it-IT"/>
              <a:t> tutti e soli i nodi alla sinistra del</a:t>
            </a:r>
          </a:p>
          <a:p>
            <a:r>
              <a:rPr lang="it-IT"/>
              <a:t>       cammino 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0</a:t>
            </a:r>
            <a:r>
              <a:rPr lang="it-IT" b="1">
                <a:sym typeface="Symbol" charset="0"/>
              </a:rPr>
              <a:t>,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1</a:t>
            </a:r>
            <a:r>
              <a:rPr lang="it-IT" b="1">
                <a:sym typeface="Symbol" charset="0"/>
              </a:rPr>
              <a:t>,...,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k-1</a:t>
            </a:r>
            <a:r>
              <a:rPr lang="it-IT" b="1">
                <a:sym typeface="Symbol" charset="0"/>
              </a:rPr>
              <a:t>,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, </a:t>
            </a:r>
          </a:p>
          <a:p>
            <a:r>
              <a:rPr lang="it-IT"/>
              <a:t>P</a:t>
            </a:r>
            <a:r>
              <a:rPr lang="it-IT" baseline="-25000"/>
              <a:t>5</a:t>
            </a:r>
            <a:r>
              <a:rPr lang="it-IT"/>
              <a:t> - </a:t>
            </a:r>
            <a:r>
              <a:rPr lang="it-IT" b="1" i="1">
                <a:sym typeface="Symbol" charset="0"/>
              </a:rPr>
              <a:t>w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è il minimo comune antenato di 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u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 b="1">
                <a:sym typeface="Symbol" charset="0"/>
              </a:rPr>
              <a:t>,</a:t>
            </a:r>
            <a:r>
              <a:rPr lang="it-IT" b="1" i="1">
                <a:sym typeface="Symbol" charset="0"/>
              </a:rPr>
              <a:t>v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 b="1">
                <a:sym typeface="Symbol" charset="0"/>
              </a:rPr>
              <a:t>)  </a:t>
            </a:r>
            <a:r>
              <a:rPr lang="it-IT" b="1" i="1">
                <a:sym typeface="Symbol" charset="0"/>
              </a:rPr>
              <a:t>L</a:t>
            </a:r>
            <a:r>
              <a:rPr lang="it-IT" b="1">
                <a:sym typeface="Symbol" charset="0"/>
              </a:rPr>
              <a:t> </a:t>
            </a:r>
          </a:p>
          <a:p>
            <a:r>
              <a:rPr lang="it-IT"/>
              <a:t>       per ogni </a:t>
            </a:r>
            <a:r>
              <a:rPr lang="it-IT" b="1" i="1">
                <a:sym typeface="Symbol" charset="0"/>
              </a:rPr>
              <a:t>i</a:t>
            </a:r>
            <a:r>
              <a:rPr lang="it-IT"/>
              <a:t> tale che </a:t>
            </a:r>
            <a:r>
              <a:rPr lang="it-IT" b="1" i="1">
                <a:sym typeface="Symbol" charset="0"/>
              </a:rPr>
              <a:t>u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v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siano entrambi </a:t>
            </a:r>
            <a:r>
              <a:rPr lang="it-IT" b="1" i="1">
                <a:sym typeface="Symbol" charset="0"/>
              </a:rPr>
              <a:t>black</a:t>
            </a:r>
            <a:r>
              <a:rPr lang="it-IT"/>
              <a:t>.</a:t>
            </a:r>
          </a:p>
        </p:txBody>
      </p:sp>
      <p:sp>
        <p:nvSpPr>
          <p:cNvPr id="759811" name="Text Box 3"/>
          <p:cNvSpPr txBox="1">
            <a:spLocks noChangeArrowheads="1"/>
          </p:cNvSpPr>
          <p:nvPr/>
        </p:nvSpPr>
        <p:spPr bwMode="auto">
          <a:xfrm>
            <a:off x="533400" y="304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Ossia sono vere le seguenti cose:</a:t>
            </a:r>
          </a:p>
        </p:txBody>
      </p:sp>
      <p:sp>
        <p:nvSpPr>
          <p:cNvPr id="759812" name="Text Box 4"/>
          <p:cNvSpPr txBox="1">
            <a:spLocks noChangeArrowheads="1"/>
          </p:cNvSpPr>
          <p:nvPr/>
        </p:nvSpPr>
        <p:spPr bwMode="auto">
          <a:xfrm>
            <a:off x="533400" y="5638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Dopo la chiamata la situazione deve essere: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Freeform 2"/>
          <p:cNvSpPr>
            <a:spLocks/>
          </p:cNvSpPr>
          <p:nvPr/>
        </p:nvSpPr>
        <p:spPr bwMode="auto">
          <a:xfrm>
            <a:off x="5226050" y="5043488"/>
            <a:ext cx="903288" cy="1598612"/>
          </a:xfrm>
          <a:custGeom>
            <a:avLst/>
            <a:gdLst>
              <a:gd name="T0" fmla="*/ 77 w 569"/>
              <a:gd name="T1" fmla="*/ 353 h 1007"/>
              <a:gd name="T2" fmla="*/ 85 w 569"/>
              <a:gd name="T3" fmla="*/ 0 h 1007"/>
              <a:gd name="T4" fmla="*/ 456 w 569"/>
              <a:gd name="T5" fmla="*/ 5 h 1007"/>
              <a:gd name="T6" fmla="*/ 456 w 569"/>
              <a:gd name="T7" fmla="*/ 274 h 1007"/>
              <a:gd name="T8" fmla="*/ 454 w 569"/>
              <a:gd name="T9" fmla="*/ 346 h 1007"/>
              <a:gd name="T10" fmla="*/ 569 w 569"/>
              <a:gd name="T11" fmla="*/ 992 h 1007"/>
              <a:gd name="T12" fmla="*/ 0 w 569"/>
              <a:gd name="T13" fmla="*/ 1007 h 1007"/>
              <a:gd name="T14" fmla="*/ 77 w 569"/>
              <a:gd name="T15" fmla="*/ 353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69" h="1007">
                <a:moveTo>
                  <a:pt x="77" y="353"/>
                </a:moveTo>
                <a:lnTo>
                  <a:pt x="85" y="0"/>
                </a:lnTo>
                <a:lnTo>
                  <a:pt x="456" y="5"/>
                </a:lnTo>
                <a:lnTo>
                  <a:pt x="456" y="274"/>
                </a:lnTo>
                <a:lnTo>
                  <a:pt x="454" y="346"/>
                </a:lnTo>
                <a:lnTo>
                  <a:pt x="569" y="992"/>
                </a:lnTo>
                <a:lnTo>
                  <a:pt x="0" y="1007"/>
                </a:lnTo>
                <a:lnTo>
                  <a:pt x="77" y="353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35" name="Freeform 3"/>
          <p:cNvSpPr>
            <a:spLocks/>
          </p:cNvSpPr>
          <p:nvPr/>
        </p:nvSpPr>
        <p:spPr bwMode="auto">
          <a:xfrm>
            <a:off x="3043238" y="2235200"/>
            <a:ext cx="1341437" cy="2903538"/>
          </a:xfrm>
          <a:custGeom>
            <a:avLst/>
            <a:gdLst>
              <a:gd name="T0" fmla="*/ 46 w 845"/>
              <a:gd name="T1" fmla="*/ 514 h 1829"/>
              <a:gd name="T2" fmla="*/ 529 w 845"/>
              <a:gd name="T3" fmla="*/ 0 h 1829"/>
              <a:gd name="T4" fmla="*/ 845 w 845"/>
              <a:gd name="T5" fmla="*/ 0 h 1829"/>
              <a:gd name="T6" fmla="*/ 845 w 845"/>
              <a:gd name="T7" fmla="*/ 346 h 1829"/>
              <a:gd name="T8" fmla="*/ 454 w 845"/>
              <a:gd name="T9" fmla="*/ 537 h 1829"/>
              <a:gd name="T10" fmla="*/ 492 w 845"/>
              <a:gd name="T11" fmla="*/ 1806 h 1829"/>
              <a:gd name="T12" fmla="*/ 0 w 845"/>
              <a:gd name="T13" fmla="*/ 1829 h 1829"/>
              <a:gd name="T14" fmla="*/ 46 w 845"/>
              <a:gd name="T15" fmla="*/ 514 h 1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5" h="1829">
                <a:moveTo>
                  <a:pt x="46" y="514"/>
                </a:moveTo>
                <a:lnTo>
                  <a:pt x="529" y="0"/>
                </a:lnTo>
                <a:lnTo>
                  <a:pt x="845" y="0"/>
                </a:lnTo>
                <a:lnTo>
                  <a:pt x="845" y="346"/>
                </a:lnTo>
                <a:lnTo>
                  <a:pt x="454" y="537"/>
                </a:lnTo>
                <a:lnTo>
                  <a:pt x="492" y="1806"/>
                </a:lnTo>
                <a:lnTo>
                  <a:pt x="0" y="1829"/>
                </a:lnTo>
                <a:lnTo>
                  <a:pt x="46" y="514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36" name="Freeform 4"/>
          <p:cNvSpPr>
            <a:spLocks/>
          </p:cNvSpPr>
          <p:nvPr/>
        </p:nvSpPr>
        <p:spPr bwMode="auto">
          <a:xfrm>
            <a:off x="4127500" y="4343400"/>
            <a:ext cx="1212850" cy="2286000"/>
          </a:xfrm>
          <a:custGeom>
            <a:avLst/>
            <a:gdLst>
              <a:gd name="T0" fmla="*/ 126 w 764"/>
              <a:gd name="T1" fmla="*/ 475 h 1440"/>
              <a:gd name="T2" fmla="*/ 357 w 764"/>
              <a:gd name="T3" fmla="*/ 0 h 1440"/>
              <a:gd name="T4" fmla="*/ 764 w 764"/>
              <a:gd name="T5" fmla="*/ 14 h 1440"/>
              <a:gd name="T6" fmla="*/ 764 w 764"/>
              <a:gd name="T7" fmla="*/ 283 h 1440"/>
              <a:gd name="T8" fmla="*/ 534 w 764"/>
              <a:gd name="T9" fmla="*/ 483 h 1440"/>
              <a:gd name="T10" fmla="*/ 623 w 764"/>
              <a:gd name="T11" fmla="*/ 1417 h 1440"/>
              <a:gd name="T12" fmla="*/ 0 w 764"/>
              <a:gd name="T13" fmla="*/ 1440 h 1440"/>
              <a:gd name="T14" fmla="*/ 126 w 764"/>
              <a:gd name="T15" fmla="*/ 475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4" h="1440">
                <a:moveTo>
                  <a:pt x="126" y="475"/>
                </a:moveTo>
                <a:lnTo>
                  <a:pt x="357" y="0"/>
                </a:lnTo>
                <a:lnTo>
                  <a:pt x="764" y="14"/>
                </a:lnTo>
                <a:lnTo>
                  <a:pt x="764" y="283"/>
                </a:lnTo>
                <a:lnTo>
                  <a:pt x="534" y="483"/>
                </a:lnTo>
                <a:lnTo>
                  <a:pt x="623" y="1417"/>
                </a:lnTo>
                <a:lnTo>
                  <a:pt x="0" y="1440"/>
                </a:lnTo>
                <a:lnTo>
                  <a:pt x="126" y="4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37" name="Freeform 5"/>
          <p:cNvSpPr>
            <a:spLocks/>
          </p:cNvSpPr>
          <p:nvPr/>
        </p:nvSpPr>
        <p:spPr bwMode="auto">
          <a:xfrm>
            <a:off x="2166938" y="1389063"/>
            <a:ext cx="2479675" cy="3516312"/>
          </a:xfrm>
          <a:custGeom>
            <a:avLst/>
            <a:gdLst>
              <a:gd name="T0" fmla="*/ 46 w 1562"/>
              <a:gd name="T1" fmla="*/ 569 h 2215"/>
              <a:gd name="T2" fmla="*/ 1246 w 1562"/>
              <a:gd name="T3" fmla="*/ 0 h 2215"/>
              <a:gd name="T4" fmla="*/ 1562 w 1562"/>
              <a:gd name="T5" fmla="*/ 0 h 2215"/>
              <a:gd name="T6" fmla="*/ 1562 w 1562"/>
              <a:gd name="T7" fmla="*/ 346 h 2215"/>
              <a:gd name="T8" fmla="*/ 485 w 1562"/>
              <a:gd name="T9" fmla="*/ 600 h 2215"/>
              <a:gd name="T10" fmla="*/ 516 w 1562"/>
              <a:gd name="T11" fmla="*/ 2215 h 2215"/>
              <a:gd name="T12" fmla="*/ 0 w 1562"/>
              <a:gd name="T13" fmla="*/ 2207 h 2215"/>
              <a:gd name="T14" fmla="*/ 46 w 1562"/>
              <a:gd name="T15" fmla="*/ 569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2" h="2215">
                <a:moveTo>
                  <a:pt x="46" y="569"/>
                </a:moveTo>
                <a:lnTo>
                  <a:pt x="1246" y="0"/>
                </a:lnTo>
                <a:lnTo>
                  <a:pt x="1562" y="0"/>
                </a:lnTo>
                <a:lnTo>
                  <a:pt x="1562" y="346"/>
                </a:lnTo>
                <a:lnTo>
                  <a:pt x="485" y="600"/>
                </a:lnTo>
                <a:lnTo>
                  <a:pt x="516" y="2215"/>
                </a:lnTo>
                <a:lnTo>
                  <a:pt x="0" y="2207"/>
                </a:lnTo>
                <a:lnTo>
                  <a:pt x="46" y="569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38" name="Freeform 6"/>
          <p:cNvSpPr>
            <a:spLocks/>
          </p:cNvSpPr>
          <p:nvPr/>
        </p:nvSpPr>
        <p:spPr bwMode="auto">
          <a:xfrm>
            <a:off x="381000" y="533400"/>
            <a:ext cx="4130675" cy="4216400"/>
          </a:xfrm>
          <a:custGeom>
            <a:avLst/>
            <a:gdLst>
              <a:gd name="T0" fmla="*/ 141 w 2602"/>
              <a:gd name="T1" fmla="*/ 577 h 2656"/>
              <a:gd name="T2" fmla="*/ 2287 w 2602"/>
              <a:gd name="T3" fmla="*/ 0 h 2656"/>
              <a:gd name="T4" fmla="*/ 2602 w 2602"/>
              <a:gd name="T5" fmla="*/ 0 h 2656"/>
              <a:gd name="T6" fmla="*/ 2594 w 2602"/>
              <a:gd name="T7" fmla="*/ 362 h 2656"/>
              <a:gd name="T8" fmla="*/ 1017 w 2602"/>
              <a:gd name="T9" fmla="*/ 600 h 2656"/>
              <a:gd name="T10" fmla="*/ 1056 w 2602"/>
              <a:gd name="T11" fmla="*/ 2656 h 2656"/>
              <a:gd name="T12" fmla="*/ 0 w 2602"/>
              <a:gd name="T13" fmla="*/ 2656 h 2656"/>
              <a:gd name="T14" fmla="*/ 141 w 2602"/>
              <a:gd name="T15" fmla="*/ 577 h 2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2" h="2656">
                <a:moveTo>
                  <a:pt x="141" y="577"/>
                </a:moveTo>
                <a:lnTo>
                  <a:pt x="2287" y="0"/>
                </a:lnTo>
                <a:lnTo>
                  <a:pt x="2602" y="0"/>
                </a:lnTo>
                <a:lnTo>
                  <a:pt x="2594" y="362"/>
                </a:lnTo>
                <a:lnTo>
                  <a:pt x="1017" y="600"/>
                </a:lnTo>
                <a:lnTo>
                  <a:pt x="1056" y="2656"/>
                </a:lnTo>
                <a:lnTo>
                  <a:pt x="0" y="2656"/>
                </a:lnTo>
                <a:lnTo>
                  <a:pt x="141" y="577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39" name="Rectangle 7"/>
          <p:cNvSpPr>
            <a:spLocks noChangeArrowheads="1"/>
          </p:cNvSpPr>
          <p:nvPr/>
        </p:nvSpPr>
        <p:spPr bwMode="auto">
          <a:xfrm>
            <a:off x="3962400" y="6350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0840" name="Rectangle 8"/>
          <p:cNvSpPr>
            <a:spLocks noChangeArrowheads="1"/>
          </p:cNvSpPr>
          <p:nvPr/>
        </p:nvSpPr>
        <p:spPr bwMode="auto">
          <a:xfrm>
            <a:off x="4114800" y="14732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0841" name="Rectangle 9"/>
          <p:cNvSpPr>
            <a:spLocks noChangeArrowheads="1"/>
          </p:cNvSpPr>
          <p:nvPr/>
        </p:nvSpPr>
        <p:spPr bwMode="auto">
          <a:xfrm>
            <a:off x="3810000" y="2311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0842" name="Rectangle 10"/>
          <p:cNvSpPr>
            <a:spLocks noChangeArrowheads="1"/>
          </p:cNvSpPr>
          <p:nvPr/>
        </p:nvSpPr>
        <p:spPr bwMode="auto">
          <a:xfrm>
            <a:off x="13716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43" name="Rectangle 11"/>
          <p:cNvSpPr>
            <a:spLocks noChangeArrowheads="1"/>
          </p:cNvSpPr>
          <p:nvPr/>
        </p:nvSpPr>
        <p:spPr bwMode="auto">
          <a:xfrm>
            <a:off x="7620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44" name="Rectangle 12"/>
          <p:cNvSpPr>
            <a:spLocks noChangeArrowheads="1"/>
          </p:cNvSpPr>
          <p:nvPr/>
        </p:nvSpPr>
        <p:spPr bwMode="auto">
          <a:xfrm>
            <a:off x="8077200" y="14478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45" name="Rectangle 13"/>
          <p:cNvSpPr>
            <a:spLocks noChangeArrowheads="1"/>
          </p:cNvSpPr>
          <p:nvPr/>
        </p:nvSpPr>
        <p:spPr bwMode="auto">
          <a:xfrm>
            <a:off x="63246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46" name="Rectangle 14"/>
          <p:cNvSpPr>
            <a:spLocks noChangeArrowheads="1"/>
          </p:cNvSpPr>
          <p:nvPr/>
        </p:nvSpPr>
        <p:spPr bwMode="auto">
          <a:xfrm>
            <a:off x="72390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47" name="Rectangle 15"/>
          <p:cNvSpPr>
            <a:spLocks noChangeArrowheads="1"/>
          </p:cNvSpPr>
          <p:nvPr/>
        </p:nvSpPr>
        <p:spPr bwMode="auto">
          <a:xfrm>
            <a:off x="66294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48" name="Rectangle 16"/>
          <p:cNvSpPr>
            <a:spLocks noChangeArrowheads="1"/>
          </p:cNvSpPr>
          <p:nvPr/>
        </p:nvSpPr>
        <p:spPr bwMode="auto">
          <a:xfrm>
            <a:off x="2362200" y="2311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49" name="Rectangle 17"/>
          <p:cNvSpPr>
            <a:spLocks noChangeArrowheads="1"/>
          </p:cNvSpPr>
          <p:nvPr/>
        </p:nvSpPr>
        <p:spPr bwMode="auto">
          <a:xfrm>
            <a:off x="4419600" y="5105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50" name="Rectangle 18"/>
          <p:cNvSpPr>
            <a:spLocks noChangeArrowheads="1"/>
          </p:cNvSpPr>
          <p:nvPr/>
        </p:nvSpPr>
        <p:spPr bwMode="auto">
          <a:xfrm>
            <a:off x="69342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51" name="Line 19"/>
          <p:cNvSpPr>
            <a:spLocks noChangeShapeType="1"/>
          </p:cNvSpPr>
          <p:nvPr/>
        </p:nvSpPr>
        <p:spPr bwMode="auto">
          <a:xfrm flipH="1">
            <a:off x="990600" y="1016000"/>
            <a:ext cx="2971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52" name="Line 20"/>
          <p:cNvSpPr>
            <a:spLocks noChangeShapeType="1"/>
          </p:cNvSpPr>
          <p:nvPr/>
        </p:nvSpPr>
        <p:spPr bwMode="auto">
          <a:xfrm flipH="1">
            <a:off x="2590800" y="1854200"/>
            <a:ext cx="1524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53" name="Line 21"/>
          <p:cNvSpPr>
            <a:spLocks noChangeShapeType="1"/>
          </p:cNvSpPr>
          <p:nvPr/>
        </p:nvSpPr>
        <p:spPr bwMode="auto">
          <a:xfrm flipH="1">
            <a:off x="3429000" y="269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54" name="Text Box 22"/>
          <p:cNvSpPr txBox="1">
            <a:spLocks noChangeArrowheads="1"/>
          </p:cNvSpPr>
          <p:nvPr/>
        </p:nvSpPr>
        <p:spPr bwMode="auto">
          <a:xfrm>
            <a:off x="4267200" y="3276600"/>
            <a:ext cx="661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/>
              <a:t>......</a:t>
            </a:r>
          </a:p>
        </p:txBody>
      </p:sp>
      <p:sp>
        <p:nvSpPr>
          <p:cNvPr id="760855" name="Line 23"/>
          <p:cNvSpPr>
            <a:spLocks noChangeShapeType="1"/>
          </p:cNvSpPr>
          <p:nvPr/>
        </p:nvSpPr>
        <p:spPr bwMode="auto">
          <a:xfrm flipH="1">
            <a:off x="4572000" y="4800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56" name="Line 24"/>
          <p:cNvSpPr>
            <a:spLocks noChangeShapeType="1"/>
          </p:cNvSpPr>
          <p:nvPr/>
        </p:nvSpPr>
        <p:spPr bwMode="auto">
          <a:xfrm>
            <a:off x="1828800" y="1676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57" name="Line 25"/>
          <p:cNvSpPr>
            <a:spLocks noChangeShapeType="1"/>
          </p:cNvSpPr>
          <p:nvPr/>
        </p:nvSpPr>
        <p:spPr bwMode="auto">
          <a:xfrm flipV="1">
            <a:off x="4572000" y="16764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58" name="Line 26"/>
          <p:cNvSpPr>
            <a:spLocks noChangeShapeType="1"/>
          </p:cNvSpPr>
          <p:nvPr/>
        </p:nvSpPr>
        <p:spPr bwMode="auto">
          <a:xfrm>
            <a:off x="1219200" y="1701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59" name="Line 27"/>
          <p:cNvSpPr>
            <a:spLocks noChangeShapeType="1"/>
          </p:cNvSpPr>
          <p:nvPr/>
        </p:nvSpPr>
        <p:spPr bwMode="auto">
          <a:xfrm>
            <a:off x="7086600" y="2514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0" name="Line 28"/>
          <p:cNvSpPr>
            <a:spLocks noChangeShapeType="1"/>
          </p:cNvSpPr>
          <p:nvPr/>
        </p:nvSpPr>
        <p:spPr bwMode="auto">
          <a:xfrm>
            <a:off x="6781800" y="533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1" name="Line 29"/>
          <p:cNvSpPr>
            <a:spLocks noChangeShapeType="1"/>
          </p:cNvSpPr>
          <p:nvPr/>
        </p:nvSpPr>
        <p:spPr bwMode="auto">
          <a:xfrm>
            <a:off x="2819400" y="2514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2" name="Line 30"/>
          <p:cNvSpPr>
            <a:spLocks noChangeShapeType="1"/>
          </p:cNvSpPr>
          <p:nvPr/>
        </p:nvSpPr>
        <p:spPr bwMode="auto">
          <a:xfrm flipV="1">
            <a:off x="42672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3" name="Line 31"/>
          <p:cNvSpPr>
            <a:spLocks noChangeShapeType="1"/>
          </p:cNvSpPr>
          <p:nvPr/>
        </p:nvSpPr>
        <p:spPr bwMode="auto">
          <a:xfrm>
            <a:off x="4876800" y="5334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4" name="Line 32"/>
          <p:cNvSpPr>
            <a:spLocks noChangeShapeType="1"/>
          </p:cNvSpPr>
          <p:nvPr/>
        </p:nvSpPr>
        <p:spPr bwMode="auto">
          <a:xfrm>
            <a:off x="5867400" y="5334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5" name="AutoShape 33"/>
          <p:cNvSpPr>
            <a:spLocks noChangeArrowheads="1"/>
          </p:cNvSpPr>
          <p:nvPr/>
        </p:nvSpPr>
        <p:spPr bwMode="auto">
          <a:xfrm flipV="1">
            <a:off x="609600" y="1930400"/>
            <a:ext cx="1371600" cy="2590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6" name="AutoShape 34"/>
          <p:cNvSpPr>
            <a:spLocks noChangeArrowheads="1"/>
          </p:cNvSpPr>
          <p:nvPr/>
        </p:nvSpPr>
        <p:spPr bwMode="auto">
          <a:xfrm flipV="1">
            <a:off x="2286000" y="2768600"/>
            <a:ext cx="609600" cy="19812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7" name="AutoShape 35"/>
          <p:cNvSpPr>
            <a:spLocks noChangeArrowheads="1"/>
          </p:cNvSpPr>
          <p:nvPr/>
        </p:nvSpPr>
        <p:spPr bwMode="auto">
          <a:xfrm flipV="1">
            <a:off x="4267200" y="5562600"/>
            <a:ext cx="7620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8" name="AutoShape 36"/>
          <p:cNvSpPr>
            <a:spLocks noChangeArrowheads="1"/>
          </p:cNvSpPr>
          <p:nvPr/>
        </p:nvSpPr>
        <p:spPr bwMode="auto">
          <a:xfrm flipV="1">
            <a:off x="5334000" y="5562600"/>
            <a:ext cx="6858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69" name="AutoShape 37"/>
          <p:cNvSpPr>
            <a:spLocks noChangeArrowheads="1"/>
          </p:cNvSpPr>
          <p:nvPr/>
        </p:nvSpPr>
        <p:spPr bwMode="auto">
          <a:xfrm flipV="1">
            <a:off x="6324600" y="5562600"/>
            <a:ext cx="1066800" cy="914400"/>
          </a:xfrm>
          <a:custGeom>
            <a:avLst/>
            <a:gdLst>
              <a:gd name="G0" fmla="+- 2129 0 0"/>
              <a:gd name="G1" fmla="+- 21600 0 2129"/>
              <a:gd name="G2" fmla="*/ 2129 1 2"/>
              <a:gd name="G3" fmla="+- 21600 0 G2"/>
              <a:gd name="G4" fmla="+/ 2129 21600 2"/>
              <a:gd name="G5" fmla="+/ G1 0 2"/>
              <a:gd name="G6" fmla="*/ 21600 21600 2129"/>
              <a:gd name="G7" fmla="*/ G6 1 2"/>
              <a:gd name="G8" fmla="+- 21600 0 G7"/>
              <a:gd name="G9" fmla="*/ 21600 1 2"/>
              <a:gd name="G10" fmla="+- 2129 0 G9"/>
              <a:gd name="G11" fmla="?: G10 G8 0"/>
              <a:gd name="G12" fmla="?: G10 G7 21600"/>
              <a:gd name="T0" fmla="*/ 20535 w 21600"/>
              <a:gd name="T1" fmla="*/ 10800 h 21600"/>
              <a:gd name="T2" fmla="*/ 10800 w 21600"/>
              <a:gd name="T3" fmla="*/ 21600 h 21600"/>
              <a:gd name="T4" fmla="*/ 1065 w 21600"/>
              <a:gd name="T5" fmla="*/ 10800 h 21600"/>
              <a:gd name="T6" fmla="*/ 10800 w 21600"/>
              <a:gd name="T7" fmla="*/ 0 h 21600"/>
              <a:gd name="T8" fmla="*/ 2865 w 21600"/>
              <a:gd name="T9" fmla="*/ 2865 h 21600"/>
              <a:gd name="T10" fmla="*/ 18735 w 21600"/>
              <a:gd name="T11" fmla="*/ 187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129" y="21600"/>
                </a:lnTo>
                <a:lnTo>
                  <a:pt x="194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70" name="AutoShape 38"/>
          <p:cNvSpPr>
            <a:spLocks noChangeArrowheads="1"/>
          </p:cNvSpPr>
          <p:nvPr/>
        </p:nvSpPr>
        <p:spPr bwMode="auto">
          <a:xfrm flipV="1">
            <a:off x="6553200" y="2743200"/>
            <a:ext cx="1295400" cy="1981200"/>
          </a:xfrm>
          <a:custGeom>
            <a:avLst/>
            <a:gdLst>
              <a:gd name="G0" fmla="+- 3459 0 0"/>
              <a:gd name="G1" fmla="+- 21600 0 3459"/>
              <a:gd name="G2" fmla="*/ 3459 1 2"/>
              <a:gd name="G3" fmla="+- 21600 0 G2"/>
              <a:gd name="G4" fmla="+/ 3459 21600 2"/>
              <a:gd name="G5" fmla="+/ G1 0 2"/>
              <a:gd name="G6" fmla="*/ 21600 21600 3459"/>
              <a:gd name="G7" fmla="*/ G6 1 2"/>
              <a:gd name="G8" fmla="+- 21600 0 G7"/>
              <a:gd name="G9" fmla="*/ 21600 1 2"/>
              <a:gd name="G10" fmla="+- 3459 0 G9"/>
              <a:gd name="G11" fmla="?: G10 G8 0"/>
              <a:gd name="G12" fmla="?: G10 G7 21600"/>
              <a:gd name="T0" fmla="*/ 19870 w 21600"/>
              <a:gd name="T1" fmla="*/ 10800 h 21600"/>
              <a:gd name="T2" fmla="*/ 10800 w 21600"/>
              <a:gd name="T3" fmla="*/ 21600 h 21600"/>
              <a:gd name="T4" fmla="*/ 1730 w 21600"/>
              <a:gd name="T5" fmla="*/ 10800 h 21600"/>
              <a:gd name="T6" fmla="*/ 10800 w 21600"/>
              <a:gd name="T7" fmla="*/ 0 h 21600"/>
              <a:gd name="T8" fmla="*/ 3530 w 21600"/>
              <a:gd name="T9" fmla="*/ 3530 h 21600"/>
              <a:gd name="T10" fmla="*/ 18070 w 21600"/>
              <a:gd name="T11" fmla="*/ 180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59" y="21600"/>
                </a:lnTo>
                <a:lnTo>
                  <a:pt x="181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71" name="AutoShape 39"/>
          <p:cNvSpPr>
            <a:spLocks noChangeArrowheads="1"/>
          </p:cNvSpPr>
          <p:nvPr/>
        </p:nvSpPr>
        <p:spPr bwMode="auto">
          <a:xfrm flipV="1">
            <a:off x="8001000" y="1905000"/>
            <a:ext cx="609600" cy="25146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72" name="Rectangle 40"/>
          <p:cNvSpPr>
            <a:spLocks noChangeArrowheads="1"/>
          </p:cNvSpPr>
          <p:nvPr/>
        </p:nvSpPr>
        <p:spPr bwMode="auto">
          <a:xfrm>
            <a:off x="914400" y="2387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0873" name="Rectangle 41"/>
          <p:cNvSpPr>
            <a:spLocks noChangeArrowheads="1"/>
          </p:cNvSpPr>
          <p:nvPr/>
        </p:nvSpPr>
        <p:spPr bwMode="auto">
          <a:xfrm>
            <a:off x="2362200" y="3530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0874" name="Rectangle 42"/>
          <p:cNvSpPr>
            <a:spLocks noChangeArrowheads="1"/>
          </p:cNvSpPr>
          <p:nvPr/>
        </p:nvSpPr>
        <p:spPr bwMode="auto">
          <a:xfrm>
            <a:off x="4343400" y="5943600"/>
            <a:ext cx="5334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0875" name="Line 43"/>
          <p:cNvSpPr>
            <a:spLocks noChangeShapeType="1"/>
          </p:cNvSpPr>
          <p:nvPr/>
        </p:nvSpPr>
        <p:spPr bwMode="auto">
          <a:xfrm flipV="1">
            <a:off x="2590800" y="1778000"/>
            <a:ext cx="1447800" cy="1752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76" name="Line 44"/>
          <p:cNvSpPr>
            <a:spLocks noChangeShapeType="1"/>
          </p:cNvSpPr>
          <p:nvPr/>
        </p:nvSpPr>
        <p:spPr bwMode="auto">
          <a:xfrm flipV="1">
            <a:off x="1143000" y="787400"/>
            <a:ext cx="2819400" cy="1600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77" name="Line 45"/>
          <p:cNvSpPr>
            <a:spLocks noChangeShapeType="1"/>
          </p:cNvSpPr>
          <p:nvPr/>
        </p:nvSpPr>
        <p:spPr bwMode="auto">
          <a:xfrm flipV="1">
            <a:off x="4648200" y="4800600"/>
            <a:ext cx="152400" cy="1143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78" name="Text Box 46"/>
          <p:cNvSpPr txBox="1">
            <a:spLocks noChangeArrowheads="1"/>
          </p:cNvSpPr>
          <p:nvPr/>
        </p:nvSpPr>
        <p:spPr bwMode="auto">
          <a:xfrm>
            <a:off x="4495800" y="3302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0</a:t>
            </a:r>
          </a:p>
        </p:txBody>
      </p:sp>
      <p:sp>
        <p:nvSpPr>
          <p:cNvPr id="760879" name="Text Box 47"/>
          <p:cNvSpPr txBox="1">
            <a:spLocks noChangeArrowheads="1"/>
          </p:cNvSpPr>
          <p:nvPr/>
        </p:nvSpPr>
        <p:spPr bwMode="auto">
          <a:xfrm>
            <a:off x="4648200" y="11684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1</a:t>
            </a:r>
          </a:p>
        </p:txBody>
      </p:sp>
      <p:sp>
        <p:nvSpPr>
          <p:cNvPr id="760880" name="Text Box 48"/>
          <p:cNvSpPr txBox="1">
            <a:spLocks noChangeArrowheads="1"/>
          </p:cNvSpPr>
          <p:nvPr/>
        </p:nvSpPr>
        <p:spPr bwMode="auto">
          <a:xfrm>
            <a:off x="4419600" y="20066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2</a:t>
            </a:r>
          </a:p>
        </p:txBody>
      </p:sp>
      <p:sp>
        <p:nvSpPr>
          <p:cNvPr id="760881" name="Text Box 49"/>
          <p:cNvSpPr txBox="1">
            <a:spLocks noChangeArrowheads="1"/>
          </p:cNvSpPr>
          <p:nvPr/>
        </p:nvSpPr>
        <p:spPr bwMode="auto">
          <a:xfrm>
            <a:off x="5334000" y="4114800"/>
            <a:ext cx="70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k-1</a:t>
            </a:r>
          </a:p>
        </p:txBody>
      </p:sp>
      <p:sp>
        <p:nvSpPr>
          <p:cNvPr id="760882" name="Line 50"/>
          <p:cNvSpPr>
            <a:spLocks noChangeShapeType="1"/>
          </p:cNvSpPr>
          <p:nvPr/>
        </p:nvSpPr>
        <p:spPr bwMode="auto">
          <a:xfrm>
            <a:off x="4191000" y="10160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83" name="Line 51"/>
          <p:cNvSpPr>
            <a:spLocks noChangeShapeType="1"/>
          </p:cNvSpPr>
          <p:nvPr/>
        </p:nvSpPr>
        <p:spPr bwMode="auto">
          <a:xfrm flipH="1">
            <a:off x="4038600" y="1854200"/>
            <a:ext cx="3048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84" name="Line 52"/>
          <p:cNvSpPr>
            <a:spLocks noChangeShapeType="1"/>
          </p:cNvSpPr>
          <p:nvPr/>
        </p:nvSpPr>
        <p:spPr bwMode="auto">
          <a:xfrm>
            <a:off x="4114800" y="26924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85" name="Line 53"/>
          <p:cNvSpPr>
            <a:spLocks noChangeShapeType="1"/>
          </p:cNvSpPr>
          <p:nvPr/>
        </p:nvSpPr>
        <p:spPr bwMode="auto">
          <a:xfrm>
            <a:off x="5029200" y="4800600"/>
            <a:ext cx="609600" cy="3048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86" name="Rectangle 54"/>
          <p:cNvSpPr>
            <a:spLocks noChangeArrowheads="1"/>
          </p:cNvSpPr>
          <p:nvPr/>
        </p:nvSpPr>
        <p:spPr bwMode="auto">
          <a:xfrm>
            <a:off x="4724400" y="4419600"/>
            <a:ext cx="5334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0887" name="Line 55"/>
          <p:cNvSpPr>
            <a:spLocks noChangeShapeType="1"/>
          </p:cNvSpPr>
          <p:nvPr/>
        </p:nvSpPr>
        <p:spPr bwMode="auto">
          <a:xfrm>
            <a:off x="4953000" y="3962400"/>
            <a:ext cx="762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88" name="AutoShape 56"/>
          <p:cNvSpPr>
            <a:spLocks noChangeArrowheads="1"/>
          </p:cNvSpPr>
          <p:nvPr/>
        </p:nvSpPr>
        <p:spPr bwMode="auto">
          <a:xfrm flipV="1">
            <a:off x="3124200" y="3505200"/>
            <a:ext cx="609600" cy="1447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89" name="Rectangle 57"/>
          <p:cNvSpPr>
            <a:spLocks noChangeArrowheads="1"/>
          </p:cNvSpPr>
          <p:nvPr/>
        </p:nvSpPr>
        <p:spPr bwMode="auto">
          <a:xfrm>
            <a:off x="3200400" y="3048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0890" name="Line 58"/>
          <p:cNvSpPr>
            <a:spLocks noChangeShapeType="1"/>
          </p:cNvSpPr>
          <p:nvPr/>
        </p:nvSpPr>
        <p:spPr bwMode="auto">
          <a:xfrm>
            <a:off x="3657600" y="3302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91" name="Line 59"/>
          <p:cNvSpPr>
            <a:spLocks noChangeShapeType="1"/>
          </p:cNvSpPr>
          <p:nvPr/>
        </p:nvSpPr>
        <p:spPr bwMode="auto">
          <a:xfrm>
            <a:off x="44196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92" name="Line 60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93" name="Line 61"/>
          <p:cNvSpPr>
            <a:spLocks noChangeShapeType="1"/>
          </p:cNvSpPr>
          <p:nvPr/>
        </p:nvSpPr>
        <p:spPr bwMode="auto">
          <a:xfrm flipV="1">
            <a:off x="3352800" y="2667000"/>
            <a:ext cx="533400" cy="1524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94" name="Rectangle 62"/>
          <p:cNvSpPr>
            <a:spLocks noChangeArrowheads="1"/>
          </p:cNvSpPr>
          <p:nvPr/>
        </p:nvSpPr>
        <p:spPr bwMode="auto">
          <a:xfrm>
            <a:off x="3200400" y="4191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0895" name="Text Box 63"/>
          <p:cNvSpPr txBox="1">
            <a:spLocks noChangeArrowheads="1"/>
          </p:cNvSpPr>
          <p:nvPr/>
        </p:nvSpPr>
        <p:spPr bwMode="auto">
          <a:xfrm>
            <a:off x="5638800" y="609600"/>
            <a:ext cx="308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r</a:t>
            </a:r>
            <a:r>
              <a:rPr lang="it-IT" sz="2800" b="1" i="1" baseline="-25000"/>
              <a:t>i</a:t>
            </a:r>
            <a:r>
              <a:rPr lang="it-IT" sz="2800" b="1"/>
              <a:t> = rappresentante</a:t>
            </a:r>
          </a:p>
        </p:txBody>
      </p:sp>
      <p:sp>
        <p:nvSpPr>
          <p:cNvPr id="760896" name="Text Box 64"/>
          <p:cNvSpPr txBox="1">
            <a:spLocks noChangeArrowheads="1"/>
          </p:cNvSpPr>
          <p:nvPr/>
        </p:nvSpPr>
        <p:spPr bwMode="auto">
          <a:xfrm>
            <a:off x="5791200" y="4572000"/>
            <a:ext cx="50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</a:t>
            </a:r>
          </a:p>
        </p:txBody>
      </p:sp>
      <p:sp>
        <p:nvSpPr>
          <p:cNvPr id="760897" name="Rectangle 65"/>
          <p:cNvSpPr>
            <a:spLocks noChangeArrowheads="1"/>
          </p:cNvSpPr>
          <p:nvPr/>
        </p:nvSpPr>
        <p:spPr bwMode="auto">
          <a:xfrm>
            <a:off x="5410200" y="60198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  <p:sp>
        <p:nvSpPr>
          <p:cNvPr id="760898" name="Line 66"/>
          <p:cNvSpPr>
            <a:spLocks noChangeShapeType="1"/>
          </p:cNvSpPr>
          <p:nvPr/>
        </p:nvSpPr>
        <p:spPr bwMode="auto">
          <a:xfrm flipV="1">
            <a:off x="5638800" y="5486400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0899" name="Text Box 67"/>
          <p:cNvSpPr txBox="1">
            <a:spLocks noChangeArrowheads="1"/>
          </p:cNvSpPr>
          <p:nvPr/>
        </p:nvSpPr>
        <p:spPr bwMode="auto">
          <a:xfrm>
            <a:off x="5627688" y="152400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x</a:t>
            </a:r>
            <a:r>
              <a:rPr lang="it-IT" sz="2800" b="1" i="1" baseline="-25000"/>
              <a:t>0</a:t>
            </a:r>
            <a:r>
              <a:rPr lang="it-IT" sz="2800" b="1"/>
              <a:t> = </a:t>
            </a:r>
            <a:r>
              <a:rPr lang="it-IT" sz="2800" b="1" i="1"/>
              <a:t>root</a:t>
            </a:r>
            <a:r>
              <a:rPr lang="it-IT" sz="2800" b="1"/>
              <a:t>,  </a:t>
            </a: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r>
              <a:rPr lang="it-IT" sz="2800" b="1"/>
              <a:t> = </a:t>
            </a:r>
            <a:r>
              <a:rPr lang="it-IT" sz="2800" b="1" i="1"/>
              <a:t>u</a:t>
            </a:r>
          </a:p>
        </p:txBody>
      </p:sp>
      <p:sp>
        <p:nvSpPr>
          <p:cNvPr id="760900" name="Rectangle 68"/>
          <p:cNvSpPr>
            <a:spLocks noChangeArrowheads="1"/>
          </p:cNvSpPr>
          <p:nvPr/>
        </p:nvSpPr>
        <p:spPr bwMode="auto">
          <a:xfrm>
            <a:off x="5416550" y="5105400"/>
            <a:ext cx="4572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Text Box 2"/>
          <p:cNvSpPr txBox="1">
            <a:spLocks noChangeArrowheads="1"/>
          </p:cNvSpPr>
          <p:nvPr/>
        </p:nvSpPr>
        <p:spPr bwMode="auto">
          <a:xfrm>
            <a:off x="228600" y="1981200"/>
            <a:ext cx="8610600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Q</a:t>
            </a:r>
            <a:r>
              <a:rPr lang="it-IT" baseline="-25000"/>
              <a:t>1</a:t>
            </a:r>
            <a:r>
              <a:rPr lang="it-IT"/>
              <a:t> - esistono </a:t>
            </a:r>
            <a:r>
              <a:rPr lang="it-IT" b="1" i="1"/>
              <a:t>k+1</a:t>
            </a:r>
            <a:r>
              <a:rPr lang="it-IT"/>
              <a:t> insiemi disgiunti </a:t>
            </a:r>
            <a:r>
              <a:rPr lang="it-IT" b="1" i="1"/>
              <a:t>S</a:t>
            </a:r>
            <a:r>
              <a:rPr lang="it-IT" b="1" i="1" baseline="-25000"/>
              <a:t>0</a:t>
            </a:r>
            <a:r>
              <a:rPr lang="it-IT" b="1" i="1"/>
              <a:t>,..., S</a:t>
            </a:r>
            <a:r>
              <a:rPr lang="it-IT" b="1" i="1" baseline="-25000"/>
              <a:t>k-1 </a:t>
            </a:r>
            <a:r>
              <a:rPr lang="it-IT" b="1" i="1"/>
              <a:t>, S</a:t>
            </a:r>
            <a:r>
              <a:rPr lang="it-IT" b="1" i="1" baseline="-25000"/>
              <a:t>k</a:t>
            </a:r>
            <a:r>
              <a:rPr lang="it-IT"/>
              <a:t>, </a:t>
            </a:r>
          </a:p>
          <a:p>
            <a:r>
              <a:rPr lang="it-IT"/>
              <a:t>Q</a:t>
            </a:r>
            <a:r>
              <a:rPr lang="it-IT" baseline="-25000"/>
              <a:t>2</a:t>
            </a:r>
            <a:r>
              <a:rPr lang="it-IT"/>
              <a:t> - ogni insieme 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 con </a:t>
            </a:r>
            <a:r>
              <a:rPr lang="it-IT" b="1" i="1"/>
              <a:t>i &lt; k</a:t>
            </a:r>
            <a:r>
              <a:rPr lang="it-IT"/>
              <a:t> contiene il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e</a:t>
            </a:r>
          </a:p>
          <a:p>
            <a:r>
              <a:rPr lang="it-IT"/>
              <a:t>        tutti i suoi discendenti che stanno alla sinistra</a:t>
            </a:r>
          </a:p>
          <a:p>
            <a:r>
              <a:rPr lang="it-IT"/>
              <a:t>        del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i+1</a:t>
            </a:r>
            <a:r>
              <a:rPr lang="it-IT"/>
              <a:t> mentre </a:t>
            </a:r>
            <a:r>
              <a:rPr lang="it-IT" b="1" i="1"/>
              <a:t>S</a:t>
            </a:r>
            <a:r>
              <a:rPr lang="it-IT" b="1" i="1" baseline="-25000"/>
              <a:t>k</a:t>
            </a:r>
            <a:r>
              <a:rPr lang="it-IT"/>
              <a:t> contiene il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 </a:t>
            </a:r>
            <a:r>
              <a:rPr lang="it-IT" b="1">
                <a:sym typeface="Symbol" charset="0"/>
              </a:rPr>
              <a:t>= </a:t>
            </a:r>
            <a:r>
              <a:rPr lang="it-IT" b="1" i="1">
                <a:sym typeface="Symbol" charset="0"/>
              </a:rPr>
              <a:t>u</a:t>
            </a:r>
            <a:r>
              <a:rPr lang="it-IT"/>
              <a:t> e</a:t>
            </a:r>
          </a:p>
          <a:p>
            <a:r>
              <a:rPr lang="it-IT"/>
              <a:t>        tutti i suoi discendenti; </a:t>
            </a:r>
          </a:p>
          <a:p>
            <a:r>
              <a:rPr lang="it-IT"/>
              <a:t>Q</a:t>
            </a:r>
            <a:r>
              <a:rPr lang="it-IT" baseline="-25000"/>
              <a:t>3</a:t>
            </a:r>
            <a:r>
              <a:rPr lang="it-IT"/>
              <a:t> - il campo </a:t>
            </a:r>
            <a:r>
              <a:rPr lang="it-IT" b="1" i="1">
                <a:sym typeface="Symbol" charset="0"/>
              </a:rPr>
              <a:t>ancestor</a:t>
            </a:r>
            <a:r>
              <a:rPr lang="it-IT"/>
              <a:t> del rappresentante </a:t>
            </a:r>
            <a:r>
              <a:rPr lang="it-IT" b="1" i="1">
                <a:sym typeface="Symbol" charset="0"/>
              </a:rPr>
              <a:t>r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di 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 </a:t>
            </a:r>
          </a:p>
          <a:p>
            <a:r>
              <a:rPr lang="it-IT"/>
              <a:t>        punta al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,</a:t>
            </a:r>
          </a:p>
        </p:txBody>
      </p:sp>
      <p:sp>
        <p:nvSpPr>
          <p:cNvPr id="761859" name="Text Box 3"/>
          <p:cNvSpPr txBox="1">
            <a:spLocks noChangeArrowheads="1"/>
          </p:cNvSpPr>
          <p:nvPr/>
        </p:nvSpPr>
        <p:spPr bwMode="auto">
          <a:xfrm>
            <a:off x="533400" y="4572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ossia subito dopo </a:t>
            </a:r>
            <a:r>
              <a:rPr lang="it-IT" b="1" i="1">
                <a:sym typeface="Symbol" charset="0"/>
              </a:rPr>
              <a:t>MinComAnt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u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sono vere le seguenti cose: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Text Box 2"/>
          <p:cNvSpPr txBox="1">
            <a:spLocks noChangeArrowheads="1"/>
          </p:cNvSpPr>
          <p:nvPr/>
        </p:nvSpPr>
        <p:spPr bwMode="auto">
          <a:xfrm>
            <a:off x="228600" y="685800"/>
            <a:ext cx="8353425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Q</a:t>
            </a:r>
            <a:r>
              <a:rPr lang="it-IT" baseline="-25000"/>
              <a:t>4</a:t>
            </a:r>
            <a:r>
              <a:rPr lang="it-IT"/>
              <a:t> - sono </a:t>
            </a:r>
            <a:r>
              <a:rPr lang="it-IT" b="1" i="1">
                <a:sym typeface="Symbol" charset="0"/>
              </a:rPr>
              <a:t>black</a:t>
            </a:r>
            <a:r>
              <a:rPr lang="it-IT"/>
              <a:t> tutti e soli i nodi alla sinistra del</a:t>
            </a:r>
          </a:p>
          <a:p>
            <a:r>
              <a:rPr lang="it-IT"/>
              <a:t>        cammino 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0</a:t>
            </a:r>
            <a:r>
              <a:rPr lang="it-IT" b="1">
                <a:sym typeface="Symbol" charset="0"/>
              </a:rPr>
              <a:t>,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1</a:t>
            </a:r>
            <a:r>
              <a:rPr lang="it-IT" b="1">
                <a:sym typeface="Symbol" charset="0"/>
              </a:rPr>
              <a:t>,...,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k-1</a:t>
            </a:r>
            <a:r>
              <a:rPr lang="it-IT" b="1">
                <a:sym typeface="Symbol" charset="0"/>
              </a:rPr>
              <a:t>,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, il nodo </a:t>
            </a:r>
            <a:r>
              <a:rPr lang="it-IT" b="1" i="1">
                <a:sym typeface="Symbol" charset="0"/>
              </a:rPr>
              <a:t>x</a:t>
            </a:r>
            <a:r>
              <a:rPr lang="it-IT" b="1" i="1" baseline="-25000">
                <a:sym typeface="Symbol" charset="0"/>
              </a:rPr>
              <a:t>k </a:t>
            </a:r>
            <a:r>
              <a:rPr lang="it-IT" b="1">
                <a:sym typeface="Symbol" charset="0"/>
              </a:rPr>
              <a:t>= </a:t>
            </a:r>
            <a:r>
              <a:rPr lang="it-IT" b="1" i="1">
                <a:sym typeface="Symbol" charset="0"/>
              </a:rPr>
              <a:t>u</a:t>
            </a:r>
            <a:r>
              <a:rPr lang="it-IT"/>
              <a:t> e tutti </a:t>
            </a:r>
          </a:p>
          <a:p>
            <a:r>
              <a:rPr lang="it-IT"/>
              <a:t>        i suoi discendenti, </a:t>
            </a:r>
          </a:p>
          <a:p>
            <a:r>
              <a:rPr lang="it-IT"/>
              <a:t>Q</a:t>
            </a:r>
            <a:r>
              <a:rPr lang="it-IT" baseline="-25000"/>
              <a:t>5</a:t>
            </a:r>
            <a:r>
              <a:rPr lang="it-IT"/>
              <a:t> - </a:t>
            </a:r>
            <a:r>
              <a:rPr lang="it-IT" b="1" i="1">
                <a:sym typeface="Symbol" charset="0"/>
              </a:rPr>
              <a:t>w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è il minimo comune antenato di 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u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 b="1">
                <a:sym typeface="Symbol" charset="0"/>
              </a:rPr>
              <a:t>,</a:t>
            </a:r>
            <a:r>
              <a:rPr lang="it-IT" b="1" i="1">
                <a:sym typeface="Symbol" charset="0"/>
              </a:rPr>
              <a:t>v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 b="1">
                <a:sym typeface="Symbol" charset="0"/>
              </a:rPr>
              <a:t>)  </a:t>
            </a:r>
            <a:r>
              <a:rPr lang="it-IT" b="1" i="1">
                <a:sym typeface="Symbol" charset="0"/>
              </a:rPr>
              <a:t>L</a:t>
            </a:r>
            <a:r>
              <a:rPr lang="it-IT" b="1">
                <a:sym typeface="Symbol" charset="0"/>
              </a:rPr>
              <a:t> </a:t>
            </a:r>
          </a:p>
          <a:p>
            <a:r>
              <a:rPr lang="it-IT"/>
              <a:t>        per ogni </a:t>
            </a:r>
            <a:r>
              <a:rPr lang="it-IT" b="1" i="1">
                <a:sym typeface="Symbol" charset="0"/>
              </a:rPr>
              <a:t>i</a:t>
            </a:r>
            <a:r>
              <a:rPr lang="it-IT"/>
              <a:t> tale che </a:t>
            </a:r>
            <a:r>
              <a:rPr lang="it-IT" b="1" i="1">
                <a:sym typeface="Symbol" charset="0"/>
              </a:rPr>
              <a:t>u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e </a:t>
            </a:r>
            <a:r>
              <a:rPr lang="it-IT" b="1" i="1">
                <a:sym typeface="Symbol" charset="0"/>
              </a:rPr>
              <a:t>v</a:t>
            </a:r>
            <a:r>
              <a:rPr lang="it-IT" b="1" i="1" baseline="-25000">
                <a:sym typeface="Symbol" charset="0"/>
              </a:rPr>
              <a:t>i</a:t>
            </a:r>
            <a:r>
              <a:rPr lang="it-IT"/>
              <a:t> siano entrambi </a:t>
            </a:r>
            <a:r>
              <a:rPr lang="it-IT" b="1" i="1">
                <a:sym typeface="Symbol" charset="0"/>
              </a:rPr>
              <a:t>black</a:t>
            </a:r>
            <a:r>
              <a:rPr lang="it-IT"/>
              <a:t>. </a:t>
            </a:r>
          </a:p>
        </p:txBody>
      </p:sp>
      <p:sp>
        <p:nvSpPr>
          <p:cNvPr id="762883" name="Text Box 3"/>
          <p:cNvSpPr txBox="1">
            <a:spLocks noChangeArrowheads="1"/>
          </p:cNvSpPr>
          <p:nvPr/>
        </p:nvSpPr>
        <p:spPr bwMode="auto">
          <a:xfrm>
            <a:off x="457200" y="4495800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/>
              <a:t>Vediamo alcuni passaggi: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Freeform 2"/>
          <p:cNvSpPr>
            <a:spLocks/>
          </p:cNvSpPr>
          <p:nvPr/>
        </p:nvSpPr>
        <p:spPr bwMode="auto">
          <a:xfrm>
            <a:off x="3043238" y="2235200"/>
            <a:ext cx="1341437" cy="2903538"/>
          </a:xfrm>
          <a:custGeom>
            <a:avLst/>
            <a:gdLst>
              <a:gd name="T0" fmla="*/ 46 w 845"/>
              <a:gd name="T1" fmla="*/ 514 h 1829"/>
              <a:gd name="T2" fmla="*/ 529 w 845"/>
              <a:gd name="T3" fmla="*/ 0 h 1829"/>
              <a:gd name="T4" fmla="*/ 845 w 845"/>
              <a:gd name="T5" fmla="*/ 0 h 1829"/>
              <a:gd name="T6" fmla="*/ 845 w 845"/>
              <a:gd name="T7" fmla="*/ 346 h 1829"/>
              <a:gd name="T8" fmla="*/ 454 w 845"/>
              <a:gd name="T9" fmla="*/ 537 h 1829"/>
              <a:gd name="T10" fmla="*/ 492 w 845"/>
              <a:gd name="T11" fmla="*/ 1806 h 1829"/>
              <a:gd name="T12" fmla="*/ 0 w 845"/>
              <a:gd name="T13" fmla="*/ 1829 h 1829"/>
              <a:gd name="T14" fmla="*/ 46 w 845"/>
              <a:gd name="T15" fmla="*/ 514 h 1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5" h="1829">
                <a:moveTo>
                  <a:pt x="46" y="514"/>
                </a:moveTo>
                <a:lnTo>
                  <a:pt x="529" y="0"/>
                </a:lnTo>
                <a:lnTo>
                  <a:pt x="845" y="0"/>
                </a:lnTo>
                <a:lnTo>
                  <a:pt x="845" y="346"/>
                </a:lnTo>
                <a:lnTo>
                  <a:pt x="454" y="537"/>
                </a:lnTo>
                <a:lnTo>
                  <a:pt x="492" y="1806"/>
                </a:lnTo>
                <a:lnTo>
                  <a:pt x="0" y="1829"/>
                </a:lnTo>
                <a:lnTo>
                  <a:pt x="46" y="514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07" name="Freeform 3"/>
          <p:cNvSpPr>
            <a:spLocks/>
          </p:cNvSpPr>
          <p:nvPr/>
        </p:nvSpPr>
        <p:spPr bwMode="auto">
          <a:xfrm>
            <a:off x="4151313" y="4343400"/>
            <a:ext cx="1189037" cy="2298700"/>
          </a:xfrm>
          <a:custGeom>
            <a:avLst/>
            <a:gdLst>
              <a:gd name="T0" fmla="*/ 111 w 749"/>
              <a:gd name="T1" fmla="*/ 475 h 1448"/>
              <a:gd name="T2" fmla="*/ 342 w 749"/>
              <a:gd name="T3" fmla="*/ 0 h 1448"/>
              <a:gd name="T4" fmla="*/ 749 w 749"/>
              <a:gd name="T5" fmla="*/ 14 h 1448"/>
              <a:gd name="T6" fmla="*/ 749 w 749"/>
              <a:gd name="T7" fmla="*/ 283 h 1448"/>
              <a:gd name="T8" fmla="*/ 519 w 749"/>
              <a:gd name="T9" fmla="*/ 483 h 1448"/>
              <a:gd name="T10" fmla="*/ 616 w 749"/>
              <a:gd name="T11" fmla="*/ 1448 h 1448"/>
              <a:gd name="T12" fmla="*/ 0 w 749"/>
              <a:gd name="T13" fmla="*/ 1448 h 1448"/>
              <a:gd name="T14" fmla="*/ 111 w 749"/>
              <a:gd name="T15" fmla="*/ 475 h 1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49" h="1448">
                <a:moveTo>
                  <a:pt x="111" y="475"/>
                </a:moveTo>
                <a:lnTo>
                  <a:pt x="342" y="0"/>
                </a:lnTo>
                <a:lnTo>
                  <a:pt x="749" y="14"/>
                </a:lnTo>
                <a:lnTo>
                  <a:pt x="749" y="283"/>
                </a:lnTo>
                <a:lnTo>
                  <a:pt x="519" y="483"/>
                </a:lnTo>
                <a:lnTo>
                  <a:pt x="616" y="1448"/>
                </a:lnTo>
                <a:lnTo>
                  <a:pt x="0" y="1448"/>
                </a:lnTo>
                <a:lnTo>
                  <a:pt x="111" y="4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08" name="Freeform 4"/>
          <p:cNvSpPr>
            <a:spLocks/>
          </p:cNvSpPr>
          <p:nvPr/>
        </p:nvSpPr>
        <p:spPr bwMode="auto">
          <a:xfrm>
            <a:off x="2166938" y="1389063"/>
            <a:ext cx="2479675" cy="3516312"/>
          </a:xfrm>
          <a:custGeom>
            <a:avLst/>
            <a:gdLst>
              <a:gd name="T0" fmla="*/ 46 w 1562"/>
              <a:gd name="T1" fmla="*/ 569 h 2215"/>
              <a:gd name="T2" fmla="*/ 1246 w 1562"/>
              <a:gd name="T3" fmla="*/ 0 h 2215"/>
              <a:gd name="T4" fmla="*/ 1562 w 1562"/>
              <a:gd name="T5" fmla="*/ 0 h 2215"/>
              <a:gd name="T6" fmla="*/ 1562 w 1562"/>
              <a:gd name="T7" fmla="*/ 346 h 2215"/>
              <a:gd name="T8" fmla="*/ 485 w 1562"/>
              <a:gd name="T9" fmla="*/ 600 h 2215"/>
              <a:gd name="T10" fmla="*/ 516 w 1562"/>
              <a:gd name="T11" fmla="*/ 2215 h 2215"/>
              <a:gd name="T12" fmla="*/ 0 w 1562"/>
              <a:gd name="T13" fmla="*/ 2207 h 2215"/>
              <a:gd name="T14" fmla="*/ 46 w 1562"/>
              <a:gd name="T15" fmla="*/ 569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2" h="2215">
                <a:moveTo>
                  <a:pt x="46" y="569"/>
                </a:moveTo>
                <a:lnTo>
                  <a:pt x="1246" y="0"/>
                </a:lnTo>
                <a:lnTo>
                  <a:pt x="1562" y="0"/>
                </a:lnTo>
                <a:lnTo>
                  <a:pt x="1562" y="346"/>
                </a:lnTo>
                <a:lnTo>
                  <a:pt x="485" y="600"/>
                </a:lnTo>
                <a:lnTo>
                  <a:pt x="516" y="2215"/>
                </a:lnTo>
                <a:lnTo>
                  <a:pt x="0" y="2207"/>
                </a:lnTo>
                <a:lnTo>
                  <a:pt x="46" y="569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09" name="Freeform 5"/>
          <p:cNvSpPr>
            <a:spLocks/>
          </p:cNvSpPr>
          <p:nvPr/>
        </p:nvSpPr>
        <p:spPr bwMode="auto">
          <a:xfrm>
            <a:off x="381000" y="533400"/>
            <a:ext cx="4130675" cy="4216400"/>
          </a:xfrm>
          <a:custGeom>
            <a:avLst/>
            <a:gdLst>
              <a:gd name="T0" fmla="*/ 141 w 2602"/>
              <a:gd name="T1" fmla="*/ 577 h 2656"/>
              <a:gd name="T2" fmla="*/ 2287 w 2602"/>
              <a:gd name="T3" fmla="*/ 0 h 2656"/>
              <a:gd name="T4" fmla="*/ 2602 w 2602"/>
              <a:gd name="T5" fmla="*/ 0 h 2656"/>
              <a:gd name="T6" fmla="*/ 2594 w 2602"/>
              <a:gd name="T7" fmla="*/ 362 h 2656"/>
              <a:gd name="T8" fmla="*/ 1017 w 2602"/>
              <a:gd name="T9" fmla="*/ 600 h 2656"/>
              <a:gd name="T10" fmla="*/ 1056 w 2602"/>
              <a:gd name="T11" fmla="*/ 2656 h 2656"/>
              <a:gd name="T12" fmla="*/ 0 w 2602"/>
              <a:gd name="T13" fmla="*/ 2656 h 2656"/>
              <a:gd name="T14" fmla="*/ 141 w 2602"/>
              <a:gd name="T15" fmla="*/ 577 h 2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2" h="2656">
                <a:moveTo>
                  <a:pt x="141" y="577"/>
                </a:moveTo>
                <a:lnTo>
                  <a:pt x="2287" y="0"/>
                </a:lnTo>
                <a:lnTo>
                  <a:pt x="2602" y="0"/>
                </a:lnTo>
                <a:lnTo>
                  <a:pt x="2594" y="362"/>
                </a:lnTo>
                <a:lnTo>
                  <a:pt x="1017" y="600"/>
                </a:lnTo>
                <a:lnTo>
                  <a:pt x="1056" y="2656"/>
                </a:lnTo>
                <a:lnTo>
                  <a:pt x="0" y="2656"/>
                </a:lnTo>
                <a:lnTo>
                  <a:pt x="141" y="577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10" name="Rectangle 6"/>
          <p:cNvSpPr>
            <a:spLocks noChangeArrowheads="1"/>
          </p:cNvSpPr>
          <p:nvPr/>
        </p:nvSpPr>
        <p:spPr bwMode="auto">
          <a:xfrm>
            <a:off x="3962400" y="6350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3911" name="Rectangle 7"/>
          <p:cNvSpPr>
            <a:spLocks noChangeArrowheads="1"/>
          </p:cNvSpPr>
          <p:nvPr/>
        </p:nvSpPr>
        <p:spPr bwMode="auto">
          <a:xfrm>
            <a:off x="4114800" y="14732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3912" name="Rectangle 8"/>
          <p:cNvSpPr>
            <a:spLocks noChangeArrowheads="1"/>
          </p:cNvSpPr>
          <p:nvPr/>
        </p:nvSpPr>
        <p:spPr bwMode="auto">
          <a:xfrm>
            <a:off x="3810000" y="2311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3913" name="Rectangle 9"/>
          <p:cNvSpPr>
            <a:spLocks noChangeArrowheads="1"/>
          </p:cNvSpPr>
          <p:nvPr/>
        </p:nvSpPr>
        <p:spPr bwMode="auto">
          <a:xfrm>
            <a:off x="13716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3914" name="Rectangle 10"/>
          <p:cNvSpPr>
            <a:spLocks noChangeArrowheads="1"/>
          </p:cNvSpPr>
          <p:nvPr/>
        </p:nvSpPr>
        <p:spPr bwMode="auto">
          <a:xfrm>
            <a:off x="7620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3915" name="Rectangle 11"/>
          <p:cNvSpPr>
            <a:spLocks noChangeArrowheads="1"/>
          </p:cNvSpPr>
          <p:nvPr/>
        </p:nvSpPr>
        <p:spPr bwMode="auto">
          <a:xfrm>
            <a:off x="8077200" y="14478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3916" name="Rectangle 12"/>
          <p:cNvSpPr>
            <a:spLocks noChangeArrowheads="1"/>
          </p:cNvSpPr>
          <p:nvPr/>
        </p:nvSpPr>
        <p:spPr bwMode="auto">
          <a:xfrm>
            <a:off x="63246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3917" name="Rectangle 13"/>
          <p:cNvSpPr>
            <a:spLocks noChangeArrowheads="1"/>
          </p:cNvSpPr>
          <p:nvPr/>
        </p:nvSpPr>
        <p:spPr bwMode="auto">
          <a:xfrm>
            <a:off x="72390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3918" name="Rectangle 14"/>
          <p:cNvSpPr>
            <a:spLocks noChangeArrowheads="1"/>
          </p:cNvSpPr>
          <p:nvPr/>
        </p:nvSpPr>
        <p:spPr bwMode="auto">
          <a:xfrm>
            <a:off x="66294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3919" name="Rectangle 15"/>
          <p:cNvSpPr>
            <a:spLocks noChangeArrowheads="1"/>
          </p:cNvSpPr>
          <p:nvPr/>
        </p:nvSpPr>
        <p:spPr bwMode="auto">
          <a:xfrm>
            <a:off x="2362200" y="2311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3920" name="Rectangle 16"/>
          <p:cNvSpPr>
            <a:spLocks noChangeArrowheads="1"/>
          </p:cNvSpPr>
          <p:nvPr/>
        </p:nvSpPr>
        <p:spPr bwMode="auto">
          <a:xfrm>
            <a:off x="4419600" y="5105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3921" name="Rectangle 17"/>
          <p:cNvSpPr>
            <a:spLocks noChangeArrowheads="1"/>
          </p:cNvSpPr>
          <p:nvPr/>
        </p:nvSpPr>
        <p:spPr bwMode="auto">
          <a:xfrm>
            <a:off x="69342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3922" name="Line 18"/>
          <p:cNvSpPr>
            <a:spLocks noChangeShapeType="1"/>
          </p:cNvSpPr>
          <p:nvPr/>
        </p:nvSpPr>
        <p:spPr bwMode="auto">
          <a:xfrm flipH="1">
            <a:off x="990600" y="1016000"/>
            <a:ext cx="2971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23" name="Line 19"/>
          <p:cNvSpPr>
            <a:spLocks noChangeShapeType="1"/>
          </p:cNvSpPr>
          <p:nvPr/>
        </p:nvSpPr>
        <p:spPr bwMode="auto">
          <a:xfrm flipH="1">
            <a:off x="2590800" y="1854200"/>
            <a:ext cx="1524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24" name="Line 20"/>
          <p:cNvSpPr>
            <a:spLocks noChangeShapeType="1"/>
          </p:cNvSpPr>
          <p:nvPr/>
        </p:nvSpPr>
        <p:spPr bwMode="auto">
          <a:xfrm flipH="1">
            <a:off x="3429000" y="269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25" name="Text Box 21"/>
          <p:cNvSpPr txBox="1">
            <a:spLocks noChangeArrowheads="1"/>
          </p:cNvSpPr>
          <p:nvPr/>
        </p:nvSpPr>
        <p:spPr bwMode="auto">
          <a:xfrm>
            <a:off x="4191000" y="3073400"/>
            <a:ext cx="661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......</a:t>
            </a:r>
          </a:p>
        </p:txBody>
      </p:sp>
      <p:sp>
        <p:nvSpPr>
          <p:cNvPr id="763926" name="Line 22"/>
          <p:cNvSpPr>
            <a:spLocks noChangeShapeType="1"/>
          </p:cNvSpPr>
          <p:nvPr/>
        </p:nvSpPr>
        <p:spPr bwMode="auto">
          <a:xfrm flipH="1">
            <a:off x="4572000" y="4800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27" name="Line 23"/>
          <p:cNvSpPr>
            <a:spLocks noChangeShapeType="1"/>
          </p:cNvSpPr>
          <p:nvPr/>
        </p:nvSpPr>
        <p:spPr bwMode="auto">
          <a:xfrm>
            <a:off x="1828800" y="1676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28" name="Line 24"/>
          <p:cNvSpPr>
            <a:spLocks noChangeShapeType="1"/>
          </p:cNvSpPr>
          <p:nvPr/>
        </p:nvSpPr>
        <p:spPr bwMode="auto">
          <a:xfrm flipV="1">
            <a:off x="4572000" y="16764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29" name="Line 25"/>
          <p:cNvSpPr>
            <a:spLocks noChangeShapeType="1"/>
          </p:cNvSpPr>
          <p:nvPr/>
        </p:nvSpPr>
        <p:spPr bwMode="auto">
          <a:xfrm>
            <a:off x="1219200" y="1701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0" name="Line 26"/>
          <p:cNvSpPr>
            <a:spLocks noChangeShapeType="1"/>
          </p:cNvSpPr>
          <p:nvPr/>
        </p:nvSpPr>
        <p:spPr bwMode="auto">
          <a:xfrm>
            <a:off x="7086600" y="2514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1" name="Line 27"/>
          <p:cNvSpPr>
            <a:spLocks noChangeShapeType="1"/>
          </p:cNvSpPr>
          <p:nvPr/>
        </p:nvSpPr>
        <p:spPr bwMode="auto">
          <a:xfrm>
            <a:off x="6781800" y="533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2" name="Line 28"/>
          <p:cNvSpPr>
            <a:spLocks noChangeShapeType="1"/>
          </p:cNvSpPr>
          <p:nvPr/>
        </p:nvSpPr>
        <p:spPr bwMode="auto">
          <a:xfrm>
            <a:off x="2819400" y="2514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3" name="Line 29"/>
          <p:cNvSpPr>
            <a:spLocks noChangeShapeType="1"/>
          </p:cNvSpPr>
          <p:nvPr/>
        </p:nvSpPr>
        <p:spPr bwMode="auto">
          <a:xfrm flipV="1">
            <a:off x="42672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4" name="Line 30"/>
          <p:cNvSpPr>
            <a:spLocks noChangeShapeType="1"/>
          </p:cNvSpPr>
          <p:nvPr/>
        </p:nvSpPr>
        <p:spPr bwMode="auto">
          <a:xfrm>
            <a:off x="4876800" y="5334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5" name="Line 31"/>
          <p:cNvSpPr>
            <a:spLocks noChangeShapeType="1"/>
          </p:cNvSpPr>
          <p:nvPr/>
        </p:nvSpPr>
        <p:spPr bwMode="auto">
          <a:xfrm>
            <a:off x="5867400" y="5334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6" name="AutoShape 32"/>
          <p:cNvSpPr>
            <a:spLocks noChangeArrowheads="1"/>
          </p:cNvSpPr>
          <p:nvPr/>
        </p:nvSpPr>
        <p:spPr bwMode="auto">
          <a:xfrm flipV="1">
            <a:off x="609600" y="1930400"/>
            <a:ext cx="1371600" cy="2590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7" name="AutoShape 33"/>
          <p:cNvSpPr>
            <a:spLocks noChangeArrowheads="1"/>
          </p:cNvSpPr>
          <p:nvPr/>
        </p:nvSpPr>
        <p:spPr bwMode="auto">
          <a:xfrm flipV="1">
            <a:off x="2286000" y="2768600"/>
            <a:ext cx="609600" cy="19812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8" name="AutoShape 34"/>
          <p:cNvSpPr>
            <a:spLocks noChangeArrowheads="1"/>
          </p:cNvSpPr>
          <p:nvPr/>
        </p:nvSpPr>
        <p:spPr bwMode="auto">
          <a:xfrm flipV="1">
            <a:off x="4267200" y="5562600"/>
            <a:ext cx="7620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39" name="AutoShape 35"/>
          <p:cNvSpPr>
            <a:spLocks noChangeArrowheads="1"/>
          </p:cNvSpPr>
          <p:nvPr/>
        </p:nvSpPr>
        <p:spPr bwMode="auto">
          <a:xfrm flipV="1">
            <a:off x="5334000" y="5562600"/>
            <a:ext cx="6096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40" name="AutoShape 36"/>
          <p:cNvSpPr>
            <a:spLocks noChangeArrowheads="1"/>
          </p:cNvSpPr>
          <p:nvPr/>
        </p:nvSpPr>
        <p:spPr bwMode="auto">
          <a:xfrm flipV="1">
            <a:off x="6324600" y="5562600"/>
            <a:ext cx="1066800" cy="914400"/>
          </a:xfrm>
          <a:custGeom>
            <a:avLst/>
            <a:gdLst>
              <a:gd name="G0" fmla="+- 2129 0 0"/>
              <a:gd name="G1" fmla="+- 21600 0 2129"/>
              <a:gd name="G2" fmla="*/ 2129 1 2"/>
              <a:gd name="G3" fmla="+- 21600 0 G2"/>
              <a:gd name="G4" fmla="+/ 2129 21600 2"/>
              <a:gd name="G5" fmla="+/ G1 0 2"/>
              <a:gd name="G6" fmla="*/ 21600 21600 2129"/>
              <a:gd name="G7" fmla="*/ G6 1 2"/>
              <a:gd name="G8" fmla="+- 21600 0 G7"/>
              <a:gd name="G9" fmla="*/ 21600 1 2"/>
              <a:gd name="G10" fmla="+- 2129 0 G9"/>
              <a:gd name="G11" fmla="?: G10 G8 0"/>
              <a:gd name="G12" fmla="?: G10 G7 21600"/>
              <a:gd name="T0" fmla="*/ 20535 w 21600"/>
              <a:gd name="T1" fmla="*/ 10800 h 21600"/>
              <a:gd name="T2" fmla="*/ 10800 w 21600"/>
              <a:gd name="T3" fmla="*/ 21600 h 21600"/>
              <a:gd name="T4" fmla="*/ 1065 w 21600"/>
              <a:gd name="T5" fmla="*/ 10800 h 21600"/>
              <a:gd name="T6" fmla="*/ 10800 w 21600"/>
              <a:gd name="T7" fmla="*/ 0 h 21600"/>
              <a:gd name="T8" fmla="*/ 2865 w 21600"/>
              <a:gd name="T9" fmla="*/ 2865 h 21600"/>
              <a:gd name="T10" fmla="*/ 18735 w 21600"/>
              <a:gd name="T11" fmla="*/ 187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129" y="21600"/>
                </a:lnTo>
                <a:lnTo>
                  <a:pt x="194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41" name="AutoShape 37"/>
          <p:cNvSpPr>
            <a:spLocks noChangeArrowheads="1"/>
          </p:cNvSpPr>
          <p:nvPr/>
        </p:nvSpPr>
        <p:spPr bwMode="auto">
          <a:xfrm flipV="1">
            <a:off x="6553200" y="2743200"/>
            <a:ext cx="1295400" cy="1981200"/>
          </a:xfrm>
          <a:custGeom>
            <a:avLst/>
            <a:gdLst>
              <a:gd name="G0" fmla="+- 3459 0 0"/>
              <a:gd name="G1" fmla="+- 21600 0 3459"/>
              <a:gd name="G2" fmla="*/ 3459 1 2"/>
              <a:gd name="G3" fmla="+- 21600 0 G2"/>
              <a:gd name="G4" fmla="+/ 3459 21600 2"/>
              <a:gd name="G5" fmla="+/ G1 0 2"/>
              <a:gd name="G6" fmla="*/ 21600 21600 3459"/>
              <a:gd name="G7" fmla="*/ G6 1 2"/>
              <a:gd name="G8" fmla="+- 21600 0 G7"/>
              <a:gd name="G9" fmla="*/ 21600 1 2"/>
              <a:gd name="G10" fmla="+- 3459 0 G9"/>
              <a:gd name="G11" fmla="?: G10 G8 0"/>
              <a:gd name="G12" fmla="?: G10 G7 21600"/>
              <a:gd name="T0" fmla="*/ 19870 w 21600"/>
              <a:gd name="T1" fmla="*/ 10800 h 21600"/>
              <a:gd name="T2" fmla="*/ 10800 w 21600"/>
              <a:gd name="T3" fmla="*/ 21600 h 21600"/>
              <a:gd name="T4" fmla="*/ 1730 w 21600"/>
              <a:gd name="T5" fmla="*/ 10800 h 21600"/>
              <a:gd name="T6" fmla="*/ 10800 w 21600"/>
              <a:gd name="T7" fmla="*/ 0 h 21600"/>
              <a:gd name="T8" fmla="*/ 3530 w 21600"/>
              <a:gd name="T9" fmla="*/ 3530 h 21600"/>
              <a:gd name="T10" fmla="*/ 18070 w 21600"/>
              <a:gd name="T11" fmla="*/ 180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59" y="21600"/>
                </a:lnTo>
                <a:lnTo>
                  <a:pt x="181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42" name="AutoShape 38"/>
          <p:cNvSpPr>
            <a:spLocks noChangeArrowheads="1"/>
          </p:cNvSpPr>
          <p:nvPr/>
        </p:nvSpPr>
        <p:spPr bwMode="auto">
          <a:xfrm flipV="1">
            <a:off x="8001000" y="1905000"/>
            <a:ext cx="609600" cy="25146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43" name="Rectangle 39"/>
          <p:cNvSpPr>
            <a:spLocks noChangeArrowheads="1"/>
          </p:cNvSpPr>
          <p:nvPr/>
        </p:nvSpPr>
        <p:spPr bwMode="auto">
          <a:xfrm>
            <a:off x="914400" y="2387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3944" name="Rectangle 40"/>
          <p:cNvSpPr>
            <a:spLocks noChangeArrowheads="1"/>
          </p:cNvSpPr>
          <p:nvPr/>
        </p:nvSpPr>
        <p:spPr bwMode="auto">
          <a:xfrm>
            <a:off x="2362200" y="3530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3945" name="Rectangle 41"/>
          <p:cNvSpPr>
            <a:spLocks noChangeArrowheads="1"/>
          </p:cNvSpPr>
          <p:nvPr/>
        </p:nvSpPr>
        <p:spPr bwMode="auto">
          <a:xfrm>
            <a:off x="4343400" y="5943600"/>
            <a:ext cx="5334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3946" name="Line 42"/>
          <p:cNvSpPr>
            <a:spLocks noChangeShapeType="1"/>
          </p:cNvSpPr>
          <p:nvPr/>
        </p:nvSpPr>
        <p:spPr bwMode="auto">
          <a:xfrm flipV="1">
            <a:off x="2590800" y="1778000"/>
            <a:ext cx="1447800" cy="1752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47" name="Line 43"/>
          <p:cNvSpPr>
            <a:spLocks noChangeShapeType="1"/>
          </p:cNvSpPr>
          <p:nvPr/>
        </p:nvSpPr>
        <p:spPr bwMode="auto">
          <a:xfrm flipV="1">
            <a:off x="1143000" y="787400"/>
            <a:ext cx="2819400" cy="1600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48" name="Line 44"/>
          <p:cNvSpPr>
            <a:spLocks noChangeShapeType="1"/>
          </p:cNvSpPr>
          <p:nvPr/>
        </p:nvSpPr>
        <p:spPr bwMode="auto">
          <a:xfrm flipV="1">
            <a:off x="4648200" y="4800600"/>
            <a:ext cx="152400" cy="1143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49" name="Text Box 45"/>
          <p:cNvSpPr txBox="1">
            <a:spLocks noChangeArrowheads="1"/>
          </p:cNvSpPr>
          <p:nvPr/>
        </p:nvSpPr>
        <p:spPr bwMode="auto">
          <a:xfrm>
            <a:off x="4495800" y="3302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0</a:t>
            </a:r>
          </a:p>
        </p:txBody>
      </p:sp>
      <p:sp>
        <p:nvSpPr>
          <p:cNvPr id="763950" name="Text Box 46"/>
          <p:cNvSpPr txBox="1">
            <a:spLocks noChangeArrowheads="1"/>
          </p:cNvSpPr>
          <p:nvPr/>
        </p:nvSpPr>
        <p:spPr bwMode="auto">
          <a:xfrm>
            <a:off x="4648200" y="11684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1</a:t>
            </a:r>
          </a:p>
        </p:txBody>
      </p:sp>
      <p:sp>
        <p:nvSpPr>
          <p:cNvPr id="763951" name="Text Box 47"/>
          <p:cNvSpPr txBox="1">
            <a:spLocks noChangeArrowheads="1"/>
          </p:cNvSpPr>
          <p:nvPr/>
        </p:nvSpPr>
        <p:spPr bwMode="auto">
          <a:xfrm>
            <a:off x="4419600" y="20066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2</a:t>
            </a:r>
          </a:p>
        </p:txBody>
      </p:sp>
      <p:sp>
        <p:nvSpPr>
          <p:cNvPr id="763952" name="Text Box 48"/>
          <p:cNvSpPr txBox="1">
            <a:spLocks noChangeArrowheads="1"/>
          </p:cNvSpPr>
          <p:nvPr/>
        </p:nvSpPr>
        <p:spPr bwMode="auto">
          <a:xfrm>
            <a:off x="5334000" y="4114800"/>
            <a:ext cx="70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k-1</a:t>
            </a:r>
          </a:p>
        </p:txBody>
      </p:sp>
      <p:sp>
        <p:nvSpPr>
          <p:cNvPr id="763953" name="Line 49"/>
          <p:cNvSpPr>
            <a:spLocks noChangeShapeType="1"/>
          </p:cNvSpPr>
          <p:nvPr/>
        </p:nvSpPr>
        <p:spPr bwMode="auto">
          <a:xfrm>
            <a:off x="4191000" y="10160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54" name="Line 50"/>
          <p:cNvSpPr>
            <a:spLocks noChangeShapeType="1"/>
          </p:cNvSpPr>
          <p:nvPr/>
        </p:nvSpPr>
        <p:spPr bwMode="auto">
          <a:xfrm flipH="1">
            <a:off x="4038600" y="1854200"/>
            <a:ext cx="3048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55" name="Line 51"/>
          <p:cNvSpPr>
            <a:spLocks noChangeShapeType="1"/>
          </p:cNvSpPr>
          <p:nvPr/>
        </p:nvSpPr>
        <p:spPr bwMode="auto">
          <a:xfrm>
            <a:off x="4114800" y="26924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56" name="Line 52"/>
          <p:cNvSpPr>
            <a:spLocks noChangeShapeType="1"/>
          </p:cNvSpPr>
          <p:nvPr/>
        </p:nvSpPr>
        <p:spPr bwMode="auto">
          <a:xfrm>
            <a:off x="5029200" y="4800600"/>
            <a:ext cx="609600" cy="3048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57" name="Rectangle 53"/>
          <p:cNvSpPr>
            <a:spLocks noChangeArrowheads="1"/>
          </p:cNvSpPr>
          <p:nvPr/>
        </p:nvSpPr>
        <p:spPr bwMode="auto">
          <a:xfrm>
            <a:off x="4648200" y="4419600"/>
            <a:ext cx="6096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3958" name="Line 54"/>
          <p:cNvSpPr>
            <a:spLocks noChangeShapeType="1"/>
          </p:cNvSpPr>
          <p:nvPr/>
        </p:nvSpPr>
        <p:spPr bwMode="auto">
          <a:xfrm>
            <a:off x="4953000" y="3962400"/>
            <a:ext cx="762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59" name="AutoShape 55"/>
          <p:cNvSpPr>
            <a:spLocks noChangeArrowheads="1"/>
          </p:cNvSpPr>
          <p:nvPr/>
        </p:nvSpPr>
        <p:spPr bwMode="auto">
          <a:xfrm flipV="1">
            <a:off x="3124200" y="3505200"/>
            <a:ext cx="609600" cy="1447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60" name="Rectangle 56"/>
          <p:cNvSpPr>
            <a:spLocks noChangeArrowheads="1"/>
          </p:cNvSpPr>
          <p:nvPr/>
        </p:nvSpPr>
        <p:spPr bwMode="auto">
          <a:xfrm>
            <a:off x="3200400" y="3048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3961" name="Line 57"/>
          <p:cNvSpPr>
            <a:spLocks noChangeShapeType="1"/>
          </p:cNvSpPr>
          <p:nvPr/>
        </p:nvSpPr>
        <p:spPr bwMode="auto">
          <a:xfrm>
            <a:off x="3657600" y="3302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62" name="Line 58"/>
          <p:cNvSpPr>
            <a:spLocks noChangeShapeType="1"/>
          </p:cNvSpPr>
          <p:nvPr/>
        </p:nvSpPr>
        <p:spPr bwMode="auto">
          <a:xfrm>
            <a:off x="43434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63" name="Line 59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64" name="Line 60"/>
          <p:cNvSpPr>
            <a:spLocks noChangeShapeType="1"/>
          </p:cNvSpPr>
          <p:nvPr/>
        </p:nvSpPr>
        <p:spPr bwMode="auto">
          <a:xfrm flipV="1">
            <a:off x="3352800" y="2667000"/>
            <a:ext cx="533400" cy="1524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3965" name="Rectangle 61"/>
          <p:cNvSpPr>
            <a:spLocks noChangeArrowheads="1"/>
          </p:cNvSpPr>
          <p:nvPr/>
        </p:nvSpPr>
        <p:spPr bwMode="auto">
          <a:xfrm>
            <a:off x="3200400" y="4191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3966" name="Text Box 62"/>
          <p:cNvSpPr txBox="1">
            <a:spLocks noChangeArrowheads="1"/>
          </p:cNvSpPr>
          <p:nvPr/>
        </p:nvSpPr>
        <p:spPr bwMode="auto">
          <a:xfrm>
            <a:off x="5638800" y="609600"/>
            <a:ext cx="308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r</a:t>
            </a:r>
            <a:r>
              <a:rPr lang="it-IT" sz="2800" b="1" i="1" baseline="-25000"/>
              <a:t>i</a:t>
            </a:r>
            <a:r>
              <a:rPr lang="it-IT" sz="2800" b="1" i="1"/>
              <a:t> </a:t>
            </a:r>
            <a:r>
              <a:rPr lang="it-IT" sz="2800" b="1"/>
              <a:t>= rappresentante</a:t>
            </a:r>
          </a:p>
        </p:txBody>
      </p:sp>
      <p:sp>
        <p:nvSpPr>
          <p:cNvPr id="763967" name="Text Box 63"/>
          <p:cNvSpPr txBox="1">
            <a:spLocks noChangeArrowheads="1"/>
          </p:cNvSpPr>
          <p:nvPr/>
        </p:nvSpPr>
        <p:spPr bwMode="auto">
          <a:xfrm>
            <a:off x="381000" y="5638800"/>
            <a:ext cx="2292350" cy="482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i="1">
                <a:sym typeface="Symbol" charset="0"/>
              </a:rPr>
              <a:t>MinComAnt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u</a:t>
            </a:r>
            <a:r>
              <a:rPr lang="it-IT" sz="2400" b="1">
                <a:sym typeface="Symbol" charset="0"/>
              </a:rPr>
              <a:t>)</a:t>
            </a:r>
          </a:p>
        </p:txBody>
      </p:sp>
      <p:sp>
        <p:nvSpPr>
          <p:cNvPr id="763968" name="Text Box 64"/>
          <p:cNvSpPr txBox="1">
            <a:spLocks noChangeArrowheads="1"/>
          </p:cNvSpPr>
          <p:nvPr/>
        </p:nvSpPr>
        <p:spPr bwMode="auto">
          <a:xfrm>
            <a:off x="5627688" y="152400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x</a:t>
            </a:r>
            <a:r>
              <a:rPr lang="it-IT" sz="2800" b="1" i="1" baseline="-25000"/>
              <a:t>0</a:t>
            </a:r>
            <a:r>
              <a:rPr lang="it-IT" sz="2800" b="1"/>
              <a:t> = </a:t>
            </a:r>
            <a:r>
              <a:rPr lang="it-IT" sz="2800" b="1" i="1"/>
              <a:t>root</a:t>
            </a:r>
            <a:r>
              <a:rPr lang="it-IT" sz="2800" b="1"/>
              <a:t>,  </a:t>
            </a: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r>
              <a:rPr lang="it-IT" sz="2800" b="1"/>
              <a:t> = </a:t>
            </a:r>
            <a:r>
              <a:rPr lang="it-IT" sz="2800" b="1" i="1"/>
              <a:t>u</a:t>
            </a:r>
          </a:p>
        </p:txBody>
      </p:sp>
      <p:sp>
        <p:nvSpPr>
          <p:cNvPr id="763969" name="Rectangle 65"/>
          <p:cNvSpPr>
            <a:spLocks noChangeArrowheads="1"/>
          </p:cNvSpPr>
          <p:nvPr/>
        </p:nvSpPr>
        <p:spPr bwMode="auto">
          <a:xfrm>
            <a:off x="5416550" y="5105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/>
          <p:cNvSpPr>
            <a:spLocks noChangeArrowheads="1"/>
          </p:cNvSpPr>
          <p:nvPr/>
        </p:nvSpPr>
        <p:spPr bwMode="auto">
          <a:xfrm>
            <a:off x="5334000" y="5029200"/>
            <a:ext cx="609600" cy="533400"/>
          </a:xfrm>
          <a:prstGeom prst="rect">
            <a:avLst/>
          </a:prstGeom>
          <a:solidFill>
            <a:srgbClr val="FF0000">
              <a:alpha val="50000"/>
            </a:srgb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31" name="Freeform 3"/>
          <p:cNvSpPr>
            <a:spLocks/>
          </p:cNvSpPr>
          <p:nvPr/>
        </p:nvSpPr>
        <p:spPr bwMode="auto">
          <a:xfrm>
            <a:off x="3043238" y="2235200"/>
            <a:ext cx="1341437" cy="2903538"/>
          </a:xfrm>
          <a:custGeom>
            <a:avLst/>
            <a:gdLst>
              <a:gd name="T0" fmla="*/ 46 w 845"/>
              <a:gd name="T1" fmla="*/ 514 h 1829"/>
              <a:gd name="T2" fmla="*/ 529 w 845"/>
              <a:gd name="T3" fmla="*/ 0 h 1829"/>
              <a:gd name="T4" fmla="*/ 845 w 845"/>
              <a:gd name="T5" fmla="*/ 0 h 1829"/>
              <a:gd name="T6" fmla="*/ 845 w 845"/>
              <a:gd name="T7" fmla="*/ 346 h 1829"/>
              <a:gd name="T8" fmla="*/ 454 w 845"/>
              <a:gd name="T9" fmla="*/ 537 h 1829"/>
              <a:gd name="T10" fmla="*/ 492 w 845"/>
              <a:gd name="T11" fmla="*/ 1806 h 1829"/>
              <a:gd name="T12" fmla="*/ 0 w 845"/>
              <a:gd name="T13" fmla="*/ 1829 h 1829"/>
              <a:gd name="T14" fmla="*/ 46 w 845"/>
              <a:gd name="T15" fmla="*/ 514 h 1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5" h="1829">
                <a:moveTo>
                  <a:pt x="46" y="514"/>
                </a:moveTo>
                <a:lnTo>
                  <a:pt x="529" y="0"/>
                </a:lnTo>
                <a:lnTo>
                  <a:pt x="845" y="0"/>
                </a:lnTo>
                <a:lnTo>
                  <a:pt x="845" y="346"/>
                </a:lnTo>
                <a:lnTo>
                  <a:pt x="454" y="537"/>
                </a:lnTo>
                <a:lnTo>
                  <a:pt x="492" y="1806"/>
                </a:lnTo>
                <a:lnTo>
                  <a:pt x="0" y="1829"/>
                </a:lnTo>
                <a:lnTo>
                  <a:pt x="46" y="514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32" name="Freeform 4"/>
          <p:cNvSpPr>
            <a:spLocks/>
          </p:cNvSpPr>
          <p:nvPr/>
        </p:nvSpPr>
        <p:spPr bwMode="auto">
          <a:xfrm>
            <a:off x="4164013" y="4343400"/>
            <a:ext cx="1176337" cy="2274888"/>
          </a:xfrm>
          <a:custGeom>
            <a:avLst/>
            <a:gdLst>
              <a:gd name="T0" fmla="*/ 103 w 741"/>
              <a:gd name="T1" fmla="*/ 476 h 1433"/>
              <a:gd name="T2" fmla="*/ 334 w 741"/>
              <a:gd name="T3" fmla="*/ 0 h 1433"/>
              <a:gd name="T4" fmla="*/ 741 w 741"/>
              <a:gd name="T5" fmla="*/ 14 h 1433"/>
              <a:gd name="T6" fmla="*/ 741 w 741"/>
              <a:gd name="T7" fmla="*/ 283 h 1433"/>
              <a:gd name="T8" fmla="*/ 511 w 741"/>
              <a:gd name="T9" fmla="*/ 484 h 1433"/>
              <a:gd name="T10" fmla="*/ 608 w 741"/>
              <a:gd name="T11" fmla="*/ 1425 h 1433"/>
              <a:gd name="T12" fmla="*/ 0 w 741"/>
              <a:gd name="T13" fmla="*/ 1433 h 1433"/>
              <a:gd name="T14" fmla="*/ 103 w 741"/>
              <a:gd name="T15" fmla="*/ 476 h 1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41" h="1433">
                <a:moveTo>
                  <a:pt x="103" y="476"/>
                </a:moveTo>
                <a:lnTo>
                  <a:pt x="334" y="0"/>
                </a:lnTo>
                <a:lnTo>
                  <a:pt x="741" y="14"/>
                </a:lnTo>
                <a:lnTo>
                  <a:pt x="741" y="283"/>
                </a:lnTo>
                <a:lnTo>
                  <a:pt x="511" y="484"/>
                </a:lnTo>
                <a:lnTo>
                  <a:pt x="608" y="1425"/>
                </a:lnTo>
                <a:lnTo>
                  <a:pt x="0" y="1433"/>
                </a:lnTo>
                <a:lnTo>
                  <a:pt x="103" y="476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33" name="Freeform 5"/>
          <p:cNvSpPr>
            <a:spLocks/>
          </p:cNvSpPr>
          <p:nvPr/>
        </p:nvSpPr>
        <p:spPr bwMode="auto">
          <a:xfrm>
            <a:off x="2166938" y="1389063"/>
            <a:ext cx="2479675" cy="3516312"/>
          </a:xfrm>
          <a:custGeom>
            <a:avLst/>
            <a:gdLst>
              <a:gd name="T0" fmla="*/ 46 w 1562"/>
              <a:gd name="T1" fmla="*/ 569 h 2215"/>
              <a:gd name="T2" fmla="*/ 1246 w 1562"/>
              <a:gd name="T3" fmla="*/ 0 h 2215"/>
              <a:gd name="T4" fmla="*/ 1562 w 1562"/>
              <a:gd name="T5" fmla="*/ 0 h 2215"/>
              <a:gd name="T6" fmla="*/ 1562 w 1562"/>
              <a:gd name="T7" fmla="*/ 346 h 2215"/>
              <a:gd name="T8" fmla="*/ 485 w 1562"/>
              <a:gd name="T9" fmla="*/ 600 h 2215"/>
              <a:gd name="T10" fmla="*/ 516 w 1562"/>
              <a:gd name="T11" fmla="*/ 2215 h 2215"/>
              <a:gd name="T12" fmla="*/ 0 w 1562"/>
              <a:gd name="T13" fmla="*/ 2207 h 2215"/>
              <a:gd name="T14" fmla="*/ 46 w 1562"/>
              <a:gd name="T15" fmla="*/ 569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2" h="2215">
                <a:moveTo>
                  <a:pt x="46" y="569"/>
                </a:moveTo>
                <a:lnTo>
                  <a:pt x="1246" y="0"/>
                </a:lnTo>
                <a:lnTo>
                  <a:pt x="1562" y="0"/>
                </a:lnTo>
                <a:lnTo>
                  <a:pt x="1562" y="346"/>
                </a:lnTo>
                <a:lnTo>
                  <a:pt x="485" y="600"/>
                </a:lnTo>
                <a:lnTo>
                  <a:pt x="516" y="2215"/>
                </a:lnTo>
                <a:lnTo>
                  <a:pt x="0" y="2207"/>
                </a:lnTo>
                <a:lnTo>
                  <a:pt x="46" y="569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34" name="Freeform 6"/>
          <p:cNvSpPr>
            <a:spLocks/>
          </p:cNvSpPr>
          <p:nvPr/>
        </p:nvSpPr>
        <p:spPr bwMode="auto">
          <a:xfrm>
            <a:off x="381000" y="533400"/>
            <a:ext cx="4130675" cy="4216400"/>
          </a:xfrm>
          <a:custGeom>
            <a:avLst/>
            <a:gdLst>
              <a:gd name="T0" fmla="*/ 141 w 2602"/>
              <a:gd name="T1" fmla="*/ 577 h 2656"/>
              <a:gd name="T2" fmla="*/ 2287 w 2602"/>
              <a:gd name="T3" fmla="*/ 0 h 2656"/>
              <a:gd name="T4" fmla="*/ 2602 w 2602"/>
              <a:gd name="T5" fmla="*/ 0 h 2656"/>
              <a:gd name="T6" fmla="*/ 2594 w 2602"/>
              <a:gd name="T7" fmla="*/ 362 h 2656"/>
              <a:gd name="T8" fmla="*/ 1017 w 2602"/>
              <a:gd name="T9" fmla="*/ 600 h 2656"/>
              <a:gd name="T10" fmla="*/ 1056 w 2602"/>
              <a:gd name="T11" fmla="*/ 2656 h 2656"/>
              <a:gd name="T12" fmla="*/ 0 w 2602"/>
              <a:gd name="T13" fmla="*/ 2656 h 2656"/>
              <a:gd name="T14" fmla="*/ 141 w 2602"/>
              <a:gd name="T15" fmla="*/ 577 h 2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2" h="2656">
                <a:moveTo>
                  <a:pt x="141" y="577"/>
                </a:moveTo>
                <a:lnTo>
                  <a:pt x="2287" y="0"/>
                </a:lnTo>
                <a:lnTo>
                  <a:pt x="2602" y="0"/>
                </a:lnTo>
                <a:lnTo>
                  <a:pt x="2594" y="362"/>
                </a:lnTo>
                <a:lnTo>
                  <a:pt x="1017" y="600"/>
                </a:lnTo>
                <a:lnTo>
                  <a:pt x="1056" y="2656"/>
                </a:lnTo>
                <a:lnTo>
                  <a:pt x="0" y="2656"/>
                </a:lnTo>
                <a:lnTo>
                  <a:pt x="141" y="577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35" name="Rectangle 7"/>
          <p:cNvSpPr>
            <a:spLocks noChangeArrowheads="1"/>
          </p:cNvSpPr>
          <p:nvPr/>
        </p:nvSpPr>
        <p:spPr bwMode="auto">
          <a:xfrm>
            <a:off x="3962400" y="6350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4936" name="Rectangle 8"/>
          <p:cNvSpPr>
            <a:spLocks noChangeArrowheads="1"/>
          </p:cNvSpPr>
          <p:nvPr/>
        </p:nvSpPr>
        <p:spPr bwMode="auto">
          <a:xfrm>
            <a:off x="4114800" y="14732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4937" name="Rectangle 9"/>
          <p:cNvSpPr>
            <a:spLocks noChangeArrowheads="1"/>
          </p:cNvSpPr>
          <p:nvPr/>
        </p:nvSpPr>
        <p:spPr bwMode="auto">
          <a:xfrm>
            <a:off x="3810000" y="2311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4938" name="Rectangle 10"/>
          <p:cNvSpPr>
            <a:spLocks noChangeArrowheads="1"/>
          </p:cNvSpPr>
          <p:nvPr/>
        </p:nvSpPr>
        <p:spPr bwMode="auto">
          <a:xfrm>
            <a:off x="13716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4939" name="Rectangle 11"/>
          <p:cNvSpPr>
            <a:spLocks noChangeArrowheads="1"/>
          </p:cNvSpPr>
          <p:nvPr/>
        </p:nvSpPr>
        <p:spPr bwMode="auto">
          <a:xfrm>
            <a:off x="7620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4940" name="Rectangle 12"/>
          <p:cNvSpPr>
            <a:spLocks noChangeArrowheads="1"/>
          </p:cNvSpPr>
          <p:nvPr/>
        </p:nvSpPr>
        <p:spPr bwMode="auto">
          <a:xfrm>
            <a:off x="8077200" y="14478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4941" name="Rectangle 13"/>
          <p:cNvSpPr>
            <a:spLocks noChangeArrowheads="1"/>
          </p:cNvSpPr>
          <p:nvPr/>
        </p:nvSpPr>
        <p:spPr bwMode="auto">
          <a:xfrm>
            <a:off x="63246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4942" name="Rectangle 14"/>
          <p:cNvSpPr>
            <a:spLocks noChangeArrowheads="1"/>
          </p:cNvSpPr>
          <p:nvPr/>
        </p:nvSpPr>
        <p:spPr bwMode="auto">
          <a:xfrm>
            <a:off x="72390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4943" name="Rectangle 15"/>
          <p:cNvSpPr>
            <a:spLocks noChangeArrowheads="1"/>
          </p:cNvSpPr>
          <p:nvPr/>
        </p:nvSpPr>
        <p:spPr bwMode="auto">
          <a:xfrm>
            <a:off x="66294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4944" name="Rectangle 16"/>
          <p:cNvSpPr>
            <a:spLocks noChangeArrowheads="1"/>
          </p:cNvSpPr>
          <p:nvPr/>
        </p:nvSpPr>
        <p:spPr bwMode="auto">
          <a:xfrm>
            <a:off x="2362200" y="2311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4945" name="Rectangle 17"/>
          <p:cNvSpPr>
            <a:spLocks noChangeArrowheads="1"/>
          </p:cNvSpPr>
          <p:nvPr/>
        </p:nvSpPr>
        <p:spPr bwMode="auto">
          <a:xfrm>
            <a:off x="4419600" y="5105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4946" name="Rectangle 18"/>
          <p:cNvSpPr>
            <a:spLocks noChangeArrowheads="1"/>
          </p:cNvSpPr>
          <p:nvPr/>
        </p:nvSpPr>
        <p:spPr bwMode="auto">
          <a:xfrm>
            <a:off x="69342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4947" name="Line 19"/>
          <p:cNvSpPr>
            <a:spLocks noChangeShapeType="1"/>
          </p:cNvSpPr>
          <p:nvPr/>
        </p:nvSpPr>
        <p:spPr bwMode="auto">
          <a:xfrm flipH="1">
            <a:off x="990600" y="1016000"/>
            <a:ext cx="2971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48" name="Line 20"/>
          <p:cNvSpPr>
            <a:spLocks noChangeShapeType="1"/>
          </p:cNvSpPr>
          <p:nvPr/>
        </p:nvSpPr>
        <p:spPr bwMode="auto">
          <a:xfrm flipH="1">
            <a:off x="2590800" y="1854200"/>
            <a:ext cx="1524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49" name="Line 21"/>
          <p:cNvSpPr>
            <a:spLocks noChangeShapeType="1"/>
          </p:cNvSpPr>
          <p:nvPr/>
        </p:nvSpPr>
        <p:spPr bwMode="auto">
          <a:xfrm flipH="1">
            <a:off x="3429000" y="269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0" name="Text Box 22"/>
          <p:cNvSpPr txBox="1">
            <a:spLocks noChangeArrowheads="1"/>
          </p:cNvSpPr>
          <p:nvPr/>
        </p:nvSpPr>
        <p:spPr bwMode="auto">
          <a:xfrm>
            <a:off x="4191000" y="3073400"/>
            <a:ext cx="661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......</a:t>
            </a:r>
          </a:p>
        </p:txBody>
      </p:sp>
      <p:sp>
        <p:nvSpPr>
          <p:cNvPr id="764951" name="Line 23"/>
          <p:cNvSpPr>
            <a:spLocks noChangeShapeType="1"/>
          </p:cNvSpPr>
          <p:nvPr/>
        </p:nvSpPr>
        <p:spPr bwMode="auto">
          <a:xfrm flipH="1">
            <a:off x="4572000" y="4800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2" name="Line 24"/>
          <p:cNvSpPr>
            <a:spLocks noChangeShapeType="1"/>
          </p:cNvSpPr>
          <p:nvPr/>
        </p:nvSpPr>
        <p:spPr bwMode="auto">
          <a:xfrm>
            <a:off x="1828800" y="1676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3" name="Line 25"/>
          <p:cNvSpPr>
            <a:spLocks noChangeShapeType="1"/>
          </p:cNvSpPr>
          <p:nvPr/>
        </p:nvSpPr>
        <p:spPr bwMode="auto">
          <a:xfrm flipV="1">
            <a:off x="4572000" y="16764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4" name="Line 26"/>
          <p:cNvSpPr>
            <a:spLocks noChangeShapeType="1"/>
          </p:cNvSpPr>
          <p:nvPr/>
        </p:nvSpPr>
        <p:spPr bwMode="auto">
          <a:xfrm>
            <a:off x="1219200" y="1701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5" name="Line 27"/>
          <p:cNvSpPr>
            <a:spLocks noChangeShapeType="1"/>
          </p:cNvSpPr>
          <p:nvPr/>
        </p:nvSpPr>
        <p:spPr bwMode="auto">
          <a:xfrm>
            <a:off x="7086600" y="2514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6" name="Line 28"/>
          <p:cNvSpPr>
            <a:spLocks noChangeShapeType="1"/>
          </p:cNvSpPr>
          <p:nvPr/>
        </p:nvSpPr>
        <p:spPr bwMode="auto">
          <a:xfrm>
            <a:off x="6781800" y="533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7" name="Line 29"/>
          <p:cNvSpPr>
            <a:spLocks noChangeShapeType="1"/>
          </p:cNvSpPr>
          <p:nvPr/>
        </p:nvSpPr>
        <p:spPr bwMode="auto">
          <a:xfrm>
            <a:off x="2819400" y="2514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8" name="Line 30"/>
          <p:cNvSpPr>
            <a:spLocks noChangeShapeType="1"/>
          </p:cNvSpPr>
          <p:nvPr/>
        </p:nvSpPr>
        <p:spPr bwMode="auto">
          <a:xfrm flipV="1">
            <a:off x="42672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59" name="Line 31"/>
          <p:cNvSpPr>
            <a:spLocks noChangeShapeType="1"/>
          </p:cNvSpPr>
          <p:nvPr/>
        </p:nvSpPr>
        <p:spPr bwMode="auto">
          <a:xfrm>
            <a:off x="4876800" y="5334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0" name="Line 32"/>
          <p:cNvSpPr>
            <a:spLocks noChangeShapeType="1"/>
          </p:cNvSpPr>
          <p:nvPr/>
        </p:nvSpPr>
        <p:spPr bwMode="auto">
          <a:xfrm>
            <a:off x="5867400" y="5334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1" name="AutoShape 33"/>
          <p:cNvSpPr>
            <a:spLocks noChangeArrowheads="1"/>
          </p:cNvSpPr>
          <p:nvPr/>
        </p:nvSpPr>
        <p:spPr bwMode="auto">
          <a:xfrm flipV="1">
            <a:off x="609600" y="1930400"/>
            <a:ext cx="1371600" cy="2590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2" name="AutoShape 34"/>
          <p:cNvSpPr>
            <a:spLocks noChangeArrowheads="1"/>
          </p:cNvSpPr>
          <p:nvPr/>
        </p:nvSpPr>
        <p:spPr bwMode="auto">
          <a:xfrm flipV="1">
            <a:off x="2286000" y="2768600"/>
            <a:ext cx="609600" cy="19812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3" name="AutoShape 35"/>
          <p:cNvSpPr>
            <a:spLocks noChangeArrowheads="1"/>
          </p:cNvSpPr>
          <p:nvPr/>
        </p:nvSpPr>
        <p:spPr bwMode="auto">
          <a:xfrm flipV="1">
            <a:off x="4267200" y="5562600"/>
            <a:ext cx="7620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4" name="AutoShape 36"/>
          <p:cNvSpPr>
            <a:spLocks noChangeArrowheads="1"/>
          </p:cNvSpPr>
          <p:nvPr/>
        </p:nvSpPr>
        <p:spPr bwMode="auto">
          <a:xfrm flipV="1">
            <a:off x="5334000" y="5562600"/>
            <a:ext cx="6096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5" name="AutoShape 37"/>
          <p:cNvSpPr>
            <a:spLocks noChangeArrowheads="1"/>
          </p:cNvSpPr>
          <p:nvPr/>
        </p:nvSpPr>
        <p:spPr bwMode="auto">
          <a:xfrm flipV="1">
            <a:off x="6324600" y="5562600"/>
            <a:ext cx="1066800" cy="914400"/>
          </a:xfrm>
          <a:custGeom>
            <a:avLst/>
            <a:gdLst>
              <a:gd name="G0" fmla="+- 2129 0 0"/>
              <a:gd name="G1" fmla="+- 21600 0 2129"/>
              <a:gd name="G2" fmla="*/ 2129 1 2"/>
              <a:gd name="G3" fmla="+- 21600 0 G2"/>
              <a:gd name="G4" fmla="+/ 2129 21600 2"/>
              <a:gd name="G5" fmla="+/ G1 0 2"/>
              <a:gd name="G6" fmla="*/ 21600 21600 2129"/>
              <a:gd name="G7" fmla="*/ G6 1 2"/>
              <a:gd name="G8" fmla="+- 21600 0 G7"/>
              <a:gd name="G9" fmla="*/ 21600 1 2"/>
              <a:gd name="G10" fmla="+- 2129 0 G9"/>
              <a:gd name="G11" fmla="?: G10 G8 0"/>
              <a:gd name="G12" fmla="?: G10 G7 21600"/>
              <a:gd name="T0" fmla="*/ 20535 w 21600"/>
              <a:gd name="T1" fmla="*/ 10800 h 21600"/>
              <a:gd name="T2" fmla="*/ 10800 w 21600"/>
              <a:gd name="T3" fmla="*/ 21600 h 21600"/>
              <a:gd name="T4" fmla="*/ 1065 w 21600"/>
              <a:gd name="T5" fmla="*/ 10800 h 21600"/>
              <a:gd name="T6" fmla="*/ 10800 w 21600"/>
              <a:gd name="T7" fmla="*/ 0 h 21600"/>
              <a:gd name="T8" fmla="*/ 2865 w 21600"/>
              <a:gd name="T9" fmla="*/ 2865 h 21600"/>
              <a:gd name="T10" fmla="*/ 18735 w 21600"/>
              <a:gd name="T11" fmla="*/ 187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129" y="21600"/>
                </a:lnTo>
                <a:lnTo>
                  <a:pt x="194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6" name="AutoShape 38"/>
          <p:cNvSpPr>
            <a:spLocks noChangeArrowheads="1"/>
          </p:cNvSpPr>
          <p:nvPr/>
        </p:nvSpPr>
        <p:spPr bwMode="auto">
          <a:xfrm flipV="1">
            <a:off x="6553200" y="2743200"/>
            <a:ext cx="1295400" cy="1981200"/>
          </a:xfrm>
          <a:custGeom>
            <a:avLst/>
            <a:gdLst>
              <a:gd name="G0" fmla="+- 3459 0 0"/>
              <a:gd name="G1" fmla="+- 21600 0 3459"/>
              <a:gd name="G2" fmla="*/ 3459 1 2"/>
              <a:gd name="G3" fmla="+- 21600 0 G2"/>
              <a:gd name="G4" fmla="+/ 3459 21600 2"/>
              <a:gd name="G5" fmla="+/ G1 0 2"/>
              <a:gd name="G6" fmla="*/ 21600 21600 3459"/>
              <a:gd name="G7" fmla="*/ G6 1 2"/>
              <a:gd name="G8" fmla="+- 21600 0 G7"/>
              <a:gd name="G9" fmla="*/ 21600 1 2"/>
              <a:gd name="G10" fmla="+- 3459 0 G9"/>
              <a:gd name="G11" fmla="?: G10 G8 0"/>
              <a:gd name="G12" fmla="?: G10 G7 21600"/>
              <a:gd name="T0" fmla="*/ 19870 w 21600"/>
              <a:gd name="T1" fmla="*/ 10800 h 21600"/>
              <a:gd name="T2" fmla="*/ 10800 w 21600"/>
              <a:gd name="T3" fmla="*/ 21600 h 21600"/>
              <a:gd name="T4" fmla="*/ 1730 w 21600"/>
              <a:gd name="T5" fmla="*/ 10800 h 21600"/>
              <a:gd name="T6" fmla="*/ 10800 w 21600"/>
              <a:gd name="T7" fmla="*/ 0 h 21600"/>
              <a:gd name="T8" fmla="*/ 3530 w 21600"/>
              <a:gd name="T9" fmla="*/ 3530 h 21600"/>
              <a:gd name="T10" fmla="*/ 18070 w 21600"/>
              <a:gd name="T11" fmla="*/ 180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59" y="21600"/>
                </a:lnTo>
                <a:lnTo>
                  <a:pt x="181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7" name="AutoShape 39"/>
          <p:cNvSpPr>
            <a:spLocks noChangeArrowheads="1"/>
          </p:cNvSpPr>
          <p:nvPr/>
        </p:nvSpPr>
        <p:spPr bwMode="auto">
          <a:xfrm flipV="1">
            <a:off x="8001000" y="1905000"/>
            <a:ext cx="609600" cy="25146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68" name="Rectangle 40"/>
          <p:cNvSpPr>
            <a:spLocks noChangeArrowheads="1"/>
          </p:cNvSpPr>
          <p:nvPr/>
        </p:nvSpPr>
        <p:spPr bwMode="auto">
          <a:xfrm>
            <a:off x="914400" y="2387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4969" name="Rectangle 41"/>
          <p:cNvSpPr>
            <a:spLocks noChangeArrowheads="1"/>
          </p:cNvSpPr>
          <p:nvPr/>
        </p:nvSpPr>
        <p:spPr bwMode="auto">
          <a:xfrm>
            <a:off x="2362200" y="3530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4970" name="Rectangle 42"/>
          <p:cNvSpPr>
            <a:spLocks noChangeArrowheads="1"/>
          </p:cNvSpPr>
          <p:nvPr/>
        </p:nvSpPr>
        <p:spPr bwMode="auto">
          <a:xfrm>
            <a:off x="4343400" y="5943600"/>
            <a:ext cx="5334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4971" name="Line 43"/>
          <p:cNvSpPr>
            <a:spLocks noChangeShapeType="1"/>
          </p:cNvSpPr>
          <p:nvPr/>
        </p:nvSpPr>
        <p:spPr bwMode="auto">
          <a:xfrm flipV="1">
            <a:off x="2590800" y="1778000"/>
            <a:ext cx="1447800" cy="1752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72" name="Line 44"/>
          <p:cNvSpPr>
            <a:spLocks noChangeShapeType="1"/>
          </p:cNvSpPr>
          <p:nvPr/>
        </p:nvSpPr>
        <p:spPr bwMode="auto">
          <a:xfrm flipV="1">
            <a:off x="1143000" y="787400"/>
            <a:ext cx="2819400" cy="1600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73" name="Line 45"/>
          <p:cNvSpPr>
            <a:spLocks noChangeShapeType="1"/>
          </p:cNvSpPr>
          <p:nvPr/>
        </p:nvSpPr>
        <p:spPr bwMode="auto">
          <a:xfrm flipV="1">
            <a:off x="4648200" y="4800600"/>
            <a:ext cx="152400" cy="1143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74" name="Text Box 46"/>
          <p:cNvSpPr txBox="1">
            <a:spLocks noChangeArrowheads="1"/>
          </p:cNvSpPr>
          <p:nvPr/>
        </p:nvSpPr>
        <p:spPr bwMode="auto">
          <a:xfrm>
            <a:off x="4495800" y="3302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0</a:t>
            </a:r>
          </a:p>
        </p:txBody>
      </p:sp>
      <p:sp>
        <p:nvSpPr>
          <p:cNvPr id="764975" name="Text Box 47"/>
          <p:cNvSpPr txBox="1">
            <a:spLocks noChangeArrowheads="1"/>
          </p:cNvSpPr>
          <p:nvPr/>
        </p:nvSpPr>
        <p:spPr bwMode="auto">
          <a:xfrm>
            <a:off x="4648200" y="11684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1</a:t>
            </a:r>
          </a:p>
        </p:txBody>
      </p:sp>
      <p:sp>
        <p:nvSpPr>
          <p:cNvPr id="764976" name="Text Box 48"/>
          <p:cNvSpPr txBox="1">
            <a:spLocks noChangeArrowheads="1"/>
          </p:cNvSpPr>
          <p:nvPr/>
        </p:nvSpPr>
        <p:spPr bwMode="auto">
          <a:xfrm>
            <a:off x="4419600" y="20066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2</a:t>
            </a:r>
          </a:p>
        </p:txBody>
      </p:sp>
      <p:sp>
        <p:nvSpPr>
          <p:cNvPr id="764977" name="Text Box 49"/>
          <p:cNvSpPr txBox="1">
            <a:spLocks noChangeArrowheads="1"/>
          </p:cNvSpPr>
          <p:nvPr/>
        </p:nvSpPr>
        <p:spPr bwMode="auto">
          <a:xfrm>
            <a:off x="5334000" y="4114800"/>
            <a:ext cx="70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k-1</a:t>
            </a:r>
          </a:p>
        </p:txBody>
      </p:sp>
      <p:sp>
        <p:nvSpPr>
          <p:cNvPr id="764978" name="Line 50"/>
          <p:cNvSpPr>
            <a:spLocks noChangeShapeType="1"/>
          </p:cNvSpPr>
          <p:nvPr/>
        </p:nvSpPr>
        <p:spPr bwMode="auto">
          <a:xfrm>
            <a:off x="4191000" y="10160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79" name="Line 51"/>
          <p:cNvSpPr>
            <a:spLocks noChangeShapeType="1"/>
          </p:cNvSpPr>
          <p:nvPr/>
        </p:nvSpPr>
        <p:spPr bwMode="auto">
          <a:xfrm flipH="1">
            <a:off x="4038600" y="1854200"/>
            <a:ext cx="3048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0" name="Line 52"/>
          <p:cNvSpPr>
            <a:spLocks noChangeShapeType="1"/>
          </p:cNvSpPr>
          <p:nvPr/>
        </p:nvSpPr>
        <p:spPr bwMode="auto">
          <a:xfrm>
            <a:off x="4114800" y="26924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1" name="Line 53"/>
          <p:cNvSpPr>
            <a:spLocks noChangeShapeType="1"/>
          </p:cNvSpPr>
          <p:nvPr/>
        </p:nvSpPr>
        <p:spPr bwMode="auto">
          <a:xfrm>
            <a:off x="5029200" y="4800600"/>
            <a:ext cx="609600" cy="3048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2" name="Rectangle 54"/>
          <p:cNvSpPr>
            <a:spLocks noChangeArrowheads="1"/>
          </p:cNvSpPr>
          <p:nvPr/>
        </p:nvSpPr>
        <p:spPr bwMode="auto">
          <a:xfrm>
            <a:off x="4724400" y="4419600"/>
            <a:ext cx="5334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4983" name="Line 55"/>
          <p:cNvSpPr>
            <a:spLocks noChangeShapeType="1"/>
          </p:cNvSpPr>
          <p:nvPr/>
        </p:nvSpPr>
        <p:spPr bwMode="auto">
          <a:xfrm>
            <a:off x="4953000" y="3962400"/>
            <a:ext cx="762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4" name="AutoShape 56"/>
          <p:cNvSpPr>
            <a:spLocks noChangeArrowheads="1"/>
          </p:cNvSpPr>
          <p:nvPr/>
        </p:nvSpPr>
        <p:spPr bwMode="auto">
          <a:xfrm flipV="1">
            <a:off x="3124200" y="3505200"/>
            <a:ext cx="609600" cy="1447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5" name="Rectangle 57"/>
          <p:cNvSpPr>
            <a:spLocks noChangeArrowheads="1"/>
          </p:cNvSpPr>
          <p:nvPr/>
        </p:nvSpPr>
        <p:spPr bwMode="auto">
          <a:xfrm>
            <a:off x="3200400" y="3048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4986" name="Line 58"/>
          <p:cNvSpPr>
            <a:spLocks noChangeShapeType="1"/>
          </p:cNvSpPr>
          <p:nvPr/>
        </p:nvSpPr>
        <p:spPr bwMode="auto">
          <a:xfrm>
            <a:off x="3657600" y="3302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7" name="Line 59"/>
          <p:cNvSpPr>
            <a:spLocks noChangeShapeType="1"/>
          </p:cNvSpPr>
          <p:nvPr/>
        </p:nvSpPr>
        <p:spPr bwMode="auto">
          <a:xfrm>
            <a:off x="44196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8" name="Line 60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89" name="Line 61"/>
          <p:cNvSpPr>
            <a:spLocks noChangeShapeType="1"/>
          </p:cNvSpPr>
          <p:nvPr/>
        </p:nvSpPr>
        <p:spPr bwMode="auto">
          <a:xfrm flipV="1">
            <a:off x="3352800" y="2667000"/>
            <a:ext cx="533400" cy="1524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990" name="Rectangle 62"/>
          <p:cNvSpPr>
            <a:spLocks noChangeArrowheads="1"/>
          </p:cNvSpPr>
          <p:nvPr/>
        </p:nvSpPr>
        <p:spPr bwMode="auto">
          <a:xfrm>
            <a:off x="3200400" y="4191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4991" name="Text Box 63"/>
          <p:cNvSpPr txBox="1">
            <a:spLocks noChangeArrowheads="1"/>
          </p:cNvSpPr>
          <p:nvPr/>
        </p:nvSpPr>
        <p:spPr bwMode="auto">
          <a:xfrm>
            <a:off x="5638800" y="609600"/>
            <a:ext cx="308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r</a:t>
            </a:r>
            <a:r>
              <a:rPr lang="it-IT" sz="2800" b="1" i="1" baseline="-25000"/>
              <a:t>i</a:t>
            </a:r>
            <a:r>
              <a:rPr lang="it-IT" sz="2800" b="1"/>
              <a:t> = rappresentante</a:t>
            </a:r>
          </a:p>
        </p:txBody>
      </p:sp>
      <p:sp>
        <p:nvSpPr>
          <p:cNvPr id="764992" name="Text Box 64"/>
          <p:cNvSpPr txBox="1">
            <a:spLocks noChangeArrowheads="1"/>
          </p:cNvSpPr>
          <p:nvPr/>
        </p:nvSpPr>
        <p:spPr bwMode="auto">
          <a:xfrm>
            <a:off x="5791200" y="4572000"/>
            <a:ext cx="50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</a:t>
            </a:r>
          </a:p>
        </p:txBody>
      </p:sp>
      <p:sp>
        <p:nvSpPr>
          <p:cNvPr id="764993" name="Text Box 65"/>
          <p:cNvSpPr txBox="1">
            <a:spLocks noChangeArrowheads="1"/>
          </p:cNvSpPr>
          <p:nvPr/>
        </p:nvSpPr>
        <p:spPr bwMode="auto">
          <a:xfrm>
            <a:off x="381000" y="5486400"/>
            <a:ext cx="2514600" cy="8477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i="1">
                <a:sym typeface="Symbol" charset="0"/>
              </a:rPr>
              <a:t>MakeSet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u</a:t>
            </a:r>
            <a:r>
              <a:rPr lang="it-IT" sz="2400" b="1">
                <a:sym typeface="Symbol" charset="0"/>
              </a:rPr>
              <a:t>)</a:t>
            </a:r>
          </a:p>
          <a:p>
            <a:r>
              <a:rPr lang="it-IT" sz="2400" b="1" i="1">
                <a:sym typeface="Symbol" charset="0"/>
              </a:rPr>
              <a:t>ancestor</a:t>
            </a:r>
            <a:r>
              <a:rPr lang="it-IT" sz="2400" b="1">
                <a:sym typeface="Symbol" charset="0"/>
              </a:rPr>
              <a:t>[</a:t>
            </a:r>
            <a:r>
              <a:rPr lang="it-IT" sz="2400" b="1" i="1">
                <a:sym typeface="Symbol" charset="0"/>
              </a:rPr>
              <a:t>u</a:t>
            </a:r>
            <a:r>
              <a:rPr lang="it-IT" sz="2400" b="1">
                <a:sym typeface="Symbol" charset="0"/>
              </a:rPr>
              <a:t>]  </a:t>
            </a:r>
            <a:r>
              <a:rPr lang="it-IT" sz="2400" b="1" i="1">
                <a:sym typeface="Symbol" charset="0"/>
              </a:rPr>
              <a:t>u</a:t>
            </a:r>
          </a:p>
        </p:txBody>
      </p:sp>
      <p:cxnSp>
        <p:nvCxnSpPr>
          <p:cNvPr id="764994" name="AutoShape 66"/>
          <p:cNvCxnSpPr>
            <a:cxnSpLocks noChangeShapeType="1"/>
          </p:cNvCxnSpPr>
          <p:nvPr/>
        </p:nvCxnSpPr>
        <p:spPr bwMode="auto">
          <a:xfrm rot="5400000" flipH="1" flipV="1">
            <a:off x="6124575" y="5305425"/>
            <a:ext cx="190500" cy="247650"/>
          </a:xfrm>
          <a:prstGeom prst="curvedConnector4">
            <a:avLst>
              <a:gd name="adj1" fmla="val -120000"/>
              <a:gd name="adj2" fmla="val 186537"/>
            </a:avLst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64995" name="Text Box 67"/>
          <p:cNvSpPr txBox="1">
            <a:spLocks noChangeArrowheads="1"/>
          </p:cNvSpPr>
          <p:nvPr/>
        </p:nvSpPr>
        <p:spPr bwMode="auto">
          <a:xfrm>
            <a:off x="5627688" y="152400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x</a:t>
            </a:r>
            <a:r>
              <a:rPr lang="it-IT" sz="2800" b="1" i="1" baseline="-25000"/>
              <a:t>0</a:t>
            </a:r>
            <a:r>
              <a:rPr lang="it-IT" sz="2800" b="1"/>
              <a:t> = </a:t>
            </a:r>
            <a:r>
              <a:rPr lang="it-IT" sz="2800" b="1" i="1"/>
              <a:t>root</a:t>
            </a:r>
            <a:r>
              <a:rPr lang="it-IT" sz="2800" b="1"/>
              <a:t>,  </a:t>
            </a: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r>
              <a:rPr lang="it-IT" sz="2800" b="1"/>
              <a:t> = </a:t>
            </a:r>
            <a:r>
              <a:rPr lang="it-IT" sz="2800" b="1" i="1"/>
              <a:t>u</a:t>
            </a:r>
          </a:p>
        </p:txBody>
      </p:sp>
      <p:sp>
        <p:nvSpPr>
          <p:cNvPr id="764996" name="Rectangle 68"/>
          <p:cNvSpPr>
            <a:spLocks noChangeArrowheads="1"/>
          </p:cNvSpPr>
          <p:nvPr/>
        </p:nvSpPr>
        <p:spPr bwMode="auto">
          <a:xfrm>
            <a:off x="5416550" y="5105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4" name="Text Box 2"/>
          <p:cNvSpPr txBox="1">
            <a:spLocks noChangeArrowheads="1"/>
          </p:cNvSpPr>
          <p:nvPr/>
        </p:nvSpPr>
        <p:spPr bwMode="auto">
          <a:xfrm>
            <a:off x="141288" y="5032375"/>
            <a:ext cx="3797300" cy="12160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b="1">
                <a:sym typeface="Symbol" charset="0"/>
              </a:rPr>
              <a:t>while 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>
                <a:sym typeface="Symbol" charset="0"/>
              </a:rPr>
              <a:t>  nil do</a:t>
            </a:r>
          </a:p>
          <a:p>
            <a:r>
              <a:rPr lang="it-IT" sz="1800" b="1">
                <a:sym typeface="Symbol" charset="0"/>
              </a:rPr>
              <a:t>     </a:t>
            </a:r>
            <a:r>
              <a:rPr lang="it-IT" sz="1800" b="1" i="1">
                <a:sym typeface="Symbol" charset="0"/>
              </a:rPr>
              <a:t>MinComAnt</a:t>
            </a:r>
            <a:r>
              <a:rPr lang="it-IT" sz="1800" b="1">
                <a:sym typeface="Symbol" charset="0"/>
              </a:rPr>
              <a:t>(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>
                <a:sym typeface="Symbol" charset="0"/>
              </a:rPr>
              <a:t>), </a:t>
            </a:r>
            <a:r>
              <a:rPr lang="it-IT" sz="1800" b="1" i="1">
                <a:sym typeface="Symbol" charset="0"/>
              </a:rPr>
              <a:t>Union</a:t>
            </a:r>
            <a:r>
              <a:rPr lang="it-IT" sz="1800" b="1">
                <a:sym typeface="Symbol" charset="0"/>
              </a:rPr>
              <a:t>(</a:t>
            </a:r>
            <a:r>
              <a:rPr lang="it-IT" sz="1800" b="1" i="1">
                <a:sym typeface="Symbol" charset="0"/>
              </a:rPr>
              <a:t>u</a:t>
            </a:r>
            <a:r>
              <a:rPr lang="it-IT" sz="1800" b="1">
                <a:sym typeface="Symbol" charset="0"/>
              </a:rPr>
              <a:t>,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>
                <a:sym typeface="Symbol" charset="0"/>
              </a:rPr>
              <a:t>) </a:t>
            </a:r>
          </a:p>
          <a:p>
            <a:r>
              <a:rPr lang="it-IT" sz="1800" b="1">
                <a:sym typeface="Symbol" charset="0"/>
              </a:rPr>
              <a:t>     </a:t>
            </a:r>
            <a:r>
              <a:rPr lang="it-IT" sz="1800" b="1" i="1">
                <a:sym typeface="Symbol" charset="0"/>
              </a:rPr>
              <a:t>ancestor</a:t>
            </a:r>
            <a:r>
              <a:rPr lang="it-IT" sz="1800" b="1">
                <a:sym typeface="Symbol" charset="0"/>
              </a:rPr>
              <a:t>[</a:t>
            </a:r>
            <a:r>
              <a:rPr lang="it-IT" sz="1800" b="1" i="1">
                <a:sym typeface="Symbol" charset="0"/>
              </a:rPr>
              <a:t>FindSet</a:t>
            </a:r>
            <a:r>
              <a:rPr lang="it-IT" sz="1800" b="1">
                <a:sym typeface="Symbol" charset="0"/>
              </a:rPr>
              <a:t>(</a:t>
            </a:r>
            <a:r>
              <a:rPr lang="it-IT" sz="1800" b="1" i="1">
                <a:sym typeface="Symbol" charset="0"/>
              </a:rPr>
              <a:t>u</a:t>
            </a:r>
            <a:r>
              <a:rPr lang="it-IT" sz="1800" b="1">
                <a:sym typeface="Symbol" charset="0"/>
              </a:rPr>
              <a:t>)]  </a:t>
            </a:r>
            <a:r>
              <a:rPr lang="it-IT" sz="1800" b="1" i="1">
                <a:sym typeface="Symbol" charset="0"/>
              </a:rPr>
              <a:t>u</a:t>
            </a:r>
            <a:endParaRPr lang="it-IT" sz="1800" b="1">
              <a:sym typeface="Symbol" charset="0"/>
            </a:endParaRPr>
          </a:p>
          <a:p>
            <a:r>
              <a:rPr lang="it-IT" sz="1800" b="1">
                <a:sym typeface="Symbol" charset="0"/>
              </a:rPr>
              <a:t>     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>
                <a:sym typeface="Symbol" charset="0"/>
              </a:rPr>
              <a:t>  </a:t>
            </a:r>
            <a:r>
              <a:rPr lang="it-IT" sz="1800" b="1" i="1">
                <a:sym typeface="Symbol" charset="0"/>
              </a:rPr>
              <a:t>sibling</a:t>
            </a:r>
            <a:r>
              <a:rPr lang="it-IT" sz="1800" b="1">
                <a:sym typeface="Symbol" charset="0"/>
              </a:rPr>
              <a:t>[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>
                <a:sym typeface="Symbol" charset="0"/>
              </a:rPr>
              <a:t>]</a:t>
            </a:r>
            <a:endParaRPr lang="it-IT" sz="1800" b="1" i="1">
              <a:sym typeface="Symbol" charset="0"/>
            </a:endParaRPr>
          </a:p>
        </p:txBody>
      </p:sp>
      <p:sp>
        <p:nvSpPr>
          <p:cNvPr id="765955" name="Freeform 3"/>
          <p:cNvSpPr>
            <a:spLocks/>
          </p:cNvSpPr>
          <p:nvPr/>
        </p:nvSpPr>
        <p:spPr bwMode="auto">
          <a:xfrm>
            <a:off x="5226050" y="5043488"/>
            <a:ext cx="903288" cy="1598612"/>
          </a:xfrm>
          <a:custGeom>
            <a:avLst/>
            <a:gdLst>
              <a:gd name="T0" fmla="*/ 77 w 569"/>
              <a:gd name="T1" fmla="*/ 353 h 1007"/>
              <a:gd name="T2" fmla="*/ 85 w 569"/>
              <a:gd name="T3" fmla="*/ 0 h 1007"/>
              <a:gd name="T4" fmla="*/ 456 w 569"/>
              <a:gd name="T5" fmla="*/ 5 h 1007"/>
              <a:gd name="T6" fmla="*/ 456 w 569"/>
              <a:gd name="T7" fmla="*/ 274 h 1007"/>
              <a:gd name="T8" fmla="*/ 454 w 569"/>
              <a:gd name="T9" fmla="*/ 346 h 1007"/>
              <a:gd name="T10" fmla="*/ 569 w 569"/>
              <a:gd name="T11" fmla="*/ 999 h 1007"/>
              <a:gd name="T12" fmla="*/ 0 w 569"/>
              <a:gd name="T13" fmla="*/ 1007 h 1007"/>
              <a:gd name="T14" fmla="*/ 77 w 569"/>
              <a:gd name="T15" fmla="*/ 353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69" h="1007">
                <a:moveTo>
                  <a:pt x="77" y="353"/>
                </a:moveTo>
                <a:lnTo>
                  <a:pt x="85" y="0"/>
                </a:lnTo>
                <a:lnTo>
                  <a:pt x="456" y="5"/>
                </a:lnTo>
                <a:lnTo>
                  <a:pt x="456" y="274"/>
                </a:lnTo>
                <a:lnTo>
                  <a:pt x="454" y="346"/>
                </a:lnTo>
                <a:lnTo>
                  <a:pt x="569" y="999"/>
                </a:lnTo>
                <a:lnTo>
                  <a:pt x="0" y="1007"/>
                </a:lnTo>
                <a:lnTo>
                  <a:pt x="77" y="353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56" name="Freeform 4"/>
          <p:cNvSpPr>
            <a:spLocks/>
          </p:cNvSpPr>
          <p:nvPr/>
        </p:nvSpPr>
        <p:spPr bwMode="auto">
          <a:xfrm>
            <a:off x="3043238" y="2235200"/>
            <a:ext cx="1341437" cy="2903538"/>
          </a:xfrm>
          <a:custGeom>
            <a:avLst/>
            <a:gdLst>
              <a:gd name="T0" fmla="*/ 46 w 845"/>
              <a:gd name="T1" fmla="*/ 514 h 1829"/>
              <a:gd name="T2" fmla="*/ 529 w 845"/>
              <a:gd name="T3" fmla="*/ 0 h 1829"/>
              <a:gd name="T4" fmla="*/ 845 w 845"/>
              <a:gd name="T5" fmla="*/ 0 h 1829"/>
              <a:gd name="T6" fmla="*/ 845 w 845"/>
              <a:gd name="T7" fmla="*/ 346 h 1829"/>
              <a:gd name="T8" fmla="*/ 454 w 845"/>
              <a:gd name="T9" fmla="*/ 537 h 1829"/>
              <a:gd name="T10" fmla="*/ 492 w 845"/>
              <a:gd name="T11" fmla="*/ 1806 h 1829"/>
              <a:gd name="T12" fmla="*/ 0 w 845"/>
              <a:gd name="T13" fmla="*/ 1829 h 1829"/>
              <a:gd name="T14" fmla="*/ 46 w 845"/>
              <a:gd name="T15" fmla="*/ 514 h 1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5" h="1829">
                <a:moveTo>
                  <a:pt x="46" y="514"/>
                </a:moveTo>
                <a:lnTo>
                  <a:pt x="529" y="0"/>
                </a:lnTo>
                <a:lnTo>
                  <a:pt x="845" y="0"/>
                </a:lnTo>
                <a:lnTo>
                  <a:pt x="845" y="346"/>
                </a:lnTo>
                <a:lnTo>
                  <a:pt x="454" y="537"/>
                </a:lnTo>
                <a:lnTo>
                  <a:pt x="492" y="1806"/>
                </a:lnTo>
                <a:lnTo>
                  <a:pt x="0" y="1829"/>
                </a:lnTo>
                <a:lnTo>
                  <a:pt x="46" y="514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57" name="Freeform 5"/>
          <p:cNvSpPr>
            <a:spLocks/>
          </p:cNvSpPr>
          <p:nvPr/>
        </p:nvSpPr>
        <p:spPr bwMode="auto">
          <a:xfrm>
            <a:off x="4187825" y="4343400"/>
            <a:ext cx="1152525" cy="2311400"/>
          </a:xfrm>
          <a:custGeom>
            <a:avLst/>
            <a:gdLst>
              <a:gd name="T0" fmla="*/ 88 w 726"/>
              <a:gd name="T1" fmla="*/ 475 h 1456"/>
              <a:gd name="T2" fmla="*/ 319 w 726"/>
              <a:gd name="T3" fmla="*/ 0 h 1456"/>
              <a:gd name="T4" fmla="*/ 726 w 726"/>
              <a:gd name="T5" fmla="*/ 14 h 1456"/>
              <a:gd name="T6" fmla="*/ 726 w 726"/>
              <a:gd name="T7" fmla="*/ 283 h 1456"/>
              <a:gd name="T8" fmla="*/ 496 w 726"/>
              <a:gd name="T9" fmla="*/ 483 h 1456"/>
              <a:gd name="T10" fmla="*/ 570 w 726"/>
              <a:gd name="T11" fmla="*/ 1456 h 1456"/>
              <a:gd name="T12" fmla="*/ 0 w 726"/>
              <a:gd name="T13" fmla="*/ 1456 h 1456"/>
              <a:gd name="T14" fmla="*/ 88 w 726"/>
              <a:gd name="T15" fmla="*/ 475 h 1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26" h="1456">
                <a:moveTo>
                  <a:pt x="88" y="475"/>
                </a:moveTo>
                <a:lnTo>
                  <a:pt x="319" y="0"/>
                </a:lnTo>
                <a:lnTo>
                  <a:pt x="726" y="14"/>
                </a:lnTo>
                <a:lnTo>
                  <a:pt x="726" y="283"/>
                </a:lnTo>
                <a:lnTo>
                  <a:pt x="496" y="483"/>
                </a:lnTo>
                <a:lnTo>
                  <a:pt x="570" y="1456"/>
                </a:lnTo>
                <a:lnTo>
                  <a:pt x="0" y="1456"/>
                </a:lnTo>
                <a:lnTo>
                  <a:pt x="88" y="4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58" name="Freeform 6"/>
          <p:cNvSpPr>
            <a:spLocks/>
          </p:cNvSpPr>
          <p:nvPr/>
        </p:nvSpPr>
        <p:spPr bwMode="auto">
          <a:xfrm>
            <a:off x="2166938" y="1389063"/>
            <a:ext cx="2479675" cy="3516312"/>
          </a:xfrm>
          <a:custGeom>
            <a:avLst/>
            <a:gdLst>
              <a:gd name="T0" fmla="*/ 46 w 1562"/>
              <a:gd name="T1" fmla="*/ 569 h 2215"/>
              <a:gd name="T2" fmla="*/ 1246 w 1562"/>
              <a:gd name="T3" fmla="*/ 0 h 2215"/>
              <a:gd name="T4" fmla="*/ 1562 w 1562"/>
              <a:gd name="T5" fmla="*/ 0 h 2215"/>
              <a:gd name="T6" fmla="*/ 1562 w 1562"/>
              <a:gd name="T7" fmla="*/ 346 h 2215"/>
              <a:gd name="T8" fmla="*/ 485 w 1562"/>
              <a:gd name="T9" fmla="*/ 600 h 2215"/>
              <a:gd name="T10" fmla="*/ 516 w 1562"/>
              <a:gd name="T11" fmla="*/ 2215 h 2215"/>
              <a:gd name="T12" fmla="*/ 0 w 1562"/>
              <a:gd name="T13" fmla="*/ 2207 h 2215"/>
              <a:gd name="T14" fmla="*/ 46 w 1562"/>
              <a:gd name="T15" fmla="*/ 569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2" h="2215">
                <a:moveTo>
                  <a:pt x="46" y="569"/>
                </a:moveTo>
                <a:lnTo>
                  <a:pt x="1246" y="0"/>
                </a:lnTo>
                <a:lnTo>
                  <a:pt x="1562" y="0"/>
                </a:lnTo>
                <a:lnTo>
                  <a:pt x="1562" y="346"/>
                </a:lnTo>
                <a:lnTo>
                  <a:pt x="485" y="600"/>
                </a:lnTo>
                <a:lnTo>
                  <a:pt x="516" y="2215"/>
                </a:lnTo>
                <a:lnTo>
                  <a:pt x="0" y="2207"/>
                </a:lnTo>
                <a:lnTo>
                  <a:pt x="46" y="569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59" name="Freeform 7"/>
          <p:cNvSpPr>
            <a:spLocks/>
          </p:cNvSpPr>
          <p:nvPr/>
        </p:nvSpPr>
        <p:spPr bwMode="auto">
          <a:xfrm>
            <a:off x="381000" y="533400"/>
            <a:ext cx="4130675" cy="4216400"/>
          </a:xfrm>
          <a:custGeom>
            <a:avLst/>
            <a:gdLst>
              <a:gd name="T0" fmla="*/ 141 w 2602"/>
              <a:gd name="T1" fmla="*/ 577 h 2656"/>
              <a:gd name="T2" fmla="*/ 2287 w 2602"/>
              <a:gd name="T3" fmla="*/ 0 h 2656"/>
              <a:gd name="T4" fmla="*/ 2602 w 2602"/>
              <a:gd name="T5" fmla="*/ 0 h 2656"/>
              <a:gd name="T6" fmla="*/ 2594 w 2602"/>
              <a:gd name="T7" fmla="*/ 362 h 2656"/>
              <a:gd name="T8" fmla="*/ 1017 w 2602"/>
              <a:gd name="T9" fmla="*/ 600 h 2656"/>
              <a:gd name="T10" fmla="*/ 1056 w 2602"/>
              <a:gd name="T11" fmla="*/ 2656 h 2656"/>
              <a:gd name="T12" fmla="*/ 0 w 2602"/>
              <a:gd name="T13" fmla="*/ 2656 h 2656"/>
              <a:gd name="T14" fmla="*/ 141 w 2602"/>
              <a:gd name="T15" fmla="*/ 577 h 2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2" h="2656">
                <a:moveTo>
                  <a:pt x="141" y="577"/>
                </a:moveTo>
                <a:lnTo>
                  <a:pt x="2287" y="0"/>
                </a:lnTo>
                <a:lnTo>
                  <a:pt x="2602" y="0"/>
                </a:lnTo>
                <a:lnTo>
                  <a:pt x="2594" y="362"/>
                </a:lnTo>
                <a:lnTo>
                  <a:pt x="1017" y="600"/>
                </a:lnTo>
                <a:lnTo>
                  <a:pt x="1056" y="2656"/>
                </a:lnTo>
                <a:lnTo>
                  <a:pt x="0" y="2656"/>
                </a:lnTo>
                <a:lnTo>
                  <a:pt x="141" y="577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60" name="Rectangle 8"/>
          <p:cNvSpPr>
            <a:spLocks noChangeArrowheads="1"/>
          </p:cNvSpPr>
          <p:nvPr/>
        </p:nvSpPr>
        <p:spPr bwMode="auto">
          <a:xfrm>
            <a:off x="3962400" y="6350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5961" name="Rectangle 9"/>
          <p:cNvSpPr>
            <a:spLocks noChangeArrowheads="1"/>
          </p:cNvSpPr>
          <p:nvPr/>
        </p:nvSpPr>
        <p:spPr bwMode="auto">
          <a:xfrm>
            <a:off x="4114800" y="14732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5962" name="Rectangle 10"/>
          <p:cNvSpPr>
            <a:spLocks noChangeArrowheads="1"/>
          </p:cNvSpPr>
          <p:nvPr/>
        </p:nvSpPr>
        <p:spPr bwMode="auto">
          <a:xfrm>
            <a:off x="3810000" y="2311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5963" name="Rectangle 11"/>
          <p:cNvSpPr>
            <a:spLocks noChangeArrowheads="1"/>
          </p:cNvSpPr>
          <p:nvPr/>
        </p:nvSpPr>
        <p:spPr bwMode="auto">
          <a:xfrm>
            <a:off x="13716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5964" name="Rectangle 12"/>
          <p:cNvSpPr>
            <a:spLocks noChangeArrowheads="1"/>
          </p:cNvSpPr>
          <p:nvPr/>
        </p:nvSpPr>
        <p:spPr bwMode="auto">
          <a:xfrm>
            <a:off x="7620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5965" name="Rectangle 13"/>
          <p:cNvSpPr>
            <a:spLocks noChangeArrowheads="1"/>
          </p:cNvSpPr>
          <p:nvPr/>
        </p:nvSpPr>
        <p:spPr bwMode="auto">
          <a:xfrm>
            <a:off x="8077200" y="14478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5966" name="Rectangle 14"/>
          <p:cNvSpPr>
            <a:spLocks noChangeArrowheads="1"/>
          </p:cNvSpPr>
          <p:nvPr/>
        </p:nvSpPr>
        <p:spPr bwMode="auto">
          <a:xfrm>
            <a:off x="63246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5967" name="Rectangle 15"/>
          <p:cNvSpPr>
            <a:spLocks noChangeArrowheads="1"/>
          </p:cNvSpPr>
          <p:nvPr/>
        </p:nvSpPr>
        <p:spPr bwMode="auto">
          <a:xfrm>
            <a:off x="72390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5968" name="Rectangle 16"/>
          <p:cNvSpPr>
            <a:spLocks noChangeArrowheads="1"/>
          </p:cNvSpPr>
          <p:nvPr/>
        </p:nvSpPr>
        <p:spPr bwMode="auto">
          <a:xfrm>
            <a:off x="66294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5969" name="Rectangle 17"/>
          <p:cNvSpPr>
            <a:spLocks noChangeArrowheads="1"/>
          </p:cNvSpPr>
          <p:nvPr/>
        </p:nvSpPr>
        <p:spPr bwMode="auto">
          <a:xfrm>
            <a:off x="2362200" y="2311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5970" name="Rectangle 18"/>
          <p:cNvSpPr>
            <a:spLocks noChangeArrowheads="1"/>
          </p:cNvSpPr>
          <p:nvPr/>
        </p:nvSpPr>
        <p:spPr bwMode="auto">
          <a:xfrm>
            <a:off x="4419600" y="5105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5971" name="Rectangle 19"/>
          <p:cNvSpPr>
            <a:spLocks noChangeArrowheads="1"/>
          </p:cNvSpPr>
          <p:nvPr/>
        </p:nvSpPr>
        <p:spPr bwMode="auto">
          <a:xfrm>
            <a:off x="69342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5972" name="Line 20"/>
          <p:cNvSpPr>
            <a:spLocks noChangeShapeType="1"/>
          </p:cNvSpPr>
          <p:nvPr/>
        </p:nvSpPr>
        <p:spPr bwMode="auto">
          <a:xfrm flipH="1">
            <a:off x="990600" y="1016000"/>
            <a:ext cx="2971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73" name="Line 21"/>
          <p:cNvSpPr>
            <a:spLocks noChangeShapeType="1"/>
          </p:cNvSpPr>
          <p:nvPr/>
        </p:nvSpPr>
        <p:spPr bwMode="auto">
          <a:xfrm flipH="1">
            <a:off x="2590800" y="1854200"/>
            <a:ext cx="1524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74" name="Line 22"/>
          <p:cNvSpPr>
            <a:spLocks noChangeShapeType="1"/>
          </p:cNvSpPr>
          <p:nvPr/>
        </p:nvSpPr>
        <p:spPr bwMode="auto">
          <a:xfrm flipH="1">
            <a:off x="3429000" y="269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75" name="Text Box 23"/>
          <p:cNvSpPr txBox="1">
            <a:spLocks noChangeArrowheads="1"/>
          </p:cNvSpPr>
          <p:nvPr/>
        </p:nvSpPr>
        <p:spPr bwMode="auto">
          <a:xfrm>
            <a:off x="4267200" y="3276600"/>
            <a:ext cx="661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......</a:t>
            </a:r>
          </a:p>
        </p:txBody>
      </p:sp>
      <p:sp>
        <p:nvSpPr>
          <p:cNvPr id="765976" name="Line 24"/>
          <p:cNvSpPr>
            <a:spLocks noChangeShapeType="1"/>
          </p:cNvSpPr>
          <p:nvPr/>
        </p:nvSpPr>
        <p:spPr bwMode="auto">
          <a:xfrm flipH="1">
            <a:off x="4572000" y="4800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77" name="Line 25"/>
          <p:cNvSpPr>
            <a:spLocks noChangeShapeType="1"/>
          </p:cNvSpPr>
          <p:nvPr/>
        </p:nvSpPr>
        <p:spPr bwMode="auto">
          <a:xfrm>
            <a:off x="1828800" y="1676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78" name="Line 26"/>
          <p:cNvSpPr>
            <a:spLocks noChangeShapeType="1"/>
          </p:cNvSpPr>
          <p:nvPr/>
        </p:nvSpPr>
        <p:spPr bwMode="auto">
          <a:xfrm flipV="1">
            <a:off x="4572000" y="16764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79" name="Line 27"/>
          <p:cNvSpPr>
            <a:spLocks noChangeShapeType="1"/>
          </p:cNvSpPr>
          <p:nvPr/>
        </p:nvSpPr>
        <p:spPr bwMode="auto">
          <a:xfrm>
            <a:off x="1219200" y="1701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0" name="Line 28"/>
          <p:cNvSpPr>
            <a:spLocks noChangeShapeType="1"/>
          </p:cNvSpPr>
          <p:nvPr/>
        </p:nvSpPr>
        <p:spPr bwMode="auto">
          <a:xfrm>
            <a:off x="7086600" y="2514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1" name="Line 29"/>
          <p:cNvSpPr>
            <a:spLocks noChangeShapeType="1"/>
          </p:cNvSpPr>
          <p:nvPr/>
        </p:nvSpPr>
        <p:spPr bwMode="auto">
          <a:xfrm>
            <a:off x="6781800" y="533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2" name="Line 30"/>
          <p:cNvSpPr>
            <a:spLocks noChangeShapeType="1"/>
          </p:cNvSpPr>
          <p:nvPr/>
        </p:nvSpPr>
        <p:spPr bwMode="auto">
          <a:xfrm>
            <a:off x="2819400" y="2514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3" name="Line 31"/>
          <p:cNvSpPr>
            <a:spLocks noChangeShapeType="1"/>
          </p:cNvSpPr>
          <p:nvPr/>
        </p:nvSpPr>
        <p:spPr bwMode="auto">
          <a:xfrm flipV="1">
            <a:off x="42672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4" name="Line 32"/>
          <p:cNvSpPr>
            <a:spLocks noChangeShapeType="1"/>
          </p:cNvSpPr>
          <p:nvPr/>
        </p:nvSpPr>
        <p:spPr bwMode="auto">
          <a:xfrm>
            <a:off x="4876800" y="5334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5" name="Line 33"/>
          <p:cNvSpPr>
            <a:spLocks noChangeShapeType="1"/>
          </p:cNvSpPr>
          <p:nvPr/>
        </p:nvSpPr>
        <p:spPr bwMode="auto">
          <a:xfrm>
            <a:off x="5867400" y="5334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6" name="AutoShape 34"/>
          <p:cNvSpPr>
            <a:spLocks noChangeArrowheads="1"/>
          </p:cNvSpPr>
          <p:nvPr/>
        </p:nvSpPr>
        <p:spPr bwMode="auto">
          <a:xfrm flipV="1">
            <a:off x="609600" y="1930400"/>
            <a:ext cx="1371600" cy="2590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7" name="AutoShape 35"/>
          <p:cNvSpPr>
            <a:spLocks noChangeArrowheads="1"/>
          </p:cNvSpPr>
          <p:nvPr/>
        </p:nvSpPr>
        <p:spPr bwMode="auto">
          <a:xfrm flipV="1">
            <a:off x="2286000" y="2768600"/>
            <a:ext cx="609600" cy="19812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8" name="AutoShape 36"/>
          <p:cNvSpPr>
            <a:spLocks noChangeArrowheads="1"/>
          </p:cNvSpPr>
          <p:nvPr/>
        </p:nvSpPr>
        <p:spPr bwMode="auto">
          <a:xfrm flipV="1">
            <a:off x="4267200" y="5562600"/>
            <a:ext cx="7620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89" name="AutoShape 37"/>
          <p:cNvSpPr>
            <a:spLocks noChangeArrowheads="1"/>
          </p:cNvSpPr>
          <p:nvPr/>
        </p:nvSpPr>
        <p:spPr bwMode="auto">
          <a:xfrm flipV="1">
            <a:off x="5334000" y="5562600"/>
            <a:ext cx="6858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90" name="AutoShape 38"/>
          <p:cNvSpPr>
            <a:spLocks noChangeArrowheads="1"/>
          </p:cNvSpPr>
          <p:nvPr/>
        </p:nvSpPr>
        <p:spPr bwMode="auto">
          <a:xfrm flipV="1">
            <a:off x="6324600" y="5562600"/>
            <a:ext cx="1066800" cy="914400"/>
          </a:xfrm>
          <a:custGeom>
            <a:avLst/>
            <a:gdLst>
              <a:gd name="G0" fmla="+- 2129 0 0"/>
              <a:gd name="G1" fmla="+- 21600 0 2129"/>
              <a:gd name="G2" fmla="*/ 2129 1 2"/>
              <a:gd name="G3" fmla="+- 21600 0 G2"/>
              <a:gd name="G4" fmla="+/ 2129 21600 2"/>
              <a:gd name="G5" fmla="+/ G1 0 2"/>
              <a:gd name="G6" fmla="*/ 21600 21600 2129"/>
              <a:gd name="G7" fmla="*/ G6 1 2"/>
              <a:gd name="G8" fmla="+- 21600 0 G7"/>
              <a:gd name="G9" fmla="*/ 21600 1 2"/>
              <a:gd name="G10" fmla="+- 2129 0 G9"/>
              <a:gd name="G11" fmla="?: G10 G8 0"/>
              <a:gd name="G12" fmla="?: G10 G7 21600"/>
              <a:gd name="T0" fmla="*/ 20535 w 21600"/>
              <a:gd name="T1" fmla="*/ 10800 h 21600"/>
              <a:gd name="T2" fmla="*/ 10800 w 21600"/>
              <a:gd name="T3" fmla="*/ 21600 h 21600"/>
              <a:gd name="T4" fmla="*/ 1065 w 21600"/>
              <a:gd name="T5" fmla="*/ 10800 h 21600"/>
              <a:gd name="T6" fmla="*/ 10800 w 21600"/>
              <a:gd name="T7" fmla="*/ 0 h 21600"/>
              <a:gd name="T8" fmla="*/ 2865 w 21600"/>
              <a:gd name="T9" fmla="*/ 2865 h 21600"/>
              <a:gd name="T10" fmla="*/ 18735 w 21600"/>
              <a:gd name="T11" fmla="*/ 187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129" y="21600"/>
                </a:lnTo>
                <a:lnTo>
                  <a:pt x="194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91" name="AutoShape 39"/>
          <p:cNvSpPr>
            <a:spLocks noChangeArrowheads="1"/>
          </p:cNvSpPr>
          <p:nvPr/>
        </p:nvSpPr>
        <p:spPr bwMode="auto">
          <a:xfrm flipV="1">
            <a:off x="6553200" y="2743200"/>
            <a:ext cx="1295400" cy="1981200"/>
          </a:xfrm>
          <a:custGeom>
            <a:avLst/>
            <a:gdLst>
              <a:gd name="G0" fmla="+- 3459 0 0"/>
              <a:gd name="G1" fmla="+- 21600 0 3459"/>
              <a:gd name="G2" fmla="*/ 3459 1 2"/>
              <a:gd name="G3" fmla="+- 21600 0 G2"/>
              <a:gd name="G4" fmla="+/ 3459 21600 2"/>
              <a:gd name="G5" fmla="+/ G1 0 2"/>
              <a:gd name="G6" fmla="*/ 21600 21600 3459"/>
              <a:gd name="G7" fmla="*/ G6 1 2"/>
              <a:gd name="G8" fmla="+- 21600 0 G7"/>
              <a:gd name="G9" fmla="*/ 21600 1 2"/>
              <a:gd name="G10" fmla="+- 3459 0 G9"/>
              <a:gd name="G11" fmla="?: G10 G8 0"/>
              <a:gd name="G12" fmla="?: G10 G7 21600"/>
              <a:gd name="T0" fmla="*/ 19870 w 21600"/>
              <a:gd name="T1" fmla="*/ 10800 h 21600"/>
              <a:gd name="T2" fmla="*/ 10800 w 21600"/>
              <a:gd name="T3" fmla="*/ 21600 h 21600"/>
              <a:gd name="T4" fmla="*/ 1730 w 21600"/>
              <a:gd name="T5" fmla="*/ 10800 h 21600"/>
              <a:gd name="T6" fmla="*/ 10800 w 21600"/>
              <a:gd name="T7" fmla="*/ 0 h 21600"/>
              <a:gd name="T8" fmla="*/ 3530 w 21600"/>
              <a:gd name="T9" fmla="*/ 3530 h 21600"/>
              <a:gd name="T10" fmla="*/ 18070 w 21600"/>
              <a:gd name="T11" fmla="*/ 180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59" y="21600"/>
                </a:lnTo>
                <a:lnTo>
                  <a:pt x="181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92" name="AutoShape 40"/>
          <p:cNvSpPr>
            <a:spLocks noChangeArrowheads="1"/>
          </p:cNvSpPr>
          <p:nvPr/>
        </p:nvSpPr>
        <p:spPr bwMode="auto">
          <a:xfrm flipV="1">
            <a:off x="8001000" y="1905000"/>
            <a:ext cx="609600" cy="25146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93" name="Rectangle 41"/>
          <p:cNvSpPr>
            <a:spLocks noChangeArrowheads="1"/>
          </p:cNvSpPr>
          <p:nvPr/>
        </p:nvSpPr>
        <p:spPr bwMode="auto">
          <a:xfrm>
            <a:off x="914400" y="2387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5994" name="Rectangle 42"/>
          <p:cNvSpPr>
            <a:spLocks noChangeArrowheads="1"/>
          </p:cNvSpPr>
          <p:nvPr/>
        </p:nvSpPr>
        <p:spPr bwMode="auto">
          <a:xfrm>
            <a:off x="2362200" y="3530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5995" name="Rectangle 43"/>
          <p:cNvSpPr>
            <a:spLocks noChangeArrowheads="1"/>
          </p:cNvSpPr>
          <p:nvPr/>
        </p:nvSpPr>
        <p:spPr bwMode="auto">
          <a:xfrm>
            <a:off x="4419600" y="5943600"/>
            <a:ext cx="5334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5996" name="Line 44"/>
          <p:cNvSpPr>
            <a:spLocks noChangeShapeType="1"/>
          </p:cNvSpPr>
          <p:nvPr/>
        </p:nvSpPr>
        <p:spPr bwMode="auto">
          <a:xfrm flipV="1">
            <a:off x="2590800" y="1778000"/>
            <a:ext cx="1447800" cy="1752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97" name="Line 45"/>
          <p:cNvSpPr>
            <a:spLocks noChangeShapeType="1"/>
          </p:cNvSpPr>
          <p:nvPr/>
        </p:nvSpPr>
        <p:spPr bwMode="auto">
          <a:xfrm flipV="1">
            <a:off x="1143000" y="787400"/>
            <a:ext cx="2819400" cy="1600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98" name="Line 46"/>
          <p:cNvSpPr>
            <a:spLocks noChangeShapeType="1"/>
          </p:cNvSpPr>
          <p:nvPr/>
        </p:nvSpPr>
        <p:spPr bwMode="auto">
          <a:xfrm flipV="1">
            <a:off x="4648200" y="4800600"/>
            <a:ext cx="152400" cy="1143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5999" name="Text Box 47"/>
          <p:cNvSpPr txBox="1">
            <a:spLocks noChangeArrowheads="1"/>
          </p:cNvSpPr>
          <p:nvPr/>
        </p:nvSpPr>
        <p:spPr bwMode="auto">
          <a:xfrm>
            <a:off x="4495800" y="3302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0</a:t>
            </a:r>
          </a:p>
        </p:txBody>
      </p:sp>
      <p:sp>
        <p:nvSpPr>
          <p:cNvPr id="766000" name="Text Box 48"/>
          <p:cNvSpPr txBox="1">
            <a:spLocks noChangeArrowheads="1"/>
          </p:cNvSpPr>
          <p:nvPr/>
        </p:nvSpPr>
        <p:spPr bwMode="auto">
          <a:xfrm>
            <a:off x="4648200" y="11684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1</a:t>
            </a:r>
          </a:p>
        </p:txBody>
      </p:sp>
      <p:sp>
        <p:nvSpPr>
          <p:cNvPr id="766001" name="Text Box 49"/>
          <p:cNvSpPr txBox="1">
            <a:spLocks noChangeArrowheads="1"/>
          </p:cNvSpPr>
          <p:nvPr/>
        </p:nvSpPr>
        <p:spPr bwMode="auto">
          <a:xfrm>
            <a:off x="4419600" y="20066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2</a:t>
            </a:r>
          </a:p>
        </p:txBody>
      </p:sp>
      <p:sp>
        <p:nvSpPr>
          <p:cNvPr id="766002" name="Text Box 50"/>
          <p:cNvSpPr txBox="1">
            <a:spLocks noChangeArrowheads="1"/>
          </p:cNvSpPr>
          <p:nvPr/>
        </p:nvSpPr>
        <p:spPr bwMode="auto">
          <a:xfrm>
            <a:off x="5334000" y="4114800"/>
            <a:ext cx="70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k-1</a:t>
            </a:r>
          </a:p>
        </p:txBody>
      </p:sp>
      <p:sp>
        <p:nvSpPr>
          <p:cNvPr id="766003" name="Line 51"/>
          <p:cNvSpPr>
            <a:spLocks noChangeShapeType="1"/>
          </p:cNvSpPr>
          <p:nvPr/>
        </p:nvSpPr>
        <p:spPr bwMode="auto">
          <a:xfrm>
            <a:off x="4191000" y="10160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04" name="Line 52"/>
          <p:cNvSpPr>
            <a:spLocks noChangeShapeType="1"/>
          </p:cNvSpPr>
          <p:nvPr/>
        </p:nvSpPr>
        <p:spPr bwMode="auto">
          <a:xfrm flipH="1">
            <a:off x="4038600" y="1854200"/>
            <a:ext cx="3048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05" name="Line 53"/>
          <p:cNvSpPr>
            <a:spLocks noChangeShapeType="1"/>
          </p:cNvSpPr>
          <p:nvPr/>
        </p:nvSpPr>
        <p:spPr bwMode="auto">
          <a:xfrm>
            <a:off x="4114800" y="26924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06" name="Line 54"/>
          <p:cNvSpPr>
            <a:spLocks noChangeShapeType="1"/>
          </p:cNvSpPr>
          <p:nvPr/>
        </p:nvSpPr>
        <p:spPr bwMode="auto">
          <a:xfrm>
            <a:off x="5029200" y="4800600"/>
            <a:ext cx="609600" cy="3048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07" name="Rectangle 55"/>
          <p:cNvSpPr>
            <a:spLocks noChangeArrowheads="1"/>
          </p:cNvSpPr>
          <p:nvPr/>
        </p:nvSpPr>
        <p:spPr bwMode="auto">
          <a:xfrm>
            <a:off x="4724400" y="4419600"/>
            <a:ext cx="5334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6008" name="Line 56"/>
          <p:cNvSpPr>
            <a:spLocks noChangeShapeType="1"/>
          </p:cNvSpPr>
          <p:nvPr/>
        </p:nvSpPr>
        <p:spPr bwMode="auto">
          <a:xfrm>
            <a:off x="4953000" y="3962400"/>
            <a:ext cx="762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09" name="AutoShape 57"/>
          <p:cNvSpPr>
            <a:spLocks noChangeArrowheads="1"/>
          </p:cNvSpPr>
          <p:nvPr/>
        </p:nvSpPr>
        <p:spPr bwMode="auto">
          <a:xfrm flipV="1">
            <a:off x="3124200" y="3505200"/>
            <a:ext cx="609600" cy="1447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10" name="Rectangle 58"/>
          <p:cNvSpPr>
            <a:spLocks noChangeArrowheads="1"/>
          </p:cNvSpPr>
          <p:nvPr/>
        </p:nvSpPr>
        <p:spPr bwMode="auto">
          <a:xfrm>
            <a:off x="3200400" y="3048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6011" name="Line 59"/>
          <p:cNvSpPr>
            <a:spLocks noChangeShapeType="1"/>
          </p:cNvSpPr>
          <p:nvPr/>
        </p:nvSpPr>
        <p:spPr bwMode="auto">
          <a:xfrm>
            <a:off x="3657600" y="3302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12" name="Line 60"/>
          <p:cNvSpPr>
            <a:spLocks noChangeShapeType="1"/>
          </p:cNvSpPr>
          <p:nvPr/>
        </p:nvSpPr>
        <p:spPr bwMode="auto">
          <a:xfrm>
            <a:off x="44196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13" name="Line 61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14" name="Line 62"/>
          <p:cNvSpPr>
            <a:spLocks noChangeShapeType="1"/>
          </p:cNvSpPr>
          <p:nvPr/>
        </p:nvSpPr>
        <p:spPr bwMode="auto">
          <a:xfrm flipV="1">
            <a:off x="3352800" y="2667000"/>
            <a:ext cx="533400" cy="1524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15" name="Rectangle 63"/>
          <p:cNvSpPr>
            <a:spLocks noChangeArrowheads="1"/>
          </p:cNvSpPr>
          <p:nvPr/>
        </p:nvSpPr>
        <p:spPr bwMode="auto">
          <a:xfrm>
            <a:off x="3200400" y="4191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6016" name="Text Box 64"/>
          <p:cNvSpPr txBox="1">
            <a:spLocks noChangeArrowheads="1"/>
          </p:cNvSpPr>
          <p:nvPr/>
        </p:nvSpPr>
        <p:spPr bwMode="auto">
          <a:xfrm>
            <a:off x="5638800" y="609600"/>
            <a:ext cx="308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r</a:t>
            </a:r>
            <a:r>
              <a:rPr lang="it-IT" sz="2800" b="1" i="1" baseline="-25000"/>
              <a:t>i</a:t>
            </a:r>
            <a:r>
              <a:rPr lang="it-IT" sz="2800" b="1"/>
              <a:t> = rappresentante</a:t>
            </a:r>
          </a:p>
        </p:txBody>
      </p:sp>
      <p:sp>
        <p:nvSpPr>
          <p:cNvPr id="766017" name="Text Box 65"/>
          <p:cNvSpPr txBox="1">
            <a:spLocks noChangeArrowheads="1"/>
          </p:cNvSpPr>
          <p:nvPr/>
        </p:nvSpPr>
        <p:spPr bwMode="auto">
          <a:xfrm>
            <a:off x="5791200" y="4572000"/>
            <a:ext cx="50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</a:t>
            </a:r>
          </a:p>
        </p:txBody>
      </p:sp>
      <p:sp>
        <p:nvSpPr>
          <p:cNvPr id="766018" name="Rectangle 66"/>
          <p:cNvSpPr>
            <a:spLocks noChangeArrowheads="1"/>
          </p:cNvSpPr>
          <p:nvPr/>
        </p:nvSpPr>
        <p:spPr bwMode="auto">
          <a:xfrm>
            <a:off x="5410200" y="60198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  <p:sp>
        <p:nvSpPr>
          <p:cNvPr id="766019" name="Line 67"/>
          <p:cNvSpPr>
            <a:spLocks noChangeShapeType="1"/>
          </p:cNvSpPr>
          <p:nvPr/>
        </p:nvSpPr>
        <p:spPr bwMode="auto">
          <a:xfrm flipV="1">
            <a:off x="5638800" y="5486400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020" name="Text Box 68"/>
          <p:cNvSpPr txBox="1">
            <a:spLocks noChangeArrowheads="1"/>
          </p:cNvSpPr>
          <p:nvPr/>
        </p:nvSpPr>
        <p:spPr bwMode="auto">
          <a:xfrm>
            <a:off x="5627688" y="152400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x</a:t>
            </a:r>
            <a:r>
              <a:rPr lang="it-IT" sz="2800" b="1" i="1" baseline="-25000"/>
              <a:t>0</a:t>
            </a:r>
            <a:r>
              <a:rPr lang="it-IT" sz="2800" b="1"/>
              <a:t> = </a:t>
            </a:r>
            <a:r>
              <a:rPr lang="it-IT" sz="2800" b="1" i="1"/>
              <a:t>root</a:t>
            </a:r>
            <a:r>
              <a:rPr lang="it-IT" sz="2800" b="1"/>
              <a:t>,  </a:t>
            </a: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r>
              <a:rPr lang="it-IT" sz="2800" b="1"/>
              <a:t> = </a:t>
            </a:r>
            <a:r>
              <a:rPr lang="it-IT" sz="2800" b="1" i="1"/>
              <a:t>u</a:t>
            </a:r>
          </a:p>
        </p:txBody>
      </p:sp>
      <p:sp>
        <p:nvSpPr>
          <p:cNvPr id="766021" name="Rectangle 69"/>
          <p:cNvSpPr>
            <a:spLocks noChangeArrowheads="1"/>
          </p:cNvSpPr>
          <p:nvPr/>
        </p:nvSpPr>
        <p:spPr bwMode="auto">
          <a:xfrm>
            <a:off x="5416550" y="5105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Freeform 2"/>
          <p:cNvSpPr>
            <a:spLocks/>
          </p:cNvSpPr>
          <p:nvPr/>
        </p:nvSpPr>
        <p:spPr bwMode="auto">
          <a:xfrm>
            <a:off x="5226050" y="5043488"/>
            <a:ext cx="915988" cy="1598612"/>
          </a:xfrm>
          <a:custGeom>
            <a:avLst/>
            <a:gdLst>
              <a:gd name="T0" fmla="*/ 77 w 577"/>
              <a:gd name="T1" fmla="*/ 353 h 1007"/>
              <a:gd name="T2" fmla="*/ 85 w 577"/>
              <a:gd name="T3" fmla="*/ 0 h 1007"/>
              <a:gd name="T4" fmla="*/ 456 w 577"/>
              <a:gd name="T5" fmla="*/ 5 h 1007"/>
              <a:gd name="T6" fmla="*/ 456 w 577"/>
              <a:gd name="T7" fmla="*/ 274 h 1007"/>
              <a:gd name="T8" fmla="*/ 454 w 577"/>
              <a:gd name="T9" fmla="*/ 346 h 1007"/>
              <a:gd name="T10" fmla="*/ 577 w 577"/>
              <a:gd name="T11" fmla="*/ 1007 h 1007"/>
              <a:gd name="T12" fmla="*/ 0 w 577"/>
              <a:gd name="T13" fmla="*/ 1007 h 1007"/>
              <a:gd name="T14" fmla="*/ 77 w 577"/>
              <a:gd name="T15" fmla="*/ 353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7" h="1007">
                <a:moveTo>
                  <a:pt x="77" y="353"/>
                </a:moveTo>
                <a:lnTo>
                  <a:pt x="85" y="0"/>
                </a:lnTo>
                <a:lnTo>
                  <a:pt x="456" y="5"/>
                </a:lnTo>
                <a:lnTo>
                  <a:pt x="456" y="274"/>
                </a:lnTo>
                <a:lnTo>
                  <a:pt x="454" y="346"/>
                </a:lnTo>
                <a:lnTo>
                  <a:pt x="577" y="1007"/>
                </a:lnTo>
                <a:lnTo>
                  <a:pt x="0" y="1007"/>
                </a:lnTo>
                <a:lnTo>
                  <a:pt x="77" y="353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79" name="Freeform 3"/>
          <p:cNvSpPr>
            <a:spLocks/>
          </p:cNvSpPr>
          <p:nvPr/>
        </p:nvSpPr>
        <p:spPr bwMode="auto">
          <a:xfrm>
            <a:off x="3043238" y="2235200"/>
            <a:ext cx="1341437" cy="2903538"/>
          </a:xfrm>
          <a:custGeom>
            <a:avLst/>
            <a:gdLst>
              <a:gd name="T0" fmla="*/ 46 w 845"/>
              <a:gd name="T1" fmla="*/ 514 h 1829"/>
              <a:gd name="T2" fmla="*/ 529 w 845"/>
              <a:gd name="T3" fmla="*/ 0 h 1829"/>
              <a:gd name="T4" fmla="*/ 845 w 845"/>
              <a:gd name="T5" fmla="*/ 0 h 1829"/>
              <a:gd name="T6" fmla="*/ 845 w 845"/>
              <a:gd name="T7" fmla="*/ 346 h 1829"/>
              <a:gd name="T8" fmla="*/ 454 w 845"/>
              <a:gd name="T9" fmla="*/ 537 h 1829"/>
              <a:gd name="T10" fmla="*/ 492 w 845"/>
              <a:gd name="T11" fmla="*/ 1806 h 1829"/>
              <a:gd name="T12" fmla="*/ 0 w 845"/>
              <a:gd name="T13" fmla="*/ 1829 h 1829"/>
              <a:gd name="T14" fmla="*/ 46 w 845"/>
              <a:gd name="T15" fmla="*/ 514 h 1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5" h="1829">
                <a:moveTo>
                  <a:pt x="46" y="514"/>
                </a:moveTo>
                <a:lnTo>
                  <a:pt x="529" y="0"/>
                </a:lnTo>
                <a:lnTo>
                  <a:pt x="845" y="0"/>
                </a:lnTo>
                <a:lnTo>
                  <a:pt x="845" y="346"/>
                </a:lnTo>
                <a:lnTo>
                  <a:pt x="454" y="537"/>
                </a:lnTo>
                <a:lnTo>
                  <a:pt x="492" y="1806"/>
                </a:lnTo>
                <a:lnTo>
                  <a:pt x="0" y="1829"/>
                </a:lnTo>
                <a:lnTo>
                  <a:pt x="46" y="514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80" name="Freeform 4"/>
          <p:cNvSpPr>
            <a:spLocks/>
          </p:cNvSpPr>
          <p:nvPr/>
        </p:nvSpPr>
        <p:spPr bwMode="auto">
          <a:xfrm>
            <a:off x="4200525" y="4343400"/>
            <a:ext cx="1139825" cy="2298700"/>
          </a:xfrm>
          <a:custGeom>
            <a:avLst/>
            <a:gdLst>
              <a:gd name="T0" fmla="*/ 80 w 718"/>
              <a:gd name="T1" fmla="*/ 475 h 1448"/>
              <a:gd name="T2" fmla="*/ 311 w 718"/>
              <a:gd name="T3" fmla="*/ 0 h 1448"/>
              <a:gd name="T4" fmla="*/ 718 w 718"/>
              <a:gd name="T5" fmla="*/ 14 h 1448"/>
              <a:gd name="T6" fmla="*/ 718 w 718"/>
              <a:gd name="T7" fmla="*/ 283 h 1448"/>
              <a:gd name="T8" fmla="*/ 488 w 718"/>
              <a:gd name="T9" fmla="*/ 483 h 1448"/>
              <a:gd name="T10" fmla="*/ 577 w 718"/>
              <a:gd name="T11" fmla="*/ 1448 h 1448"/>
              <a:gd name="T12" fmla="*/ 0 w 718"/>
              <a:gd name="T13" fmla="*/ 1440 h 1448"/>
              <a:gd name="T14" fmla="*/ 80 w 718"/>
              <a:gd name="T15" fmla="*/ 475 h 1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18" h="1448">
                <a:moveTo>
                  <a:pt x="80" y="475"/>
                </a:moveTo>
                <a:lnTo>
                  <a:pt x="311" y="0"/>
                </a:lnTo>
                <a:lnTo>
                  <a:pt x="718" y="14"/>
                </a:lnTo>
                <a:lnTo>
                  <a:pt x="718" y="283"/>
                </a:lnTo>
                <a:lnTo>
                  <a:pt x="488" y="483"/>
                </a:lnTo>
                <a:lnTo>
                  <a:pt x="577" y="1448"/>
                </a:lnTo>
                <a:lnTo>
                  <a:pt x="0" y="1440"/>
                </a:lnTo>
                <a:lnTo>
                  <a:pt x="80" y="4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81" name="Freeform 5"/>
          <p:cNvSpPr>
            <a:spLocks/>
          </p:cNvSpPr>
          <p:nvPr/>
        </p:nvSpPr>
        <p:spPr bwMode="auto">
          <a:xfrm>
            <a:off x="2166938" y="1389063"/>
            <a:ext cx="2479675" cy="3516312"/>
          </a:xfrm>
          <a:custGeom>
            <a:avLst/>
            <a:gdLst>
              <a:gd name="T0" fmla="*/ 46 w 1562"/>
              <a:gd name="T1" fmla="*/ 569 h 2215"/>
              <a:gd name="T2" fmla="*/ 1246 w 1562"/>
              <a:gd name="T3" fmla="*/ 0 h 2215"/>
              <a:gd name="T4" fmla="*/ 1562 w 1562"/>
              <a:gd name="T5" fmla="*/ 0 h 2215"/>
              <a:gd name="T6" fmla="*/ 1562 w 1562"/>
              <a:gd name="T7" fmla="*/ 346 h 2215"/>
              <a:gd name="T8" fmla="*/ 485 w 1562"/>
              <a:gd name="T9" fmla="*/ 600 h 2215"/>
              <a:gd name="T10" fmla="*/ 516 w 1562"/>
              <a:gd name="T11" fmla="*/ 2215 h 2215"/>
              <a:gd name="T12" fmla="*/ 0 w 1562"/>
              <a:gd name="T13" fmla="*/ 2207 h 2215"/>
              <a:gd name="T14" fmla="*/ 46 w 1562"/>
              <a:gd name="T15" fmla="*/ 569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2" h="2215">
                <a:moveTo>
                  <a:pt x="46" y="569"/>
                </a:moveTo>
                <a:lnTo>
                  <a:pt x="1246" y="0"/>
                </a:lnTo>
                <a:lnTo>
                  <a:pt x="1562" y="0"/>
                </a:lnTo>
                <a:lnTo>
                  <a:pt x="1562" y="346"/>
                </a:lnTo>
                <a:lnTo>
                  <a:pt x="485" y="600"/>
                </a:lnTo>
                <a:lnTo>
                  <a:pt x="516" y="2215"/>
                </a:lnTo>
                <a:lnTo>
                  <a:pt x="0" y="2207"/>
                </a:lnTo>
                <a:lnTo>
                  <a:pt x="46" y="569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82" name="Freeform 6"/>
          <p:cNvSpPr>
            <a:spLocks/>
          </p:cNvSpPr>
          <p:nvPr/>
        </p:nvSpPr>
        <p:spPr bwMode="auto">
          <a:xfrm>
            <a:off x="381000" y="533400"/>
            <a:ext cx="4130675" cy="4216400"/>
          </a:xfrm>
          <a:custGeom>
            <a:avLst/>
            <a:gdLst>
              <a:gd name="T0" fmla="*/ 141 w 2602"/>
              <a:gd name="T1" fmla="*/ 577 h 2656"/>
              <a:gd name="T2" fmla="*/ 2287 w 2602"/>
              <a:gd name="T3" fmla="*/ 0 h 2656"/>
              <a:gd name="T4" fmla="*/ 2602 w 2602"/>
              <a:gd name="T5" fmla="*/ 0 h 2656"/>
              <a:gd name="T6" fmla="*/ 2594 w 2602"/>
              <a:gd name="T7" fmla="*/ 362 h 2656"/>
              <a:gd name="T8" fmla="*/ 1017 w 2602"/>
              <a:gd name="T9" fmla="*/ 600 h 2656"/>
              <a:gd name="T10" fmla="*/ 1056 w 2602"/>
              <a:gd name="T11" fmla="*/ 2656 h 2656"/>
              <a:gd name="T12" fmla="*/ 0 w 2602"/>
              <a:gd name="T13" fmla="*/ 2656 h 2656"/>
              <a:gd name="T14" fmla="*/ 141 w 2602"/>
              <a:gd name="T15" fmla="*/ 577 h 2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2" h="2656">
                <a:moveTo>
                  <a:pt x="141" y="577"/>
                </a:moveTo>
                <a:lnTo>
                  <a:pt x="2287" y="0"/>
                </a:lnTo>
                <a:lnTo>
                  <a:pt x="2602" y="0"/>
                </a:lnTo>
                <a:lnTo>
                  <a:pt x="2594" y="362"/>
                </a:lnTo>
                <a:lnTo>
                  <a:pt x="1017" y="600"/>
                </a:lnTo>
                <a:lnTo>
                  <a:pt x="1056" y="2656"/>
                </a:lnTo>
                <a:lnTo>
                  <a:pt x="0" y="2656"/>
                </a:lnTo>
                <a:lnTo>
                  <a:pt x="141" y="577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83" name="Rectangle 7"/>
          <p:cNvSpPr>
            <a:spLocks noChangeArrowheads="1"/>
          </p:cNvSpPr>
          <p:nvPr/>
        </p:nvSpPr>
        <p:spPr bwMode="auto">
          <a:xfrm>
            <a:off x="3962400" y="6350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6984" name="Rectangle 8"/>
          <p:cNvSpPr>
            <a:spLocks noChangeArrowheads="1"/>
          </p:cNvSpPr>
          <p:nvPr/>
        </p:nvSpPr>
        <p:spPr bwMode="auto">
          <a:xfrm>
            <a:off x="4114800" y="14732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6985" name="Rectangle 9"/>
          <p:cNvSpPr>
            <a:spLocks noChangeArrowheads="1"/>
          </p:cNvSpPr>
          <p:nvPr/>
        </p:nvSpPr>
        <p:spPr bwMode="auto">
          <a:xfrm>
            <a:off x="3810000" y="2311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6986" name="Rectangle 10"/>
          <p:cNvSpPr>
            <a:spLocks noChangeArrowheads="1"/>
          </p:cNvSpPr>
          <p:nvPr/>
        </p:nvSpPr>
        <p:spPr bwMode="auto">
          <a:xfrm>
            <a:off x="13716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6987" name="Rectangle 11"/>
          <p:cNvSpPr>
            <a:spLocks noChangeArrowheads="1"/>
          </p:cNvSpPr>
          <p:nvPr/>
        </p:nvSpPr>
        <p:spPr bwMode="auto">
          <a:xfrm>
            <a:off x="7620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6988" name="Rectangle 12"/>
          <p:cNvSpPr>
            <a:spLocks noChangeArrowheads="1"/>
          </p:cNvSpPr>
          <p:nvPr/>
        </p:nvSpPr>
        <p:spPr bwMode="auto">
          <a:xfrm>
            <a:off x="8077200" y="14478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6989" name="Rectangle 13"/>
          <p:cNvSpPr>
            <a:spLocks noChangeArrowheads="1"/>
          </p:cNvSpPr>
          <p:nvPr/>
        </p:nvSpPr>
        <p:spPr bwMode="auto">
          <a:xfrm>
            <a:off x="63246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6990" name="Rectangle 14"/>
          <p:cNvSpPr>
            <a:spLocks noChangeArrowheads="1"/>
          </p:cNvSpPr>
          <p:nvPr/>
        </p:nvSpPr>
        <p:spPr bwMode="auto">
          <a:xfrm>
            <a:off x="72390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6991" name="Rectangle 15"/>
          <p:cNvSpPr>
            <a:spLocks noChangeArrowheads="1"/>
          </p:cNvSpPr>
          <p:nvPr/>
        </p:nvSpPr>
        <p:spPr bwMode="auto">
          <a:xfrm>
            <a:off x="66294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6992" name="Rectangle 16"/>
          <p:cNvSpPr>
            <a:spLocks noChangeArrowheads="1"/>
          </p:cNvSpPr>
          <p:nvPr/>
        </p:nvSpPr>
        <p:spPr bwMode="auto">
          <a:xfrm>
            <a:off x="2362200" y="2311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6993" name="Rectangle 17"/>
          <p:cNvSpPr>
            <a:spLocks noChangeArrowheads="1"/>
          </p:cNvSpPr>
          <p:nvPr/>
        </p:nvSpPr>
        <p:spPr bwMode="auto">
          <a:xfrm>
            <a:off x="4419600" y="5105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6994" name="Rectangle 18"/>
          <p:cNvSpPr>
            <a:spLocks noChangeArrowheads="1"/>
          </p:cNvSpPr>
          <p:nvPr/>
        </p:nvSpPr>
        <p:spPr bwMode="auto">
          <a:xfrm>
            <a:off x="69342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6995" name="Line 19"/>
          <p:cNvSpPr>
            <a:spLocks noChangeShapeType="1"/>
          </p:cNvSpPr>
          <p:nvPr/>
        </p:nvSpPr>
        <p:spPr bwMode="auto">
          <a:xfrm flipH="1">
            <a:off x="990600" y="1016000"/>
            <a:ext cx="2971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96" name="Line 20"/>
          <p:cNvSpPr>
            <a:spLocks noChangeShapeType="1"/>
          </p:cNvSpPr>
          <p:nvPr/>
        </p:nvSpPr>
        <p:spPr bwMode="auto">
          <a:xfrm flipH="1">
            <a:off x="2590800" y="1854200"/>
            <a:ext cx="1524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97" name="Line 21"/>
          <p:cNvSpPr>
            <a:spLocks noChangeShapeType="1"/>
          </p:cNvSpPr>
          <p:nvPr/>
        </p:nvSpPr>
        <p:spPr bwMode="auto">
          <a:xfrm flipH="1">
            <a:off x="3429000" y="269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98" name="Text Box 22"/>
          <p:cNvSpPr txBox="1">
            <a:spLocks noChangeArrowheads="1"/>
          </p:cNvSpPr>
          <p:nvPr/>
        </p:nvSpPr>
        <p:spPr bwMode="auto">
          <a:xfrm>
            <a:off x="4267200" y="3276600"/>
            <a:ext cx="661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......</a:t>
            </a:r>
          </a:p>
        </p:txBody>
      </p:sp>
      <p:sp>
        <p:nvSpPr>
          <p:cNvPr id="766999" name="Line 23"/>
          <p:cNvSpPr>
            <a:spLocks noChangeShapeType="1"/>
          </p:cNvSpPr>
          <p:nvPr/>
        </p:nvSpPr>
        <p:spPr bwMode="auto">
          <a:xfrm flipH="1">
            <a:off x="4572000" y="4800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0" name="Line 24"/>
          <p:cNvSpPr>
            <a:spLocks noChangeShapeType="1"/>
          </p:cNvSpPr>
          <p:nvPr/>
        </p:nvSpPr>
        <p:spPr bwMode="auto">
          <a:xfrm>
            <a:off x="1828800" y="1676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1" name="Line 25"/>
          <p:cNvSpPr>
            <a:spLocks noChangeShapeType="1"/>
          </p:cNvSpPr>
          <p:nvPr/>
        </p:nvSpPr>
        <p:spPr bwMode="auto">
          <a:xfrm flipV="1">
            <a:off x="4572000" y="16764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2" name="Line 26"/>
          <p:cNvSpPr>
            <a:spLocks noChangeShapeType="1"/>
          </p:cNvSpPr>
          <p:nvPr/>
        </p:nvSpPr>
        <p:spPr bwMode="auto">
          <a:xfrm>
            <a:off x="1219200" y="1701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3" name="Line 27"/>
          <p:cNvSpPr>
            <a:spLocks noChangeShapeType="1"/>
          </p:cNvSpPr>
          <p:nvPr/>
        </p:nvSpPr>
        <p:spPr bwMode="auto">
          <a:xfrm>
            <a:off x="7086600" y="2514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4" name="Line 28"/>
          <p:cNvSpPr>
            <a:spLocks noChangeShapeType="1"/>
          </p:cNvSpPr>
          <p:nvPr/>
        </p:nvSpPr>
        <p:spPr bwMode="auto">
          <a:xfrm>
            <a:off x="6781800" y="533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5" name="Line 29"/>
          <p:cNvSpPr>
            <a:spLocks noChangeShapeType="1"/>
          </p:cNvSpPr>
          <p:nvPr/>
        </p:nvSpPr>
        <p:spPr bwMode="auto">
          <a:xfrm>
            <a:off x="2819400" y="2514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6" name="Line 30"/>
          <p:cNvSpPr>
            <a:spLocks noChangeShapeType="1"/>
          </p:cNvSpPr>
          <p:nvPr/>
        </p:nvSpPr>
        <p:spPr bwMode="auto">
          <a:xfrm flipV="1">
            <a:off x="42672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7" name="Line 31"/>
          <p:cNvSpPr>
            <a:spLocks noChangeShapeType="1"/>
          </p:cNvSpPr>
          <p:nvPr/>
        </p:nvSpPr>
        <p:spPr bwMode="auto">
          <a:xfrm>
            <a:off x="4876800" y="5334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8" name="Line 32"/>
          <p:cNvSpPr>
            <a:spLocks noChangeShapeType="1"/>
          </p:cNvSpPr>
          <p:nvPr/>
        </p:nvSpPr>
        <p:spPr bwMode="auto">
          <a:xfrm>
            <a:off x="5867400" y="5334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09" name="AutoShape 33"/>
          <p:cNvSpPr>
            <a:spLocks noChangeArrowheads="1"/>
          </p:cNvSpPr>
          <p:nvPr/>
        </p:nvSpPr>
        <p:spPr bwMode="auto">
          <a:xfrm flipV="1">
            <a:off x="609600" y="1930400"/>
            <a:ext cx="1371600" cy="2590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10" name="AutoShape 34"/>
          <p:cNvSpPr>
            <a:spLocks noChangeArrowheads="1"/>
          </p:cNvSpPr>
          <p:nvPr/>
        </p:nvSpPr>
        <p:spPr bwMode="auto">
          <a:xfrm flipV="1">
            <a:off x="2286000" y="2768600"/>
            <a:ext cx="609600" cy="19812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11" name="AutoShape 35"/>
          <p:cNvSpPr>
            <a:spLocks noChangeArrowheads="1"/>
          </p:cNvSpPr>
          <p:nvPr/>
        </p:nvSpPr>
        <p:spPr bwMode="auto">
          <a:xfrm flipV="1">
            <a:off x="4267200" y="5562600"/>
            <a:ext cx="7620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12" name="AutoShape 36"/>
          <p:cNvSpPr>
            <a:spLocks noChangeArrowheads="1"/>
          </p:cNvSpPr>
          <p:nvPr/>
        </p:nvSpPr>
        <p:spPr bwMode="auto">
          <a:xfrm flipV="1">
            <a:off x="5334000" y="5562600"/>
            <a:ext cx="685800" cy="9144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13" name="AutoShape 37"/>
          <p:cNvSpPr>
            <a:spLocks noChangeArrowheads="1"/>
          </p:cNvSpPr>
          <p:nvPr/>
        </p:nvSpPr>
        <p:spPr bwMode="auto">
          <a:xfrm flipV="1">
            <a:off x="6324600" y="5562600"/>
            <a:ext cx="1066800" cy="914400"/>
          </a:xfrm>
          <a:custGeom>
            <a:avLst/>
            <a:gdLst>
              <a:gd name="G0" fmla="+- 2129 0 0"/>
              <a:gd name="G1" fmla="+- 21600 0 2129"/>
              <a:gd name="G2" fmla="*/ 2129 1 2"/>
              <a:gd name="G3" fmla="+- 21600 0 G2"/>
              <a:gd name="G4" fmla="+/ 2129 21600 2"/>
              <a:gd name="G5" fmla="+/ G1 0 2"/>
              <a:gd name="G6" fmla="*/ 21600 21600 2129"/>
              <a:gd name="G7" fmla="*/ G6 1 2"/>
              <a:gd name="G8" fmla="+- 21600 0 G7"/>
              <a:gd name="G9" fmla="*/ 21600 1 2"/>
              <a:gd name="G10" fmla="+- 2129 0 G9"/>
              <a:gd name="G11" fmla="?: G10 G8 0"/>
              <a:gd name="G12" fmla="?: G10 G7 21600"/>
              <a:gd name="T0" fmla="*/ 20535 w 21600"/>
              <a:gd name="T1" fmla="*/ 10800 h 21600"/>
              <a:gd name="T2" fmla="*/ 10800 w 21600"/>
              <a:gd name="T3" fmla="*/ 21600 h 21600"/>
              <a:gd name="T4" fmla="*/ 1065 w 21600"/>
              <a:gd name="T5" fmla="*/ 10800 h 21600"/>
              <a:gd name="T6" fmla="*/ 10800 w 21600"/>
              <a:gd name="T7" fmla="*/ 0 h 21600"/>
              <a:gd name="T8" fmla="*/ 2865 w 21600"/>
              <a:gd name="T9" fmla="*/ 2865 h 21600"/>
              <a:gd name="T10" fmla="*/ 18735 w 21600"/>
              <a:gd name="T11" fmla="*/ 187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129" y="21600"/>
                </a:lnTo>
                <a:lnTo>
                  <a:pt x="194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14" name="AutoShape 38"/>
          <p:cNvSpPr>
            <a:spLocks noChangeArrowheads="1"/>
          </p:cNvSpPr>
          <p:nvPr/>
        </p:nvSpPr>
        <p:spPr bwMode="auto">
          <a:xfrm flipV="1">
            <a:off x="6553200" y="2743200"/>
            <a:ext cx="1295400" cy="1981200"/>
          </a:xfrm>
          <a:custGeom>
            <a:avLst/>
            <a:gdLst>
              <a:gd name="G0" fmla="+- 3459 0 0"/>
              <a:gd name="G1" fmla="+- 21600 0 3459"/>
              <a:gd name="G2" fmla="*/ 3459 1 2"/>
              <a:gd name="G3" fmla="+- 21600 0 G2"/>
              <a:gd name="G4" fmla="+/ 3459 21600 2"/>
              <a:gd name="G5" fmla="+/ G1 0 2"/>
              <a:gd name="G6" fmla="*/ 21600 21600 3459"/>
              <a:gd name="G7" fmla="*/ G6 1 2"/>
              <a:gd name="G8" fmla="+- 21600 0 G7"/>
              <a:gd name="G9" fmla="*/ 21600 1 2"/>
              <a:gd name="G10" fmla="+- 3459 0 G9"/>
              <a:gd name="G11" fmla="?: G10 G8 0"/>
              <a:gd name="G12" fmla="?: G10 G7 21600"/>
              <a:gd name="T0" fmla="*/ 19870 w 21600"/>
              <a:gd name="T1" fmla="*/ 10800 h 21600"/>
              <a:gd name="T2" fmla="*/ 10800 w 21600"/>
              <a:gd name="T3" fmla="*/ 21600 h 21600"/>
              <a:gd name="T4" fmla="*/ 1730 w 21600"/>
              <a:gd name="T5" fmla="*/ 10800 h 21600"/>
              <a:gd name="T6" fmla="*/ 10800 w 21600"/>
              <a:gd name="T7" fmla="*/ 0 h 21600"/>
              <a:gd name="T8" fmla="*/ 3530 w 21600"/>
              <a:gd name="T9" fmla="*/ 3530 h 21600"/>
              <a:gd name="T10" fmla="*/ 18070 w 21600"/>
              <a:gd name="T11" fmla="*/ 180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59" y="21600"/>
                </a:lnTo>
                <a:lnTo>
                  <a:pt x="181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15" name="AutoShape 39"/>
          <p:cNvSpPr>
            <a:spLocks noChangeArrowheads="1"/>
          </p:cNvSpPr>
          <p:nvPr/>
        </p:nvSpPr>
        <p:spPr bwMode="auto">
          <a:xfrm flipV="1">
            <a:off x="8001000" y="1905000"/>
            <a:ext cx="609600" cy="25146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16" name="Rectangle 40"/>
          <p:cNvSpPr>
            <a:spLocks noChangeArrowheads="1"/>
          </p:cNvSpPr>
          <p:nvPr/>
        </p:nvSpPr>
        <p:spPr bwMode="auto">
          <a:xfrm>
            <a:off x="914400" y="2387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7017" name="Rectangle 41"/>
          <p:cNvSpPr>
            <a:spLocks noChangeArrowheads="1"/>
          </p:cNvSpPr>
          <p:nvPr/>
        </p:nvSpPr>
        <p:spPr bwMode="auto">
          <a:xfrm>
            <a:off x="2362200" y="3530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7018" name="Rectangle 42"/>
          <p:cNvSpPr>
            <a:spLocks noChangeArrowheads="1"/>
          </p:cNvSpPr>
          <p:nvPr/>
        </p:nvSpPr>
        <p:spPr bwMode="auto">
          <a:xfrm>
            <a:off x="4419600" y="5943600"/>
            <a:ext cx="5334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7019" name="Line 43"/>
          <p:cNvSpPr>
            <a:spLocks noChangeShapeType="1"/>
          </p:cNvSpPr>
          <p:nvPr/>
        </p:nvSpPr>
        <p:spPr bwMode="auto">
          <a:xfrm flipV="1">
            <a:off x="2590800" y="1778000"/>
            <a:ext cx="1447800" cy="1752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20" name="Line 44"/>
          <p:cNvSpPr>
            <a:spLocks noChangeShapeType="1"/>
          </p:cNvSpPr>
          <p:nvPr/>
        </p:nvSpPr>
        <p:spPr bwMode="auto">
          <a:xfrm flipV="1">
            <a:off x="1143000" y="787400"/>
            <a:ext cx="2819400" cy="1600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21" name="Line 45"/>
          <p:cNvSpPr>
            <a:spLocks noChangeShapeType="1"/>
          </p:cNvSpPr>
          <p:nvPr/>
        </p:nvSpPr>
        <p:spPr bwMode="auto">
          <a:xfrm flipV="1">
            <a:off x="4648200" y="4800600"/>
            <a:ext cx="152400" cy="1143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22" name="Text Box 46"/>
          <p:cNvSpPr txBox="1">
            <a:spLocks noChangeArrowheads="1"/>
          </p:cNvSpPr>
          <p:nvPr/>
        </p:nvSpPr>
        <p:spPr bwMode="auto">
          <a:xfrm>
            <a:off x="4495800" y="3302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0</a:t>
            </a:r>
          </a:p>
        </p:txBody>
      </p:sp>
      <p:sp>
        <p:nvSpPr>
          <p:cNvPr id="767023" name="Text Box 47"/>
          <p:cNvSpPr txBox="1">
            <a:spLocks noChangeArrowheads="1"/>
          </p:cNvSpPr>
          <p:nvPr/>
        </p:nvSpPr>
        <p:spPr bwMode="auto">
          <a:xfrm>
            <a:off x="4648200" y="11684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1</a:t>
            </a:r>
          </a:p>
        </p:txBody>
      </p:sp>
      <p:sp>
        <p:nvSpPr>
          <p:cNvPr id="767024" name="Text Box 48"/>
          <p:cNvSpPr txBox="1">
            <a:spLocks noChangeArrowheads="1"/>
          </p:cNvSpPr>
          <p:nvPr/>
        </p:nvSpPr>
        <p:spPr bwMode="auto">
          <a:xfrm>
            <a:off x="4419600" y="20066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2</a:t>
            </a:r>
          </a:p>
        </p:txBody>
      </p:sp>
      <p:sp>
        <p:nvSpPr>
          <p:cNvPr id="767025" name="Text Box 49"/>
          <p:cNvSpPr txBox="1">
            <a:spLocks noChangeArrowheads="1"/>
          </p:cNvSpPr>
          <p:nvPr/>
        </p:nvSpPr>
        <p:spPr bwMode="auto">
          <a:xfrm>
            <a:off x="5334000" y="4114800"/>
            <a:ext cx="70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k-1</a:t>
            </a:r>
          </a:p>
        </p:txBody>
      </p:sp>
      <p:sp>
        <p:nvSpPr>
          <p:cNvPr id="767026" name="Line 50"/>
          <p:cNvSpPr>
            <a:spLocks noChangeShapeType="1"/>
          </p:cNvSpPr>
          <p:nvPr/>
        </p:nvSpPr>
        <p:spPr bwMode="auto">
          <a:xfrm>
            <a:off x="4191000" y="10160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27" name="Line 51"/>
          <p:cNvSpPr>
            <a:spLocks noChangeShapeType="1"/>
          </p:cNvSpPr>
          <p:nvPr/>
        </p:nvSpPr>
        <p:spPr bwMode="auto">
          <a:xfrm flipH="1">
            <a:off x="4038600" y="1854200"/>
            <a:ext cx="3048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28" name="Line 52"/>
          <p:cNvSpPr>
            <a:spLocks noChangeShapeType="1"/>
          </p:cNvSpPr>
          <p:nvPr/>
        </p:nvSpPr>
        <p:spPr bwMode="auto">
          <a:xfrm>
            <a:off x="4114800" y="26924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29" name="Line 53"/>
          <p:cNvSpPr>
            <a:spLocks noChangeShapeType="1"/>
          </p:cNvSpPr>
          <p:nvPr/>
        </p:nvSpPr>
        <p:spPr bwMode="auto">
          <a:xfrm>
            <a:off x="5029200" y="4800600"/>
            <a:ext cx="609600" cy="3048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30" name="Rectangle 54"/>
          <p:cNvSpPr>
            <a:spLocks noChangeArrowheads="1"/>
          </p:cNvSpPr>
          <p:nvPr/>
        </p:nvSpPr>
        <p:spPr bwMode="auto">
          <a:xfrm>
            <a:off x="4724400" y="4419600"/>
            <a:ext cx="5334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7031" name="Line 55"/>
          <p:cNvSpPr>
            <a:spLocks noChangeShapeType="1"/>
          </p:cNvSpPr>
          <p:nvPr/>
        </p:nvSpPr>
        <p:spPr bwMode="auto">
          <a:xfrm>
            <a:off x="4953000" y="3962400"/>
            <a:ext cx="762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32" name="AutoShape 56"/>
          <p:cNvSpPr>
            <a:spLocks noChangeArrowheads="1"/>
          </p:cNvSpPr>
          <p:nvPr/>
        </p:nvSpPr>
        <p:spPr bwMode="auto">
          <a:xfrm flipV="1">
            <a:off x="3124200" y="3505200"/>
            <a:ext cx="609600" cy="1447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33" name="Rectangle 57"/>
          <p:cNvSpPr>
            <a:spLocks noChangeArrowheads="1"/>
          </p:cNvSpPr>
          <p:nvPr/>
        </p:nvSpPr>
        <p:spPr bwMode="auto">
          <a:xfrm>
            <a:off x="3200400" y="3048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7034" name="Line 58"/>
          <p:cNvSpPr>
            <a:spLocks noChangeShapeType="1"/>
          </p:cNvSpPr>
          <p:nvPr/>
        </p:nvSpPr>
        <p:spPr bwMode="auto">
          <a:xfrm>
            <a:off x="3657600" y="3302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35" name="Line 59"/>
          <p:cNvSpPr>
            <a:spLocks noChangeShapeType="1"/>
          </p:cNvSpPr>
          <p:nvPr/>
        </p:nvSpPr>
        <p:spPr bwMode="auto">
          <a:xfrm>
            <a:off x="44196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36" name="Line 60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37" name="Line 61"/>
          <p:cNvSpPr>
            <a:spLocks noChangeShapeType="1"/>
          </p:cNvSpPr>
          <p:nvPr/>
        </p:nvSpPr>
        <p:spPr bwMode="auto">
          <a:xfrm flipV="1">
            <a:off x="3352800" y="2667000"/>
            <a:ext cx="533400" cy="1524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38" name="Rectangle 62"/>
          <p:cNvSpPr>
            <a:spLocks noChangeArrowheads="1"/>
          </p:cNvSpPr>
          <p:nvPr/>
        </p:nvSpPr>
        <p:spPr bwMode="auto">
          <a:xfrm>
            <a:off x="3200400" y="4191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7039" name="Text Box 63"/>
          <p:cNvSpPr txBox="1">
            <a:spLocks noChangeArrowheads="1"/>
          </p:cNvSpPr>
          <p:nvPr/>
        </p:nvSpPr>
        <p:spPr bwMode="auto">
          <a:xfrm>
            <a:off x="5638800" y="609600"/>
            <a:ext cx="308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r</a:t>
            </a:r>
            <a:r>
              <a:rPr lang="it-IT" sz="2800" b="1" i="1" baseline="-25000"/>
              <a:t>i</a:t>
            </a:r>
            <a:r>
              <a:rPr lang="it-IT" sz="2800" b="1"/>
              <a:t> = rappresentante</a:t>
            </a:r>
          </a:p>
        </p:txBody>
      </p:sp>
      <p:sp>
        <p:nvSpPr>
          <p:cNvPr id="767040" name="Text Box 64"/>
          <p:cNvSpPr txBox="1">
            <a:spLocks noChangeArrowheads="1"/>
          </p:cNvSpPr>
          <p:nvPr/>
        </p:nvSpPr>
        <p:spPr bwMode="auto">
          <a:xfrm>
            <a:off x="5791200" y="4572000"/>
            <a:ext cx="517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/>
              <a:t>S</a:t>
            </a:r>
            <a:r>
              <a:rPr lang="it-IT" sz="2800" b="1" baseline="-25000"/>
              <a:t>k</a:t>
            </a:r>
          </a:p>
        </p:txBody>
      </p:sp>
      <p:sp>
        <p:nvSpPr>
          <p:cNvPr id="767041" name="Rectangle 65"/>
          <p:cNvSpPr>
            <a:spLocks noChangeArrowheads="1"/>
          </p:cNvSpPr>
          <p:nvPr/>
        </p:nvSpPr>
        <p:spPr bwMode="auto">
          <a:xfrm>
            <a:off x="5486400" y="60198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  <p:sp>
        <p:nvSpPr>
          <p:cNvPr id="767042" name="Line 66"/>
          <p:cNvSpPr>
            <a:spLocks noChangeShapeType="1"/>
          </p:cNvSpPr>
          <p:nvPr/>
        </p:nvSpPr>
        <p:spPr bwMode="auto">
          <a:xfrm flipV="1">
            <a:off x="5638800" y="5486400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7043" name="Text Box 67"/>
          <p:cNvSpPr txBox="1">
            <a:spLocks noChangeArrowheads="1"/>
          </p:cNvSpPr>
          <p:nvPr/>
        </p:nvSpPr>
        <p:spPr bwMode="auto">
          <a:xfrm>
            <a:off x="211138" y="5105400"/>
            <a:ext cx="3856037" cy="12160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b="1" i="1">
                <a:sym typeface="Symbol" charset="0"/>
              </a:rPr>
              <a:t>color</a:t>
            </a:r>
            <a:r>
              <a:rPr lang="it-IT" sz="1800" b="1">
                <a:sym typeface="Symbol" charset="0"/>
              </a:rPr>
              <a:t>[</a:t>
            </a:r>
            <a:r>
              <a:rPr lang="it-IT" sz="1800" b="1" i="1">
                <a:sym typeface="Symbol" charset="0"/>
              </a:rPr>
              <a:t>u</a:t>
            </a:r>
            <a:r>
              <a:rPr lang="it-IT" sz="1800" b="1">
                <a:sym typeface="Symbol" charset="0"/>
              </a:rPr>
              <a:t>]  </a:t>
            </a:r>
            <a:r>
              <a:rPr lang="it-IT" sz="1800" b="1" i="1">
                <a:sym typeface="Symbol" charset="0"/>
              </a:rPr>
              <a:t>black</a:t>
            </a:r>
          </a:p>
          <a:p>
            <a:r>
              <a:rPr lang="it-IT" sz="1800" b="1">
                <a:sym typeface="Symbol" charset="0"/>
              </a:rPr>
              <a:t>for “ogni (</a:t>
            </a:r>
            <a:r>
              <a:rPr lang="it-IT" sz="1800" b="1" i="1">
                <a:sym typeface="Symbol" charset="0"/>
              </a:rPr>
              <a:t>u</a:t>
            </a:r>
            <a:r>
              <a:rPr lang="it-IT" sz="1800" b="1">
                <a:sym typeface="Symbol" charset="0"/>
              </a:rPr>
              <a:t>,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 i="1" baseline="-25000">
                <a:sym typeface="Symbol" charset="0"/>
              </a:rPr>
              <a:t>i</a:t>
            </a:r>
            <a:r>
              <a:rPr lang="it-IT" sz="1800" b="1">
                <a:sym typeface="Symbol" charset="0"/>
              </a:rPr>
              <a:t>)  </a:t>
            </a:r>
            <a:r>
              <a:rPr lang="it-IT" sz="1800" b="1" i="1">
                <a:sym typeface="Symbol" charset="0"/>
              </a:rPr>
              <a:t>L</a:t>
            </a:r>
            <a:r>
              <a:rPr lang="it-IT" sz="1800" b="1">
                <a:sym typeface="Symbol" charset="0"/>
              </a:rPr>
              <a:t>” do</a:t>
            </a:r>
          </a:p>
          <a:p>
            <a:r>
              <a:rPr lang="it-IT" sz="1800" b="1">
                <a:sym typeface="Symbol" charset="0"/>
              </a:rPr>
              <a:t>   if </a:t>
            </a:r>
            <a:r>
              <a:rPr lang="it-IT" sz="1800" b="1" i="1">
                <a:sym typeface="Symbol" charset="0"/>
              </a:rPr>
              <a:t>color</a:t>
            </a:r>
            <a:r>
              <a:rPr lang="it-IT" sz="1800" b="1">
                <a:sym typeface="Symbol" charset="0"/>
              </a:rPr>
              <a:t>[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 i="1" baseline="-25000">
                <a:sym typeface="Symbol" charset="0"/>
              </a:rPr>
              <a:t>i</a:t>
            </a:r>
            <a:r>
              <a:rPr lang="it-IT" sz="1800" b="1">
                <a:sym typeface="Symbol" charset="0"/>
              </a:rPr>
              <a:t>] = </a:t>
            </a:r>
            <a:r>
              <a:rPr lang="it-IT" sz="1800" b="1" i="1">
                <a:sym typeface="Symbol" charset="0"/>
              </a:rPr>
              <a:t>black</a:t>
            </a:r>
            <a:r>
              <a:rPr lang="it-IT" sz="1800" b="1">
                <a:sym typeface="Symbol" charset="0"/>
              </a:rPr>
              <a:t> then</a:t>
            </a:r>
          </a:p>
          <a:p>
            <a:r>
              <a:rPr lang="it-IT" sz="1800" b="1">
                <a:sym typeface="Symbol" charset="0"/>
              </a:rPr>
              <a:t>      </a:t>
            </a:r>
            <a:r>
              <a:rPr lang="it-IT" sz="1800" b="1" i="1">
                <a:sym typeface="Symbol" charset="0"/>
              </a:rPr>
              <a:t>w</a:t>
            </a:r>
            <a:r>
              <a:rPr lang="it-IT" sz="1800" b="1" i="1" baseline="-25000">
                <a:sym typeface="Symbol" charset="0"/>
              </a:rPr>
              <a:t>i</a:t>
            </a:r>
            <a:r>
              <a:rPr lang="it-IT" sz="1800" b="1">
                <a:sym typeface="Symbol" charset="0"/>
              </a:rPr>
              <a:t>  </a:t>
            </a:r>
            <a:r>
              <a:rPr lang="it-IT" sz="1800" b="1" i="1">
                <a:sym typeface="Symbol" charset="0"/>
              </a:rPr>
              <a:t>ancestor</a:t>
            </a:r>
            <a:r>
              <a:rPr lang="it-IT" sz="1800" b="1">
                <a:sym typeface="Symbol" charset="0"/>
              </a:rPr>
              <a:t>[</a:t>
            </a:r>
            <a:r>
              <a:rPr lang="it-IT" sz="1800" b="1" i="1">
                <a:sym typeface="Symbol" charset="0"/>
              </a:rPr>
              <a:t>FindSet</a:t>
            </a:r>
            <a:r>
              <a:rPr lang="it-IT" sz="1800" b="1">
                <a:sym typeface="Symbol" charset="0"/>
              </a:rPr>
              <a:t>(</a:t>
            </a:r>
            <a:r>
              <a:rPr lang="it-IT" sz="1800" b="1" i="1">
                <a:sym typeface="Symbol" charset="0"/>
              </a:rPr>
              <a:t>v</a:t>
            </a:r>
            <a:r>
              <a:rPr lang="it-IT" sz="1800" b="1" i="1" baseline="-25000">
                <a:sym typeface="Symbol" charset="0"/>
              </a:rPr>
              <a:t>i</a:t>
            </a:r>
            <a:r>
              <a:rPr lang="it-IT" sz="1800" b="1">
                <a:sym typeface="Symbol" charset="0"/>
              </a:rPr>
              <a:t>)] </a:t>
            </a:r>
          </a:p>
        </p:txBody>
      </p:sp>
      <p:sp>
        <p:nvSpPr>
          <p:cNvPr id="767044" name="Text Box 68"/>
          <p:cNvSpPr txBox="1">
            <a:spLocks noChangeArrowheads="1"/>
          </p:cNvSpPr>
          <p:nvPr/>
        </p:nvSpPr>
        <p:spPr bwMode="auto">
          <a:xfrm>
            <a:off x="5627688" y="152400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x</a:t>
            </a:r>
            <a:r>
              <a:rPr lang="it-IT" sz="2800" b="1" i="1" baseline="-25000"/>
              <a:t>0</a:t>
            </a:r>
            <a:r>
              <a:rPr lang="it-IT" sz="2800" b="1"/>
              <a:t> = </a:t>
            </a:r>
            <a:r>
              <a:rPr lang="it-IT" sz="2800" b="1" i="1"/>
              <a:t>root</a:t>
            </a:r>
            <a:r>
              <a:rPr lang="it-IT" sz="2800" b="1"/>
              <a:t>,  </a:t>
            </a: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r>
              <a:rPr lang="it-IT" sz="2800" b="1"/>
              <a:t> = </a:t>
            </a:r>
            <a:r>
              <a:rPr lang="it-IT" sz="2800" b="1" i="1"/>
              <a:t>u</a:t>
            </a:r>
          </a:p>
        </p:txBody>
      </p:sp>
      <p:sp>
        <p:nvSpPr>
          <p:cNvPr id="767045" name="Rectangle 69"/>
          <p:cNvSpPr>
            <a:spLocks noChangeArrowheads="1"/>
          </p:cNvSpPr>
          <p:nvPr/>
        </p:nvSpPr>
        <p:spPr bwMode="auto">
          <a:xfrm>
            <a:off x="5416550" y="5105400"/>
            <a:ext cx="4572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Freeform 2"/>
          <p:cNvSpPr>
            <a:spLocks/>
          </p:cNvSpPr>
          <p:nvPr/>
        </p:nvSpPr>
        <p:spPr bwMode="auto">
          <a:xfrm>
            <a:off x="3043238" y="2235200"/>
            <a:ext cx="1341437" cy="2903538"/>
          </a:xfrm>
          <a:custGeom>
            <a:avLst/>
            <a:gdLst>
              <a:gd name="T0" fmla="*/ 46 w 845"/>
              <a:gd name="T1" fmla="*/ 514 h 1829"/>
              <a:gd name="T2" fmla="*/ 529 w 845"/>
              <a:gd name="T3" fmla="*/ 0 h 1829"/>
              <a:gd name="T4" fmla="*/ 845 w 845"/>
              <a:gd name="T5" fmla="*/ 0 h 1829"/>
              <a:gd name="T6" fmla="*/ 845 w 845"/>
              <a:gd name="T7" fmla="*/ 346 h 1829"/>
              <a:gd name="T8" fmla="*/ 454 w 845"/>
              <a:gd name="T9" fmla="*/ 537 h 1829"/>
              <a:gd name="T10" fmla="*/ 492 w 845"/>
              <a:gd name="T11" fmla="*/ 1806 h 1829"/>
              <a:gd name="T12" fmla="*/ 0 w 845"/>
              <a:gd name="T13" fmla="*/ 1829 h 1829"/>
              <a:gd name="T14" fmla="*/ 46 w 845"/>
              <a:gd name="T15" fmla="*/ 514 h 1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5" h="1829">
                <a:moveTo>
                  <a:pt x="46" y="514"/>
                </a:moveTo>
                <a:lnTo>
                  <a:pt x="529" y="0"/>
                </a:lnTo>
                <a:lnTo>
                  <a:pt x="845" y="0"/>
                </a:lnTo>
                <a:lnTo>
                  <a:pt x="845" y="346"/>
                </a:lnTo>
                <a:lnTo>
                  <a:pt x="454" y="537"/>
                </a:lnTo>
                <a:lnTo>
                  <a:pt x="492" y="1806"/>
                </a:lnTo>
                <a:lnTo>
                  <a:pt x="0" y="1829"/>
                </a:lnTo>
                <a:lnTo>
                  <a:pt x="46" y="514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03" name="Freeform 3"/>
          <p:cNvSpPr>
            <a:spLocks/>
          </p:cNvSpPr>
          <p:nvPr/>
        </p:nvSpPr>
        <p:spPr bwMode="auto">
          <a:xfrm>
            <a:off x="4267200" y="4343400"/>
            <a:ext cx="1887538" cy="2286000"/>
          </a:xfrm>
          <a:custGeom>
            <a:avLst/>
            <a:gdLst>
              <a:gd name="T0" fmla="*/ 38 w 1189"/>
              <a:gd name="T1" fmla="*/ 475 h 1440"/>
              <a:gd name="T2" fmla="*/ 269 w 1189"/>
              <a:gd name="T3" fmla="*/ 0 h 1440"/>
              <a:gd name="T4" fmla="*/ 676 w 1189"/>
              <a:gd name="T5" fmla="*/ 14 h 1440"/>
              <a:gd name="T6" fmla="*/ 676 w 1189"/>
              <a:gd name="T7" fmla="*/ 283 h 1440"/>
              <a:gd name="T8" fmla="*/ 1073 w 1189"/>
              <a:gd name="T9" fmla="*/ 456 h 1440"/>
              <a:gd name="T10" fmla="*/ 1189 w 1189"/>
              <a:gd name="T11" fmla="*/ 1440 h 1440"/>
              <a:gd name="T12" fmla="*/ 0 w 1189"/>
              <a:gd name="T13" fmla="*/ 1438 h 1440"/>
              <a:gd name="T14" fmla="*/ 38 w 1189"/>
              <a:gd name="T15" fmla="*/ 475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89" h="1440">
                <a:moveTo>
                  <a:pt x="38" y="475"/>
                </a:moveTo>
                <a:lnTo>
                  <a:pt x="269" y="0"/>
                </a:lnTo>
                <a:lnTo>
                  <a:pt x="676" y="14"/>
                </a:lnTo>
                <a:lnTo>
                  <a:pt x="676" y="283"/>
                </a:lnTo>
                <a:lnTo>
                  <a:pt x="1073" y="456"/>
                </a:lnTo>
                <a:lnTo>
                  <a:pt x="1189" y="1440"/>
                </a:lnTo>
                <a:lnTo>
                  <a:pt x="0" y="1438"/>
                </a:lnTo>
                <a:lnTo>
                  <a:pt x="38" y="4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04" name="Freeform 4"/>
          <p:cNvSpPr>
            <a:spLocks/>
          </p:cNvSpPr>
          <p:nvPr/>
        </p:nvSpPr>
        <p:spPr bwMode="auto">
          <a:xfrm>
            <a:off x="2166938" y="1389063"/>
            <a:ext cx="2479675" cy="3516312"/>
          </a:xfrm>
          <a:custGeom>
            <a:avLst/>
            <a:gdLst>
              <a:gd name="T0" fmla="*/ 46 w 1562"/>
              <a:gd name="T1" fmla="*/ 569 h 2215"/>
              <a:gd name="T2" fmla="*/ 1246 w 1562"/>
              <a:gd name="T3" fmla="*/ 0 h 2215"/>
              <a:gd name="T4" fmla="*/ 1562 w 1562"/>
              <a:gd name="T5" fmla="*/ 0 h 2215"/>
              <a:gd name="T6" fmla="*/ 1562 w 1562"/>
              <a:gd name="T7" fmla="*/ 346 h 2215"/>
              <a:gd name="T8" fmla="*/ 485 w 1562"/>
              <a:gd name="T9" fmla="*/ 600 h 2215"/>
              <a:gd name="T10" fmla="*/ 516 w 1562"/>
              <a:gd name="T11" fmla="*/ 2215 h 2215"/>
              <a:gd name="T12" fmla="*/ 0 w 1562"/>
              <a:gd name="T13" fmla="*/ 2207 h 2215"/>
              <a:gd name="T14" fmla="*/ 46 w 1562"/>
              <a:gd name="T15" fmla="*/ 569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2" h="2215">
                <a:moveTo>
                  <a:pt x="46" y="569"/>
                </a:moveTo>
                <a:lnTo>
                  <a:pt x="1246" y="0"/>
                </a:lnTo>
                <a:lnTo>
                  <a:pt x="1562" y="0"/>
                </a:lnTo>
                <a:lnTo>
                  <a:pt x="1562" y="346"/>
                </a:lnTo>
                <a:lnTo>
                  <a:pt x="485" y="600"/>
                </a:lnTo>
                <a:lnTo>
                  <a:pt x="516" y="2215"/>
                </a:lnTo>
                <a:lnTo>
                  <a:pt x="0" y="2207"/>
                </a:lnTo>
                <a:lnTo>
                  <a:pt x="46" y="569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05" name="Freeform 5"/>
          <p:cNvSpPr>
            <a:spLocks/>
          </p:cNvSpPr>
          <p:nvPr/>
        </p:nvSpPr>
        <p:spPr bwMode="auto">
          <a:xfrm>
            <a:off x="381000" y="533400"/>
            <a:ext cx="4130675" cy="4216400"/>
          </a:xfrm>
          <a:custGeom>
            <a:avLst/>
            <a:gdLst>
              <a:gd name="T0" fmla="*/ 141 w 2602"/>
              <a:gd name="T1" fmla="*/ 577 h 2656"/>
              <a:gd name="T2" fmla="*/ 2287 w 2602"/>
              <a:gd name="T3" fmla="*/ 0 h 2656"/>
              <a:gd name="T4" fmla="*/ 2602 w 2602"/>
              <a:gd name="T5" fmla="*/ 0 h 2656"/>
              <a:gd name="T6" fmla="*/ 2594 w 2602"/>
              <a:gd name="T7" fmla="*/ 362 h 2656"/>
              <a:gd name="T8" fmla="*/ 1017 w 2602"/>
              <a:gd name="T9" fmla="*/ 600 h 2656"/>
              <a:gd name="T10" fmla="*/ 1056 w 2602"/>
              <a:gd name="T11" fmla="*/ 2656 h 2656"/>
              <a:gd name="T12" fmla="*/ 0 w 2602"/>
              <a:gd name="T13" fmla="*/ 2656 h 2656"/>
              <a:gd name="T14" fmla="*/ 141 w 2602"/>
              <a:gd name="T15" fmla="*/ 577 h 2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2" h="2656">
                <a:moveTo>
                  <a:pt x="141" y="577"/>
                </a:moveTo>
                <a:lnTo>
                  <a:pt x="2287" y="0"/>
                </a:lnTo>
                <a:lnTo>
                  <a:pt x="2602" y="0"/>
                </a:lnTo>
                <a:lnTo>
                  <a:pt x="2594" y="362"/>
                </a:lnTo>
                <a:lnTo>
                  <a:pt x="1017" y="600"/>
                </a:lnTo>
                <a:lnTo>
                  <a:pt x="1056" y="2656"/>
                </a:lnTo>
                <a:lnTo>
                  <a:pt x="0" y="2656"/>
                </a:lnTo>
                <a:lnTo>
                  <a:pt x="141" y="577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190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06" name="Rectangle 6"/>
          <p:cNvSpPr>
            <a:spLocks noChangeArrowheads="1"/>
          </p:cNvSpPr>
          <p:nvPr/>
        </p:nvSpPr>
        <p:spPr bwMode="auto">
          <a:xfrm>
            <a:off x="3962400" y="6350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8007" name="Rectangle 7"/>
          <p:cNvSpPr>
            <a:spLocks noChangeArrowheads="1"/>
          </p:cNvSpPr>
          <p:nvPr/>
        </p:nvSpPr>
        <p:spPr bwMode="auto">
          <a:xfrm>
            <a:off x="4114800" y="14732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8008" name="Rectangle 8"/>
          <p:cNvSpPr>
            <a:spLocks noChangeArrowheads="1"/>
          </p:cNvSpPr>
          <p:nvPr/>
        </p:nvSpPr>
        <p:spPr bwMode="auto">
          <a:xfrm>
            <a:off x="3810000" y="2311400"/>
            <a:ext cx="4572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8009" name="Rectangle 9"/>
          <p:cNvSpPr>
            <a:spLocks noChangeArrowheads="1"/>
          </p:cNvSpPr>
          <p:nvPr/>
        </p:nvSpPr>
        <p:spPr bwMode="auto">
          <a:xfrm>
            <a:off x="13716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8010" name="Rectangle 10"/>
          <p:cNvSpPr>
            <a:spLocks noChangeArrowheads="1"/>
          </p:cNvSpPr>
          <p:nvPr/>
        </p:nvSpPr>
        <p:spPr bwMode="auto">
          <a:xfrm>
            <a:off x="762000" y="14732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8011" name="Rectangle 11"/>
          <p:cNvSpPr>
            <a:spLocks noChangeArrowheads="1"/>
          </p:cNvSpPr>
          <p:nvPr/>
        </p:nvSpPr>
        <p:spPr bwMode="auto">
          <a:xfrm>
            <a:off x="8077200" y="14478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8012" name="Rectangle 12"/>
          <p:cNvSpPr>
            <a:spLocks noChangeArrowheads="1"/>
          </p:cNvSpPr>
          <p:nvPr/>
        </p:nvSpPr>
        <p:spPr bwMode="auto">
          <a:xfrm>
            <a:off x="63246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8013" name="Rectangle 13"/>
          <p:cNvSpPr>
            <a:spLocks noChangeArrowheads="1"/>
          </p:cNvSpPr>
          <p:nvPr/>
        </p:nvSpPr>
        <p:spPr bwMode="auto">
          <a:xfrm>
            <a:off x="72390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8014" name="Rectangle 14"/>
          <p:cNvSpPr>
            <a:spLocks noChangeArrowheads="1"/>
          </p:cNvSpPr>
          <p:nvPr/>
        </p:nvSpPr>
        <p:spPr bwMode="auto">
          <a:xfrm>
            <a:off x="6629400" y="22860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8015" name="Rectangle 15"/>
          <p:cNvSpPr>
            <a:spLocks noChangeArrowheads="1"/>
          </p:cNvSpPr>
          <p:nvPr/>
        </p:nvSpPr>
        <p:spPr bwMode="auto">
          <a:xfrm>
            <a:off x="2362200" y="2311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8016" name="Rectangle 16"/>
          <p:cNvSpPr>
            <a:spLocks noChangeArrowheads="1"/>
          </p:cNvSpPr>
          <p:nvPr/>
        </p:nvSpPr>
        <p:spPr bwMode="auto">
          <a:xfrm>
            <a:off x="4419600" y="51054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8017" name="Rectangle 17"/>
          <p:cNvSpPr>
            <a:spLocks noChangeArrowheads="1"/>
          </p:cNvSpPr>
          <p:nvPr/>
        </p:nvSpPr>
        <p:spPr bwMode="auto">
          <a:xfrm>
            <a:off x="6934200" y="5105400"/>
            <a:ext cx="457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/>
          </a:p>
        </p:txBody>
      </p:sp>
      <p:sp>
        <p:nvSpPr>
          <p:cNvPr id="768018" name="Line 18"/>
          <p:cNvSpPr>
            <a:spLocks noChangeShapeType="1"/>
          </p:cNvSpPr>
          <p:nvPr/>
        </p:nvSpPr>
        <p:spPr bwMode="auto">
          <a:xfrm flipH="1">
            <a:off x="990600" y="1016000"/>
            <a:ext cx="2971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19" name="Line 19"/>
          <p:cNvSpPr>
            <a:spLocks noChangeShapeType="1"/>
          </p:cNvSpPr>
          <p:nvPr/>
        </p:nvSpPr>
        <p:spPr bwMode="auto">
          <a:xfrm flipH="1">
            <a:off x="2590800" y="1854200"/>
            <a:ext cx="1524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0" name="Line 20"/>
          <p:cNvSpPr>
            <a:spLocks noChangeShapeType="1"/>
          </p:cNvSpPr>
          <p:nvPr/>
        </p:nvSpPr>
        <p:spPr bwMode="auto">
          <a:xfrm flipH="1">
            <a:off x="3429000" y="269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1" name="Text Box 21"/>
          <p:cNvSpPr txBox="1">
            <a:spLocks noChangeArrowheads="1"/>
          </p:cNvSpPr>
          <p:nvPr/>
        </p:nvSpPr>
        <p:spPr bwMode="auto">
          <a:xfrm>
            <a:off x="4267200" y="3276600"/>
            <a:ext cx="661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......</a:t>
            </a:r>
          </a:p>
        </p:txBody>
      </p:sp>
      <p:sp>
        <p:nvSpPr>
          <p:cNvPr id="768022" name="Line 22"/>
          <p:cNvSpPr>
            <a:spLocks noChangeShapeType="1"/>
          </p:cNvSpPr>
          <p:nvPr/>
        </p:nvSpPr>
        <p:spPr bwMode="auto">
          <a:xfrm flipH="1">
            <a:off x="4572000" y="4800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3" name="Line 23"/>
          <p:cNvSpPr>
            <a:spLocks noChangeShapeType="1"/>
          </p:cNvSpPr>
          <p:nvPr/>
        </p:nvSpPr>
        <p:spPr bwMode="auto">
          <a:xfrm>
            <a:off x="1828800" y="1676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4" name="Line 24"/>
          <p:cNvSpPr>
            <a:spLocks noChangeShapeType="1"/>
          </p:cNvSpPr>
          <p:nvPr/>
        </p:nvSpPr>
        <p:spPr bwMode="auto">
          <a:xfrm flipV="1">
            <a:off x="4572000" y="16764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5" name="Line 25"/>
          <p:cNvSpPr>
            <a:spLocks noChangeShapeType="1"/>
          </p:cNvSpPr>
          <p:nvPr/>
        </p:nvSpPr>
        <p:spPr bwMode="auto">
          <a:xfrm>
            <a:off x="1219200" y="1701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6" name="Line 26"/>
          <p:cNvSpPr>
            <a:spLocks noChangeShapeType="1"/>
          </p:cNvSpPr>
          <p:nvPr/>
        </p:nvSpPr>
        <p:spPr bwMode="auto">
          <a:xfrm>
            <a:off x="7086600" y="2514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7" name="Line 27"/>
          <p:cNvSpPr>
            <a:spLocks noChangeShapeType="1"/>
          </p:cNvSpPr>
          <p:nvPr/>
        </p:nvSpPr>
        <p:spPr bwMode="auto">
          <a:xfrm>
            <a:off x="6781800" y="533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8" name="Line 28"/>
          <p:cNvSpPr>
            <a:spLocks noChangeShapeType="1"/>
          </p:cNvSpPr>
          <p:nvPr/>
        </p:nvSpPr>
        <p:spPr bwMode="auto">
          <a:xfrm>
            <a:off x="2819400" y="2514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29" name="Line 29"/>
          <p:cNvSpPr>
            <a:spLocks noChangeShapeType="1"/>
          </p:cNvSpPr>
          <p:nvPr/>
        </p:nvSpPr>
        <p:spPr bwMode="auto">
          <a:xfrm flipV="1">
            <a:off x="42672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0" name="Line 30"/>
          <p:cNvSpPr>
            <a:spLocks noChangeShapeType="1"/>
          </p:cNvSpPr>
          <p:nvPr/>
        </p:nvSpPr>
        <p:spPr bwMode="auto">
          <a:xfrm>
            <a:off x="4876800" y="5334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1" name="Line 31"/>
          <p:cNvSpPr>
            <a:spLocks noChangeShapeType="1"/>
          </p:cNvSpPr>
          <p:nvPr/>
        </p:nvSpPr>
        <p:spPr bwMode="auto">
          <a:xfrm>
            <a:off x="5867400" y="5334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2" name="AutoShape 32"/>
          <p:cNvSpPr>
            <a:spLocks noChangeArrowheads="1"/>
          </p:cNvSpPr>
          <p:nvPr/>
        </p:nvSpPr>
        <p:spPr bwMode="auto">
          <a:xfrm flipV="1">
            <a:off x="609600" y="1930400"/>
            <a:ext cx="1371600" cy="2590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3" name="AutoShape 33"/>
          <p:cNvSpPr>
            <a:spLocks noChangeArrowheads="1"/>
          </p:cNvSpPr>
          <p:nvPr/>
        </p:nvSpPr>
        <p:spPr bwMode="auto">
          <a:xfrm flipV="1">
            <a:off x="2286000" y="2768600"/>
            <a:ext cx="609600" cy="19812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4" name="AutoShape 34"/>
          <p:cNvSpPr>
            <a:spLocks noChangeArrowheads="1"/>
          </p:cNvSpPr>
          <p:nvPr/>
        </p:nvSpPr>
        <p:spPr bwMode="auto">
          <a:xfrm flipV="1">
            <a:off x="4343400" y="5562600"/>
            <a:ext cx="1600200" cy="914400"/>
          </a:xfrm>
          <a:custGeom>
            <a:avLst/>
            <a:gdLst>
              <a:gd name="G0" fmla="+- 1628 0 0"/>
              <a:gd name="G1" fmla="+- 21600 0 1628"/>
              <a:gd name="G2" fmla="*/ 1628 1 2"/>
              <a:gd name="G3" fmla="+- 21600 0 G2"/>
              <a:gd name="G4" fmla="+/ 1628 21600 2"/>
              <a:gd name="G5" fmla="+/ G1 0 2"/>
              <a:gd name="G6" fmla="*/ 21600 21600 1628"/>
              <a:gd name="G7" fmla="*/ G6 1 2"/>
              <a:gd name="G8" fmla="+- 21600 0 G7"/>
              <a:gd name="G9" fmla="*/ 21600 1 2"/>
              <a:gd name="G10" fmla="+- 1628 0 G9"/>
              <a:gd name="G11" fmla="?: G10 G8 0"/>
              <a:gd name="G12" fmla="?: G10 G7 21600"/>
              <a:gd name="T0" fmla="*/ 20786 w 21600"/>
              <a:gd name="T1" fmla="*/ 10800 h 21600"/>
              <a:gd name="T2" fmla="*/ 10800 w 21600"/>
              <a:gd name="T3" fmla="*/ 21600 h 21600"/>
              <a:gd name="T4" fmla="*/ 814 w 21600"/>
              <a:gd name="T5" fmla="*/ 10800 h 21600"/>
              <a:gd name="T6" fmla="*/ 10800 w 21600"/>
              <a:gd name="T7" fmla="*/ 0 h 21600"/>
              <a:gd name="T8" fmla="*/ 2614 w 21600"/>
              <a:gd name="T9" fmla="*/ 2614 h 21600"/>
              <a:gd name="T10" fmla="*/ 18986 w 21600"/>
              <a:gd name="T11" fmla="*/ 189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1628" y="21600"/>
                </a:lnTo>
                <a:lnTo>
                  <a:pt x="1997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5" name="AutoShape 35"/>
          <p:cNvSpPr>
            <a:spLocks noChangeArrowheads="1"/>
          </p:cNvSpPr>
          <p:nvPr/>
        </p:nvSpPr>
        <p:spPr bwMode="auto">
          <a:xfrm flipV="1">
            <a:off x="6324600" y="5562600"/>
            <a:ext cx="1066800" cy="914400"/>
          </a:xfrm>
          <a:custGeom>
            <a:avLst/>
            <a:gdLst>
              <a:gd name="G0" fmla="+- 2129 0 0"/>
              <a:gd name="G1" fmla="+- 21600 0 2129"/>
              <a:gd name="G2" fmla="*/ 2129 1 2"/>
              <a:gd name="G3" fmla="+- 21600 0 G2"/>
              <a:gd name="G4" fmla="+/ 2129 21600 2"/>
              <a:gd name="G5" fmla="+/ G1 0 2"/>
              <a:gd name="G6" fmla="*/ 21600 21600 2129"/>
              <a:gd name="G7" fmla="*/ G6 1 2"/>
              <a:gd name="G8" fmla="+- 21600 0 G7"/>
              <a:gd name="G9" fmla="*/ 21600 1 2"/>
              <a:gd name="G10" fmla="+- 2129 0 G9"/>
              <a:gd name="G11" fmla="?: G10 G8 0"/>
              <a:gd name="G12" fmla="?: G10 G7 21600"/>
              <a:gd name="T0" fmla="*/ 20535 w 21600"/>
              <a:gd name="T1" fmla="*/ 10800 h 21600"/>
              <a:gd name="T2" fmla="*/ 10800 w 21600"/>
              <a:gd name="T3" fmla="*/ 21600 h 21600"/>
              <a:gd name="T4" fmla="*/ 1065 w 21600"/>
              <a:gd name="T5" fmla="*/ 10800 h 21600"/>
              <a:gd name="T6" fmla="*/ 10800 w 21600"/>
              <a:gd name="T7" fmla="*/ 0 h 21600"/>
              <a:gd name="T8" fmla="*/ 2865 w 21600"/>
              <a:gd name="T9" fmla="*/ 2865 h 21600"/>
              <a:gd name="T10" fmla="*/ 18735 w 21600"/>
              <a:gd name="T11" fmla="*/ 187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129" y="21600"/>
                </a:lnTo>
                <a:lnTo>
                  <a:pt x="194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6" name="AutoShape 36"/>
          <p:cNvSpPr>
            <a:spLocks noChangeArrowheads="1"/>
          </p:cNvSpPr>
          <p:nvPr/>
        </p:nvSpPr>
        <p:spPr bwMode="auto">
          <a:xfrm flipV="1">
            <a:off x="6553200" y="2743200"/>
            <a:ext cx="1295400" cy="1981200"/>
          </a:xfrm>
          <a:custGeom>
            <a:avLst/>
            <a:gdLst>
              <a:gd name="G0" fmla="+- 3459 0 0"/>
              <a:gd name="G1" fmla="+- 21600 0 3459"/>
              <a:gd name="G2" fmla="*/ 3459 1 2"/>
              <a:gd name="G3" fmla="+- 21600 0 G2"/>
              <a:gd name="G4" fmla="+/ 3459 21600 2"/>
              <a:gd name="G5" fmla="+/ G1 0 2"/>
              <a:gd name="G6" fmla="*/ 21600 21600 3459"/>
              <a:gd name="G7" fmla="*/ G6 1 2"/>
              <a:gd name="G8" fmla="+- 21600 0 G7"/>
              <a:gd name="G9" fmla="*/ 21600 1 2"/>
              <a:gd name="G10" fmla="+- 3459 0 G9"/>
              <a:gd name="G11" fmla="?: G10 G8 0"/>
              <a:gd name="G12" fmla="?: G10 G7 21600"/>
              <a:gd name="T0" fmla="*/ 19870 w 21600"/>
              <a:gd name="T1" fmla="*/ 10800 h 21600"/>
              <a:gd name="T2" fmla="*/ 10800 w 21600"/>
              <a:gd name="T3" fmla="*/ 21600 h 21600"/>
              <a:gd name="T4" fmla="*/ 1730 w 21600"/>
              <a:gd name="T5" fmla="*/ 10800 h 21600"/>
              <a:gd name="T6" fmla="*/ 10800 w 21600"/>
              <a:gd name="T7" fmla="*/ 0 h 21600"/>
              <a:gd name="T8" fmla="*/ 3530 w 21600"/>
              <a:gd name="T9" fmla="*/ 3530 h 21600"/>
              <a:gd name="T10" fmla="*/ 18070 w 21600"/>
              <a:gd name="T11" fmla="*/ 180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59" y="21600"/>
                </a:lnTo>
                <a:lnTo>
                  <a:pt x="181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7" name="AutoShape 37"/>
          <p:cNvSpPr>
            <a:spLocks noChangeArrowheads="1"/>
          </p:cNvSpPr>
          <p:nvPr/>
        </p:nvSpPr>
        <p:spPr bwMode="auto">
          <a:xfrm flipV="1">
            <a:off x="8001000" y="1905000"/>
            <a:ext cx="609600" cy="25146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38" name="Rectangle 38"/>
          <p:cNvSpPr>
            <a:spLocks noChangeArrowheads="1"/>
          </p:cNvSpPr>
          <p:nvPr/>
        </p:nvSpPr>
        <p:spPr bwMode="auto">
          <a:xfrm>
            <a:off x="914400" y="2387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0</a:t>
            </a:r>
            <a:endParaRPr lang="it-IT" sz="2800" b="1" i="1"/>
          </a:p>
        </p:txBody>
      </p:sp>
      <p:sp>
        <p:nvSpPr>
          <p:cNvPr id="768039" name="Rectangle 39"/>
          <p:cNvSpPr>
            <a:spLocks noChangeArrowheads="1"/>
          </p:cNvSpPr>
          <p:nvPr/>
        </p:nvSpPr>
        <p:spPr bwMode="auto">
          <a:xfrm>
            <a:off x="2362200" y="35306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1</a:t>
            </a:r>
            <a:endParaRPr lang="it-IT" sz="2800" b="1" i="1"/>
          </a:p>
        </p:txBody>
      </p:sp>
      <p:sp>
        <p:nvSpPr>
          <p:cNvPr id="768040" name="Rectangle 40"/>
          <p:cNvSpPr>
            <a:spLocks noChangeArrowheads="1"/>
          </p:cNvSpPr>
          <p:nvPr/>
        </p:nvSpPr>
        <p:spPr bwMode="auto">
          <a:xfrm>
            <a:off x="4800600" y="5867400"/>
            <a:ext cx="6096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8041" name="Line 41"/>
          <p:cNvSpPr>
            <a:spLocks noChangeShapeType="1"/>
          </p:cNvSpPr>
          <p:nvPr/>
        </p:nvSpPr>
        <p:spPr bwMode="auto">
          <a:xfrm flipV="1">
            <a:off x="2590800" y="1778000"/>
            <a:ext cx="1447800" cy="1752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42" name="Line 42"/>
          <p:cNvSpPr>
            <a:spLocks noChangeShapeType="1"/>
          </p:cNvSpPr>
          <p:nvPr/>
        </p:nvSpPr>
        <p:spPr bwMode="auto">
          <a:xfrm flipV="1">
            <a:off x="1143000" y="787400"/>
            <a:ext cx="2819400" cy="1600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43" name="Line 43"/>
          <p:cNvSpPr>
            <a:spLocks noChangeShapeType="1"/>
          </p:cNvSpPr>
          <p:nvPr/>
        </p:nvSpPr>
        <p:spPr bwMode="auto">
          <a:xfrm flipH="1" flipV="1">
            <a:off x="4876800" y="4800600"/>
            <a:ext cx="152400" cy="1066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44" name="Text Box 44"/>
          <p:cNvSpPr txBox="1">
            <a:spLocks noChangeArrowheads="1"/>
          </p:cNvSpPr>
          <p:nvPr/>
        </p:nvSpPr>
        <p:spPr bwMode="auto">
          <a:xfrm>
            <a:off x="4495800" y="3302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0</a:t>
            </a:r>
          </a:p>
        </p:txBody>
      </p:sp>
      <p:sp>
        <p:nvSpPr>
          <p:cNvPr id="768045" name="Text Box 45"/>
          <p:cNvSpPr txBox="1">
            <a:spLocks noChangeArrowheads="1"/>
          </p:cNvSpPr>
          <p:nvPr/>
        </p:nvSpPr>
        <p:spPr bwMode="auto">
          <a:xfrm>
            <a:off x="4648200" y="11684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1</a:t>
            </a:r>
          </a:p>
        </p:txBody>
      </p:sp>
      <p:sp>
        <p:nvSpPr>
          <p:cNvPr id="768046" name="Text Box 46"/>
          <p:cNvSpPr txBox="1">
            <a:spLocks noChangeArrowheads="1"/>
          </p:cNvSpPr>
          <p:nvPr/>
        </p:nvSpPr>
        <p:spPr bwMode="auto">
          <a:xfrm>
            <a:off x="4419600" y="2006600"/>
            <a:ext cx="46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2</a:t>
            </a:r>
          </a:p>
        </p:txBody>
      </p:sp>
      <p:sp>
        <p:nvSpPr>
          <p:cNvPr id="768047" name="Text Box 47"/>
          <p:cNvSpPr txBox="1">
            <a:spLocks noChangeArrowheads="1"/>
          </p:cNvSpPr>
          <p:nvPr/>
        </p:nvSpPr>
        <p:spPr bwMode="auto">
          <a:xfrm>
            <a:off x="5334000" y="4114800"/>
            <a:ext cx="70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S</a:t>
            </a:r>
            <a:r>
              <a:rPr lang="it-IT" sz="2800" b="1" i="1" baseline="-25000"/>
              <a:t>k-1</a:t>
            </a:r>
          </a:p>
        </p:txBody>
      </p:sp>
      <p:sp>
        <p:nvSpPr>
          <p:cNvPr id="768048" name="Line 48"/>
          <p:cNvSpPr>
            <a:spLocks noChangeShapeType="1"/>
          </p:cNvSpPr>
          <p:nvPr/>
        </p:nvSpPr>
        <p:spPr bwMode="auto">
          <a:xfrm>
            <a:off x="4191000" y="10160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49" name="Line 49"/>
          <p:cNvSpPr>
            <a:spLocks noChangeShapeType="1"/>
          </p:cNvSpPr>
          <p:nvPr/>
        </p:nvSpPr>
        <p:spPr bwMode="auto">
          <a:xfrm flipH="1">
            <a:off x="4038600" y="1854200"/>
            <a:ext cx="3048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0" name="Line 50"/>
          <p:cNvSpPr>
            <a:spLocks noChangeShapeType="1"/>
          </p:cNvSpPr>
          <p:nvPr/>
        </p:nvSpPr>
        <p:spPr bwMode="auto">
          <a:xfrm>
            <a:off x="4114800" y="2692400"/>
            <a:ext cx="1524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1" name="Rectangle 51"/>
          <p:cNvSpPr>
            <a:spLocks noChangeArrowheads="1"/>
          </p:cNvSpPr>
          <p:nvPr/>
        </p:nvSpPr>
        <p:spPr bwMode="auto">
          <a:xfrm>
            <a:off x="4724400" y="4419600"/>
            <a:ext cx="5334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k-1</a:t>
            </a:r>
            <a:endParaRPr lang="it-IT" sz="2800" b="1" i="1"/>
          </a:p>
        </p:txBody>
      </p:sp>
      <p:sp>
        <p:nvSpPr>
          <p:cNvPr id="768052" name="Line 52"/>
          <p:cNvSpPr>
            <a:spLocks noChangeShapeType="1"/>
          </p:cNvSpPr>
          <p:nvPr/>
        </p:nvSpPr>
        <p:spPr bwMode="auto">
          <a:xfrm>
            <a:off x="4953000" y="3962400"/>
            <a:ext cx="76200" cy="457200"/>
          </a:xfrm>
          <a:prstGeom prst="line">
            <a:avLst/>
          </a:prstGeom>
          <a:noFill/>
          <a:ln w="57150">
            <a:solidFill>
              <a:srgbClr val="8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3" name="AutoShape 53"/>
          <p:cNvSpPr>
            <a:spLocks noChangeArrowheads="1"/>
          </p:cNvSpPr>
          <p:nvPr/>
        </p:nvSpPr>
        <p:spPr bwMode="auto">
          <a:xfrm flipV="1">
            <a:off x="3124200" y="3505200"/>
            <a:ext cx="609600" cy="1447800"/>
          </a:xfrm>
          <a:custGeom>
            <a:avLst/>
            <a:gdLst>
              <a:gd name="G0" fmla="+- 3774 0 0"/>
              <a:gd name="G1" fmla="+- 21600 0 3774"/>
              <a:gd name="G2" fmla="*/ 3774 1 2"/>
              <a:gd name="G3" fmla="+- 21600 0 G2"/>
              <a:gd name="G4" fmla="+/ 3774 21600 2"/>
              <a:gd name="G5" fmla="+/ G1 0 2"/>
              <a:gd name="G6" fmla="*/ 21600 21600 3774"/>
              <a:gd name="G7" fmla="*/ G6 1 2"/>
              <a:gd name="G8" fmla="+- 21600 0 G7"/>
              <a:gd name="G9" fmla="*/ 21600 1 2"/>
              <a:gd name="G10" fmla="+- 3774 0 G9"/>
              <a:gd name="G11" fmla="?: G10 G8 0"/>
              <a:gd name="G12" fmla="?: G10 G7 21600"/>
              <a:gd name="T0" fmla="*/ 19713 w 21600"/>
              <a:gd name="T1" fmla="*/ 10800 h 21600"/>
              <a:gd name="T2" fmla="*/ 10800 w 21600"/>
              <a:gd name="T3" fmla="*/ 21600 h 21600"/>
              <a:gd name="T4" fmla="*/ 1887 w 21600"/>
              <a:gd name="T5" fmla="*/ 10800 h 21600"/>
              <a:gd name="T6" fmla="*/ 10800 w 21600"/>
              <a:gd name="T7" fmla="*/ 0 h 21600"/>
              <a:gd name="T8" fmla="*/ 3687 w 21600"/>
              <a:gd name="T9" fmla="*/ 3687 h 21600"/>
              <a:gd name="T10" fmla="*/ 17913 w 21600"/>
              <a:gd name="T11" fmla="*/ 1791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74" y="21600"/>
                </a:lnTo>
                <a:lnTo>
                  <a:pt x="1782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4" name="Rectangle 54"/>
          <p:cNvSpPr>
            <a:spLocks noChangeArrowheads="1"/>
          </p:cNvSpPr>
          <p:nvPr/>
        </p:nvSpPr>
        <p:spPr bwMode="auto">
          <a:xfrm>
            <a:off x="3200400" y="3048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endParaRPr lang="it-IT" sz="2800" b="1" i="1"/>
          </a:p>
        </p:txBody>
      </p:sp>
      <p:sp>
        <p:nvSpPr>
          <p:cNvPr id="768055" name="Line 55"/>
          <p:cNvSpPr>
            <a:spLocks noChangeShapeType="1"/>
          </p:cNvSpPr>
          <p:nvPr/>
        </p:nvSpPr>
        <p:spPr bwMode="auto">
          <a:xfrm>
            <a:off x="3657600" y="3302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6" name="Line 56"/>
          <p:cNvSpPr>
            <a:spLocks noChangeShapeType="1"/>
          </p:cNvSpPr>
          <p:nvPr/>
        </p:nvSpPr>
        <p:spPr bwMode="auto">
          <a:xfrm>
            <a:off x="44196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7" name="Line 57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8" name="Line 58"/>
          <p:cNvSpPr>
            <a:spLocks noChangeShapeType="1"/>
          </p:cNvSpPr>
          <p:nvPr/>
        </p:nvSpPr>
        <p:spPr bwMode="auto">
          <a:xfrm flipV="1">
            <a:off x="3352800" y="2667000"/>
            <a:ext cx="533400" cy="1524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9" name="Rectangle 59"/>
          <p:cNvSpPr>
            <a:spLocks noChangeArrowheads="1"/>
          </p:cNvSpPr>
          <p:nvPr/>
        </p:nvSpPr>
        <p:spPr bwMode="auto">
          <a:xfrm>
            <a:off x="3200400" y="4191000"/>
            <a:ext cx="457200" cy="3810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r</a:t>
            </a:r>
            <a:r>
              <a:rPr lang="it-IT" sz="2800" b="1" i="1" baseline="-25000"/>
              <a:t>2</a:t>
            </a:r>
            <a:endParaRPr lang="it-IT" sz="2800" b="1" i="1"/>
          </a:p>
        </p:txBody>
      </p:sp>
      <p:sp>
        <p:nvSpPr>
          <p:cNvPr id="768060" name="Text Box 60"/>
          <p:cNvSpPr txBox="1">
            <a:spLocks noChangeArrowheads="1"/>
          </p:cNvSpPr>
          <p:nvPr/>
        </p:nvSpPr>
        <p:spPr bwMode="auto">
          <a:xfrm>
            <a:off x="5638800" y="609600"/>
            <a:ext cx="308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r</a:t>
            </a:r>
            <a:r>
              <a:rPr lang="it-IT" sz="2800" b="1" i="1" baseline="-25000"/>
              <a:t>i</a:t>
            </a:r>
            <a:r>
              <a:rPr lang="it-IT" sz="2800" b="1"/>
              <a:t> = rappresentante</a:t>
            </a:r>
          </a:p>
        </p:txBody>
      </p:sp>
      <p:sp>
        <p:nvSpPr>
          <p:cNvPr id="768061" name="Text Box 61"/>
          <p:cNvSpPr txBox="1">
            <a:spLocks noChangeArrowheads="1"/>
          </p:cNvSpPr>
          <p:nvPr/>
        </p:nvSpPr>
        <p:spPr bwMode="auto">
          <a:xfrm>
            <a:off x="280988" y="5181600"/>
            <a:ext cx="3798887" cy="12128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i="1">
                <a:sym typeface="Symbol" charset="0"/>
              </a:rPr>
              <a:t>Union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x</a:t>
            </a:r>
            <a:r>
              <a:rPr lang="it-IT" sz="2400" b="1" i="1" baseline="-25000">
                <a:sym typeface="Symbol" charset="0"/>
              </a:rPr>
              <a:t>k-1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u</a:t>
            </a:r>
            <a:r>
              <a:rPr lang="it-IT" sz="2400" b="1">
                <a:sym typeface="Symbol" charset="0"/>
              </a:rPr>
              <a:t>) </a:t>
            </a:r>
          </a:p>
          <a:p>
            <a:r>
              <a:rPr lang="it-IT" sz="2400" b="1" i="1">
                <a:sym typeface="Symbol" charset="0"/>
              </a:rPr>
              <a:t>ancestor</a:t>
            </a:r>
            <a:r>
              <a:rPr lang="it-IT" sz="2400" b="1">
                <a:sym typeface="Symbol" charset="0"/>
              </a:rPr>
              <a:t>[</a:t>
            </a:r>
            <a:r>
              <a:rPr lang="it-IT" sz="2400" b="1" i="1">
                <a:sym typeface="Symbol" charset="0"/>
              </a:rPr>
              <a:t>FindSet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x</a:t>
            </a:r>
            <a:r>
              <a:rPr lang="it-IT" sz="2400" b="1" i="1" baseline="-25000">
                <a:sym typeface="Symbol" charset="0"/>
              </a:rPr>
              <a:t>k-1</a:t>
            </a:r>
            <a:r>
              <a:rPr lang="it-IT" sz="2400" b="1">
                <a:sym typeface="Symbol" charset="0"/>
              </a:rPr>
              <a:t>)]  </a:t>
            </a:r>
            <a:r>
              <a:rPr lang="it-IT" sz="2400" b="1" i="1">
                <a:sym typeface="Symbol" charset="0"/>
              </a:rPr>
              <a:t>x</a:t>
            </a:r>
            <a:r>
              <a:rPr lang="it-IT" sz="2400" b="1" i="1" baseline="-25000">
                <a:sym typeface="Symbol" charset="0"/>
              </a:rPr>
              <a:t>k-1</a:t>
            </a:r>
            <a:endParaRPr lang="it-IT" sz="2400" b="1">
              <a:sym typeface="Symbol" charset="0"/>
            </a:endParaRPr>
          </a:p>
        </p:txBody>
      </p:sp>
      <p:sp>
        <p:nvSpPr>
          <p:cNvPr id="768062" name="Text Box 62"/>
          <p:cNvSpPr txBox="1">
            <a:spLocks noChangeArrowheads="1"/>
          </p:cNvSpPr>
          <p:nvPr/>
        </p:nvSpPr>
        <p:spPr bwMode="auto">
          <a:xfrm>
            <a:off x="5627688" y="152400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b="1" i="1"/>
              <a:t>x</a:t>
            </a:r>
            <a:r>
              <a:rPr lang="it-IT" sz="2800" b="1" i="1" baseline="-25000"/>
              <a:t>0</a:t>
            </a:r>
            <a:r>
              <a:rPr lang="it-IT" sz="2800" b="1"/>
              <a:t> = </a:t>
            </a:r>
            <a:r>
              <a:rPr lang="it-IT" sz="2800" b="1" i="1"/>
              <a:t>root</a:t>
            </a:r>
            <a:r>
              <a:rPr lang="it-IT" sz="2800" b="1"/>
              <a:t>,  </a:t>
            </a: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r>
              <a:rPr lang="it-IT" sz="2800" b="1"/>
              <a:t> = </a:t>
            </a:r>
            <a:r>
              <a:rPr lang="it-IT" sz="2800" b="1" i="1"/>
              <a:t>u</a:t>
            </a:r>
          </a:p>
        </p:txBody>
      </p:sp>
      <p:sp>
        <p:nvSpPr>
          <p:cNvPr id="768063" name="Rectangle 63"/>
          <p:cNvSpPr>
            <a:spLocks noChangeArrowheads="1"/>
          </p:cNvSpPr>
          <p:nvPr/>
        </p:nvSpPr>
        <p:spPr bwMode="auto">
          <a:xfrm>
            <a:off x="5416550" y="5105400"/>
            <a:ext cx="4572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65000"/>
              </a:lnSpc>
            </a:pPr>
            <a:r>
              <a:rPr lang="it-IT" sz="2800" b="1" i="1"/>
              <a:t>x</a:t>
            </a:r>
            <a:r>
              <a:rPr lang="it-IT" sz="2800" b="1" i="1" baseline="-25000"/>
              <a:t>k</a:t>
            </a:r>
            <a:endParaRPr lang="it-IT" sz="2800" b="1" i="1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980</TotalTime>
  <Words>6360</Words>
  <Application>Microsoft Macintosh PowerPoint</Application>
  <PresentationFormat>On-screen Show (4:3)</PresentationFormat>
  <Paragraphs>762</Paragraphs>
  <Slides>91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3" baseType="lpstr">
      <vt:lpstr>Presentazione</vt:lpstr>
      <vt:lpstr>Equation</vt:lpstr>
      <vt:lpstr>UNIVERSITA’ DI MILANO-BICOCCA CdL IN INFORMATICA</vt:lpstr>
      <vt:lpstr>Strutture dati per insiemi disgiunti</vt:lpstr>
      <vt:lpstr>Operazioni sugli insiemi disgiunti: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Proprietà dei ranghi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52</cp:revision>
  <cp:lastPrinted>2002-02-01T12:39:25Z</cp:lastPrinted>
  <dcterms:created xsi:type="dcterms:W3CDTF">2010-03-03T07:29:28Z</dcterms:created>
  <dcterms:modified xsi:type="dcterms:W3CDTF">2017-08-13T16:31:19Z</dcterms:modified>
</cp:coreProperties>
</file>