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23"/>
  </p:notesMasterIdLst>
  <p:handoutMasterIdLst>
    <p:handoutMasterId r:id="rId24"/>
  </p:handout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18" r:id="rId20"/>
    <p:sldId id="519" r:id="rId21"/>
    <p:sldId id="521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29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 dirty="0"/>
              <a:t>Introduzione agli algoritmi e strutture dati 2/ed</a:t>
            </a:r>
            <a:r>
              <a:rPr lang="it-IT" sz="1000" dirty="0"/>
              <a:t/>
            </a:r>
            <a:br>
              <a:rPr lang="it-IT" sz="1000" dirty="0"/>
            </a:br>
            <a:r>
              <a:rPr lang="it-IT" sz="1000" dirty="0"/>
              <a:t>T. H. </a:t>
            </a:r>
            <a:r>
              <a:rPr lang="it-IT" sz="1000" dirty="0" err="1"/>
              <a:t>Cormen</a:t>
            </a:r>
            <a:r>
              <a:rPr lang="it-IT" sz="1000" dirty="0"/>
              <a:t>, C. E. </a:t>
            </a:r>
            <a:r>
              <a:rPr lang="it-IT" sz="1000" dirty="0" err="1"/>
              <a:t>Leiserson</a:t>
            </a:r>
            <a:r>
              <a:rPr lang="it-IT" sz="1000" dirty="0"/>
              <a:t>, </a:t>
            </a:r>
            <a:r>
              <a:rPr lang="it-IT" sz="1000" dirty="0" err="1"/>
              <a:t>R</a:t>
            </a:r>
            <a:r>
              <a:rPr lang="it-IT" sz="1000" dirty="0"/>
              <a:t>. L. </a:t>
            </a:r>
            <a:r>
              <a:rPr lang="it-IT" sz="1000" dirty="0" err="1"/>
              <a:t>Rivest</a:t>
            </a:r>
            <a:r>
              <a:rPr lang="it-IT" sz="1000" dirty="0"/>
              <a:t>, C. Stein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9" descr="McGraw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6251-7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88640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3" r:id="rId3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 dirty="0">
                <a:ea typeface="ＭＳ Ｐゴシック" charset="0"/>
                <a:cs typeface="ＭＳ Ｐゴシック" charset="0"/>
              </a:rPr>
            </a:br>
            <a:r>
              <a:rPr lang="it-IT" dirty="0" err="1">
                <a:ea typeface="ＭＳ Ｐゴシック" charset="0"/>
                <a:cs typeface="ＭＳ Ｐゴシック" charset="0"/>
              </a:rPr>
              <a:t>CdL</a:t>
            </a:r>
            <a:r>
              <a:rPr lang="it-IT" dirty="0">
                <a:ea typeface="ＭＳ Ｐゴシック" charset="0"/>
                <a:cs typeface="ＭＳ Ｐゴシック" charset="0"/>
              </a:rPr>
              <a:t>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Lezioni </a:t>
            </a: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19-20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smtClean="0">
                <a:solidFill>
                  <a:srgbClr val="008000"/>
                </a:solidFill>
              </a:rPr>
              <a:t>Minimum </a:t>
            </a:r>
            <a:r>
              <a:rPr lang="it-IT" dirty="0" err="1" smtClean="0">
                <a:solidFill>
                  <a:srgbClr val="008000"/>
                </a:solidFill>
              </a:rPr>
              <a:t>Spanning</a:t>
            </a:r>
            <a:r>
              <a:rPr lang="it-IT" dirty="0" smtClean="0">
                <a:solidFill>
                  <a:srgbClr val="008000"/>
                </a:solidFill>
              </a:rPr>
              <a:t> </a:t>
            </a:r>
            <a:r>
              <a:rPr lang="it-IT" dirty="0" err="1" smtClean="0">
                <a:solidFill>
                  <a:srgbClr val="008000"/>
                </a:solidFill>
              </a:rPr>
              <a:t>Trees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12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Albero di connessione di un grafo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Dato un grafo non orientato </a:t>
            </a:r>
            <a:r>
              <a:rPr lang="it-IT" dirty="0" smtClean="0">
                <a:solidFill>
                  <a:srgbClr val="FF0000"/>
                </a:solidFill>
              </a:rPr>
              <a:t>G = (V,E) </a:t>
            </a:r>
            <a:r>
              <a:rPr lang="it-IT" dirty="0" smtClean="0"/>
              <a:t>connesso, un </a:t>
            </a:r>
            <a:r>
              <a:rPr lang="it-IT" dirty="0" smtClean="0">
                <a:solidFill>
                  <a:srgbClr val="FF0000"/>
                </a:solidFill>
              </a:rPr>
              <a:t>albero di connessione </a:t>
            </a:r>
            <a:r>
              <a:rPr lang="it-IT" dirty="0" smtClean="0"/>
              <a:t>è costituito da un insieme di archi che connette tutti i vertici del grafo</a:t>
            </a:r>
          </a:p>
          <a:p>
            <a:r>
              <a:rPr lang="it-IT" dirty="0" smtClean="0"/>
              <a:t>Un grafo connesso </a:t>
            </a:r>
            <a:r>
              <a:rPr lang="it-IT" dirty="0" smtClean="0">
                <a:solidFill>
                  <a:srgbClr val="FF0000"/>
                </a:solidFill>
              </a:rPr>
              <a:t>G = (V,E)</a:t>
            </a:r>
            <a:r>
              <a:rPr lang="it-IT" dirty="0" smtClean="0"/>
              <a:t> può avere molti alberi di connessione ma tutti hanno esattamente </a:t>
            </a:r>
            <a:r>
              <a:rPr lang="it-IT" dirty="0" smtClean="0">
                <a:solidFill>
                  <a:srgbClr val="FF0000"/>
                </a:solidFill>
              </a:rPr>
              <a:t>|V| - 1 </a:t>
            </a:r>
            <a:r>
              <a:rPr lang="it-IT" dirty="0" smtClean="0"/>
              <a:t>archi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866" name="Group 2"/>
          <p:cNvGrpSpPr>
            <a:grpSpLocks/>
          </p:cNvGrpSpPr>
          <p:nvPr/>
        </p:nvGrpSpPr>
        <p:grpSpPr bwMode="auto">
          <a:xfrm>
            <a:off x="1828800" y="1828800"/>
            <a:ext cx="3962400" cy="1524000"/>
            <a:chOff x="1200" y="528"/>
            <a:chExt cx="2496" cy="960"/>
          </a:xfrm>
        </p:grpSpPr>
        <p:sp>
          <p:nvSpPr>
            <p:cNvPr id="676867" name="Line 3"/>
            <p:cNvSpPr>
              <a:spLocks noChangeShapeType="1"/>
            </p:cNvSpPr>
            <p:nvPr/>
          </p:nvSpPr>
          <p:spPr bwMode="auto">
            <a:xfrm>
              <a:off x="1776" y="624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68" name="Line 4"/>
            <p:cNvSpPr>
              <a:spLocks noChangeShapeType="1"/>
            </p:cNvSpPr>
            <p:nvPr/>
          </p:nvSpPr>
          <p:spPr bwMode="auto">
            <a:xfrm>
              <a:off x="2544" y="139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69" name="Line 5"/>
            <p:cNvSpPr>
              <a:spLocks noChangeShapeType="1"/>
            </p:cNvSpPr>
            <p:nvPr/>
          </p:nvSpPr>
          <p:spPr bwMode="auto">
            <a:xfrm>
              <a:off x="2544" y="624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0" name="Line 6"/>
            <p:cNvSpPr>
              <a:spLocks noChangeShapeType="1"/>
            </p:cNvSpPr>
            <p:nvPr/>
          </p:nvSpPr>
          <p:spPr bwMode="auto">
            <a:xfrm>
              <a:off x="1776" y="139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1" name="Line 7"/>
            <p:cNvSpPr>
              <a:spLocks noChangeShapeType="1"/>
            </p:cNvSpPr>
            <p:nvPr/>
          </p:nvSpPr>
          <p:spPr bwMode="auto">
            <a:xfrm>
              <a:off x="3264" y="672"/>
              <a:ext cx="288" cy="28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2" name="Line 8"/>
            <p:cNvSpPr>
              <a:spLocks noChangeShapeType="1"/>
            </p:cNvSpPr>
            <p:nvPr/>
          </p:nvSpPr>
          <p:spPr bwMode="auto">
            <a:xfrm>
              <a:off x="2496" y="672"/>
              <a:ext cx="672" cy="67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3" name="Line 9"/>
            <p:cNvSpPr>
              <a:spLocks noChangeShapeType="1"/>
            </p:cNvSpPr>
            <p:nvPr/>
          </p:nvSpPr>
          <p:spPr bwMode="auto">
            <a:xfrm flipV="1">
              <a:off x="1296" y="672"/>
              <a:ext cx="336" cy="33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4" name="Line 10"/>
            <p:cNvSpPr>
              <a:spLocks noChangeShapeType="1"/>
            </p:cNvSpPr>
            <p:nvPr/>
          </p:nvSpPr>
          <p:spPr bwMode="auto">
            <a:xfrm flipV="1">
              <a:off x="2064" y="624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875" name="Line 11"/>
            <p:cNvSpPr>
              <a:spLocks noChangeShapeType="1"/>
            </p:cNvSpPr>
            <p:nvPr/>
          </p:nvSpPr>
          <p:spPr bwMode="auto">
            <a:xfrm flipH="1" flipV="1">
              <a:off x="1296" y="10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76" name="Line 12"/>
            <p:cNvSpPr>
              <a:spLocks noChangeShapeType="1"/>
            </p:cNvSpPr>
            <p:nvPr/>
          </p:nvSpPr>
          <p:spPr bwMode="auto">
            <a:xfrm>
              <a:off x="1680" y="62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77" name="Line 13"/>
            <p:cNvSpPr>
              <a:spLocks noChangeShapeType="1"/>
            </p:cNvSpPr>
            <p:nvPr/>
          </p:nvSpPr>
          <p:spPr bwMode="auto">
            <a:xfrm flipH="1">
              <a:off x="1296" y="6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78" name="Line 14"/>
            <p:cNvSpPr>
              <a:spLocks noChangeShapeType="1"/>
            </p:cNvSpPr>
            <p:nvPr/>
          </p:nvSpPr>
          <p:spPr bwMode="auto">
            <a:xfrm>
              <a:off x="1680" y="6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79" name="Line 15"/>
            <p:cNvSpPr>
              <a:spLocks noChangeShapeType="1"/>
            </p:cNvSpPr>
            <p:nvPr/>
          </p:nvSpPr>
          <p:spPr bwMode="auto">
            <a:xfrm flipH="1">
              <a:off x="1680" y="10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0" name="Line 16"/>
            <p:cNvSpPr>
              <a:spLocks noChangeShapeType="1"/>
            </p:cNvSpPr>
            <p:nvPr/>
          </p:nvSpPr>
          <p:spPr bwMode="auto">
            <a:xfrm flipH="1">
              <a:off x="2064" y="6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1" name="Line 17"/>
            <p:cNvSpPr>
              <a:spLocks noChangeShapeType="1"/>
            </p:cNvSpPr>
            <p:nvPr/>
          </p:nvSpPr>
          <p:spPr bwMode="auto">
            <a:xfrm>
              <a:off x="1680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2" name="Line 18"/>
            <p:cNvSpPr>
              <a:spLocks noChangeShapeType="1"/>
            </p:cNvSpPr>
            <p:nvPr/>
          </p:nvSpPr>
          <p:spPr bwMode="auto">
            <a:xfrm flipH="1" flipV="1">
              <a:off x="2064" y="10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3" name="Line 19"/>
            <p:cNvSpPr>
              <a:spLocks noChangeShapeType="1"/>
            </p:cNvSpPr>
            <p:nvPr/>
          </p:nvSpPr>
          <p:spPr bwMode="auto">
            <a:xfrm flipH="1" flipV="1">
              <a:off x="2448" y="62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4" name="Line 20"/>
            <p:cNvSpPr>
              <a:spLocks noChangeShapeType="1"/>
            </p:cNvSpPr>
            <p:nvPr/>
          </p:nvSpPr>
          <p:spPr bwMode="auto">
            <a:xfrm>
              <a:off x="2448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5" name="Line 21"/>
            <p:cNvSpPr>
              <a:spLocks noChangeShapeType="1"/>
            </p:cNvSpPr>
            <p:nvPr/>
          </p:nvSpPr>
          <p:spPr bwMode="auto">
            <a:xfrm>
              <a:off x="2448" y="6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6" name="Line 22"/>
            <p:cNvSpPr>
              <a:spLocks noChangeShapeType="1"/>
            </p:cNvSpPr>
            <p:nvPr/>
          </p:nvSpPr>
          <p:spPr bwMode="auto">
            <a:xfrm>
              <a:off x="3216" y="62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7" name="Line 23"/>
            <p:cNvSpPr>
              <a:spLocks noChangeShapeType="1"/>
            </p:cNvSpPr>
            <p:nvPr/>
          </p:nvSpPr>
          <p:spPr bwMode="auto">
            <a:xfrm flipH="1" flipV="1">
              <a:off x="3216" y="6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8" name="Line 24"/>
            <p:cNvSpPr>
              <a:spLocks noChangeShapeType="1"/>
            </p:cNvSpPr>
            <p:nvPr/>
          </p:nvSpPr>
          <p:spPr bwMode="auto">
            <a:xfrm flipH="1">
              <a:off x="3216" y="10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889" name="Oval 25"/>
            <p:cNvSpPr>
              <a:spLocks noChangeArrowheads="1"/>
            </p:cNvSpPr>
            <p:nvPr/>
          </p:nvSpPr>
          <p:spPr bwMode="auto">
            <a:xfrm>
              <a:off x="1200" y="9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a</a:t>
              </a:r>
              <a:endParaRPr lang="it-IT" sz="2400" b="1"/>
            </a:p>
          </p:txBody>
        </p:sp>
        <p:sp>
          <p:nvSpPr>
            <p:cNvPr id="676890" name="Oval 26"/>
            <p:cNvSpPr>
              <a:spLocks noChangeArrowheads="1"/>
            </p:cNvSpPr>
            <p:nvPr/>
          </p:nvSpPr>
          <p:spPr bwMode="auto">
            <a:xfrm>
              <a:off x="3504" y="9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e</a:t>
              </a:r>
              <a:endParaRPr lang="it-IT" sz="2400" b="1"/>
            </a:p>
          </p:txBody>
        </p:sp>
        <p:sp>
          <p:nvSpPr>
            <p:cNvPr id="676891" name="Oval 27"/>
            <p:cNvSpPr>
              <a:spLocks noChangeArrowheads="1"/>
            </p:cNvSpPr>
            <p:nvPr/>
          </p:nvSpPr>
          <p:spPr bwMode="auto">
            <a:xfrm>
              <a:off x="1584" y="12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h</a:t>
              </a:r>
              <a:endParaRPr lang="it-IT" sz="2400" b="1"/>
            </a:p>
          </p:txBody>
        </p:sp>
        <p:sp>
          <p:nvSpPr>
            <p:cNvPr id="676892" name="Oval 28"/>
            <p:cNvSpPr>
              <a:spLocks noChangeArrowheads="1"/>
            </p:cNvSpPr>
            <p:nvPr/>
          </p:nvSpPr>
          <p:spPr bwMode="auto">
            <a:xfrm>
              <a:off x="2352" y="12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g</a:t>
              </a:r>
              <a:endParaRPr lang="it-IT" sz="2400" b="1"/>
            </a:p>
          </p:txBody>
        </p:sp>
        <p:sp>
          <p:nvSpPr>
            <p:cNvPr id="676893" name="Oval 29"/>
            <p:cNvSpPr>
              <a:spLocks noChangeArrowheads="1"/>
            </p:cNvSpPr>
            <p:nvPr/>
          </p:nvSpPr>
          <p:spPr bwMode="auto">
            <a:xfrm>
              <a:off x="3120" y="12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f</a:t>
              </a:r>
              <a:endParaRPr lang="it-IT" sz="2400" b="1"/>
            </a:p>
          </p:txBody>
        </p:sp>
        <p:sp>
          <p:nvSpPr>
            <p:cNvPr id="676894" name="Oval 30"/>
            <p:cNvSpPr>
              <a:spLocks noChangeArrowheads="1"/>
            </p:cNvSpPr>
            <p:nvPr/>
          </p:nvSpPr>
          <p:spPr bwMode="auto">
            <a:xfrm>
              <a:off x="3120" y="5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d</a:t>
              </a:r>
              <a:endParaRPr lang="it-IT" sz="2400" b="1"/>
            </a:p>
          </p:txBody>
        </p:sp>
        <p:sp>
          <p:nvSpPr>
            <p:cNvPr id="676895" name="Oval 31"/>
            <p:cNvSpPr>
              <a:spLocks noChangeArrowheads="1"/>
            </p:cNvSpPr>
            <p:nvPr/>
          </p:nvSpPr>
          <p:spPr bwMode="auto">
            <a:xfrm>
              <a:off x="2352" y="5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c</a:t>
              </a:r>
              <a:endParaRPr lang="it-IT" sz="2400" b="1"/>
            </a:p>
          </p:txBody>
        </p:sp>
        <p:sp>
          <p:nvSpPr>
            <p:cNvPr id="676896" name="Oval 32"/>
            <p:cNvSpPr>
              <a:spLocks noChangeArrowheads="1"/>
            </p:cNvSpPr>
            <p:nvPr/>
          </p:nvSpPr>
          <p:spPr bwMode="auto">
            <a:xfrm>
              <a:off x="1584" y="5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b</a:t>
              </a:r>
              <a:endParaRPr lang="it-IT" sz="2400" b="1"/>
            </a:p>
          </p:txBody>
        </p:sp>
        <p:sp>
          <p:nvSpPr>
            <p:cNvPr id="676897" name="Oval 33"/>
            <p:cNvSpPr>
              <a:spLocks noChangeArrowheads="1"/>
            </p:cNvSpPr>
            <p:nvPr/>
          </p:nvSpPr>
          <p:spPr bwMode="auto">
            <a:xfrm>
              <a:off x="1968" y="9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i</a:t>
              </a:r>
              <a:endParaRPr lang="it-IT" sz="2400" b="1"/>
            </a:p>
          </p:txBody>
        </p:sp>
      </p:grpSp>
      <p:grpSp>
        <p:nvGrpSpPr>
          <p:cNvPr id="676898" name="Group 34"/>
          <p:cNvGrpSpPr>
            <a:grpSpLocks/>
          </p:cNvGrpSpPr>
          <p:nvPr/>
        </p:nvGrpSpPr>
        <p:grpSpPr bwMode="auto">
          <a:xfrm>
            <a:off x="1828800" y="4191000"/>
            <a:ext cx="3962400" cy="1524000"/>
            <a:chOff x="1248" y="1968"/>
            <a:chExt cx="2496" cy="960"/>
          </a:xfrm>
        </p:grpSpPr>
        <p:sp>
          <p:nvSpPr>
            <p:cNvPr id="676899" name="Line 35"/>
            <p:cNvSpPr>
              <a:spLocks noChangeShapeType="1"/>
            </p:cNvSpPr>
            <p:nvPr/>
          </p:nvSpPr>
          <p:spPr bwMode="auto">
            <a:xfrm>
              <a:off x="1344" y="244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0" name="Line 36"/>
            <p:cNvSpPr>
              <a:spLocks noChangeShapeType="1"/>
            </p:cNvSpPr>
            <p:nvPr/>
          </p:nvSpPr>
          <p:spPr bwMode="auto">
            <a:xfrm>
              <a:off x="2592" y="283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1" name="Line 37"/>
            <p:cNvSpPr>
              <a:spLocks noChangeShapeType="1"/>
            </p:cNvSpPr>
            <p:nvPr/>
          </p:nvSpPr>
          <p:spPr bwMode="auto">
            <a:xfrm flipV="1">
              <a:off x="3264" y="244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2" name="Line 38"/>
            <p:cNvSpPr>
              <a:spLocks noChangeShapeType="1"/>
            </p:cNvSpPr>
            <p:nvPr/>
          </p:nvSpPr>
          <p:spPr bwMode="auto">
            <a:xfrm>
              <a:off x="1824" y="283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3" name="Line 39"/>
            <p:cNvSpPr>
              <a:spLocks noChangeShapeType="1"/>
            </p:cNvSpPr>
            <p:nvPr/>
          </p:nvSpPr>
          <p:spPr bwMode="auto">
            <a:xfrm>
              <a:off x="3312" y="2112"/>
              <a:ext cx="288" cy="28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4" name="Line 40"/>
            <p:cNvSpPr>
              <a:spLocks noChangeShapeType="1"/>
            </p:cNvSpPr>
            <p:nvPr/>
          </p:nvSpPr>
          <p:spPr bwMode="auto">
            <a:xfrm>
              <a:off x="2112" y="244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5" name="Line 41"/>
            <p:cNvSpPr>
              <a:spLocks noChangeShapeType="1"/>
            </p:cNvSpPr>
            <p:nvPr/>
          </p:nvSpPr>
          <p:spPr bwMode="auto">
            <a:xfrm flipV="1">
              <a:off x="1344" y="2112"/>
              <a:ext cx="336" cy="33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6" name="Line 42"/>
            <p:cNvSpPr>
              <a:spLocks noChangeShapeType="1"/>
            </p:cNvSpPr>
            <p:nvPr/>
          </p:nvSpPr>
          <p:spPr bwMode="auto">
            <a:xfrm flipV="1">
              <a:off x="2112" y="2064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907" name="Line 43"/>
            <p:cNvSpPr>
              <a:spLocks noChangeShapeType="1"/>
            </p:cNvSpPr>
            <p:nvPr/>
          </p:nvSpPr>
          <p:spPr bwMode="auto">
            <a:xfrm flipH="1" flipV="1">
              <a:off x="1344" y="244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08" name="Line 44"/>
            <p:cNvSpPr>
              <a:spLocks noChangeShapeType="1"/>
            </p:cNvSpPr>
            <p:nvPr/>
          </p:nvSpPr>
          <p:spPr bwMode="auto">
            <a:xfrm>
              <a:off x="1728" y="206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09" name="Line 45"/>
            <p:cNvSpPr>
              <a:spLocks noChangeShapeType="1"/>
            </p:cNvSpPr>
            <p:nvPr/>
          </p:nvSpPr>
          <p:spPr bwMode="auto">
            <a:xfrm flipH="1">
              <a:off x="1344" y="206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0" name="Line 46"/>
            <p:cNvSpPr>
              <a:spLocks noChangeShapeType="1"/>
            </p:cNvSpPr>
            <p:nvPr/>
          </p:nvSpPr>
          <p:spPr bwMode="auto">
            <a:xfrm>
              <a:off x="1728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1" name="Line 47"/>
            <p:cNvSpPr>
              <a:spLocks noChangeShapeType="1"/>
            </p:cNvSpPr>
            <p:nvPr/>
          </p:nvSpPr>
          <p:spPr bwMode="auto">
            <a:xfrm flipH="1">
              <a:off x="1728" y="244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2" name="Line 48"/>
            <p:cNvSpPr>
              <a:spLocks noChangeShapeType="1"/>
            </p:cNvSpPr>
            <p:nvPr/>
          </p:nvSpPr>
          <p:spPr bwMode="auto">
            <a:xfrm flipH="1">
              <a:off x="2112" y="206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3" name="Line 49"/>
            <p:cNvSpPr>
              <a:spLocks noChangeShapeType="1"/>
            </p:cNvSpPr>
            <p:nvPr/>
          </p:nvSpPr>
          <p:spPr bwMode="auto">
            <a:xfrm>
              <a:off x="1728" y="283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4" name="Line 50"/>
            <p:cNvSpPr>
              <a:spLocks noChangeShapeType="1"/>
            </p:cNvSpPr>
            <p:nvPr/>
          </p:nvSpPr>
          <p:spPr bwMode="auto">
            <a:xfrm flipH="1" flipV="1">
              <a:off x="2112" y="244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5" name="Line 51"/>
            <p:cNvSpPr>
              <a:spLocks noChangeShapeType="1"/>
            </p:cNvSpPr>
            <p:nvPr/>
          </p:nvSpPr>
          <p:spPr bwMode="auto">
            <a:xfrm flipH="1" flipV="1">
              <a:off x="2496" y="206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6" name="Line 52"/>
            <p:cNvSpPr>
              <a:spLocks noChangeShapeType="1"/>
            </p:cNvSpPr>
            <p:nvPr/>
          </p:nvSpPr>
          <p:spPr bwMode="auto">
            <a:xfrm>
              <a:off x="2496" y="283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7" name="Line 53"/>
            <p:cNvSpPr>
              <a:spLocks noChangeShapeType="1"/>
            </p:cNvSpPr>
            <p:nvPr/>
          </p:nvSpPr>
          <p:spPr bwMode="auto">
            <a:xfrm>
              <a:off x="2496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8" name="Line 54"/>
            <p:cNvSpPr>
              <a:spLocks noChangeShapeType="1"/>
            </p:cNvSpPr>
            <p:nvPr/>
          </p:nvSpPr>
          <p:spPr bwMode="auto">
            <a:xfrm>
              <a:off x="3264" y="206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19" name="Line 55"/>
            <p:cNvSpPr>
              <a:spLocks noChangeShapeType="1"/>
            </p:cNvSpPr>
            <p:nvPr/>
          </p:nvSpPr>
          <p:spPr bwMode="auto">
            <a:xfrm flipH="1" flipV="1">
              <a:off x="3264" y="206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20" name="Line 56"/>
            <p:cNvSpPr>
              <a:spLocks noChangeShapeType="1"/>
            </p:cNvSpPr>
            <p:nvPr/>
          </p:nvSpPr>
          <p:spPr bwMode="auto">
            <a:xfrm flipH="1">
              <a:off x="3264" y="244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921" name="Oval 57"/>
            <p:cNvSpPr>
              <a:spLocks noChangeArrowheads="1"/>
            </p:cNvSpPr>
            <p:nvPr/>
          </p:nvSpPr>
          <p:spPr bwMode="auto">
            <a:xfrm>
              <a:off x="1248" y="235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a</a:t>
              </a:r>
              <a:endParaRPr lang="it-IT" sz="2400" b="1"/>
            </a:p>
          </p:txBody>
        </p:sp>
        <p:sp>
          <p:nvSpPr>
            <p:cNvPr id="676922" name="Oval 58"/>
            <p:cNvSpPr>
              <a:spLocks noChangeArrowheads="1"/>
            </p:cNvSpPr>
            <p:nvPr/>
          </p:nvSpPr>
          <p:spPr bwMode="auto">
            <a:xfrm>
              <a:off x="3552" y="235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e</a:t>
              </a:r>
              <a:endParaRPr lang="it-IT" sz="2400" b="1"/>
            </a:p>
          </p:txBody>
        </p:sp>
        <p:sp>
          <p:nvSpPr>
            <p:cNvPr id="676923" name="Oval 59"/>
            <p:cNvSpPr>
              <a:spLocks noChangeArrowheads="1"/>
            </p:cNvSpPr>
            <p:nvPr/>
          </p:nvSpPr>
          <p:spPr bwMode="auto">
            <a:xfrm>
              <a:off x="1632" y="273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h</a:t>
              </a:r>
              <a:endParaRPr lang="it-IT" sz="2400" b="1"/>
            </a:p>
          </p:txBody>
        </p:sp>
        <p:sp>
          <p:nvSpPr>
            <p:cNvPr id="676924" name="Oval 60"/>
            <p:cNvSpPr>
              <a:spLocks noChangeArrowheads="1"/>
            </p:cNvSpPr>
            <p:nvPr/>
          </p:nvSpPr>
          <p:spPr bwMode="auto">
            <a:xfrm>
              <a:off x="2400" y="273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g</a:t>
              </a:r>
              <a:endParaRPr lang="it-IT" sz="2400" b="1"/>
            </a:p>
          </p:txBody>
        </p:sp>
        <p:sp>
          <p:nvSpPr>
            <p:cNvPr id="676925" name="Oval 61"/>
            <p:cNvSpPr>
              <a:spLocks noChangeArrowheads="1"/>
            </p:cNvSpPr>
            <p:nvPr/>
          </p:nvSpPr>
          <p:spPr bwMode="auto">
            <a:xfrm>
              <a:off x="3168" y="273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f</a:t>
              </a:r>
              <a:endParaRPr lang="it-IT" sz="2400" b="1"/>
            </a:p>
          </p:txBody>
        </p:sp>
        <p:sp>
          <p:nvSpPr>
            <p:cNvPr id="676926" name="Oval 62"/>
            <p:cNvSpPr>
              <a:spLocks noChangeArrowheads="1"/>
            </p:cNvSpPr>
            <p:nvPr/>
          </p:nvSpPr>
          <p:spPr bwMode="auto">
            <a:xfrm>
              <a:off x="3168" y="196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d</a:t>
              </a:r>
              <a:endParaRPr lang="it-IT" sz="2400" b="1"/>
            </a:p>
          </p:txBody>
        </p:sp>
        <p:sp>
          <p:nvSpPr>
            <p:cNvPr id="676927" name="Oval 63"/>
            <p:cNvSpPr>
              <a:spLocks noChangeArrowheads="1"/>
            </p:cNvSpPr>
            <p:nvPr/>
          </p:nvSpPr>
          <p:spPr bwMode="auto">
            <a:xfrm>
              <a:off x="2400" y="196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c</a:t>
              </a:r>
              <a:endParaRPr lang="it-IT" sz="2400" b="1"/>
            </a:p>
          </p:txBody>
        </p:sp>
        <p:sp>
          <p:nvSpPr>
            <p:cNvPr id="676928" name="Oval 64"/>
            <p:cNvSpPr>
              <a:spLocks noChangeArrowheads="1"/>
            </p:cNvSpPr>
            <p:nvPr/>
          </p:nvSpPr>
          <p:spPr bwMode="auto">
            <a:xfrm>
              <a:off x="1632" y="196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b</a:t>
              </a:r>
              <a:endParaRPr lang="it-IT" sz="2400" b="1"/>
            </a:p>
          </p:txBody>
        </p:sp>
        <p:sp>
          <p:nvSpPr>
            <p:cNvPr id="676929" name="Oval 65"/>
            <p:cNvSpPr>
              <a:spLocks noChangeArrowheads="1"/>
            </p:cNvSpPr>
            <p:nvPr/>
          </p:nvSpPr>
          <p:spPr bwMode="auto">
            <a:xfrm>
              <a:off x="2016" y="235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>
                  <a:sym typeface="Symbol" charset="0"/>
                </a:rPr>
                <a:t>i</a:t>
              </a:r>
              <a:endParaRPr lang="it-IT" sz="2400" b="1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Albero di connessione di un grafo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Due alberi di connessione </a:t>
            </a:r>
            <a:r>
              <a:rPr lang="it-IT" dirty="0" smtClean="0"/>
              <a:t>per lo stesso </a:t>
            </a:r>
            <a:r>
              <a:rPr lang="it-IT" dirty="0"/>
              <a:t>grafo: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891" name="Group 3"/>
          <p:cNvGrpSpPr>
            <a:grpSpLocks/>
          </p:cNvGrpSpPr>
          <p:nvPr/>
        </p:nvGrpSpPr>
        <p:grpSpPr bwMode="auto">
          <a:xfrm>
            <a:off x="899592" y="2492896"/>
            <a:ext cx="3962400" cy="1924050"/>
            <a:chOff x="480" y="1488"/>
            <a:chExt cx="2496" cy="1212"/>
          </a:xfrm>
        </p:grpSpPr>
        <p:sp>
          <p:nvSpPr>
            <p:cNvPr id="677892" name="Line 4"/>
            <p:cNvSpPr>
              <a:spLocks noChangeShapeType="1"/>
            </p:cNvSpPr>
            <p:nvPr/>
          </p:nvSpPr>
          <p:spPr bwMode="auto">
            <a:xfrm>
              <a:off x="1056" y="1728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3" name="Line 5"/>
            <p:cNvSpPr>
              <a:spLocks noChangeShapeType="1"/>
            </p:cNvSpPr>
            <p:nvPr/>
          </p:nvSpPr>
          <p:spPr bwMode="auto">
            <a:xfrm>
              <a:off x="1824" y="2496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4" name="Line 6"/>
            <p:cNvSpPr>
              <a:spLocks noChangeShapeType="1"/>
            </p:cNvSpPr>
            <p:nvPr/>
          </p:nvSpPr>
          <p:spPr bwMode="auto">
            <a:xfrm>
              <a:off x="1824" y="1728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5" name="Line 7"/>
            <p:cNvSpPr>
              <a:spLocks noChangeShapeType="1"/>
            </p:cNvSpPr>
            <p:nvPr/>
          </p:nvSpPr>
          <p:spPr bwMode="auto">
            <a:xfrm>
              <a:off x="1056" y="2496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6" name="Line 8"/>
            <p:cNvSpPr>
              <a:spLocks noChangeShapeType="1"/>
            </p:cNvSpPr>
            <p:nvPr/>
          </p:nvSpPr>
          <p:spPr bwMode="auto">
            <a:xfrm>
              <a:off x="2544" y="1776"/>
              <a:ext cx="288" cy="28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7" name="Line 9"/>
            <p:cNvSpPr>
              <a:spLocks noChangeShapeType="1"/>
            </p:cNvSpPr>
            <p:nvPr/>
          </p:nvSpPr>
          <p:spPr bwMode="auto">
            <a:xfrm>
              <a:off x="1776" y="1776"/>
              <a:ext cx="672" cy="67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8" name="Line 10"/>
            <p:cNvSpPr>
              <a:spLocks noChangeShapeType="1"/>
            </p:cNvSpPr>
            <p:nvPr/>
          </p:nvSpPr>
          <p:spPr bwMode="auto">
            <a:xfrm flipV="1">
              <a:off x="576" y="1776"/>
              <a:ext cx="336" cy="33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899" name="Line 11"/>
            <p:cNvSpPr>
              <a:spLocks noChangeShapeType="1"/>
            </p:cNvSpPr>
            <p:nvPr/>
          </p:nvSpPr>
          <p:spPr bwMode="auto">
            <a:xfrm flipV="1">
              <a:off x="1344" y="172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00" name="Line 12"/>
            <p:cNvSpPr>
              <a:spLocks noChangeShapeType="1"/>
            </p:cNvSpPr>
            <p:nvPr/>
          </p:nvSpPr>
          <p:spPr bwMode="auto">
            <a:xfrm flipH="1" flipV="1">
              <a:off x="576" y="211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1" name="Line 13"/>
            <p:cNvSpPr>
              <a:spLocks noChangeShapeType="1"/>
            </p:cNvSpPr>
            <p:nvPr/>
          </p:nvSpPr>
          <p:spPr bwMode="auto">
            <a:xfrm>
              <a:off x="960" y="17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2" name="Line 14"/>
            <p:cNvSpPr>
              <a:spLocks noChangeShapeType="1"/>
            </p:cNvSpPr>
            <p:nvPr/>
          </p:nvSpPr>
          <p:spPr bwMode="auto">
            <a:xfrm flipH="1">
              <a:off x="576" y="172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3" name="Line 15"/>
            <p:cNvSpPr>
              <a:spLocks noChangeShapeType="1"/>
            </p:cNvSpPr>
            <p:nvPr/>
          </p:nvSpPr>
          <p:spPr bwMode="auto">
            <a:xfrm>
              <a:off x="960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4" name="Line 16"/>
            <p:cNvSpPr>
              <a:spLocks noChangeShapeType="1"/>
            </p:cNvSpPr>
            <p:nvPr/>
          </p:nvSpPr>
          <p:spPr bwMode="auto">
            <a:xfrm flipH="1">
              <a:off x="960" y="211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5" name="Line 17"/>
            <p:cNvSpPr>
              <a:spLocks noChangeShapeType="1"/>
            </p:cNvSpPr>
            <p:nvPr/>
          </p:nvSpPr>
          <p:spPr bwMode="auto">
            <a:xfrm flipH="1">
              <a:off x="1344" y="172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6" name="Line 18"/>
            <p:cNvSpPr>
              <a:spLocks noChangeShapeType="1"/>
            </p:cNvSpPr>
            <p:nvPr/>
          </p:nvSpPr>
          <p:spPr bwMode="auto">
            <a:xfrm>
              <a:off x="960" y="24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7" name="Line 19"/>
            <p:cNvSpPr>
              <a:spLocks noChangeShapeType="1"/>
            </p:cNvSpPr>
            <p:nvPr/>
          </p:nvSpPr>
          <p:spPr bwMode="auto">
            <a:xfrm flipH="1" flipV="1">
              <a:off x="1344" y="211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8" name="Line 20"/>
            <p:cNvSpPr>
              <a:spLocks noChangeShapeType="1"/>
            </p:cNvSpPr>
            <p:nvPr/>
          </p:nvSpPr>
          <p:spPr bwMode="auto">
            <a:xfrm flipH="1" flipV="1">
              <a:off x="1728" y="1728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09" name="Line 21"/>
            <p:cNvSpPr>
              <a:spLocks noChangeShapeType="1"/>
            </p:cNvSpPr>
            <p:nvPr/>
          </p:nvSpPr>
          <p:spPr bwMode="auto">
            <a:xfrm>
              <a:off x="1728" y="24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10" name="Line 22"/>
            <p:cNvSpPr>
              <a:spLocks noChangeShapeType="1"/>
            </p:cNvSpPr>
            <p:nvPr/>
          </p:nvSpPr>
          <p:spPr bwMode="auto">
            <a:xfrm>
              <a:off x="1728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11" name="Line 23"/>
            <p:cNvSpPr>
              <a:spLocks noChangeShapeType="1"/>
            </p:cNvSpPr>
            <p:nvPr/>
          </p:nvSpPr>
          <p:spPr bwMode="auto">
            <a:xfrm>
              <a:off x="2496" y="17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12" name="Line 24"/>
            <p:cNvSpPr>
              <a:spLocks noChangeShapeType="1"/>
            </p:cNvSpPr>
            <p:nvPr/>
          </p:nvSpPr>
          <p:spPr bwMode="auto">
            <a:xfrm flipH="1" flipV="1">
              <a:off x="2496" y="172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13" name="Line 25"/>
            <p:cNvSpPr>
              <a:spLocks noChangeShapeType="1"/>
            </p:cNvSpPr>
            <p:nvPr/>
          </p:nvSpPr>
          <p:spPr bwMode="auto">
            <a:xfrm flipH="1">
              <a:off x="2496" y="2112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14" name="Oval 26"/>
            <p:cNvSpPr>
              <a:spLocks noChangeArrowheads="1"/>
            </p:cNvSpPr>
            <p:nvPr/>
          </p:nvSpPr>
          <p:spPr bwMode="auto">
            <a:xfrm>
              <a:off x="480" y="201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 dirty="0">
                  <a:sym typeface="Symbol" charset="0"/>
                </a:rPr>
                <a:t>a</a:t>
              </a:r>
              <a:endParaRPr lang="it-IT" sz="2000" b="1" dirty="0"/>
            </a:p>
          </p:txBody>
        </p:sp>
        <p:sp>
          <p:nvSpPr>
            <p:cNvPr id="677915" name="Oval 27"/>
            <p:cNvSpPr>
              <a:spLocks noChangeArrowheads="1"/>
            </p:cNvSpPr>
            <p:nvPr/>
          </p:nvSpPr>
          <p:spPr bwMode="auto">
            <a:xfrm>
              <a:off x="2784" y="201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e</a:t>
              </a:r>
              <a:endParaRPr lang="it-IT" sz="2000" b="1"/>
            </a:p>
          </p:txBody>
        </p:sp>
        <p:sp>
          <p:nvSpPr>
            <p:cNvPr id="677916" name="Oval 28"/>
            <p:cNvSpPr>
              <a:spLocks noChangeArrowheads="1"/>
            </p:cNvSpPr>
            <p:nvPr/>
          </p:nvSpPr>
          <p:spPr bwMode="auto">
            <a:xfrm>
              <a:off x="864" y="240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h</a:t>
              </a:r>
              <a:endParaRPr lang="it-IT" sz="2000" b="1"/>
            </a:p>
          </p:txBody>
        </p:sp>
        <p:sp>
          <p:nvSpPr>
            <p:cNvPr id="677917" name="Oval 29"/>
            <p:cNvSpPr>
              <a:spLocks noChangeArrowheads="1"/>
            </p:cNvSpPr>
            <p:nvPr/>
          </p:nvSpPr>
          <p:spPr bwMode="auto">
            <a:xfrm>
              <a:off x="1632" y="240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g</a:t>
              </a:r>
              <a:endParaRPr lang="it-IT" sz="2000" b="1"/>
            </a:p>
          </p:txBody>
        </p:sp>
        <p:sp>
          <p:nvSpPr>
            <p:cNvPr id="677918" name="Oval 30"/>
            <p:cNvSpPr>
              <a:spLocks noChangeArrowheads="1"/>
            </p:cNvSpPr>
            <p:nvPr/>
          </p:nvSpPr>
          <p:spPr bwMode="auto">
            <a:xfrm>
              <a:off x="2400" y="2400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f</a:t>
              </a:r>
              <a:endParaRPr lang="it-IT" sz="2000" b="1"/>
            </a:p>
          </p:txBody>
        </p:sp>
        <p:sp>
          <p:nvSpPr>
            <p:cNvPr id="677919" name="Oval 31"/>
            <p:cNvSpPr>
              <a:spLocks noChangeArrowheads="1"/>
            </p:cNvSpPr>
            <p:nvPr/>
          </p:nvSpPr>
          <p:spPr bwMode="auto">
            <a:xfrm>
              <a:off x="2400" y="163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d</a:t>
              </a:r>
              <a:endParaRPr lang="it-IT" sz="2000" b="1"/>
            </a:p>
          </p:txBody>
        </p:sp>
        <p:sp>
          <p:nvSpPr>
            <p:cNvPr id="677920" name="Oval 32"/>
            <p:cNvSpPr>
              <a:spLocks noChangeArrowheads="1"/>
            </p:cNvSpPr>
            <p:nvPr/>
          </p:nvSpPr>
          <p:spPr bwMode="auto">
            <a:xfrm>
              <a:off x="1632" y="163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c</a:t>
              </a:r>
              <a:endParaRPr lang="it-IT" sz="2000" b="1"/>
            </a:p>
          </p:txBody>
        </p:sp>
        <p:sp>
          <p:nvSpPr>
            <p:cNvPr id="677921" name="Oval 33"/>
            <p:cNvSpPr>
              <a:spLocks noChangeArrowheads="1"/>
            </p:cNvSpPr>
            <p:nvPr/>
          </p:nvSpPr>
          <p:spPr bwMode="auto">
            <a:xfrm>
              <a:off x="864" y="163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b</a:t>
              </a:r>
              <a:endParaRPr lang="it-IT" sz="2000" b="1"/>
            </a:p>
          </p:txBody>
        </p:sp>
        <p:sp>
          <p:nvSpPr>
            <p:cNvPr id="677922" name="Oval 34"/>
            <p:cNvSpPr>
              <a:spLocks noChangeArrowheads="1"/>
            </p:cNvSpPr>
            <p:nvPr/>
          </p:nvSpPr>
          <p:spPr bwMode="auto">
            <a:xfrm>
              <a:off x="1248" y="201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i</a:t>
              </a:r>
              <a:endParaRPr lang="it-IT" sz="2000" b="1"/>
            </a:p>
          </p:txBody>
        </p:sp>
        <p:sp>
          <p:nvSpPr>
            <p:cNvPr id="677923" name="Text Box 35"/>
            <p:cNvSpPr txBox="1">
              <a:spLocks noChangeArrowheads="1"/>
            </p:cNvSpPr>
            <p:nvPr/>
          </p:nvSpPr>
          <p:spPr bwMode="auto">
            <a:xfrm>
              <a:off x="624" y="168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4</a:t>
              </a:r>
              <a:endParaRPr lang="en-GB" sz="2000" b="1"/>
            </a:p>
          </p:txBody>
        </p:sp>
        <p:sp>
          <p:nvSpPr>
            <p:cNvPr id="677924" name="Text Box 36"/>
            <p:cNvSpPr txBox="1">
              <a:spLocks noChangeArrowheads="1"/>
            </p:cNvSpPr>
            <p:nvPr/>
          </p:nvSpPr>
          <p:spPr bwMode="auto">
            <a:xfrm>
              <a:off x="2640" y="220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10</a:t>
              </a:r>
              <a:endParaRPr lang="en-GB" sz="2000" b="1"/>
            </a:p>
          </p:txBody>
        </p:sp>
        <p:sp>
          <p:nvSpPr>
            <p:cNvPr id="677925" name="Text Box 37"/>
            <p:cNvSpPr txBox="1">
              <a:spLocks noChangeArrowheads="1"/>
            </p:cNvSpPr>
            <p:nvPr/>
          </p:nvSpPr>
          <p:spPr bwMode="auto">
            <a:xfrm>
              <a:off x="2448" y="196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14</a:t>
              </a:r>
              <a:endParaRPr lang="en-GB" sz="2000" b="1"/>
            </a:p>
          </p:txBody>
        </p:sp>
        <p:sp>
          <p:nvSpPr>
            <p:cNvPr id="677926" name="Text Box 38"/>
            <p:cNvSpPr txBox="1">
              <a:spLocks noChangeArrowheads="1"/>
            </p:cNvSpPr>
            <p:nvPr/>
          </p:nvSpPr>
          <p:spPr bwMode="auto">
            <a:xfrm>
              <a:off x="2016" y="244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2</a:t>
              </a:r>
              <a:endParaRPr lang="en-GB" sz="2000" b="1"/>
            </a:p>
          </p:txBody>
        </p:sp>
        <p:sp>
          <p:nvSpPr>
            <p:cNvPr id="677927" name="Text Box 39"/>
            <p:cNvSpPr txBox="1">
              <a:spLocks noChangeArrowheads="1"/>
            </p:cNvSpPr>
            <p:nvPr/>
          </p:nvSpPr>
          <p:spPr bwMode="auto">
            <a:xfrm>
              <a:off x="2064" y="192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4</a:t>
              </a:r>
              <a:endParaRPr lang="en-GB" sz="2000" b="1"/>
            </a:p>
          </p:txBody>
        </p:sp>
        <p:sp>
          <p:nvSpPr>
            <p:cNvPr id="677928" name="Text Box 40"/>
            <p:cNvSpPr txBox="1">
              <a:spLocks noChangeArrowheads="1"/>
            </p:cNvSpPr>
            <p:nvPr/>
          </p:nvSpPr>
          <p:spPr bwMode="auto">
            <a:xfrm>
              <a:off x="2016" y="14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7</a:t>
              </a:r>
              <a:endParaRPr lang="en-GB" sz="2000" b="1"/>
            </a:p>
          </p:txBody>
        </p:sp>
        <p:sp>
          <p:nvSpPr>
            <p:cNvPr id="677929" name="Text Box 41"/>
            <p:cNvSpPr txBox="1">
              <a:spLocks noChangeArrowheads="1"/>
            </p:cNvSpPr>
            <p:nvPr/>
          </p:nvSpPr>
          <p:spPr bwMode="auto">
            <a:xfrm>
              <a:off x="1488" y="21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6</a:t>
              </a:r>
              <a:endParaRPr lang="en-GB" sz="2000" b="1"/>
            </a:p>
          </p:txBody>
        </p:sp>
        <p:sp>
          <p:nvSpPr>
            <p:cNvPr id="677930" name="Text Box 42"/>
            <p:cNvSpPr txBox="1">
              <a:spLocks noChangeArrowheads="1"/>
            </p:cNvSpPr>
            <p:nvPr/>
          </p:nvSpPr>
          <p:spPr bwMode="auto">
            <a:xfrm>
              <a:off x="1488" y="182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2</a:t>
              </a:r>
              <a:endParaRPr lang="en-GB" sz="2000" b="1"/>
            </a:p>
          </p:txBody>
        </p:sp>
        <p:sp>
          <p:nvSpPr>
            <p:cNvPr id="677931" name="Text Box 43"/>
            <p:cNvSpPr txBox="1">
              <a:spLocks noChangeArrowheads="1"/>
            </p:cNvSpPr>
            <p:nvPr/>
          </p:nvSpPr>
          <p:spPr bwMode="auto">
            <a:xfrm>
              <a:off x="1248" y="244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</a:t>
              </a:r>
              <a:endParaRPr lang="en-GB" sz="2000" b="1"/>
            </a:p>
          </p:txBody>
        </p:sp>
        <p:sp>
          <p:nvSpPr>
            <p:cNvPr id="677932" name="Text Box 44"/>
            <p:cNvSpPr txBox="1">
              <a:spLocks noChangeArrowheads="1"/>
            </p:cNvSpPr>
            <p:nvPr/>
          </p:nvSpPr>
          <p:spPr bwMode="auto">
            <a:xfrm>
              <a:off x="1008" y="21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7</a:t>
              </a:r>
              <a:endParaRPr lang="en-GB" sz="2000" b="1"/>
            </a:p>
          </p:txBody>
        </p:sp>
        <p:sp>
          <p:nvSpPr>
            <p:cNvPr id="677933" name="Text Box 45"/>
            <p:cNvSpPr txBox="1">
              <a:spLocks noChangeArrowheads="1"/>
            </p:cNvSpPr>
            <p:nvPr/>
          </p:nvSpPr>
          <p:spPr bwMode="auto">
            <a:xfrm>
              <a:off x="1248" y="14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8</a:t>
              </a:r>
              <a:endParaRPr lang="en-GB" sz="2000" b="1"/>
            </a:p>
          </p:txBody>
        </p:sp>
        <p:sp>
          <p:nvSpPr>
            <p:cNvPr id="677934" name="Text Box 46"/>
            <p:cNvSpPr txBox="1">
              <a:spLocks noChangeArrowheads="1"/>
            </p:cNvSpPr>
            <p:nvPr/>
          </p:nvSpPr>
          <p:spPr bwMode="auto">
            <a:xfrm>
              <a:off x="720" y="196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11</a:t>
              </a:r>
              <a:endParaRPr lang="en-GB" sz="2000" b="1"/>
            </a:p>
          </p:txBody>
        </p:sp>
        <p:sp>
          <p:nvSpPr>
            <p:cNvPr id="677935" name="Text Box 47"/>
            <p:cNvSpPr txBox="1">
              <a:spLocks noChangeArrowheads="1"/>
            </p:cNvSpPr>
            <p:nvPr/>
          </p:nvSpPr>
          <p:spPr bwMode="auto">
            <a:xfrm>
              <a:off x="624" y="225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8</a:t>
              </a:r>
              <a:endParaRPr lang="en-GB" sz="2000" b="1"/>
            </a:p>
          </p:txBody>
        </p:sp>
        <p:sp>
          <p:nvSpPr>
            <p:cNvPr id="677936" name="Text Box 48"/>
            <p:cNvSpPr txBox="1">
              <a:spLocks noChangeArrowheads="1"/>
            </p:cNvSpPr>
            <p:nvPr/>
          </p:nvSpPr>
          <p:spPr bwMode="auto">
            <a:xfrm>
              <a:off x="2640" y="168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9</a:t>
              </a:r>
              <a:endParaRPr lang="en-GB" sz="2000" b="1"/>
            </a:p>
          </p:txBody>
        </p:sp>
      </p:grpSp>
      <p:grpSp>
        <p:nvGrpSpPr>
          <p:cNvPr id="677937" name="Group 49"/>
          <p:cNvGrpSpPr>
            <a:grpSpLocks/>
          </p:cNvGrpSpPr>
          <p:nvPr/>
        </p:nvGrpSpPr>
        <p:grpSpPr bwMode="auto">
          <a:xfrm>
            <a:off x="827584" y="4437112"/>
            <a:ext cx="3962400" cy="1924050"/>
            <a:chOff x="480" y="2784"/>
            <a:chExt cx="2496" cy="1212"/>
          </a:xfrm>
        </p:grpSpPr>
        <p:sp>
          <p:nvSpPr>
            <p:cNvPr id="677938" name="Line 50"/>
            <p:cNvSpPr>
              <a:spLocks noChangeShapeType="1"/>
            </p:cNvSpPr>
            <p:nvPr/>
          </p:nvSpPr>
          <p:spPr bwMode="auto">
            <a:xfrm>
              <a:off x="576" y="340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39" name="Line 51"/>
            <p:cNvSpPr>
              <a:spLocks noChangeShapeType="1"/>
            </p:cNvSpPr>
            <p:nvPr/>
          </p:nvSpPr>
          <p:spPr bwMode="auto">
            <a:xfrm>
              <a:off x="1824" y="379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0" name="Line 52"/>
            <p:cNvSpPr>
              <a:spLocks noChangeShapeType="1"/>
            </p:cNvSpPr>
            <p:nvPr/>
          </p:nvSpPr>
          <p:spPr bwMode="auto">
            <a:xfrm flipV="1">
              <a:off x="2496" y="340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1" name="Line 53"/>
            <p:cNvSpPr>
              <a:spLocks noChangeShapeType="1"/>
            </p:cNvSpPr>
            <p:nvPr/>
          </p:nvSpPr>
          <p:spPr bwMode="auto">
            <a:xfrm>
              <a:off x="1056" y="379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2" name="Line 54"/>
            <p:cNvSpPr>
              <a:spLocks noChangeShapeType="1"/>
            </p:cNvSpPr>
            <p:nvPr/>
          </p:nvSpPr>
          <p:spPr bwMode="auto">
            <a:xfrm>
              <a:off x="2544" y="3072"/>
              <a:ext cx="288" cy="28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3" name="Line 55"/>
            <p:cNvSpPr>
              <a:spLocks noChangeShapeType="1"/>
            </p:cNvSpPr>
            <p:nvPr/>
          </p:nvSpPr>
          <p:spPr bwMode="auto">
            <a:xfrm>
              <a:off x="1344" y="3408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4" name="Line 56"/>
            <p:cNvSpPr>
              <a:spLocks noChangeShapeType="1"/>
            </p:cNvSpPr>
            <p:nvPr/>
          </p:nvSpPr>
          <p:spPr bwMode="auto">
            <a:xfrm flipV="1">
              <a:off x="576" y="3072"/>
              <a:ext cx="336" cy="33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5" name="Line 57"/>
            <p:cNvSpPr>
              <a:spLocks noChangeShapeType="1"/>
            </p:cNvSpPr>
            <p:nvPr/>
          </p:nvSpPr>
          <p:spPr bwMode="auto">
            <a:xfrm flipV="1">
              <a:off x="1344" y="3024"/>
              <a:ext cx="384" cy="38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77946" name="Line 58"/>
            <p:cNvSpPr>
              <a:spLocks noChangeShapeType="1"/>
            </p:cNvSpPr>
            <p:nvPr/>
          </p:nvSpPr>
          <p:spPr bwMode="auto">
            <a:xfrm flipH="1" flipV="1">
              <a:off x="576" y="34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47" name="Line 59"/>
            <p:cNvSpPr>
              <a:spLocks noChangeShapeType="1"/>
            </p:cNvSpPr>
            <p:nvPr/>
          </p:nvSpPr>
          <p:spPr bwMode="auto">
            <a:xfrm>
              <a:off x="960" y="302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48" name="Line 60"/>
            <p:cNvSpPr>
              <a:spLocks noChangeShapeType="1"/>
            </p:cNvSpPr>
            <p:nvPr/>
          </p:nvSpPr>
          <p:spPr bwMode="auto">
            <a:xfrm flipH="1">
              <a:off x="576" y="30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49" name="Line 61"/>
            <p:cNvSpPr>
              <a:spLocks noChangeShapeType="1"/>
            </p:cNvSpPr>
            <p:nvPr/>
          </p:nvSpPr>
          <p:spPr bwMode="auto">
            <a:xfrm>
              <a:off x="960" y="30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0" name="Line 62"/>
            <p:cNvSpPr>
              <a:spLocks noChangeShapeType="1"/>
            </p:cNvSpPr>
            <p:nvPr/>
          </p:nvSpPr>
          <p:spPr bwMode="auto">
            <a:xfrm flipH="1">
              <a:off x="960" y="34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1" name="Line 63"/>
            <p:cNvSpPr>
              <a:spLocks noChangeShapeType="1"/>
            </p:cNvSpPr>
            <p:nvPr/>
          </p:nvSpPr>
          <p:spPr bwMode="auto">
            <a:xfrm flipH="1">
              <a:off x="1344" y="30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2" name="Line 64"/>
            <p:cNvSpPr>
              <a:spLocks noChangeShapeType="1"/>
            </p:cNvSpPr>
            <p:nvPr/>
          </p:nvSpPr>
          <p:spPr bwMode="auto">
            <a:xfrm>
              <a:off x="960" y="37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3" name="Line 65"/>
            <p:cNvSpPr>
              <a:spLocks noChangeShapeType="1"/>
            </p:cNvSpPr>
            <p:nvPr/>
          </p:nvSpPr>
          <p:spPr bwMode="auto">
            <a:xfrm flipH="1" flipV="1">
              <a:off x="1344" y="34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4" name="Line 66"/>
            <p:cNvSpPr>
              <a:spLocks noChangeShapeType="1"/>
            </p:cNvSpPr>
            <p:nvPr/>
          </p:nvSpPr>
          <p:spPr bwMode="auto">
            <a:xfrm flipH="1" flipV="1">
              <a:off x="1728" y="3024"/>
              <a:ext cx="76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5" name="Line 67"/>
            <p:cNvSpPr>
              <a:spLocks noChangeShapeType="1"/>
            </p:cNvSpPr>
            <p:nvPr/>
          </p:nvSpPr>
          <p:spPr bwMode="auto">
            <a:xfrm>
              <a:off x="1728" y="37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6" name="Line 68"/>
            <p:cNvSpPr>
              <a:spLocks noChangeShapeType="1"/>
            </p:cNvSpPr>
            <p:nvPr/>
          </p:nvSpPr>
          <p:spPr bwMode="auto">
            <a:xfrm>
              <a:off x="1728" y="302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7" name="Line 69"/>
            <p:cNvSpPr>
              <a:spLocks noChangeShapeType="1"/>
            </p:cNvSpPr>
            <p:nvPr/>
          </p:nvSpPr>
          <p:spPr bwMode="auto">
            <a:xfrm>
              <a:off x="2496" y="302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8" name="Line 70"/>
            <p:cNvSpPr>
              <a:spLocks noChangeShapeType="1"/>
            </p:cNvSpPr>
            <p:nvPr/>
          </p:nvSpPr>
          <p:spPr bwMode="auto">
            <a:xfrm flipH="1" flipV="1">
              <a:off x="2496" y="302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59" name="Line 71"/>
            <p:cNvSpPr>
              <a:spLocks noChangeShapeType="1"/>
            </p:cNvSpPr>
            <p:nvPr/>
          </p:nvSpPr>
          <p:spPr bwMode="auto">
            <a:xfrm flipH="1">
              <a:off x="2496" y="34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677960" name="Oval 72"/>
            <p:cNvSpPr>
              <a:spLocks noChangeArrowheads="1"/>
            </p:cNvSpPr>
            <p:nvPr/>
          </p:nvSpPr>
          <p:spPr bwMode="auto">
            <a:xfrm>
              <a:off x="480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a</a:t>
              </a:r>
              <a:endParaRPr lang="it-IT" sz="2000" b="1"/>
            </a:p>
          </p:txBody>
        </p:sp>
        <p:sp>
          <p:nvSpPr>
            <p:cNvPr id="677961" name="Oval 73"/>
            <p:cNvSpPr>
              <a:spLocks noChangeArrowheads="1"/>
            </p:cNvSpPr>
            <p:nvPr/>
          </p:nvSpPr>
          <p:spPr bwMode="auto">
            <a:xfrm>
              <a:off x="2784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e</a:t>
              </a:r>
              <a:endParaRPr lang="it-IT" sz="2000" b="1"/>
            </a:p>
          </p:txBody>
        </p:sp>
        <p:sp>
          <p:nvSpPr>
            <p:cNvPr id="677962" name="Oval 74"/>
            <p:cNvSpPr>
              <a:spLocks noChangeArrowheads="1"/>
            </p:cNvSpPr>
            <p:nvPr/>
          </p:nvSpPr>
          <p:spPr bwMode="auto">
            <a:xfrm>
              <a:off x="864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h</a:t>
              </a:r>
              <a:endParaRPr lang="it-IT" sz="2000" b="1"/>
            </a:p>
          </p:txBody>
        </p:sp>
        <p:sp>
          <p:nvSpPr>
            <p:cNvPr id="677963" name="Oval 75"/>
            <p:cNvSpPr>
              <a:spLocks noChangeArrowheads="1"/>
            </p:cNvSpPr>
            <p:nvPr/>
          </p:nvSpPr>
          <p:spPr bwMode="auto">
            <a:xfrm>
              <a:off x="1632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g</a:t>
              </a:r>
              <a:endParaRPr lang="it-IT" sz="2000" b="1"/>
            </a:p>
          </p:txBody>
        </p:sp>
        <p:sp>
          <p:nvSpPr>
            <p:cNvPr id="677964" name="Oval 76"/>
            <p:cNvSpPr>
              <a:spLocks noChangeArrowheads="1"/>
            </p:cNvSpPr>
            <p:nvPr/>
          </p:nvSpPr>
          <p:spPr bwMode="auto">
            <a:xfrm>
              <a:off x="2400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f</a:t>
              </a:r>
              <a:endParaRPr lang="it-IT" sz="2000" b="1"/>
            </a:p>
          </p:txBody>
        </p:sp>
        <p:sp>
          <p:nvSpPr>
            <p:cNvPr id="677965" name="Oval 77"/>
            <p:cNvSpPr>
              <a:spLocks noChangeArrowheads="1"/>
            </p:cNvSpPr>
            <p:nvPr/>
          </p:nvSpPr>
          <p:spPr bwMode="auto">
            <a:xfrm>
              <a:off x="2400" y="29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d</a:t>
              </a:r>
              <a:endParaRPr lang="it-IT" sz="2000" b="1"/>
            </a:p>
          </p:txBody>
        </p:sp>
        <p:sp>
          <p:nvSpPr>
            <p:cNvPr id="677966" name="Oval 78"/>
            <p:cNvSpPr>
              <a:spLocks noChangeArrowheads="1"/>
            </p:cNvSpPr>
            <p:nvPr/>
          </p:nvSpPr>
          <p:spPr bwMode="auto">
            <a:xfrm>
              <a:off x="1632" y="29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c</a:t>
              </a:r>
              <a:endParaRPr lang="it-IT" sz="2000" b="1"/>
            </a:p>
          </p:txBody>
        </p:sp>
        <p:sp>
          <p:nvSpPr>
            <p:cNvPr id="677967" name="Oval 79"/>
            <p:cNvSpPr>
              <a:spLocks noChangeArrowheads="1"/>
            </p:cNvSpPr>
            <p:nvPr/>
          </p:nvSpPr>
          <p:spPr bwMode="auto">
            <a:xfrm>
              <a:off x="864" y="292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b</a:t>
              </a:r>
              <a:endParaRPr lang="it-IT" sz="2000" b="1"/>
            </a:p>
          </p:txBody>
        </p:sp>
        <p:sp>
          <p:nvSpPr>
            <p:cNvPr id="677968" name="Oval 80"/>
            <p:cNvSpPr>
              <a:spLocks noChangeArrowheads="1"/>
            </p:cNvSpPr>
            <p:nvPr/>
          </p:nvSpPr>
          <p:spPr bwMode="auto">
            <a:xfrm>
              <a:off x="1248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>
                  <a:sym typeface="Symbol" charset="0"/>
                </a:rPr>
                <a:t>i</a:t>
              </a:r>
              <a:endParaRPr lang="it-IT" sz="2000" b="1"/>
            </a:p>
          </p:txBody>
        </p:sp>
        <p:sp>
          <p:nvSpPr>
            <p:cNvPr id="677969" name="Text Box 81"/>
            <p:cNvSpPr txBox="1">
              <a:spLocks noChangeArrowheads="1"/>
            </p:cNvSpPr>
            <p:nvPr/>
          </p:nvSpPr>
          <p:spPr bwMode="auto">
            <a:xfrm>
              <a:off x="624" y="297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4</a:t>
              </a:r>
              <a:endParaRPr lang="en-GB" sz="2000" b="1"/>
            </a:p>
          </p:txBody>
        </p:sp>
        <p:sp>
          <p:nvSpPr>
            <p:cNvPr id="677970" name="Text Box 82"/>
            <p:cNvSpPr txBox="1">
              <a:spLocks noChangeArrowheads="1"/>
            </p:cNvSpPr>
            <p:nvPr/>
          </p:nvSpPr>
          <p:spPr bwMode="auto">
            <a:xfrm>
              <a:off x="2640" y="3504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10</a:t>
              </a:r>
              <a:endParaRPr lang="en-GB" sz="2000" b="1"/>
            </a:p>
          </p:txBody>
        </p:sp>
        <p:sp>
          <p:nvSpPr>
            <p:cNvPr id="677971" name="Text Box 83"/>
            <p:cNvSpPr txBox="1">
              <a:spLocks noChangeArrowheads="1"/>
            </p:cNvSpPr>
            <p:nvPr/>
          </p:nvSpPr>
          <p:spPr bwMode="auto">
            <a:xfrm>
              <a:off x="2448" y="3264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14</a:t>
              </a:r>
              <a:endParaRPr lang="en-GB" sz="2000" b="1"/>
            </a:p>
          </p:txBody>
        </p:sp>
        <p:sp>
          <p:nvSpPr>
            <p:cNvPr id="677972" name="Text Box 84"/>
            <p:cNvSpPr txBox="1">
              <a:spLocks noChangeArrowheads="1"/>
            </p:cNvSpPr>
            <p:nvPr/>
          </p:nvSpPr>
          <p:spPr bwMode="auto">
            <a:xfrm>
              <a:off x="2016" y="374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2</a:t>
              </a:r>
              <a:endParaRPr lang="en-GB" sz="2000" b="1"/>
            </a:p>
          </p:txBody>
        </p:sp>
        <p:sp>
          <p:nvSpPr>
            <p:cNvPr id="677973" name="Text Box 85"/>
            <p:cNvSpPr txBox="1">
              <a:spLocks noChangeArrowheads="1"/>
            </p:cNvSpPr>
            <p:nvPr/>
          </p:nvSpPr>
          <p:spPr bwMode="auto">
            <a:xfrm>
              <a:off x="2064" y="321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4</a:t>
              </a:r>
              <a:endParaRPr lang="en-GB" sz="2000" b="1"/>
            </a:p>
          </p:txBody>
        </p:sp>
        <p:sp>
          <p:nvSpPr>
            <p:cNvPr id="677974" name="Text Box 86"/>
            <p:cNvSpPr txBox="1">
              <a:spLocks noChangeArrowheads="1"/>
            </p:cNvSpPr>
            <p:nvPr/>
          </p:nvSpPr>
          <p:spPr bwMode="auto">
            <a:xfrm>
              <a:off x="2016" y="278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7</a:t>
              </a:r>
              <a:endParaRPr lang="en-GB" sz="2000" b="1"/>
            </a:p>
          </p:txBody>
        </p:sp>
        <p:sp>
          <p:nvSpPr>
            <p:cNvPr id="677975" name="Text Box 87"/>
            <p:cNvSpPr txBox="1">
              <a:spLocks noChangeArrowheads="1"/>
            </p:cNvSpPr>
            <p:nvPr/>
          </p:nvSpPr>
          <p:spPr bwMode="auto">
            <a:xfrm>
              <a:off x="1488" y="340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6</a:t>
              </a:r>
              <a:endParaRPr lang="en-GB" sz="2000" b="1"/>
            </a:p>
          </p:txBody>
        </p:sp>
        <p:sp>
          <p:nvSpPr>
            <p:cNvPr id="677976" name="Text Box 88"/>
            <p:cNvSpPr txBox="1">
              <a:spLocks noChangeArrowheads="1"/>
            </p:cNvSpPr>
            <p:nvPr/>
          </p:nvSpPr>
          <p:spPr bwMode="auto">
            <a:xfrm>
              <a:off x="1488" y="312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2</a:t>
              </a:r>
              <a:endParaRPr lang="en-GB" sz="2000" b="1"/>
            </a:p>
          </p:txBody>
        </p:sp>
        <p:sp>
          <p:nvSpPr>
            <p:cNvPr id="677977" name="Text Box 89"/>
            <p:cNvSpPr txBox="1">
              <a:spLocks noChangeArrowheads="1"/>
            </p:cNvSpPr>
            <p:nvPr/>
          </p:nvSpPr>
          <p:spPr bwMode="auto">
            <a:xfrm>
              <a:off x="1248" y="374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</a:t>
              </a:r>
              <a:endParaRPr lang="en-GB" sz="2000" b="1"/>
            </a:p>
          </p:txBody>
        </p:sp>
        <p:sp>
          <p:nvSpPr>
            <p:cNvPr id="677978" name="Text Box 90"/>
            <p:cNvSpPr txBox="1">
              <a:spLocks noChangeArrowheads="1"/>
            </p:cNvSpPr>
            <p:nvPr/>
          </p:nvSpPr>
          <p:spPr bwMode="auto">
            <a:xfrm>
              <a:off x="1008" y="340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7</a:t>
              </a:r>
              <a:endParaRPr lang="en-GB" sz="2000" b="1"/>
            </a:p>
          </p:txBody>
        </p:sp>
        <p:sp>
          <p:nvSpPr>
            <p:cNvPr id="677979" name="Text Box 91"/>
            <p:cNvSpPr txBox="1">
              <a:spLocks noChangeArrowheads="1"/>
            </p:cNvSpPr>
            <p:nvPr/>
          </p:nvSpPr>
          <p:spPr bwMode="auto">
            <a:xfrm>
              <a:off x="1248" y="278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8</a:t>
              </a:r>
              <a:endParaRPr lang="en-GB" sz="2000" b="1"/>
            </a:p>
          </p:txBody>
        </p:sp>
        <p:sp>
          <p:nvSpPr>
            <p:cNvPr id="677980" name="Text Box 92"/>
            <p:cNvSpPr txBox="1">
              <a:spLocks noChangeArrowheads="1"/>
            </p:cNvSpPr>
            <p:nvPr/>
          </p:nvSpPr>
          <p:spPr bwMode="auto">
            <a:xfrm>
              <a:off x="720" y="3264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11</a:t>
              </a:r>
              <a:endParaRPr lang="en-GB" sz="2000" b="1"/>
            </a:p>
          </p:txBody>
        </p:sp>
        <p:sp>
          <p:nvSpPr>
            <p:cNvPr id="677981" name="Text Box 93"/>
            <p:cNvSpPr txBox="1">
              <a:spLocks noChangeArrowheads="1"/>
            </p:cNvSpPr>
            <p:nvPr/>
          </p:nvSpPr>
          <p:spPr bwMode="auto">
            <a:xfrm>
              <a:off x="624" y="355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8</a:t>
              </a:r>
              <a:endParaRPr lang="en-GB" sz="2000" b="1"/>
            </a:p>
          </p:txBody>
        </p:sp>
        <p:sp>
          <p:nvSpPr>
            <p:cNvPr id="677982" name="Text Box 94"/>
            <p:cNvSpPr txBox="1">
              <a:spLocks noChangeArrowheads="1"/>
            </p:cNvSpPr>
            <p:nvPr/>
          </p:nvSpPr>
          <p:spPr bwMode="auto">
            <a:xfrm>
              <a:off x="2640" y="297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 b="1"/>
                <a:t>9</a:t>
              </a:r>
              <a:endParaRPr lang="en-GB" sz="2000" b="1"/>
            </a:p>
          </p:txBody>
        </p:sp>
      </p:grpSp>
      <p:sp>
        <p:nvSpPr>
          <p:cNvPr id="677983" name="Text Box 95"/>
          <p:cNvSpPr txBox="1">
            <a:spLocks noChangeArrowheads="1"/>
          </p:cNvSpPr>
          <p:nvPr/>
        </p:nvSpPr>
        <p:spPr bwMode="auto">
          <a:xfrm>
            <a:off x="5319192" y="3178696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 dirty="0"/>
              <a:t>costo = 37</a:t>
            </a:r>
          </a:p>
        </p:txBody>
      </p:sp>
      <p:sp>
        <p:nvSpPr>
          <p:cNvPr id="677984" name="Text Box 96"/>
          <p:cNvSpPr txBox="1">
            <a:spLocks noChangeArrowheads="1"/>
          </p:cNvSpPr>
          <p:nvPr/>
        </p:nvSpPr>
        <p:spPr bwMode="auto">
          <a:xfrm>
            <a:off x="5247184" y="5122912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 dirty="0"/>
              <a:t>costo = 42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Albero di connessione </a:t>
            </a:r>
            <a:r>
              <a:rPr lang="it-IT" dirty="0" smtClean="0"/>
              <a:t>minimo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1368152"/>
          </a:xfrm>
        </p:spPr>
        <p:txBody>
          <a:bodyPr/>
          <a:lstStyle/>
          <a:p>
            <a:r>
              <a:rPr lang="it-IT" dirty="0"/>
              <a:t>Se associamo un costo </a:t>
            </a:r>
            <a:r>
              <a:rPr lang="it-IT" i="1" dirty="0" err="1">
                <a:solidFill>
                  <a:srgbClr val="FF0000"/>
                </a:solidFill>
              </a:rPr>
              <a:t>W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i="1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</a:t>
            </a:r>
            <a:r>
              <a:rPr lang="it-IT" dirty="0"/>
              <a:t> ad ogni arco </a:t>
            </a:r>
            <a:r>
              <a:rPr lang="it-IT" i="1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possiamo definire come </a:t>
            </a:r>
            <a:r>
              <a:rPr lang="it-IT" i="1" dirty="0" smtClean="0">
                <a:solidFill>
                  <a:srgbClr val="FF0000"/>
                </a:solidFill>
              </a:rPr>
              <a:t>costo</a:t>
            </a:r>
            <a:r>
              <a:rPr lang="it-IT" dirty="0" smtClean="0"/>
              <a:t> di un albero </a:t>
            </a:r>
            <a:r>
              <a:rPr lang="it-IT" dirty="0"/>
              <a:t>di connessione </a:t>
            </a:r>
            <a:r>
              <a:rPr lang="it-IT" dirty="0" smtClean="0"/>
              <a:t>la somma dei costi dei suoi archi</a:t>
            </a:r>
            <a:endParaRPr lang="it-IT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Albero di connessione minimo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Un </a:t>
            </a:r>
            <a:r>
              <a:rPr lang="it-IT" dirty="0" smtClean="0">
                <a:solidFill>
                  <a:srgbClr val="FF0000"/>
                </a:solidFill>
              </a:rPr>
              <a:t>albero di connessione minimo </a:t>
            </a:r>
            <a:r>
              <a:rPr lang="it-IT" dirty="0" smtClean="0"/>
              <a:t>è un albero di connessione di costo minimo</a:t>
            </a:r>
          </a:p>
          <a:p>
            <a:r>
              <a:rPr lang="it-IT" dirty="0" smtClean="0"/>
              <a:t>Vi sono due algoritmi golosi per calcolare un albero di connessione minimo, dovuti rispettivamente a </a:t>
            </a:r>
            <a:r>
              <a:rPr lang="it-IT" dirty="0" err="1" smtClean="0">
                <a:solidFill>
                  <a:srgbClr val="FF0000"/>
                </a:solidFill>
              </a:rPr>
              <a:t>Kruskal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a </a:t>
            </a:r>
            <a:r>
              <a:rPr lang="it-IT" dirty="0" err="1" smtClean="0">
                <a:solidFill>
                  <a:srgbClr val="FF0000"/>
                </a:solidFill>
              </a:rPr>
              <a:t>Prim</a:t>
            </a:r>
            <a:endParaRPr lang="it-IT" dirty="0" smtClean="0">
              <a:solidFill>
                <a:srgbClr val="FF0000"/>
              </a:solidFill>
            </a:endParaRPr>
          </a:p>
          <a:p>
            <a:r>
              <a:rPr lang="it-IT" dirty="0" smtClean="0"/>
              <a:t>Entrambi si possono implementare facilmente con complessità </a:t>
            </a:r>
            <a:r>
              <a:rPr lang="it-IT" dirty="0" smtClean="0">
                <a:solidFill>
                  <a:srgbClr val="FF0000"/>
                </a:solidFill>
              </a:rPr>
              <a:t>O(|E| log(|V|)) </a:t>
            </a:r>
            <a:r>
              <a:rPr lang="it-IT" dirty="0" smtClean="0"/>
              <a:t>usando dei normali </a:t>
            </a:r>
            <a:r>
              <a:rPr lang="it-IT" dirty="0" err="1" smtClean="0"/>
              <a:t>heap</a:t>
            </a:r>
            <a:endParaRPr lang="it-IT" dirty="0" smtClean="0"/>
          </a:p>
          <a:p>
            <a:r>
              <a:rPr lang="it-IT" dirty="0" smtClean="0"/>
              <a:t>Usando i mucchi di Fibonacci l’algoritmo di </a:t>
            </a:r>
            <a:r>
              <a:rPr lang="it-IT" dirty="0" err="1" smtClean="0"/>
              <a:t>Prim</a:t>
            </a:r>
            <a:r>
              <a:rPr lang="it-IT" dirty="0" smtClean="0"/>
              <a:t> richiede tempo </a:t>
            </a:r>
            <a:r>
              <a:rPr lang="it-IT" dirty="0" smtClean="0">
                <a:solidFill>
                  <a:srgbClr val="FF0000"/>
                </a:solidFill>
              </a:rPr>
              <a:t>O(|E| + |V| log(|V|))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Gli algoritmi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24936" cy="2808312"/>
          </a:xfrm>
        </p:spPr>
        <p:txBody>
          <a:bodyPr/>
          <a:lstStyle/>
          <a:p>
            <a:r>
              <a:rPr lang="it-IT" dirty="0"/>
              <a:t>Entrambi </a:t>
            </a:r>
            <a:r>
              <a:rPr lang="it-IT" dirty="0" smtClean="0"/>
              <a:t>sono </a:t>
            </a:r>
            <a:r>
              <a:rPr lang="it-IT" dirty="0"/>
              <a:t>istanze di uno stesso </a:t>
            </a:r>
            <a:r>
              <a:rPr lang="it-IT" i="1" dirty="0">
                <a:solidFill>
                  <a:srgbClr val="FF0000"/>
                </a:solidFill>
              </a:rPr>
              <a:t>algoritmo generale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che costruisce l’insieme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degli archi di un albero di connessione minimo partendo dall’insieme vuoto e aggiungendo di volta in volta un arco </a:t>
            </a:r>
            <a:r>
              <a:rPr lang="it-IT" i="1" dirty="0">
                <a:solidFill>
                  <a:srgbClr val="FF0000"/>
                </a:solidFill>
              </a:rPr>
              <a:t>sicuro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per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ossia un arco </a:t>
            </a:r>
            <a:r>
              <a:rPr lang="it-IT" b="1" i="1" dirty="0"/>
              <a:t>a</a:t>
            </a:r>
            <a:r>
              <a:rPr lang="it-IT" dirty="0"/>
              <a:t> tale che </a:t>
            </a:r>
            <a:r>
              <a:rPr lang="it-IT" i="1" dirty="0" err="1">
                <a:solidFill>
                  <a:srgbClr val="FF0000"/>
                </a:solidFill>
              </a:rPr>
              <a:t>A</a:t>
            </a:r>
            <a:r>
              <a:rPr lang="it-IT" dirty="0" err="1">
                <a:solidFill>
                  <a:srgbClr val="FF0000"/>
                </a:solidFill>
                <a:sym typeface="Symbol" charset="0"/>
              </a:rPr>
              <a:t></a:t>
            </a:r>
            <a:r>
              <a:rPr lang="it-IT" i="1" dirty="0" err="1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sia sottoinsieme degli archi di qualche albero di connessione </a:t>
            </a:r>
            <a:r>
              <a:rPr lang="it-IT" dirty="0" smtClean="0"/>
              <a:t>minimo</a:t>
            </a:r>
            <a:endParaRPr lang="it-IT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95536" y="4005064"/>
            <a:ext cx="8077200" cy="230832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>
                <a:sym typeface="Symbol" charset="0"/>
              </a:rPr>
              <a:t>AlbConnMinGenerico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G</a:t>
            </a:r>
            <a:r>
              <a:rPr lang="it-IT" sz="2400" b="1">
                <a:sym typeface="Symbol" charset="0"/>
              </a:rPr>
              <a:t>)  </a:t>
            </a:r>
            <a:r>
              <a:rPr lang="it-IT" sz="2000" b="1" i="1">
                <a:solidFill>
                  <a:srgbClr val="0000CC"/>
                </a:solidFill>
                <a:sym typeface="Symbol" charset="0"/>
              </a:rPr>
              <a:t>G</a:t>
            </a:r>
            <a:r>
              <a:rPr lang="it-IT" sz="2000" b="1">
                <a:solidFill>
                  <a:srgbClr val="0000CC"/>
                </a:solidFill>
                <a:sym typeface="Symbol" charset="0"/>
              </a:rPr>
              <a:t> grafo pesato sugli archi</a:t>
            </a:r>
          </a:p>
          <a:p>
            <a:r>
              <a:rPr lang="it-IT" sz="2400" b="1">
                <a:sym typeface="Symbol" charset="0"/>
              </a:rPr>
              <a:t>    </a:t>
            </a:r>
            <a:r>
              <a:rPr lang="it-IT" sz="2400" b="1" i="1">
                <a:sym typeface="Symbol" charset="0"/>
              </a:rPr>
              <a:t>A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</a:t>
            </a:r>
            <a:endParaRPr lang="it-IT" sz="2000" b="1" i="1">
              <a:solidFill>
                <a:srgbClr val="0000CC"/>
              </a:solidFill>
              <a:sym typeface="Symbol" charset="0"/>
            </a:endParaRPr>
          </a:p>
          <a:p>
            <a:r>
              <a:rPr lang="it-IT" sz="2400" b="1">
                <a:sym typeface="Symbol" charset="0"/>
              </a:rPr>
              <a:t>    while “</a:t>
            </a:r>
            <a:r>
              <a:rPr lang="it-IT" sz="2400" b="1" i="1">
                <a:sym typeface="Symbol" charset="0"/>
              </a:rPr>
              <a:t>A</a:t>
            </a:r>
            <a:r>
              <a:rPr lang="it-IT" sz="2400" b="1">
                <a:sym typeface="Symbol" charset="0"/>
              </a:rPr>
              <a:t> non forma un albero di connessione” do</a:t>
            </a:r>
          </a:p>
          <a:p>
            <a:r>
              <a:rPr lang="it-IT" sz="2400" b="1">
                <a:sym typeface="Symbol" charset="0"/>
              </a:rPr>
              <a:t>         “cerca un arco sicuro </a:t>
            </a:r>
            <a:r>
              <a:rPr lang="it-IT" sz="2400" b="1" i="1">
                <a:sym typeface="Symbol" charset="0"/>
              </a:rPr>
              <a:t>a</a:t>
            </a:r>
            <a:r>
              <a:rPr lang="it-IT" sz="2400" b="1">
                <a:sym typeface="Symbol" charset="0"/>
              </a:rPr>
              <a:t>”</a:t>
            </a:r>
          </a:p>
          <a:p>
            <a:r>
              <a:rPr lang="it-IT" sz="2400" b="1">
                <a:sym typeface="Symbol" charset="0"/>
              </a:rPr>
              <a:t>         “aggiungi </a:t>
            </a:r>
            <a:r>
              <a:rPr lang="it-IT" sz="2400" b="1" i="1">
                <a:sym typeface="Symbol" charset="0"/>
              </a:rPr>
              <a:t>a </a:t>
            </a:r>
            <a:r>
              <a:rPr lang="it-IT" sz="2400" b="1">
                <a:sym typeface="Symbol" charset="0"/>
              </a:rPr>
              <a:t>all’insieme </a:t>
            </a:r>
            <a:r>
              <a:rPr lang="it-IT" sz="2400" b="1" i="1">
                <a:sym typeface="Symbol" charset="0"/>
              </a:rPr>
              <a:t>A</a:t>
            </a:r>
            <a:r>
              <a:rPr lang="it-IT" sz="2400" b="1">
                <a:sym typeface="Symbol" charset="0"/>
              </a:rPr>
              <a:t> ”</a:t>
            </a:r>
          </a:p>
          <a:p>
            <a:r>
              <a:rPr lang="it-IT" sz="2400" b="1">
                <a:sym typeface="Symbol" charset="0"/>
              </a:rPr>
              <a:t>    return </a:t>
            </a:r>
            <a:r>
              <a:rPr lang="it-IT" sz="2400" b="1" i="1">
                <a:sym typeface="Symbol" charset="0"/>
              </a:rPr>
              <a:t>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Gli algoritmi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it-IT" dirty="0"/>
              <a:t>Gli algoritmi di </a:t>
            </a:r>
            <a:r>
              <a:rPr lang="it-IT" dirty="0" err="1"/>
              <a:t>Kruskal</a:t>
            </a:r>
            <a:r>
              <a:rPr lang="it-IT" dirty="0"/>
              <a:t> e di </a:t>
            </a:r>
            <a:r>
              <a:rPr lang="it-IT" dirty="0" err="1"/>
              <a:t>Prim</a:t>
            </a:r>
            <a:r>
              <a:rPr lang="it-IT" dirty="0"/>
              <a:t> differiscono per il modo in cui viene cercato un arco sicuro (oltre che per il modo di rappresentare l’insieme </a:t>
            </a:r>
            <a:r>
              <a:rPr lang="it-IT" b="1" i="1" dirty="0"/>
              <a:t>A</a:t>
            </a:r>
            <a:r>
              <a:rPr lang="it-IT" dirty="0"/>
              <a:t>).</a:t>
            </a:r>
          </a:p>
          <a:p>
            <a:pPr>
              <a:spcBef>
                <a:spcPct val="20000"/>
              </a:spcBef>
            </a:pPr>
            <a:r>
              <a:rPr lang="it-IT" dirty="0"/>
              <a:t>Per esporre questi algoritmi ci serve qualche altra definizione sui grafi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Tagli e archi leggeri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it-IT" dirty="0"/>
              <a:t>Un </a:t>
            </a:r>
            <a:r>
              <a:rPr lang="it-IT" i="1" dirty="0">
                <a:solidFill>
                  <a:srgbClr val="FF0000"/>
                </a:solidFill>
              </a:rPr>
              <a:t>taglio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in un grafo non orientato </a:t>
            </a:r>
            <a:r>
              <a:rPr lang="it-IT" dirty="0">
                <a:solidFill>
                  <a:srgbClr val="FF0000"/>
                </a:solidFill>
              </a:rPr>
              <a:t>G = (V,E)</a:t>
            </a:r>
            <a:r>
              <a:rPr lang="it-IT" dirty="0"/>
              <a:t> è una partizione dell’insieme di vertici </a:t>
            </a:r>
            <a:r>
              <a:rPr lang="it-IT" dirty="0">
                <a:solidFill>
                  <a:srgbClr val="FF0000"/>
                </a:solidFill>
              </a:rPr>
              <a:t>V </a:t>
            </a:r>
            <a:r>
              <a:rPr lang="it-IT" dirty="0"/>
              <a:t>in due sottoinsiemi non vuoti </a:t>
            </a:r>
            <a:r>
              <a:rPr lang="it-IT" dirty="0">
                <a:solidFill>
                  <a:srgbClr val="FF0000"/>
                </a:solidFill>
              </a:rPr>
              <a:t>(S,</a:t>
            </a:r>
            <a:r>
              <a:rPr lang="it-IT" dirty="0" smtClean="0">
                <a:solidFill>
                  <a:srgbClr val="FF0000"/>
                </a:solidFill>
              </a:rPr>
              <a:t>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endParaRPr lang="it-IT" dirty="0">
              <a:solidFill>
                <a:srgbClr val="FF0000"/>
              </a:solidFill>
            </a:endParaRPr>
          </a:p>
          <a:p>
            <a:pPr>
              <a:spcBef>
                <a:spcPct val="20000"/>
              </a:spcBef>
            </a:pPr>
            <a:r>
              <a:rPr lang="it-IT" dirty="0"/>
              <a:t>Diciamo che un arco </a:t>
            </a:r>
            <a:r>
              <a:rPr lang="it-IT" i="1" dirty="0">
                <a:solidFill>
                  <a:srgbClr val="FF0000"/>
                </a:solidFill>
              </a:rPr>
              <a:t>interseca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il taglio </a:t>
            </a:r>
            <a:r>
              <a:rPr lang="it-IT" dirty="0">
                <a:solidFill>
                  <a:srgbClr val="FF0000"/>
                </a:solidFill>
              </a:rPr>
              <a:t>(S,V\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se </a:t>
            </a:r>
            <a:r>
              <a:rPr lang="it-IT" dirty="0"/>
              <a:t>uno dei suoi estremi è in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e l’altro è in </a:t>
            </a:r>
            <a:r>
              <a:rPr lang="it-IT" dirty="0" smtClean="0">
                <a:solidFill>
                  <a:srgbClr val="FF0000"/>
                </a:solidFill>
              </a:rPr>
              <a:t>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/>
          </a:p>
          <a:p>
            <a:pPr>
              <a:spcBef>
                <a:spcPct val="20000"/>
              </a:spcBef>
            </a:pPr>
            <a:r>
              <a:rPr lang="it-IT" dirty="0" smtClean="0"/>
              <a:t>Diciamo che il taglio </a:t>
            </a:r>
            <a:r>
              <a:rPr lang="it-IT" dirty="0" smtClean="0">
                <a:solidFill>
                  <a:srgbClr val="FF0000"/>
                </a:solidFill>
              </a:rPr>
              <a:t>(S,V\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rispetta</a:t>
            </a:r>
            <a:r>
              <a:rPr lang="it-IT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dirty="0" smtClean="0"/>
              <a:t>un insieme di archi </a:t>
            </a:r>
            <a:r>
              <a:rPr lang="it-IT" dirty="0" smtClean="0">
                <a:solidFill>
                  <a:srgbClr val="FF0000"/>
                </a:solidFill>
              </a:rPr>
              <a:t>A </a:t>
            </a:r>
            <a:r>
              <a:rPr lang="it-IT" dirty="0" smtClean="0"/>
              <a:t>se nessun arco in </a:t>
            </a:r>
            <a:r>
              <a:rPr lang="it-IT" dirty="0">
                <a:solidFill>
                  <a:srgbClr val="FF0000"/>
                </a:solidFill>
              </a:rPr>
              <a:t>A </a:t>
            </a:r>
            <a:r>
              <a:rPr lang="it-IT" dirty="0" smtClean="0"/>
              <a:t>interseca il taglio</a:t>
            </a:r>
          </a:p>
          <a:p>
            <a:pPr>
              <a:spcBef>
                <a:spcPct val="20000"/>
              </a:spcBef>
            </a:pPr>
            <a:r>
              <a:rPr lang="it-IT" dirty="0" smtClean="0"/>
              <a:t>Un </a:t>
            </a:r>
            <a:r>
              <a:rPr lang="it-IT" i="1" dirty="0">
                <a:solidFill>
                  <a:srgbClr val="FF0000"/>
                </a:solidFill>
              </a:rPr>
              <a:t>arco leggero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per un taglio è un arco di costo minimo tra tutti quelli che intersecano il </a:t>
            </a:r>
            <a:r>
              <a:rPr lang="it-IT" dirty="0" smtClean="0"/>
              <a:t>taglio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59632" y="1844824"/>
            <a:ext cx="6343650" cy="2703215"/>
            <a:chOff x="1259632" y="1844824"/>
            <a:chExt cx="6343650" cy="2703215"/>
          </a:xfrm>
        </p:grpSpPr>
        <p:sp>
          <p:nvSpPr>
            <p:cNvPr id="683010" name="Line 2"/>
            <p:cNvSpPr>
              <a:spLocks noChangeShapeType="1"/>
            </p:cNvSpPr>
            <p:nvPr/>
          </p:nvSpPr>
          <p:spPr bwMode="auto">
            <a:xfrm flipV="1">
              <a:off x="3593257" y="2606824"/>
              <a:ext cx="633413" cy="60960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3011" name="Line 3"/>
            <p:cNvSpPr>
              <a:spLocks noChangeShapeType="1"/>
            </p:cNvSpPr>
            <p:nvPr/>
          </p:nvSpPr>
          <p:spPr bwMode="auto">
            <a:xfrm flipH="1" flipV="1">
              <a:off x="3593257" y="3445024"/>
              <a:ext cx="561975" cy="60960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3012" name="Line 4"/>
            <p:cNvSpPr>
              <a:spLocks noChangeShapeType="1"/>
            </p:cNvSpPr>
            <p:nvPr/>
          </p:nvSpPr>
          <p:spPr bwMode="auto">
            <a:xfrm flipH="1" flipV="1">
              <a:off x="5914182" y="2530624"/>
              <a:ext cx="633413" cy="68580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3013" name="Line 5"/>
            <p:cNvSpPr>
              <a:spLocks noChangeShapeType="1"/>
            </p:cNvSpPr>
            <p:nvPr/>
          </p:nvSpPr>
          <p:spPr bwMode="auto">
            <a:xfrm flipV="1">
              <a:off x="2045445" y="2606824"/>
              <a:ext cx="563562" cy="60960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3015" name="Line 7"/>
            <p:cNvSpPr>
              <a:spLocks noChangeShapeType="1"/>
            </p:cNvSpPr>
            <p:nvPr/>
          </p:nvSpPr>
          <p:spPr bwMode="auto">
            <a:xfrm>
              <a:off x="4475907" y="2521099"/>
              <a:ext cx="1184275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83016" name="Line 8"/>
            <p:cNvSpPr>
              <a:spLocks noChangeShapeType="1"/>
            </p:cNvSpPr>
            <p:nvPr/>
          </p:nvSpPr>
          <p:spPr bwMode="auto">
            <a:xfrm flipH="1" flipV="1">
              <a:off x="1907332" y="3356124"/>
              <a:ext cx="790575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17" name="Line 9"/>
            <p:cNvSpPr>
              <a:spLocks noChangeShapeType="1"/>
            </p:cNvSpPr>
            <p:nvPr/>
          </p:nvSpPr>
          <p:spPr bwMode="auto">
            <a:xfrm>
              <a:off x="2697907" y="2521099"/>
              <a:ext cx="0" cy="167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18" name="Line 10"/>
            <p:cNvSpPr>
              <a:spLocks noChangeShapeType="1"/>
            </p:cNvSpPr>
            <p:nvPr/>
          </p:nvSpPr>
          <p:spPr bwMode="auto">
            <a:xfrm flipH="1">
              <a:off x="1907332" y="2521099"/>
              <a:ext cx="790575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19" name="Line 11"/>
            <p:cNvSpPr>
              <a:spLocks noChangeShapeType="1"/>
            </p:cNvSpPr>
            <p:nvPr/>
          </p:nvSpPr>
          <p:spPr bwMode="auto">
            <a:xfrm>
              <a:off x="2697907" y="2521099"/>
              <a:ext cx="157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0" name="Line 12"/>
            <p:cNvSpPr>
              <a:spLocks noChangeShapeType="1"/>
            </p:cNvSpPr>
            <p:nvPr/>
          </p:nvSpPr>
          <p:spPr bwMode="auto">
            <a:xfrm flipH="1">
              <a:off x="2697907" y="3356124"/>
              <a:ext cx="790575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1" name="Line 13"/>
            <p:cNvSpPr>
              <a:spLocks noChangeShapeType="1"/>
            </p:cNvSpPr>
            <p:nvPr/>
          </p:nvSpPr>
          <p:spPr bwMode="auto">
            <a:xfrm flipH="1">
              <a:off x="3488482" y="2521099"/>
              <a:ext cx="788988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2" name="Line 14"/>
            <p:cNvSpPr>
              <a:spLocks noChangeShapeType="1"/>
            </p:cNvSpPr>
            <p:nvPr/>
          </p:nvSpPr>
          <p:spPr bwMode="auto">
            <a:xfrm>
              <a:off x="2697907" y="4191149"/>
              <a:ext cx="157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3" name="Line 15"/>
            <p:cNvSpPr>
              <a:spLocks noChangeShapeType="1"/>
            </p:cNvSpPr>
            <p:nvPr/>
          </p:nvSpPr>
          <p:spPr bwMode="auto">
            <a:xfrm flipH="1" flipV="1">
              <a:off x="3488482" y="3356124"/>
              <a:ext cx="788988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4" name="Line 16"/>
            <p:cNvSpPr>
              <a:spLocks noChangeShapeType="1"/>
            </p:cNvSpPr>
            <p:nvPr/>
          </p:nvSpPr>
          <p:spPr bwMode="auto">
            <a:xfrm flipH="1" flipV="1">
              <a:off x="4277470" y="2521099"/>
              <a:ext cx="1581150" cy="167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5" name="Line 17"/>
            <p:cNvSpPr>
              <a:spLocks noChangeShapeType="1"/>
            </p:cNvSpPr>
            <p:nvPr/>
          </p:nvSpPr>
          <p:spPr bwMode="auto">
            <a:xfrm>
              <a:off x="4277470" y="4191149"/>
              <a:ext cx="1581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6" name="Line 18"/>
            <p:cNvSpPr>
              <a:spLocks noChangeShapeType="1"/>
            </p:cNvSpPr>
            <p:nvPr/>
          </p:nvSpPr>
          <p:spPr bwMode="auto">
            <a:xfrm>
              <a:off x="4277470" y="2521099"/>
              <a:ext cx="1581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7" name="Line 19"/>
            <p:cNvSpPr>
              <a:spLocks noChangeShapeType="1"/>
            </p:cNvSpPr>
            <p:nvPr/>
          </p:nvSpPr>
          <p:spPr bwMode="auto">
            <a:xfrm>
              <a:off x="5858620" y="2521099"/>
              <a:ext cx="0" cy="167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8" name="Line 20"/>
            <p:cNvSpPr>
              <a:spLocks noChangeShapeType="1"/>
            </p:cNvSpPr>
            <p:nvPr/>
          </p:nvSpPr>
          <p:spPr bwMode="auto">
            <a:xfrm flipH="1" flipV="1">
              <a:off x="5858620" y="2521099"/>
              <a:ext cx="790575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29" name="Line 21"/>
            <p:cNvSpPr>
              <a:spLocks noChangeShapeType="1"/>
            </p:cNvSpPr>
            <p:nvPr/>
          </p:nvSpPr>
          <p:spPr bwMode="auto">
            <a:xfrm flipH="1">
              <a:off x="5858620" y="3356124"/>
              <a:ext cx="790575" cy="835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3030" name="Oval 22"/>
            <p:cNvSpPr>
              <a:spLocks noChangeArrowheads="1"/>
            </p:cNvSpPr>
            <p:nvPr/>
          </p:nvSpPr>
          <p:spPr bwMode="auto">
            <a:xfrm>
              <a:off x="1710482" y="3146574"/>
              <a:ext cx="395288" cy="417513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a</a:t>
              </a:r>
              <a:endParaRPr lang="it-IT" sz="2400"/>
            </a:p>
          </p:txBody>
        </p:sp>
        <p:sp>
          <p:nvSpPr>
            <p:cNvPr id="683031" name="Oval 23"/>
            <p:cNvSpPr>
              <a:spLocks noChangeArrowheads="1"/>
            </p:cNvSpPr>
            <p:nvPr/>
          </p:nvSpPr>
          <p:spPr bwMode="auto">
            <a:xfrm>
              <a:off x="6450757" y="3146574"/>
              <a:ext cx="393700" cy="417513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e</a:t>
              </a:r>
              <a:endParaRPr lang="it-IT" sz="2400"/>
            </a:p>
          </p:txBody>
        </p:sp>
        <p:sp>
          <p:nvSpPr>
            <p:cNvPr id="683032" name="Oval 24"/>
            <p:cNvSpPr>
              <a:spLocks noChangeArrowheads="1"/>
            </p:cNvSpPr>
            <p:nvPr/>
          </p:nvSpPr>
          <p:spPr bwMode="auto">
            <a:xfrm>
              <a:off x="2501057" y="3981599"/>
              <a:ext cx="395288" cy="4175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h</a:t>
              </a:r>
              <a:endParaRPr lang="it-IT" sz="2400"/>
            </a:p>
          </p:txBody>
        </p:sp>
        <p:sp>
          <p:nvSpPr>
            <p:cNvPr id="683033" name="Oval 25"/>
            <p:cNvSpPr>
              <a:spLocks noChangeArrowheads="1"/>
            </p:cNvSpPr>
            <p:nvPr/>
          </p:nvSpPr>
          <p:spPr bwMode="auto">
            <a:xfrm>
              <a:off x="4080620" y="3981599"/>
              <a:ext cx="395287" cy="4175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g</a:t>
              </a:r>
              <a:endParaRPr lang="it-IT" sz="2400"/>
            </a:p>
          </p:txBody>
        </p:sp>
        <p:sp>
          <p:nvSpPr>
            <p:cNvPr id="683034" name="Oval 26"/>
            <p:cNvSpPr>
              <a:spLocks noChangeArrowheads="1"/>
            </p:cNvSpPr>
            <p:nvPr/>
          </p:nvSpPr>
          <p:spPr bwMode="auto">
            <a:xfrm>
              <a:off x="5660182" y="3981599"/>
              <a:ext cx="395288" cy="4175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dirty="0" err="1">
                  <a:sym typeface="Symbol" charset="0"/>
                </a:rPr>
                <a:t>f</a:t>
              </a:r>
              <a:endParaRPr lang="it-IT" sz="2400" dirty="0"/>
            </a:p>
          </p:txBody>
        </p:sp>
        <p:sp>
          <p:nvSpPr>
            <p:cNvPr id="683035" name="Oval 27"/>
            <p:cNvSpPr>
              <a:spLocks noChangeArrowheads="1"/>
            </p:cNvSpPr>
            <p:nvPr/>
          </p:nvSpPr>
          <p:spPr bwMode="auto">
            <a:xfrm>
              <a:off x="5660182" y="2311549"/>
              <a:ext cx="395288" cy="417513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d</a:t>
              </a:r>
              <a:endParaRPr lang="it-IT" sz="2400"/>
            </a:p>
          </p:txBody>
        </p:sp>
        <p:sp>
          <p:nvSpPr>
            <p:cNvPr id="683036" name="Oval 28"/>
            <p:cNvSpPr>
              <a:spLocks noChangeArrowheads="1"/>
            </p:cNvSpPr>
            <p:nvPr/>
          </p:nvSpPr>
          <p:spPr bwMode="auto">
            <a:xfrm>
              <a:off x="4080620" y="2311549"/>
              <a:ext cx="395287" cy="4175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c</a:t>
              </a:r>
              <a:endParaRPr lang="it-IT" sz="2400"/>
            </a:p>
          </p:txBody>
        </p:sp>
        <p:sp>
          <p:nvSpPr>
            <p:cNvPr id="683037" name="Oval 29"/>
            <p:cNvSpPr>
              <a:spLocks noChangeArrowheads="1"/>
            </p:cNvSpPr>
            <p:nvPr/>
          </p:nvSpPr>
          <p:spPr bwMode="auto">
            <a:xfrm>
              <a:off x="2501057" y="2311549"/>
              <a:ext cx="395288" cy="417513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b</a:t>
              </a:r>
              <a:endParaRPr lang="it-IT" sz="2400"/>
            </a:p>
          </p:txBody>
        </p:sp>
        <p:sp>
          <p:nvSpPr>
            <p:cNvPr id="683038" name="Oval 30"/>
            <p:cNvSpPr>
              <a:spLocks noChangeArrowheads="1"/>
            </p:cNvSpPr>
            <p:nvPr/>
          </p:nvSpPr>
          <p:spPr bwMode="auto">
            <a:xfrm>
              <a:off x="3291632" y="3146574"/>
              <a:ext cx="393700" cy="4175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>
                  <a:sym typeface="Symbol" charset="0"/>
                </a:rPr>
                <a:t>i</a:t>
              </a:r>
              <a:endParaRPr lang="it-IT" sz="2400"/>
            </a:p>
          </p:txBody>
        </p:sp>
        <p:sp>
          <p:nvSpPr>
            <p:cNvPr id="683039" name="Text Box 31"/>
            <p:cNvSpPr txBox="1">
              <a:spLocks noChangeArrowheads="1"/>
            </p:cNvSpPr>
            <p:nvPr/>
          </p:nvSpPr>
          <p:spPr bwMode="auto">
            <a:xfrm>
              <a:off x="2007345" y="2416324"/>
              <a:ext cx="3770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4</a:t>
              </a:r>
              <a:endParaRPr lang="en-GB" sz="2400"/>
            </a:p>
          </p:txBody>
        </p:sp>
        <p:sp>
          <p:nvSpPr>
            <p:cNvPr id="683040" name="Text Box 32"/>
            <p:cNvSpPr txBox="1">
              <a:spLocks noChangeArrowheads="1"/>
            </p:cNvSpPr>
            <p:nvPr/>
          </p:nvSpPr>
          <p:spPr bwMode="auto">
            <a:xfrm>
              <a:off x="6155482" y="3564087"/>
              <a:ext cx="51107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10</a:t>
              </a:r>
              <a:endParaRPr lang="en-GB" sz="2400"/>
            </a:p>
          </p:txBody>
        </p:sp>
        <p:sp>
          <p:nvSpPr>
            <p:cNvPr id="683041" name="Text Box 33"/>
            <p:cNvSpPr txBox="1">
              <a:spLocks noChangeArrowheads="1"/>
            </p:cNvSpPr>
            <p:nvPr/>
          </p:nvSpPr>
          <p:spPr bwMode="auto">
            <a:xfrm>
              <a:off x="5758607" y="3043387"/>
              <a:ext cx="51809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14</a:t>
              </a:r>
              <a:endParaRPr lang="en-GB" sz="2400"/>
            </a:p>
          </p:txBody>
        </p:sp>
        <p:sp>
          <p:nvSpPr>
            <p:cNvPr id="683042" name="Text Box 34"/>
            <p:cNvSpPr txBox="1">
              <a:spLocks noChangeArrowheads="1"/>
            </p:cNvSpPr>
            <p:nvPr/>
          </p:nvSpPr>
          <p:spPr bwMode="auto">
            <a:xfrm>
              <a:off x="4871195" y="4086374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2</a:t>
              </a:r>
              <a:endParaRPr lang="en-GB" sz="2400"/>
            </a:p>
          </p:txBody>
        </p:sp>
        <p:sp>
          <p:nvSpPr>
            <p:cNvPr id="683043" name="Text Box 35"/>
            <p:cNvSpPr txBox="1">
              <a:spLocks noChangeArrowheads="1"/>
            </p:cNvSpPr>
            <p:nvPr/>
          </p:nvSpPr>
          <p:spPr bwMode="auto">
            <a:xfrm>
              <a:off x="4969620" y="2938612"/>
              <a:ext cx="3770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4</a:t>
              </a:r>
              <a:endParaRPr lang="en-GB" sz="2400"/>
            </a:p>
          </p:txBody>
        </p:sp>
        <p:sp>
          <p:nvSpPr>
            <p:cNvPr id="683044" name="Text Box 36"/>
            <p:cNvSpPr txBox="1">
              <a:spLocks noChangeArrowheads="1"/>
            </p:cNvSpPr>
            <p:nvPr/>
          </p:nvSpPr>
          <p:spPr bwMode="auto">
            <a:xfrm>
              <a:off x="4871195" y="1998812"/>
              <a:ext cx="3770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7</a:t>
              </a:r>
              <a:endParaRPr lang="en-GB" sz="2400"/>
            </a:p>
          </p:txBody>
        </p:sp>
        <p:sp>
          <p:nvSpPr>
            <p:cNvPr id="683045" name="Text Box 37"/>
            <p:cNvSpPr txBox="1">
              <a:spLocks noChangeArrowheads="1"/>
            </p:cNvSpPr>
            <p:nvPr/>
          </p:nvSpPr>
          <p:spPr bwMode="auto">
            <a:xfrm>
              <a:off x="3783757" y="3356124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6</a:t>
              </a:r>
              <a:endParaRPr lang="en-GB" sz="2400"/>
            </a:p>
          </p:txBody>
        </p:sp>
        <p:sp>
          <p:nvSpPr>
            <p:cNvPr id="683046" name="Text Box 38"/>
            <p:cNvSpPr txBox="1">
              <a:spLocks noChangeArrowheads="1"/>
            </p:cNvSpPr>
            <p:nvPr/>
          </p:nvSpPr>
          <p:spPr bwMode="auto">
            <a:xfrm>
              <a:off x="3783757" y="2729062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2</a:t>
              </a:r>
              <a:endParaRPr lang="en-GB" sz="2400"/>
            </a:p>
          </p:txBody>
        </p:sp>
        <p:sp>
          <p:nvSpPr>
            <p:cNvPr id="683047" name="Text Box 39"/>
            <p:cNvSpPr txBox="1">
              <a:spLocks noChangeArrowheads="1"/>
            </p:cNvSpPr>
            <p:nvPr/>
          </p:nvSpPr>
          <p:spPr bwMode="auto">
            <a:xfrm>
              <a:off x="3291632" y="4086374"/>
              <a:ext cx="3232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1</a:t>
              </a:r>
              <a:endParaRPr lang="en-GB" sz="2400"/>
            </a:p>
          </p:txBody>
        </p:sp>
        <p:sp>
          <p:nvSpPr>
            <p:cNvPr id="683048" name="Text Box 40"/>
            <p:cNvSpPr txBox="1">
              <a:spLocks noChangeArrowheads="1"/>
            </p:cNvSpPr>
            <p:nvPr/>
          </p:nvSpPr>
          <p:spPr bwMode="auto">
            <a:xfrm>
              <a:off x="2893170" y="3379937"/>
              <a:ext cx="3770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7</a:t>
              </a:r>
              <a:endParaRPr lang="en-GB" sz="2400"/>
            </a:p>
          </p:txBody>
        </p:sp>
        <p:sp>
          <p:nvSpPr>
            <p:cNvPr id="683049" name="Text Box 41"/>
            <p:cNvSpPr txBox="1">
              <a:spLocks noChangeArrowheads="1"/>
            </p:cNvSpPr>
            <p:nvPr/>
          </p:nvSpPr>
          <p:spPr bwMode="auto">
            <a:xfrm>
              <a:off x="3291632" y="1998812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8</a:t>
              </a:r>
              <a:endParaRPr lang="en-GB" sz="2400"/>
            </a:p>
          </p:txBody>
        </p:sp>
        <p:sp>
          <p:nvSpPr>
            <p:cNvPr id="683050" name="Text Box 42"/>
            <p:cNvSpPr txBox="1">
              <a:spLocks noChangeArrowheads="1"/>
            </p:cNvSpPr>
            <p:nvPr/>
          </p:nvSpPr>
          <p:spPr bwMode="auto">
            <a:xfrm>
              <a:off x="2294682" y="3019574"/>
              <a:ext cx="46178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11</a:t>
              </a:r>
              <a:endParaRPr lang="en-GB" sz="2400"/>
            </a:p>
          </p:txBody>
        </p:sp>
        <p:sp>
          <p:nvSpPr>
            <p:cNvPr id="683051" name="Text Box 43"/>
            <p:cNvSpPr txBox="1">
              <a:spLocks noChangeArrowheads="1"/>
            </p:cNvSpPr>
            <p:nvPr/>
          </p:nvSpPr>
          <p:spPr bwMode="auto">
            <a:xfrm>
              <a:off x="2007345" y="3668862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8</a:t>
              </a:r>
              <a:endParaRPr lang="en-GB" sz="2400"/>
            </a:p>
          </p:txBody>
        </p:sp>
        <p:sp>
          <p:nvSpPr>
            <p:cNvPr id="683052" name="Text Box 44"/>
            <p:cNvSpPr txBox="1">
              <a:spLocks noChangeArrowheads="1"/>
            </p:cNvSpPr>
            <p:nvPr/>
          </p:nvSpPr>
          <p:spPr bwMode="auto">
            <a:xfrm>
              <a:off x="6155482" y="2416324"/>
              <a:ext cx="3725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/>
                <a:t>9</a:t>
              </a:r>
              <a:endParaRPr lang="en-GB" sz="2400"/>
            </a:p>
          </p:txBody>
        </p:sp>
        <p:sp>
          <p:nvSpPr>
            <p:cNvPr id="683053" name="Freeform 45"/>
            <p:cNvSpPr>
              <a:spLocks/>
            </p:cNvSpPr>
            <p:nvPr/>
          </p:nvSpPr>
          <p:spPr bwMode="auto">
            <a:xfrm>
              <a:off x="1259632" y="1844824"/>
              <a:ext cx="6343650" cy="2071688"/>
            </a:xfrm>
            <a:custGeom>
              <a:avLst/>
              <a:gdLst>
                <a:gd name="T0" fmla="*/ 0 w 3083"/>
                <a:gd name="T1" fmla="*/ 942 h 953"/>
                <a:gd name="T2" fmla="*/ 641 w 3083"/>
                <a:gd name="T3" fmla="*/ 828 h 953"/>
                <a:gd name="T4" fmla="*/ 982 w 3083"/>
                <a:gd name="T5" fmla="*/ 195 h 953"/>
                <a:gd name="T6" fmla="*/ 1468 w 3083"/>
                <a:gd name="T7" fmla="*/ 1 h 953"/>
                <a:gd name="T8" fmla="*/ 1971 w 3083"/>
                <a:gd name="T9" fmla="*/ 204 h 953"/>
                <a:gd name="T10" fmla="*/ 2215 w 3083"/>
                <a:gd name="T11" fmla="*/ 747 h 953"/>
                <a:gd name="T12" fmla="*/ 3083 w 3083"/>
                <a:gd name="T13" fmla="*/ 877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3" h="953">
                  <a:moveTo>
                    <a:pt x="0" y="942"/>
                  </a:moveTo>
                  <a:cubicBezTo>
                    <a:pt x="107" y="923"/>
                    <a:pt x="477" y="953"/>
                    <a:pt x="641" y="828"/>
                  </a:cubicBezTo>
                  <a:cubicBezTo>
                    <a:pt x="805" y="703"/>
                    <a:pt x="844" y="333"/>
                    <a:pt x="982" y="195"/>
                  </a:cubicBezTo>
                  <a:cubicBezTo>
                    <a:pt x="1120" y="57"/>
                    <a:pt x="1303" y="0"/>
                    <a:pt x="1468" y="1"/>
                  </a:cubicBezTo>
                  <a:cubicBezTo>
                    <a:pt x="1633" y="2"/>
                    <a:pt x="1847" y="80"/>
                    <a:pt x="1971" y="204"/>
                  </a:cubicBezTo>
                  <a:cubicBezTo>
                    <a:pt x="2095" y="328"/>
                    <a:pt x="2030" y="635"/>
                    <a:pt x="2215" y="747"/>
                  </a:cubicBezTo>
                  <a:cubicBezTo>
                    <a:pt x="2400" y="859"/>
                    <a:pt x="2902" y="850"/>
                    <a:pt x="3083" y="87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683054" name="Line 46"/>
          <p:cNvSpPr>
            <a:spLocks noChangeShapeType="1"/>
          </p:cNvSpPr>
          <p:nvPr/>
        </p:nvSpPr>
        <p:spPr bwMode="auto">
          <a:xfrm flipV="1">
            <a:off x="3305175" y="5867400"/>
            <a:ext cx="493713" cy="0"/>
          </a:xfrm>
          <a:prstGeom prst="line">
            <a:avLst/>
          </a:prstGeom>
          <a:noFill/>
          <a:ln w="762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83055" name="Line 47"/>
          <p:cNvSpPr>
            <a:spLocks noChangeShapeType="1"/>
          </p:cNvSpPr>
          <p:nvPr/>
        </p:nvSpPr>
        <p:spPr bwMode="auto">
          <a:xfrm>
            <a:off x="3305175" y="5029200"/>
            <a:ext cx="493713" cy="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83056" name="Oval 48"/>
          <p:cNvSpPr>
            <a:spLocks noChangeArrowheads="1"/>
          </p:cNvSpPr>
          <p:nvPr/>
        </p:nvSpPr>
        <p:spPr bwMode="auto">
          <a:xfrm>
            <a:off x="633413" y="5638800"/>
            <a:ext cx="393700" cy="417513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3057" name="Oval 49"/>
          <p:cNvSpPr>
            <a:spLocks noChangeArrowheads="1"/>
          </p:cNvSpPr>
          <p:nvPr/>
        </p:nvSpPr>
        <p:spPr bwMode="auto">
          <a:xfrm>
            <a:off x="633413" y="4800600"/>
            <a:ext cx="393700" cy="41751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3058" name="Text Box 50"/>
          <p:cNvSpPr txBox="1">
            <a:spLocks noChangeArrowheads="1"/>
          </p:cNvSpPr>
          <p:nvPr/>
        </p:nvSpPr>
        <p:spPr bwMode="auto">
          <a:xfrm>
            <a:off x="1195388" y="4724400"/>
            <a:ext cx="6334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/>
              <a:t>S</a:t>
            </a:r>
          </a:p>
        </p:txBody>
      </p:sp>
      <p:sp>
        <p:nvSpPr>
          <p:cNvPr id="683059" name="Text Box 51"/>
          <p:cNvSpPr txBox="1">
            <a:spLocks noChangeArrowheads="1"/>
          </p:cNvSpPr>
          <p:nvPr/>
        </p:nvSpPr>
        <p:spPr bwMode="auto">
          <a:xfrm>
            <a:off x="1195388" y="5562600"/>
            <a:ext cx="985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 dirty="0" smtClean="0"/>
              <a:t>V\</a:t>
            </a:r>
            <a:r>
              <a:rPr lang="it-IT" sz="2400" dirty="0" err="1" smtClean="0"/>
              <a:t>S</a:t>
            </a:r>
            <a:endParaRPr lang="it-IT" sz="2400" dirty="0"/>
          </a:p>
        </p:txBody>
      </p:sp>
      <p:sp>
        <p:nvSpPr>
          <p:cNvPr id="683060" name="Text Box 52"/>
          <p:cNvSpPr txBox="1">
            <a:spLocks noChangeArrowheads="1"/>
          </p:cNvSpPr>
          <p:nvPr/>
        </p:nvSpPr>
        <p:spPr bwMode="auto">
          <a:xfrm>
            <a:off x="3938588" y="4724400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/>
              <a:t>Arco leggero per il taglio</a:t>
            </a:r>
          </a:p>
        </p:txBody>
      </p:sp>
      <p:sp>
        <p:nvSpPr>
          <p:cNvPr id="683061" name="Text Box 53"/>
          <p:cNvSpPr txBox="1">
            <a:spLocks noChangeArrowheads="1"/>
          </p:cNvSpPr>
          <p:nvPr/>
        </p:nvSpPr>
        <p:spPr bwMode="auto">
          <a:xfrm>
            <a:off x="3938588" y="5562600"/>
            <a:ext cx="4924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it-IT" sz="2400"/>
              <a:t>Insieme rispettato dal taglio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Tagli e archi leggeri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720080"/>
          </a:xfrm>
        </p:spPr>
        <p:txBody>
          <a:bodyPr/>
          <a:lstStyle/>
          <a:p>
            <a:r>
              <a:rPr lang="it-IT" dirty="0"/>
              <a:t>Vediamo queste definizioni su di un </a:t>
            </a:r>
            <a:r>
              <a:rPr lang="it-IT" dirty="0" smtClean="0"/>
              <a:t>esempio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Caratterizzazione degli archi sicuri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TH. Sia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dirty="0" smtClean="0"/>
              <a:t> un insieme di archi contenuto in qualche albero di connessione minimo, sia </a:t>
            </a:r>
            <a:r>
              <a:rPr lang="it-IT" dirty="0" smtClean="0">
                <a:solidFill>
                  <a:srgbClr val="FF0000"/>
                </a:solidFill>
              </a:rPr>
              <a:t>(S,V\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un taglio che rispetta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dirty="0" smtClean="0"/>
              <a:t> e sia </a:t>
            </a:r>
            <a:r>
              <a:rPr lang="it-IT" dirty="0" smtClean="0">
                <a:solidFill>
                  <a:srgbClr val="FF0000"/>
                </a:solidFill>
              </a:rPr>
              <a:t>a =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un arco leggero per il taglio    </a:t>
            </a:r>
            <a:r>
              <a:rPr lang="it-IT" dirty="0" smtClean="0">
                <a:solidFill>
                  <a:srgbClr val="FF0000"/>
                </a:solidFill>
              </a:rPr>
              <a:t>(S,V\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. Allora l’arco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dirty="0" smtClean="0"/>
              <a:t> è sicuro.</a:t>
            </a:r>
          </a:p>
          <a:p>
            <a:r>
              <a:rPr lang="it-IT" dirty="0" smtClean="0"/>
              <a:t>Dimostrazione. Sia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un albero di connessione minimo che contiene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dirty="0" smtClean="0"/>
              <a:t>. Se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contiene anche l’arco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dirty="0" smtClean="0"/>
              <a:t> siamo a posto.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Line 2"/>
          <p:cNvSpPr>
            <a:spLocks noChangeShapeType="1"/>
          </p:cNvSpPr>
          <p:nvPr/>
        </p:nvSpPr>
        <p:spPr bwMode="auto">
          <a:xfrm flipH="1" flipV="1">
            <a:off x="1752600" y="4572000"/>
            <a:ext cx="304800" cy="8382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59" name="Line 3"/>
          <p:cNvSpPr>
            <a:spLocks noChangeShapeType="1"/>
          </p:cNvSpPr>
          <p:nvPr/>
        </p:nvSpPr>
        <p:spPr bwMode="auto">
          <a:xfrm>
            <a:off x="4419600" y="3733800"/>
            <a:ext cx="381000" cy="8382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0" name="Line 4"/>
          <p:cNvSpPr>
            <a:spLocks noChangeShapeType="1"/>
          </p:cNvSpPr>
          <p:nvPr/>
        </p:nvSpPr>
        <p:spPr bwMode="auto">
          <a:xfrm flipH="1" flipV="1">
            <a:off x="4419600" y="37338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1" name="Line 5"/>
          <p:cNvSpPr>
            <a:spLocks noChangeShapeType="1"/>
          </p:cNvSpPr>
          <p:nvPr/>
        </p:nvSpPr>
        <p:spPr bwMode="auto">
          <a:xfrm flipV="1">
            <a:off x="2057400" y="5334000"/>
            <a:ext cx="914400" cy="762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3" name="Line 7"/>
          <p:cNvSpPr>
            <a:spLocks noChangeShapeType="1"/>
          </p:cNvSpPr>
          <p:nvPr/>
        </p:nvSpPr>
        <p:spPr bwMode="auto">
          <a:xfrm flipV="1">
            <a:off x="2590800" y="3962400"/>
            <a:ext cx="838200" cy="1524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4" name="Line 8"/>
          <p:cNvSpPr>
            <a:spLocks noChangeShapeType="1"/>
          </p:cNvSpPr>
          <p:nvPr/>
        </p:nvSpPr>
        <p:spPr bwMode="auto">
          <a:xfrm flipH="1">
            <a:off x="2590800" y="3962400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5" name="Line 9"/>
          <p:cNvSpPr>
            <a:spLocks noChangeShapeType="1"/>
          </p:cNvSpPr>
          <p:nvPr/>
        </p:nvSpPr>
        <p:spPr bwMode="auto">
          <a:xfrm>
            <a:off x="2971800" y="53340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6" name="Line 10"/>
          <p:cNvSpPr>
            <a:spLocks noChangeShapeType="1"/>
          </p:cNvSpPr>
          <p:nvPr/>
        </p:nvSpPr>
        <p:spPr bwMode="auto">
          <a:xfrm flipH="1">
            <a:off x="1752600" y="41148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7" name="Line 11"/>
          <p:cNvSpPr>
            <a:spLocks noChangeShapeType="1"/>
          </p:cNvSpPr>
          <p:nvPr/>
        </p:nvSpPr>
        <p:spPr bwMode="auto">
          <a:xfrm flipV="1">
            <a:off x="3429000" y="3733800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8" name="Line 12"/>
          <p:cNvSpPr>
            <a:spLocks noChangeShapeType="1"/>
          </p:cNvSpPr>
          <p:nvPr/>
        </p:nvSpPr>
        <p:spPr bwMode="auto">
          <a:xfrm flipH="1">
            <a:off x="2971800" y="48768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9" name="Line 13"/>
          <p:cNvSpPr>
            <a:spLocks noChangeShapeType="1"/>
          </p:cNvSpPr>
          <p:nvPr/>
        </p:nvSpPr>
        <p:spPr bwMode="auto">
          <a:xfrm flipH="1">
            <a:off x="2057400" y="5334000"/>
            <a:ext cx="914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70" name="Line 14"/>
          <p:cNvSpPr>
            <a:spLocks noChangeShapeType="1"/>
          </p:cNvSpPr>
          <p:nvPr/>
        </p:nvSpPr>
        <p:spPr bwMode="auto">
          <a:xfrm flipH="1" flipV="1">
            <a:off x="3429000" y="3962400"/>
            <a:ext cx="381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71" name="Line 15"/>
          <p:cNvSpPr>
            <a:spLocks noChangeShapeType="1"/>
          </p:cNvSpPr>
          <p:nvPr/>
        </p:nvSpPr>
        <p:spPr bwMode="auto">
          <a:xfrm>
            <a:off x="1752600" y="3733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72" name="Oval 16"/>
          <p:cNvSpPr>
            <a:spLocks noChangeArrowheads="1"/>
          </p:cNvSpPr>
          <p:nvPr/>
        </p:nvSpPr>
        <p:spPr bwMode="auto">
          <a:xfrm>
            <a:off x="3429000" y="5791200"/>
            <a:ext cx="304800" cy="3048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73" name="Oval 17"/>
          <p:cNvSpPr>
            <a:spLocks noChangeArrowheads="1"/>
          </p:cNvSpPr>
          <p:nvPr/>
        </p:nvSpPr>
        <p:spPr bwMode="auto">
          <a:xfrm>
            <a:off x="1905000" y="52578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v</a:t>
            </a:r>
            <a:endParaRPr lang="it-IT" sz="2400" b="1"/>
          </a:p>
        </p:txBody>
      </p:sp>
      <p:sp>
        <p:nvSpPr>
          <p:cNvPr id="685074" name="Oval 18"/>
          <p:cNvSpPr>
            <a:spLocks noChangeArrowheads="1"/>
          </p:cNvSpPr>
          <p:nvPr/>
        </p:nvSpPr>
        <p:spPr bwMode="auto">
          <a:xfrm>
            <a:off x="2819400" y="5181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75" name="Oval 19"/>
          <p:cNvSpPr>
            <a:spLocks noChangeArrowheads="1"/>
          </p:cNvSpPr>
          <p:nvPr/>
        </p:nvSpPr>
        <p:spPr bwMode="auto">
          <a:xfrm>
            <a:off x="3657600" y="47244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y</a:t>
            </a:r>
            <a:endParaRPr lang="it-IT" sz="2400" b="1"/>
          </a:p>
        </p:txBody>
      </p:sp>
      <p:sp>
        <p:nvSpPr>
          <p:cNvPr id="685076" name="Oval 20"/>
          <p:cNvSpPr>
            <a:spLocks noChangeArrowheads="1"/>
          </p:cNvSpPr>
          <p:nvPr/>
        </p:nvSpPr>
        <p:spPr bwMode="auto">
          <a:xfrm>
            <a:off x="3276600" y="3810000"/>
            <a:ext cx="304800" cy="3048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x</a:t>
            </a:r>
            <a:endParaRPr lang="it-IT" sz="2400" b="1"/>
          </a:p>
        </p:txBody>
      </p:sp>
      <p:sp>
        <p:nvSpPr>
          <p:cNvPr id="685077" name="Oval 21"/>
          <p:cNvSpPr>
            <a:spLocks noChangeArrowheads="1"/>
          </p:cNvSpPr>
          <p:nvPr/>
        </p:nvSpPr>
        <p:spPr bwMode="auto">
          <a:xfrm>
            <a:off x="1600200" y="35814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78" name="Oval 22"/>
          <p:cNvSpPr>
            <a:spLocks noChangeArrowheads="1"/>
          </p:cNvSpPr>
          <p:nvPr/>
        </p:nvSpPr>
        <p:spPr bwMode="auto">
          <a:xfrm>
            <a:off x="1600200" y="4419600"/>
            <a:ext cx="304800" cy="3048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u</a:t>
            </a:r>
            <a:endParaRPr lang="it-IT" sz="2400" b="1"/>
          </a:p>
        </p:txBody>
      </p:sp>
      <p:sp>
        <p:nvSpPr>
          <p:cNvPr id="685079" name="Oval 23"/>
          <p:cNvSpPr>
            <a:spLocks noChangeArrowheads="1"/>
          </p:cNvSpPr>
          <p:nvPr/>
        </p:nvSpPr>
        <p:spPr bwMode="auto">
          <a:xfrm>
            <a:off x="4267200" y="35814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80" name="Oval 24"/>
          <p:cNvSpPr>
            <a:spLocks noChangeArrowheads="1"/>
          </p:cNvSpPr>
          <p:nvPr/>
        </p:nvSpPr>
        <p:spPr bwMode="auto">
          <a:xfrm>
            <a:off x="2438400" y="3962400"/>
            <a:ext cx="304800" cy="304800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81" name="Oval 25"/>
          <p:cNvSpPr>
            <a:spLocks noChangeArrowheads="1"/>
          </p:cNvSpPr>
          <p:nvPr/>
        </p:nvSpPr>
        <p:spPr bwMode="auto">
          <a:xfrm>
            <a:off x="4648200" y="4419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sz="2400" b="1"/>
          </a:p>
        </p:txBody>
      </p:sp>
      <p:sp>
        <p:nvSpPr>
          <p:cNvPr id="685082" name="Freeform 26"/>
          <p:cNvSpPr>
            <a:spLocks/>
          </p:cNvSpPr>
          <p:nvPr/>
        </p:nvSpPr>
        <p:spPr bwMode="auto">
          <a:xfrm>
            <a:off x="2073275" y="4267200"/>
            <a:ext cx="1470025" cy="914400"/>
          </a:xfrm>
          <a:custGeom>
            <a:avLst/>
            <a:gdLst>
              <a:gd name="T0" fmla="*/ 0 w 926"/>
              <a:gd name="T1" fmla="*/ 216 h 576"/>
              <a:gd name="T2" fmla="*/ 374 w 926"/>
              <a:gd name="T3" fmla="*/ 48 h 576"/>
              <a:gd name="T4" fmla="*/ 820 w 926"/>
              <a:gd name="T5" fmla="*/ 46 h 576"/>
              <a:gd name="T6" fmla="*/ 876 w 926"/>
              <a:gd name="T7" fmla="*/ 322 h 576"/>
              <a:gd name="T8" fmla="*/ 518 w 926"/>
              <a:gd name="T9" fmla="*/ 528 h 576"/>
              <a:gd name="T10" fmla="*/ 134 w 926"/>
              <a:gd name="T11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26" h="576">
                <a:moveTo>
                  <a:pt x="0" y="216"/>
                </a:moveTo>
                <a:cubicBezTo>
                  <a:pt x="62" y="189"/>
                  <a:pt x="237" y="76"/>
                  <a:pt x="374" y="48"/>
                </a:cubicBezTo>
                <a:cubicBezTo>
                  <a:pt x="511" y="20"/>
                  <a:pt x="736" y="0"/>
                  <a:pt x="820" y="46"/>
                </a:cubicBezTo>
                <a:cubicBezTo>
                  <a:pt x="904" y="92"/>
                  <a:pt x="926" y="242"/>
                  <a:pt x="876" y="322"/>
                </a:cubicBezTo>
                <a:cubicBezTo>
                  <a:pt x="826" y="402"/>
                  <a:pt x="642" y="486"/>
                  <a:pt x="518" y="528"/>
                </a:cubicBezTo>
                <a:cubicBezTo>
                  <a:pt x="394" y="570"/>
                  <a:pt x="198" y="568"/>
                  <a:pt x="134" y="576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3" name="Text Box 27"/>
          <p:cNvSpPr txBox="1">
            <a:spLocks noChangeArrowheads="1"/>
          </p:cNvSpPr>
          <p:nvPr/>
        </p:nvSpPr>
        <p:spPr bwMode="auto">
          <a:xfrm>
            <a:off x="3124200" y="42672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>
                <a:sym typeface="Symbol" charset="0"/>
              </a:rPr>
              <a:t>p</a:t>
            </a:r>
            <a:endParaRPr lang="en-GB" sz="2400" b="1">
              <a:sym typeface="Symbol" charset="0"/>
            </a:endParaRPr>
          </a:p>
        </p:txBody>
      </p:sp>
      <p:sp>
        <p:nvSpPr>
          <p:cNvPr id="685084" name="Text Box 28"/>
          <p:cNvSpPr txBox="1">
            <a:spLocks noChangeArrowheads="1"/>
          </p:cNvSpPr>
          <p:nvPr/>
        </p:nvSpPr>
        <p:spPr bwMode="auto">
          <a:xfrm>
            <a:off x="1600200" y="4800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>
                <a:sym typeface="Symbol" charset="0"/>
              </a:rPr>
              <a:t>a</a:t>
            </a:r>
            <a:endParaRPr lang="en-GB" sz="2400" b="1" i="1">
              <a:sym typeface="Symbol" charset="0"/>
            </a:endParaRPr>
          </a:p>
        </p:txBody>
      </p:sp>
      <p:sp>
        <p:nvSpPr>
          <p:cNvPr id="685085" name="Text Box 29"/>
          <p:cNvSpPr txBox="1">
            <a:spLocks noChangeArrowheads="1"/>
          </p:cNvSpPr>
          <p:nvPr/>
        </p:nvSpPr>
        <p:spPr bwMode="auto">
          <a:xfrm>
            <a:off x="3581400" y="4089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 i="1">
                <a:sym typeface="Symbol" charset="0"/>
              </a:rPr>
              <a:t>b</a:t>
            </a:r>
            <a:endParaRPr lang="en-GB" sz="2800" b="1" i="1">
              <a:cs typeface="Times New Roman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Caratterizzazione degli archi sicuri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Se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non contiene l’arco </a:t>
            </a:r>
            <a:r>
              <a:rPr lang="it-IT" dirty="0" smtClean="0">
                <a:solidFill>
                  <a:srgbClr val="FF0000"/>
                </a:solidFill>
              </a:rPr>
              <a:t>a =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aggiungendo tale arco a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si forma un ciclo. </a:t>
            </a:r>
          </a:p>
          <a:p>
            <a:r>
              <a:rPr lang="it-IT" dirty="0" smtClean="0"/>
              <a:t>Siccome 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dirty="0" smtClean="0"/>
              <a:t> 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stanno da parti opposte rispetto al taglio deve esserci almeno un arco </a:t>
            </a:r>
            <a:r>
              <a:rPr lang="it-IT" dirty="0" smtClean="0">
                <a:solidFill>
                  <a:srgbClr val="FF0000"/>
                </a:solidFill>
              </a:rPr>
              <a:t>b = </a:t>
            </a:r>
            <a:r>
              <a:rPr lang="it-IT" dirty="0" err="1" smtClean="0">
                <a:solidFill>
                  <a:srgbClr val="FF0000"/>
                </a:solidFill>
              </a:rPr>
              <a:t>xy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nel cammino da </a:t>
            </a:r>
            <a:r>
              <a:rPr lang="it-IT" dirty="0" smtClean="0">
                <a:solidFill>
                  <a:srgbClr val="FF0000"/>
                </a:solidFill>
              </a:rPr>
              <a:t>u </a:t>
            </a:r>
            <a:r>
              <a:rPr lang="it-IT" dirty="0" smtClean="0"/>
              <a:t>a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in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che interseca il taglio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Caratterizzazione degli archi sicuri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it-IT" dirty="0"/>
              <a:t>Sia </a:t>
            </a:r>
            <a:r>
              <a:rPr lang="it-IT" i="1" dirty="0">
                <a:solidFill>
                  <a:srgbClr val="FF0000"/>
                </a:solidFill>
              </a:rPr>
              <a:t>T</a:t>
            </a:r>
            <a:r>
              <a:rPr lang="it-IT" i="1" dirty="0">
                <a:solidFill>
                  <a:srgbClr val="FF0000"/>
                </a:solidFill>
                <a:cs typeface="Times New Roman" charset="0"/>
              </a:rPr>
              <a:t>'</a:t>
            </a:r>
            <a:r>
              <a:rPr lang="it-IT" dirty="0"/>
              <a:t> l’albero di connessione ottenuto da </a:t>
            </a:r>
            <a:r>
              <a:rPr lang="it-IT" i="1" dirty="0">
                <a:solidFill>
                  <a:srgbClr val="FF0000"/>
                </a:solidFill>
              </a:rPr>
              <a:t>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togliendo l’arco </a:t>
            </a:r>
            <a:r>
              <a:rPr lang="it-IT" i="1" dirty="0">
                <a:solidFill>
                  <a:srgbClr val="FF0000"/>
                </a:solidFill>
              </a:rPr>
              <a:t>b</a:t>
            </a:r>
            <a:r>
              <a:rPr lang="it-IT" b="1" i="1" dirty="0"/>
              <a:t> </a:t>
            </a:r>
            <a:r>
              <a:rPr lang="it-IT" dirty="0"/>
              <a:t>e aggiungendo l’arco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/>
              <a:t>. </a:t>
            </a:r>
          </a:p>
          <a:p>
            <a:pPr>
              <a:spcBef>
                <a:spcPct val="20000"/>
              </a:spcBef>
            </a:pPr>
            <a:r>
              <a:rPr lang="it-IT" dirty="0"/>
              <a:t>Siccome sia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che </a:t>
            </a:r>
            <a:r>
              <a:rPr lang="it-IT" i="1" dirty="0">
                <a:solidFill>
                  <a:srgbClr val="FF0000"/>
                </a:solidFill>
              </a:rPr>
              <a:t>b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dirty="0"/>
              <a:t>intersecano il taglio ed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è </a:t>
            </a:r>
            <a:r>
              <a:rPr lang="it-IT" dirty="0"/>
              <a:t>leggero, il costo di </a:t>
            </a:r>
            <a:r>
              <a:rPr lang="it-IT" i="1" dirty="0">
                <a:solidFill>
                  <a:srgbClr val="FF0000"/>
                </a:solidFill>
              </a:rPr>
              <a:t>T</a:t>
            </a:r>
            <a:r>
              <a:rPr lang="it-IT" i="1" dirty="0">
                <a:solidFill>
                  <a:srgbClr val="FF0000"/>
                </a:solidFill>
                <a:cs typeface="Times New Roman" charset="0"/>
              </a:rPr>
              <a:t>'</a:t>
            </a:r>
            <a:r>
              <a:rPr lang="it-IT" dirty="0" smtClean="0"/>
              <a:t> </a:t>
            </a:r>
            <a:r>
              <a:rPr lang="it-IT" dirty="0"/>
              <a:t>è minore o uguale del costo di </a:t>
            </a:r>
            <a:r>
              <a:rPr lang="it-IT" i="1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. </a:t>
            </a:r>
            <a:r>
              <a:rPr lang="it-IT" dirty="0"/>
              <a:t>Ma </a:t>
            </a:r>
            <a:r>
              <a:rPr lang="it-IT" i="1" dirty="0" smtClean="0">
                <a:solidFill>
                  <a:srgbClr val="FF0000"/>
                </a:solidFill>
              </a:rPr>
              <a:t>T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è </a:t>
            </a:r>
            <a:r>
              <a:rPr lang="it-IT" dirty="0"/>
              <a:t>albero di connessione minimo e quindi anche </a:t>
            </a:r>
            <a:r>
              <a:rPr lang="it-IT" i="1" dirty="0">
                <a:solidFill>
                  <a:srgbClr val="FF0000"/>
                </a:solidFill>
              </a:rPr>
              <a:t>T</a:t>
            </a:r>
            <a:r>
              <a:rPr lang="it-IT" i="1" dirty="0">
                <a:solidFill>
                  <a:srgbClr val="FF0000"/>
                </a:solidFill>
                <a:cs typeface="Times New Roman" charset="0"/>
              </a:rPr>
              <a:t>'</a:t>
            </a:r>
            <a:r>
              <a:rPr lang="it-IT" dirty="0" smtClean="0"/>
              <a:t> </a:t>
            </a:r>
            <a:r>
              <a:rPr lang="it-IT" dirty="0"/>
              <a:t>lo è. </a:t>
            </a:r>
          </a:p>
          <a:p>
            <a:pPr>
              <a:spcBef>
                <a:spcPct val="20000"/>
              </a:spcBef>
            </a:pPr>
            <a:r>
              <a:rPr lang="it-IT" dirty="0"/>
              <a:t>Siccome il taglio rispetta l’insieme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l’arco </a:t>
            </a:r>
            <a:r>
              <a:rPr lang="it-IT" i="1" dirty="0">
                <a:solidFill>
                  <a:srgbClr val="FF0000"/>
                </a:solidFill>
              </a:rPr>
              <a:t>b</a:t>
            </a:r>
            <a:r>
              <a:rPr lang="it-IT" b="1" i="1" dirty="0"/>
              <a:t> </a:t>
            </a:r>
            <a:r>
              <a:rPr lang="it-IT" dirty="0" smtClean="0"/>
              <a:t>tolto </a:t>
            </a:r>
            <a:r>
              <a:rPr lang="it-IT" dirty="0"/>
              <a:t>non stava in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dirty="0"/>
              <a:t>e quindi </a:t>
            </a:r>
            <a:r>
              <a:rPr lang="it-IT" i="1" dirty="0">
                <a:solidFill>
                  <a:srgbClr val="FF0000"/>
                </a:solidFill>
              </a:rPr>
              <a:t>T</a:t>
            </a:r>
            <a:r>
              <a:rPr lang="it-IT" i="1" dirty="0">
                <a:solidFill>
                  <a:srgbClr val="FF0000"/>
                </a:solidFill>
                <a:cs typeface="Times New Roman" charset="0"/>
              </a:rPr>
              <a:t>'</a:t>
            </a:r>
            <a:r>
              <a:rPr lang="it-IT" dirty="0" smtClean="0"/>
              <a:t> </a:t>
            </a:r>
            <a:r>
              <a:rPr lang="it-IT" dirty="0"/>
              <a:t>contiene sia l’arco </a:t>
            </a:r>
            <a:r>
              <a:rPr lang="it-IT" b="1" i="1" dirty="0"/>
              <a:t>a</a:t>
            </a:r>
            <a:r>
              <a:rPr lang="it-IT" dirty="0"/>
              <a:t> che gli archi in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/>
              <a:t>. </a:t>
            </a:r>
          </a:p>
          <a:p>
            <a:pPr>
              <a:spcBef>
                <a:spcPct val="20000"/>
              </a:spcBef>
            </a:pPr>
            <a:r>
              <a:rPr lang="it-IT" dirty="0"/>
              <a:t>Pertanto </a:t>
            </a:r>
            <a:r>
              <a:rPr lang="it-IT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un arco </a:t>
            </a:r>
            <a:r>
              <a:rPr lang="it-IT" dirty="0" smtClean="0"/>
              <a:t>sicuro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Caratterizzazione degli archi sicuri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1440160"/>
          </a:xfrm>
        </p:spPr>
        <p:txBody>
          <a:bodyPr/>
          <a:lstStyle/>
          <a:p>
            <a:r>
              <a:rPr lang="it-IT" i="1" u="sng" dirty="0"/>
              <a:t>Caso particolare</a:t>
            </a:r>
            <a:r>
              <a:rPr lang="it-IT" dirty="0"/>
              <a:t>. Sia </a:t>
            </a:r>
            <a:r>
              <a:rPr lang="it-IT" b="1" i="1" dirty="0"/>
              <a:t>A</a:t>
            </a:r>
            <a:r>
              <a:rPr lang="it-IT" dirty="0"/>
              <a:t> un insieme di archi contenuto in qualche albero di connessione minimo, sia </a:t>
            </a:r>
            <a:r>
              <a:rPr lang="it-IT" b="1" i="1" dirty="0"/>
              <a:t>C </a:t>
            </a:r>
            <a:r>
              <a:rPr lang="it-IT" b="1" dirty="0">
                <a:sym typeface="Symbol" charset="0"/>
              </a:rPr>
              <a:t></a:t>
            </a:r>
            <a:r>
              <a:rPr lang="it-IT" dirty="0">
                <a:sym typeface="Symbol" charset="0"/>
              </a:rPr>
              <a:t> </a:t>
            </a:r>
            <a:r>
              <a:rPr lang="it-IT" b="1" i="1" dirty="0"/>
              <a:t>V</a:t>
            </a:r>
            <a:r>
              <a:rPr lang="it-IT" dirty="0"/>
              <a:t> una componente connessa del </a:t>
            </a:r>
            <a:r>
              <a:rPr lang="it-IT" dirty="0" err="1"/>
              <a:t>sottografo</a:t>
            </a:r>
            <a:r>
              <a:rPr lang="it-IT" dirty="0"/>
              <a:t> </a:t>
            </a:r>
            <a:r>
              <a:rPr lang="it-IT" b="1" i="1" dirty="0"/>
              <a:t>G</a:t>
            </a:r>
            <a:r>
              <a:rPr lang="it-IT" b="1" i="1" baseline="-25000" dirty="0"/>
              <a:t>A</a:t>
            </a:r>
            <a:r>
              <a:rPr lang="it-IT" b="1" dirty="0"/>
              <a:t> = (</a:t>
            </a:r>
            <a:r>
              <a:rPr lang="it-IT" b="1" i="1" dirty="0"/>
              <a:t>V,A</a:t>
            </a:r>
            <a:r>
              <a:rPr lang="it-IT" b="1" dirty="0"/>
              <a:t>)</a:t>
            </a:r>
            <a:r>
              <a:rPr lang="it-IT" dirty="0"/>
              <a:t> e sia </a:t>
            </a:r>
            <a:r>
              <a:rPr lang="it-IT" b="1" i="1" dirty="0"/>
              <a:t>a </a:t>
            </a:r>
            <a:r>
              <a:rPr lang="it-IT" b="1" dirty="0"/>
              <a:t>=</a:t>
            </a:r>
            <a:r>
              <a:rPr lang="it-IT" dirty="0"/>
              <a:t> </a:t>
            </a:r>
            <a:r>
              <a:rPr lang="it-IT" b="1" i="1" dirty="0" err="1"/>
              <a:t>uv</a:t>
            </a:r>
            <a:r>
              <a:rPr lang="it-IT" b="1" dirty="0"/>
              <a:t> </a:t>
            </a:r>
            <a:r>
              <a:rPr lang="it-IT" dirty="0"/>
              <a:t>l’arco di costo minimo tra tutti quelli aventi un estremo in </a:t>
            </a:r>
            <a:r>
              <a:rPr lang="it-IT" b="1" i="1" dirty="0"/>
              <a:t>C </a:t>
            </a:r>
            <a:r>
              <a:rPr lang="it-IT" dirty="0"/>
              <a:t>e l’altro </a:t>
            </a:r>
            <a:r>
              <a:rPr lang="it-IT" b="1" i="1" dirty="0"/>
              <a:t>V </a:t>
            </a:r>
            <a:r>
              <a:rPr lang="it-IT" b="1" dirty="0"/>
              <a:t>\ </a:t>
            </a:r>
            <a:r>
              <a:rPr lang="it-IT" b="1" i="1" dirty="0"/>
              <a:t>C</a:t>
            </a:r>
            <a:r>
              <a:rPr lang="it-IT" dirty="0"/>
              <a:t>. Allora l’arco </a:t>
            </a:r>
            <a:r>
              <a:rPr lang="it-IT" b="1" i="1" dirty="0"/>
              <a:t>a</a:t>
            </a:r>
            <a:r>
              <a:rPr lang="it-IT" b="1" dirty="0"/>
              <a:t> </a:t>
            </a:r>
            <a:r>
              <a:rPr lang="it-IT" dirty="0"/>
              <a:t>è sicuro.</a:t>
            </a:r>
          </a:p>
          <a:p>
            <a:r>
              <a:rPr lang="it-IT" i="1" u="sng" dirty="0"/>
              <a:t>Dimostrazione</a:t>
            </a:r>
            <a:r>
              <a:rPr lang="it-IT" dirty="0"/>
              <a:t>. </a:t>
            </a:r>
            <a:r>
              <a:rPr lang="it-IT" b="1" dirty="0"/>
              <a:t>(</a:t>
            </a:r>
            <a:r>
              <a:rPr lang="it-IT" b="1" i="1" dirty="0"/>
              <a:t>C, V </a:t>
            </a:r>
            <a:r>
              <a:rPr lang="it-IT" b="1" dirty="0"/>
              <a:t>\ </a:t>
            </a:r>
            <a:r>
              <a:rPr lang="it-IT" b="1" i="1" dirty="0"/>
              <a:t>C</a:t>
            </a:r>
            <a:r>
              <a:rPr lang="it-IT" b="1" dirty="0"/>
              <a:t>)</a:t>
            </a:r>
            <a:r>
              <a:rPr lang="it-IT" dirty="0"/>
              <a:t> è un taglio che rispetta </a:t>
            </a:r>
            <a:r>
              <a:rPr lang="it-IT" b="1" i="1" dirty="0"/>
              <a:t>A</a:t>
            </a:r>
            <a:r>
              <a:rPr lang="it-IT" dirty="0"/>
              <a:t> e l’arco </a:t>
            </a:r>
            <a:r>
              <a:rPr lang="it-IT" b="1" i="1" dirty="0"/>
              <a:t>a</a:t>
            </a:r>
            <a:r>
              <a:rPr lang="it-IT" b="1" dirty="0"/>
              <a:t> </a:t>
            </a:r>
            <a:r>
              <a:rPr lang="it-IT" dirty="0"/>
              <a:t>è un arco leggero rispetto al </a:t>
            </a:r>
            <a:r>
              <a:rPr lang="it-IT" dirty="0" smtClean="0"/>
              <a:t>taglio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Text Box 3"/>
          <p:cNvSpPr txBox="1">
            <a:spLocks noChangeArrowheads="1"/>
          </p:cNvSpPr>
          <p:nvPr/>
        </p:nvSpPr>
        <p:spPr bwMode="auto">
          <a:xfrm>
            <a:off x="611560" y="1916832"/>
            <a:ext cx="8077200" cy="4154983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 dirty="0" err="1">
                <a:sym typeface="Symbol" charset="0"/>
              </a:rPr>
              <a:t>AlbConnMinKruskal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G</a:t>
            </a:r>
            <a:r>
              <a:rPr lang="it-IT" sz="2400" b="1" dirty="0">
                <a:sym typeface="Symbol" charset="0"/>
              </a:rPr>
              <a:t>)    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G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grafo pesato sugli archi</a:t>
            </a:r>
            <a:endParaRPr lang="it-IT" sz="2400" b="1" dirty="0">
              <a:sym typeface="Symbol" charset="0"/>
            </a:endParaRPr>
          </a:p>
          <a:p>
            <a:r>
              <a:rPr lang="it-IT" sz="2400" b="1" dirty="0">
                <a:sym typeface="Symbol" charset="0"/>
              </a:rPr>
              <a:t>    A           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                     insieme vuoto</a:t>
            </a:r>
          </a:p>
          <a:p>
            <a:r>
              <a:rPr lang="it-IT" sz="2400" b="1" dirty="0">
                <a:sym typeface="Symbol" charset="0"/>
              </a:rPr>
              <a:t>    for “ogni </a:t>
            </a:r>
            <a:r>
              <a:rPr lang="it-IT" sz="2400" b="1" i="1" dirty="0">
                <a:sym typeface="Symbol" charset="0"/>
              </a:rPr>
              <a:t>u</a:t>
            </a:r>
            <a:r>
              <a:rPr lang="it-IT" sz="2400" b="1" dirty="0">
                <a:sym typeface="Symbol" charset="0"/>
              </a:rPr>
              <a:t>  </a:t>
            </a:r>
            <a:r>
              <a:rPr lang="it-IT" sz="2400" b="1" i="1" dirty="0">
                <a:sym typeface="Symbol" charset="0"/>
              </a:rPr>
              <a:t>V</a:t>
            </a:r>
            <a:r>
              <a:rPr lang="it-IT" sz="2400" b="1" dirty="0">
                <a:sym typeface="Symbol" charset="0"/>
              </a:rPr>
              <a:t>[</a:t>
            </a:r>
            <a:r>
              <a:rPr lang="it-IT" sz="2400" b="1" i="1" dirty="0">
                <a:sym typeface="Symbol" charset="0"/>
              </a:rPr>
              <a:t>G</a:t>
            </a:r>
            <a:r>
              <a:rPr lang="it-IT" sz="2400" b="1" dirty="0">
                <a:sym typeface="Symbol" charset="0"/>
              </a:rPr>
              <a:t>]”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 err="1">
                <a:sym typeface="Symbol" charset="0"/>
              </a:rPr>
              <a:t>MakeSet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u</a:t>
            </a:r>
            <a:r>
              <a:rPr lang="it-IT" sz="2400" b="1" dirty="0">
                <a:sym typeface="Symbol" charset="0"/>
              </a:rPr>
              <a:t>)</a:t>
            </a:r>
          </a:p>
          <a:p>
            <a:r>
              <a:rPr lang="it-IT" sz="2400" b="1" dirty="0">
                <a:sym typeface="Symbol" charset="0"/>
              </a:rPr>
              <a:t>    “ordina gli archi in ordine di costo crescente”</a:t>
            </a:r>
          </a:p>
          <a:p>
            <a:r>
              <a:rPr lang="it-IT" sz="2400" b="1" dirty="0">
                <a:sym typeface="Symbol" charset="0"/>
              </a:rPr>
              <a:t>    for “ogni arco </a:t>
            </a:r>
            <a:r>
              <a:rPr lang="it-IT" sz="2400" b="1" i="1" dirty="0">
                <a:sym typeface="Symbol" charset="0"/>
              </a:rPr>
              <a:t>a</a:t>
            </a:r>
            <a:r>
              <a:rPr lang="it-IT" sz="2400" b="1" dirty="0">
                <a:sym typeface="Symbol" charset="0"/>
              </a:rPr>
              <a:t> = </a:t>
            </a:r>
            <a:r>
              <a:rPr lang="it-IT" sz="2400" b="1" i="1" dirty="0" err="1">
                <a:sym typeface="Symbol" charset="0"/>
              </a:rPr>
              <a:t>uv</a:t>
            </a:r>
            <a:r>
              <a:rPr lang="it-IT" sz="2400" b="1" dirty="0">
                <a:sym typeface="Symbol" charset="0"/>
              </a:rPr>
              <a:t>  </a:t>
            </a:r>
            <a:r>
              <a:rPr lang="it-IT" sz="2400" b="1" i="1" dirty="0">
                <a:sym typeface="Symbol" charset="0"/>
              </a:rPr>
              <a:t>E</a:t>
            </a:r>
            <a:r>
              <a:rPr lang="it-IT" sz="2400" b="1" dirty="0">
                <a:sym typeface="Symbol" charset="0"/>
              </a:rPr>
              <a:t>[</a:t>
            </a:r>
            <a:r>
              <a:rPr lang="it-IT" sz="2400" b="1" i="1" dirty="0">
                <a:sym typeface="Symbol" charset="0"/>
              </a:rPr>
              <a:t>G</a:t>
            </a:r>
            <a:r>
              <a:rPr lang="it-IT" sz="2400" b="1" dirty="0">
                <a:sym typeface="Symbol" charset="0"/>
              </a:rPr>
              <a:t>] in ordine di costo”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dirty="0" err="1">
                <a:sym typeface="Symbol" charset="0"/>
              </a:rPr>
              <a:t>if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 err="1">
                <a:sym typeface="Symbol" charset="0"/>
              </a:rPr>
              <a:t>FindSet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u</a:t>
            </a:r>
            <a:r>
              <a:rPr lang="it-IT" sz="2400" b="1" dirty="0">
                <a:sym typeface="Symbol" charset="0"/>
              </a:rPr>
              <a:t>)  </a:t>
            </a:r>
            <a:r>
              <a:rPr lang="it-IT" sz="2400" b="1" i="1" dirty="0" err="1">
                <a:sym typeface="Symbol" charset="0"/>
              </a:rPr>
              <a:t>FindSet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v</a:t>
            </a:r>
            <a:r>
              <a:rPr lang="it-IT" sz="2400" b="1" dirty="0">
                <a:sym typeface="Symbol" charset="0"/>
              </a:rPr>
              <a:t>) </a:t>
            </a:r>
            <a:r>
              <a:rPr lang="it-IT" sz="2400" b="1" dirty="0" err="1">
                <a:sym typeface="Symbol" charset="0"/>
              </a:rPr>
              <a:t>then</a:t>
            </a:r>
            <a:endParaRPr lang="it-IT" sz="2400" b="1" dirty="0">
              <a:sym typeface="Symbol" charset="0"/>
            </a:endParaRPr>
          </a:p>
          <a:p>
            <a:r>
              <a:rPr lang="it-IT" sz="2400" b="1" dirty="0">
                <a:sym typeface="Symbol" charset="0"/>
              </a:rPr>
              <a:t>             </a:t>
            </a:r>
            <a:r>
              <a:rPr lang="it-IT" sz="2400" b="1" i="1" dirty="0">
                <a:sym typeface="Symbol" charset="0"/>
              </a:rPr>
              <a:t>Union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u</a:t>
            </a:r>
            <a:r>
              <a:rPr lang="it-IT" sz="2400" b="1" dirty="0" err="1">
                <a:sym typeface="Symbol" charset="0"/>
              </a:rPr>
              <a:t>,</a:t>
            </a:r>
            <a:r>
              <a:rPr lang="it-IT" sz="2400" b="1" i="1" dirty="0" err="1">
                <a:sym typeface="Symbol" charset="0"/>
              </a:rPr>
              <a:t>v</a:t>
            </a:r>
            <a:r>
              <a:rPr lang="it-IT" sz="2400" b="1" dirty="0">
                <a:sym typeface="Symbol" charset="0"/>
              </a:rPr>
              <a:t>)</a:t>
            </a:r>
          </a:p>
          <a:p>
            <a:r>
              <a:rPr lang="it-IT" sz="2400" b="1" dirty="0">
                <a:sym typeface="Symbol" charset="0"/>
              </a:rPr>
              <a:t>             “aggiungi </a:t>
            </a:r>
            <a:r>
              <a:rPr lang="it-IT" sz="2400" b="1" i="1" dirty="0">
                <a:sym typeface="Symbol" charset="0"/>
              </a:rPr>
              <a:t>a </a:t>
            </a:r>
            <a:r>
              <a:rPr lang="it-IT" sz="2400" b="1" dirty="0">
                <a:sym typeface="Symbol" charset="0"/>
              </a:rPr>
              <a:t>all’insieme </a:t>
            </a:r>
            <a:r>
              <a:rPr lang="it-IT" sz="2400" b="1" i="1" dirty="0">
                <a:sym typeface="Symbol" charset="0"/>
              </a:rPr>
              <a:t>A</a:t>
            </a:r>
            <a:r>
              <a:rPr lang="it-IT" sz="2400" b="1" dirty="0">
                <a:sym typeface="Symbol" charset="0"/>
              </a:rPr>
              <a:t> ”</a:t>
            </a:r>
          </a:p>
          <a:p>
            <a:r>
              <a:rPr lang="it-IT" sz="2400" b="1" dirty="0">
                <a:sym typeface="Symbol" charset="0"/>
              </a:rPr>
              <a:t>    </a:t>
            </a:r>
            <a:r>
              <a:rPr lang="it-IT" sz="2400" b="1" dirty="0" err="1">
                <a:sym typeface="Symbol" charset="0"/>
              </a:rPr>
              <a:t>return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>
                <a:sym typeface="Symbol" charset="0"/>
              </a:rPr>
              <a:t>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Kruskal</a:t>
            </a:r>
            <a:r>
              <a:rPr lang="it-IT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648072"/>
          </a:xfrm>
        </p:spPr>
        <p:txBody>
          <a:bodyPr/>
          <a:lstStyle/>
          <a:p>
            <a:r>
              <a:rPr lang="it-IT" dirty="0" smtClean="0"/>
              <a:t>Usa una struttura dati per insiemi disgiunti</a:t>
            </a:r>
            <a:endParaRPr lang="it-IT" dirty="0"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Line 2"/>
          <p:cNvSpPr>
            <a:spLocks noChangeShapeType="1"/>
          </p:cNvSpPr>
          <p:nvPr/>
        </p:nvSpPr>
        <p:spPr bwMode="auto">
          <a:xfrm>
            <a:off x="4572000" y="3962400"/>
            <a:ext cx="1905000" cy="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79" name="Line 3"/>
          <p:cNvSpPr>
            <a:spLocks noChangeShapeType="1"/>
          </p:cNvSpPr>
          <p:nvPr/>
        </p:nvSpPr>
        <p:spPr bwMode="auto">
          <a:xfrm flipV="1">
            <a:off x="2438400" y="2971800"/>
            <a:ext cx="914400" cy="91440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0" name="Line 4"/>
          <p:cNvSpPr>
            <a:spLocks noChangeShapeType="1"/>
          </p:cNvSpPr>
          <p:nvPr/>
        </p:nvSpPr>
        <p:spPr bwMode="auto">
          <a:xfrm>
            <a:off x="2438400" y="1828800"/>
            <a:ext cx="1905000" cy="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1" name="Line 5"/>
          <p:cNvSpPr>
            <a:spLocks noChangeShapeType="1"/>
          </p:cNvSpPr>
          <p:nvPr/>
        </p:nvSpPr>
        <p:spPr bwMode="auto">
          <a:xfrm flipV="1">
            <a:off x="6553200" y="2971800"/>
            <a:ext cx="990600" cy="91440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2" name="Line 6"/>
          <p:cNvSpPr>
            <a:spLocks noChangeShapeType="1"/>
          </p:cNvSpPr>
          <p:nvPr/>
        </p:nvSpPr>
        <p:spPr bwMode="auto">
          <a:xfrm>
            <a:off x="2362200" y="1905000"/>
            <a:ext cx="0" cy="182880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3" name="Line 7"/>
          <p:cNvSpPr>
            <a:spLocks noChangeShapeType="1"/>
          </p:cNvSpPr>
          <p:nvPr/>
        </p:nvSpPr>
        <p:spPr bwMode="auto">
          <a:xfrm>
            <a:off x="6553200" y="1905000"/>
            <a:ext cx="0" cy="190500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4" name="Line 8"/>
          <p:cNvSpPr>
            <a:spLocks noChangeShapeType="1"/>
          </p:cNvSpPr>
          <p:nvPr/>
        </p:nvSpPr>
        <p:spPr bwMode="auto">
          <a:xfrm>
            <a:off x="4419600" y="1828800"/>
            <a:ext cx="2057400" cy="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5" name="Line 9"/>
          <p:cNvSpPr>
            <a:spLocks noChangeShapeType="1"/>
          </p:cNvSpPr>
          <p:nvPr/>
        </p:nvSpPr>
        <p:spPr bwMode="auto">
          <a:xfrm>
            <a:off x="2438400" y="3962400"/>
            <a:ext cx="1981200" cy="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6" name="Line 10"/>
          <p:cNvSpPr>
            <a:spLocks noChangeShapeType="1"/>
          </p:cNvSpPr>
          <p:nvPr/>
        </p:nvSpPr>
        <p:spPr bwMode="auto">
          <a:xfrm>
            <a:off x="1371600" y="2971800"/>
            <a:ext cx="1066800" cy="9906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7" name="Line 11"/>
          <p:cNvSpPr>
            <a:spLocks noChangeShapeType="1"/>
          </p:cNvSpPr>
          <p:nvPr/>
        </p:nvSpPr>
        <p:spPr bwMode="auto">
          <a:xfrm>
            <a:off x="6553200" y="1905000"/>
            <a:ext cx="1066800" cy="10668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8" name="Line 12"/>
          <p:cNvSpPr>
            <a:spLocks noChangeShapeType="1"/>
          </p:cNvSpPr>
          <p:nvPr/>
        </p:nvSpPr>
        <p:spPr bwMode="auto">
          <a:xfrm>
            <a:off x="3429000" y="2971800"/>
            <a:ext cx="1066800" cy="990600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89" name="Line 13"/>
          <p:cNvSpPr>
            <a:spLocks noChangeShapeType="1"/>
          </p:cNvSpPr>
          <p:nvPr/>
        </p:nvSpPr>
        <p:spPr bwMode="auto">
          <a:xfrm>
            <a:off x="4495800" y="1905000"/>
            <a:ext cx="2057400" cy="20574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90" name="Line 14"/>
          <p:cNvSpPr>
            <a:spLocks noChangeShapeType="1"/>
          </p:cNvSpPr>
          <p:nvPr/>
        </p:nvSpPr>
        <p:spPr bwMode="auto">
          <a:xfrm flipV="1">
            <a:off x="1371600" y="1905000"/>
            <a:ext cx="990600" cy="9906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91" name="Line 15"/>
          <p:cNvSpPr>
            <a:spLocks noChangeShapeType="1"/>
          </p:cNvSpPr>
          <p:nvPr/>
        </p:nvSpPr>
        <p:spPr bwMode="auto">
          <a:xfrm flipV="1">
            <a:off x="3429000" y="1905000"/>
            <a:ext cx="990600" cy="990600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0192" name="Line 16"/>
          <p:cNvSpPr>
            <a:spLocks noChangeShapeType="1"/>
          </p:cNvSpPr>
          <p:nvPr/>
        </p:nvSpPr>
        <p:spPr bwMode="auto">
          <a:xfrm flipH="1" flipV="1">
            <a:off x="1371600" y="2971800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3" name="Line 17"/>
          <p:cNvSpPr>
            <a:spLocks noChangeShapeType="1"/>
          </p:cNvSpPr>
          <p:nvPr/>
        </p:nvSpPr>
        <p:spPr bwMode="auto">
          <a:xfrm>
            <a:off x="2362200" y="1828800"/>
            <a:ext cx="0" cy="206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4" name="Line 18"/>
          <p:cNvSpPr>
            <a:spLocks noChangeShapeType="1"/>
          </p:cNvSpPr>
          <p:nvPr/>
        </p:nvSpPr>
        <p:spPr bwMode="auto">
          <a:xfrm flipH="1">
            <a:off x="1371600" y="19050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5" name="Line 19"/>
          <p:cNvSpPr>
            <a:spLocks noChangeShapeType="1"/>
          </p:cNvSpPr>
          <p:nvPr/>
        </p:nvSpPr>
        <p:spPr bwMode="auto">
          <a:xfrm>
            <a:off x="2362200" y="1828800"/>
            <a:ext cx="208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6" name="Line 20"/>
          <p:cNvSpPr>
            <a:spLocks noChangeShapeType="1"/>
          </p:cNvSpPr>
          <p:nvPr/>
        </p:nvSpPr>
        <p:spPr bwMode="auto">
          <a:xfrm flipH="1">
            <a:off x="2438400" y="2971800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7" name="Line 21"/>
          <p:cNvSpPr>
            <a:spLocks noChangeShapeType="1"/>
          </p:cNvSpPr>
          <p:nvPr/>
        </p:nvSpPr>
        <p:spPr bwMode="auto">
          <a:xfrm flipH="1">
            <a:off x="3414713" y="1863725"/>
            <a:ext cx="1042987" cy="103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8" name="Line 22"/>
          <p:cNvSpPr>
            <a:spLocks noChangeShapeType="1"/>
          </p:cNvSpPr>
          <p:nvPr/>
        </p:nvSpPr>
        <p:spPr bwMode="auto">
          <a:xfrm>
            <a:off x="2362200" y="3962400"/>
            <a:ext cx="208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9" name="Line 23"/>
          <p:cNvSpPr>
            <a:spLocks noChangeShapeType="1"/>
          </p:cNvSpPr>
          <p:nvPr/>
        </p:nvSpPr>
        <p:spPr bwMode="auto">
          <a:xfrm flipH="1" flipV="1">
            <a:off x="3429000" y="29718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0" name="Line 24"/>
          <p:cNvSpPr>
            <a:spLocks noChangeShapeType="1"/>
          </p:cNvSpPr>
          <p:nvPr/>
        </p:nvSpPr>
        <p:spPr bwMode="auto">
          <a:xfrm flipH="1" flipV="1">
            <a:off x="4457700" y="1863725"/>
            <a:ext cx="2095500" cy="2098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1" name="Line 25"/>
          <p:cNvSpPr>
            <a:spLocks noChangeShapeType="1"/>
          </p:cNvSpPr>
          <p:nvPr/>
        </p:nvSpPr>
        <p:spPr bwMode="auto">
          <a:xfrm>
            <a:off x="4495800" y="3962400"/>
            <a:ext cx="208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2" name="Line 26"/>
          <p:cNvSpPr>
            <a:spLocks noChangeShapeType="1"/>
          </p:cNvSpPr>
          <p:nvPr/>
        </p:nvSpPr>
        <p:spPr bwMode="auto">
          <a:xfrm>
            <a:off x="4495800" y="1828800"/>
            <a:ext cx="2085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3" name="Line 27"/>
          <p:cNvSpPr>
            <a:spLocks noChangeShapeType="1"/>
          </p:cNvSpPr>
          <p:nvPr/>
        </p:nvSpPr>
        <p:spPr bwMode="auto">
          <a:xfrm>
            <a:off x="6553200" y="1828800"/>
            <a:ext cx="0" cy="206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4" name="Line 28"/>
          <p:cNvSpPr>
            <a:spLocks noChangeShapeType="1"/>
          </p:cNvSpPr>
          <p:nvPr/>
        </p:nvSpPr>
        <p:spPr bwMode="auto">
          <a:xfrm flipH="1" flipV="1">
            <a:off x="6553200" y="19050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5" name="Line 29"/>
          <p:cNvSpPr>
            <a:spLocks noChangeShapeType="1"/>
          </p:cNvSpPr>
          <p:nvPr/>
        </p:nvSpPr>
        <p:spPr bwMode="auto">
          <a:xfrm flipH="1">
            <a:off x="6477000" y="2971800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206" name="Oval 30"/>
          <p:cNvSpPr>
            <a:spLocks noChangeArrowheads="1"/>
          </p:cNvSpPr>
          <p:nvPr/>
        </p:nvSpPr>
        <p:spPr bwMode="auto">
          <a:xfrm>
            <a:off x="1066800" y="26670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a</a:t>
            </a:r>
            <a:endParaRPr lang="it-IT" sz="2400" b="1"/>
          </a:p>
        </p:txBody>
      </p:sp>
      <p:sp>
        <p:nvSpPr>
          <p:cNvPr id="690207" name="Oval 31"/>
          <p:cNvSpPr>
            <a:spLocks noChangeArrowheads="1"/>
          </p:cNvSpPr>
          <p:nvPr/>
        </p:nvSpPr>
        <p:spPr bwMode="auto">
          <a:xfrm>
            <a:off x="7315200" y="26670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e</a:t>
            </a:r>
            <a:endParaRPr lang="it-IT" sz="2400" b="1"/>
          </a:p>
        </p:txBody>
      </p:sp>
      <p:sp>
        <p:nvSpPr>
          <p:cNvPr id="690208" name="Oval 32"/>
          <p:cNvSpPr>
            <a:spLocks noChangeArrowheads="1"/>
          </p:cNvSpPr>
          <p:nvPr/>
        </p:nvSpPr>
        <p:spPr bwMode="auto">
          <a:xfrm>
            <a:off x="2133600" y="36576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h</a:t>
            </a:r>
            <a:endParaRPr lang="it-IT" sz="2400" b="1"/>
          </a:p>
        </p:txBody>
      </p:sp>
      <p:sp>
        <p:nvSpPr>
          <p:cNvPr id="690209" name="Oval 33"/>
          <p:cNvSpPr>
            <a:spLocks noChangeArrowheads="1"/>
          </p:cNvSpPr>
          <p:nvPr/>
        </p:nvSpPr>
        <p:spPr bwMode="auto">
          <a:xfrm>
            <a:off x="4191000" y="3657600"/>
            <a:ext cx="520700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g</a:t>
            </a:r>
            <a:endParaRPr lang="it-IT" sz="2400" b="1"/>
          </a:p>
        </p:txBody>
      </p:sp>
      <p:sp>
        <p:nvSpPr>
          <p:cNvPr id="690210" name="Oval 34"/>
          <p:cNvSpPr>
            <a:spLocks noChangeArrowheads="1"/>
          </p:cNvSpPr>
          <p:nvPr/>
        </p:nvSpPr>
        <p:spPr bwMode="auto">
          <a:xfrm>
            <a:off x="6248400" y="36576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f</a:t>
            </a:r>
            <a:endParaRPr lang="it-IT" sz="2400" b="1"/>
          </a:p>
        </p:txBody>
      </p:sp>
      <p:sp>
        <p:nvSpPr>
          <p:cNvPr id="690211" name="Oval 35"/>
          <p:cNvSpPr>
            <a:spLocks noChangeArrowheads="1"/>
          </p:cNvSpPr>
          <p:nvPr/>
        </p:nvSpPr>
        <p:spPr bwMode="auto">
          <a:xfrm>
            <a:off x="6248400" y="16002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d</a:t>
            </a:r>
            <a:endParaRPr lang="it-IT" sz="2400" b="1"/>
          </a:p>
        </p:txBody>
      </p:sp>
      <p:sp>
        <p:nvSpPr>
          <p:cNvPr id="690212" name="Oval 36"/>
          <p:cNvSpPr>
            <a:spLocks noChangeArrowheads="1"/>
          </p:cNvSpPr>
          <p:nvPr/>
        </p:nvSpPr>
        <p:spPr bwMode="auto">
          <a:xfrm>
            <a:off x="4191000" y="1600200"/>
            <a:ext cx="520700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c</a:t>
            </a:r>
            <a:endParaRPr lang="it-IT" sz="2400" b="1"/>
          </a:p>
        </p:txBody>
      </p:sp>
      <p:sp>
        <p:nvSpPr>
          <p:cNvPr id="690213" name="Oval 37"/>
          <p:cNvSpPr>
            <a:spLocks noChangeArrowheads="1"/>
          </p:cNvSpPr>
          <p:nvPr/>
        </p:nvSpPr>
        <p:spPr bwMode="auto">
          <a:xfrm>
            <a:off x="2133600" y="16002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b</a:t>
            </a:r>
            <a:endParaRPr lang="it-IT" sz="2400" b="1"/>
          </a:p>
        </p:txBody>
      </p:sp>
      <p:sp>
        <p:nvSpPr>
          <p:cNvPr id="690214" name="Oval 38"/>
          <p:cNvSpPr>
            <a:spLocks noChangeArrowheads="1"/>
          </p:cNvSpPr>
          <p:nvPr/>
        </p:nvSpPr>
        <p:spPr bwMode="auto">
          <a:xfrm>
            <a:off x="3124200" y="2667000"/>
            <a:ext cx="522288" cy="5159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>
                <a:sym typeface="Symbol" charset="0"/>
              </a:rPr>
              <a:t>i</a:t>
            </a:r>
            <a:endParaRPr lang="it-IT" sz="2400" b="1"/>
          </a:p>
        </p:txBody>
      </p:sp>
      <p:sp>
        <p:nvSpPr>
          <p:cNvPr id="690215" name="Text Box 39"/>
          <p:cNvSpPr txBox="1">
            <a:spLocks noChangeArrowheads="1"/>
          </p:cNvSpPr>
          <p:nvPr/>
        </p:nvSpPr>
        <p:spPr bwMode="auto">
          <a:xfrm>
            <a:off x="1524000" y="19812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4</a:t>
            </a:r>
            <a:endParaRPr lang="en-GB" sz="2400" b="1"/>
          </a:p>
        </p:txBody>
      </p:sp>
      <p:sp>
        <p:nvSpPr>
          <p:cNvPr id="690216" name="Text Box 40"/>
          <p:cNvSpPr txBox="1">
            <a:spLocks noChangeArrowheads="1"/>
          </p:cNvSpPr>
          <p:nvPr/>
        </p:nvSpPr>
        <p:spPr bwMode="auto">
          <a:xfrm>
            <a:off x="7010400" y="33528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10</a:t>
            </a:r>
            <a:endParaRPr lang="en-GB" sz="2400" b="1"/>
          </a:p>
        </p:txBody>
      </p:sp>
      <p:sp>
        <p:nvSpPr>
          <p:cNvPr id="690217" name="Text Box 41"/>
          <p:cNvSpPr txBox="1">
            <a:spLocks noChangeArrowheads="1"/>
          </p:cNvSpPr>
          <p:nvPr/>
        </p:nvSpPr>
        <p:spPr bwMode="auto">
          <a:xfrm>
            <a:off x="6477000" y="25908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14</a:t>
            </a:r>
            <a:endParaRPr lang="en-GB" sz="2400" b="1"/>
          </a:p>
        </p:txBody>
      </p:sp>
      <p:sp>
        <p:nvSpPr>
          <p:cNvPr id="690218" name="Text Box 42"/>
          <p:cNvSpPr txBox="1">
            <a:spLocks noChangeArrowheads="1"/>
          </p:cNvSpPr>
          <p:nvPr/>
        </p:nvSpPr>
        <p:spPr bwMode="auto">
          <a:xfrm>
            <a:off x="5257800" y="3886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2</a:t>
            </a:r>
            <a:endParaRPr lang="en-GB" sz="2400" b="1"/>
          </a:p>
        </p:txBody>
      </p:sp>
      <p:sp>
        <p:nvSpPr>
          <p:cNvPr id="690219" name="Text Box 43"/>
          <p:cNvSpPr txBox="1">
            <a:spLocks noChangeArrowheads="1"/>
          </p:cNvSpPr>
          <p:nvPr/>
        </p:nvSpPr>
        <p:spPr bwMode="auto">
          <a:xfrm>
            <a:off x="5370513" y="23796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4</a:t>
            </a:r>
            <a:endParaRPr lang="en-GB" sz="2400" b="1"/>
          </a:p>
        </p:txBody>
      </p:sp>
      <p:sp>
        <p:nvSpPr>
          <p:cNvPr id="690220" name="Text Box 44"/>
          <p:cNvSpPr txBox="1">
            <a:spLocks noChangeArrowheads="1"/>
          </p:cNvSpPr>
          <p:nvPr/>
        </p:nvSpPr>
        <p:spPr bwMode="auto">
          <a:xfrm>
            <a:off x="5257800" y="1447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7</a:t>
            </a:r>
            <a:endParaRPr lang="en-GB" sz="2400" b="1"/>
          </a:p>
        </p:txBody>
      </p:sp>
      <p:sp>
        <p:nvSpPr>
          <p:cNvPr id="690221" name="Text Box 45"/>
          <p:cNvSpPr txBox="1">
            <a:spLocks noChangeArrowheads="1"/>
          </p:cNvSpPr>
          <p:nvPr/>
        </p:nvSpPr>
        <p:spPr bwMode="auto">
          <a:xfrm>
            <a:off x="3886200" y="2971800"/>
            <a:ext cx="3365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6</a:t>
            </a:r>
            <a:endParaRPr lang="en-GB" sz="2400" b="1"/>
          </a:p>
        </p:txBody>
      </p:sp>
      <p:sp>
        <p:nvSpPr>
          <p:cNvPr id="690222" name="Text Box 46"/>
          <p:cNvSpPr txBox="1">
            <a:spLocks noChangeArrowheads="1"/>
          </p:cNvSpPr>
          <p:nvPr/>
        </p:nvSpPr>
        <p:spPr bwMode="auto">
          <a:xfrm>
            <a:off x="3657600" y="2057400"/>
            <a:ext cx="3365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2</a:t>
            </a:r>
            <a:endParaRPr lang="en-GB" sz="2400" b="1"/>
          </a:p>
        </p:txBody>
      </p:sp>
      <p:sp>
        <p:nvSpPr>
          <p:cNvPr id="690223" name="Text Box 47"/>
          <p:cNvSpPr txBox="1">
            <a:spLocks noChangeArrowheads="1"/>
          </p:cNvSpPr>
          <p:nvPr/>
        </p:nvSpPr>
        <p:spPr bwMode="auto">
          <a:xfrm>
            <a:off x="3352800" y="39624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1</a:t>
            </a:r>
            <a:endParaRPr lang="en-GB" sz="2400" b="1"/>
          </a:p>
        </p:txBody>
      </p:sp>
      <p:sp>
        <p:nvSpPr>
          <p:cNvPr id="690224" name="Text Box 48"/>
          <p:cNvSpPr txBox="1">
            <a:spLocks noChangeArrowheads="1"/>
          </p:cNvSpPr>
          <p:nvPr/>
        </p:nvSpPr>
        <p:spPr bwMode="auto">
          <a:xfrm>
            <a:off x="2667000" y="3048000"/>
            <a:ext cx="3365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7</a:t>
            </a:r>
            <a:endParaRPr lang="en-GB" sz="2400" b="1"/>
          </a:p>
        </p:txBody>
      </p:sp>
      <p:sp>
        <p:nvSpPr>
          <p:cNvPr id="690225" name="Text Box 49"/>
          <p:cNvSpPr txBox="1">
            <a:spLocks noChangeArrowheads="1"/>
          </p:cNvSpPr>
          <p:nvPr/>
        </p:nvSpPr>
        <p:spPr bwMode="auto">
          <a:xfrm>
            <a:off x="3124200" y="14478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8</a:t>
            </a:r>
            <a:endParaRPr lang="en-GB" sz="2400" b="1"/>
          </a:p>
        </p:txBody>
      </p:sp>
      <p:sp>
        <p:nvSpPr>
          <p:cNvPr id="690226" name="Text Box 50"/>
          <p:cNvSpPr txBox="1">
            <a:spLocks noChangeArrowheads="1"/>
          </p:cNvSpPr>
          <p:nvPr/>
        </p:nvSpPr>
        <p:spPr bwMode="auto">
          <a:xfrm>
            <a:off x="1981200" y="2514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11</a:t>
            </a:r>
            <a:endParaRPr lang="en-GB" sz="2400" b="1"/>
          </a:p>
        </p:txBody>
      </p:sp>
      <p:sp>
        <p:nvSpPr>
          <p:cNvPr id="690227" name="Text Box 51"/>
          <p:cNvSpPr txBox="1">
            <a:spLocks noChangeArrowheads="1"/>
          </p:cNvSpPr>
          <p:nvPr/>
        </p:nvSpPr>
        <p:spPr bwMode="auto">
          <a:xfrm>
            <a:off x="1524000" y="3276600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8</a:t>
            </a:r>
            <a:endParaRPr lang="en-GB" sz="2400" b="1"/>
          </a:p>
        </p:txBody>
      </p:sp>
      <p:sp>
        <p:nvSpPr>
          <p:cNvPr id="690228" name="Text Box 52"/>
          <p:cNvSpPr txBox="1">
            <a:spLocks noChangeArrowheads="1"/>
          </p:cNvSpPr>
          <p:nvPr/>
        </p:nvSpPr>
        <p:spPr bwMode="auto">
          <a:xfrm>
            <a:off x="7010400" y="1981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400" b="1"/>
              <a:t>9</a:t>
            </a:r>
            <a:endParaRPr lang="en-GB" sz="2400" b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</a:t>
            </a:r>
            <a:r>
              <a:rPr lang="it-IT" dirty="0" err="1" smtClean="0"/>
              <a:t>Kruskal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78" grpId="0" animBg="1"/>
      <p:bldP spid="690179" grpId="0" animBg="1"/>
      <p:bldP spid="690180" grpId="0" animBg="1"/>
      <p:bldP spid="690181" grpId="0" animBg="1"/>
      <p:bldP spid="690182" grpId="0" animBg="1"/>
      <p:bldP spid="690183" grpId="0" animBg="1"/>
      <p:bldP spid="690184" grpId="0" animBg="1"/>
      <p:bldP spid="690185" grpId="0" animBg="1"/>
      <p:bldP spid="690186" grpId="0" animBg="1"/>
      <p:bldP spid="690187" grpId="0" animBg="1"/>
      <p:bldP spid="690188" grpId="0" animBg="1"/>
      <p:bldP spid="690189" grpId="0" animBg="1"/>
      <p:bldP spid="690190" grpId="0" animBg="1"/>
      <p:bldP spid="6901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Kruskal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/>
              <a:t>Complessità. Il primo ciclo for richiede O(|V |). L’ordinamento degli archi richiede O(|E| log|E|). L’ultimo ciclo for richiede O(|E| </a:t>
            </a:r>
            <a:r>
              <a:rPr lang="it-IT" smtClean="0">
                <a:sym typeface="Symbol" charset="0"/>
              </a:rPr>
              <a:t>(</a:t>
            </a:r>
            <a:r>
              <a:rPr lang="it-IT" smtClean="0"/>
              <a:t>|E|,|V|)). </a:t>
            </a:r>
          </a:p>
          <a:p>
            <a:r>
              <a:rPr lang="it-IT" smtClean="0"/>
              <a:t>Pertanto la complessità è O(|E| log|E|) e siccome log|E| = O(log|V |2) = O(log|V |) essa è anche uguale a O(|E| log|V |).</a:t>
            </a:r>
          </a:p>
          <a:p>
            <a:r>
              <a:rPr lang="it-IT" smtClean="0"/>
              <a:t>Correttezza. L’arco a = uv scelto è quello di costo minimo tra quelli che hanno estremi in componenti connesse distinte di GA = (V,A)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Prim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Costruisce l’albero di connessione minimo partendo da un vertice prescelto come radice ed estendendolo </a:t>
            </a:r>
            <a:r>
              <a:rPr lang="it-IT" dirty="0" err="1" smtClean="0"/>
              <a:t>finchè</a:t>
            </a:r>
            <a:r>
              <a:rPr lang="it-IT" dirty="0" smtClean="0"/>
              <a:t> non connette tutti i vertici.</a:t>
            </a:r>
          </a:p>
          <a:p>
            <a:r>
              <a:rPr lang="it-IT" dirty="0" smtClean="0"/>
              <a:t>Usa una coda con priorità </a:t>
            </a:r>
            <a:r>
              <a:rPr lang="it-IT" dirty="0" err="1" smtClean="0"/>
              <a:t>Q</a:t>
            </a:r>
            <a:r>
              <a:rPr lang="it-IT" dirty="0" smtClean="0"/>
              <a:t> in cui memorizza i vertici non ancora raggiunti dall’albero in costruzione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Prim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 vertici sono aumentati con: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un puntatore </a:t>
            </a:r>
            <a:r>
              <a:rPr lang="it-IT" dirty="0" err="1" smtClean="0">
                <a:solidFill>
                  <a:schemeClr val="tx1"/>
                </a:solidFill>
                <a:sym typeface="Symbol" charset="0"/>
              </a:rPr>
              <a:t>p</a:t>
            </a:r>
            <a:r>
              <a:rPr lang="it-IT" dirty="0" smtClean="0">
                <a:solidFill>
                  <a:schemeClr val="tx1"/>
                </a:solidFill>
              </a:rPr>
              <a:t> </a:t>
            </a:r>
            <a:r>
              <a:rPr lang="it-IT" dirty="0" smtClean="0"/>
              <a:t>al padre nell’albero in costruzione,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un campo </a:t>
            </a:r>
            <a:r>
              <a:rPr lang="it-IT" dirty="0" smtClean="0">
                <a:solidFill>
                  <a:srgbClr val="000000"/>
                </a:solidFill>
                <a:sym typeface="Symbol" charset="0"/>
              </a:rPr>
              <a:t>color</a:t>
            </a:r>
            <a:r>
              <a:rPr lang="it-IT" dirty="0" smtClean="0">
                <a:sym typeface="Symbol" charset="0"/>
              </a:rPr>
              <a:t> </a:t>
            </a:r>
            <a:r>
              <a:rPr lang="it-IT" dirty="0" smtClean="0"/>
              <a:t>che ha inizialmente valore “bianco” e diventa “nero” quando il vertice viene aggiunto all’albero in costruzione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un campo </a:t>
            </a:r>
            <a:r>
              <a:rPr lang="it-IT" dirty="0" err="1" smtClean="0">
                <a:solidFill>
                  <a:srgbClr val="000000"/>
                </a:solidFill>
                <a:sym typeface="Symbol" charset="0"/>
              </a:rPr>
              <a:t>key</a:t>
            </a:r>
            <a:r>
              <a:rPr lang="it-IT" dirty="0" smtClean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it-IT" dirty="0" smtClean="0"/>
              <a:t>che contiene il costo minimo di un arco che connette il vertice ad uno dei vertici già raggiunti dall’albero in costruzione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539552" y="1052736"/>
            <a:ext cx="8077200" cy="517064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200" b="1" i="1">
                <a:sym typeface="Symbol" charset="0"/>
              </a:rPr>
              <a:t>AlbConnMinPrim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G</a:t>
            </a:r>
            <a:r>
              <a:rPr lang="it-IT" sz="2200" b="1">
                <a:sym typeface="Symbol" charset="0"/>
              </a:rPr>
              <a:t>)               </a:t>
            </a:r>
            <a:r>
              <a:rPr lang="it-IT" sz="2200" b="1" i="1">
                <a:solidFill>
                  <a:srgbClr val="0000CC"/>
                </a:solidFill>
                <a:sym typeface="Symbol" charset="0"/>
              </a:rPr>
              <a:t>G</a:t>
            </a:r>
            <a:r>
              <a:rPr lang="it-IT" sz="2200" b="1">
                <a:solidFill>
                  <a:srgbClr val="0000CC"/>
                </a:solidFill>
                <a:sym typeface="Symbol" charset="0"/>
              </a:rPr>
              <a:t> grafo pesato sugli archi</a:t>
            </a:r>
            <a:endParaRPr lang="it-IT" sz="2200" b="1">
              <a:sym typeface="Symbol" charset="0"/>
            </a:endParaRPr>
          </a:p>
          <a:p>
            <a:r>
              <a:rPr lang="it-IT" sz="2200" b="1">
                <a:sym typeface="Symbol" charset="0"/>
              </a:rPr>
              <a:t>    for “ogni 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  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G</a:t>
            </a:r>
            <a:r>
              <a:rPr lang="it-IT" sz="2200" b="1">
                <a:sym typeface="Symbol" charset="0"/>
              </a:rPr>
              <a:t>]” do</a:t>
            </a:r>
          </a:p>
          <a:p>
            <a:r>
              <a:rPr lang="it-IT" sz="2200" b="1">
                <a:sym typeface="Symbol" charset="0"/>
              </a:rPr>
              <a:t>        </a:t>
            </a:r>
            <a:r>
              <a:rPr lang="it-IT" sz="2200" b="1" i="1">
                <a:sym typeface="Symbol" charset="0"/>
              </a:rPr>
              <a:t>key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]  </a:t>
            </a:r>
          </a:p>
          <a:p>
            <a:r>
              <a:rPr lang="it-IT" sz="2200" b="1">
                <a:sym typeface="Symbol" charset="0"/>
              </a:rPr>
              <a:t>        </a:t>
            </a:r>
            <a:r>
              <a:rPr lang="it-IT" sz="2200" b="1" i="1">
                <a:sym typeface="Symbol" charset="0"/>
              </a:rPr>
              <a:t>color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]  </a:t>
            </a:r>
            <a:r>
              <a:rPr lang="it-IT" sz="2200" b="1" i="1">
                <a:sym typeface="Symbol" charset="0"/>
              </a:rPr>
              <a:t>bianco</a:t>
            </a:r>
            <a:endParaRPr lang="it-IT" sz="2200" b="1">
              <a:sym typeface="Symbol" charset="0"/>
            </a:endParaRPr>
          </a:p>
          <a:p>
            <a:r>
              <a:rPr lang="it-IT" sz="2200" b="1">
                <a:sym typeface="Symbol" charset="0"/>
              </a:rPr>
              <a:t>    “scegli un vertice </a:t>
            </a:r>
            <a:r>
              <a:rPr lang="it-IT" sz="2200" b="1" i="1">
                <a:sym typeface="Symbol" charset="0"/>
              </a:rPr>
              <a:t>r</a:t>
            </a:r>
            <a:r>
              <a:rPr lang="it-IT" sz="2200" b="1">
                <a:sym typeface="Symbol" charset="0"/>
              </a:rPr>
              <a:t> come radice”</a:t>
            </a:r>
          </a:p>
          <a:p>
            <a:r>
              <a:rPr lang="it-IT" sz="2200" b="1">
                <a:sym typeface="Symbol" charset="0"/>
              </a:rPr>
              <a:t>    </a:t>
            </a:r>
            <a:r>
              <a:rPr lang="it-IT" sz="2200" b="1" i="1">
                <a:sym typeface="Symbol" charset="0"/>
              </a:rPr>
              <a:t>key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r</a:t>
            </a:r>
            <a:r>
              <a:rPr lang="it-IT" sz="2200" b="1">
                <a:sym typeface="Symbol" charset="0"/>
              </a:rPr>
              <a:t>]  0</a:t>
            </a:r>
          </a:p>
          <a:p>
            <a:r>
              <a:rPr lang="it-IT" sz="2200" b="1">
                <a:sym typeface="Symbol" charset="0"/>
              </a:rPr>
              <a:t>    “inserisci tutti i vertici in </a:t>
            </a:r>
            <a:r>
              <a:rPr lang="it-IT" sz="2200" b="1" i="1">
                <a:sym typeface="Symbol" charset="0"/>
              </a:rPr>
              <a:t>Q</a:t>
            </a:r>
            <a:r>
              <a:rPr lang="it-IT" sz="2200" b="1">
                <a:sym typeface="Symbol" charset="0"/>
              </a:rPr>
              <a:t>”       </a:t>
            </a:r>
            <a:r>
              <a:rPr lang="it-IT" sz="2200" b="1" i="1">
                <a:solidFill>
                  <a:srgbClr val="0000CC"/>
                </a:solidFill>
                <a:sym typeface="Symbol" charset="0"/>
              </a:rPr>
              <a:t>Q</a:t>
            </a:r>
            <a:r>
              <a:rPr lang="it-IT" sz="2200" b="1">
                <a:solidFill>
                  <a:srgbClr val="0000CC"/>
                </a:solidFill>
                <a:sym typeface="Symbol" charset="0"/>
              </a:rPr>
              <a:t> coda con priorità</a:t>
            </a:r>
            <a:endParaRPr lang="it-IT" sz="2200" b="1">
              <a:sym typeface="Symbol" charset="0"/>
            </a:endParaRPr>
          </a:p>
          <a:p>
            <a:r>
              <a:rPr lang="it-IT" sz="2200" b="1">
                <a:sym typeface="Symbol" charset="0"/>
              </a:rPr>
              <a:t>    while not </a:t>
            </a:r>
            <a:r>
              <a:rPr lang="it-IT" sz="2200" b="1" i="1">
                <a:sym typeface="Symbol" charset="0"/>
              </a:rPr>
              <a:t>Empty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Q</a:t>
            </a:r>
            <a:r>
              <a:rPr lang="it-IT" sz="2200" b="1">
                <a:sym typeface="Symbol" charset="0"/>
              </a:rPr>
              <a:t>) do</a:t>
            </a:r>
          </a:p>
          <a:p>
            <a:r>
              <a:rPr lang="it-IT" sz="2200" b="1">
                <a:sym typeface="Symbol" charset="0"/>
              </a:rPr>
              <a:t>         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  </a:t>
            </a:r>
            <a:r>
              <a:rPr lang="it-IT" sz="2200" b="1" i="1">
                <a:sym typeface="Symbol" charset="0"/>
              </a:rPr>
              <a:t>ExtractMin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Q</a:t>
            </a:r>
            <a:r>
              <a:rPr lang="it-IT" sz="2200" b="1">
                <a:sym typeface="Symbol" charset="0"/>
              </a:rPr>
              <a:t>)</a:t>
            </a:r>
          </a:p>
          <a:p>
            <a:r>
              <a:rPr lang="it-IT" sz="2200" b="1">
                <a:sym typeface="Symbol" charset="0"/>
              </a:rPr>
              <a:t>         </a:t>
            </a:r>
            <a:r>
              <a:rPr lang="it-IT" sz="2200" b="1" i="1">
                <a:sym typeface="Symbol" charset="0"/>
              </a:rPr>
              <a:t>color</a:t>
            </a:r>
            <a:r>
              <a:rPr lang="it-IT" sz="2200" b="1">
                <a:sym typeface="Symbol" charset="0"/>
              </a:rPr>
              <a:t> [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]  </a:t>
            </a:r>
            <a:r>
              <a:rPr lang="it-IT" sz="2200" b="1" i="1">
                <a:sym typeface="Symbol" charset="0"/>
              </a:rPr>
              <a:t>nero</a:t>
            </a:r>
            <a:endParaRPr lang="it-IT" sz="2200" b="1">
              <a:sym typeface="Symbol" charset="0"/>
            </a:endParaRPr>
          </a:p>
          <a:p>
            <a:r>
              <a:rPr lang="it-IT" sz="2200" b="1">
                <a:sym typeface="Symbol" charset="0"/>
              </a:rPr>
              <a:t>         for “ogni 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  </a:t>
            </a:r>
            <a:r>
              <a:rPr lang="it-IT" sz="2200" b="1" i="1">
                <a:sym typeface="Symbol" charset="0"/>
              </a:rPr>
              <a:t>Adj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]” do</a:t>
            </a:r>
          </a:p>
          <a:p>
            <a:r>
              <a:rPr lang="it-IT" sz="2200" b="1">
                <a:sym typeface="Symbol" charset="0"/>
              </a:rPr>
              <a:t>              if </a:t>
            </a:r>
            <a:r>
              <a:rPr lang="it-IT" sz="2200" b="1" i="1">
                <a:sym typeface="Symbol" charset="0"/>
              </a:rPr>
              <a:t>color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] = </a:t>
            </a:r>
            <a:r>
              <a:rPr lang="it-IT" sz="2200" b="1" i="1">
                <a:sym typeface="Symbol" charset="0"/>
              </a:rPr>
              <a:t>bianco</a:t>
            </a:r>
            <a:r>
              <a:rPr lang="it-IT" sz="2200" b="1">
                <a:sym typeface="Symbol" charset="0"/>
              </a:rPr>
              <a:t> and </a:t>
            </a:r>
            <a:r>
              <a:rPr lang="it-IT" sz="2200" b="1" i="1">
                <a:sym typeface="Symbol" charset="0"/>
              </a:rPr>
              <a:t>w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,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) &lt; </a:t>
            </a:r>
            <a:r>
              <a:rPr lang="it-IT" sz="2200" b="1" i="1">
                <a:sym typeface="Symbol" charset="0"/>
              </a:rPr>
              <a:t>key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] then</a:t>
            </a:r>
          </a:p>
          <a:p>
            <a:r>
              <a:rPr lang="it-IT" sz="2200" b="1">
                <a:sym typeface="Symbol" charset="0"/>
              </a:rPr>
              <a:t>                   </a:t>
            </a:r>
            <a:r>
              <a:rPr lang="it-IT" sz="2200" b="1" i="1">
                <a:sym typeface="Symbol" charset="0"/>
              </a:rPr>
              <a:t>p</a:t>
            </a:r>
            <a:r>
              <a:rPr lang="it-IT" sz="2200" b="1">
                <a:sym typeface="Symbol" charset="0"/>
              </a:rPr>
              <a:t>[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]  </a:t>
            </a:r>
            <a:r>
              <a:rPr lang="it-IT" sz="2200" b="1" i="1">
                <a:sym typeface="Symbol" charset="0"/>
              </a:rPr>
              <a:t>u</a:t>
            </a:r>
            <a:endParaRPr lang="it-IT" sz="2200" b="1">
              <a:sym typeface="Symbol" charset="0"/>
            </a:endParaRPr>
          </a:p>
          <a:p>
            <a:r>
              <a:rPr lang="it-IT" sz="2200" b="1">
                <a:sym typeface="Symbol" charset="0"/>
              </a:rPr>
              <a:t>                  </a:t>
            </a:r>
            <a:r>
              <a:rPr lang="it-IT" sz="2200" b="1" i="1">
                <a:sym typeface="Symbol" charset="0"/>
              </a:rPr>
              <a:t>DecreaseKey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Q</a:t>
            </a:r>
            <a:r>
              <a:rPr lang="it-IT" sz="2200" b="1">
                <a:sym typeface="Symbol" charset="0"/>
              </a:rPr>
              <a:t>, 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, </a:t>
            </a:r>
            <a:r>
              <a:rPr lang="it-IT" sz="2200" b="1" i="1">
                <a:sym typeface="Symbol" charset="0"/>
              </a:rPr>
              <a:t>w</a:t>
            </a:r>
            <a:r>
              <a:rPr lang="it-IT" sz="2200" b="1">
                <a:sym typeface="Symbol" charset="0"/>
              </a:rPr>
              <a:t>(</a:t>
            </a:r>
            <a:r>
              <a:rPr lang="it-IT" sz="2200" b="1" i="1">
                <a:sym typeface="Symbol" charset="0"/>
              </a:rPr>
              <a:t>u</a:t>
            </a:r>
            <a:r>
              <a:rPr lang="it-IT" sz="2200" b="1">
                <a:sym typeface="Symbol" charset="0"/>
              </a:rPr>
              <a:t>,</a:t>
            </a:r>
            <a:r>
              <a:rPr lang="it-IT" sz="2200" b="1" i="1">
                <a:sym typeface="Symbol" charset="0"/>
              </a:rPr>
              <a:t>v</a:t>
            </a:r>
            <a:r>
              <a:rPr lang="it-IT" sz="2200" b="1">
                <a:sym typeface="Symbol" charset="0"/>
              </a:rPr>
              <a:t>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</a:t>
            </a:r>
            <a:r>
              <a:rPr lang="it-IT" dirty="0" err="1"/>
              <a:t>Prim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Algoritmo di Prim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/>
              <a:t>Complessità</a:t>
            </a:r>
          </a:p>
          <a:p>
            <a:pPr lvl="1"/>
            <a:r>
              <a:rPr lang="it-IT" smtClean="0"/>
              <a:t>Il primo ciclo for richiede tempo O(|V|). Usando un mucchio di Fibonacci per implementare la coda Q anche l’inserimento di tutti i vertici nella coda richiede tempo O(|V|). </a:t>
            </a:r>
          </a:p>
          <a:p>
            <a:pPr lvl="1"/>
            <a:r>
              <a:rPr lang="it-IT" smtClean="0"/>
              <a:t>Il ciclo while viene eseguito |V| volte. Siccome </a:t>
            </a:r>
            <a:r>
              <a:rPr lang="it-IT" smtClean="0">
                <a:sym typeface="Symbol" charset="0"/>
              </a:rPr>
              <a:t>ExtractMin</a:t>
            </a:r>
            <a:r>
              <a:rPr lang="it-IT" smtClean="0"/>
              <a:t> richiede tempo O(log|V|), se escludiamo l’esecuzione dei cicli for interni esso richiede tempo O(|V| log|V|)</a:t>
            </a:r>
          </a:p>
          <a:p>
            <a:pPr lvl="1"/>
            <a:r>
              <a:rPr lang="it-IT" smtClean="0"/>
              <a:t>I cicli for interni visitano tutte le liste delle adiacenze dei vertici. Siccome </a:t>
            </a:r>
            <a:r>
              <a:rPr lang="it-IT" smtClean="0">
                <a:sym typeface="Symbol" charset="0"/>
              </a:rPr>
              <a:t>DecreaseKey</a:t>
            </a:r>
            <a:r>
              <a:rPr lang="it-IT" smtClean="0"/>
              <a:t> richiede tempo O(1), essi richiedono tempo O(|E|).</a:t>
            </a:r>
          </a:p>
          <a:p>
            <a:pPr lvl="1"/>
            <a:r>
              <a:rPr lang="it-IT" smtClean="0"/>
              <a:t>Pertanto la complessità è O(|E| + |V| log|V|).</a:t>
            </a:r>
          </a:p>
          <a:p>
            <a:pPr lvl="1"/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</a:t>
            </a:r>
            <a:r>
              <a:rPr lang="it-IT" dirty="0" err="1"/>
              <a:t>Prim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196752"/>
            <a:ext cx="8568952" cy="3384376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it-IT" i="1" u="sng" dirty="0"/>
              <a:t>Correttezza</a:t>
            </a:r>
            <a:r>
              <a:rPr lang="it-IT" dirty="0"/>
              <a:t>. </a:t>
            </a:r>
          </a:p>
          <a:p>
            <a:pPr lvl="1">
              <a:spcBef>
                <a:spcPct val="20000"/>
              </a:spcBef>
            </a:pPr>
            <a:r>
              <a:rPr lang="it-IT" dirty="0"/>
              <a:t>Quando il vertice </a:t>
            </a:r>
            <a:r>
              <a:rPr lang="it-IT" b="1" i="1" dirty="0"/>
              <a:t>u</a:t>
            </a:r>
            <a:r>
              <a:rPr lang="it-IT" dirty="0"/>
              <a:t> viene estratto dalla coda </a:t>
            </a:r>
            <a:r>
              <a:rPr lang="it-IT" b="1" i="1" dirty="0" err="1"/>
              <a:t>Q</a:t>
            </a:r>
            <a:r>
              <a:rPr lang="it-IT" dirty="0"/>
              <a:t> esso è connesso al vertice </a:t>
            </a:r>
            <a:r>
              <a:rPr lang="it-IT" b="1" i="1" dirty="0"/>
              <a:t>v</a:t>
            </a:r>
            <a:r>
              <a:rPr lang="it-IT" b="1" dirty="0"/>
              <a:t> = </a:t>
            </a:r>
            <a:r>
              <a:rPr lang="it-IT" b="1" i="1" dirty="0" err="1"/>
              <a:t>p</a:t>
            </a:r>
            <a:r>
              <a:rPr lang="it-IT" b="1" dirty="0"/>
              <a:t>[</a:t>
            </a:r>
            <a:r>
              <a:rPr lang="it-IT" b="1" i="1" dirty="0"/>
              <a:t>u</a:t>
            </a:r>
            <a:r>
              <a:rPr lang="it-IT" b="1" dirty="0"/>
              <a:t>]</a:t>
            </a:r>
            <a:r>
              <a:rPr lang="it-IT" dirty="0"/>
              <a:t> dall’arco </a:t>
            </a:r>
            <a:r>
              <a:rPr lang="it-IT" b="1" i="1" dirty="0"/>
              <a:t>a </a:t>
            </a:r>
            <a:r>
              <a:rPr lang="it-IT" b="1" dirty="0"/>
              <a:t>=</a:t>
            </a:r>
            <a:r>
              <a:rPr lang="it-IT" dirty="0"/>
              <a:t> </a:t>
            </a:r>
            <a:r>
              <a:rPr lang="it-IT" b="1" i="1" dirty="0" err="1"/>
              <a:t>uv</a:t>
            </a:r>
            <a:r>
              <a:rPr lang="it-IT" b="1" dirty="0"/>
              <a:t> </a:t>
            </a:r>
            <a:r>
              <a:rPr lang="it-IT" dirty="0"/>
              <a:t>di costo minimo tra tutti quelli che collegano un vertice dell’albero ad un vertice esterno all’albero. </a:t>
            </a:r>
          </a:p>
          <a:p>
            <a:pPr lvl="1">
              <a:spcBef>
                <a:spcPct val="20000"/>
              </a:spcBef>
            </a:pPr>
            <a:r>
              <a:rPr lang="it-IT" dirty="0"/>
              <a:t>Quindi </a:t>
            </a:r>
            <a:r>
              <a:rPr lang="it-IT" b="1" i="1" dirty="0"/>
              <a:t>a</a:t>
            </a:r>
            <a:r>
              <a:rPr lang="it-IT" dirty="0"/>
              <a:t> è un arco sicuro</a:t>
            </a:r>
            <a:r>
              <a:rPr lang="it-IT" dirty="0" smtClean="0"/>
              <a:t>.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1667</TotalTime>
  <Words>1621</Words>
  <Application>Microsoft Macintosh PowerPoint</Application>
  <PresentationFormat>On-screen Show (4:3)</PresentationFormat>
  <Paragraphs>224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Presentazione</vt:lpstr>
      <vt:lpstr>UNIVERSITA’ DI MILANO-BICOCCA CdL IN INFORMATICA</vt:lpstr>
      <vt:lpstr>Albero di connessione di un grafo</vt:lpstr>
      <vt:lpstr>Albero di connessione di un grafo</vt:lpstr>
      <vt:lpstr>Albero di connessione minimo</vt:lpstr>
      <vt:lpstr>Albero di connessione minimo</vt:lpstr>
      <vt:lpstr>Gli algoritmi</vt:lpstr>
      <vt:lpstr>Gli algoritmi</vt:lpstr>
      <vt:lpstr>Tagli e archi leggeri</vt:lpstr>
      <vt:lpstr>Tagli e archi leggeri</vt:lpstr>
      <vt:lpstr>Caratterizzazione degli archi sicuri</vt:lpstr>
      <vt:lpstr>Caratterizzazione degli archi sicuri</vt:lpstr>
      <vt:lpstr>Caratterizzazione degli archi sicuri</vt:lpstr>
      <vt:lpstr>Caratterizzazione degli archi sicuri</vt:lpstr>
      <vt:lpstr>Algoritmo di Kruskal </vt:lpstr>
      <vt:lpstr>Algoritmo di Kruskal</vt:lpstr>
      <vt:lpstr>Algoritmo di Kruskal</vt:lpstr>
      <vt:lpstr>Algoritmo di Prim</vt:lpstr>
      <vt:lpstr>Algoritmo di Prim</vt:lpstr>
      <vt:lpstr>Algoritmo di Prim</vt:lpstr>
      <vt:lpstr>Algoritmo di Prim</vt:lpstr>
      <vt:lpstr>Algoritmo di Prim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83</cp:revision>
  <cp:lastPrinted>2002-02-01T12:39:25Z</cp:lastPrinted>
  <dcterms:created xsi:type="dcterms:W3CDTF">2010-03-03T07:29:28Z</dcterms:created>
  <dcterms:modified xsi:type="dcterms:W3CDTF">2015-11-27T10:11:01Z</dcterms:modified>
</cp:coreProperties>
</file>