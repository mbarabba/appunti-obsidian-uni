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97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52" r:id="rId48"/>
    <p:sldId id="353" r:id="rId49"/>
    <p:sldId id="354" r:id="rId50"/>
    <p:sldId id="355" r:id="rId51"/>
    <p:sldId id="356" r:id="rId52"/>
    <p:sldId id="357" r:id="rId53"/>
    <p:sldId id="361" r:id="rId54"/>
    <p:sldId id="358" r:id="rId55"/>
    <p:sldId id="372" r:id="rId56"/>
    <p:sldId id="373" r:id="rId57"/>
  </p:sldIdLst>
  <p:sldSz cx="9144000" cy="6858000" type="screen4x3"/>
  <p:notesSz cx="67945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CC3300"/>
    <a:srgbClr val="0000CC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 autoAdjust="0"/>
    <p:restoredTop sz="94581" autoAdjust="0"/>
  </p:normalViewPr>
  <p:slideViewPr>
    <p:cSldViewPr>
      <p:cViewPr varScale="1">
        <p:scale>
          <a:sx n="106" d="100"/>
          <a:sy n="106" d="100"/>
        </p:scale>
        <p:origin x="-104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08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921" tIns="46461" rIns="92921" bIns="46461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endParaRPr lang="it-IT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702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921" tIns="46461" rIns="92921" bIns="46461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endParaRPr lang="it-IT"/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5300"/>
            <a:ext cx="2970213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921" tIns="46461" rIns="92921" bIns="46461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endParaRPr lang="it-IT"/>
          </a:p>
        </p:txBody>
      </p:sp>
      <p:sp>
        <p:nvSpPr>
          <p:cNvPr id="983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85300"/>
            <a:ext cx="2970212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921" tIns="46461" rIns="92921" bIns="46461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fld id="{C2B9ECCB-16E2-9543-A6C5-0415157C8420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4134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/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/>
          </a:p>
        </p:txBody>
      </p:sp>
      <p:sp>
        <p:nvSpPr>
          <p:cNvPr id="3727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72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05350"/>
            <a:ext cx="543560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72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/>
          </a:p>
        </p:txBody>
      </p:sp>
      <p:sp>
        <p:nvSpPr>
          <p:cNvPr id="372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09113"/>
            <a:ext cx="29448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8FE711-C66F-244E-93EE-D6D79942A441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6862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F3C1A0-015E-4045-9E64-9371A8DE5FA2}" type="slidenum">
              <a:rPr lang="it-IT"/>
              <a:pPr/>
              <a:t>19</a:t>
            </a:fld>
            <a:endParaRPr lang="it-IT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3EEAEB-0889-0F42-ADDB-1A6D9B984517}" type="slidenum">
              <a:rPr lang="it-IT"/>
              <a:pPr/>
              <a:t>21</a:t>
            </a:fld>
            <a:endParaRPr lang="it-IT"/>
          </a:p>
        </p:txBody>
      </p:sp>
      <p:sp>
        <p:nvSpPr>
          <p:cNvPr id="70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44" tIns="46022" rIns="92044" bIns="46022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5B3911-73D4-D942-89E0-CA32940FE079}" type="slidenum">
              <a:rPr lang="it-IT"/>
              <a:pPr/>
              <a:t>27</a:t>
            </a:fld>
            <a:endParaRPr lang="it-IT"/>
          </a:p>
        </p:txBody>
      </p:sp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000001011</a:t>
            </a:r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AF7EF3-6A12-A841-BB5D-D1624ECF0DE6}" type="slidenum">
              <a:rPr lang="it-IT"/>
              <a:pPr/>
              <a:t>28</a:t>
            </a:fld>
            <a:endParaRPr lang="it-IT"/>
          </a:p>
        </p:txBody>
      </p:sp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0101111</a:t>
            </a: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8F93E4-18AB-0B45-9685-AC426AEA8FF5}" type="slidenum">
              <a:rPr lang="it-IT"/>
              <a:pPr/>
              <a:t>29</a:t>
            </a:fld>
            <a:endParaRPr lang="it-IT"/>
          </a:p>
        </p:txBody>
      </p:sp>
      <p:sp>
        <p:nvSpPr>
          <p:cNvPr id="72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Bisogna cercare di diminuire sia il numero che le frequenzedei nodi interni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18FE21-948D-B644-9281-996DDB3B315C}" type="slidenum">
              <a:rPr lang="it-IT"/>
              <a:pPr/>
              <a:t>31</a:t>
            </a:fld>
            <a:endParaRPr lang="it-IT"/>
          </a:p>
        </p:txBody>
      </p:sp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3925" y="744538"/>
            <a:ext cx="4953000" cy="3714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05350"/>
            <a:ext cx="4984750" cy="4456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44" tIns="46022" rIns="92044" bIns="46022"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494A4-84B3-0D40-ABF5-D95ECE50106C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3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97051-A2AE-9C43-8C24-35FB3A091AF9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0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5E147-5B33-074E-B411-3AC9D292E545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8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58763-C582-A34B-90FF-0FEE2162EF84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1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DF4D65-D4DF-4A49-9D20-E552B3DD1060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4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9A116-2AD8-AB4B-8FA5-03C2BBEE31B7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1E169-F611-3744-BFF2-5ADB598AEF80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7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0E8B9-7324-D34C-BE0A-958C5CAD34C2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3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428C2A-6150-E849-BDC5-9D2506AB46E6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0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D9222-51A1-8441-B854-F0F28CD92290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2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D48073-5838-2642-A3BC-75E297F8A047}" type="slidenum">
              <a:rPr lang="en-US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0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28946BA-9265-4F43-AAFA-5A2E034BD5FD}" type="slidenum">
              <a:rPr lang="en-US"/>
              <a:pPr/>
              <a:t>‹N›</a:t>
            </a:fld>
            <a:endParaRPr lang="en-US"/>
          </a:p>
        </p:txBody>
      </p:sp>
      <p:pic>
        <p:nvPicPr>
          <p:cNvPr id="1035" name="Picture 11" descr="McGraw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663" y="6427788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6470650"/>
            <a:ext cx="8712200" cy="3810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/>
              <a:t>Introduzione agli algoritmi e strutture dati 3/ed</a:t>
            </a:r>
            <a:br>
              <a:rPr lang="it-IT" sz="1000"/>
            </a:br>
            <a:r>
              <a:rPr lang="it-IT" sz="1000"/>
              <a:t>T. H. Cormen, C. E. Leiserson, R. L. Rivest, C. Stein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5664200" y="6516688"/>
            <a:ext cx="2925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1000"/>
              <a:t>Copyright © 2010 – The McGraw-Hill Companies srl</a:t>
            </a:r>
          </a:p>
        </p:txBody>
      </p:sp>
      <p:pic>
        <p:nvPicPr>
          <p:cNvPr id="1038" name="Picture 14" descr="978883866515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363" y="0"/>
            <a:ext cx="528637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Text Box 2"/>
          <p:cNvSpPr txBox="1">
            <a:spLocks noChangeArrowheads="1"/>
          </p:cNvSpPr>
          <p:nvPr/>
        </p:nvSpPr>
        <p:spPr bwMode="auto">
          <a:xfrm>
            <a:off x="2438400" y="533400"/>
            <a:ext cx="3886200" cy="727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4000">
                <a:solidFill>
                  <a:srgbClr val="FF0000"/>
                </a:solidFill>
              </a:rPr>
              <a:t>Algoritmi golosi</a:t>
            </a:r>
            <a:endParaRPr lang="it-IT">
              <a:solidFill>
                <a:srgbClr val="FF0000"/>
              </a:solidFill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685800" y="2209800"/>
            <a:ext cx="7848600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arenR"/>
            </a:pPr>
            <a:r>
              <a:rPr lang="it-IT" sz="3600"/>
              <a:t>ogni volta si fa la scelta migliore localmente;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it-IT" sz="3600"/>
              <a:t>in questo modo per alcuni problemi si ottiene una soluzione globalmente ottima.</a:t>
            </a:r>
            <a:endParaRPr lang="en-US" sz="3600"/>
          </a:p>
        </p:txBody>
      </p:sp>
      <p:sp>
        <p:nvSpPr>
          <p:cNvPr id="67994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1905000" cy="1524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Algoritmi golosi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74676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4000">
                <a:solidFill>
                  <a:srgbClr val="FF0000"/>
                </a:solidFill>
              </a:rPr>
              <a:t>Problema della scelta delle attività</a:t>
            </a:r>
            <a:endParaRPr lang="it-IT"/>
          </a:p>
        </p:txBody>
      </p:sp>
      <p:sp>
        <p:nvSpPr>
          <p:cNvPr id="685059" name="Text Box 3"/>
          <p:cNvSpPr txBox="1">
            <a:spLocks noChangeArrowheads="1"/>
          </p:cNvSpPr>
          <p:nvPr/>
        </p:nvSpPr>
        <p:spPr bwMode="auto">
          <a:xfrm>
            <a:off x="685800" y="243840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Ogni attività </a:t>
            </a:r>
            <a:r>
              <a:rPr lang="it-IT" b="1" i="1"/>
              <a:t>a</a:t>
            </a:r>
            <a:r>
              <a:rPr lang="it-IT" b="1" i="1" baseline="-25000"/>
              <a:t>i</a:t>
            </a:r>
            <a:r>
              <a:rPr lang="it-IT"/>
              <a:t> ha un </a:t>
            </a:r>
            <a:r>
              <a:rPr lang="it-IT" i="1" u="sng"/>
              <a:t>tempo di inizio</a:t>
            </a:r>
            <a:r>
              <a:rPr lang="it-IT"/>
              <a:t>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ed un </a:t>
            </a:r>
            <a:r>
              <a:rPr lang="it-IT" i="1" u="sng"/>
              <a:t>tempo di fine</a:t>
            </a:r>
            <a:r>
              <a:rPr lang="it-IT"/>
              <a:t> </a:t>
            </a:r>
            <a:r>
              <a:rPr lang="it-IT" b="1" i="1"/>
              <a:t>f</a:t>
            </a:r>
            <a:r>
              <a:rPr lang="it-IT" b="1" i="1" baseline="-25000"/>
              <a:t>i</a:t>
            </a:r>
            <a:r>
              <a:rPr lang="it-IT"/>
              <a:t> con 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 &lt;</a:t>
            </a:r>
            <a:r>
              <a:rPr lang="it-IT">
                <a:sym typeface="Symbol" charset="0"/>
              </a:rPr>
              <a:t> </a:t>
            </a:r>
            <a:r>
              <a:rPr lang="it-IT" b="1" i="1"/>
              <a:t>f</a:t>
            </a:r>
            <a:r>
              <a:rPr lang="it-IT" b="1" i="1" baseline="-25000"/>
              <a:t>i</a:t>
            </a:r>
            <a:r>
              <a:rPr lang="it-IT"/>
              <a:t>.</a:t>
            </a:r>
          </a:p>
        </p:txBody>
      </p:sp>
      <p:sp>
        <p:nvSpPr>
          <p:cNvPr id="685060" name="Text Box 4"/>
          <p:cNvSpPr txBox="1">
            <a:spLocks noChangeArrowheads="1"/>
          </p:cNvSpPr>
          <p:nvPr/>
        </p:nvSpPr>
        <p:spPr bwMode="auto">
          <a:xfrm>
            <a:off x="685800" y="114300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i="1"/>
              <a:t>n</a:t>
            </a:r>
            <a:r>
              <a:rPr lang="it-IT"/>
              <a:t> </a:t>
            </a:r>
            <a:r>
              <a:rPr lang="it-IT" i="1" u="sng"/>
              <a:t>attività</a:t>
            </a:r>
            <a:r>
              <a:rPr lang="it-IT"/>
              <a:t> </a:t>
            </a:r>
            <a:r>
              <a:rPr lang="it-IT" b="1" i="1"/>
              <a:t>a</a:t>
            </a:r>
            <a:r>
              <a:rPr lang="it-IT" b="1" i="1" baseline="-25000"/>
              <a:t>1</a:t>
            </a:r>
            <a:r>
              <a:rPr lang="it-IT"/>
              <a:t>,</a:t>
            </a:r>
            <a:r>
              <a:rPr lang="it-IT" b="1" i="1"/>
              <a:t>a</a:t>
            </a:r>
            <a:r>
              <a:rPr lang="it-IT" b="1" i="1" baseline="-25000"/>
              <a:t>2</a:t>
            </a:r>
            <a:r>
              <a:rPr lang="it-IT"/>
              <a:t>,..,</a:t>
            </a:r>
            <a:r>
              <a:rPr lang="it-IT" b="1" i="1"/>
              <a:t>a</a:t>
            </a:r>
            <a:r>
              <a:rPr lang="it-IT" b="1" i="1" baseline="-25000"/>
              <a:t>n</a:t>
            </a:r>
            <a:r>
              <a:rPr lang="it-IT"/>
              <a:t> usano la stessa risorsa (es: lezioni da tenere in una stessa aula).</a:t>
            </a:r>
          </a:p>
        </p:txBody>
      </p:sp>
      <p:sp>
        <p:nvSpPr>
          <p:cNvPr id="685061" name="Text Box 5"/>
          <p:cNvSpPr txBox="1">
            <a:spLocks noChangeArrowheads="1"/>
          </p:cNvSpPr>
          <p:nvPr/>
        </p:nvSpPr>
        <p:spPr bwMode="auto">
          <a:xfrm>
            <a:off x="685800" y="381000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i="1"/>
              <a:t>a</a:t>
            </a:r>
            <a:r>
              <a:rPr lang="it-IT" b="1" i="1" baseline="-25000"/>
              <a:t>i</a:t>
            </a:r>
            <a:r>
              <a:rPr lang="it-IT"/>
              <a:t> occupa la risorsa nell’intervallo temporale semiaperto [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, </a:t>
            </a:r>
            <a:r>
              <a:rPr lang="it-IT" b="1" i="1"/>
              <a:t>f</a:t>
            </a:r>
            <a:r>
              <a:rPr lang="it-IT" b="1" i="1" baseline="-25000"/>
              <a:t>i</a:t>
            </a:r>
            <a:r>
              <a:rPr lang="it-IT"/>
              <a:t>).</a:t>
            </a:r>
          </a:p>
        </p:txBody>
      </p:sp>
      <p:sp>
        <p:nvSpPr>
          <p:cNvPr id="685062" name="Text Box 6"/>
          <p:cNvSpPr txBox="1">
            <a:spLocks noChangeArrowheads="1"/>
          </p:cNvSpPr>
          <p:nvPr/>
        </p:nvSpPr>
        <p:spPr bwMode="auto">
          <a:xfrm>
            <a:off x="685800" y="5105400"/>
            <a:ext cx="7696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i="1"/>
              <a:t>a</a:t>
            </a:r>
            <a:r>
              <a:rPr lang="it-IT" b="1" i="1" baseline="-25000"/>
              <a:t>i</a:t>
            </a:r>
            <a:r>
              <a:rPr lang="it-IT"/>
              <a:t> ed </a:t>
            </a:r>
            <a:r>
              <a:rPr lang="it-IT" b="1" i="1"/>
              <a:t>a</a:t>
            </a:r>
            <a:r>
              <a:rPr lang="it-IT" b="1" i="1" baseline="-25000"/>
              <a:t>j</a:t>
            </a:r>
            <a:r>
              <a:rPr lang="it-IT"/>
              <a:t> sono </a:t>
            </a:r>
            <a:r>
              <a:rPr lang="it-IT" i="1" u="sng"/>
              <a:t>compatibili</a:t>
            </a:r>
            <a:r>
              <a:rPr lang="it-IT"/>
              <a:t> se [</a:t>
            </a:r>
            <a:r>
              <a:rPr lang="it-IT" b="1" i="1"/>
              <a:t>s</a:t>
            </a:r>
            <a:r>
              <a:rPr lang="it-IT" b="1" i="1" baseline="-25000"/>
              <a:t>i</a:t>
            </a:r>
            <a:r>
              <a:rPr lang="it-IT"/>
              <a:t>, </a:t>
            </a:r>
            <a:r>
              <a:rPr lang="it-IT" b="1" i="1"/>
              <a:t>f</a:t>
            </a:r>
            <a:r>
              <a:rPr lang="it-IT" b="1" i="1" baseline="-25000"/>
              <a:t>i</a:t>
            </a:r>
            <a:r>
              <a:rPr lang="it-IT"/>
              <a:t>) ed [</a:t>
            </a:r>
            <a:r>
              <a:rPr lang="it-IT" b="1" i="1"/>
              <a:t>s</a:t>
            </a:r>
            <a:r>
              <a:rPr lang="it-IT" b="1" i="1" baseline="-25000"/>
              <a:t>j</a:t>
            </a:r>
            <a:r>
              <a:rPr lang="it-IT"/>
              <a:t>, </a:t>
            </a:r>
            <a:r>
              <a:rPr lang="it-IT" b="1" i="1"/>
              <a:t>f</a:t>
            </a:r>
            <a:r>
              <a:rPr lang="it-IT" b="1" i="1" baseline="-25000"/>
              <a:t>j</a:t>
            </a:r>
            <a:r>
              <a:rPr lang="it-IT"/>
              <a:t>) sono disgiunti.</a:t>
            </a:r>
          </a:p>
        </p:txBody>
      </p:sp>
      <p:sp>
        <p:nvSpPr>
          <p:cNvPr id="685063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19050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Scelta attività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457200" y="838200"/>
            <a:ext cx="8001000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b="1"/>
              <a:t>Problema:</a:t>
            </a:r>
            <a:r>
              <a:rPr lang="it-IT" sz="3600"/>
              <a:t> </a:t>
            </a:r>
            <a:r>
              <a:rPr lang="it-IT"/>
              <a:t>scegliere il massimo numero di attività compatibili.</a:t>
            </a:r>
            <a:endParaRPr lang="it-IT" sz="2400"/>
          </a:p>
        </p:txBody>
      </p:sp>
      <p:sp>
        <p:nvSpPr>
          <p:cNvPr id="686083" name="Text Box 3"/>
          <p:cNvSpPr txBox="1">
            <a:spLocks noChangeArrowheads="1"/>
          </p:cNvSpPr>
          <p:nvPr/>
        </p:nvSpPr>
        <p:spPr bwMode="auto">
          <a:xfrm>
            <a:off x="457200" y="2438400"/>
            <a:ext cx="8397875" cy="307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Supponiamo che le attività</a:t>
            </a:r>
            <a:r>
              <a:rPr lang="it-IT" sz="3600"/>
              <a:t> </a:t>
            </a:r>
            <a:r>
              <a:rPr lang="it-IT" b="1" i="1"/>
              <a:t>a</a:t>
            </a:r>
            <a:r>
              <a:rPr lang="it-IT" sz="3600" b="1" i="1" baseline="-25000"/>
              <a:t>1</a:t>
            </a:r>
            <a:r>
              <a:rPr lang="it-IT"/>
              <a:t>,</a:t>
            </a:r>
            <a:r>
              <a:rPr lang="it-IT" b="1" i="1"/>
              <a:t>a</a:t>
            </a:r>
            <a:r>
              <a:rPr lang="it-IT" sz="3600" b="1" i="1" baseline="-25000"/>
              <a:t>2</a:t>
            </a:r>
            <a:r>
              <a:rPr lang="it-IT"/>
              <a:t>,..,</a:t>
            </a:r>
            <a:r>
              <a:rPr lang="it-IT" b="1" i="1"/>
              <a:t>a</a:t>
            </a:r>
            <a:r>
              <a:rPr lang="it-IT" sz="3600" b="1" i="1" baseline="-25000"/>
              <a:t>n</a:t>
            </a:r>
            <a:r>
              <a:rPr lang="it-IT" sz="3600"/>
              <a:t> </a:t>
            </a:r>
            <a:r>
              <a:rPr lang="it-IT"/>
              <a:t>siano ordinate per tempo di fine non decrescente </a:t>
            </a:r>
          </a:p>
          <a:p>
            <a:endParaRPr lang="it-IT"/>
          </a:p>
          <a:p>
            <a:r>
              <a:rPr lang="it-IT"/>
              <a:t>                         </a:t>
            </a:r>
            <a:r>
              <a:rPr lang="it-IT" b="1" i="1"/>
              <a:t>f</a:t>
            </a:r>
            <a:r>
              <a:rPr lang="it-IT" sz="3600" b="1" i="1" baseline="-25000"/>
              <a:t>1</a:t>
            </a:r>
            <a:r>
              <a:rPr lang="it-IT" b="1" i="1" baseline="-25000"/>
              <a:t> </a:t>
            </a:r>
            <a:r>
              <a:rPr lang="it-IT">
                <a:sym typeface="Symbol" charset="0"/>
              </a:rPr>
              <a:t></a:t>
            </a:r>
            <a:r>
              <a:rPr lang="it-IT" b="1" i="1"/>
              <a:t> f</a:t>
            </a:r>
            <a:r>
              <a:rPr lang="it-IT" sz="3600" b="1" i="1" baseline="-25000"/>
              <a:t>2</a:t>
            </a:r>
            <a:r>
              <a:rPr lang="it-IT" b="1" i="1" baseline="-25000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/>
              <a:t>... </a:t>
            </a:r>
            <a:r>
              <a:rPr lang="it-IT">
                <a:sym typeface="Symbol" charset="0"/>
              </a:rPr>
              <a:t></a:t>
            </a:r>
            <a:r>
              <a:rPr lang="it-IT" b="1" i="1"/>
              <a:t> f</a:t>
            </a:r>
            <a:r>
              <a:rPr lang="it-IT" sz="3600" b="1" i="1" baseline="-25000"/>
              <a:t>n</a:t>
            </a:r>
            <a:r>
              <a:rPr lang="it-IT"/>
              <a:t> </a:t>
            </a:r>
          </a:p>
          <a:p>
            <a:endParaRPr lang="it-IT"/>
          </a:p>
          <a:p>
            <a:r>
              <a:rPr lang="it-IT"/>
              <a:t>Altrimenti le ordiniamo in tempo </a:t>
            </a:r>
            <a:r>
              <a:rPr lang="it-IT" b="1" i="1"/>
              <a:t>O</a:t>
            </a:r>
            <a:r>
              <a:rPr lang="it-IT"/>
              <a:t>(</a:t>
            </a:r>
            <a:r>
              <a:rPr lang="it-IT" b="1" i="1"/>
              <a:t>n</a:t>
            </a:r>
            <a:r>
              <a:rPr lang="it-IT" i="1"/>
              <a:t> </a:t>
            </a:r>
            <a:r>
              <a:rPr lang="it-IT"/>
              <a:t>log</a:t>
            </a:r>
            <a:r>
              <a:rPr lang="it-IT" i="1"/>
              <a:t> </a:t>
            </a:r>
            <a:r>
              <a:rPr lang="it-IT" b="1" i="1"/>
              <a:t>n</a:t>
            </a:r>
            <a:r>
              <a:rPr lang="it-IT"/>
              <a:t>).</a:t>
            </a:r>
          </a:p>
        </p:txBody>
      </p:sp>
      <p:sp>
        <p:nvSpPr>
          <p:cNvPr id="6860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20574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Enunciato del problema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21336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Algoritmo scelta attività</a:t>
            </a:r>
          </a:p>
        </p:txBody>
      </p:sp>
      <p:sp>
        <p:nvSpPr>
          <p:cNvPr id="687107" name="Text Box 3"/>
          <p:cNvSpPr txBox="1">
            <a:spLocks noChangeArrowheads="1"/>
          </p:cNvSpPr>
          <p:nvPr/>
        </p:nvSpPr>
        <p:spPr bwMode="auto">
          <a:xfrm>
            <a:off x="492125" y="304800"/>
            <a:ext cx="822960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L’algoritmo percorre la sequenza </a:t>
            </a:r>
            <a:r>
              <a:rPr lang="it-IT" b="1" i="1"/>
              <a:t>a</a:t>
            </a:r>
            <a:r>
              <a:rPr lang="it-IT" sz="3600" b="1" i="1" baseline="-25000"/>
              <a:t>1</a:t>
            </a:r>
            <a:r>
              <a:rPr lang="it-IT"/>
              <a:t>,</a:t>
            </a:r>
            <a:r>
              <a:rPr lang="it-IT" b="1" i="1"/>
              <a:t>a</a:t>
            </a:r>
            <a:r>
              <a:rPr lang="it-IT" sz="3600" b="1" i="1" baseline="-25000"/>
              <a:t>2</a:t>
            </a:r>
            <a:r>
              <a:rPr lang="it-IT"/>
              <a:t>,..,</a:t>
            </a:r>
            <a:r>
              <a:rPr lang="it-IT" b="1" i="1"/>
              <a:t>a</a:t>
            </a:r>
            <a:r>
              <a:rPr lang="it-IT" sz="3600" b="1" i="1" baseline="-25000"/>
              <a:t>n</a:t>
            </a:r>
            <a:r>
              <a:rPr lang="it-IT" sz="3600"/>
              <a:t> </a:t>
            </a:r>
            <a:r>
              <a:rPr lang="it-IT"/>
              <a:t>e seleziona le attività che sono compatibili con quelle scelte fino a quel momento, senza preoccuparsi delle attività successive. </a:t>
            </a:r>
          </a:p>
        </p:txBody>
      </p:sp>
      <p:sp>
        <p:nvSpPr>
          <p:cNvPr id="687108" name="Text Box 4"/>
          <p:cNvSpPr txBox="1">
            <a:spLocks noChangeArrowheads="1"/>
          </p:cNvSpPr>
          <p:nvPr/>
        </p:nvSpPr>
        <p:spPr bwMode="auto">
          <a:xfrm>
            <a:off x="561974" y="2971800"/>
            <a:ext cx="7898457" cy="255198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800" b="1" i="1" dirty="0" err="1"/>
              <a:t>SelezioneAttivita</a:t>
            </a:r>
            <a:r>
              <a:rPr lang="it-IT" sz="2800" b="1" dirty="0"/>
              <a:t>(</a:t>
            </a:r>
            <a:r>
              <a:rPr lang="it-IT" sz="2800" b="1" i="1" dirty="0"/>
              <a:t>a</a:t>
            </a:r>
            <a:r>
              <a:rPr lang="it-IT" sz="2800" b="1" dirty="0"/>
              <a:t>, </a:t>
            </a:r>
            <a:r>
              <a:rPr lang="it-IT" sz="2800" b="1" i="1" dirty="0" err="1"/>
              <a:t>s</a:t>
            </a:r>
            <a:r>
              <a:rPr lang="it-IT" sz="2800" b="1" dirty="0"/>
              <a:t>, </a:t>
            </a:r>
            <a:r>
              <a:rPr lang="it-IT" sz="2800" b="1" i="1" dirty="0" err="1"/>
              <a:t>f</a:t>
            </a:r>
            <a:r>
              <a:rPr lang="it-IT" sz="2800" b="1" dirty="0"/>
              <a:t>, </a:t>
            </a:r>
            <a:r>
              <a:rPr lang="it-IT" sz="2800" b="1" i="1" dirty="0" err="1"/>
              <a:t>n</a:t>
            </a:r>
            <a:r>
              <a:rPr lang="it-IT" sz="2800" b="1" dirty="0"/>
              <a:t>)             </a:t>
            </a:r>
            <a:r>
              <a:rPr lang="it-IT" sz="2800" b="1" dirty="0">
                <a:solidFill>
                  <a:srgbClr val="FF0000"/>
                </a:solidFill>
                <a:sym typeface="MT Extra" charset="0"/>
              </a:rPr>
              <a:t> </a:t>
            </a:r>
            <a:r>
              <a:rPr lang="it-IT" sz="2800" b="1" i="1" dirty="0">
                <a:solidFill>
                  <a:srgbClr val="FF0000"/>
                </a:solidFill>
              </a:rPr>
              <a:t>f</a:t>
            </a:r>
            <a:r>
              <a:rPr lang="it-IT" sz="2800" b="1" baseline="-25000" dirty="0">
                <a:solidFill>
                  <a:srgbClr val="FF0000"/>
                </a:solidFill>
              </a:rPr>
              <a:t>1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 i="1" dirty="0">
                <a:solidFill>
                  <a:srgbClr val="FF0000"/>
                </a:solidFill>
              </a:rPr>
              <a:t>f</a:t>
            </a:r>
            <a:r>
              <a:rPr lang="it-IT" sz="2800" b="1" baseline="-25000" dirty="0">
                <a:solidFill>
                  <a:srgbClr val="FF0000"/>
                </a:solidFill>
              </a:rPr>
              <a:t>2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 dirty="0">
                <a:solidFill>
                  <a:srgbClr val="FF0000"/>
                </a:solidFill>
              </a:rPr>
              <a:t>... </a:t>
            </a:r>
            <a:r>
              <a:rPr lang="it-IT" sz="28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 i="1" dirty="0" err="1">
                <a:solidFill>
                  <a:srgbClr val="FF0000"/>
                </a:solidFill>
              </a:rPr>
              <a:t>f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n</a:t>
            </a:r>
            <a:endParaRPr lang="it-IT" sz="2800" b="1" dirty="0"/>
          </a:p>
          <a:p>
            <a:pPr>
              <a:lnSpc>
                <a:spcPct val="95000"/>
              </a:lnSpc>
            </a:pPr>
            <a:r>
              <a:rPr lang="it-IT" sz="2800" b="1" dirty="0"/>
              <a:t>   </a:t>
            </a:r>
            <a:r>
              <a:rPr lang="it-IT" sz="2800" b="1" i="1" dirty="0"/>
              <a:t>b</a:t>
            </a:r>
            <a:r>
              <a:rPr lang="it-IT" sz="2800" b="1" baseline="-25000" dirty="0"/>
              <a:t>1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 </a:t>
            </a:r>
            <a:r>
              <a:rPr lang="it-IT" sz="2800" b="1" i="1" dirty="0"/>
              <a:t>a</a:t>
            </a:r>
            <a:r>
              <a:rPr lang="it-IT" sz="2800" b="1" baseline="-25000" dirty="0"/>
              <a:t>1</a:t>
            </a:r>
            <a:r>
              <a:rPr lang="it-IT" sz="2800" b="1" dirty="0">
                <a:sym typeface="Symbol" charset="0"/>
              </a:rPr>
              <a:t>,  </a:t>
            </a:r>
            <a:r>
              <a:rPr lang="it-IT" sz="2800" b="1" i="1" dirty="0">
                <a:sym typeface="Symbol" charset="0"/>
              </a:rPr>
              <a:t>k</a:t>
            </a:r>
            <a:r>
              <a:rPr lang="it-IT" sz="2800" b="1" dirty="0">
                <a:sym typeface="Symbol" charset="0"/>
              </a:rPr>
              <a:t>  1</a:t>
            </a:r>
            <a:r>
              <a:rPr lang="it-IT" sz="2800" b="1" dirty="0"/>
              <a:t>, </a:t>
            </a:r>
            <a:r>
              <a:rPr lang="it-IT" sz="2800" b="1" i="1" dirty="0" err="1"/>
              <a:t>maxf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</a:t>
            </a:r>
            <a:r>
              <a:rPr lang="it-IT" sz="2800" b="1" dirty="0"/>
              <a:t> </a:t>
            </a:r>
            <a:r>
              <a:rPr lang="it-IT" sz="2800" b="1" i="1" dirty="0"/>
              <a:t>f</a:t>
            </a:r>
            <a:r>
              <a:rPr lang="it-IT" sz="2800" b="1" baseline="-25000" dirty="0"/>
              <a:t>1</a:t>
            </a:r>
          </a:p>
          <a:p>
            <a:pPr>
              <a:lnSpc>
                <a:spcPct val="95000"/>
              </a:lnSpc>
            </a:pPr>
            <a:r>
              <a:rPr lang="it-IT" sz="2800" b="1" dirty="0"/>
              <a:t>   for </a:t>
            </a:r>
            <a:r>
              <a:rPr lang="it-IT" sz="2800" b="1" i="1" dirty="0"/>
              <a:t>i </a:t>
            </a:r>
            <a:r>
              <a:rPr lang="it-IT" sz="2800" b="1" dirty="0">
                <a:sym typeface="Symbol" charset="0"/>
              </a:rPr>
              <a:t> 2</a:t>
            </a:r>
            <a:r>
              <a:rPr lang="it-IT" sz="2800" b="1" dirty="0"/>
              <a:t> to </a:t>
            </a:r>
            <a:r>
              <a:rPr lang="it-IT" sz="2800" b="1" i="1" dirty="0" err="1"/>
              <a:t>n</a:t>
            </a:r>
            <a:r>
              <a:rPr lang="it-IT" sz="2800" b="1" dirty="0"/>
              <a:t> do</a:t>
            </a:r>
          </a:p>
          <a:p>
            <a:pPr>
              <a:lnSpc>
                <a:spcPct val="95000"/>
              </a:lnSpc>
            </a:pPr>
            <a:r>
              <a:rPr lang="it-IT" sz="2800" b="1" dirty="0"/>
              <a:t>      </a:t>
            </a:r>
            <a:r>
              <a:rPr lang="it-IT" sz="2800" b="1" dirty="0" err="1"/>
              <a:t>if</a:t>
            </a:r>
            <a:r>
              <a:rPr lang="it-IT" sz="2800" b="1" dirty="0"/>
              <a:t> </a:t>
            </a:r>
            <a:r>
              <a:rPr lang="it-IT" sz="2800" b="1" i="1" dirty="0"/>
              <a:t>s</a:t>
            </a:r>
            <a:r>
              <a:rPr lang="it-IT" sz="2800" b="1" i="1" baseline="-25000" dirty="0"/>
              <a:t>i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</a:t>
            </a:r>
            <a:r>
              <a:rPr lang="it-IT" sz="2800" b="1" dirty="0"/>
              <a:t> </a:t>
            </a:r>
            <a:r>
              <a:rPr lang="it-IT" sz="2800" b="1" i="1" dirty="0" err="1"/>
              <a:t>maxf</a:t>
            </a:r>
            <a:r>
              <a:rPr lang="it-IT" sz="2800" b="1" dirty="0"/>
              <a:t> </a:t>
            </a:r>
            <a:r>
              <a:rPr lang="it-IT" sz="2800" b="1" dirty="0" err="1"/>
              <a:t>then</a:t>
            </a:r>
            <a:endParaRPr lang="it-IT" sz="2800" b="1" dirty="0"/>
          </a:p>
          <a:p>
            <a:pPr>
              <a:lnSpc>
                <a:spcPct val="95000"/>
              </a:lnSpc>
            </a:pPr>
            <a:r>
              <a:rPr lang="it-IT" sz="2800" b="1" dirty="0"/>
              <a:t>         </a:t>
            </a:r>
            <a:r>
              <a:rPr lang="it-IT" sz="2800" b="1" i="1" dirty="0">
                <a:sym typeface="Symbol" charset="0"/>
              </a:rPr>
              <a:t>k</a:t>
            </a:r>
            <a:r>
              <a:rPr lang="it-IT" sz="2800" b="1" dirty="0">
                <a:sym typeface="Symbol" charset="0"/>
              </a:rPr>
              <a:t>  </a:t>
            </a:r>
            <a:r>
              <a:rPr lang="it-IT" sz="2800" b="1" i="1" dirty="0">
                <a:sym typeface="Symbol" charset="0"/>
              </a:rPr>
              <a:t>k</a:t>
            </a:r>
            <a:r>
              <a:rPr lang="it-IT" sz="2800" b="1" dirty="0">
                <a:sym typeface="Symbol" charset="0"/>
              </a:rPr>
              <a:t>+1</a:t>
            </a:r>
            <a:r>
              <a:rPr lang="it-IT" sz="2800" b="1" dirty="0"/>
              <a:t>, </a:t>
            </a:r>
            <a:r>
              <a:rPr lang="it-IT" sz="2800" b="1" i="1" dirty="0" err="1"/>
              <a:t>b</a:t>
            </a:r>
            <a:r>
              <a:rPr lang="it-IT" sz="2800" b="1" i="1" baseline="-25000" dirty="0" err="1"/>
              <a:t>k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 </a:t>
            </a:r>
            <a:r>
              <a:rPr lang="it-IT" sz="2800" b="1" i="1" dirty="0"/>
              <a:t>a</a:t>
            </a:r>
            <a:r>
              <a:rPr lang="it-IT" sz="2800" b="1" i="1" baseline="-25000" dirty="0"/>
              <a:t>i</a:t>
            </a:r>
            <a:r>
              <a:rPr lang="it-IT" sz="2800" b="1" dirty="0">
                <a:sym typeface="Symbol" charset="0"/>
              </a:rPr>
              <a:t>, </a:t>
            </a:r>
            <a:r>
              <a:rPr lang="it-IT" sz="2800" b="1" i="1" dirty="0" err="1"/>
              <a:t>maxf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</a:t>
            </a:r>
            <a:r>
              <a:rPr lang="it-IT" sz="2800" b="1" dirty="0"/>
              <a:t> </a:t>
            </a:r>
            <a:r>
              <a:rPr lang="it-IT" sz="2800" b="1" i="1" dirty="0"/>
              <a:t>f</a:t>
            </a:r>
            <a:r>
              <a:rPr lang="it-IT" sz="2800" b="1" i="1" baseline="-25000" dirty="0"/>
              <a:t>i</a:t>
            </a:r>
            <a:endParaRPr lang="it-IT" sz="2800" b="1" dirty="0"/>
          </a:p>
          <a:p>
            <a:pPr>
              <a:lnSpc>
                <a:spcPct val="95000"/>
              </a:lnSpc>
            </a:pPr>
            <a:r>
              <a:rPr lang="it-IT" sz="2800" b="1" dirty="0"/>
              <a:t>   </a:t>
            </a:r>
            <a:r>
              <a:rPr lang="it-IT" sz="2800" b="1" dirty="0" err="1"/>
              <a:t>return</a:t>
            </a:r>
            <a:r>
              <a:rPr lang="it-IT" sz="2800" b="1" dirty="0"/>
              <a:t> </a:t>
            </a:r>
            <a:r>
              <a:rPr lang="it-IT" sz="2800" b="1" i="1" dirty="0"/>
              <a:t>b</a:t>
            </a:r>
            <a:r>
              <a:rPr lang="it-IT" sz="2800" b="1" dirty="0"/>
              <a:t>, </a:t>
            </a:r>
            <a:r>
              <a:rPr lang="it-IT" sz="2800" b="1" i="1" dirty="0"/>
              <a:t>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Text Box 2"/>
          <p:cNvSpPr txBox="1">
            <a:spLocks noChangeArrowheads="1"/>
          </p:cNvSpPr>
          <p:nvPr/>
        </p:nvSpPr>
        <p:spPr bwMode="auto">
          <a:xfrm>
            <a:off x="935596" y="371262"/>
            <a:ext cx="7872796" cy="120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400" b="1" dirty="0"/>
              <a:t>   </a:t>
            </a:r>
            <a:r>
              <a:rPr lang="it-IT" sz="2400" b="1" i="1" dirty="0"/>
              <a:t>i</a:t>
            </a:r>
            <a:r>
              <a:rPr lang="it-IT" sz="2400" b="1" dirty="0"/>
              <a:t>           1      2      3     4      5     6      7      8     9    10   11</a:t>
            </a:r>
          </a:p>
          <a:p>
            <a:r>
              <a:rPr lang="it-IT" sz="2400" b="1" i="1" dirty="0"/>
              <a:t>  s</a:t>
            </a:r>
            <a:r>
              <a:rPr lang="it-IT" sz="2400" b="1" i="1" baseline="-25000" dirty="0"/>
              <a:t>i</a:t>
            </a:r>
            <a:r>
              <a:rPr lang="it-IT" sz="2400" b="1" dirty="0"/>
              <a:t>           1      0      1     5      3     5      6      8     8      2   12 </a:t>
            </a:r>
          </a:p>
          <a:p>
            <a:r>
              <a:rPr lang="it-IT" sz="2400" b="1" i="1" dirty="0"/>
              <a:t>  f</a:t>
            </a:r>
            <a:r>
              <a:rPr lang="it-IT" sz="2400" b="1" i="1" baseline="-25000" dirty="0"/>
              <a:t>i</a:t>
            </a:r>
            <a:r>
              <a:rPr lang="it-IT" sz="2400" b="1" dirty="0"/>
              <a:t>           4      5      6     7      8     9    10    11   12    13   14 </a:t>
            </a:r>
          </a:p>
        </p:txBody>
      </p:sp>
      <p:sp>
        <p:nvSpPr>
          <p:cNvPr id="688131" name="Line 3"/>
          <p:cNvSpPr>
            <a:spLocks noChangeShapeType="1"/>
          </p:cNvSpPr>
          <p:nvPr/>
        </p:nvSpPr>
        <p:spPr bwMode="auto">
          <a:xfrm>
            <a:off x="1905000" y="1371600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2" name="Line 4"/>
          <p:cNvSpPr>
            <a:spLocks noChangeShapeType="1"/>
          </p:cNvSpPr>
          <p:nvPr/>
        </p:nvSpPr>
        <p:spPr bwMode="auto">
          <a:xfrm>
            <a:off x="1905000" y="1524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3" name="Line 5"/>
          <p:cNvSpPr>
            <a:spLocks noChangeShapeType="1"/>
          </p:cNvSpPr>
          <p:nvPr/>
        </p:nvSpPr>
        <p:spPr bwMode="auto">
          <a:xfrm>
            <a:off x="1905000" y="1828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4" name="Line 6"/>
          <p:cNvSpPr>
            <a:spLocks noChangeShapeType="1"/>
          </p:cNvSpPr>
          <p:nvPr/>
        </p:nvSpPr>
        <p:spPr bwMode="auto">
          <a:xfrm>
            <a:off x="1905000" y="2133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5" name="Line 7"/>
          <p:cNvSpPr>
            <a:spLocks noChangeShapeType="1"/>
          </p:cNvSpPr>
          <p:nvPr/>
        </p:nvSpPr>
        <p:spPr bwMode="auto">
          <a:xfrm>
            <a:off x="1905000" y="2438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6" name="Line 8"/>
          <p:cNvSpPr>
            <a:spLocks noChangeShapeType="1"/>
          </p:cNvSpPr>
          <p:nvPr/>
        </p:nvSpPr>
        <p:spPr bwMode="auto">
          <a:xfrm>
            <a:off x="1905000" y="3657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7" name="Line 9"/>
          <p:cNvSpPr>
            <a:spLocks noChangeShapeType="1"/>
          </p:cNvSpPr>
          <p:nvPr/>
        </p:nvSpPr>
        <p:spPr bwMode="auto">
          <a:xfrm>
            <a:off x="1898650" y="2743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8" name="Line 10"/>
          <p:cNvSpPr>
            <a:spLocks noChangeShapeType="1"/>
          </p:cNvSpPr>
          <p:nvPr/>
        </p:nvSpPr>
        <p:spPr bwMode="auto">
          <a:xfrm>
            <a:off x="1905000" y="3048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9" name="Line 11"/>
          <p:cNvSpPr>
            <a:spLocks noChangeShapeType="1"/>
          </p:cNvSpPr>
          <p:nvPr/>
        </p:nvSpPr>
        <p:spPr bwMode="auto">
          <a:xfrm>
            <a:off x="1905000" y="3352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0" name="Line 12"/>
          <p:cNvSpPr>
            <a:spLocks noChangeShapeType="1"/>
          </p:cNvSpPr>
          <p:nvPr/>
        </p:nvSpPr>
        <p:spPr bwMode="auto">
          <a:xfrm>
            <a:off x="1905000" y="3962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1" name="Line 13"/>
          <p:cNvSpPr>
            <a:spLocks noChangeShapeType="1"/>
          </p:cNvSpPr>
          <p:nvPr/>
        </p:nvSpPr>
        <p:spPr bwMode="auto">
          <a:xfrm>
            <a:off x="1905000" y="4267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2" name="Line 14"/>
          <p:cNvSpPr>
            <a:spLocks noChangeShapeType="1"/>
          </p:cNvSpPr>
          <p:nvPr/>
        </p:nvSpPr>
        <p:spPr bwMode="auto">
          <a:xfrm>
            <a:off x="1905000" y="4572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3" name="Line 15"/>
          <p:cNvSpPr>
            <a:spLocks noChangeShapeType="1"/>
          </p:cNvSpPr>
          <p:nvPr/>
        </p:nvSpPr>
        <p:spPr bwMode="auto">
          <a:xfrm>
            <a:off x="1905000" y="4876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4" name="Line 16"/>
          <p:cNvSpPr>
            <a:spLocks noChangeShapeType="1"/>
          </p:cNvSpPr>
          <p:nvPr/>
        </p:nvSpPr>
        <p:spPr bwMode="auto">
          <a:xfrm>
            <a:off x="1905000" y="5181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5" name="Text Box 17"/>
          <p:cNvSpPr txBox="1">
            <a:spLocks noChangeArrowheads="1"/>
          </p:cNvSpPr>
          <p:nvPr/>
        </p:nvSpPr>
        <p:spPr bwMode="auto">
          <a:xfrm>
            <a:off x="1371600" y="1371600"/>
            <a:ext cx="533400" cy="458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0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1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2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3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4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5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6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7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8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9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10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11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12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13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14</a:t>
            </a:r>
          </a:p>
        </p:txBody>
      </p:sp>
      <p:sp>
        <p:nvSpPr>
          <p:cNvPr id="688146" name="Line 18"/>
          <p:cNvSpPr>
            <a:spLocks noChangeShapeType="1"/>
          </p:cNvSpPr>
          <p:nvPr/>
        </p:nvSpPr>
        <p:spPr bwMode="auto">
          <a:xfrm>
            <a:off x="1905000" y="5486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7" name="Line 19"/>
          <p:cNvSpPr>
            <a:spLocks noChangeShapeType="1"/>
          </p:cNvSpPr>
          <p:nvPr/>
        </p:nvSpPr>
        <p:spPr bwMode="auto">
          <a:xfrm>
            <a:off x="1905000" y="5791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48" name="Text Box 20"/>
          <p:cNvSpPr txBox="1">
            <a:spLocks noChangeArrowheads="1"/>
          </p:cNvSpPr>
          <p:nvPr/>
        </p:nvSpPr>
        <p:spPr bwMode="auto">
          <a:xfrm>
            <a:off x="990600" y="6046788"/>
            <a:ext cx="944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r>
              <a:rPr lang="it-IT" sz="2400" b="1" i="1"/>
              <a:t>tempo</a:t>
            </a:r>
          </a:p>
        </p:txBody>
      </p:sp>
      <p:sp>
        <p:nvSpPr>
          <p:cNvPr id="688149" name="Rectangle 21"/>
          <p:cNvSpPr>
            <a:spLocks noChangeArrowheads="1"/>
          </p:cNvSpPr>
          <p:nvPr/>
        </p:nvSpPr>
        <p:spPr bwMode="auto">
          <a:xfrm>
            <a:off x="2109788" y="1828800"/>
            <a:ext cx="352425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</a:t>
            </a:r>
            <a:endParaRPr lang="it-IT" b="1" i="1"/>
          </a:p>
        </p:txBody>
      </p:sp>
      <p:sp>
        <p:nvSpPr>
          <p:cNvPr id="688150" name="Rectangle 22"/>
          <p:cNvSpPr>
            <a:spLocks noChangeArrowheads="1"/>
          </p:cNvSpPr>
          <p:nvPr/>
        </p:nvSpPr>
        <p:spPr bwMode="auto">
          <a:xfrm>
            <a:off x="2673350" y="1524000"/>
            <a:ext cx="3810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2</a:t>
            </a:r>
          </a:p>
        </p:txBody>
      </p:sp>
      <p:sp>
        <p:nvSpPr>
          <p:cNvPr id="688151" name="Rectangle 23"/>
          <p:cNvSpPr>
            <a:spLocks noChangeArrowheads="1"/>
          </p:cNvSpPr>
          <p:nvPr/>
        </p:nvSpPr>
        <p:spPr bwMode="auto">
          <a:xfrm>
            <a:off x="3235325" y="1828800"/>
            <a:ext cx="3810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3</a:t>
            </a:r>
          </a:p>
        </p:txBody>
      </p:sp>
      <p:sp>
        <p:nvSpPr>
          <p:cNvPr id="688152" name="Rectangle 24"/>
          <p:cNvSpPr>
            <a:spLocks noChangeArrowheads="1"/>
          </p:cNvSpPr>
          <p:nvPr/>
        </p:nvSpPr>
        <p:spPr bwMode="auto">
          <a:xfrm>
            <a:off x="3798888" y="3048000"/>
            <a:ext cx="3810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4</a:t>
            </a:r>
          </a:p>
        </p:txBody>
      </p:sp>
      <p:sp>
        <p:nvSpPr>
          <p:cNvPr id="688153" name="Rectangle 25"/>
          <p:cNvSpPr>
            <a:spLocks noChangeArrowheads="1"/>
          </p:cNvSpPr>
          <p:nvPr/>
        </p:nvSpPr>
        <p:spPr bwMode="auto">
          <a:xfrm>
            <a:off x="4360863" y="2438400"/>
            <a:ext cx="381000" cy="1524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5</a:t>
            </a:r>
          </a:p>
        </p:txBody>
      </p:sp>
      <p:sp>
        <p:nvSpPr>
          <p:cNvPr id="688154" name="Rectangle 26"/>
          <p:cNvSpPr>
            <a:spLocks noChangeArrowheads="1"/>
          </p:cNvSpPr>
          <p:nvPr/>
        </p:nvSpPr>
        <p:spPr bwMode="auto">
          <a:xfrm>
            <a:off x="4924425" y="3048000"/>
            <a:ext cx="381000" cy="121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6</a:t>
            </a:r>
          </a:p>
        </p:txBody>
      </p:sp>
      <p:sp>
        <p:nvSpPr>
          <p:cNvPr id="688155" name="Rectangle 27"/>
          <p:cNvSpPr>
            <a:spLocks noChangeArrowheads="1"/>
          </p:cNvSpPr>
          <p:nvPr/>
        </p:nvSpPr>
        <p:spPr bwMode="auto">
          <a:xfrm>
            <a:off x="5486400" y="3352800"/>
            <a:ext cx="381000" cy="121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7</a:t>
            </a:r>
          </a:p>
        </p:txBody>
      </p:sp>
      <p:sp>
        <p:nvSpPr>
          <p:cNvPr id="688156" name="Rectangle 28"/>
          <p:cNvSpPr>
            <a:spLocks noChangeArrowheads="1"/>
          </p:cNvSpPr>
          <p:nvPr/>
        </p:nvSpPr>
        <p:spPr bwMode="auto">
          <a:xfrm>
            <a:off x="6048375" y="3962400"/>
            <a:ext cx="381000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8</a:t>
            </a:r>
          </a:p>
        </p:txBody>
      </p:sp>
      <p:sp>
        <p:nvSpPr>
          <p:cNvPr id="688157" name="Rectangle 29"/>
          <p:cNvSpPr>
            <a:spLocks noChangeArrowheads="1"/>
          </p:cNvSpPr>
          <p:nvPr/>
        </p:nvSpPr>
        <p:spPr bwMode="auto">
          <a:xfrm>
            <a:off x="6611938" y="3962400"/>
            <a:ext cx="381000" cy="121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9</a:t>
            </a:r>
          </a:p>
        </p:txBody>
      </p:sp>
      <p:sp>
        <p:nvSpPr>
          <p:cNvPr id="688158" name="Rectangle 30"/>
          <p:cNvSpPr>
            <a:spLocks noChangeArrowheads="1"/>
          </p:cNvSpPr>
          <p:nvPr/>
        </p:nvSpPr>
        <p:spPr bwMode="auto">
          <a:xfrm>
            <a:off x="7173913" y="2133600"/>
            <a:ext cx="381000" cy="335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10</a:t>
            </a:r>
          </a:p>
        </p:txBody>
      </p:sp>
      <p:sp>
        <p:nvSpPr>
          <p:cNvPr id="688159" name="Rectangle 31"/>
          <p:cNvSpPr>
            <a:spLocks noChangeArrowheads="1"/>
          </p:cNvSpPr>
          <p:nvPr/>
        </p:nvSpPr>
        <p:spPr bwMode="auto">
          <a:xfrm>
            <a:off x="7737475" y="5181600"/>
            <a:ext cx="3810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11</a:t>
            </a:r>
          </a:p>
        </p:txBody>
      </p:sp>
      <p:sp>
        <p:nvSpPr>
          <p:cNvPr id="688160" name="Rectangle 32"/>
          <p:cNvSpPr>
            <a:spLocks noChangeArrowheads="1"/>
          </p:cNvSpPr>
          <p:nvPr/>
        </p:nvSpPr>
        <p:spPr bwMode="auto">
          <a:xfrm>
            <a:off x="2109788" y="1828800"/>
            <a:ext cx="352425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</a:t>
            </a:r>
          </a:p>
        </p:txBody>
      </p:sp>
      <p:sp>
        <p:nvSpPr>
          <p:cNvPr id="688161" name="Rectangle 33"/>
          <p:cNvSpPr>
            <a:spLocks noChangeArrowheads="1"/>
          </p:cNvSpPr>
          <p:nvPr/>
        </p:nvSpPr>
        <p:spPr bwMode="auto">
          <a:xfrm>
            <a:off x="2673350" y="1524000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2</a:t>
            </a:r>
          </a:p>
        </p:txBody>
      </p:sp>
      <p:sp>
        <p:nvSpPr>
          <p:cNvPr id="688162" name="Rectangle 34"/>
          <p:cNvSpPr>
            <a:spLocks noChangeArrowheads="1"/>
          </p:cNvSpPr>
          <p:nvPr/>
        </p:nvSpPr>
        <p:spPr bwMode="auto">
          <a:xfrm>
            <a:off x="3235325" y="1828800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3</a:t>
            </a:r>
          </a:p>
        </p:txBody>
      </p:sp>
      <p:sp>
        <p:nvSpPr>
          <p:cNvPr id="688163" name="Rectangle 35"/>
          <p:cNvSpPr>
            <a:spLocks noChangeArrowheads="1"/>
          </p:cNvSpPr>
          <p:nvPr/>
        </p:nvSpPr>
        <p:spPr bwMode="auto">
          <a:xfrm>
            <a:off x="3798888" y="3048000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4</a:t>
            </a:r>
          </a:p>
        </p:txBody>
      </p:sp>
      <p:sp>
        <p:nvSpPr>
          <p:cNvPr id="688164" name="Rectangle 36"/>
          <p:cNvSpPr>
            <a:spLocks noChangeArrowheads="1"/>
          </p:cNvSpPr>
          <p:nvPr/>
        </p:nvSpPr>
        <p:spPr bwMode="auto">
          <a:xfrm>
            <a:off x="4360863" y="2438400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5</a:t>
            </a:r>
          </a:p>
        </p:txBody>
      </p:sp>
      <p:sp>
        <p:nvSpPr>
          <p:cNvPr id="688165" name="Rectangle 37"/>
          <p:cNvSpPr>
            <a:spLocks noChangeArrowheads="1"/>
          </p:cNvSpPr>
          <p:nvPr/>
        </p:nvSpPr>
        <p:spPr bwMode="auto">
          <a:xfrm>
            <a:off x="4924425" y="3048000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6</a:t>
            </a:r>
          </a:p>
        </p:txBody>
      </p:sp>
      <p:sp>
        <p:nvSpPr>
          <p:cNvPr id="688166" name="Rectangle 38"/>
          <p:cNvSpPr>
            <a:spLocks noChangeArrowheads="1"/>
          </p:cNvSpPr>
          <p:nvPr/>
        </p:nvSpPr>
        <p:spPr bwMode="auto">
          <a:xfrm>
            <a:off x="5486400" y="3352800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7</a:t>
            </a:r>
          </a:p>
        </p:txBody>
      </p:sp>
      <p:sp>
        <p:nvSpPr>
          <p:cNvPr id="688167" name="Rectangle 39"/>
          <p:cNvSpPr>
            <a:spLocks noChangeArrowheads="1"/>
          </p:cNvSpPr>
          <p:nvPr/>
        </p:nvSpPr>
        <p:spPr bwMode="auto">
          <a:xfrm>
            <a:off x="6048375" y="3962400"/>
            <a:ext cx="381000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8</a:t>
            </a:r>
          </a:p>
        </p:txBody>
      </p:sp>
      <p:sp>
        <p:nvSpPr>
          <p:cNvPr id="688168" name="Rectangle 40"/>
          <p:cNvSpPr>
            <a:spLocks noChangeArrowheads="1"/>
          </p:cNvSpPr>
          <p:nvPr/>
        </p:nvSpPr>
        <p:spPr bwMode="auto">
          <a:xfrm>
            <a:off x="6611938" y="3962400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9</a:t>
            </a:r>
          </a:p>
        </p:txBody>
      </p:sp>
      <p:sp>
        <p:nvSpPr>
          <p:cNvPr id="688169" name="Rectangle 41"/>
          <p:cNvSpPr>
            <a:spLocks noChangeArrowheads="1"/>
          </p:cNvSpPr>
          <p:nvPr/>
        </p:nvSpPr>
        <p:spPr bwMode="auto">
          <a:xfrm>
            <a:off x="7173913" y="2133600"/>
            <a:ext cx="381000" cy="33528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10</a:t>
            </a:r>
          </a:p>
        </p:txBody>
      </p:sp>
      <p:sp>
        <p:nvSpPr>
          <p:cNvPr id="688170" name="Rectangle 42"/>
          <p:cNvSpPr>
            <a:spLocks noChangeArrowheads="1"/>
          </p:cNvSpPr>
          <p:nvPr/>
        </p:nvSpPr>
        <p:spPr bwMode="auto">
          <a:xfrm>
            <a:off x="7737475" y="5181600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11</a:t>
            </a:r>
          </a:p>
        </p:txBody>
      </p:sp>
      <p:grpSp>
        <p:nvGrpSpPr>
          <p:cNvPr id="688171" name="Group 43"/>
          <p:cNvGrpSpPr>
            <a:grpSpLocks/>
          </p:cNvGrpSpPr>
          <p:nvPr/>
        </p:nvGrpSpPr>
        <p:grpSpPr bwMode="auto">
          <a:xfrm>
            <a:off x="703263" y="2286000"/>
            <a:ext cx="844550" cy="533400"/>
            <a:chOff x="432" y="1584"/>
            <a:chExt cx="480" cy="336"/>
          </a:xfrm>
        </p:grpSpPr>
        <p:sp>
          <p:nvSpPr>
            <p:cNvPr id="688172" name="Text Box 44"/>
            <p:cNvSpPr txBox="1">
              <a:spLocks noChangeArrowheads="1"/>
            </p:cNvSpPr>
            <p:nvPr/>
          </p:nvSpPr>
          <p:spPr bwMode="auto">
            <a:xfrm>
              <a:off x="432" y="158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it-IT" sz="2400" b="1" i="1"/>
                <a:t>maxf</a:t>
              </a:r>
              <a:endParaRPr lang="it-IT" sz="2400" b="1" baseline="-25000"/>
            </a:p>
          </p:txBody>
        </p:sp>
        <p:sp>
          <p:nvSpPr>
            <p:cNvPr id="688173" name="AutoShape 45"/>
            <p:cNvSpPr>
              <a:spLocks noChangeArrowheads="1"/>
            </p:cNvSpPr>
            <p:nvPr/>
          </p:nvSpPr>
          <p:spPr bwMode="auto">
            <a:xfrm>
              <a:off x="528" y="1824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35" tIns="45718" rIns="91435" bIns="45718">
              <a:spAutoFit/>
            </a:bodyPr>
            <a:lstStyle/>
            <a:p>
              <a:endParaRPr lang="en-US"/>
            </a:p>
          </p:txBody>
        </p:sp>
      </p:grpSp>
      <p:sp>
        <p:nvSpPr>
          <p:cNvPr id="688174" name="AutoShape 46"/>
          <p:cNvSpPr>
            <a:spLocks noChangeArrowheads="1"/>
          </p:cNvSpPr>
          <p:nvPr/>
        </p:nvSpPr>
        <p:spPr bwMode="auto">
          <a:xfrm>
            <a:off x="838200" y="35814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5" name="AutoShape 47"/>
          <p:cNvSpPr>
            <a:spLocks noChangeArrowheads="1"/>
          </p:cNvSpPr>
          <p:nvPr/>
        </p:nvSpPr>
        <p:spPr bwMode="auto">
          <a:xfrm>
            <a:off x="838200" y="48006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6" name="AutoShape 48"/>
          <p:cNvSpPr>
            <a:spLocks noChangeArrowheads="1"/>
          </p:cNvSpPr>
          <p:nvPr/>
        </p:nvSpPr>
        <p:spPr bwMode="auto">
          <a:xfrm>
            <a:off x="838200" y="57150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7" name="AutoShape 49"/>
          <p:cNvSpPr>
            <a:spLocks noChangeArrowheads="1"/>
          </p:cNvSpPr>
          <p:nvPr/>
        </p:nvSpPr>
        <p:spPr bwMode="auto">
          <a:xfrm>
            <a:off x="2183656" y="-9738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8" name="AutoShape 50"/>
          <p:cNvSpPr>
            <a:spLocks noChangeArrowheads="1"/>
          </p:cNvSpPr>
          <p:nvPr/>
        </p:nvSpPr>
        <p:spPr bwMode="auto">
          <a:xfrm>
            <a:off x="2795724" y="-764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9" name="AutoShape 51"/>
          <p:cNvSpPr>
            <a:spLocks noChangeArrowheads="1"/>
          </p:cNvSpPr>
          <p:nvPr/>
        </p:nvSpPr>
        <p:spPr bwMode="auto">
          <a:xfrm>
            <a:off x="3407792" y="-823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0" name="AutoShape 52"/>
          <p:cNvSpPr>
            <a:spLocks noChangeArrowheads="1"/>
          </p:cNvSpPr>
          <p:nvPr/>
        </p:nvSpPr>
        <p:spPr bwMode="auto">
          <a:xfrm>
            <a:off x="3959932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1" name="AutoShape 53"/>
          <p:cNvSpPr>
            <a:spLocks noChangeArrowheads="1"/>
          </p:cNvSpPr>
          <p:nvPr/>
        </p:nvSpPr>
        <p:spPr bwMode="auto">
          <a:xfrm>
            <a:off x="4535996" y="0"/>
            <a:ext cx="144016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2" name="AutoShape 54"/>
          <p:cNvSpPr>
            <a:spLocks noChangeArrowheads="1"/>
          </p:cNvSpPr>
          <p:nvPr/>
        </p:nvSpPr>
        <p:spPr bwMode="auto">
          <a:xfrm>
            <a:off x="5112060" y="-1493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3" name="AutoShape 55"/>
          <p:cNvSpPr>
            <a:spLocks noChangeArrowheads="1"/>
          </p:cNvSpPr>
          <p:nvPr/>
        </p:nvSpPr>
        <p:spPr bwMode="auto">
          <a:xfrm>
            <a:off x="5724128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4" name="AutoShape 56"/>
          <p:cNvSpPr>
            <a:spLocks noChangeArrowheads="1"/>
          </p:cNvSpPr>
          <p:nvPr/>
        </p:nvSpPr>
        <p:spPr bwMode="auto">
          <a:xfrm>
            <a:off x="6336196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5" name="AutoShape 57"/>
          <p:cNvSpPr>
            <a:spLocks noChangeArrowheads="1"/>
          </p:cNvSpPr>
          <p:nvPr/>
        </p:nvSpPr>
        <p:spPr bwMode="auto">
          <a:xfrm>
            <a:off x="6804248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6" name="AutoShape 58"/>
          <p:cNvSpPr>
            <a:spLocks noChangeArrowheads="1"/>
          </p:cNvSpPr>
          <p:nvPr/>
        </p:nvSpPr>
        <p:spPr bwMode="auto">
          <a:xfrm>
            <a:off x="7416316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7" name="AutoShape 59"/>
          <p:cNvSpPr>
            <a:spLocks noChangeArrowheads="1"/>
          </p:cNvSpPr>
          <p:nvPr/>
        </p:nvSpPr>
        <p:spPr bwMode="auto">
          <a:xfrm>
            <a:off x="7920372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8" name="Rectangle 60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2057400" cy="152400"/>
          </a:xfrm>
        </p:spPr>
        <p:txBody>
          <a:bodyPr/>
          <a:lstStyle/>
          <a:p>
            <a:r>
              <a:rPr lang="it-IT" sz="1400">
                <a:solidFill>
                  <a:schemeClr val="tx1"/>
                </a:solidFill>
              </a:rPr>
              <a:t>Simulazione algoritmo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8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8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60" grpId="0" animBg="1" autoUpdateAnimBg="0"/>
      <p:bldP spid="688161" grpId="0" animBg="1" autoUpdateAnimBg="0"/>
      <p:bldP spid="688162" grpId="0" animBg="1" autoUpdateAnimBg="0"/>
      <p:bldP spid="688163" grpId="0" animBg="1" autoUpdateAnimBg="0"/>
      <p:bldP spid="688164" grpId="0" animBg="1" autoUpdateAnimBg="0"/>
      <p:bldP spid="688165" grpId="0" animBg="1" autoUpdateAnimBg="0"/>
      <p:bldP spid="688166" grpId="0" animBg="1" autoUpdateAnimBg="0"/>
      <p:bldP spid="688167" grpId="0" animBg="1" autoUpdateAnimBg="0"/>
      <p:bldP spid="688168" grpId="0" animBg="1" autoUpdateAnimBg="0"/>
      <p:bldP spid="688169" grpId="0" animBg="1" autoUpdateAnimBg="0"/>
      <p:bldP spid="688170" grpId="0" animBg="1" autoUpdateAnimBg="0"/>
      <p:bldP spid="688174" grpId="0" animBg="1"/>
      <p:bldP spid="688175" grpId="0" animBg="1"/>
      <p:bldP spid="688176" grpId="0" animBg="1"/>
      <p:bldP spid="688177" grpId="0" animBg="1"/>
      <p:bldP spid="688178" grpId="0" animBg="1"/>
      <p:bldP spid="688179" grpId="0" animBg="1"/>
      <p:bldP spid="688180" grpId="0" animBg="1"/>
      <p:bldP spid="688181" grpId="0" animBg="1"/>
      <p:bldP spid="688182" grpId="0" animBg="1"/>
      <p:bldP spid="688183" grpId="0" animBg="1"/>
      <p:bldP spid="688184" grpId="0" animBg="1"/>
      <p:bldP spid="688185" grpId="0" animBg="1"/>
      <p:bldP spid="688186" grpId="0" animBg="1"/>
      <p:bldP spid="6881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Text Box 2"/>
          <p:cNvSpPr txBox="1">
            <a:spLocks noChangeArrowheads="1"/>
          </p:cNvSpPr>
          <p:nvPr/>
        </p:nvSpPr>
        <p:spPr bwMode="auto">
          <a:xfrm>
            <a:off x="561975" y="762000"/>
            <a:ext cx="80899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La soluzione trovata contiene quattro attività.</a:t>
            </a:r>
          </a:p>
          <a:p>
            <a:endParaRPr lang="it-IT"/>
          </a:p>
          <a:p>
            <a:r>
              <a:rPr lang="it-IT"/>
              <a:t>Due domande:</a:t>
            </a:r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20574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Enunciato del problema</a:t>
            </a:r>
            <a:endParaRPr lang="en-GB"/>
          </a:p>
        </p:txBody>
      </p:sp>
      <p:sp>
        <p:nvSpPr>
          <p:cNvPr id="689156" name="Text Box 4"/>
          <p:cNvSpPr txBox="1">
            <a:spLocks noChangeArrowheads="1"/>
          </p:cNvSpPr>
          <p:nvPr/>
        </p:nvSpPr>
        <p:spPr bwMode="auto">
          <a:xfrm>
            <a:off x="561975" y="2819400"/>
            <a:ext cx="80899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rabicParenR"/>
            </a:pPr>
            <a:r>
              <a:rPr lang="it-IT" sz="3200"/>
              <a:t>La soluzione trovata con l’algoritmo goloso è l’unica possibile che contiene quattro attività? </a:t>
            </a:r>
          </a:p>
        </p:txBody>
      </p:sp>
      <p:sp>
        <p:nvSpPr>
          <p:cNvPr id="689157" name="Text Box 5"/>
          <p:cNvSpPr txBox="1">
            <a:spLocks noChangeArrowheads="1"/>
          </p:cNvSpPr>
          <p:nvPr/>
        </p:nvSpPr>
        <p:spPr bwMode="auto">
          <a:xfrm>
            <a:off x="561975" y="4343400"/>
            <a:ext cx="80899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rabicParenR" startAt="2"/>
            </a:pPr>
            <a:r>
              <a:rPr lang="it-IT" sz="3200"/>
              <a:t>La soluzione trovata con l’algoritmo goloso è ottima o esistono anche soluzioni con più di quattro attività?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Line 2"/>
          <p:cNvSpPr>
            <a:spLocks noChangeShapeType="1"/>
          </p:cNvSpPr>
          <p:nvPr/>
        </p:nvSpPr>
        <p:spPr bwMode="auto">
          <a:xfrm>
            <a:off x="1511660" y="1402432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79" name="Line 3"/>
          <p:cNvSpPr>
            <a:spLocks noChangeShapeType="1"/>
          </p:cNvSpPr>
          <p:nvPr/>
        </p:nvSpPr>
        <p:spPr bwMode="auto">
          <a:xfrm>
            <a:off x="1511660" y="15548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0" name="Line 4"/>
          <p:cNvSpPr>
            <a:spLocks noChangeShapeType="1"/>
          </p:cNvSpPr>
          <p:nvPr/>
        </p:nvSpPr>
        <p:spPr bwMode="auto">
          <a:xfrm>
            <a:off x="1511660" y="18596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1" name="Line 5"/>
          <p:cNvSpPr>
            <a:spLocks noChangeShapeType="1"/>
          </p:cNvSpPr>
          <p:nvPr/>
        </p:nvSpPr>
        <p:spPr bwMode="auto">
          <a:xfrm>
            <a:off x="1511660" y="21644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2" name="Line 6"/>
          <p:cNvSpPr>
            <a:spLocks noChangeShapeType="1"/>
          </p:cNvSpPr>
          <p:nvPr/>
        </p:nvSpPr>
        <p:spPr bwMode="auto">
          <a:xfrm>
            <a:off x="1511660" y="24692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3" name="Line 7"/>
          <p:cNvSpPr>
            <a:spLocks noChangeShapeType="1"/>
          </p:cNvSpPr>
          <p:nvPr/>
        </p:nvSpPr>
        <p:spPr bwMode="auto">
          <a:xfrm>
            <a:off x="1511660" y="36884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4" name="Line 8"/>
          <p:cNvSpPr>
            <a:spLocks noChangeShapeType="1"/>
          </p:cNvSpPr>
          <p:nvPr/>
        </p:nvSpPr>
        <p:spPr bwMode="auto">
          <a:xfrm>
            <a:off x="1511660" y="27740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5" name="Line 9"/>
          <p:cNvSpPr>
            <a:spLocks noChangeShapeType="1"/>
          </p:cNvSpPr>
          <p:nvPr/>
        </p:nvSpPr>
        <p:spPr bwMode="auto">
          <a:xfrm>
            <a:off x="1511660" y="30788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6" name="Line 10"/>
          <p:cNvSpPr>
            <a:spLocks noChangeShapeType="1"/>
          </p:cNvSpPr>
          <p:nvPr/>
        </p:nvSpPr>
        <p:spPr bwMode="auto">
          <a:xfrm>
            <a:off x="1511660" y="33836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7" name="Line 11"/>
          <p:cNvSpPr>
            <a:spLocks noChangeShapeType="1"/>
          </p:cNvSpPr>
          <p:nvPr/>
        </p:nvSpPr>
        <p:spPr bwMode="auto">
          <a:xfrm>
            <a:off x="1511660" y="39932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8" name="Line 12"/>
          <p:cNvSpPr>
            <a:spLocks noChangeShapeType="1"/>
          </p:cNvSpPr>
          <p:nvPr/>
        </p:nvSpPr>
        <p:spPr bwMode="auto">
          <a:xfrm>
            <a:off x="1905000" y="4267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9" name="Line 13"/>
          <p:cNvSpPr>
            <a:spLocks noChangeShapeType="1"/>
          </p:cNvSpPr>
          <p:nvPr/>
        </p:nvSpPr>
        <p:spPr bwMode="auto">
          <a:xfrm>
            <a:off x="1511660" y="46028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0" name="Line 14"/>
          <p:cNvSpPr>
            <a:spLocks noChangeShapeType="1"/>
          </p:cNvSpPr>
          <p:nvPr/>
        </p:nvSpPr>
        <p:spPr bwMode="auto">
          <a:xfrm>
            <a:off x="1511660" y="49076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1" name="Line 15"/>
          <p:cNvSpPr>
            <a:spLocks noChangeShapeType="1"/>
          </p:cNvSpPr>
          <p:nvPr/>
        </p:nvSpPr>
        <p:spPr bwMode="auto">
          <a:xfrm>
            <a:off x="1511660" y="52124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2" name="Text Box 16"/>
          <p:cNvSpPr txBox="1">
            <a:spLocks noChangeArrowheads="1"/>
          </p:cNvSpPr>
          <p:nvPr/>
        </p:nvSpPr>
        <p:spPr bwMode="auto">
          <a:xfrm>
            <a:off x="978260" y="1402432"/>
            <a:ext cx="533400" cy="458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0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1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2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3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4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5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6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7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8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 9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10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11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12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13</a:t>
            </a:r>
          </a:p>
          <a:p>
            <a:pPr>
              <a:spcBef>
                <a:spcPct val="10000"/>
              </a:spcBef>
            </a:pPr>
            <a:r>
              <a:rPr lang="it-IT" sz="1800" b="1">
                <a:latin typeface="Courier New" charset="0"/>
              </a:rPr>
              <a:t>14</a:t>
            </a:r>
          </a:p>
        </p:txBody>
      </p:sp>
      <p:sp>
        <p:nvSpPr>
          <p:cNvPr id="690193" name="Line 17"/>
          <p:cNvSpPr>
            <a:spLocks noChangeShapeType="1"/>
          </p:cNvSpPr>
          <p:nvPr/>
        </p:nvSpPr>
        <p:spPr bwMode="auto">
          <a:xfrm>
            <a:off x="1511660" y="55172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4" name="Line 18"/>
          <p:cNvSpPr>
            <a:spLocks noChangeShapeType="1"/>
          </p:cNvSpPr>
          <p:nvPr/>
        </p:nvSpPr>
        <p:spPr bwMode="auto">
          <a:xfrm>
            <a:off x="1511660" y="5822032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5" name="Text Box 19"/>
          <p:cNvSpPr txBox="1">
            <a:spLocks noChangeArrowheads="1"/>
          </p:cNvSpPr>
          <p:nvPr/>
        </p:nvSpPr>
        <p:spPr bwMode="auto">
          <a:xfrm>
            <a:off x="597260" y="6077620"/>
            <a:ext cx="944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r>
              <a:rPr lang="it-IT" sz="2400" b="1" i="1"/>
              <a:t>tempo</a:t>
            </a:r>
          </a:p>
        </p:txBody>
      </p:sp>
      <p:sp>
        <p:nvSpPr>
          <p:cNvPr id="690196" name="Rectangle 20"/>
          <p:cNvSpPr>
            <a:spLocks noChangeArrowheads="1"/>
          </p:cNvSpPr>
          <p:nvPr/>
        </p:nvSpPr>
        <p:spPr bwMode="auto">
          <a:xfrm>
            <a:off x="1787885" y="1859632"/>
            <a:ext cx="350838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</a:t>
            </a:r>
          </a:p>
        </p:txBody>
      </p:sp>
      <p:sp>
        <p:nvSpPr>
          <p:cNvPr id="690197" name="Rectangle 21"/>
          <p:cNvSpPr>
            <a:spLocks noChangeArrowheads="1"/>
          </p:cNvSpPr>
          <p:nvPr/>
        </p:nvSpPr>
        <p:spPr bwMode="auto">
          <a:xfrm>
            <a:off x="2349860" y="1554832"/>
            <a:ext cx="352425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2</a:t>
            </a:r>
          </a:p>
        </p:txBody>
      </p:sp>
      <p:sp>
        <p:nvSpPr>
          <p:cNvPr id="690198" name="Rectangle 22"/>
          <p:cNvSpPr>
            <a:spLocks noChangeArrowheads="1"/>
          </p:cNvSpPr>
          <p:nvPr/>
        </p:nvSpPr>
        <p:spPr bwMode="auto">
          <a:xfrm>
            <a:off x="2883260" y="1859632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3</a:t>
            </a:r>
          </a:p>
        </p:txBody>
      </p:sp>
      <p:sp>
        <p:nvSpPr>
          <p:cNvPr id="690199" name="Rectangle 23"/>
          <p:cNvSpPr>
            <a:spLocks noChangeArrowheads="1"/>
          </p:cNvSpPr>
          <p:nvPr/>
        </p:nvSpPr>
        <p:spPr bwMode="auto">
          <a:xfrm>
            <a:off x="3405548" y="3078832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4</a:t>
            </a:r>
          </a:p>
        </p:txBody>
      </p:sp>
      <p:sp>
        <p:nvSpPr>
          <p:cNvPr id="690200" name="Rectangle 24"/>
          <p:cNvSpPr>
            <a:spLocks noChangeArrowheads="1"/>
          </p:cNvSpPr>
          <p:nvPr/>
        </p:nvSpPr>
        <p:spPr bwMode="auto">
          <a:xfrm>
            <a:off x="3967523" y="2469232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5</a:t>
            </a:r>
          </a:p>
        </p:txBody>
      </p:sp>
      <p:sp>
        <p:nvSpPr>
          <p:cNvPr id="690201" name="Rectangle 25"/>
          <p:cNvSpPr>
            <a:spLocks noChangeArrowheads="1"/>
          </p:cNvSpPr>
          <p:nvPr/>
        </p:nvSpPr>
        <p:spPr bwMode="auto">
          <a:xfrm>
            <a:off x="4559660" y="3078832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6</a:t>
            </a:r>
          </a:p>
        </p:txBody>
      </p:sp>
      <p:sp>
        <p:nvSpPr>
          <p:cNvPr id="690202" name="Rectangle 26"/>
          <p:cNvSpPr>
            <a:spLocks noChangeArrowheads="1"/>
          </p:cNvSpPr>
          <p:nvPr/>
        </p:nvSpPr>
        <p:spPr bwMode="auto">
          <a:xfrm>
            <a:off x="5093060" y="3383632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7</a:t>
            </a:r>
          </a:p>
        </p:txBody>
      </p:sp>
      <p:sp>
        <p:nvSpPr>
          <p:cNvPr id="690203" name="Rectangle 27"/>
          <p:cNvSpPr>
            <a:spLocks noChangeArrowheads="1"/>
          </p:cNvSpPr>
          <p:nvPr/>
        </p:nvSpPr>
        <p:spPr bwMode="auto">
          <a:xfrm>
            <a:off x="5655035" y="3993232"/>
            <a:ext cx="352425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8</a:t>
            </a:r>
          </a:p>
        </p:txBody>
      </p:sp>
      <p:sp>
        <p:nvSpPr>
          <p:cNvPr id="690204" name="Rectangle 28"/>
          <p:cNvSpPr>
            <a:spLocks noChangeArrowheads="1"/>
          </p:cNvSpPr>
          <p:nvPr/>
        </p:nvSpPr>
        <p:spPr bwMode="auto">
          <a:xfrm>
            <a:off x="6218598" y="3993232"/>
            <a:ext cx="350837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9</a:t>
            </a:r>
          </a:p>
        </p:txBody>
      </p:sp>
      <p:sp>
        <p:nvSpPr>
          <p:cNvPr id="690205" name="Rectangle 29"/>
          <p:cNvSpPr>
            <a:spLocks noChangeArrowheads="1"/>
          </p:cNvSpPr>
          <p:nvPr/>
        </p:nvSpPr>
        <p:spPr bwMode="auto">
          <a:xfrm>
            <a:off x="6780573" y="2164432"/>
            <a:ext cx="381000" cy="33528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10</a:t>
            </a:r>
          </a:p>
        </p:txBody>
      </p:sp>
      <p:sp>
        <p:nvSpPr>
          <p:cNvPr id="690206" name="Rectangle 30"/>
          <p:cNvSpPr>
            <a:spLocks noChangeArrowheads="1"/>
          </p:cNvSpPr>
          <p:nvPr/>
        </p:nvSpPr>
        <p:spPr bwMode="auto">
          <a:xfrm>
            <a:off x="7344135" y="5212432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11</a:t>
            </a:r>
          </a:p>
        </p:txBody>
      </p:sp>
      <p:sp>
        <p:nvSpPr>
          <p:cNvPr id="690207" name="Rectangle 3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1981200" cy="228600"/>
          </a:xfrm>
        </p:spPr>
        <p:txBody>
          <a:bodyPr/>
          <a:lstStyle/>
          <a:p>
            <a:r>
              <a:rPr lang="it-IT" sz="1400">
                <a:solidFill>
                  <a:schemeClr val="tx1"/>
                </a:solidFill>
              </a:rPr>
              <a:t>Altre soluzioni</a:t>
            </a:r>
            <a:endParaRPr lang="en-GB" sz="1400">
              <a:solidFill>
                <a:schemeClr val="tx1"/>
              </a:solidFill>
            </a:endParaRPr>
          </a:p>
        </p:txBody>
      </p:sp>
      <p:grpSp>
        <p:nvGrpSpPr>
          <p:cNvPr id="690208" name="Group 32"/>
          <p:cNvGrpSpPr>
            <a:grpSpLocks/>
          </p:cNvGrpSpPr>
          <p:nvPr/>
        </p:nvGrpSpPr>
        <p:grpSpPr bwMode="auto">
          <a:xfrm>
            <a:off x="1787885" y="1554832"/>
            <a:ext cx="914400" cy="1524000"/>
            <a:chOff x="1488" y="1104"/>
            <a:chExt cx="624" cy="960"/>
          </a:xfrm>
        </p:grpSpPr>
        <p:sp>
          <p:nvSpPr>
            <p:cNvPr id="690209" name="Rectangle 33"/>
            <p:cNvSpPr>
              <a:spLocks noChangeArrowheads="1"/>
            </p:cNvSpPr>
            <p:nvPr/>
          </p:nvSpPr>
          <p:spPr bwMode="auto">
            <a:xfrm>
              <a:off x="1872" y="1104"/>
              <a:ext cx="240" cy="96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400" b="1" i="1"/>
                <a:t>a</a:t>
              </a:r>
              <a:r>
                <a:rPr lang="it-IT" sz="2400" b="1" i="1" baseline="-25000"/>
                <a:t>2</a:t>
              </a:r>
            </a:p>
          </p:txBody>
        </p:sp>
        <p:sp>
          <p:nvSpPr>
            <p:cNvPr id="690210" name="Rectangle 34"/>
            <p:cNvSpPr>
              <a:spLocks noChangeArrowheads="1"/>
            </p:cNvSpPr>
            <p:nvPr/>
          </p:nvSpPr>
          <p:spPr bwMode="auto">
            <a:xfrm>
              <a:off x="1488" y="1296"/>
              <a:ext cx="240" cy="57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400" b="1" i="1"/>
                <a:t>a</a:t>
              </a:r>
              <a:r>
                <a:rPr lang="it-IT" sz="2400" b="1" i="1" baseline="-25000"/>
                <a:t>1</a:t>
              </a:r>
            </a:p>
          </p:txBody>
        </p:sp>
      </p:grpSp>
      <p:grpSp>
        <p:nvGrpSpPr>
          <p:cNvPr id="690211" name="Group 35"/>
          <p:cNvGrpSpPr>
            <a:grpSpLocks/>
          </p:cNvGrpSpPr>
          <p:nvPr/>
        </p:nvGrpSpPr>
        <p:grpSpPr bwMode="auto">
          <a:xfrm>
            <a:off x="5655035" y="3993232"/>
            <a:ext cx="914400" cy="1219200"/>
            <a:chOff x="4128" y="2640"/>
            <a:chExt cx="624" cy="768"/>
          </a:xfrm>
        </p:grpSpPr>
        <p:sp>
          <p:nvSpPr>
            <p:cNvPr id="690212" name="Rectangle 36"/>
            <p:cNvSpPr>
              <a:spLocks noChangeArrowheads="1"/>
            </p:cNvSpPr>
            <p:nvPr/>
          </p:nvSpPr>
          <p:spPr bwMode="auto">
            <a:xfrm>
              <a:off x="4512" y="2640"/>
              <a:ext cx="240" cy="76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400" b="1" i="1"/>
                <a:t>a</a:t>
              </a:r>
              <a:r>
                <a:rPr lang="it-IT" sz="2400" b="1" i="1" baseline="-25000"/>
                <a:t>9</a:t>
              </a:r>
            </a:p>
          </p:txBody>
        </p:sp>
        <p:sp>
          <p:nvSpPr>
            <p:cNvPr id="690213" name="Rectangle 37"/>
            <p:cNvSpPr>
              <a:spLocks noChangeArrowheads="1"/>
            </p:cNvSpPr>
            <p:nvPr/>
          </p:nvSpPr>
          <p:spPr bwMode="auto">
            <a:xfrm>
              <a:off x="4128" y="2640"/>
              <a:ext cx="240" cy="57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400" b="1" i="1"/>
                <a:t>a</a:t>
              </a:r>
              <a:r>
                <a:rPr lang="it-IT" sz="2400" b="1" i="1" baseline="-25000"/>
                <a:t>8</a:t>
              </a:r>
            </a:p>
          </p:txBody>
        </p:sp>
      </p:grpSp>
      <p:sp>
        <p:nvSpPr>
          <p:cNvPr id="690214" name="Text Box 38"/>
          <p:cNvSpPr txBox="1">
            <a:spLocks noChangeArrowheads="1"/>
          </p:cNvSpPr>
          <p:nvPr/>
        </p:nvSpPr>
        <p:spPr bwMode="auto">
          <a:xfrm>
            <a:off x="732198" y="259433"/>
            <a:ext cx="7694934" cy="120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400" b="1" dirty="0"/>
              <a:t>   </a:t>
            </a:r>
            <a:r>
              <a:rPr lang="it-IT" sz="2400" b="1" i="1" dirty="0"/>
              <a:t>i</a:t>
            </a:r>
            <a:r>
              <a:rPr lang="it-IT" sz="2400" b="1" dirty="0"/>
              <a:t>          1      2     3     4     5      6      7     8     9    10   11</a:t>
            </a:r>
          </a:p>
          <a:p>
            <a:r>
              <a:rPr lang="it-IT" sz="2400" b="1" i="1" dirty="0"/>
              <a:t>  s</a:t>
            </a:r>
            <a:r>
              <a:rPr lang="it-IT" sz="2400" b="1" i="1" baseline="-25000" dirty="0"/>
              <a:t>i</a:t>
            </a:r>
            <a:r>
              <a:rPr lang="it-IT" sz="2400" b="1" dirty="0"/>
              <a:t>          1      0     1     5     3      5      6     8     8      2   12 </a:t>
            </a:r>
          </a:p>
          <a:p>
            <a:r>
              <a:rPr lang="it-IT" sz="2400" b="1" i="1" dirty="0"/>
              <a:t>  f</a:t>
            </a:r>
            <a:r>
              <a:rPr lang="it-IT" sz="2400" b="1" i="1" baseline="-25000" dirty="0"/>
              <a:t>i</a:t>
            </a:r>
            <a:r>
              <a:rPr lang="it-IT" sz="2400" b="1" dirty="0"/>
              <a:t>          4      5     6     7     8      9    10    11   12    13   14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22098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Correttezza dell’algoritmo</a:t>
            </a:r>
            <a:endParaRPr lang="en-GB"/>
          </a:p>
        </p:txBody>
      </p:sp>
      <p:sp>
        <p:nvSpPr>
          <p:cNvPr id="691203" name="Text Box 3"/>
          <p:cNvSpPr txBox="1">
            <a:spLocks noChangeArrowheads="1"/>
          </p:cNvSpPr>
          <p:nvPr/>
        </p:nvSpPr>
        <p:spPr bwMode="auto">
          <a:xfrm>
            <a:off x="703263" y="457200"/>
            <a:ext cx="7788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Cerchiamo di rispondere alla seconda domanda. </a:t>
            </a:r>
          </a:p>
        </p:txBody>
      </p:sp>
      <p:sp>
        <p:nvSpPr>
          <p:cNvPr id="691204" name="Text Box 4"/>
          <p:cNvSpPr txBox="1">
            <a:spLocks noChangeArrowheads="1"/>
          </p:cNvSpPr>
          <p:nvPr/>
        </p:nvSpPr>
        <p:spPr bwMode="auto">
          <a:xfrm>
            <a:off x="561975" y="1371600"/>
            <a:ext cx="80899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rabicParenR" startAt="2"/>
            </a:pPr>
            <a:r>
              <a:rPr lang="it-IT" sz="3200"/>
              <a:t>La soluzione trovata con l’algoritmo goloso è ottima o esistono anche soluzioni con più di quattro attività?</a:t>
            </a:r>
          </a:p>
        </p:txBody>
      </p:sp>
      <p:sp>
        <p:nvSpPr>
          <p:cNvPr id="691205" name="Text Box 5"/>
          <p:cNvSpPr txBox="1">
            <a:spLocks noChangeArrowheads="1"/>
          </p:cNvSpPr>
          <p:nvPr/>
        </p:nvSpPr>
        <p:spPr bwMode="auto">
          <a:xfrm>
            <a:off x="633413" y="3352800"/>
            <a:ext cx="7526337" cy="2540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lang="it-IT" sz="2800" b="1" i="1"/>
              <a:t>SelezioneAttivita</a:t>
            </a:r>
            <a:r>
              <a:rPr lang="it-IT" sz="2800" b="1"/>
              <a:t>(</a:t>
            </a:r>
            <a:r>
              <a:rPr lang="it-IT" sz="2800" b="1" i="1"/>
              <a:t>a</a:t>
            </a:r>
            <a:r>
              <a:rPr lang="it-IT" sz="2800" b="1"/>
              <a:t>, </a:t>
            </a:r>
            <a:r>
              <a:rPr lang="it-IT" sz="2800" b="1" i="1"/>
              <a:t>s</a:t>
            </a:r>
            <a:r>
              <a:rPr lang="it-IT" sz="2800" b="1"/>
              <a:t>, </a:t>
            </a:r>
            <a:r>
              <a:rPr lang="it-IT" sz="2800" b="1" i="1"/>
              <a:t>f</a:t>
            </a:r>
            <a:r>
              <a:rPr lang="it-IT" sz="2800" b="1"/>
              <a:t>, </a:t>
            </a:r>
            <a:r>
              <a:rPr lang="it-IT" sz="2800" b="1" i="1"/>
              <a:t>n</a:t>
            </a:r>
            <a:r>
              <a:rPr lang="it-IT" sz="2800" b="1"/>
              <a:t>)	</a:t>
            </a:r>
            <a:r>
              <a:rPr lang="it-IT" sz="2800" b="1">
                <a:solidFill>
                  <a:srgbClr val="FF0000"/>
                </a:solidFill>
                <a:sym typeface="MT Extra" charset="0"/>
              </a:rPr>
              <a:t> </a:t>
            </a:r>
            <a:r>
              <a:rPr lang="it-IT" sz="2800" b="1" i="1">
                <a:solidFill>
                  <a:srgbClr val="FF0000"/>
                </a:solidFill>
              </a:rPr>
              <a:t>f</a:t>
            </a:r>
            <a:r>
              <a:rPr lang="it-IT" sz="2800" b="1" baseline="-25000">
                <a:solidFill>
                  <a:srgbClr val="FF0000"/>
                </a:solidFill>
              </a:rPr>
              <a:t>1</a:t>
            </a:r>
            <a:r>
              <a:rPr lang="it-IT" sz="2800" b="1">
                <a:solidFill>
                  <a:srgbClr val="FF0000"/>
                </a:solidFill>
              </a:rPr>
              <a:t> </a:t>
            </a:r>
            <a:r>
              <a:rPr lang="it-IT" sz="2800" b="1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 i="1">
                <a:solidFill>
                  <a:srgbClr val="FF0000"/>
                </a:solidFill>
              </a:rPr>
              <a:t>f</a:t>
            </a:r>
            <a:r>
              <a:rPr lang="it-IT" sz="2800" b="1" baseline="-25000">
                <a:solidFill>
                  <a:srgbClr val="FF0000"/>
                </a:solidFill>
              </a:rPr>
              <a:t>2</a:t>
            </a:r>
            <a:r>
              <a:rPr lang="it-IT" sz="2800" b="1">
                <a:solidFill>
                  <a:srgbClr val="FF0000"/>
                </a:solidFill>
              </a:rPr>
              <a:t> </a:t>
            </a:r>
            <a:r>
              <a:rPr lang="it-IT" sz="2800" b="1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>
                <a:solidFill>
                  <a:srgbClr val="FF0000"/>
                </a:solidFill>
              </a:rPr>
              <a:t>... </a:t>
            </a:r>
            <a:r>
              <a:rPr lang="it-IT" sz="2800" b="1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800" b="1" i="1">
                <a:solidFill>
                  <a:srgbClr val="FF0000"/>
                </a:solidFill>
              </a:rPr>
              <a:t>f</a:t>
            </a:r>
            <a:r>
              <a:rPr lang="it-IT" sz="2800" b="1" i="1" baseline="-25000">
                <a:solidFill>
                  <a:srgbClr val="FF0000"/>
                </a:solidFill>
              </a:rPr>
              <a:t>n</a:t>
            </a:r>
            <a:endParaRPr lang="it-IT" sz="2800" b="1"/>
          </a:p>
          <a:p>
            <a:pPr>
              <a:lnSpc>
                <a:spcPct val="95000"/>
              </a:lnSpc>
            </a:pPr>
            <a:r>
              <a:rPr lang="it-IT" sz="2800" b="1"/>
              <a:t>   </a:t>
            </a:r>
            <a:r>
              <a:rPr lang="it-IT" sz="2800" b="1" i="1"/>
              <a:t>b</a:t>
            </a:r>
            <a:r>
              <a:rPr lang="it-IT" sz="2800" b="1" baseline="-25000"/>
              <a:t>1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 </a:t>
            </a:r>
            <a:r>
              <a:rPr lang="it-IT" sz="2800" b="1" i="1"/>
              <a:t>a</a:t>
            </a:r>
            <a:r>
              <a:rPr lang="it-IT" sz="2800" b="1" baseline="-25000"/>
              <a:t>1</a:t>
            </a:r>
            <a:r>
              <a:rPr lang="it-IT" sz="2800" b="1">
                <a:sym typeface="Symbol" charset="0"/>
              </a:rPr>
              <a:t>, 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  1</a:t>
            </a:r>
            <a:r>
              <a:rPr lang="it-IT" sz="2800" b="1"/>
              <a:t>, </a:t>
            </a:r>
            <a:r>
              <a:rPr lang="it-IT" sz="2800" b="1" i="1"/>
              <a:t>maxf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 i="1"/>
              <a:t>f</a:t>
            </a:r>
            <a:r>
              <a:rPr lang="it-IT" sz="2800" b="1" baseline="-25000"/>
              <a:t>1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for </a:t>
            </a:r>
            <a:r>
              <a:rPr lang="it-IT" sz="2800" b="1" i="1"/>
              <a:t>i </a:t>
            </a:r>
            <a:r>
              <a:rPr lang="it-IT" sz="2800" b="1">
                <a:sym typeface="Symbol" charset="0"/>
              </a:rPr>
              <a:t> 2</a:t>
            </a:r>
            <a:r>
              <a:rPr lang="it-IT" sz="2800" b="1"/>
              <a:t> to </a:t>
            </a:r>
            <a:r>
              <a:rPr lang="it-IT" sz="2800" b="1" i="1"/>
              <a:t>n</a:t>
            </a:r>
            <a:r>
              <a:rPr lang="it-IT" sz="2800" b="1"/>
              <a:t> do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   if </a:t>
            </a:r>
            <a:r>
              <a:rPr lang="it-IT" sz="2800" b="1" i="1"/>
              <a:t>s</a:t>
            </a:r>
            <a:r>
              <a:rPr lang="it-IT" sz="2800" b="1" i="1" baseline="-25000"/>
              <a:t>i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</a:t>
            </a:r>
            <a:r>
              <a:rPr lang="it-IT" sz="2800" b="1"/>
              <a:t> </a:t>
            </a:r>
            <a:r>
              <a:rPr lang="it-IT" sz="2800" b="1" i="1"/>
              <a:t>maxf</a:t>
            </a:r>
            <a:r>
              <a:rPr lang="it-IT" sz="2800" b="1"/>
              <a:t> then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     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+1</a:t>
            </a:r>
            <a:r>
              <a:rPr lang="it-IT" sz="2800" b="1"/>
              <a:t>, </a:t>
            </a:r>
            <a:r>
              <a:rPr lang="it-IT" sz="2800" b="1" i="1"/>
              <a:t>b</a:t>
            </a:r>
            <a:r>
              <a:rPr lang="it-IT" sz="2800" b="1" i="1" baseline="-25000"/>
              <a:t>k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 </a:t>
            </a:r>
            <a:r>
              <a:rPr lang="it-IT" sz="2800" b="1" i="1"/>
              <a:t>a</a:t>
            </a:r>
            <a:r>
              <a:rPr lang="it-IT" sz="2800" b="1" i="1" baseline="-25000"/>
              <a:t>i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/>
              <a:t>maxf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 i="1"/>
              <a:t>f</a:t>
            </a:r>
            <a:r>
              <a:rPr lang="it-IT" sz="2800" b="1" i="1" baseline="-25000"/>
              <a:t>i</a:t>
            </a:r>
            <a:endParaRPr lang="it-IT" sz="2800" b="1"/>
          </a:p>
          <a:p>
            <a:pPr>
              <a:lnSpc>
                <a:spcPct val="95000"/>
              </a:lnSpc>
            </a:pPr>
            <a:r>
              <a:rPr lang="it-IT" sz="2800" b="1"/>
              <a:t>   return </a:t>
            </a:r>
            <a:r>
              <a:rPr lang="it-IT" sz="2800" b="1" i="1"/>
              <a:t>b</a:t>
            </a:r>
            <a:r>
              <a:rPr lang="it-IT" sz="2800" b="1"/>
              <a:t>, </a:t>
            </a:r>
            <a:r>
              <a:rPr lang="it-IT" sz="2800" b="1" i="1"/>
              <a:t>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Text Box 2"/>
          <p:cNvSpPr txBox="1">
            <a:spLocks noChangeArrowheads="1"/>
          </p:cNvSpPr>
          <p:nvPr/>
        </p:nvSpPr>
        <p:spPr bwMode="auto">
          <a:xfrm>
            <a:off x="633413" y="1600200"/>
            <a:ext cx="77882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L’algoritmo comincia con scegliere la prima attività </a:t>
            </a:r>
            <a:r>
              <a:rPr lang="it-IT" b="1" i="1"/>
              <a:t>a</a:t>
            </a:r>
            <a:r>
              <a:rPr lang="it-IT" b="1" i="1" baseline="-25000"/>
              <a:t>1</a:t>
            </a:r>
            <a:r>
              <a:rPr lang="it-IT"/>
              <a:t> (quella con tempo di fine minimo). </a:t>
            </a:r>
          </a:p>
        </p:txBody>
      </p:sp>
      <p:sp>
        <p:nvSpPr>
          <p:cNvPr id="692227" name="Text Box 3"/>
          <p:cNvSpPr txBox="1">
            <a:spLocks noChangeArrowheads="1"/>
          </p:cNvSpPr>
          <p:nvPr/>
        </p:nvSpPr>
        <p:spPr bwMode="auto">
          <a:xfrm>
            <a:off x="609600" y="3124200"/>
            <a:ext cx="7788275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Siamo sicuri che questa scelta non possa compromettere il risultato? </a:t>
            </a:r>
          </a:p>
          <a:p>
            <a:pPr>
              <a:spcBef>
                <a:spcPct val="100000"/>
              </a:spcBef>
            </a:pPr>
            <a:r>
              <a:rPr lang="it-IT"/>
              <a:t>In altre parole: esiste sempre una soluzione ottima che contiene </a:t>
            </a:r>
            <a:r>
              <a:rPr lang="it-IT" b="1" i="1"/>
              <a:t>a</a:t>
            </a:r>
            <a:r>
              <a:rPr lang="it-IT" sz="3600" b="1" i="1" baseline="-25000"/>
              <a:t>1</a:t>
            </a:r>
            <a:r>
              <a:rPr lang="it-IT"/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8329613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u="sng"/>
              <a:t>La risposta è affermativa</a:t>
            </a:r>
            <a:r>
              <a:rPr lang="it-IT" i="1" u="sng"/>
              <a:t>.</a:t>
            </a:r>
            <a:r>
              <a:rPr lang="it-IT"/>
              <a:t> </a:t>
            </a:r>
          </a:p>
          <a:p>
            <a:pPr>
              <a:spcBef>
                <a:spcPct val="50000"/>
              </a:spcBef>
            </a:pPr>
            <a:r>
              <a:rPr lang="it-IT"/>
              <a:t>Sia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m </a:t>
            </a:r>
            <a:r>
              <a:rPr lang="it-IT"/>
              <a:t>una qualsiasi soluzione ottima (ne esiste certamente almeno una) che supponiamo ordinata per tempo di fine.</a:t>
            </a:r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984250" y="3276600"/>
            <a:ext cx="1336675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b</a:t>
            </a:r>
            <a:r>
              <a:rPr lang="it-IT" sz="2800" b="1" i="1" baseline="-25000"/>
              <a:t>1</a:t>
            </a:r>
          </a:p>
        </p:txBody>
      </p:sp>
      <p:sp>
        <p:nvSpPr>
          <p:cNvPr id="693252" name="Rectangle 4"/>
          <p:cNvSpPr>
            <a:spLocks noChangeArrowheads="1"/>
          </p:cNvSpPr>
          <p:nvPr/>
        </p:nvSpPr>
        <p:spPr bwMode="auto">
          <a:xfrm>
            <a:off x="2532063" y="3276600"/>
            <a:ext cx="703262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b</a:t>
            </a:r>
            <a:r>
              <a:rPr lang="it-IT" sz="2800" b="1" i="1" baseline="-25000"/>
              <a:t>2</a:t>
            </a: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6681788" y="3276600"/>
            <a:ext cx="7747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b</a:t>
            </a:r>
            <a:r>
              <a:rPr lang="it-IT" sz="2800" b="1" i="1" baseline="-25000"/>
              <a:t>m</a:t>
            </a:r>
          </a:p>
        </p:txBody>
      </p:sp>
      <p:sp>
        <p:nvSpPr>
          <p:cNvPr id="693254" name="Rectangle 6"/>
          <p:cNvSpPr>
            <a:spLocks noChangeArrowheads="1"/>
          </p:cNvSpPr>
          <p:nvPr/>
        </p:nvSpPr>
        <p:spPr bwMode="auto">
          <a:xfrm>
            <a:off x="3516313" y="3276600"/>
            <a:ext cx="288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…………………..</a:t>
            </a:r>
            <a:endParaRPr lang="it-IT" sz="2800" b="1" i="1" baseline="-25000"/>
          </a:p>
        </p:txBody>
      </p:sp>
      <p:sp>
        <p:nvSpPr>
          <p:cNvPr id="693255" name="Rectangle 7"/>
          <p:cNvSpPr>
            <a:spLocks noChangeArrowheads="1"/>
          </p:cNvSpPr>
          <p:nvPr/>
        </p:nvSpPr>
        <p:spPr bwMode="auto">
          <a:xfrm>
            <a:off x="1266825" y="4724400"/>
            <a:ext cx="773113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a</a:t>
            </a:r>
            <a:r>
              <a:rPr lang="it-IT" sz="2800" b="1" i="1" baseline="-25000"/>
              <a:t>1</a:t>
            </a:r>
          </a:p>
        </p:txBody>
      </p:sp>
      <p:grpSp>
        <p:nvGrpSpPr>
          <p:cNvPr id="693256" name="Group 8"/>
          <p:cNvGrpSpPr>
            <a:grpSpLocks/>
          </p:cNvGrpSpPr>
          <p:nvPr/>
        </p:nvGrpSpPr>
        <p:grpSpPr bwMode="auto">
          <a:xfrm>
            <a:off x="1266825" y="4724400"/>
            <a:ext cx="6189663" cy="457200"/>
            <a:chOff x="864" y="3456"/>
            <a:chExt cx="4224" cy="288"/>
          </a:xfrm>
        </p:grpSpPr>
        <p:sp>
          <p:nvSpPr>
            <p:cNvPr id="693257" name="Rectangle 9"/>
            <p:cNvSpPr>
              <a:spLocks noChangeArrowheads="1"/>
            </p:cNvSpPr>
            <p:nvPr/>
          </p:nvSpPr>
          <p:spPr bwMode="auto">
            <a:xfrm>
              <a:off x="1728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2</a:t>
              </a:r>
            </a:p>
          </p:txBody>
        </p:sp>
        <p:sp>
          <p:nvSpPr>
            <p:cNvPr id="693258" name="Rectangle 10"/>
            <p:cNvSpPr>
              <a:spLocks noChangeArrowheads="1"/>
            </p:cNvSpPr>
            <p:nvPr/>
          </p:nvSpPr>
          <p:spPr bwMode="auto">
            <a:xfrm>
              <a:off x="4560" y="3456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m</a:t>
              </a:r>
            </a:p>
          </p:txBody>
        </p:sp>
        <p:sp>
          <p:nvSpPr>
            <p:cNvPr id="693259" name="Rectangle 11"/>
            <p:cNvSpPr>
              <a:spLocks noChangeArrowheads="1"/>
            </p:cNvSpPr>
            <p:nvPr/>
          </p:nvSpPr>
          <p:spPr bwMode="auto">
            <a:xfrm>
              <a:off x="2400" y="3456"/>
              <a:ext cx="19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…………………..</a:t>
              </a:r>
              <a:endParaRPr lang="it-IT" sz="2800" b="1" i="1" baseline="-25000"/>
            </a:p>
          </p:txBody>
        </p:sp>
        <p:sp>
          <p:nvSpPr>
            <p:cNvPr id="693260" name="Rectangle 12"/>
            <p:cNvSpPr>
              <a:spLocks noChangeArrowheads="1"/>
            </p:cNvSpPr>
            <p:nvPr/>
          </p:nvSpPr>
          <p:spPr bwMode="auto">
            <a:xfrm>
              <a:off x="864" y="3456"/>
              <a:ext cx="52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a</a:t>
              </a:r>
              <a:r>
                <a:rPr lang="it-IT" sz="2800" b="1" i="1" baseline="-25000"/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492125" y="3810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rabicPeriod"/>
            </a:pPr>
            <a:r>
              <a:rPr lang="it-IT" sz="3200"/>
              <a:t>le attività </a:t>
            </a:r>
            <a:r>
              <a:rPr lang="it-IT" sz="3200" b="1" i="1"/>
              <a:t>b</a:t>
            </a:r>
            <a:r>
              <a:rPr lang="it-IT" sz="3600" b="1" i="1" baseline="-25000"/>
              <a:t>2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 sono compatibili con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 e terminano dopo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.</a:t>
            </a:r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492125" y="16002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2"/>
            </a:pPr>
            <a:r>
              <a:rPr lang="it-IT" sz="3200"/>
              <a:t>Esse hanno quindi tempo di inizio maggiore o uguale al tempo di fine </a:t>
            </a:r>
            <a:r>
              <a:rPr lang="it-IT" sz="3200" b="1" i="1"/>
              <a:t>f</a:t>
            </a:r>
            <a:r>
              <a:rPr lang="it-IT" sz="3200"/>
              <a:t> di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.</a:t>
            </a:r>
          </a:p>
        </p:txBody>
      </p:sp>
      <p:sp>
        <p:nvSpPr>
          <p:cNvPr id="694276" name="Text Box 4"/>
          <p:cNvSpPr txBox="1">
            <a:spLocks noChangeArrowheads="1"/>
          </p:cNvSpPr>
          <p:nvPr/>
        </p:nvSpPr>
        <p:spPr bwMode="auto">
          <a:xfrm>
            <a:off x="492125" y="27432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3"/>
            </a:pPr>
            <a:r>
              <a:rPr lang="it-IT" sz="3200"/>
              <a:t>Ma</a:t>
            </a:r>
            <a:r>
              <a:rPr lang="it-IT" sz="3200" b="1" i="1"/>
              <a:t> a</a:t>
            </a:r>
            <a:r>
              <a:rPr lang="it-IT" sz="3200" b="1" i="1" baseline="-25000"/>
              <a:t>1</a:t>
            </a:r>
            <a:r>
              <a:rPr lang="it-IT" sz="3200"/>
              <a:t> ha il tempo di fine </a:t>
            </a:r>
            <a:r>
              <a:rPr lang="it-IT" sz="3200" b="1" i="1">
                <a:sym typeface="Symbol" charset="0"/>
              </a:rPr>
              <a:t>f</a:t>
            </a:r>
            <a:r>
              <a:rPr lang="it-IT" sz="3600" b="1" i="1" baseline="-25000"/>
              <a:t>1</a:t>
            </a:r>
            <a:r>
              <a:rPr lang="it-IT" sz="3200"/>
              <a:t> minimo in assoluto e quindi termina prima di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>
                <a:sym typeface="Symbol" charset="0"/>
              </a:rPr>
              <a:t>. </a:t>
            </a:r>
          </a:p>
        </p:txBody>
      </p:sp>
      <p:sp>
        <p:nvSpPr>
          <p:cNvPr id="694277" name="Text Box 5"/>
          <p:cNvSpPr txBox="1">
            <a:spLocks noChangeArrowheads="1"/>
          </p:cNvSpPr>
          <p:nvPr/>
        </p:nvSpPr>
        <p:spPr bwMode="auto">
          <a:xfrm>
            <a:off x="492125" y="46482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Dunque </a:t>
            </a:r>
            <a:r>
              <a:rPr lang="it-IT" b="1" i="1"/>
              <a:t>a</a:t>
            </a:r>
            <a:r>
              <a:rPr lang="it-IT" sz="3600" b="1" i="1" baseline="-25000"/>
              <a:t>1</a:t>
            </a:r>
            <a:r>
              <a:rPr lang="it-IT"/>
              <a:t>, </a:t>
            </a:r>
            <a:r>
              <a:rPr lang="it-IT" b="1" i="1"/>
              <a:t>b</a:t>
            </a:r>
            <a:r>
              <a:rPr lang="it-IT" sz="3600" b="1" i="1" baseline="-25000"/>
              <a:t>2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m</a:t>
            </a:r>
            <a:r>
              <a:rPr lang="it-IT"/>
              <a:t> è una soluzione ottima che contiene </a:t>
            </a:r>
            <a:r>
              <a:rPr lang="it-IT" b="1" i="1"/>
              <a:t>a</a:t>
            </a:r>
            <a:r>
              <a:rPr lang="it-IT" sz="3600" b="1" i="1" baseline="-25000"/>
              <a:t>1</a:t>
            </a:r>
            <a:r>
              <a:rPr lang="it-IT"/>
              <a:t>.</a:t>
            </a:r>
          </a:p>
        </p:txBody>
      </p:sp>
      <p:sp>
        <p:nvSpPr>
          <p:cNvPr id="694278" name="Text Box 6"/>
          <p:cNvSpPr txBox="1">
            <a:spLocks noChangeArrowheads="1"/>
          </p:cNvSpPr>
          <p:nvPr/>
        </p:nvSpPr>
        <p:spPr bwMode="auto">
          <a:xfrm>
            <a:off x="492125" y="38862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4"/>
            </a:pPr>
            <a:r>
              <a:rPr lang="it-IT" sz="3200">
                <a:sym typeface="Symbol" charset="0"/>
              </a:rPr>
              <a:t>Quindi anche </a:t>
            </a:r>
            <a:r>
              <a:rPr lang="it-IT" sz="3200" b="1" i="1"/>
              <a:t>a</a:t>
            </a:r>
            <a:r>
              <a:rPr lang="it-IT" sz="3600" b="1" i="1" baseline="-25000"/>
              <a:t>1</a:t>
            </a:r>
            <a:r>
              <a:rPr lang="it-IT" sz="3200"/>
              <a:t> è compatibile con </a:t>
            </a:r>
            <a:r>
              <a:rPr lang="it-IT" sz="3200" b="1" i="1"/>
              <a:t>b</a:t>
            </a:r>
            <a:r>
              <a:rPr lang="it-IT" sz="3600" b="1" i="1" baseline="-25000"/>
              <a:t>2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882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 sz="2800" b="1" i="1"/>
              <a:t>maxf</a:t>
            </a:r>
            <a:r>
              <a:rPr lang="it-IT"/>
              <a:t> viene posto ad </a:t>
            </a:r>
            <a:r>
              <a:rPr lang="it-IT" b="1" i="1"/>
              <a:t>f</a:t>
            </a:r>
            <a:r>
              <a:rPr lang="it-IT" b="1" baseline="-25000"/>
              <a:t>1</a:t>
            </a:r>
            <a:r>
              <a:rPr lang="it-IT"/>
              <a:t> ed aggiornato ad </a:t>
            </a:r>
            <a:r>
              <a:rPr lang="it-IT" b="1" i="1"/>
              <a:t>f</a:t>
            </a:r>
            <a:r>
              <a:rPr lang="it-IT" b="1" i="1" baseline="-25000"/>
              <a:t>i</a:t>
            </a:r>
            <a:r>
              <a:rPr lang="it-IT" b="1"/>
              <a:t> </a:t>
            </a:r>
            <a:r>
              <a:rPr lang="it-IT"/>
              <a:t>ogni volta che si seleziona una nuova attività </a:t>
            </a:r>
            <a:r>
              <a:rPr lang="it-IT" b="1" i="1"/>
              <a:t>a</a:t>
            </a:r>
            <a:r>
              <a:rPr lang="it-IT" sz="3600" b="1" i="1" baseline="-25000"/>
              <a:t>i</a:t>
            </a:r>
            <a:r>
              <a:rPr lang="it-IT"/>
              <a:t>. </a:t>
            </a:r>
          </a:p>
        </p:txBody>
      </p:sp>
      <p:sp>
        <p:nvSpPr>
          <p:cNvPr id="695299" name="Text Box 3"/>
          <p:cNvSpPr txBox="1">
            <a:spLocks noChangeArrowheads="1"/>
          </p:cNvSpPr>
          <p:nvPr/>
        </p:nvSpPr>
        <p:spPr bwMode="auto">
          <a:xfrm>
            <a:off x="609600" y="4495800"/>
            <a:ext cx="778827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Siccome le attività sono ordinate per tempo di fine non decrescente, </a:t>
            </a:r>
            <a:r>
              <a:rPr lang="it-IT" sz="2800" b="1" i="1"/>
              <a:t>maxf</a:t>
            </a:r>
            <a:r>
              <a:rPr lang="it-IT" sz="3600" b="1" i="1" baseline="-25000"/>
              <a:t>  </a:t>
            </a:r>
            <a:r>
              <a:rPr lang="it-IT"/>
              <a:t>è il massimo tempo finale delle attività precedentemente selezionate.</a:t>
            </a:r>
          </a:p>
        </p:txBody>
      </p:sp>
      <p:sp>
        <p:nvSpPr>
          <p:cNvPr id="695300" name="Text Box 4"/>
          <p:cNvSpPr txBox="1">
            <a:spLocks noChangeArrowheads="1"/>
          </p:cNvSpPr>
          <p:nvPr/>
        </p:nvSpPr>
        <p:spPr bwMode="auto">
          <a:xfrm>
            <a:off x="1687513" y="1905000"/>
            <a:ext cx="5346700" cy="25400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lang="it-IT" sz="2800" b="1" i="1"/>
              <a:t>SelezioneAttivita</a:t>
            </a:r>
            <a:r>
              <a:rPr lang="it-IT" sz="2800" b="1"/>
              <a:t>(</a:t>
            </a:r>
            <a:r>
              <a:rPr lang="it-IT" sz="2800" b="1" i="1"/>
              <a:t>a</a:t>
            </a:r>
            <a:r>
              <a:rPr lang="it-IT" sz="2800" b="1"/>
              <a:t>, </a:t>
            </a:r>
            <a:r>
              <a:rPr lang="it-IT" sz="2800" b="1" i="1"/>
              <a:t>s</a:t>
            </a:r>
            <a:r>
              <a:rPr lang="it-IT" sz="2800" b="1"/>
              <a:t>, </a:t>
            </a:r>
            <a:r>
              <a:rPr lang="it-IT" sz="2800" b="1" i="1"/>
              <a:t>f</a:t>
            </a:r>
            <a:r>
              <a:rPr lang="it-IT" sz="2800" b="1"/>
              <a:t>, </a:t>
            </a:r>
            <a:r>
              <a:rPr lang="it-IT" sz="2800" b="1" i="1"/>
              <a:t>n</a:t>
            </a:r>
            <a:r>
              <a:rPr lang="it-IT" sz="2800" b="1"/>
              <a:t>) 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</a:t>
            </a:r>
            <a:r>
              <a:rPr lang="it-IT" sz="2800" b="1" i="1"/>
              <a:t>b</a:t>
            </a:r>
            <a:r>
              <a:rPr lang="it-IT" sz="2800" b="1" baseline="-25000"/>
              <a:t>1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 </a:t>
            </a:r>
            <a:r>
              <a:rPr lang="it-IT" sz="2800" b="1" i="1"/>
              <a:t>a</a:t>
            </a:r>
            <a:r>
              <a:rPr lang="it-IT" sz="2800" b="1" baseline="-25000"/>
              <a:t>1</a:t>
            </a:r>
            <a:r>
              <a:rPr lang="it-IT" sz="2800" b="1">
                <a:sym typeface="Symbol" charset="0"/>
              </a:rPr>
              <a:t>, 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  1</a:t>
            </a:r>
            <a:r>
              <a:rPr lang="it-IT" sz="2800" b="1"/>
              <a:t>, </a:t>
            </a:r>
            <a:r>
              <a:rPr lang="it-IT" sz="2800" b="1" i="1"/>
              <a:t>maxf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 i="1"/>
              <a:t>f</a:t>
            </a:r>
            <a:r>
              <a:rPr lang="it-IT" sz="2800" b="1" baseline="-25000"/>
              <a:t>1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for </a:t>
            </a:r>
            <a:r>
              <a:rPr lang="it-IT" sz="2800" b="1" i="1"/>
              <a:t>i </a:t>
            </a:r>
            <a:r>
              <a:rPr lang="it-IT" sz="2800" b="1">
                <a:sym typeface="Symbol" charset="0"/>
              </a:rPr>
              <a:t> 2</a:t>
            </a:r>
            <a:r>
              <a:rPr lang="it-IT" sz="2800" b="1"/>
              <a:t> to </a:t>
            </a:r>
            <a:r>
              <a:rPr lang="it-IT" sz="2800" b="1" i="1"/>
              <a:t>n</a:t>
            </a:r>
            <a:r>
              <a:rPr lang="it-IT" sz="2800" b="1"/>
              <a:t> do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   if </a:t>
            </a:r>
            <a:r>
              <a:rPr lang="it-IT" sz="2800" b="1" i="1"/>
              <a:t>s</a:t>
            </a:r>
            <a:r>
              <a:rPr lang="it-IT" sz="2800" b="1" i="1" baseline="-25000"/>
              <a:t>i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</a:t>
            </a:r>
            <a:r>
              <a:rPr lang="it-IT" sz="2800" b="1"/>
              <a:t> </a:t>
            </a:r>
            <a:r>
              <a:rPr lang="it-IT" sz="2800" b="1" i="1"/>
              <a:t>maxf</a:t>
            </a:r>
            <a:r>
              <a:rPr lang="it-IT" sz="2800" b="1"/>
              <a:t> then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     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+1</a:t>
            </a:r>
            <a:r>
              <a:rPr lang="it-IT" sz="2800" b="1"/>
              <a:t>, </a:t>
            </a:r>
            <a:r>
              <a:rPr lang="it-IT" sz="2800" b="1" i="1"/>
              <a:t>b</a:t>
            </a:r>
            <a:r>
              <a:rPr lang="it-IT" sz="2800" b="1" i="1" baseline="-25000"/>
              <a:t>k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 </a:t>
            </a:r>
            <a:r>
              <a:rPr lang="it-IT" sz="2800" b="1" i="1"/>
              <a:t>a</a:t>
            </a:r>
            <a:r>
              <a:rPr lang="it-IT" sz="2800" b="1" i="1" baseline="-25000"/>
              <a:t>i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/>
              <a:t>maxf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 i="1"/>
              <a:t>f</a:t>
            </a:r>
            <a:r>
              <a:rPr lang="it-IT" sz="2800" b="1" i="1" baseline="-25000"/>
              <a:t>i</a:t>
            </a:r>
            <a:endParaRPr lang="it-IT" sz="2800" b="1"/>
          </a:p>
          <a:p>
            <a:pPr>
              <a:lnSpc>
                <a:spcPct val="95000"/>
              </a:lnSpc>
            </a:pPr>
            <a:r>
              <a:rPr lang="it-IT" sz="2800" b="1"/>
              <a:t>   return </a:t>
            </a:r>
            <a:r>
              <a:rPr lang="it-IT" sz="2800" b="1" i="1"/>
              <a:t>b</a:t>
            </a:r>
            <a:r>
              <a:rPr lang="it-IT" sz="2800" b="1"/>
              <a:t>, </a:t>
            </a:r>
            <a:r>
              <a:rPr lang="it-IT" sz="2800" b="1" i="1"/>
              <a:t>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7788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Con il test:</a:t>
            </a:r>
          </a:p>
        </p:txBody>
      </p:sp>
      <p:sp>
        <p:nvSpPr>
          <p:cNvPr id="696323" name="Text Box 3"/>
          <p:cNvSpPr txBox="1">
            <a:spLocks noChangeArrowheads="1"/>
          </p:cNvSpPr>
          <p:nvPr/>
        </p:nvSpPr>
        <p:spPr bwMode="auto">
          <a:xfrm>
            <a:off x="609600" y="3810000"/>
            <a:ext cx="80772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Siamo sicuri che questa scelta non comprometta il risultato? </a:t>
            </a:r>
          </a:p>
          <a:p>
            <a:pPr>
              <a:spcBef>
                <a:spcPct val="50000"/>
              </a:spcBef>
            </a:pPr>
            <a:r>
              <a:rPr lang="it-IT"/>
              <a:t>In altre parole: esiste sempre una soluzione ottima che contiene </a:t>
            </a:r>
            <a:r>
              <a:rPr lang="it-IT" b="1" i="1"/>
              <a:t>a</a:t>
            </a:r>
            <a:r>
              <a:rPr lang="it-IT" sz="3600" b="1" i="1" baseline="-25000"/>
              <a:t>i</a:t>
            </a:r>
            <a:r>
              <a:rPr lang="it-IT"/>
              <a:t> e le attività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 finora scelte?</a:t>
            </a:r>
          </a:p>
        </p:txBody>
      </p:sp>
      <p:sp>
        <p:nvSpPr>
          <p:cNvPr id="696324" name="Text Box 4"/>
          <p:cNvSpPr txBox="1">
            <a:spLocks noChangeArrowheads="1"/>
          </p:cNvSpPr>
          <p:nvPr/>
        </p:nvSpPr>
        <p:spPr bwMode="auto">
          <a:xfrm>
            <a:off x="609600" y="2438400"/>
            <a:ext cx="807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l’algoritmo seleziona la prima attività </a:t>
            </a:r>
            <a:r>
              <a:rPr lang="it-IT" b="1" i="1"/>
              <a:t>a</a:t>
            </a:r>
            <a:r>
              <a:rPr lang="it-IT" sz="3600" b="1" i="1" baseline="-25000"/>
              <a:t>i</a:t>
            </a:r>
            <a:r>
              <a:rPr lang="it-IT"/>
              <a:t> il cui tempo di inizio </a:t>
            </a:r>
            <a:r>
              <a:rPr lang="it-IT" b="1" i="1"/>
              <a:t>s</a:t>
            </a:r>
            <a:r>
              <a:rPr lang="it-IT" sz="3600" b="1" i="1" baseline="-25000"/>
              <a:t>i</a:t>
            </a:r>
            <a:r>
              <a:rPr lang="it-IT"/>
              <a:t> è maggiore o uguale di </a:t>
            </a:r>
            <a:r>
              <a:rPr lang="it-IT" sz="2800" b="1" i="1"/>
              <a:t>maxf</a:t>
            </a:r>
            <a:r>
              <a:rPr lang="it-IT"/>
              <a:t>. </a:t>
            </a:r>
          </a:p>
        </p:txBody>
      </p:sp>
      <p:sp>
        <p:nvSpPr>
          <p:cNvPr id="696325" name="Text Box 5"/>
          <p:cNvSpPr txBox="1">
            <a:spLocks noChangeArrowheads="1"/>
          </p:cNvSpPr>
          <p:nvPr/>
        </p:nvSpPr>
        <p:spPr bwMode="auto">
          <a:xfrm>
            <a:off x="1617663" y="1371600"/>
            <a:ext cx="5345112" cy="914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lang="it-IT" sz="2800" b="1"/>
              <a:t>      if </a:t>
            </a:r>
            <a:r>
              <a:rPr lang="it-IT" sz="2800" b="1" i="1"/>
              <a:t>s</a:t>
            </a:r>
            <a:r>
              <a:rPr lang="it-IT" sz="2800" b="1" i="1" baseline="-25000"/>
              <a:t>i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</a:t>
            </a:r>
            <a:r>
              <a:rPr lang="it-IT" sz="2800" b="1"/>
              <a:t> </a:t>
            </a:r>
            <a:r>
              <a:rPr lang="it-IT" sz="2800" b="1" i="1"/>
              <a:t>maxf</a:t>
            </a:r>
            <a:r>
              <a:rPr lang="it-IT" sz="2800" b="1"/>
              <a:t> then</a:t>
            </a:r>
          </a:p>
          <a:p>
            <a:pPr>
              <a:lnSpc>
                <a:spcPct val="95000"/>
              </a:lnSpc>
            </a:pPr>
            <a:r>
              <a:rPr lang="it-IT" sz="2800" b="1"/>
              <a:t>        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k</a:t>
            </a:r>
            <a:r>
              <a:rPr lang="it-IT" sz="2800" b="1">
                <a:sym typeface="Symbol" charset="0"/>
              </a:rPr>
              <a:t>+1</a:t>
            </a:r>
            <a:r>
              <a:rPr lang="it-IT" sz="2800" b="1"/>
              <a:t>, </a:t>
            </a:r>
            <a:r>
              <a:rPr lang="it-IT" sz="2800" b="1" i="1"/>
              <a:t>b</a:t>
            </a:r>
            <a:r>
              <a:rPr lang="it-IT" sz="2800" b="1" i="1" baseline="-25000"/>
              <a:t>k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 </a:t>
            </a:r>
            <a:r>
              <a:rPr lang="it-IT" sz="2800" b="1" i="1"/>
              <a:t>a</a:t>
            </a:r>
            <a:r>
              <a:rPr lang="it-IT" sz="2800" b="1" i="1" baseline="-25000"/>
              <a:t>i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/>
              <a:t>maxf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 i="1"/>
              <a:t>f</a:t>
            </a:r>
            <a:r>
              <a:rPr lang="it-IT" sz="2800" b="1" i="1" baseline="-25000"/>
              <a:t>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Text Box 2"/>
          <p:cNvSpPr txBox="1">
            <a:spLocks noChangeArrowheads="1"/>
          </p:cNvSpPr>
          <p:nvPr/>
        </p:nvSpPr>
        <p:spPr bwMode="auto">
          <a:xfrm>
            <a:off x="492125" y="228600"/>
            <a:ext cx="8159750" cy="277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 b="1" u="sng"/>
              <a:t>La risposta è ancora affermativa</a:t>
            </a:r>
            <a:r>
              <a:rPr lang="it-IT" i="1" u="sng"/>
              <a:t>.</a:t>
            </a:r>
            <a:r>
              <a:rPr lang="it-IT"/>
              <a:t> </a:t>
            </a:r>
          </a:p>
          <a:p>
            <a:pPr>
              <a:spcBef>
                <a:spcPct val="50000"/>
              </a:spcBef>
            </a:pPr>
            <a:r>
              <a:rPr lang="it-IT"/>
              <a:t>Assumiamo induttivamente che esista una soluzione ottima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, </a:t>
            </a:r>
            <a:r>
              <a:rPr lang="it-IT" b="1" i="1"/>
              <a:t>b</a:t>
            </a:r>
            <a:r>
              <a:rPr lang="it-IT" sz="3600" b="1" i="1" baseline="-25000"/>
              <a:t>k+1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m</a:t>
            </a:r>
            <a:r>
              <a:rPr lang="it-IT"/>
              <a:t> che estende le attività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 finora scelte e supponiamo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  e </a:t>
            </a:r>
            <a:r>
              <a:rPr lang="it-IT" b="1" i="1"/>
              <a:t>b</a:t>
            </a:r>
            <a:r>
              <a:rPr lang="it-IT" sz="3600" b="1" i="1" baseline="-25000"/>
              <a:t>k+1</a:t>
            </a:r>
            <a:r>
              <a:rPr lang="it-IT"/>
              <a:t>, ... ,</a:t>
            </a:r>
            <a:r>
              <a:rPr lang="it-IT" b="1" i="1"/>
              <a:t>b</a:t>
            </a:r>
            <a:r>
              <a:rPr lang="it-IT" sz="3600" b="1" i="1" baseline="-25000"/>
              <a:t>m</a:t>
            </a:r>
            <a:r>
              <a:rPr lang="it-IT"/>
              <a:t> ordinate per tempo di fine.</a:t>
            </a:r>
          </a:p>
        </p:txBody>
      </p:sp>
      <p:sp>
        <p:nvSpPr>
          <p:cNvPr id="697347" name="Rectangle 3"/>
          <p:cNvSpPr>
            <a:spLocks noChangeArrowheads="1"/>
          </p:cNvSpPr>
          <p:nvPr/>
        </p:nvSpPr>
        <p:spPr bwMode="auto">
          <a:xfrm>
            <a:off x="4105275" y="5300663"/>
            <a:ext cx="7747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a</a:t>
            </a:r>
            <a:r>
              <a:rPr lang="it-IT" sz="2800" b="1" i="1" baseline="-25000"/>
              <a:t>i</a:t>
            </a:r>
          </a:p>
        </p:txBody>
      </p:sp>
      <p:grpSp>
        <p:nvGrpSpPr>
          <p:cNvPr id="697348" name="Group 4"/>
          <p:cNvGrpSpPr>
            <a:grpSpLocks/>
          </p:cNvGrpSpPr>
          <p:nvPr/>
        </p:nvGrpSpPr>
        <p:grpSpPr bwMode="auto">
          <a:xfrm>
            <a:off x="715963" y="5300663"/>
            <a:ext cx="7315200" cy="457200"/>
            <a:chOff x="480" y="3456"/>
            <a:chExt cx="4992" cy="288"/>
          </a:xfrm>
        </p:grpSpPr>
        <p:sp>
          <p:nvSpPr>
            <p:cNvPr id="697349" name="Rectangle 5"/>
            <p:cNvSpPr>
              <a:spLocks noChangeArrowheads="1"/>
            </p:cNvSpPr>
            <p:nvPr/>
          </p:nvSpPr>
          <p:spPr bwMode="auto">
            <a:xfrm>
              <a:off x="480" y="3456"/>
              <a:ext cx="91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1</a:t>
              </a:r>
            </a:p>
          </p:txBody>
        </p:sp>
        <p:sp>
          <p:nvSpPr>
            <p:cNvPr id="697350" name="Rectangle 6"/>
            <p:cNvSpPr>
              <a:spLocks noChangeArrowheads="1"/>
            </p:cNvSpPr>
            <p:nvPr/>
          </p:nvSpPr>
          <p:spPr bwMode="auto">
            <a:xfrm>
              <a:off x="2064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k</a:t>
              </a:r>
            </a:p>
          </p:txBody>
        </p:sp>
        <p:sp>
          <p:nvSpPr>
            <p:cNvPr id="697351" name="Rectangle 7"/>
            <p:cNvSpPr>
              <a:spLocks noChangeArrowheads="1"/>
            </p:cNvSpPr>
            <p:nvPr/>
          </p:nvSpPr>
          <p:spPr bwMode="auto">
            <a:xfrm>
              <a:off x="4944" y="3456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m</a:t>
              </a:r>
            </a:p>
          </p:txBody>
        </p:sp>
        <p:sp>
          <p:nvSpPr>
            <p:cNvPr id="697352" name="Rectangle 8"/>
            <p:cNvSpPr>
              <a:spLocks noChangeArrowheads="1"/>
            </p:cNvSpPr>
            <p:nvPr/>
          </p:nvSpPr>
          <p:spPr bwMode="auto">
            <a:xfrm>
              <a:off x="1440" y="345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…..</a:t>
              </a:r>
              <a:endParaRPr lang="it-IT" sz="2800" b="1" i="1" baseline="-25000"/>
            </a:p>
          </p:txBody>
        </p:sp>
        <p:sp>
          <p:nvSpPr>
            <p:cNvPr id="697353" name="Rectangle 9"/>
            <p:cNvSpPr>
              <a:spLocks noChangeArrowheads="1"/>
            </p:cNvSpPr>
            <p:nvPr/>
          </p:nvSpPr>
          <p:spPr bwMode="auto">
            <a:xfrm>
              <a:off x="4368" y="345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…..</a:t>
              </a:r>
              <a:endParaRPr lang="it-IT" sz="2800" b="1" i="1" baseline="-25000"/>
            </a:p>
          </p:txBody>
        </p:sp>
        <p:sp>
          <p:nvSpPr>
            <p:cNvPr id="697354" name="Rectangle 10"/>
            <p:cNvSpPr>
              <a:spLocks noChangeArrowheads="1"/>
            </p:cNvSpPr>
            <p:nvPr/>
          </p:nvSpPr>
          <p:spPr bwMode="auto">
            <a:xfrm>
              <a:off x="3696" y="3456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k+2</a:t>
              </a:r>
            </a:p>
          </p:txBody>
        </p:sp>
        <p:sp>
          <p:nvSpPr>
            <p:cNvPr id="697355" name="Rectangle 11"/>
            <p:cNvSpPr>
              <a:spLocks noChangeArrowheads="1"/>
            </p:cNvSpPr>
            <p:nvPr/>
          </p:nvSpPr>
          <p:spPr bwMode="auto">
            <a:xfrm>
              <a:off x="2784" y="3456"/>
              <a:ext cx="52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a</a:t>
              </a:r>
              <a:r>
                <a:rPr lang="it-IT" sz="2800" b="1" i="1" baseline="-25000"/>
                <a:t>i</a:t>
              </a:r>
            </a:p>
          </p:txBody>
        </p:sp>
      </p:grpSp>
      <p:grpSp>
        <p:nvGrpSpPr>
          <p:cNvPr id="697356" name="Group 12"/>
          <p:cNvGrpSpPr>
            <a:grpSpLocks/>
          </p:cNvGrpSpPr>
          <p:nvPr/>
        </p:nvGrpSpPr>
        <p:grpSpPr bwMode="auto">
          <a:xfrm>
            <a:off x="715963" y="3213100"/>
            <a:ext cx="7315200" cy="1320800"/>
            <a:chOff x="489" y="2024"/>
            <a:chExt cx="4992" cy="832"/>
          </a:xfrm>
        </p:grpSpPr>
        <p:sp>
          <p:nvSpPr>
            <p:cNvPr id="697357" name="Rectangle 13"/>
            <p:cNvSpPr>
              <a:spLocks noChangeArrowheads="1"/>
            </p:cNvSpPr>
            <p:nvPr/>
          </p:nvSpPr>
          <p:spPr bwMode="auto">
            <a:xfrm>
              <a:off x="489" y="2568"/>
              <a:ext cx="91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1</a:t>
              </a:r>
            </a:p>
          </p:txBody>
        </p:sp>
        <p:sp>
          <p:nvSpPr>
            <p:cNvPr id="697358" name="Rectangle 14"/>
            <p:cNvSpPr>
              <a:spLocks noChangeArrowheads="1"/>
            </p:cNvSpPr>
            <p:nvPr/>
          </p:nvSpPr>
          <p:spPr bwMode="auto">
            <a:xfrm>
              <a:off x="2073" y="2568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k</a:t>
              </a:r>
            </a:p>
          </p:txBody>
        </p:sp>
        <p:sp>
          <p:nvSpPr>
            <p:cNvPr id="697359" name="Rectangle 15"/>
            <p:cNvSpPr>
              <a:spLocks noChangeArrowheads="1"/>
            </p:cNvSpPr>
            <p:nvPr/>
          </p:nvSpPr>
          <p:spPr bwMode="auto">
            <a:xfrm>
              <a:off x="4953" y="2568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m</a:t>
              </a:r>
            </a:p>
          </p:txBody>
        </p:sp>
        <p:sp>
          <p:nvSpPr>
            <p:cNvPr id="697360" name="Rectangle 16"/>
            <p:cNvSpPr>
              <a:spLocks noChangeArrowheads="1"/>
            </p:cNvSpPr>
            <p:nvPr/>
          </p:nvSpPr>
          <p:spPr bwMode="auto">
            <a:xfrm>
              <a:off x="1449" y="256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…..</a:t>
              </a:r>
              <a:endParaRPr lang="it-IT" sz="2800" b="1" i="1" baseline="-25000"/>
            </a:p>
          </p:txBody>
        </p:sp>
        <p:sp>
          <p:nvSpPr>
            <p:cNvPr id="697361" name="Rectangle 17"/>
            <p:cNvSpPr>
              <a:spLocks noChangeArrowheads="1"/>
            </p:cNvSpPr>
            <p:nvPr/>
          </p:nvSpPr>
          <p:spPr bwMode="auto">
            <a:xfrm>
              <a:off x="2937" y="2568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k+1</a:t>
              </a:r>
            </a:p>
          </p:txBody>
        </p:sp>
        <p:sp>
          <p:nvSpPr>
            <p:cNvPr id="697362" name="Rectangle 18"/>
            <p:cNvSpPr>
              <a:spLocks noChangeArrowheads="1"/>
            </p:cNvSpPr>
            <p:nvPr/>
          </p:nvSpPr>
          <p:spPr bwMode="auto">
            <a:xfrm>
              <a:off x="4377" y="256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…..</a:t>
              </a:r>
              <a:endParaRPr lang="it-IT" sz="2800" b="1" i="1" baseline="-25000"/>
            </a:p>
          </p:txBody>
        </p:sp>
        <p:sp>
          <p:nvSpPr>
            <p:cNvPr id="697363" name="Rectangle 19"/>
            <p:cNvSpPr>
              <a:spLocks noChangeArrowheads="1"/>
            </p:cNvSpPr>
            <p:nvPr/>
          </p:nvSpPr>
          <p:spPr bwMode="auto">
            <a:xfrm>
              <a:off x="3705" y="2568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b</a:t>
              </a:r>
              <a:r>
                <a:rPr lang="it-IT" sz="2800" b="1" i="1" baseline="-25000"/>
                <a:t>k+2</a:t>
              </a:r>
            </a:p>
          </p:txBody>
        </p:sp>
        <p:sp>
          <p:nvSpPr>
            <p:cNvPr id="697364" name="Rectangle 20"/>
            <p:cNvSpPr>
              <a:spLocks noChangeArrowheads="1"/>
            </p:cNvSpPr>
            <p:nvPr/>
          </p:nvSpPr>
          <p:spPr bwMode="auto">
            <a:xfrm>
              <a:off x="2258" y="202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800" b="1" i="1"/>
                <a:t>maxf</a:t>
              </a:r>
              <a:endParaRPr lang="it-IT" sz="3600" b="1" i="1" baseline="-25000"/>
            </a:p>
          </p:txBody>
        </p:sp>
        <p:sp>
          <p:nvSpPr>
            <p:cNvPr id="697365" name="AutoShape 21"/>
            <p:cNvSpPr>
              <a:spLocks noChangeArrowheads="1"/>
            </p:cNvSpPr>
            <p:nvPr/>
          </p:nvSpPr>
          <p:spPr bwMode="auto">
            <a:xfrm>
              <a:off x="2530" y="2296"/>
              <a:ext cx="91" cy="227"/>
            </a:xfrm>
            <a:prstGeom prst="downArrow">
              <a:avLst>
                <a:gd name="adj1" fmla="val 50000"/>
                <a:gd name="adj2" fmla="val 6236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Text Box 2"/>
          <p:cNvSpPr txBox="1">
            <a:spLocks noChangeArrowheads="1"/>
          </p:cNvSpPr>
          <p:nvPr/>
        </p:nvSpPr>
        <p:spPr bwMode="auto">
          <a:xfrm>
            <a:off x="561975" y="457200"/>
            <a:ext cx="8001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rabicPeriod"/>
            </a:pPr>
            <a:r>
              <a:rPr lang="it-IT" sz="3200"/>
              <a:t>Le attività scartate finora iniziano prima e hanno tempo di fine maggiore o uguale ad una delle attività precedentemente scelte.</a:t>
            </a:r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561975" y="20574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2"/>
            </a:pPr>
            <a:r>
              <a:rPr lang="it-IT" sz="3200"/>
              <a:t>Esse sono quindi incompatibili con almeno una delle attività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k</a:t>
            </a:r>
            <a:r>
              <a:rPr lang="it-IT" sz="3200"/>
              <a:t> finora scelte.</a:t>
            </a:r>
          </a:p>
        </p:txBody>
      </p:sp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561975" y="3276600"/>
            <a:ext cx="8001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3"/>
            </a:pPr>
            <a:r>
              <a:rPr lang="it-IT" sz="3200"/>
              <a:t> </a:t>
            </a:r>
            <a:r>
              <a:rPr lang="it-IT" sz="3200" b="1" i="1"/>
              <a:t>b</a:t>
            </a:r>
            <a:r>
              <a:rPr lang="it-IT" sz="3600" b="1" i="1" baseline="-25000"/>
              <a:t>k+1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 sono invece compatibili con tutte le attività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k</a:t>
            </a:r>
            <a:r>
              <a:rPr lang="it-IT" sz="3200"/>
              <a:t> e quindi non sono tra quelle scartate precedentemente. </a:t>
            </a:r>
          </a:p>
        </p:txBody>
      </p:sp>
      <p:sp>
        <p:nvSpPr>
          <p:cNvPr id="698373" name="Text Box 5"/>
          <p:cNvSpPr txBox="1">
            <a:spLocks noChangeArrowheads="1"/>
          </p:cNvSpPr>
          <p:nvPr/>
        </p:nvSpPr>
        <p:spPr bwMode="auto">
          <a:xfrm>
            <a:off x="561975" y="51054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4"/>
            </a:pPr>
            <a:r>
              <a:rPr lang="it-IT" sz="3200"/>
              <a:t> </a:t>
            </a:r>
            <a:r>
              <a:rPr lang="it-IT" sz="3200" b="1" i="1"/>
              <a:t>b</a:t>
            </a:r>
            <a:r>
              <a:rPr lang="it-IT" sz="3600" b="1" i="1" baseline="-25000"/>
              <a:t>k+1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 hanno sia tempo di fine che tempo di inizio maggiore o uguale di </a:t>
            </a:r>
            <a:r>
              <a:rPr lang="it-IT" sz="2800" b="1" i="1"/>
              <a:t>maxf</a:t>
            </a:r>
            <a:r>
              <a:rPr lang="it-IT" sz="320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Text Box 2"/>
          <p:cNvSpPr txBox="1">
            <a:spLocks noChangeArrowheads="1"/>
          </p:cNvSpPr>
          <p:nvPr/>
        </p:nvSpPr>
        <p:spPr bwMode="auto">
          <a:xfrm>
            <a:off x="533400" y="609600"/>
            <a:ext cx="8001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5"/>
            </a:pPr>
            <a:r>
              <a:rPr lang="it-IT" sz="3200"/>
              <a:t>L’attività </a:t>
            </a:r>
            <a:r>
              <a:rPr lang="it-IT" sz="3200" b="1" i="1"/>
              <a:t>a</a:t>
            </a:r>
            <a:r>
              <a:rPr lang="it-IT" sz="3600" b="1" i="1" baseline="-25000"/>
              <a:t>i</a:t>
            </a:r>
            <a:r>
              <a:rPr lang="it-IT" sz="3200"/>
              <a:t> è quella con tempo di fine </a:t>
            </a:r>
            <a:r>
              <a:rPr lang="it-IT" sz="3200" b="1" i="1"/>
              <a:t>f</a:t>
            </a:r>
            <a:r>
              <a:rPr lang="it-IT" sz="3600" b="1" i="1" baseline="-25000"/>
              <a:t>i</a:t>
            </a:r>
            <a:r>
              <a:rPr lang="it-IT" sz="3200"/>
              <a:t> minimo in assoluto tra quelle compatibili con </a:t>
            </a:r>
            <a:r>
              <a:rPr lang="it-IT" sz="3200" b="1" i="1"/>
              <a:t>b</a:t>
            </a:r>
            <a:r>
              <a:rPr lang="it-IT" sz="3600" b="1" i="1" baseline="-25000"/>
              <a:t>1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k</a:t>
            </a:r>
            <a:r>
              <a:rPr lang="it-IT" sz="3200"/>
              <a:t> e quindi </a:t>
            </a:r>
            <a:r>
              <a:rPr lang="it-IT" sz="3200" b="1" i="1"/>
              <a:t>f</a:t>
            </a:r>
            <a:r>
              <a:rPr lang="it-IT" sz="3600" b="1" i="1" baseline="-25000"/>
              <a:t>i</a:t>
            </a:r>
            <a:r>
              <a:rPr lang="it-IT" sz="3200"/>
              <a:t> </a:t>
            </a:r>
            <a:r>
              <a:rPr lang="it-IT" sz="3200">
                <a:sym typeface="Symbol" charset="0"/>
              </a:rPr>
              <a:t> </a:t>
            </a:r>
            <a:r>
              <a:rPr lang="it-IT" sz="3200" b="1" i="1">
                <a:sym typeface="Symbol" charset="0"/>
              </a:rPr>
              <a:t>f</a:t>
            </a:r>
            <a:r>
              <a:rPr lang="it-IT" sz="3200">
                <a:sym typeface="Symbol" charset="0"/>
              </a:rPr>
              <a:t>. </a:t>
            </a:r>
          </a:p>
        </p:txBody>
      </p:sp>
      <p:sp>
        <p:nvSpPr>
          <p:cNvPr id="699395" name="Text Box 3"/>
          <p:cNvSpPr txBox="1">
            <a:spLocks noChangeArrowheads="1"/>
          </p:cNvSpPr>
          <p:nvPr/>
        </p:nvSpPr>
        <p:spPr bwMode="auto">
          <a:xfrm>
            <a:off x="533400" y="2286000"/>
            <a:ext cx="8001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6"/>
            </a:pPr>
            <a:r>
              <a:rPr lang="it-IT" sz="3200"/>
              <a:t>Siccome </a:t>
            </a:r>
            <a:r>
              <a:rPr lang="it-IT" sz="3200" b="1" i="1"/>
              <a:t>b</a:t>
            </a:r>
            <a:r>
              <a:rPr lang="it-IT" sz="3600" b="1" i="1" baseline="-25000"/>
              <a:t>k+1</a:t>
            </a:r>
            <a:r>
              <a:rPr lang="it-IT" sz="3200"/>
              <a:t> è compatibile con </a:t>
            </a:r>
            <a:r>
              <a:rPr lang="it-IT" sz="3200" b="1" i="1"/>
              <a:t>b</a:t>
            </a:r>
            <a:r>
              <a:rPr lang="it-IT" sz="3600" b="1" i="1" baseline="-25000"/>
              <a:t>k+2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 i tempi di inizio di </a:t>
            </a:r>
            <a:r>
              <a:rPr lang="it-IT" sz="3200" b="1" i="1"/>
              <a:t>b</a:t>
            </a:r>
            <a:r>
              <a:rPr lang="it-IT" sz="3600" b="1" i="1" baseline="-25000"/>
              <a:t>k+2</a:t>
            </a:r>
            <a:r>
              <a:rPr lang="it-IT" sz="3200"/>
              <a:t>, ... ,</a:t>
            </a:r>
            <a:r>
              <a:rPr lang="it-IT" sz="3200" b="1" i="1"/>
              <a:t>b</a:t>
            </a:r>
            <a:r>
              <a:rPr lang="it-IT" sz="3600" b="1" i="1" baseline="-25000"/>
              <a:t>m</a:t>
            </a:r>
            <a:r>
              <a:rPr lang="it-IT" sz="3200"/>
              <a:t> sono maggiori o uguali di </a:t>
            </a:r>
            <a:r>
              <a:rPr lang="it-IT" sz="3200" b="1" i="1"/>
              <a:t>f</a:t>
            </a:r>
            <a:r>
              <a:rPr lang="it-IT" sz="3200"/>
              <a:t> </a:t>
            </a:r>
            <a:r>
              <a:rPr lang="it-IT" sz="3200">
                <a:sym typeface="Symbol" charset="0"/>
              </a:rPr>
              <a:t>e quindi anche di</a:t>
            </a:r>
            <a:r>
              <a:rPr lang="it-IT" sz="3200"/>
              <a:t> </a:t>
            </a:r>
            <a:r>
              <a:rPr lang="it-IT" sz="3200" b="1" i="1"/>
              <a:t>f</a:t>
            </a:r>
            <a:r>
              <a:rPr lang="it-IT" sz="3600" b="1" i="1" baseline="-25000"/>
              <a:t>i</a:t>
            </a:r>
            <a:r>
              <a:rPr lang="it-IT" sz="3200">
                <a:sym typeface="Symbol" charset="0"/>
              </a:rPr>
              <a:t>. </a:t>
            </a:r>
            <a:endParaRPr lang="it-IT" sz="3200"/>
          </a:p>
        </p:txBody>
      </p:sp>
      <p:sp>
        <p:nvSpPr>
          <p:cNvPr id="699396" name="Text Box 4"/>
          <p:cNvSpPr txBox="1">
            <a:spLocks noChangeArrowheads="1"/>
          </p:cNvSpPr>
          <p:nvPr/>
        </p:nvSpPr>
        <p:spPr bwMode="auto">
          <a:xfrm>
            <a:off x="533400" y="4038601"/>
            <a:ext cx="8395084" cy="58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7"/>
            </a:pPr>
            <a:r>
              <a:rPr lang="it-IT" sz="3200" dirty="0">
                <a:sym typeface="Symbol" charset="0"/>
              </a:rPr>
              <a:t>Dunque anche </a:t>
            </a:r>
            <a:r>
              <a:rPr lang="it-IT" sz="3200" b="1" i="1" dirty="0"/>
              <a:t>a</a:t>
            </a:r>
            <a:r>
              <a:rPr lang="it-IT" sz="3200" b="1" i="1" baseline="-25000" dirty="0"/>
              <a:t>i</a:t>
            </a:r>
            <a:r>
              <a:rPr lang="it-IT" sz="3200" dirty="0"/>
              <a:t> è compatibile con </a:t>
            </a:r>
            <a:r>
              <a:rPr lang="it-IT" sz="3200" b="1" i="1" dirty="0"/>
              <a:t>b</a:t>
            </a:r>
            <a:r>
              <a:rPr lang="it-IT" sz="3600" b="1" i="1" baseline="-25000" dirty="0"/>
              <a:t>k+2</a:t>
            </a:r>
            <a:r>
              <a:rPr lang="it-IT" sz="3200" dirty="0"/>
              <a:t>, ... ,</a:t>
            </a:r>
            <a:r>
              <a:rPr lang="it-IT" sz="3200" b="1" i="1" dirty="0" err="1"/>
              <a:t>b</a:t>
            </a:r>
            <a:r>
              <a:rPr lang="it-IT" sz="3600" b="1" i="1" baseline="-25000" dirty="0" err="1"/>
              <a:t>m</a:t>
            </a:r>
            <a:endParaRPr lang="it-IT" sz="3200" dirty="0"/>
          </a:p>
        </p:txBody>
      </p:sp>
      <p:sp>
        <p:nvSpPr>
          <p:cNvPr id="699397" name="Text Box 5"/>
          <p:cNvSpPr txBox="1">
            <a:spLocks noChangeArrowheads="1"/>
          </p:cNvSpPr>
          <p:nvPr/>
        </p:nvSpPr>
        <p:spPr bwMode="auto">
          <a:xfrm>
            <a:off x="533400" y="50292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100000"/>
              </a:spcBef>
              <a:buFontTx/>
              <a:buAutoNum type="arabicPeriod" startAt="8"/>
            </a:pPr>
            <a:r>
              <a:rPr lang="it-IT" sz="3200" dirty="0"/>
              <a:t>Pertanto </a:t>
            </a:r>
            <a:r>
              <a:rPr lang="it-IT" sz="3200" b="1" i="1" dirty="0"/>
              <a:t>b</a:t>
            </a:r>
            <a:r>
              <a:rPr lang="it-IT" sz="3600" b="1" i="1" baseline="-25000" dirty="0"/>
              <a:t>1</a:t>
            </a:r>
            <a:r>
              <a:rPr lang="it-IT" sz="3200" dirty="0"/>
              <a:t>, ... ,</a:t>
            </a:r>
            <a:r>
              <a:rPr lang="it-IT" sz="3200" b="1" i="1" dirty="0" err="1"/>
              <a:t>b</a:t>
            </a:r>
            <a:r>
              <a:rPr lang="it-IT" sz="3600" b="1" i="1" baseline="-25000" dirty="0" err="1"/>
              <a:t>k</a:t>
            </a:r>
            <a:r>
              <a:rPr lang="it-IT" sz="3200" dirty="0"/>
              <a:t>, </a:t>
            </a:r>
            <a:r>
              <a:rPr lang="it-IT" sz="3200" b="1" i="1" dirty="0"/>
              <a:t>a</a:t>
            </a:r>
            <a:r>
              <a:rPr lang="it-IT" sz="3600" b="1" i="1" baseline="-25000" dirty="0"/>
              <a:t>i</a:t>
            </a:r>
            <a:r>
              <a:rPr lang="it-IT" sz="3200" baseline="-25000" dirty="0"/>
              <a:t> </a:t>
            </a:r>
            <a:r>
              <a:rPr lang="it-IT" sz="3200" dirty="0"/>
              <a:t>,</a:t>
            </a:r>
            <a:r>
              <a:rPr lang="it-IT" sz="3200" b="1" i="1" dirty="0"/>
              <a:t>b</a:t>
            </a:r>
            <a:r>
              <a:rPr lang="it-IT" sz="3600" b="1" i="1" baseline="-25000" dirty="0"/>
              <a:t>k+2</a:t>
            </a:r>
            <a:r>
              <a:rPr lang="it-IT" sz="3200" dirty="0"/>
              <a:t>, ... ,</a:t>
            </a:r>
            <a:r>
              <a:rPr lang="it-IT" sz="3200" b="1" i="1" dirty="0" err="1"/>
              <a:t>b</a:t>
            </a:r>
            <a:r>
              <a:rPr lang="it-IT" sz="3600" b="1" i="1" baseline="-25000" dirty="0" err="1"/>
              <a:t>m</a:t>
            </a:r>
            <a:r>
              <a:rPr lang="it-IT" sz="3200" dirty="0"/>
              <a:t> è una soluzione ottima contenente </a:t>
            </a:r>
            <a:r>
              <a:rPr lang="it-IT" sz="3200" b="1" i="1" dirty="0"/>
              <a:t>a</a:t>
            </a:r>
            <a:r>
              <a:rPr lang="it-IT" sz="3600" b="1" i="1" baseline="-25000" dirty="0"/>
              <a:t>i</a:t>
            </a:r>
            <a:r>
              <a:rPr lang="it-IT" sz="3200" dirty="0"/>
              <a:t> e </a:t>
            </a:r>
            <a:r>
              <a:rPr lang="it-IT" sz="3200" b="1" i="1" dirty="0"/>
              <a:t>b</a:t>
            </a:r>
            <a:r>
              <a:rPr lang="it-IT" sz="3600" b="1" i="1" baseline="-25000" dirty="0"/>
              <a:t>1</a:t>
            </a:r>
            <a:r>
              <a:rPr lang="it-IT" sz="3200" dirty="0"/>
              <a:t>, ... ,</a:t>
            </a:r>
            <a:r>
              <a:rPr lang="it-IT" sz="3200" b="1" i="1" dirty="0" err="1"/>
              <a:t>b</a:t>
            </a:r>
            <a:r>
              <a:rPr lang="it-IT" sz="3600" b="1" i="1" baseline="-25000" dirty="0" err="1"/>
              <a:t>k</a:t>
            </a:r>
            <a:r>
              <a:rPr lang="it-IT" sz="32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Text Box 2"/>
          <p:cNvSpPr txBox="1">
            <a:spLocks noChangeArrowheads="1"/>
          </p:cNvSpPr>
          <p:nvPr/>
        </p:nvSpPr>
        <p:spPr bwMode="auto">
          <a:xfrm>
            <a:off x="533400" y="1143000"/>
            <a:ext cx="80010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Sappiamo quindi che durante tutta l’esecuzione dell’algoritmo esiste sempre una soluzione ottima contenente le attività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 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 scelte fino a quel momento</a:t>
            </a:r>
            <a:r>
              <a:rPr lang="it-IT" sz="2800"/>
              <a:t>.</a:t>
            </a:r>
          </a:p>
          <a:p>
            <a:pPr>
              <a:spcBef>
                <a:spcPct val="100000"/>
              </a:spcBef>
            </a:pPr>
            <a:r>
              <a:rPr lang="it-IT"/>
              <a:t>Quando l’algoritmo termina non ci sono altre attività compatibili con </a:t>
            </a:r>
            <a:r>
              <a:rPr lang="it-IT" b="1" i="1"/>
              <a:t>b</a:t>
            </a:r>
            <a:r>
              <a:rPr lang="it-IT" sz="3600" b="1" i="1" baseline="-25000"/>
              <a:t>1</a:t>
            </a:r>
            <a:r>
              <a:rPr lang="it-IT"/>
              <a:t>, ... , </a:t>
            </a:r>
            <a:r>
              <a:rPr lang="it-IT" b="1" i="1"/>
              <a:t>b</a:t>
            </a:r>
            <a:r>
              <a:rPr lang="it-IT" sz="3600" b="1" i="1" baseline="-25000"/>
              <a:t>k</a:t>
            </a:r>
            <a:r>
              <a:rPr lang="it-IT"/>
              <a:t> e quindi le attività memorizzate in </a:t>
            </a:r>
            <a:r>
              <a:rPr lang="it-IT" sz="2800" b="1" i="1">
                <a:sym typeface="Symbol" charset="0"/>
              </a:rPr>
              <a:t>b</a:t>
            </a:r>
            <a:r>
              <a:rPr lang="it-IT" sz="2800" b="1" baseline="-25000">
                <a:sym typeface="Symbol" charset="0"/>
              </a:rPr>
              <a:t>1..k</a:t>
            </a:r>
            <a:r>
              <a:rPr lang="it-IT"/>
              <a:t> sono una soluzione ottima.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Text Box 2"/>
          <p:cNvSpPr txBox="1">
            <a:spLocks noChangeArrowheads="1"/>
          </p:cNvSpPr>
          <p:nvPr/>
        </p:nvSpPr>
        <p:spPr bwMode="auto">
          <a:xfrm>
            <a:off x="685800" y="838200"/>
            <a:ext cx="7940675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L’algoritmo è </a:t>
            </a:r>
            <a:r>
              <a:rPr lang="it-IT" i="1" u="sng"/>
              <a:t>goloso</a:t>
            </a:r>
            <a:r>
              <a:rPr lang="it-IT"/>
              <a:t> perché ad ogni passo, tra tutte le attività compatibili con quelle già scelte, sceglie quella che termina prima.</a:t>
            </a:r>
          </a:p>
          <a:p>
            <a:endParaRPr lang="it-IT"/>
          </a:p>
          <a:p>
            <a:r>
              <a:rPr lang="it-IT"/>
              <a:t>Questa scelta è localmente ottimale (golosa) perché lascia il massimo intervallo di tempo a disposizione per le successive attività.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26670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Perché goloso?</a:t>
            </a:r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Text Box 2"/>
          <p:cNvSpPr txBox="1">
            <a:spLocks noChangeArrowheads="1"/>
          </p:cNvSpPr>
          <p:nvPr/>
        </p:nvSpPr>
        <p:spPr bwMode="auto">
          <a:xfrm>
            <a:off x="1600200" y="381000"/>
            <a:ext cx="58674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3600">
                <a:solidFill>
                  <a:srgbClr val="FF0000"/>
                </a:solidFill>
              </a:rPr>
              <a:t>Elementi della strategia golosa</a:t>
            </a:r>
          </a:p>
        </p:txBody>
      </p:sp>
      <p:sp>
        <p:nvSpPr>
          <p:cNvPr id="702468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 i="1" u="sng"/>
              <a:t>Sottostruttura ottima</a:t>
            </a:r>
            <a:r>
              <a:rPr lang="it-IT"/>
              <a:t>: Ogni soluzione ottima non elementare si compone di soluzioni ottime di sottoproblemi. </a:t>
            </a:r>
          </a:p>
        </p:txBody>
      </p:sp>
      <p:sp>
        <p:nvSpPr>
          <p:cNvPr id="702469" name="Text Box 5"/>
          <p:cNvSpPr txBox="1">
            <a:spLocks noChangeArrowheads="1"/>
          </p:cNvSpPr>
          <p:nvPr/>
        </p:nvSpPr>
        <p:spPr bwMode="auto">
          <a:xfrm>
            <a:off x="381000" y="40386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 i="1" u="sng"/>
              <a:t>Proprietà della scelta golosa</a:t>
            </a:r>
            <a:r>
              <a:rPr lang="it-IT"/>
              <a:t>: La scelta ottima localmente (golosa) non pregiudica la possibilità di arrivare ad una soluzione globalmente ottima.</a:t>
            </a:r>
          </a:p>
        </p:txBody>
      </p:sp>
      <p:sp>
        <p:nvSpPr>
          <p:cNvPr id="70247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25146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Elementi della strategia golosa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Text Box 2"/>
          <p:cNvSpPr txBox="1">
            <a:spLocks noChangeArrowheads="1"/>
          </p:cNvSpPr>
          <p:nvPr/>
        </p:nvSpPr>
        <p:spPr bwMode="auto">
          <a:xfrm>
            <a:off x="2438400" y="304800"/>
            <a:ext cx="4048125" cy="727075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r>
              <a:rPr lang="it-IT" sz="4000">
                <a:solidFill>
                  <a:srgbClr val="FF0000"/>
                </a:solidFill>
              </a:rPr>
              <a:t>Codici di Huffman</a:t>
            </a:r>
          </a:p>
        </p:txBody>
      </p:sp>
      <p:sp>
        <p:nvSpPr>
          <p:cNvPr id="707587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7940675" cy="472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I </a:t>
            </a:r>
            <a:r>
              <a:rPr lang="it-IT" i="1" u="sng"/>
              <a:t>codici di Huffman</a:t>
            </a:r>
            <a:r>
              <a:rPr lang="it-IT"/>
              <a:t> vengono ampiamente usati nella compressione dei dati. Essi normalmente permettono un risparmio compreso tra il 20% ed il 90% secondo il tipo di file.</a:t>
            </a:r>
          </a:p>
          <a:p>
            <a:pPr>
              <a:spcBef>
                <a:spcPct val="50000"/>
              </a:spcBef>
            </a:pPr>
            <a:r>
              <a:rPr lang="it-IT"/>
              <a:t>Sulla base delle frequenze con cui ogni carattere appare nel file, l’algoritmo goloso di Huffman trova un </a:t>
            </a:r>
            <a:r>
              <a:rPr lang="it-IT" i="1" u="sng"/>
              <a:t>codice ottimo</a:t>
            </a:r>
            <a:r>
              <a:rPr lang="it-IT"/>
              <a:t> </a:t>
            </a:r>
            <a:r>
              <a:rPr lang="it-IT" b="1"/>
              <a:t>—</a:t>
            </a:r>
            <a:r>
              <a:rPr lang="it-IT"/>
              <a:t> ossia un modo ottimale di associare ad ogni carattere una sequenza di bit detta </a:t>
            </a:r>
            <a:r>
              <a:rPr lang="it-IT" i="1" u="sng"/>
              <a:t>parola codice</a:t>
            </a:r>
            <a:r>
              <a:rPr lang="it-IT"/>
              <a:t>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Sia dato un file di 120 caratteri con frequenze:</a:t>
            </a: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762000" y="1371600"/>
            <a:ext cx="73914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</p:txBody>
      </p:sp>
      <p:grpSp>
        <p:nvGrpSpPr>
          <p:cNvPr id="708612" name="Group 4"/>
          <p:cNvGrpSpPr>
            <a:grpSpLocks/>
          </p:cNvGrpSpPr>
          <p:nvPr/>
        </p:nvGrpSpPr>
        <p:grpSpPr bwMode="auto">
          <a:xfrm>
            <a:off x="457200" y="2590800"/>
            <a:ext cx="8001000" cy="2174875"/>
            <a:chOff x="288" y="1344"/>
            <a:chExt cx="5040" cy="1370"/>
          </a:xfrm>
        </p:grpSpPr>
        <p:sp>
          <p:nvSpPr>
            <p:cNvPr id="708613" name="Text Box 5"/>
            <p:cNvSpPr txBox="1">
              <a:spLocks noChangeArrowheads="1"/>
            </p:cNvSpPr>
            <p:nvPr/>
          </p:nvSpPr>
          <p:spPr bwMode="auto">
            <a:xfrm>
              <a:off x="288" y="1344"/>
              <a:ext cx="5040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29" tIns="45715" rIns="91429" bIns="45715">
              <a:spAutoFit/>
            </a:bodyPr>
            <a:lstStyle/>
            <a:p>
              <a:r>
                <a:rPr lang="it-IT"/>
                <a:t>Usando un codice a lunghezza fissa occorrono 3 bit per rappresentare 6 caratteri. Ad esempio</a:t>
              </a:r>
            </a:p>
          </p:txBody>
        </p:sp>
        <p:sp>
          <p:nvSpPr>
            <p:cNvPr id="708614" name="Text Box 6"/>
            <p:cNvSpPr txBox="1">
              <a:spLocks noChangeArrowheads="1"/>
            </p:cNvSpPr>
            <p:nvPr/>
          </p:nvSpPr>
          <p:spPr bwMode="auto">
            <a:xfrm>
              <a:off x="480" y="2256"/>
              <a:ext cx="4752" cy="458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1429" tIns="45715" rIns="91429" bIns="45715">
              <a:spAutoFit/>
            </a:bodyPr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carattere     a     b     c     d     e     f</a:t>
              </a:r>
            </a:p>
            <a:p>
              <a:r>
                <a:rPr lang="it-IT" sz="2000" b="1">
                  <a:latin typeface="Courier New" charset="0"/>
                  <a:sym typeface="Symbol" charset="0"/>
                </a:rPr>
                <a:t>cod. fisso  000   001   010   011   100   101</a:t>
              </a:r>
            </a:p>
          </p:txBody>
        </p:sp>
      </p:grp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457200" y="5257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Per codificare il file occorrono 120 </a:t>
            </a:r>
            <a:r>
              <a:rPr lang="it-IT">
                <a:sym typeface="Symbol" charset="0"/>
              </a:rPr>
              <a:t></a:t>
            </a:r>
            <a:r>
              <a:rPr lang="it-IT"/>
              <a:t> 3 = 360 bit.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Possiamo fare meglio con un codice a lunghezza variabile che assegni codici più corti ai caratteri più frequenti. Ad esempio con il codice</a:t>
            </a:r>
          </a:p>
        </p:txBody>
      </p:sp>
      <p:sp>
        <p:nvSpPr>
          <p:cNvPr id="710659" name="Text Box 3"/>
          <p:cNvSpPr txBox="1">
            <a:spLocks noChangeArrowheads="1"/>
          </p:cNvSpPr>
          <p:nvPr/>
        </p:nvSpPr>
        <p:spPr bwMode="auto">
          <a:xfrm>
            <a:off x="762000" y="2743200"/>
            <a:ext cx="75438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0660" name="Text Box 4"/>
          <p:cNvSpPr txBox="1">
            <a:spLocks noChangeArrowheads="1"/>
          </p:cNvSpPr>
          <p:nvPr/>
        </p:nvSpPr>
        <p:spPr bwMode="auto">
          <a:xfrm>
            <a:off x="533400" y="4267200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/>
              <a:t>Bastano 57 </a:t>
            </a:r>
            <a:r>
              <a:rPr lang="it-IT">
                <a:sym typeface="Symbol" charset="0"/>
              </a:rPr>
              <a:t> </a:t>
            </a:r>
            <a:r>
              <a:rPr lang="it-IT"/>
              <a:t>1 + 49 </a:t>
            </a:r>
            <a:r>
              <a:rPr lang="it-IT">
                <a:sym typeface="Symbol" charset="0"/>
              </a:rPr>
              <a:t></a:t>
            </a:r>
            <a:r>
              <a:rPr lang="it-IT"/>
              <a:t> 3 + 14 </a:t>
            </a:r>
            <a:r>
              <a:rPr lang="it-IT">
                <a:sym typeface="Symbol" charset="0"/>
              </a:rPr>
              <a:t></a:t>
            </a:r>
            <a:r>
              <a:rPr lang="it-IT"/>
              <a:t> 4 = 260 bit.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animBg="1" autoUpdateAnimBg="0"/>
      <p:bldP spid="71066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Text Box 2"/>
          <p:cNvSpPr txBox="1">
            <a:spLocks noChangeArrowheads="1"/>
          </p:cNvSpPr>
          <p:nvPr/>
        </p:nvSpPr>
        <p:spPr bwMode="auto">
          <a:xfrm>
            <a:off x="2514600" y="457200"/>
            <a:ext cx="3429000" cy="727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4000">
                <a:solidFill>
                  <a:srgbClr val="FF0000"/>
                </a:solidFill>
              </a:rPr>
              <a:t>Codici prefissi</a:t>
            </a:r>
          </a:p>
        </p:txBody>
      </p:sp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228600" y="1447800"/>
            <a:ext cx="8686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Un </a:t>
            </a:r>
            <a:r>
              <a:rPr lang="it-IT" i="1" u="sng"/>
              <a:t>codice prefisso</a:t>
            </a:r>
            <a:r>
              <a:rPr lang="it-IT"/>
              <a:t> è un codice in cui nessuna parola codice è prefisso (parte iniziale) di un’altra.  </a:t>
            </a:r>
          </a:p>
          <a:p>
            <a:pPr>
              <a:spcBef>
                <a:spcPct val="50000"/>
              </a:spcBef>
            </a:pPr>
            <a:r>
              <a:rPr lang="it-IT"/>
              <a:t>Ogni codice a lunghezza fissa è ovviamente prefisso.</a:t>
            </a:r>
          </a:p>
          <a:p>
            <a:pPr>
              <a:spcBef>
                <a:spcPct val="50000"/>
              </a:spcBef>
            </a:pPr>
            <a:r>
              <a:rPr lang="it-IT"/>
              <a:t>Ma anche il codice a lunghezza variabile che abbiamo appena visto è un codice prefisso. </a:t>
            </a:r>
          </a:p>
          <a:p>
            <a:pPr>
              <a:spcBef>
                <a:spcPct val="50000"/>
              </a:spcBef>
            </a:pPr>
            <a:r>
              <a:rPr lang="it-IT"/>
              <a:t>Codifica e decodifica sono particolarmente semplici con i codici prefissi. </a:t>
            </a:r>
          </a:p>
        </p:txBody>
      </p:sp>
      <p:sp>
        <p:nvSpPr>
          <p:cNvPr id="7116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2514600" cy="1524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Codici prefissi</a:t>
            </a:r>
            <a:endParaRPr lang="it-IT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Con il codice prefisso</a:t>
            </a:r>
          </a:p>
        </p:txBody>
      </p:sp>
      <p:sp>
        <p:nvSpPr>
          <p:cNvPr id="712707" name="Text Box 3"/>
          <p:cNvSpPr txBox="1">
            <a:spLocks noChangeArrowheads="1"/>
          </p:cNvSpPr>
          <p:nvPr/>
        </p:nvSpPr>
        <p:spPr bwMode="auto">
          <a:xfrm>
            <a:off x="381000" y="20574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La codifica della stringa </a:t>
            </a:r>
            <a:r>
              <a:rPr lang="it-IT" sz="2800" b="1">
                <a:latin typeface="Courier New" charset="0"/>
                <a:sym typeface="Symbol" charset="0"/>
              </a:rPr>
              <a:t>abc</a:t>
            </a:r>
            <a:r>
              <a:rPr lang="it-IT"/>
              <a:t> è </a:t>
            </a:r>
            <a:r>
              <a:rPr lang="it-IT" sz="2800" b="1">
                <a:latin typeface="Courier New" charset="0"/>
                <a:sym typeface="Symbol" charset="0"/>
              </a:rPr>
              <a:t>0101100</a:t>
            </a:r>
            <a:r>
              <a:rPr lang="it-IT"/>
              <a:t>.</a:t>
            </a:r>
          </a:p>
        </p:txBody>
      </p:sp>
      <p:sp>
        <p:nvSpPr>
          <p:cNvPr id="712708" name="Text Box 4"/>
          <p:cNvSpPr txBox="1">
            <a:spLocks noChangeArrowheads="1"/>
          </p:cNvSpPr>
          <p:nvPr/>
        </p:nvSpPr>
        <p:spPr bwMode="auto">
          <a:xfrm>
            <a:off x="609600" y="1143000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2709" name="Text Box 5"/>
          <p:cNvSpPr txBox="1">
            <a:spLocks noChangeArrowheads="1"/>
          </p:cNvSpPr>
          <p:nvPr/>
        </p:nvSpPr>
        <p:spPr bwMode="auto">
          <a:xfrm>
            <a:off x="381000" y="3200400"/>
            <a:ext cx="82296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La decodifica è pure semplice. </a:t>
            </a:r>
          </a:p>
          <a:p>
            <a:pPr>
              <a:spcBef>
                <a:spcPct val="50000"/>
              </a:spcBef>
            </a:pPr>
            <a:r>
              <a:rPr lang="it-IT"/>
              <a:t>Siccome nessuna parola codice è prefisso di un’altra, la prima parola codice del file codificato risulta univocamente determinata.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Text Box 2"/>
          <p:cNvSpPr txBox="1">
            <a:spLocks noChangeArrowheads="1"/>
          </p:cNvSpPr>
          <p:nvPr/>
        </p:nvSpPr>
        <p:spPr bwMode="auto">
          <a:xfrm>
            <a:off x="492125" y="990600"/>
            <a:ext cx="8229600" cy="448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t-IT" sz="3200"/>
              <a:t>Per la decodifica basta quindi: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3200"/>
              <a:t>individuare la prima parola codice del file codificato,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3200"/>
              <a:t>tradurla nel carattere originale e aggiungere tale carattere al file decodificato,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3200"/>
              <a:t>rimuovere la parola codice dal file codificato,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3200"/>
              <a:t>ripetere l’operazione per i successivi caratteri.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Text Box 2"/>
          <p:cNvSpPr txBox="1">
            <a:spLocks noChangeArrowheads="1"/>
          </p:cNvSpPr>
          <p:nvPr/>
        </p:nvSpPr>
        <p:spPr bwMode="auto">
          <a:xfrm>
            <a:off x="457200" y="9144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Ad esempio con il codice</a:t>
            </a:r>
          </a:p>
        </p:txBody>
      </p:sp>
      <p:sp>
        <p:nvSpPr>
          <p:cNvPr id="714755" name="Text Box 3"/>
          <p:cNvSpPr txBox="1">
            <a:spLocks noChangeArrowheads="1"/>
          </p:cNvSpPr>
          <p:nvPr/>
        </p:nvSpPr>
        <p:spPr bwMode="auto">
          <a:xfrm>
            <a:off x="457200" y="27432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la suddivisione in parole codice della stringa di bit </a:t>
            </a:r>
            <a:r>
              <a:rPr lang="it-IT" b="1">
                <a:sym typeface="Symbol" charset="0"/>
              </a:rPr>
              <a:t>001011101</a:t>
            </a:r>
            <a:r>
              <a:rPr lang="it-IT"/>
              <a:t> è </a:t>
            </a:r>
            <a:r>
              <a:rPr lang="it-IT" b="1">
                <a:sym typeface="Symbol" charset="0"/>
              </a:rPr>
              <a:t>001011101</a:t>
            </a:r>
            <a:r>
              <a:rPr lang="it-IT"/>
              <a:t> a cui corrisponde la stringa </a:t>
            </a:r>
            <a:r>
              <a:rPr lang="it-IT" b="1">
                <a:sym typeface="Symbol" charset="0"/>
              </a:rPr>
              <a:t>aabe</a:t>
            </a:r>
            <a:r>
              <a:rPr lang="it-IT"/>
              <a:t>. </a:t>
            </a:r>
          </a:p>
        </p:txBody>
      </p:sp>
      <p:sp>
        <p:nvSpPr>
          <p:cNvPr id="714756" name="Text Box 4"/>
          <p:cNvSpPr txBox="1">
            <a:spLocks noChangeArrowheads="1"/>
          </p:cNvSpPr>
          <p:nvPr/>
        </p:nvSpPr>
        <p:spPr bwMode="auto">
          <a:xfrm>
            <a:off x="685800" y="1752600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4757" name="Text Box 5"/>
          <p:cNvSpPr txBox="1">
            <a:spLocks noChangeArrowheads="1"/>
          </p:cNvSpPr>
          <p:nvPr/>
        </p:nvSpPr>
        <p:spPr bwMode="auto">
          <a:xfrm>
            <a:off x="457200" y="47244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Per facilitare la suddivisione del file codificato in parole codice è comodo rappresentare il codice con un albero binario.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Ad esempio il codice a lunghezza fissa</a:t>
            </a:r>
          </a:p>
        </p:txBody>
      </p:sp>
      <p:sp>
        <p:nvSpPr>
          <p:cNvPr id="715779" name="Text Box 3"/>
          <p:cNvSpPr txBox="1">
            <a:spLocks noChangeArrowheads="1"/>
          </p:cNvSpPr>
          <p:nvPr/>
        </p:nvSpPr>
        <p:spPr bwMode="auto">
          <a:xfrm>
            <a:off x="838200" y="990600"/>
            <a:ext cx="73914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fisso  000   001   010   011   100   101</a:t>
            </a:r>
          </a:p>
        </p:txBody>
      </p:sp>
      <p:grpSp>
        <p:nvGrpSpPr>
          <p:cNvPr id="715780" name="Group 4"/>
          <p:cNvGrpSpPr>
            <a:grpSpLocks/>
          </p:cNvGrpSpPr>
          <p:nvPr/>
        </p:nvGrpSpPr>
        <p:grpSpPr bwMode="auto">
          <a:xfrm>
            <a:off x="609600" y="2133600"/>
            <a:ext cx="8229600" cy="4191000"/>
            <a:chOff x="384" y="1344"/>
            <a:chExt cx="5184" cy="2640"/>
          </a:xfrm>
        </p:grpSpPr>
        <p:sp>
          <p:nvSpPr>
            <p:cNvPr id="715781" name="Oval 5"/>
            <p:cNvSpPr>
              <a:spLocks noChangeArrowheads="1"/>
            </p:cNvSpPr>
            <p:nvPr/>
          </p:nvSpPr>
          <p:spPr bwMode="auto">
            <a:xfrm>
              <a:off x="2895" y="1824"/>
              <a:ext cx="380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120</a:t>
              </a:r>
              <a:endParaRPr lang="it-IT" sz="4000"/>
            </a:p>
          </p:txBody>
        </p:sp>
        <p:sp>
          <p:nvSpPr>
            <p:cNvPr id="715782" name="Oval 6"/>
            <p:cNvSpPr>
              <a:spLocks noChangeArrowheads="1"/>
            </p:cNvSpPr>
            <p:nvPr/>
          </p:nvSpPr>
          <p:spPr bwMode="auto">
            <a:xfrm>
              <a:off x="1752" y="2396"/>
              <a:ext cx="381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106</a:t>
              </a:r>
              <a:endParaRPr lang="it-IT" sz="4000"/>
            </a:p>
          </p:txBody>
        </p:sp>
        <p:sp>
          <p:nvSpPr>
            <p:cNvPr id="715783" name="Oval 7"/>
            <p:cNvSpPr>
              <a:spLocks noChangeArrowheads="1"/>
            </p:cNvSpPr>
            <p:nvPr/>
          </p:nvSpPr>
          <p:spPr bwMode="auto">
            <a:xfrm>
              <a:off x="4227" y="2396"/>
              <a:ext cx="381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15784" name="Oval 8"/>
            <p:cNvSpPr>
              <a:spLocks noChangeArrowheads="1"/>
            </p:cNvSpPr>
            <p:nvPr/>
          </p:nvSpPr>
          <p:spPr bwMode="auto">
            <a:xfrm>
              <a:off x="1181" y="2968"/>
              <a:ext cx="381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70</a:t>
              </a:r>
              <a:endParaRPr lang="it-IT" sz="4000"/>
            </a:p>
          </p:txBody>
        </p:sp>
        <p:sp>
          <p:nvSpPr>
            <p:cNvPr id="715785" name="Oval 9"/>
            <p:cNvSpPr>
              <a:spLocks noChangeArrowheads="1"/>
            </p:cNvSpPr>
            <p:nvPr/>
          </p:nvSpPr>
          <p:spPr bwMode="auto">
            <a:xfrm>
              <a:off x="2387" y="2968"/>
              <a:ext cx="381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36</a:t>
              </a:r>
              <a:endParaRPr lang="it-IT" sz="4000"/>
            </a:p>
          </p:txBody>
        </p:sp>
        <p:sp>
          <p:nvSpPr>
            <p:cNvPr id="715786" name="Oval 10"/>
            <p:cNvSpPr>
              <a:spLocks noChangeArrowheads="1"/>
            </p:cNvSpPr>
            <p:nvPr/>
          </p:nvSpPr>
          <p:spPr bwMode="auto">
            <a:xfrm>
              <a:off x="3529" y="2968"/>
              <a:ext cx="381" cy="381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15787" name="Rectangle 11"/>
            <p:cNvSpPr>
              <a:spLocks noChangeArrowheads="1"/>
            </p:cNvSpPr>
            <p:nvPr/>
          </p:nvSpPr>
          <p:spPr bwMode="auto">
            <a:xfrm>
              <a:off x="864" y="3730"/>
              <a:ext cx="444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15788" name="Rectangle 12"/>
            <p:cNvSpPr>
              <a:spLocks noChangeArrowheads="1"/>
            </p:cNvSpPr>
            <p:nvPr/>
          </p:nvSpPr>
          <p:spPr bwMode="auto">
            <a:xfrm>
              <a:off x="3847" y="3730"/>
              <a:ext cx="444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15789" name="Rectangle 13"/>
            <p:cNvSpPr>
              <a:spLocks noChangeArrowheads="1"/>
            </p:cNvSpPr>
            <p:nvPr/>
          </p:nvSpPr>
          <p:spPr bwMode="auto">
            <a:xfrm>
              <a:off x="3275" y="3730"/>
              <a:ext cx="445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15790" name="Rectangle 14"/>
            <p:cNvSpPr>
              <a:spLocks noChangeArrowheads="1"/>
            </p:cNvSpPr>
            <p:nvPr/>
          </p:nvSpPr>
          <p:spPr bwMode="auto">
            <a:xfrm>
              <a:off x="2641" y="3730"/>
              <a:ext cx="444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15791" name="Rectangle 15"/>
            <p:cNvSpPr>
              <a:spLocks noChangeArrowheads="1"/>
            </p:cNvSpPr>
            <p:nvPr/>
          </p:nvSpPr>
          <p:spPr bwMode="auto">
            <a:xfrm>
              <a:off x="2070" y="3730"/>
              <a:ext cx="444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15792" name="Rectangle 16"/>
            <p:cNvSpPr>
              <a:spLocks noChangeArrowheads="1"/>
            </p:cNvSpPr>
            <p:nvPr/>
          </p:nvSpPr>
          <p:spPr bwMode="auto">
            <a:xfrm>
              <a:off x="1435" y="3730"/>
              <a:ext cx="444" cy="254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15793" name="Line 17"/>
            <p:cNvSpPr>
              <a:spLocks noChangeShapeType="1"/>
            </p:cNvSpPr>
            <p:nvPr/>
          </p:nvSpPr>
          <p:spPr bwMode="auto">
            <a:xfrm>
              <a:off x="1499" y="3349"/>
              <a:ext cx="19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4" name="Line 18"/>
            <p:cNvSpPr>
              <a:spLocks noChangeShapeType="1"/>
            </p:cNvSpPr>
            <p:nvPr/>
          </p:nvSpPr>
          <p:spPr bwMode="auto">
            <a:xfrm>
              <a:off x="2641" y="3349"/>
              <a:ext cx="19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5" name="Line 19"/>
            <p:cNvSpPr>
              <a:spLocks noChangeShapeType="1"/>
            </p:cNvSpPr>
            <p:nvPr/>
          </p:nvSpPr>
          <p:spPr bwMode="auto">
            <a:xfrm>
              <a:off x="3847" y="3349"/>
              <a:ext cx="19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6" name="Line 20"/>
            <p:cNvSpPr>
              <a:spLocks noChangeShapeType="1"/>
            </p:cNvSpPr>
            <p:nvPr/>
          </p:nvSpPr>
          <p:spPr bwMode="auto">
            <a:xfrm flipH="1">
              <a:off x="1054" y="3349"/>
              <a:ext cx="191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7" name="Line 21"/>
            <p:cNvSpPr>
              <a:spLocks noChangeShapeType="1"/>
            </p:cNvSpPr>
            <p:nvPr/>
          </p:nvSpPr>
          <p:spPr bwMode="auto">
            <a:xfrm flipH="1">
              <a:off x="2260" y="3349"/>
              <a:ext cx="19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8" name="Line 22"/>
            <p:cNvSpPr>
              <a:spLocks noChangeShapeType="1"/>
            </p:cNvSpPr>
            <p:nvPr/>
          </p:nvSpPr>
          <p:spPr bwMode="auto">
            <a:xfrm flipH="1">
              <a:off x="3466" y="3349"/>
              <a:ext cx="190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799" name="Line 23"/>
            <p:cNvSpPr>
              <a:spLocks noChangeShapeType="1"/>
            </p:cNvSpPr>
            <p:nvPr/>
          </p:nvSpPr>
          <p:spPr bwMode="auto">
            <a:xfrm flipH="1">
              <a:off x="1499" y="2713"/>
              <a:ext cx="317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800" name="Line 24"/>
            <p:cNvSpPr>
              <a:spLocks noChangeShapeType="1"/>
            </p:cNvSpPr>
            <p:nvPr/>
          </p:nvSpPr>
          <p:spPr bwMode="auto">
            <a:xfrm flipH="1">
              <a:off x="3847" y="2713"/>
              <a:ext cx="38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801" name="Line 25"/>
            <p:cNvSpPr>
              <a:spLocks noChangeShapeType="1"/>
            </p:cNvSpPr>
            <p:nvPr/>
          </p:nvSpPr>
          <p:spPr bwMode="auto">
            <a:xfrm>
              <a:off x="2070" y="2713"/>
              <a:ext cx="38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802" name="Line 26"/>
            <p:cNvSpPr>
              <a:spLocks noChangeShapeType="1"/>
            </p:cNvSpPr>
            <p:nvPr/>
          </p:nvSpPr>
          <p:spPr bwMode="auto">
            <a:xfrm>
              <a:off x="3275" y="2142"/>
              <a:ext cx="952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803" name="Line 27"/>
            <p:cNvSpPr>
              <a:spLocks noChangeShapeType="1"/>
            </p:cNvSpPr>
            <p:nvPr/>
          </p:nvSpPr>
          <p:spPr bwMode="auto">
            <a:xfrm flipH="1">
              <a:off x="2133" y="2142"/>
              <a:ext cx="825" cy="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/>
            </a:p>
          </p:txBody>
        </p:sp>
        <p:sp>
          <p:nvSpPr>
            <p:cNvPr id="715804" name="Text Box 28"/>
            <p:cNvSpPr txBox="1">
              <a:spLocks noChangeArrowheads="1"/>
            </p:cNvSpPr>
            <p:nvPr/>
          </p:nvSpPr>
          <p:spPr bwMode="auto">
            <a:xfrm>
              <a:off x="3656" y="20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5805" name="Text Box 29"/>
            <p:cNvSpPr txBox="1">
              <a:spLocks noChangeArrowheads="1"/>
            </p:cNvSpPr>
            <p:nvPr/>
          </p:nvSpPr>
          <p:spPr bwMode="auto">
            <a:xfrm>
              <a:off x="2641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5806" name="Text Box 30"/>
            <p:cNvSpPr txBox="1">
              <a:spLocks noChangeArrowheads="1"/>
            </p:cNvSpPr>
            <p:nvPr/>
          </p:nvSpPr>
          <p:spPr bwMode="auto">
            <a:xfrm>
              <a:off x="2197" y="258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5807" name="Text Box 31"/>
            <p:cNvSpPr txBox="1">
              <a:spLocks noChangeArrowheads="1"/>
            </p:cNvSpPr>
            <p:nvPr/>
          </p:nvSpPr>
          <p:spPr bwMode="auto">
            <a:xfrm>
              <a:off x="1499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5808" name="Text Box 32"/>
            <p:cNvSpPr txBox="1">
              <a:spLocks noChangeArrowheads="1"/>
            </p:cNvSpPr>
            <p:nvPr/>
          </p:nvSpPr>
          <p:spPr bwMode="auto">
            <a:xfrm>
              <a:off x="3847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5809" name="Text Box 33"/>
            <p:cNvSpPr txBox="1">
              <a:spLocks noChangeArrowheads="1"/>
            </p:cNvSpPr>
            <p:nvPr/>
          </p:nvSpPr>
          <p:spPr bwMode="auto">
            <a:xfrm>
              <a:off x="991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0" name="Text Box 34"/>
            <p:cNvSpPr txBox="1">
              <a:spLocks noChangeArrowheads="1"/>
            </p:cNvSpPr>
            <p:nvPr/>
          </p:nvSpPr>
          <p:spPr bwMode="auto">
            <a:xfrm>
              <a:off x="2197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1" name="Text Box 35"/>
            <p:cNvSpPr txBox="1">
              <a:spLocks noChangeArrowheads="1"/>
            </p:cNvSpPr>
            <p:nvPr/>
          </p:nvSpPr>
          <p:spPr bwMode="auto">
            <a:xfrm>
              <a:off x="3402" y="3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2" name="Text Box 36"/>
            <p:cNvSpPr txBox="1">
              <a:spLocks noChangeArrowheads="1"/>
            </p:cNvSpPr>
            <p:nvPr/>
          </p:nvSpPr>
          <p:spPr bwMode="auto">
            <a:xfrm>
              <a:off x="1435" y="258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3" name="Text Box 37"/>
            <p:cNvSpPr txBox="1">
              <a:spLocks noChangeArrowheads="1"/>
            </p:cNvSpPr>
            <p:nvPr/>
          </p:nvSpPr>
          <p:spPr bwMode="auto">
            <a:xfrm>
              <a:off x="3783" y="258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4" name="Text Box 38"/>
            <p:cNvSpPr txBox="1">
              <a:spLocks noChangeArrowheads="1"/>
            </p:cNvSpPr>
            <p:nvPr/>
          </p:nvSpPr>
          <p:spPr bwMode="auto">
            <a:xfrm>
              <a:off x="2387" y="20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5815" name="Text Box 39"/>
            <p:cNvSpPr txBox="1">
              <a:spLocks noChangeArrowheads="1"/>
            </p:cNvSpPr>
            <p:nvPr/>
          </p:nvSpPr>
          <p:spPr bwMode="auto">
            <a:xfrm>
              <a:off x="384" y="1344"/>
              <a:ext cx="51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>
                <a:spcBef>
                  <a:spcPct val="50000"/>
                </a:spcBef>
              </a:pPr>
              <a:r>
                <a:rPr lang="it-IT"/>
                <a:t>ha la seguente rappresentazione ad albero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Mentre il codice a lunghezza variabile</a:t>
            </a:r>
          </a:p>
        </p:txBody>
      </p:sp>
      <p:grpSp>
        <p:nvGrpSpPr>
          <p:cNvPr id="717827" name="Group 3"/>
          <p:cNvGrpSpPr>
            <a:grpSpLocks/>
          </p:cNvGrpSpPr>
          <p:nvPr/>
        </p:nvGrpSpPr>
        <p:grpSpPr bwMode="auto">
          <a:xfrm>
            <a:off x="533400" y="2133600"/>
            <a:ext cx="7162800" cy="4419600"/>
            <a:chOff x="336" y="1344"/>
            <a:chExt cx="4512" cy="2784"/>
          </a:xfrm>
        </p:grpSpPr>
        <p:sp>
          <p:nvSpPr>
            <p:cNvPr id="717828" name="Oval 4"/>
            <p:cNvSpPr>
              <a:spLocks noChangeArrowheads="1"/>
            </p:cNvSpPr>
            <p:nvPr/>
          </p:nvSpPr>
          <p:spPr bwMode="auto">
            <a:xfrm>
              <a:off x="3577" y="1978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63</a:t>
              </a:r>
              <a:endParaRPr lang="it-IT" sz="4000"/>
            </a:p>
          </p:txBody>
        </p:sp>
        <p:sp>
          <p:nvSpPr>
            <p:cNvPr id="717829" name="Oval 5"/>
            <p:cNvSpPr>
              <a:spLocks noChangeArrowheads="1"/>
            </p:cNvSpPr>
            <p:nvPr/>
          </p:nvSpPr>
          <p:spPr bwMode="auto">
            <a:xfrm>
              <a:off x="2941" y="1440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120</a:t>
              </a:r>
              <a:endParaRPr lang="it-IT" sz="4000"/>
            </a:p>
          </p:txBody>
        </p:sp>
        <p:sp>
          <p:nvSpPr>
            <p:cNvPr id="717830" name="Line 6"/>
            <p:cNvSpPr>
              <a:spLocks noChangeShapeType="1"/>
            </p:cNvSpPr>
            <p:nvPr/>
          </p:nvSpPr>
          <p:spPr bwMode="auto">
            <a:xfrm>
              <a:off x="3259" y="1739"/>
              <a:ext cx="38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1" name="Rectangle 7"/>
            <p:cNvSpPr>
              <a:spLocks noChangeArrowheads="1"/>
            </p:cNvSpPr>
            <p:nvPr/>
          </p:nvSpPr>
          <p:spPr bwMode="auto">
            <a:xfrm>
              <a:off x="2496" y="2097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17832" name="Line 8"/>
            <p:cNvSpPr>
              <a:spLocks noChangeShapeType="1"/>
            </p:cNvSpPr>
            <p:nvPr/>
          </p:nvSpPr>
          <p:spPr bwMode="auto">
            <a:xfrm flipH="1">
              <a:off x="2687" y="1739"/>
              <a:ext cx="318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3" name="Line 9"/>
            <p:cNvSpPr>
              <a:spLocks noChangeShapeType="1"/>
            </p:cNvSpPr>
            <p:nvPr/>
          </p:nvSpPr>
          <p:spPr bwMode="auto">
            <a:xfrm flipH="1">
              <a:off x="3259" y="2276"/>
              <a:ext cx="381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4" name="Oval 10"/>
            <p:cNvSpPr>
              <a:spLocks noChangeArrowheads="1"/>
            </p:cNvSpPr>
            <p:nvPr/>
          </p:nvSpPr>
          <p:spPr bwMode="auto">
            <a:xfrm>
              <a:off x="2941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17835" name="Oval 11"/>
            <p:cNvSpPr>
              <a:spLocks noChangeArrowheads="1"/>
            </p:cNvSpPr>
            <p:nvPr/>
          </p:nvSpPr>
          <p:spPr bwMode="auto">
            <a:xfrm>
              <a:off x="4149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17836" name="Line 12"/>
            <p:cNvSpPr>
              <a:spLocks noChangeShapeType="1"/>
            </p:cNvSpPr>
            <p:nvPr/>
          </p:nvSpPr>
          <p:spPr bwMode="auto">
            <a:xfrm>
              <a:off x="3894" y="2276"/>
              <a:ext cx="318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7" name="Line 13"/>
            <p:cNvSpPr>
              <a:spLocks noChangeShapeType="1"/>
            </p:cNvSpPr>
            <p:nvPr/>
          </p:nvSpPr>
          <p:spPr bwMode="auto">
            <a:xfrm>
              <a:off x="3195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8" name="Line 14"/>
            <p:cNvSpPr>
              <a:spLocks noChangeShapeType="1"/>
            </p:cNvSpPr>
            <p:nvPr/>
          </p:nvSpPr>
          <p:spPr bwMode="auto">
            <a:xfrm>
              <a:off x="4467" y="2874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39" name="Line 15"/>
            <p:cNvSpPr>
              <a:spLocks noChangeShapeType="1"/>
            </p:cNvSpPr>
            <p:nvPr/>
          </p:nvSpPr>
          <p:spPr bwMode="auto">
            <a:xfrm flipH="1">
              <a:off x="2877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40" name="Line 16"/>
            <p:cNvSpPr>
              <a:spLocks noChangeShapeType="1"/>
            </p:cNvSpPr>
            <p:nvPr/>
          </p:nvSpPr>
          <p:spPr bwMode="auto">
            <a:xfrm flipH="1">
              <a:off x="4085" y="2874"/>
              <a:ext cx="19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41" name="Oval 17"/>
            <p:cNvSpPr>
              <a:spLocks noChangeArrowheads="1"/>
            </p:cNvSpPr>
            <p:nvPr/>
          </p:nvSpPr>
          <p:spPr bwMode="auto">
            <a:xfrm>
              <a:off x="3831" y="3172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17842" name="Line 18"/>
            <p:cNvSpPr>
              <a:spLocks noChangeShapeType="1"/>
            </p:cNvSpPr>
            <p:nvPr/>
          </p:nvSpPr>
          <p:spPr bwMode="auto">
            <a:xfrm flipH="1">
              <a:off x="3704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43" name="Line 19"/>
            <p:cNvSpPr>
              <a:spLocks noChangeShapeType="1"/>
            </p:cNvSpPr>
            <p:nvPr/>
          </p:nvSpPr>
          <p:spPr bwMode="auto">
            <a:xfrm>
              <a:off x="4149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17844" name="Rectangle 20"/>
            <p:cNvSpPr>
              <a:spLocks noChangeArrowheads="1"/>
            </p:cNvSpPr>
            <p:nvPr/>
          </p:nvSpPr>
          <p:spPr bwMode="auto">
            <a:xfrm>
              <a:off x="3195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17845" name="Rectangle 21"/>
            <p:cNvSpPr>
              <a:spLocks noChangeArrowheads="1"/>
            </p:cNvSpPr>
            <p:nvPr/>
          </p:nvSpPr>
          <p:spPr bwMode="auto">
            <a:xfrm>
              <a:off x="262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17846" name="Rectangle 22"/>
            <p:cNvSpPr>
              <a:spLocks noChangeArrowheads="1"/>
            </p:cNvSpPr>
            <p:nvPr/>
          </p:nvSpPr>
          <p:spPr bwMode="auto">
            <a:xfrm>
              <a:off x="440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17847" name="Rectangle 23"/>
            <p:cNvSpPr>
              <a:spLocks noChangeArrowheads="1"/>
            </p:cNvSpPr>
            <p:nvPr/>
          </p:nvSpPr>
          <p:spPr bwMode="auto">
            <a:xfrm>
              <a:off x="3513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17848" name="Rectangle 24"/>
            <p:cNvSpPr>
              <a:spLocks noChangeArrowheads="1"/>
            </p:cNvSpPr>
            <p:nvPr/>
          </p:nvSpPr>
          <p:spPr bwMode="auto">
            <a:xfrm>
              <a:off x="4085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17849" name="Text Box 25"/>
            <p:cNvSpPr txBox="1">
              <a:spLocks noChangeArrowheads="1"/>
            </p:cNvSpPr>
            <p:nvPr/>
          </p:nvSpPr>
          <p:spPr bwMode="auto">
            <a:xfrm>
              <a:off x="2687" y="16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7850" name="Text Box 26"/>
            <p:cNvSpPr txBox="1">
              <a:spLocks noChangeArrowheads="1"/>
            </p:cNvSpPr>
            <p:nvPr/>
          </p:nvSpPr>
          <p:spPr bwMode="auto">
            <a:xfrm>
              <a:off x="3259" y="21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7851" name="Text Box 27"/>
            <p:cNvSpPr txBox="1">
              <a:spLocks noChangeArrowheads="1"/>
            </p:cNvSpPr>
            <p:nvPr/>
          </p:nvSpPr>
          <p:spPr bwMode="auto">
            <a:xfrm>
              <a:off x="2814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7852" name="Text Box 28"/>
            <p:cNvSpPr txBox="1">
              <a:spLocks noChangeArrowheads="1"/>
            </p:cNvSpPr>
            <p:nvPr/>
          </p:nvSpPr>
          <p:spPr bwMode="auto">
            <a:xfrm>
              <a:off x="3958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7853" name="Text Box 29"/>
            <p:cNvSpPr txBox="1">
              <a:spLocks noChangeArrowheads="1"/>
            </p:cNvSpPr>
            <p:nvPr/>
          </p:nvSpPr>
          <p:spPr bwMode="auto">
            <a:xfrm>
              <a:off x="3640" y="340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17854" name="Text Box 30"/>
            <p:cNvSpPr txBox="1">
              <a:spLocks noChangeArrowheads="1"/>
            </p:cNvSpPr>
            <p:nvPr/>
          </p:nvSpPr>
          <p:spPr bwMode="auto">
            <a:xfrm>
              <a:off x="3386" y="16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7855" name="Text Box 31"/>
            <p:cNvSpPr txBox="1">
              <a:spLocks noChangeArrowheads="1"/>
            </p:cNvSpPr>
            <p:nvPr/>
          </p:nvSpPr>
          <p:spPr bwMode="auto">
            <a:xfrm>
              <a:off x="3958" y="21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4467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7857" name="Text Box 33"/>
            <p:cNvSpPr txBox="1">
              <a:spLocks noChangeArrowheads="1"/>
            </p:cNvSpPr>
            <p:nvPr/>
          </p:nvSpPr>
          <p:spPr bwMode="auto">
            <a:xfrm>
              <a:off x="3195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7858" name="Text Box 34"/>
            <p:cNvSpPr txBox="1">
              <a:spLocks noChangeArrowheads="1"/>
            </p:cNvSpPr>
            <p:nvPr/>
          </p:nvSpPr>
          <p:spPr bwMode="auto">
            <a:xfrm>
              <a:off x="4149" y="340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17859" name="Text Box 35"/>
            <p:cNvSpPr txBox="1">
              <a:spLocks noChangeArrowheads="1"/>
            </p:cNvSpPr>
            <p:nvPr/>
          </p:nvSpPr>
          <p:spPr bwMode="auto">
            <a:xfrm>
              <a:off x="336" y="1344"/>
              <a:ext cx="22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>
                <a:spcBef>
                  <a:spcPct val="50000"/>
                </a:spcBef>
              </a:pPr>
              <a:r>
                <a:rPr lang="it-IT"/>
                <a:t>ha rappresentazione</a:t>
              </a:r>
            </a:p>
          </p:txBody>
        </p:sp>
      </p:grpSp>
      <p:sp>
        <p:nvSpPr>
          <p:cNvPr id="717860" name="Text Box 36"/>
          <p:cNvSpPr txBox="1">
            <a:spLocks noChangeArrowheads="1"/>
          </p:cNvSpPr>
          <p:nvPr/>
        </p:nvSpPr>
        <p:spPr bwMode="auto">
          <a:xfrm>
            <a:off x="762000" y="990600"/>
            <a:ext cx="75438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703263" y="3048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La lunghezza in bit del file codificato con il codice rappresentato da un albero </a:t>
            </a:r>
            <a:r>
              <a:rPr lang="it-IT" b="1" i="1"/>
              <a:t>T</a:t>
            </a:r>
            <a:r>
              <a:rPr lang="it-IT"/>
              <a:t> è:</a:t>
            </a:r>
          </a:p>
        </p:txBody>
      </p:sp>
      <p:graphicFrame>
        <p:nvGraphicFramePr>
          <p:cNvPr id="721923" name="Object 3"/>
          <p:cNvGraphicFramePr>
            <a:graphicFrameLocks noChangeAspect="1"/>
          </p:cNvGraphicFramePr>
          <p:nvPr/>
        </p:nvGraphicFramePr>
        <p:xfrm>
          <a:off x="2676525" y="1447800"/>
          <a:ext cx="3327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4" imgW="1143000" imgH="342720" progId="Equation.3">
                  <p:embed/>
                </p:oleObj>
              </mc:Choice>
              <mc:Fallback>
                <p:oleObj name="Equation" r:id="rId4" imgW="1143000" imgH="342720" progId="Equation.3">
                  <p:embed/>
                  <p:pic>
                    <p:nvPicPr>
                      <p:cNvPr id="7219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447800"/>
                        <a:ext cx="3327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24" name="Text Box 4"/>
          <p:cNvSpPr txBox="1">
            <a:spLocks noChangeArrowheads="1"/>
          </p:cNvSpPr>
          <p:nvPr/>
        </p:nvSpPr>
        <p:spPr bwMode="auto">
          <a:xfrm>
            <a:off x="633413" y="2514600"/>
            <a:ext cx="76962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 cui la sommatoria è estesa a tutti i caratteri </a:t>
            </a:r>
            <a:r>
              <a:rPr lang="it-IT" sz="3600" b="1" i="1"/>
              <a:t>c</a:t>
            </a:r>
            <a:r>
              <a:rPr lang="it-IT"/>
              <a:t> dell’alfabeto </a:t>
            </a:r>
            <a:r>
              <a:rPr lang="it-IT" sz="3600" b="1" i="1"/>
              <a:t>C</a:t>
            </a:r>
            <a:r>
              <a:rPr lang="it-IT"/>
              <a:t>,  </a:t>
            </a:r>
            <a:r>
              <a:rPr lang="it-IT" sz="3600" b="1" i="1"/>
              <a:t>f</a:t>
            </a:r>
            <a:r>
              <a:rPr lang="it-IT" sz="3600" b="1" i="1" baseline="-25000"/>
              <a:t>c</a:t>
            </a:r>
            <a:r>
              <a:rPr lang="it-IT"/>
              <a:t> è la frequenza del carattere </a:t>
            </a:r>
            <a:r>
              <a:rPr lang="it-IT" sz="3600" b="1" i="1"/>
              <a:t>c</a:t>
            </a:r>
            <a:r>
              <a:rPr lang="it-IT"/>
              <a:t> e </a:t>
            </a:r>
            <a:r>
              <a:rPr lang="it-IT" sz="3600" b="1" i="1"/>
              <a:t>d</a:t>
            </a:r>
            <a:r>
              <a:rPr lang="it-IT" sz="3600" b="1" i="1" baseline="-25000"/>
              <a:t>T</a:t>
            </a:r>
            <a:r>
              <a:rPr lang="it-IT" sz="3600" b="1"/>
              <a:t>(</a:t>
            </a:r>
            <a:r>
              <a:rPr lang="it-IT" sz="3600" b="1" i="1"/>
              <a:t>c</a:t>
            </a:r>
            <a:r>
              <a:rPr lang="it-IT" sz="3600" b="1"/>
              <a:t>)</a:t>
            </a:r>
            <a:r>
              <a:rPr lang="it-IT" i="1"/>
              <a:t> </a:t>
            </a:r>
            <a:r>
              <a:rPr lang="it-IT"/>
              <a:t>è la profondità della foglia che rappresenta il carattere </a:t>
            </a:r>
            <a:r>
              <a:rPr lang="it-IT" sz="3600" b="1" i="1"/>
              <a:t>c</a:t>
            </a:r>
            <a:r>
              <a:rPr lang="it-IT" sz="3600" i="1"/>
              <a:t> </a:t>
            </a:r>
            <a:r>
              <a:rPr lang="it-IT"/>
              <a:t>nell’albero </a:t>
            </a:r>
            <a:r>
              <a:rPr lang="it-IT" sz="3600" b="1" i="1"/>
              <a:t>T</a:t>
            </a:r>
            <a:r>
              <a:rPr lang="it-IT"/>
              <a:t>. 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2819400" cy="228600"/>
          </a:xfrm>
        </p:spPr>
        <p:txBody>
          <a:bodyPr/>
          <a:lstStyle/>
          <a:p>
            <a:r>
              <a:rPr lang="it-IT" sz="1400">
                <a:solidFill>
                  <a:schemeClr val="bg1"/>
                </a:solidFill>
              </a:rPr>
              <a:t>B(T) prima forma</a:t>
            </a:r>
          </a:p>
        </p:txBody>
      </p:sp>
      <p:sp>
        <p:nvSpPr>
          <p:cNvPr id="721926" name="Text Box 6"/>
          <p:cNvSpPr txBox="1">
            <a:spLocks noChangeArrowheads="1"/>
          </p:cNvSpPr>
          <p:nvPr/>
        </p:nvSpPr>
        <p:spPr bwMode="auto">
          <a:xfrm>
            <a:off x="633413" y="4800600"/>
            <a:ext cx="80883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b="1" u="sng"/>
              <a:t>Nota</a:t>
            </a:r>
            <a:r>
              <a:rPr lang="it-IT" sz="2000"/>
              <a:t>: assumiamo che l’alfabeto </a:t>
            </a:r>
            <a:r>
              <a:rPr lang="it-IT" sz="2000" b="1" i="1"/>
              <a:t>C</a:t>
            </a:r>
            <a:r>
              <a:rPr lang="it-IT" sz="2000"/>
              <a:t> contenga almeno due caratteri. In caso contrario basta un numero per rappresentare il file: la sua lunghezza.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784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La lunghezza in bit del file codificato è anche:</a:t>
            </a:r>
          </a:p>
        </p:txBody>
      </p:sp>
      <p:graphicFrame>
        <p:nvGraphicFramePr>
          <p:cNvPr id="723971" name="Object 3"/>
          <p:cNvGraphicFramePr>
            <a:graphicFrameLocks noChangeAspect="1"/>
          </p:cNvGraphicFramePr>
          <p:nvPr/>
        </p:nvGraphicFramePr>
        <p:xfrm>
          <a:off x="873125" y="2667000"/>
          <a:ext cx="33575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3" imgW="1143000" imgH="342720" progId="Equation.3">
                  <p:embed/>
                </p:oleObj>
              </mc:Choice>
              <mc:Fallback>
                <p:oleObj name="Equation" r:id="rId3" imgW="1143000" imgH="342720" progId="Equation.3">
                  <p:embed/>
                  <p:pic>
                    <p:nvPicPr>
                      <p:cNvPr id="7239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667000"/>
                        <a:ext cx="33575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72" name="Text Box 4"/>
          <p:cNvSpPr txBox="1">
            <a:spLocks noChangeArrowheads="1"/>
          </p:cNvSpPr>
          <p:nvPr/>
        </p:nvSpPr>
        <p:spPr bwMode="auto">
          <a:xfrm>
            <a:off x="685800" y="5105400"/>
            <a:ext cx="7696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 cui la sommatoria è estesa alle frequenze </a:t>
            </a:r>
            <a:r>
              <a:rPr lang="it-IT" sz="3600" b="1" i="1"/>
              <a:t>f </a:t>
            </a:r>
            <a:r>
              <a:rPr lang="it-IT" sz="3600" b="1"/>
              <a:t>[</a:t>
            </a:r>
            <a:r>
              <a:rPr lang="it-IT" sz="3600" b="1" i="1"/>
              <a:t>x</a:t>
            </a:r>
            <a:r>
              <a:rPr lang="it-IT" sz="3600" b="1"/>
              <a:t>]</a:t>
            </a:r>
            <a:r>
              <a:rPr lang="it-IT"/>
              <a:t> di tutti i nodi interni </a:t>
            </a:r>
            <a:r>
              <a:rPr lang="it-IT" sz="3600" b="1" i="1"/>
              <a:t>x</a:t>
            </a:r>
            <a:r>
              <a:rPr lang="it-IT"/>
              <a:t> dell’albero </a:t>
            </a:r>
            <a:r>
              <a:rPr lang="it-IT" sz="3600" b="1" i="1"/>
              <a:t>T</a:t>
            </a:r>
            <a:r>
              <a:rPr lang="it-IT"/>
              <a:t>.</a:t>
            </a:r>
          </a:p>
        </p:txBody>
      </p:sp>
      <p:grpSp>
        <p:nvGrpSpPr>
          <p:cNvPr id="723973" name="Group 5"/>
          <p:cNvGrpSpPr>
            <a:grpSpLocks/>
          </p:cNvGrpSpPr>
          <p:nvPr/>
        </p:nvGrpSpPr>
        <p:grpSpPr bwMode="auto">
          <a:xfrm>
            <a:off x="5029200" y="1371600"/>
            <a:ext cx="3124200" cy="3581400"/>
            <a:chOff x="2496" y="1440"/>
            <a:chExt cx="2352" cy="2688"/>
          </a:xfrm>
        </p:grpSpPr>
        <p:sp>
          <p:nvSpPr>
            <p:cNvPr id="723974" name="Oval 6"/>
            <p:cNvSpPr>
              <a:spLocks noChangeArrowheads="1"/>
            </p:cNvSpPr>
            <p:nvPr/>
          </p:nvSpPr>
          <p:spPr bwMode="auto">
            <a:xfrm>
              <a:off x="3577" y="1978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400"/>
                <a:t>63</a:t>
              </a:r>
              <a:endParaRPr lang="it-IT" sz="3600"/>
            </a:p>
          </p:txBody>
        </p:sp>
        <p:sp>
          <p:nvSpPr>
            <p:cNvPr id="723975" name="Oval 7"/>
            <p:cNvSpPr>
              <a:spLocks noChangeArrowheads="1"/>
            </p:cNvSpPr>
            <p:nvPr/>
          </p:nvSpPr>
          <p:spPr bwMode="auto">
            <a:xfrm>
              <a:off x="2941" y="1440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400"/>
                <a:t>120</a:t>
              </a:r>
              <a:endParaRPr lang="it-IT" sz="3600"/>
            </a:p>
          </p:txBody>
        </p:sp>
        <p:sp>
          <p:nvSpPr>
            <p:cNvPr id="723976" name="Line 8"/>
            <p:cNvSpPr>
              <a:spLocks noChangeShapeType="1"/>
            </p:cNvSpPr>
            <p:nvPr/>
          </p:nvSpPr>
          <p:spPr bwMode="auto">
            <a:xfrm>
              <a:off x="3259" y="1739"/>
              <a:ext cx="38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77" name="Rectangle 9"/>
            <p:cNvSpPr>
              <a:spLocks noChangeArrowheads="1"/>
            </p:cNvSpPr>
            <p:nvPr/>
          </p:nvSpPr>
          <p:spPr bwMode="auto">
            <a:xfrm>
              <a:off x="2496" y="2097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400"/>
                <a:t>:57</a:t>
              </a:r>
            </a:p>
          </p:txBody>
        </p:sp>
        <p:sp>
          <p:nvSpPr>
            <p:cNvPr id="723978" name="Line 10"/>
            <p:cNvSpPr>
              <a:spLocks noChangeShapeType="1"/>
            </p:cNvSpPr>
            <p:nvPr/>
          </p:nvSpPr>
          <p:spPr bwMode="auto">
            <a:xfrm flipH="1">
              <a:off x="2687" y="1739"/>
              <a:ext cx="318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79" name="Line 11"/>
            <p:cNvSpPr>
              <a:spLocks noChangeShapeType="1"/>
            </p:cNvSpPr>
            <p:nvPr/>
          </p:nvSpPr>
          <p:spPr bwMode="auto">
            <a:xfrm flipH="1">
              <a:off x="3259" y="2276"/>
              <a:ext cx="381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0" name="Oval 12"/>
            <p:cNvSpPr>
              <a:spLocks noChangeArrowheads="1"/>
            </p:cNvSpPr>
            <p:nvPr/>
          </p:nvSpPr>
          <p:spPr bwMode="auto">
            <a:xfrm>
              <a:off x="2941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400"/>
                <a:t>25</a:t>
              </a:r>
              <a:endParaRPr lang="it-IT" sz="3600"/>
            </a:p>
          </p:txBody>
        </p:sp>
        <p:sp>
          <p:nvSpPr>
            <p:cNvPr id="723981" name="Oval 13"/>
            <p:cNvSpPr>
              <a:spLocks noChangeArrowheads="1"/>
            </p:cNvSpPr>
            <p:nvPr/>
          </p:nvSpPr>
          <p:spPr bwMode="auto">
            <a:xfrm>
              <a:off x="4149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400"/>
                <a:t>38</a:t>
              </a:r>
              <a:endParaRPr lang="it-IT" sz="3600"/>
            </a:p>
          </p:txBody>
        </p:sp>
        <p:sp>
          <p:nvSpPr>
            <p:cNvPr id="723982" name="Line 14"/>
            <p:cNvSpPr>
              <a:spLocks noChangeShapeType="1"/>
            </p:cNvSpPr>
            <p:nvPr/>
          </p:nvSpPr>
          <p:spPr bwMode="auto">
            <a:xfrm>
              <a:off x="3894" y="2276"/>
              <a:ext cx="318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3" name="Line 15"/>
            <p:cNvSpPr>
              <a:spLocks noChangeShapeType="1"/>
            </p:cNvSpPr>
            <p:nvPr/>
          </p:nvSpPr>
          <p:spPr bwMode="auto">
            <a:xfrm>
              <a:off x="3195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4" name="Line 16"/>
            <p:cNvSpPr>
              <a:spLocks noChangeShapeType="1"/>
            </p:cNvSpPr>
            <p:nvPr/>
          </p:nvSpPr>
          <p:spPr bwMode="auto">
            <a:xfrm>
              <a:off x="4467" y="2874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5" name="Line 17"/>
            <p:cNvSpPr>
              <a:spLocks noChangeShapeType="1"/>
            </p:cNvSpPr>
            <p:nvPr/>
          </p:nvSpPr>
          <p:spPr bwMode="auto">
            <a:xfrm flipH="1">
              <a:off x="2877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6" name="Line 18"/>
            <p:cNvSpPr>
              <a:spLocks noChangeShapeType="1"/>
            </p:cNvSpPr>
            <p:nvPr/>
          </p:nvSpPr>
          <p:spPr bwMode="auto">
            <a:xfrm flipH="1">
              <a:off x="4085" y="2874"/>
              <a:ext cx="19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7" name="Oval 19"/>
            <p:cNvSpPr>
              <a:spLocks noChangeArrowheads="1"/>
            </p:cNvSpPr>
            <p:nvPr/>
          </p:nvSpPr>
          <p:spPr bwMode="auto">
            <a:xfrm>
              <a:off x="3831" y="3172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400"/>
                <a:t>14</a:t>
              </a:r>
              <a:endParaRPr lang="it-IT" sz="3600"/>
            </a:p>
          </p:txBody>
        </p:sp>
        <p:sp>
          <p:nvSpPr>
            <p:cNvPr id="723988" name="Line 20"/>
            <p:cNvSpPr>
              <a:spLocks noChangeShapeType="1"/>
            </p:cNvSpPr>
            <p:nvPr/>
          </p:nvSpPr>
          <p:spPr bwMode="auto">
            <a:xfrm flipH="1">
              <a:off x="3704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89" name="Line 21"/>
            <p:cNvSpPr>
              <a:spLocks noChangeShapeType="1"/>
            </p:cNvSpPr>
            <p:nvPr/>
          </p:nvSpPr>
          <p:spPr bwMode="auto">
            <a:xfrm>
              <a:off x="4149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/>
            </a:p>
          </p:txBody>
        </p:sp>
        <p:sp>
          <p:nvSpPr>
            <p:cNvPr id="723990" name="Rectangle 22"/>
            <p:cNvSpPr>
              <a:spLocks noChangeArrowheads="1"/>
            </p:cNvSpPr>
            <p:nvPr/>
          </p:nvSpPr>
          <p:spPr bwMode="auto">
            <a:xfrm>
              <a:off x="3195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400"/>
                <a:t>:13</a:t>
              </a:r>
            </a:p>
          </p:txBody>
        </p:sp>
        <p:sp>
          <p:nvSpPr>
            <p:cNvPr id="723991" name="Rectangle 23"/>
            <p:cNvSpPr>
              <a:spLocks noChangeArrowheads="1"/>
            </p:cNvSpPr>
            <p:nvPr/>
          </p:nvSpPr>
          <p:spPr bwMode="auto">
            <a:xfrm>
              <a:off x="262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400"/>
                <a:t>:12</a:t>
              </a:r>
            </a:p>
          </p:txBody>
        </p:sp>
        <p:sp>
          <p:nvSpPr>
            <p:cNvPr id="723992" name="Rectangle 24"/>
            <p:cNvSpPr>
              <a:spLocks noChangeArrowheads="1"/>
            </p:cNvSpPr>
            <p:nvPr/>
          </p:nvSpPr>
          <p:spPr bwMode="auto">
            <a:xfrm>
              <a:off x="440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400"/>
                <a:t>:24</a:t>
              </a:r>
            </a:p>
          </p:txBody>
        </p:sp>
        <p:sp>
          <p:nvSpPr>
            <p:cNvPr id="723993" name="Rectangle 25"/>
            <p:cNvSpPr>
              <a:spLocks noChangeArrowheads="1"/>
            </p:cNvSpPr>
            <p:nvPr/>
          </p:nvSpPr>
          <p:spPr bwMode="auto">
            <a:xfrm>
              <a:off x="3513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400"/>
                <a:t>:5</a:t>
              </a:r>
            </a:p>
          </p:txBody>
        </p:sp>
        <p:sp>
          <p:nvSpPr>
            <p:cNvPr id="723994" name="Rectangle 26"/>
            <p:cNvSpPr>
              <a:spLocks noChangeArrowheads="1"/>
            </p:cNvSpPr>
            <p:nvPr/>
          </p:nvSpPr>
          <p:spPr bwMode="auto">
            <a:xfrm>
              <a:off x="4085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400"/>
                <a:t>:9</a:t>
              </a:r>
            </a:p>
          </p:txBody>
        </p:sp>
        <p:sp>
          <p:nvSpPr>
            <p:cNvPr id="723995" name="Text Box 27"/>
            <p:cNvSpPr txBox="1">
              <a:spLocks noChangeArrowheads="1"/>
            </p:cNvSpPr>
            <p:nvPr/>
          </p:nvSpPr>
          <p:spPr bwMode="auto">
            <a:xfrm>
              <a:off x="2688" y="1654"/>
              <a:ext cx="25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0</a:t>
              </a:r>
              <a:endParaRPr lang="it-IT" sz="3600"/>
            </a:p>
          </p:txBody>
        </p:sp>
        <p:sp>
          <p:nvSpPr>
            <p:cNvPr id="723996" name="Text Box 28"/>
            <p:cNvSpPr txBox="1">
              <a:spLocks noChangeArrowheads="1"/>
            </p:cNvSpPr>
            <p:nvPr/>
          </p:nvSpPr>
          <p:spPr bwMode="auto">
            <a:xfrm>
              <a:off x="3260" y="2195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0</a:t>
              </a:r>
              <a:endParaRPr lang="it-IT" sz="3600"/>
            </a:p>
          </p:txBody>
        </p:sp>
        <p:sp>
          <p:nvSpPr>
            <p:cNvPr id="723997" name="Text Box 29"/>
            <p:cNvSpPr txBox="1">
              <a:spLocks noChangeArrowheads="1"/>
            </p:cNvSpPr>
            <p:nvPr/>
          </p:nvSpPr>
          <p:spPr bwMode="auto">
            <a:xfrm>
              <a:off x="2815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0</a:t>
              </a:r>
              <a:endParaRPr lang="it-IT" sz="3600"/>
            </a:p>
          </p:txBody>
        </p:sp>
        <p:sp>
          <p:nvSpPr>
            <p:cNvPr id="723998" name="Text Box 30"/>
            <p:cNvSpPr txBox="1">
              <a:spLocks noChangeArrowheads="1"/>
            </p:cNvSpPr>
            <p:nvPr/>
          </p:nvSpPr>
          <p:spPr bwMode="auto">
            <a:xfrm>
              <a:off x="3959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0</a:t>
              </a:r>
              <a:endParaRPr lang="it-IT" sz="3600"/>
            </a:p>
          </p:txBody>
        </p:sp>
        <p:sp>
          <p:nvSpPr>
            <p:cNvPr id="723999" name="Text Box 31"/>
            <p:cNvSpPr txBox="1">
              <a:spLocks noChangeArrowheads="1"/>
            </p:cNvSpPr>
            <p:nvPr/>
          </p:nvSpPr>
          <p:spPr bwMode="auto">
            <a:xfrm>
              <a:off x="3640" y="3446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0</a:t>
              </a:r>
              <a:endParaRPr lang="it-IT" sz="3600"/>
            </a:p>
          </p:txBody>
        </p:sp>
        <p:sp>
          <p:nvSpPr>
            <p:cNvPr id="724000" name="Text Box 32"/>
            <p:cNvSpPr txBox="1">
              <a:spLocks noChangeArrowheads="1"/>
            </p:cNvSpPr>
            <p:nvPr/>
          </p:nvSpPr>
          <p:spPr bwMode="auto">
            <a:xfrm>
              <a:off x="3385" y="1654"/>
              <a:ext cx="25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1</a:t>
              </a:r>
              <a:endParaRPr lang="it-IT" sz="3600"/>
            </a:p>
          </p:txBody>
        </p:sp>
        <p:sp>
          <p:nvSpPr>
            <p:cNvPr id="724001" name="Text Box 33"/>
            <p:cNvSpPr txBox="1">
              <a:spLocks noChangeArrowheads="1"/>
            </p:cNvSpPr>
            <p:nvPr/>
          </p:nvSpPr>
          <p:spPr bwMode="auto">
            <a:xfrm>
              <a:off x="3959" y="2195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1</a:t>
              </a:r>
              <a:endParaRPr lang="it-IT" sz="3600"/>
            </a:p>
          </p:txBody>
        </p:sp>
        <p:sp>
          <p:nvSpPr>
            <p:cNvPr id="724002" name="Text Box 34"/>
            <p:cNvSpPr txBox="1">
              <a:spLocks noChangeArrowheads="1"/>
            </p:cNvSpPr>
            <p:nvPr/>
          </p:nvSpPr>
          <p:spPr bwMode="auto">
            <a:xfrm>
              <a:off x="4466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1</a:t>
              </a:r>
              <a:endParaRPr lang="it-IT" sz="3600"/>
            </a:p>
          </p:txBody>
        </p:sp>
        <p:sp>
          <p:nvSpPr>
            <p:cNvPr id="724003" name="Text Box 35"/>
            <p:cNvSpPr txBox="1">
              <a:spLocks noChangeArrowheads="1"/>
            </p:cNvSpPr>
            <p:nvPr/>
          </p:nvSpPr>
          <p:spPr bwMode="auto">
            <a:xfrm>
              <a:off x="3195" y="2794"/>
              <a:ext cx="254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1</a:t>
              </a:r>
              <a:endParaRPr lang="it-IT" sz="3600"/>
            </a:p>
          </p:txBody>
        </p:sp>
        <p:sp>
          <p:nvSpPr>
            <p:cNvPr id="724004" name="Text Box 36"/>
            <p:cNvSpPr txBox="1">
              <a:spLocks noChangeArrowheads="1"/>
            </p:cNvSpPr>
            <p:nvPr/>
          </p:nvSpPr>
          <p:spPr bwMode="auto">
            <a:xfrm>
              <a:off x="4149" y="3446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400"/>
                <a:t>1</a:t>
              </a:r>
              <a:endParaRPr lang="it-IT" sz="3600"/>
            </a:p>
          </p:txBody>
        </p:sp>
      </p:grpSp>
      <p:sp>
        <p:nvSpPr>
          <p:cNvPr id="724005" name="Rectangle 37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18288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B(T) seconda forma</a:t>
            </a:r>
            <a:endParaRPr lang="it-IT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Text Box 2"/>
          <p:cNvSpPr txBox="1">
            <a:spLocks noChangeArrowheads="1"/>
          </p:cNvSpPr>
          <p:nvPr/>
        </p:nvSpPr>
        <p:spPr bwMode="auto">
          <a:xfrm>
            <a:off x="422275" y="304800"/>
            <a:ext cx="83693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L’algoritmo goloso di Huffman costruisce l’albero di un codice prefisso ottimo. </a:t>
            </a:r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703263" y="1371600"/>
            <a:ext cx="7737475" cy="35337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800" b="1" i="1"/>
              <a:t>Huffman</a:t>
            </a:r>
            <a:r>
              <a:rPr lang="it-IT" sz="2800" b="1"/>
              <a:t>(</a:t>
            </a:r>
            <a:r>
              <a:rPr lang="it-IT" sz="2800" b="1" i="1"/>
              <a:t>c</a:t>
            </a:r>
            <a:r>
              <a:rPr lang="it-IT" sz="2800" b="1"/>
              <a:t>, </a:t>
            </a:r>
            <a:r>
              <a:rPr lang="it-IT" sz="2800" b="1" i="1"/>
              <a:t>f</a:t>
            </a:r>
            <a:r>
              <a:rPr lang="it-IT" sz="2800" b="1"/>
              <a:t>, </a:t>
            </a:r>
            <a:r>
              <a:rPr lang="it-IT" sz="2800" b="1" i="1"/>
              <a:t>n</a:t>
            </a:r>
            <a:r>
              <a:rPr lang="it-IT" sz="2800" b="1"/>
              <a:t>)</a:t>
            </a:r>
          </a:p>
          <a:p>
            <a:r>
              <a:rPr lang="it-IT" sz="2800" b="1"/>
              <a:t>    </a:t>
            </a:r>
            <a:r>
              <a:rPr lang="it-IT" sz="2800" b="1" i="1"/>
              <a:t>Q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</a:t>
            </a:r>
            <a:r>
              <a:rPr lang="it-IT" sz="2800" b="1"/>
              <a:t> </a:t>
            </a:r>
            <a:r>
              <a:rPr lang="it-IT" sz="2800" b="1">
                <a:sym typeface="Symbol" charset="0"/>
              </a:rPr>
              <a:t> 			</a:t>
            </a:r>
            <a:r>
              <a:rPr lang="it-IT" sz="28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8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800" b="1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800" b="1"/>
              <a:t>    </a:t>
            </a:r>
            <a:r>
              <a:rPr lang="it-IT" sz="2800" b="1">
                <a:sym typeface="Symbol" charset="0"/>
              </a:rPr>
              <a:t>for </a:t>
            </a:r>
            <a:r>
              <a:rPr lang="it-IT" sz="2800" b="1" i="1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  1 to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 do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Push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Q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nodo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, </a:t>
            </a:r>
            <a:r>
              <a:rPr lang="it-IT" sz="2800" b="1" i="1">
                <a:sym typeface="Symbol" charset="0"/>
              </a:rPr>
              <a:t>c</a:t>
            </a:r>
            <a:r>
              <a:rPr lang="it-IT" sz="2800" b="1" i="1" baseline="-25000">
                <a:sym typeface="Symbol" charset="0"/>
              </a:rPr>
              <a:t>i</a:t>
            </a:r>
            <a:r>
              <a:rPr lang="it-IT" sz="2800" b="1">
                <a:sym typeface="Symbol" charset="0"/>
              </a:rPr>
              <a:t>))</a:t>
            </a:r>
          </a:p>
          <a:p>
            <a:r>
              <a:rPr lang="it-IT" sz="2800" b="1">
                <a:sym typeface="Symbol" charset="0"/>
              </a:rPr>
              <a:t>    for </a:t>
            </a:r>
            <a:r>
              <a:rPr lang="it-IT" sz="2800" b="1" i="1">
                <a:sym typeface="Symbol" charset="0"/>
              </a:rPr>
              <a:t>j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n</a:t>
            </a:r>
            <a:r>
              <a:rPr lang="it-IT" sz="2800" b="1">
                <a:sym typeface="Symbol" charset="0"/>
              </a:rPr>
              <a:t> downto 2 do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ExtractMin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Q</a:t>
            </a:r>
            <a:r>
              <a:rPr lang="it-IT" sz="2800" b="1">
                <a:sym typeface="Symbol" charset="0"/>
              </a:rPr>
              <a:t>), 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  </a:t>
            </a:r>
            <a:r>
              <a:rPr lang="it-IT" sz="2800" b="1" i="1">
                <a:sym typeface="Symbol" charset="0"/>
              </a:rPr>
              <a:t>ExtractMin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Q</a:t>
            </a:r>
            <a:r>
              <a:rPr lang="it-IT" sz="2800" b="1">
                <a:sym typeface="Symbol" charset="0"/>
              </a:rPr>
              <a:t>)</a:t>
            </a:r>
          </a:p>
          <a:p>
            <a:r>
              <a:rPr lang="it-IT" sz="2800" b="1">
                <a:sym typeface="Symbol" charset="0"/>
              </a:rPr>
              <a:t>        </a:t>
            </a:r>
            <a:r>
              <a:rPr lang="it-IT" sz="2800" b="1" i="1">
                <a:sym typeface="Symbol" charset="0"/>
              </a:rPr>
              <a:t>Insert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Q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nodo</a:t>
            </a:r>
            <a:r>
              <a:rPr lang="it-IT" sz="2800" b="1">
                <a:sym typeface="Symbol" charset="0"/>
              </a:rPr>
              <a:t>(</a:t>
            </a:r>
            <a:r>
              <a:rPr lang="it-IT" sz="2800" b="1" i="1">
                <a:sym typeface="Symbol" charset="0"/>
              </a:rPr>
              <a:t>x</a:t>
            </a:r>
            <a:r>
              <a:rPr lang="it-IT" sz="2800" b="1">
                <a:sym typeface="Symbol" charset="0"/>
              </a:rPr>
              <a:t>,</a:t>
            </a:r>
            <a:r>
              <a:rPr lang="it-IT" sz="2800" b="1" i="1">
                <a:sym typeface="Symbol" charset="0"/>
              </a:rPr>
              <a:t>y</a:t>
            </a:r>
            <a:r>
              <a:rPr lang="it-IT" sz="2800" b="1">
                <a:sym typeface="Symbol" charset="0"/>
              </a:rPr>
              <a:t>))</a:t>
            </a:r>
          </a:p>
          <a:p>
            <a:r>
              <a:rPr lang="it-IT" sz="2800" b="1"/>
              <a:t>    return </a:t>
            </a:r>
            <a:r>
              <a:rPr lang="it-IT" sz="2800" b="1" i="1"/>
              <a:t>ExtractMin</a:t>
            </a:r>
            <a:r>
              <a:rPr lang="it-IT" sz="2800" b="1"/>
              <a:t>(</a:t>
            </a:r>
            <a:r>
              <a:rPr lang="it-IT" sz="2800" b="1" i="1"/>
              <a:t>Q</a:t>
            </a:r>
            <a:r>
              <a:rPr lang="it-IT" sz="2800" b="1"/>
              <a:t>)</a:t>
            </a:r>
          </a:p>
        </p:txBody>
      </p:sp>
      <p:sp>
        <p:nvSpPr>
          <p:cNvPr id="724997" name="Text Box 5"/>
          <p:cNvSpPr txBox="1">
            <a:spLocks noChangeArrowheads="1"/>
          </p:cNvSpPr>
          <p:nvPr/>
        </p:nvSpPr>
        <p:spPr bwMode="auto">
          <a:xfrm>
            <a:off x="422275" y="4953000"/>
            <a:ext cx="8369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i="1"/>
              <a:t>Q</a:t>
            </a:r>
            <a:r>
              <a:rPr lang="it-IT"/>
              <a:t> è una coda con priorità, </a:t>
            </a:r>
            <a:r>
              <a:rPr lang="it-IT" b="1" i="1">
                <a:sym typeface="Symbol" charset="0"/>
              </a:rPr>
              <a:t>nodo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f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c</a:t>
            </a:r>
            <a:r>
              <a:rPr lang="it-IT" b="1">
                <a:sym typeface="Symbol" charset="0"/>
              </a:rPr>
              <a:t>) </a:t>
            </a:r>
            <a:r>
              <a:rPr lang="it-IT">
                <a:sym typeface="Symbol" charset="0"/>
              </a:rPr>
              <a:t>è il costruttore di</a:t>
            </a:r>
            <a:r>
              <a:rPr lang="it-IT" b="1">
                <a:sym typeface="Symbol" charset="0"/>
              </a:rPr>
              <a:t> </a:t>
            </a:r>
            <a:r>
              <a:rPr lang="it-IT"/>
              <a:t>un nodo foglia e </a:t>
            </a:r>
            <a:r>
              <a:rPr lang="it-IT" b="1" i="1">
                <a:sym typeface="Symbol" charset="0"/>
              </a:rPr>
              <a:t>nodo</a:t>
            </a:r>
            <a:r>
              <a:rPr lang="it-IT" b="1">
                <a:sym typeface="Symbol" charset="0"/>
              </a:rPr>
              <a:t>(</a:t>
            </a:r>
            <a:r>
              <a:rPr lang="it-IT" b="1" i="1">
                <a:sym typeface="Symbol" charset="0"/>
              </a:rPr>
              <a:t>x</a:t>
            </a:r>
            <a:r>
              <a:rPr lang="it-IT" b="1">
                <a:sym typeface="Symbol" charset="0"/>
              </a:rPr>
              <a:t>, </a:t>
            </a:r>
            <a:r>
              <a:rPr lang="it-IT" b="1" i="1">
                <a:sym typeface="Symbol" charset="0"/>
              </a:rPr>
              <a:t>y</a:t>
            </a:r>
            <a:r>
              <a:rPr lang="it-IT" b="1">
                <a:sym typeface="Symbol" charset="0"/>
              </a:rPr>
              <a:t>)</a:t>
            </a:r>
            <a:r>
              <a:rPr lang="it-IT"/>
              <a:t> </a:t>
            </a:r>
            <a:r>
              <a:rPr lang="it-IT">
                <a:sym typeface="Symbol" charset="0"/>
              </a:rPr>
              <a:t>è</a:t>
            </a:r>
            <a:r>
              <a:rPr lang="it-IT"/>
              <a:t> il costruttore di un nodo interno.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42" name="Group 2"/>
          <p:cNvGrpSpPr>
            <a:grpSpLocks/>
          </p:cNvGrpSpPr>
          <p:nvPr/>
        </p:nvGrpSpPr>
        <p:grpSpPr bwMode="auto">
          <a:xfrm>
            <a:off x="762000" y="2743200"/>
            <a:ext cx="6400800" cy="1752600"/>
            <a:chOff x="384" y="2964"/>
            <a:chExt cx="3024" cy="876"/>
          </a:xfrm>
        </p:grpSpPr>
        <p:sp>
          <p:nvSpPr>
            <p:cNvPr id="727043" name="Rectangle 3"/>
            <p:cNvSpPr>
              <a:spLocks noChangeArrowheads="1"/>
            </p:cNvSpPr>
            <p:nvPr/>
          </p:nvSpPr>
          <p:spPr bwMode="auto">
            <a:xfrm>
              <a:off x="3072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7044" name="Rectangle 4"/>
            <p:cNvSpPr>
              <a:spLocks noChangeArrowheads="1"/>
            </p:cNvSpPr>
            <p:nvPr/>
          </p:nvSpPr>
          <p:spPr bwMode="auto">
            <a:xfrm>
              <a:off x="1392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7045" name="Rectangle 5"/>
            <p:cNvSpPr>
              <a:spLocks noChangeArrowheads="1"/>
            </p:cNvSpPr>
            <p:nvPr/>
          </p:nvSpPr>
          <p:spPr bwMode="auto">
            <a:xfrm>
              <a:off x="816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7046" name="Oval 6"/>
            <p:cNvSpPr>
              <a:spLocks noChangeArrowheads="1"/>
            </p:cNvSpPr>
            <p:nvPr/>
          </p:nvSpPr>
          <p:spPr bwMode="auto">
            <a:xfrm>
              <a:off x="1968" y="307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7047" name="Line 7"/>
            <p:cNvSpPr>
              <a:spLocks noChangeShapeType="1"/>
            </p:cNvSpPr>
            <p:nvPr/>
          </p:nvSpPr>
          <p:spPr bwMode="auto">
            <a:xfrm flipH="1">
              <a:off x="1872" y="336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48" name="Line 8"/>
            <p:cNvSpPr>
              <a:spLocks noChangeShapeType="1"/>
            </p:cNvSpPr>
            <p:nvPr/>
          </p:nvSpPr>
          <p:spPr bwMode="auto">
            <a:xfrm>
              <a:off x="2208" y="336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49" name="Rectangle 9"/>
            <p:cNvSpPr>
              <a:spLocks noChangeArrowheads="1"/>
            </p:cNvSpPr>
            <p:nvPr/>
          </p:nvSpPr>
          <p:spPr bwMode="auto">
            <a:xfrm>
              <a:off x="2496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7050" name="Rectangle 10"/>
            <p:cNvSpPr>
              <a:spLocks noChangeArrowheads="1"/>
            </p:cNvSpPr>
            <p:nvPr/>
          </p:nvSpPr>
          <p:spPr bwMode="auto">
            <a:xfrm>
              <a:off x="1728" y="364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7051" name="Rectangle 11"/>
            <p:cNvSpPr>
              <a:spLocks noChangeArrowheads="1"/>
            </p:cNvSpPr>
            <p:nvPr/>
          </p:nvSpPr>
          <p:spPr bwMode="auto">
            <a:xfrm>
              <a:off x="2160" y="364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7052" name="Text Box 12"/>
            <p:cNvSpPr txBox="1">
              <a:spLocks noChangeArrowheads="1"/>
            </p:cNvSpPr>
            <p:nvPr/>
          </p:nvSpPr>
          <p:spPr bwMode="auto">
            <a:xfrm>
              <a:off x="1824" y="3249"/>
              <a:ext cx="171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7053" name="Text Box 13"/>
            <p:cNvSpPr txBox="1">
              <a:spLocks noChangeArrowheads="1"/>
            </p:cNvSpPr>
            <p:nvPr/>
          </p:nvSpPr>
          <p:spPr bwMode="auto">
            <a:xfrm>
              <a:off x="2208" y="3249"/>
              <a:ext cx="171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7054" name="Text Box 14"/>
            <p:cNvSpPr txBox="1">
              <a:spLocks noChangeArrowheads="1"/>
            </p:cNvSpPr>
            <p:nvPr/>
          </p:nvSpPr>
          <p:spPr bwMode="auto">
            <a:xfrm>
              <a:off x="384" y="2964"/>
              <a:ext cx="21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7055" name="AutoShape 15"/>
            <p:cNvSpPr>
              <a:spLocks noChangeArrowheads="1"/>
            </p:cNvSpPr>
            <p:nvPr/>
          </p:nvSpPr>
          <p:spPr bwMode="auto">
            <a:xfrm>
              <a:off x="624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56" name="AutoShape 16"/>
            <p:cNvSpPr>
              <a:spLocks noChangeArrowheads="1"/>
            </p:cNvSpPr>
            <p:nvPr/>
          </p:nvSpPr>
          <p:spPr bwMode="auto">
            <a:xfrm>
              <a:off x="2304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57" name="AutoShape 17"/>
            <p:cNvSpPr>
              <a:spLocks noChangeArrowheads="1"/>
            </p:cNvSpPr>
            <p:nvPr/>
          </p:nvSpPr>
          <p:spPr bwMode="auto">
            <a:xfrm>
              <a:off x="2880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58" name="AutoShape 18"/>
            <p:cNvSpPr>
              <a:spLocks noChangeArrowheads="1"/>
            </p:cNvSpPr>
            <p:nvPr/>
          </p:nvSpPr>
          <p:spPr bwMode="auto">
            <a:xfrm>
              <a:off x="1200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  <p:sp>
          <p:nvSpPr>
            <p:cNvPr id="727059" name="AutoShape 19"/>
            <p:cNvSpPr>
              <a:spLocks noChangeArrowheads="1"/>
            </p:cNvSpPr>
            <p:nvPr/>
          </p:nvSpPr>
          <p:spPr bwMode="auto">
            <a:xfrm>
              <a:off x="1776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/>
            </a:p>
          </p:txBody>
        </p:sp>
      </p:grpSp>
      <p:grpSp>
        <p:nvGrpSpPr>
          <p:cNvPr id="727060" name="Group 20"/>
          <p:cNvGrpSpPr>
            <a:grpSpLocks/>
          </p:cNvGrpSpPr>
          <p:nvPr/>
        </p:nvGrpSpPr>
        <p:grpSpPr bwMode="auto">
          <a:xfrm>
            <a:off x="762000" y="1828800"/>
            <a:ext cx="7620000" cy="687388"/>
            <a:chOff x="288" y="1334"/>
            <a:chExt cx="3648" cy="346"/>
          </a:xfrm>
        </p:grpSpPr>
        <p:sp>
          <p:nvSpPr>
            <p:cNvPr id="727061" name="Rectangle 21"/>
            <p:cNvSpPr>
              <a:spLocks noChangeArrowheads="1"/>
            </p:cNvSpPr>
            <p:nvPr/>
          </p:nvSpPr>
          <p:spPr bwMode="auto">
            <a:xfrm>
              <a:off x="3600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7062" name="Rectangle 22"/>
            <p:cNvSpPr>
              <a:spLocks noChangeArrowheads="1"/>
            </p:cNvSpPr>
            <p:nvPr/>
          </p:nvSpPr>
          <p:spPr bwMode="auto">
            <a:xfrm>
              <a:off x="3024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7063" name="Rectangle 23"/>
            <p:cNvSpPr>
              <a:spLocks noChangeArrowheads="1"/>
            </p:cNvSpPr>
            <p:nvPr/>
          </p:nvSpPr>
          <p:spPr bwMode="auto">
            <a:xfrm>
              <a:off x="720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7064" name="Rectangle 24"/>
            <p:cNvSpPr>
              <a:spLocks noChangeArrowheads="1"/>
            </p:cNvSpPr>
            <p:nvPr/>
          </p:nvSpPr>
          <p:spPr bwMode="auto">
            <a:xfrm>
              <a:off x="1296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7065" name="Text Box 25"/>
            <p:cNvSpPr txBox="1">
              <a:spLocks noChangeArrowheads="1"/>
            </p:cNvSpPr>
            <p:nvPr/>
          </p:nvSpPr>
          <p:spPr bwMode="auto">
            <a:xfrm>
              <a:off x="288" y="1334"/>
              <a:ext cx="220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7066" name="AutoShape 26"/>
            <p:cNvSpPr>
              <a:spLocks noChangeArrowheads="1"/>
            </p:cNvSpPr>
            <p:nvPr/>
          </p:nvSpPr>
          <p:spPr bwMode="auto">
            <a:xfrm>
              <a:off x="528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  <p:sp>
          <p:nvSpPr>
            <p:cNvPr id="727067" name="AutoShape 27"/>
            <p:cNvSpPr>
              <a:spLocks noChangeArrowheads="1"/>
            </p:cNvSpPr>
            <p:nvPr/>
          </p:nvSpPr>
          <p:spPr bwMode="auto">
            <a:xfrm>
              <a:off x="2832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  <p:sp>
          <p:nvSpPr>
            <p:cNvPr id="727068" name="AutoShape 28"/>
            <p:cNvSpPr>
              <a:spLocks noChangeArrowheads="1"/>
            </p:cNvSpPr>
            <p:nvPr/>
          </p:nvSpPr>
          <p:spPr bwMode="auto">
            <a:xfrm>
              <a:off x="3408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  <p:sp>
          <p:nvSpPr>
            <p:cNvPr id="727069" name="AutoShape 29"/>
            <p:cNvSpPr>
              <a:spLocks noChangeArrowheads="1"/>
            </p:cNvSpPr>
            <p:nvPr/>
          </p:nvSpPr>
          <p:spPr bwMode="auto">
            <a:xfrm>
              <a:off x="1104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  <p:sp>
          <p:nvSpPr>
            <p:cNvPr id="727070" name="AutoShape 30"/>
            <p:cNvSpPr>
              <a:spLocks noChangeArrowheads="1"/>
            </p:cNvSpPr>
            <p:nvPr/>
          </p:nvSpPr>
          <p:spPr bwMode="auto">
            <a:xfrm>
              <a:off x="1680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  <p:sp>
          <p:nvSpPr>
            <p:cNvPr id="727071" name="Rectangle 31"/>
            <p:cNvSpPr>
              <a:spLocks noChangeArrowheads="1"/>
            </p:cNvSpPr>
            <p:nvPr/>
          </p:nvSpPr>
          <p:spPr bwMode="auto">
            <a:xfrm>
              <a:off x="2448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7072" name="Rectangle 32"/>
            <p:cNvSpPr>
              <a:spLocks noChangeArrowheads="1"/>
            </p:cNvSpPr>
            <p:nvPr/>
          </p:nvSpPr>
          <p:spPr bwMode="auto">
            <a:xfrm>
              <a:off x="1872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7073" name="AutoShape 33"/>
            <p:cNvSpPr>
              <a:spLocks noChangeArrowheads="1"/>
            </p:cNvSpPr>
            <p:nvPr/>
          </p:nvSpPr>
          <p:spPr bwMode="auto">
            <a:xfrm>
              <a:off x="2256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/>
            </a:p>
          </p:txBody>
        </p:sp>
      </p:grpSp>
      <p:sp>
        <p:nvSpPr>
          <p:cNvPr id="727074" name="Text Box 34"/>
          <p:cNvSpPr txBox="1">
            <a:spLocks noChangeArrowheads="1"/>
          </p:cNvSpPr>
          <p:nvPr/>
        </p:nvSpPr>
        <p:spPr bwMode="auto">
          <a:xfrm>
            <a:off x="685800" y="990600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</p:txBody>
      </p:sp>
      <p:sp>
        <p:nvSpPr>
          <p:cNvPr id="727075" name="Text Box 35"/>
          <p:cNvSpPr txBox="1">
            <a:spLocks noChangeArrowheads="1"/>
          </p:cNvSpPr>
          <p:nvPr/>
        </p:nvSpPr>
        <p:spPr bwMode="auto">
          <a:xfrm>
            <a:off x="609600" y="304800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Costruzione dell’albero di Huffman con dati:</a:t>
            </a:r>
          </a:p>
        </p:txBody>
      </p:sp>
      <p:grpSp>
        <p:nvGrpSpPr>
          <p:cNvPr id="727076" name="Group 36"/>
          <p:cNvGrpSpPr>
            <a:grpSpLocks/>
          </p:cNvGrpSpPr>
          <p:nvPr/>
        </p:nvGrpSpPr>
        <p:grpSpPr bwMode="auto">
          <a:xfrm>
            <a:off x="762000" y="4572000"/>
            <a:ext cx="4876800" cy="1676400"/>
            <a:chOff x="2880" y="2004"/>
            <a:chExt cx="2400" cy="876"/>
          </a:xfrm>
        </p:grpSpPr>
        <p:sp>
          <p:nvSpPr>
            <p:cNvPr id="727077" name="Rectangle 37"/>
            <p:cNvSpPr>
              <a:spLocks noChangeArrowheads="1"/>
            </p:cNvSpPr>
            <p:nvPr/>
          </p:nvSpPr>
          <p:spPr bwMode="auto">
            <a:xfrm>
              <a:off x="4944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7078" name="Oval 38"/>
            <p:cNvSpPr>
              <a:spLocks noChangeArrowheads="1"/>
            </p:cNvSpPr>
            <p:nvPr/>
          </p:nvSpPr>
          <p:spPr bwMode="auto">
            <a:xfrm>
              <a:off x="4416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27079" name="Line 39"/>
            <p:cNvSpPr>
              <a:spLocks noChangeShapeType="1"/>
            </p:cNvSpPr>
            <p:nvPr/>
          </p:nvSpPr>
          <p:spPr bwMode="auto">
            <a:xfrm>
              <a:off x="460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80" name="Line 40"/>
            <p:cNvSpPr>
              <a:spLocks noChangeShapeType="1"/>
            </p:cNvSpPr>
            <p:nvPr/>
          </p:nvSpPr>
          <p:spPr bwMode="auto">
            <a:xfrm flipH="1">
              <a:off x="436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81" name="Rectangle 41"/>
            <p:cNvSpPr>
              <a:spLocks noChangeArrowheads="1"/>
            </p:cNvSpPr>
            <p:nvPr/>
          </p:nvSpPr>
          <p:spPr bwMode="auto">
            <a:xfrm>
              <a:off x="4608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7082" name="Rectangle 42"/>
            <p:cNvSpPr>
              <a:spLocks noChangeArrowheads="1"/>
            </p:cNvSpPr>
            <p:nvPr/>
          </p:nvSpPr>
          <p:spPr bwMode="auto">
            <a:xfrm>
              <a:off x="4176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7083" name="Text Box 43"/>
            <p:cNvSpPr txBox="1">
              <a:spLocks noChangeArrowheads="1"/>
            </p:cNvSpPr>
            <p:nvPr/>
          </p:nvSpPr>
          <p:spPr bwMode="auto">
            <a:xfrm>
              <a:off x="4320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7084" name="Text Box 44"/>
            <p:cNvSpPr txBox="1">
              <a:spLocks noChangeArrowheads="1"/>
            </p:cNvSpPr>
            <p:nvPr/>
          </p:nvSpPr>
          <p:spPr bwMode="auto">
            <a:xfrm>
              <a:off x="460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7085" name="Oval 45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7086" name="Line 46"/>
            <p:cNvSpPr>
              <a:spLocks noChangeShapeType="1"/>
            </p:cNvSpPr>
            <p:nvPr/>
          </p:nvSpPr>
          <p:spPr bwMode="auto">
            <a:xfrm flipH="1">
              <a:off x="3216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87" name="Line 47"/>
            <p:cNvSpPr>
              <a:spLocks noChangeShapeType="1"/>
            </p:cNvSpPr>
            <p:nvPr/>
          </p:nvSpPr>
          <p:spPr bwMode="auto">
            <a:xfrm>
              <a:off x="3552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88" name="Rectangle 48"/>
            <p:cNvSpPr>
              <a:spLocks noChangeArrowheads="1"/>
            </p:cNvSpPr>
            <p:nvPr/>
          </p:nvSpPr>
          <p:spPr bwMode="auto">
            <a:xfrm>
              <a:off x="3840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7089" name="Rectangle 49"/>
            <p:cNvSpPr>
              <a:spLocks noChangeArrowheads="1"/>
            </p:cNvSpPr>
            <p:nvPr/>
          </p:nvSpPr>
          <p:spPr bwMode="auto">
            <a:xfrm>
              <a:off x="3072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7090" name="Rectangle 50"/>
            <p:cNvSpPr>
              <a:spLocks noChangeArrowheads="1"/>
            </p:cNvSpPr>
            <p:nvPr/>
          </p:nvSpPr>
          <p:spPr bwMode="auto">
            <a:xfrm>
              <a:off x="3504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7091" name="Text Box 51"/>
            <p:cNvSpPr txBox="1">
              <a:spLocks noChangeArrowheads="1"/>
            </p:cNvSpPr>
            <p:nvPr/>
          </p:nvSpPr>
          <p:spPr bwMode="auto">
            <a:xfrm>
              <a:off x="316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7092" name="Text Box 52"/>
            <p:cNvSpPr txBox="1">
              <a:spLocks noChangeArrowheads="1"/>
            </p:cNvSpPr>
            <p:nvPr/>
          </p:nvSpPr>
          <p:spPr bwMode="auto">
            <a:xfrm>
              <a:off x="3552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7093" name="Text Box 53"/>
            <p:cNvSpPr txBox="1">
              <a:spLocks noChangeArrowheads="1"/>
            </p:cNvSpPr>
            <p:nvPr/>
          </p:nvSpPr>
          <p:spPr bwMode="auto">
            <a:xfrm>
              <a:off x="2880" y="2004"/>
              <a:ext cx="22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7094" name="AutoShape 54"/>
            <p:cNvSpPr>
              <a:spLocks noChangeArrowheads="1"/>
            </p:cNvSpPr>
            <p:nvPr/>
          </p:nvSpPr>
          <p:spPr bwMode="auto">
            <a:xfrm>
              <a:off x="3120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95" name="AutoShape 55"/>
            <p:cNvSpPr>
              <a:spLocks noChangeArrowheads="1"/>
            </p:cNvSpPr>
            <p:nvPr/>
          </p:nvSpPr>
          <p:spPr bwMode="auto">
            <a:xfrm>
              <a:off x="4752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96" name="AutoShape 56"/>
            <p:cNvSpPr>
              <a:spLocks noChangeArrowheads="1"/>
            </p:cNvSpPr>
            <p:nvPr/>
          </p:nvSpPr>
          <p:spPr bwMode="auto">
            <a:xfrm>
              <a:off x="3648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7097" name="AutoShape 57"/>
            <p:cNvSpPr>
              <a:spLocks noChangeArrowheads="1"/>
            </p:cNvSpPr>
            <p:nvPr/>
          </p:nvSpPr>
          <p:spPr bwMode="auto">
            <a:xfrm>
              <a:off x="4224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066" name="Group 2"/>
          <p:cNvGrpSpPr>
            <a:grpSpLocks/>
          </p:cNvGrpSpPr>
          <p:nvPr/>
        </p:nvGrpSpPr>
        <p:grpSpPr bwMode="auto">
          <a:xfrm>
            <a:off x="762000" y="3124200"/>
            <a:ext cx="4572000" cy="2667000"/>
            <a:chOff x="3216" y="2580"/>
            <a:chExt cx="2256" cy="1404"/>
          </a:xfrm>
        </p:grpSpPr>
        <p:sp>
          <p:nvSpPr>
            <p:cNvPr id="728067" name="Rectangle 3"/>
            <p:cNvSpPr>
              <a:spLocks noChangeArrowheads="1"/>
            </p:cNvSpPr>
            <p:nvPr/>
          </p:nvSpPr>
          <p:spPr bwMode="auto">
            <a:xfrm>
              <a:off x="5136" y="273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8068" name="Oval 4"/>
            <p:cNvSpPr>
              <a:spLocks noChangeArrowheads="1"/>
            </p:cNvSpPr>
            <p:nvPr/>
          </p:nvSpPr>
          <p:spPr bwMode="auto">
            <a:xfrm>
              <a:off x="3648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28069" name="Line 5"/>
            <p:cNvSpPr>
              <a:spLocks noChangeShapeType="1"/>
            </p:cNvSpPr>
            <p:nvPr/>
          </p:nvSpPr>
          <p:spPr bwMode="auto">
            <a:xfrm>
              <a:off x="384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70" name="Line 6"/>
            <p:cNvSpPr>
              <a:spLocks noChangeShapeType="1"/>
            </p:cNvSpPr>
            <p:nvPr/>
          </p:nvSpPr>
          <p:spPr bwMode="auto">
            <a:xfrm flipH="1">
              <a:off x="36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71" name="Rectangle 7"/>
            <p:cNvSpPr>
              <a:spLocks noChangeArrowheads="1"/>
            </p:cNvSpPr>
            <p:nvPr/>
          </p:nvSpPr>
          <p:spPr bwMode="auto">
            <a:xfrm>
              <a:off x="3840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8072" name="Rectangle 8"/>
            <p:cNvSpPr>
              <a:spLocks noChangeArrowheads="1"/>
            </p:cNvSpPr>
            <p:nvPr/>
          </p:nvSpPr>
          <p:spPr bwMode="auto">
            <a:xfrm>
              <a:off x="3408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8073" name="Text Box 9"/>
            <p:cNvSpPr txBox="1">
              <a:spLocks noChangeArrowheads="1"/>
            </p:cNvSpPr>
            <p:nvPr/>
          </p:nvSpPr>
          <p:spPr bwMode="auto">
            <a:xfrm>
              <a:off x="3552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8074" name="Text Box 10"/>
            <p:cNvSpPr txBox="1">
              <a:spLocks noChangeArrowheads="1"/>
            </p:cNvSpPr>
            <p:nvPr/>
          </p:nvSpPr>
          <p:spPr bwMode="auto">
            <a:xfrm>
              <a:off x="384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8075" name="Oval 11"/>
            <p:cNvSpPr>
              <a:spLocks noChangeArrowheads="1"/>
            </p:cNvSpPr>
            <p:nvPr/>
          </p:nvSpPr>
          <p:spPr bwMode="auto">
            <a:xfrm>
              <a:off x="4560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28076" name="Line 12"/>
            <p:cNvSpPr>
              <a:spLocks noChangeShapeType="1"/>
            </p:cNvSpPr>
            <p:nvPr/>
          </p:nvSpPr>
          <p:spPr bwMode="auto">
            <a:xfrm>
              <a:off x="48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77" name="Line 13"/>
            <p:cNvSpPr>
              <a:spLocks noChangeShapeType="1"/>
            </p:cNvSpPr>
            <p:nvPr/>
          </p:nvSpPr>
          <p:spPr bwMode="auto">
            <a:xfrm flipH="1">
              <a:off x="4512" y="29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78" name="Oval 14"/>
            <p:cNvSpPr>
              <a:spLocks noChangeArrowheads="1"/>
            </p:cNvSpPr>
            <p:nvPr/>
          </p:nvSpPr>
          <p:spPr bwMode="auto">
            <a:xfrm>
              <a:off x="4320" y="32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8079" name="Line 15"/>
            <p:cNvSpPr>
              <a:spLocks noChangeShapeType="1"/>
            </p:cNvSpPr>
            <p:nvPr/>
          </p:nvSpPr>
          <p:spPr bwMode="auto">
            <a:xfrm flipH="1">
              <a:off x="4224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80" name="Line 16"/>
            <p:cNvSpPr>
              <a:spLocks noChangeShapeType="1"/>
            </p:cNvSpPr>
            <p:nvPr/>
          </p:nvSpPr>
          <p:spPr bwMode="auto">
            <a:xfrm>
              <a:off x="4560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81" name="Rectangle 17"/>
            <p:cNvSpPr>
              <a:spLocks noChangeArrowheads="1"/>
            </p:cNvSpPr>
            <p:nvPr/>
          </p:nvSpPr>
          <p:spPr bwMode="auto">
            <a:xfrm>
              <a:off x="4752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8082" name="Rectangle 18"/>
            <p:cNvSpPr>
              <a:spLocks noChangeArrowheads="1"/>
            </p:cNvSpPr>
            <p:nvPr/>
          </p:nvSpPr>
          <p:spPr bwMode="auto">
            <a:xfrm>
              <a:off x="4080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8083" name="Rectangle 19"/>
            <p:cNvSpPr>
              <a:spLocks noChangeArrowheads="1"/>
            </p:cNvSpPr>
            <p:nvPr/>
          </p:nvSpPr>
          <p:spPr bwMode="auto">
            <a:xfrm>
              <a:off x="4512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8084" name="Text Box 20"/>
            <p:cNvSpPr txBox="1">
              <a:spLocks noChangeArrowheads="1"/>
            </p:cNvSpPr>
            <p:nvPr/>
          </p:nvSpPr>
          <p:spPr bwMode="auto">
            <a:xfrm>
              <a:off x="4416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8085" name="Text Box 21"/>
            <p:cNvSpPr txBox="1">
              <a:spLocks noChangeArrowheads="1"/>
            </p:cNvSpPr>
            <p:nvPr/>
          </p:nvSpPr>
          <p:spPr bwMode="auto">
            <a:xfrm>
              <a:off x="4176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8086" name="Text Box 22"/>
            <p:cNvSpPr txBox="1">
              <a:spLocks noChangeArrowheads="1"/>
            </p:cNvSpPr>
            <p:nvPr/>
          </p:nvSpPr>
          <p:spPr bwMode="auto">
            <a:xfrm>
              <a:off x="480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8087" name="Text Box 23"/>
            <p:cNvSpPr txBox="1">
              <a:spLocks noChangeArrowheads="1"/>
            </p:cNvSpPr>
            <p:nvPr/>
          </p:nvSpPr>
          <p:spPr bwMode="auto">
            <a:xfrm>
              <a:off x="4560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8088" name="Text Box 24"/>
            <p:cNvSpPr txBox="1">
              <a:spLocks noChangeArrowheads="1"/>
            </p:cNvSpPr>
            <p:nvPr/>
          </p:nvSpPr>
          <p:spPr bwMode="auto">
            <a:xfrm>
              <a:off x="3216" y="2580"/>
              <a:ext cx="22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8089" name="AutoShape 25"/>
            <p:cNvSpPr>
              <a:spLocks noChangeArrowheads="1"/>
            </p:cNvSpPr>
            <p:nvPr/>
          </p:nvSpPr>
          <p:spPr bwMode="auto">
            <a:xfrm>
              <a:off x="3456" y="2784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90" name="AutoShape 26"/>
            <p:cNvSpPr>
              <a:spLocks noChangeArrowheads="1"/>
            </p:cNvSpPr>
            <p:nvPr/>
          </p:nvSpPr>
          <p:spPr bwMode="auto">
            <a:xfrm>
              <a:off x="3984" y="2784"/>
              <a:ext cx="528" cy="96"/>
            </a:xfrm>
            <a:prstGeom prst="rightArrow">
              <a:avLst>
                <a:gd name="adj1" fmla="val 50000"/>
                <a:gd name="adj2" fmla="val 1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8091" name="AutoShape 27"/>
            <p:cNvSpPr>
              <a:spLocks noChangeArrowheads="1"/>
            </p:cNvSpPr>
            <p:nvPr/>
          </p:nvSpPr>
          <p:spPr bwMode="auto">
            <a:xfrm>
              <a:off x="4896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</p:grpSp>
      <p:grpSp>
        <p:nvGrpSpPr>
          <p:cNvPr id="728092" name="Group 28"/>
          <p:cNvGrpSpPr>
            <a:grpSpLocks/>
          </p:cNvGrpSpPr>
          <p:nvPr/>
        </p:nvGrpSpPr>
        <p:grpSpPr bwMode="auto">
          <a:xfrm>
            <a:off x="762000" y="762000"/>
            <a:ext cx="4876800" cy="1676400"/>
            <a:chOff x="2880" y="2004"/>
            <a:chExt cx="2400" cy="876"/>
          </a:xfrm>
        </p:grpSpPr>
        <p:sp>
          <p:nvSpPr>
            <p:cNvPr id="728093" name="Rectangle 29"/>
            <p:cNvSpPr>
              <a:spLocks noChangeArrowheads="1"/>
            </p:cNvSpPr>
            <p:nvPr/>
          </p:nvSpPr>
          <p:spPr bwMode="auto">
            <a:xfrm>
              <a:off x="4944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8094" name="Oval 30"/>
            <p:cNvSpPr>
              <a:spLocks noChangeArrowheads="1"/>
            </p:cNvSpPr>
            <p:nvPr/>
          </p:nvSpPr>
          <p:spPr bwMode="auto">
            <a:xfrm>
              <a:off x="4416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28095" name="Line 31"/>
            <p:cNvSpPr>
              <a:spLocks noChangeShapeType="1"/>
            </p:cNvSpPr>
            <p:nvPr/>
          </p:nvSpPr>
          <p:spPr bwMode="auto">
            <a:xfrm>
              <a:off x="460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096" name="Line 32"/>
            <p:cNvSpPr>
              <a:spLocks noChangeShapeType="1"/>
            </p:cNvSpPr>
            <p:nvPr/>
          </p:nvSpPr>
          <p:spPr bwMode="auto">
            <a:xfrm flipH="1">
              <a:off x="436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097" name="Rectangle 33"/>
            <p:cNvSpPr>
              <a:spLocks noChangeArrowheads="1"/>
            </p:cNvSpPr>
            <p:nvPr/>
          </p:nvSpPr>
          <p:spPr bwMode="auto">
            <a:xfrm>
              <a:off x="4608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8098" name="Rectangle 34"/>
            <p:cNvSpPr>
              <a:spLocks noChangeArrowheads="1"/>
            </p:cNvSpPr>
            <p:nvPr/>
          </p:nvSpPr>
          <p:spPr bwMode="auto">
            <a:xfrm>
              <a:off x="4176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8099" name="Text Box 35"/>
            <p:cNvSpPr txBox="1">
              <a:spLocks noChangeArrowheads="1"/>
            </p:cNvSpPr>
            <p:nvPr/>
          </p:nvSpPr>
          <p:spPr bwMode="auto">
            <a:xfrm>
              <a:off x="4320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8100" name="Text Box 36"/>
            <p:cNvSpPr txBox="1">
              <a:spLocks noChangeArrowheads="1"/>
            </p:cNvSpPr>
            <p:nvPr/>
          </p:nvSpPr>
          <p:spPr bwMode="auto">
            <a:xfrm>
              <a:off x="460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8101" name="Oval 37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8102" name="Line 38"/>
            <p:cNvSpPr>
              <a:spLocks noChangeShapeType="1"/>
            </p:cNvSpPr>
            <p:nvPr/>
          </p:nvSpPr>
          <p:spPr bwMode="auto">
            <a:xfrm flipH="1">
              <a:off x="3216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103" name="Line 39"/>
            <p:cNvSpPr>
              <a:spLocks noChangeShapeType="1"/>
            </p:cNvSpPr>
            <p:nvPr/>
          </p:nvSpPr>
          <p:spPr bwMode="auto">
            <a:xfrm>
              <a:off x="3552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104" name="Rectangle 40"/>
            <p:cNvSpPr>
              <a:spLocks noChangeArrowheads="1"/>
            </p:cNvSpPr>
            <p:nvPr/>
          </p:nvSpPr>
          <p:spPr bwMode="auto">
            <a:xfrm>
              <a:off x="3840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8105" name="Rectangle 41"/>
            <p:cNvSpPr>
              <a:spLocks noChangeArrowheads="1"/>
            </p:cNvSpPr>
            <p:nvPr/>
          </p:nvSpPr>
          <p:spPr bwMode="auto">
            <a:xfrm>
              <a:off x="3072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8106" name="Rectangle 42"/>
            <p:cNvSpPr>
              <a:spLocks noChangeArrowheads="1"/>
            </p:cNvSpPr>
            <p:nvPr/>
          </p:nvSpPr>
          <p:spPr bwMode="auto">
            <a:xfrm>
              <a:off x="3504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8107" name="Text Box 43"/>
            <p:cNvSpPr txBox="1">
              <a:spLocks noChangeArrowheads="1"/>
            </p:cNvSpPr>
            <p:nvPr/>
          </p:nvSpPr>
          <p:spPr bwMode="auto">
            <a:xfrm>
              <a:off x="316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8108" name="Text Box 44"/>
            <p:cNvSpPr txBox="1">
              <a:spLocks noChangeArrowheads="1"/>
            </p:cNvSpPr>
            <p:nvPr/>
          </p:nvSpPr>
          <p:spPr bwMode="auto">
            <a:xfrm>
              <a:off x="3552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8109" name="Text Box 45"/>
            <p:cNvSpPr txBox="1">
              <a:spLocks noChangeArrowheads="1"/>
            </p:cNvSpPr>
            <p:nvPr/>
          </p:nvSpPr>
          <p:spPr bwMode="auto">
            <a:xfrm>
              <a:off x="2880" y="2004"/>
              <a:ext cx="22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8110" name="AutoShape 46"/>
            <p:cNvSpPr>
              <a:spLocks noChangeArrowheads="1"/>
            </p:cNvSpPr>
            <p:nvPr/>
          </p:nvSpPr>
          <p:spPr bwMode="auto">
            <a:xfrm>
              <a:off x="3120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111" name="AutoShape 47"/>
            <p:cNvSpPr>
              <a:spLocks noChangeArrowheads="1"/>
            </p:cNvSpPr>
            <p:nvPr/>
          </p:nvSpPr>
          <p:spPr bwMode="auto">
            <a:xfrm>
              <a:off x="4752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112" name="AutoShape 48"/>
            <p:cNvSpPr>
              <a:spLocks noChangeArrowheads="1"/>
            </p:cNvSpPr>
            <p:nvPr/>
          </p:nvSpPr>
          <p:spPr bwMode="auto">
            <a:xfrm>
              <a:off x="3648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  <p:sp>
          <p:nvSpPr>
            <p:cNvPr id="728113" name="AutoShape 49"/>
            <p:cNvSpPr>
              <a:spLocks noChangeArrowheads="1"/>
            </p:cNvSpPr>
            <p:nvPr/>
          </p:nvSpPr>
          <p:spPr bwMode="auto">
            <a:xfrm>
              <a:off x="4224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090" name="Group 2"/>
          <p:cNvGrpSpPr>
            <a:grpSpLocks/>
          </p:cNvGrpSpPr>
          <p:nvPr/>
        </p:nvGrpSpPr>
        <p:grpSpPr bwMode="auto">
          <a:xfrm>
            <a:off x="609600" y="228600"/>
            <a:ext cx="4572000" cy="2667000"/>
            <a:chOff x="3216" y="2580"/>
            <a:chExt cx="2256" cy="1404"/>
          </a:xfrm>
        </p:grpSpPr>
        <p:sp>
          <p:nvSpPr>
            <p:cNvPr id="729091" name="Rectangle 3"/>
            <p:cNvSpPr>
              <a:spLocks noChangeArrowheads="1"/>
            </p:cNvSpPr>
            <p:nvPr/>
          </p:nvSpPr>
          <p:spPr bwMode="auto">
            <a:xfrm>
              <a:off x="5136" y="273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9092" name="Oval 4"/>
            <p:cNvSpPr>
              <a:spLocks noChangeArrowheads="1"/>
            </p:cNvSpPr>
            <p:nvPr/>
          </p:nvSpPr>
          <p:spPr bwMode="auto">
            <a:xfrm>
              <a:off x="3648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29093" name="Line 5"/>
            <p:cNvSpPr>
              <a:spLocks noChangeShapeType="1"/>
            </p:cNvSpPr>
            <p:nvPr/>
          </p:nvSpPr>
          <p:spPr bwMode="auto">
            <a:xfrm>
              <a:off x="384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094" name="Line 6"/>
            <p:cNvSpPr>
              <a:spLocks noChangeShapeType="1"/>
            </p:cNvSpPr>
            <p:nvPr/>
          </p:nvSpPr>
          <p:spPr bwMode="auto">
            <a:xfrm flipH="1">
              <a:off x="36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095" name="Rectangle 7"/>
            <p:cNvSpPr>
              <a:spLocks noChangeArrowheads="1"/>
            </p:cNvSpPr>
            <p:nvPr/>
          </p:nvSpPr>
          <p:spPr bwMode="auto">
            <a:xfrm>
              <a:off x="3840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 b="1"/>
                <a:t>:</a:t>
              </a:r>
              <a:r>
                <a:rPr lang="it-IT" sz="2800"/>
                <a:t>13</a:t>
              </a:r>
            </a:p>
          </p:txBody>
        </p:sp>
        <p:sp>
          <p:nvSpPr>
            <p:cNvPr id="729096" name="Rectangle 8"/>
            <p:cNvSpPr>
              <a:spLocks noChangeArrowheads="1"/>
            </p:cNvSpPr>
            <p:nvPr/>
          </p:nvSpPr>
          <p:spPr bwMode="auto">
            <a:xfrm>
              <a:off x="3408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9097" name="Text Box 9"/>
            <p:cNvSpPr txBox="1">
              <a:spLocks noChangeArrowheads="1"/>
            </p:cNvSpPr>
            <p:nvPr/>
          </p:nvSpPr>
          <p:spPr bwMode="auto">
            <a:xfrm>
              <a:off x="3552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098" name="Text Box 10"/>
            <p:cNvSpPr txBox="1">
              <a:spLocks noChangeArrowheads="1"/>
            </p:cNvSpPr>
            <p:nvPr/>
          </p:nvSpPr>
          <p:spPr bwMode="auto">
            <a:xfrm>
              <a:off x="384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099" name="Oval 11"/>
            <p:cNvSpPr>
              <a:spLocks noChangeArrowheads="1"/>
            </p:cNvSpPr>
            <p:nvPr/>
          </p:nvSpPr>
          <p:spPr bwMode="auto">
            <a:xfrm>
              <a:off x="4560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29100" name="Line 12"/>
            <p:cNvSpPr>
              <a:spLocks noChangeShapeType="1"/>
            </p:cNvSpPr>
            <p:nvPr/>
          </p:nvSpPr>
          <p:spPr bwMode="auto">
            <a:xfrm>
              <a:off x="48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01" name="Line 13"/>
            <p:cNvSpPr>
              <a:spLocks noChangeShapeType="1"/>
            </p:cNvSpPr>
            <p:nvPr/>
          </p:nvSpPr>
          <p:spPr bwMode="auto">
            <a:xfrm flipH="1">
              <a:off x="4512" y="29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02" name="Oval 14"/>
            <p:cNvSpPr>
              <a:spLocks noChangeArrowheads="1"/>
            </p:cNvSpPr>
            <p:nvPr/>
          </p:nvSpPr>
          <p:spPr bwMode="auto">
            <a:xfrm>
              <a:off x="4320" y="32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9103" name="Line 15"/>
            <p:cNvSpPr>
              <a:spLocks noChangeShapeType="1"/>
            </p:cNvSpPr>
            <p:nvPr/>
          </p:nvSpPr>
          <p:spPr bwMode="auto">
            <a:xfrm flipH="1">
              <a:off x="4224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04" name="Line 16"/>
            <p:cNvSpPr>
              <a:spLocks noChangeShapeType="1"/>
            </p:cNvSpPr>
            <p:nvPr/>
          </p:nvSpPr>
          <p:spPr bwMode="auto">
            <a:xfrm>
              <a:off x="4560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05" name="Rectangle 17"/>
            <p:cNvSpPr>
              <a:spLocks noChangeArrowheads="1"/>
            </p:cNvSpPr>
            <p:nvPr/>
          </p:nvSpPr>
          <p:spPr bwMode="auto">
            <a:xfrm>
              <a:off x="4752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9106" name="Rectangle 18"/>
            <p:cNvSpPr>
              <a:spLocks noChangeArrowheads="1"/>
            </p:cNvSpPr>
            <p:nvPr/>
          </p:nvSpPr>
          <p:spPr bwMode="auto">
            <a:xfrm>
              <a:off x="4080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9107" name="Rectangle 19"/>
            <p:cNvSpPr>
              <a:spLocks noChangeArrowheads="1"/>
            </p:cNvSpPr>
            <p:nvPr/>
          </p:nvSpPr>
          <p:spPr bwMode="auto">
            <a:xfrm>
              <a:off x="4512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9108" name="Text Box 20"/>
            <p:cNvSpPr txBox="1">
              <a:spLocks noChangeArrowheads="1"/>
            </p:cNvSpPr>
            <p:nvPr/>
          </p:nvSpPr>
          <p:spPr bwMode="auto">
            <a:xfrm>
              <a:off x="4416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09" name="Text Box 21"/>
            <p:cNvSpPr txBox="1">
              <a:spLocks noChangeArrowheads="1"/>
            </p:cNvSpPr>
            <p:nvPr/>
          </p:nvSpPr>
          <p:spPr bwMode="auto">
            <a:xfrm>
              <a:off x="4176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10" name="Text Box 22"/>
            <p:cNvSpPr txBox="1">
              <a:spLocks noChangeArrowheads="1"/>
            </p:cNvSpPr>
            <p:nvPr/>
          </p:nvSpPr>
          <p:spPr bwMode="auto">
            <a:xfrm>
              <a:off x="480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11" name="Text Box 23"/>
            <p:cNvSpPr txBox="1">
              <a:spLocks noChangeArrowheads="1"/>
            </p:cNvSpPr>
            <p:nvPr/>
          </p:nvSpPr>
          <p:spPr bwMode="auto">
            <a:xfrm>
              <a:off x="4560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12" name="Text Box 24"/>
            <p:cNvSpPr txBox="1">
              <a:spLocks noChangeArrowheads="1"/>
            </p:cNvSpPr>
            <p:nvPr/>
          </p:nvSpPr>
          <p:spPr bwMode="auto">
            <a:xfrm>
              <a:off x="3216" y="2580"/>
              <a:ext cx="22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9113" name="AutoShape 25"/>
            <p:cNvSpPr>
              <a:spLocks noChangeArrowheads="1"/>
            </p:cNvSpPr>
            <p:nvPr/>
          </p:nvSpPr>
          <p:spPr bwMode="auto">
            <a:xfrm>
              <a:off x="3456" y="2784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14" name="AutoShape 26"/>
            <p:cNvSpPr>
              <a:spLocks noChangeArrowheads="1"/>
            </p:cNvSpPr>
            <p:nvPr/>
          </p:nvSpPr>
          <p:spPr bwMode="auto">
            <a:xfrm>
              <a:off x="3984" y="2784"/>
              <a:ext cx="528" cy="96"/>
            </a:xfrm>
            <a:prstGeom prst="rightArrow">
              <a:avLst>
                <a:gd name="adj1" fmla="val 50000"/>
                <a:gd name="adj2" fmla="val 1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  <p:sp>
          <p:nvSpPr>
            <p:cNvPr id="729115" name="AutoShape 27"/>
            <p:cNvSpPr>
              <a:spLocks noChangeArrowheads="1"/>
            </p:cNvSpPr>
            <p:nvPr/>
          </p:nvSpPr>
          <p:spPr bwMode="auto">
            <a:xfrm>
              <a:off x="4896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/>
            </a:p>
          </p:txBody>
        </p:sp>
      </p:grpSp>
      <p:grpSp>
        <p:nvGrpSpPr>
          <p:cNvPr id="729116" name="Group 28"/>
          <p:cNvGrpSpPr>
            <a:grpSpLocks/>
          </p:cNvGrpSpPr>
          <p:nvPr/>
        </p:nvGrpSpPr>
        <p:grpSpPr bwMode="auto">
          <a:xfrm>
            <a:off x="609600" y="2971800"/>
            <a:ext cx="4191000" cy="3733800"/>
            <a:chOff x="336" y="1908"/>
            <a:chExt cx="2016" cy="1836"/>
          </a:xfrm>
        </p:grpSpPr>
        <p:sp>
          <p:nvSpPr>
            <p:cNvPr id="729117" name="Oval 29"/>
            <p:cNvSpPr>
              <a:spLocks noChangeArrowheads="1"/>
            </p:cNvSpPr>
            <p:nvPr/>
          </p:nvSpPr>
          <p:spPr bwMode="auto">
            <a:xfrm>
              <a:off x="1392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63</a:t>
              </a:r>
              <a:endParaRPr lang="it-IT" sz="4000"/>
            </a:p>
          </p:txBody>
        </p:sp>
        <p:sp>
          <p:nvSpPr>
            <p:cNvPr id="729118" name="Rectangle 30"/>
            <p:cNvSpPr>
              <a:spLocks noChangeArrowheads="1"/>
            </p:cNvSpPr>
            <p:nvPr/>
          </p:nvSpPr>
          <p:spPr bwMode="auto">
            <a:xfrm>
              <a:off x="768" y="20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29119" name="Line 31"/>
            <p:cNvSpPr>
              <a:spLocks noChangeShapeType="1"/>
            </p:cNvSpPr>
            <p:nvPr/>
          </p:nvSpPr>
          <p:spPr bwMode="auto">
            <a:xfrm flipH="1">
              <a:off x="1152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0" name="Oval 32"/>
            <p:cNvSpPr>
              <a:spLocks noChangeArrowheads="1"/>
            </p:cNvSpPr>
            <p:nvPr/>
          </p:nvSpPr>
          <p:spPr bwMode="auto">
            <a:xfrm>
              <a:off x="912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29121" name="Oval 33"/>
            <p:cNvSpPr>
              <a:spLocks noChangeArrowheads="1"/>
            </p:cNvSpPr>
            <p:nvPr/>
          </p:nvSpPr>
          <p:spPr bwMode="auto">
            <a:xfrm>
              <a:off x="1824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29122" name="Line 34"/>
            <p:cNvSpPr>
              <a:spLocks noChangeShapeType="1"/>
            </p:cNvSpPr>
            <p:nvPr/>
          </p:nvSpPr>
          <p:spPr bwMode="auto">
            <a:xfrm>
              <a:off x="1632" y="225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3" name="Line 35"/>
            <p:cNvSpPr>
              <a:spLocks noChangeShapeType="1"/>
            </p:cNvSpPr>
            <p:nvPr/>
          </p:nvSpPr>
          <p:spPr bwMode="auto">
            <a:xfrm>
              <a:off x="110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4" name="Line 36"/>
            <p:cNvSpPr>
              <a:spLocks noChangeShapeType="1"/>
            </p:cNvSpPr>
            <p:nvPr/>
          </p:nvSpPr>
          <p:spPr bwMode="auto">
            <a:xfrm>
              <a:off x="20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5" name="Line 37"/>
            <p:cNvSpPr>
              <a:spLocks noChangeShapeType="1"/>
            </p:cNvSpPr>
            <p:nvPr/>
          </p:nvSpPr>
          <p:spPr bwMode="auto">
            <a:xfrm flipH="1">
              <a:off x="8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6" name="Line 38"/>
            <p:cNvSpPr>
              <a:spLocks noChangeShapeType="1"/>
            </p:cNvSpPr>
            <p:nvPr/>
          </p:nvSpPr>
          <p:spPr bwMode="auto">
            <a:xfrm flipH="1">
              <a:off x="1776" y="2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7" name="Oval 39"/>
            <p:cNvSpPr>
              <a:spLocks noChangeArrowheads="1"/>
            </p:cNvSpPr>
            <p:nvPr/>
          </p:nvSpPr>
          <p:spPr bwMode="auto">
            <a:xfrm>
              <a:off x="1584" y="297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29128" name="Line 40"/>
            <p:cNvSpPr>
              <a:spLocks noChangeShapeType="1"/>
            </p:cNvSpPr>
            <p:nvPr/>
          </p:nvSpPr>
          <p:spPr bwMode="auto">
            <a:xfrm flipH="1">
              <a:off x="1488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29" name="Line 41"/>
            <p:cNvSpPr>
              <a:spLocks noChangeShapeType="1"/>
            </p:cNvSpPr>
            <p:nvPr/>
          </p:nvSpPr>
          <p:spPr bwMode="auto">
            <a:xfrm>
              <a:off x="1824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30" name="Rectangle 42"/>
            <p:cNvSpPr>
              <a:spLocks noChangeArrowheads="1"/>
            </p:cNvSpPr>
            <p:nvPr/>
          </p:nvSpPr>
          <p:spPr bwMode="auto">
            <a:xfrm>
              <a:off x="1104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29131" name="Rectangle 43"/>
            <p:cNvSpPr>
              <a:spLocks noChangeArrowheads="1"/>
            </p:cNvSpPr>
            <p:nvPr/>
          </p:nvSpPr>
          <p:spPr bwMode="auto">
            <a:xfrm>
              <a:off x="672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29132" name="Rectangle 44"/>
            <p:cNvSpPr>
              <a:spLocks noChangeArrowheads="1"/>
            </p:cNvSpPr>
            <p:nvPr/>
          </p:nvSpPr>
          <p:spPr bwMode="auto">
            <a:xfrm>
              <a:off x="2016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29133" name="Rectangle 45"/>
            <p:cNvSpPr>
              <a:spLocks noChangeArrowheads="1"/>
            </p:cNvSpPr>
            <p:nvPr/>
          </p:nvSpPr>
          <p:spPr bwMode="auto">
            <a:xfrm>
              <a:off x="1344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29134" name="Rectangle 46"/>
            <p:cNvSpPr>
              <a:spLocks noChangeArrowheads="1"/>
            </p:cNvSpPr>
            <p:nvPr/>
          </p:nvSpPr>
          <p:spPr bwMode="auto">
            <a:xfrm>
              <a:off x="1776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29135" name="Text Box 47"/>
            <p:cNvSpPr txBox="1">
              <a:spLocks noChangeArrowheads="1"/>
            </p:cNvSpPr>
            <p:nvPr/>
          </p:nvSpPr>
          <p:spPr bwMode="auto">
            <a:xfrm>
              <a:off x="1152" y="214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36" name="Text Box 48"/>
            <p:cNvSpPr txBox="1">
              <a:spLocks noChangeArrowheads="1"/>
            </p:cNvSpPr>
            <p:nvPr/>
          </p:nvSpPr>
          <p:spPr bwMode="auto">
            <a:xfrm>
              <a:off x="816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37" name="Text Box 49"/>
            <p:cNvSpPr txBox="1">
              <a:spLocks noChangeArrowheads="1"/>
            </p:cNvSpPr>
            <p:nvPr/>
          </p:nvSpPr>
          <p:spPr bwMode="auto">
            <a:xfrm>
              <a:off x="1680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38" name="Text Box 50"/>
            <p:cNvSpPr txBox="1">
              <a:spLocks noChangeArrowheads="1"/>
            </p:cNvSpPr>
            <p:nvPr/>
          </p:nvSpPr>
          <p:spPr bwMode="auto">
            <a:xfrm>
              <a:off x="1440" y="3153"/>
              <a:ext cx="17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29139" name="Text Box 51"/>
            <p:cNvSpPr txBox="1">
              <a:spLocks noChangeArrowheads="1"/>
            </p:cNvSpPr>
            <p:nvPr/>
          </p:nvSpPr>
          <p:spPr bwMode="auto">
            <a:xfrm>
              <a:off x="1680" y="214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40" name="Text Box 52"/>
            <p:cNvSpPr txBox="1">
              <a:spLocks noChangeArrowheads="1"/>
            </p:cNvSpPr>
            <p:nvPr/>
          </p:nvSpPr>
          <p:spPr bwMode="auto">
            <a:xfrm>
              <a:off x="2064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41" name="Text Box 53"/>
            <p:cNvSpPr txBox="1">
              <a:spLocks noChangeArrowheads="1"/>
            </p:cNvSpPr>
            <p:nvPr/>
          </p:nvSpPr>
          <p:spPr bwMode="auto">
            <a:xfrm>
              <a:off x="1104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42" name="Text Box 54"/>
            <p:cNvSpPr txBox="1">
              <a:spLocks noChangeArrowheads="1"/>
            </p:cNvSpPr>
            <p:nvPr/>
          </p:nvSpPr>
          <p:spPr bwMode="auto">
            <a:xfrm>
              <a:off x="1824" y="3153"/>
              <a:ext cx="17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29143" name="Text Box 55"/>
            <p:cNvSpPr txBox="1">
              <a:spLocks noChangeArrowheads="1"/>
            </p:cNvSpPr>
            <p:nvPr/>
          </p:nvSpPr>
          <p:spPr bwMode="auto">
            <a:xfrm>
              <a:off x="336" y="1908"/>
              <a:ext cx="221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29144" name="AutoShape 56"/>
            <p:cNvSpPr>
              <a:spLocks noChangeArrowheads="1"/>
            </p:cNvSpPr>
            <p:nvPr/>
          </p:nvSpPr>
          <p:spPr bwMode="auto">
            <a:xfrm>
              <a:off x="576" y="2112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29145" name="AutoShape 57"/>
            <p:cNvSpPr>
              <a:spLocks noChangeArrowheads="1"/>
            </p:cNvSpPr>
            <p:nvPr/>
          </p:nvSpPr>
          <p:spPr bwMode="auto">
            <a:xfrm>
              <a:off x="1152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114" name="Group 2"/>
          <p:cNvGrpSpPr>
            <a:grpSpLocks/>
          </p:cNvGrpSpPr>
          <p:nvPr/>
        </p:nvGrpSpPr>
        <p:grpSpPr bwMode="auto">
          <a:xfrm>
            <a:off x="533400" y="914400"/>
            <a:ext cx="4114800" cy="3733800"/>
            <a:chOff x="336" y="1908"/>
            <a:chExt cx="2016" cy="1836"/>
          </a:xfrm>
        </p:grpSpPr>
        <p:sp>
          <p:nvSpPr>
            <p:cNvPr id="730115" name="Oval 3"/>
            <p:cNvSpPr>
              <a:spLocks noChangeArrowheads="1"/>
            </p:cNvSpPr>
            <p:nvPr/>
          </p:nvSpPr>
          <p:spPr bwMode="auto">
            <a:xfrm>
              <a:off x="1392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63</a:t>
              </a:r>
              <a:endParaRPr lang="it-IT" sz="4000"/>
            </a:p>
          </p:txBody>
        </p:sp>
        <p:sp>
          <p:nvSpPr>
            <p:cNvPr id="730116" name="Rectangle 4"/>
            <p:cNvSpPr>
              <a:spLocks noChangeArrowheads="1"/>
            </p:cNvSpPr>
            <p:nvPr/>
          </p:nvSpPr>
          <p:spPr bwMode="auto">
            <a:xfrm>
              <a:off x="768" y="20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30117" name="Line 5"/>
            <p:cNvSpPr>
              <a:spLocks noChangeShapeType="1"/>
            </p:cNvSpPr>
            <p:nvPr/>
          </p:nvSpPr>
          <p:spPr bwMode="auto">
            <a:xfrm flipH="1">
              <a:off x="1152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18" name="Oval 6"/>
            <p:cNvSpPr>
              <a:spLocks noChangeArrowheads="1"/>
            </p:cNvSpPr>
            <p:nvPr/>
          </p:nvSpPr>
          <p:spPr bwMode="auto">
            <a:xfrm>
              <a:off x="912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30119" name="Oval 7"/>
            <p:cNvSpPr>
              <a:spLocks noChangeArrowheads="1"/>
            </p:cNvSpPr>
            <p:nvPr/>
          </p:nvSpPr>
          <p:spPr bwMode="auto">
            <a:xfrm>
              <a:off x="1824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30120" name="Line 8"/>
            <p:cNvSpPr>
              <a:spLocks noChangeShapeType="1"/>
            </p:cNvSpPr>
            <p:nvPr/>
          </p:nvSpPr>
          <p:spPr bwMode="auto">
            <a:xfrm>
              <a:off x="1632" y="225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1" name="Line 9"/>
            <p:cNvSpPr>
              <a:spLocks noChangeShapeType="1"/>
            </p:cNvSpPr>
            <p:nvPr/>
          </p:nvSpPr>
          <p:spPr bwMode="auto">
            <a:xfrm>
              <a:off x="110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2" name="Line 10"/>
            <p:cNvSpPr>
              <a:spLocks noChangeShapeType="1"/>
            </p:cNvSpPr>
            <p:nvPr/>
          </p:nvSpPr>
          <p:spPr bwMode="auto">
            <a:xfrm>
              <a:off x="20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3" name="Line 11"/>
            <p:cNvSpPr>
              <a:spLocks noChangeShapeType="1"/>
            </p:cNvSpPr>
            <p:nvPr/>
          </p:nvSpPr>
          <p:spPr bwMode="auto">
            <a:xfrm flipH="1">
              <a:off x="8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4" name="Line 12"/>
            <p:cNvSpPr>
              <a:spLocks noChangeShapeType="1"/>
            </p:cNvSpPr>
            <p:nvPr/>
          </p:nvSpPr>
          <p:spPr bwMode="auto">
            <a:xfrm flipH="1">
              <a:off x="1776" y="2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5" name="Oval 13"/>
            <p:cNvSpPr>
              <a:spLocks noChangeArrowheads="1"/>
            </p:cNvSpPr>
            <p:nvPr/>
          </p:nvSpPr>
          <p:spPr bwMode="auto">
            <a:xfrm>
              <a:off x="1584" y="297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30126" name="Line 14"/>
            <p:cNvSpPr>
              <a:spLocks noChangeShapeType="1"/>
            </p:cNvSpPr>
            <p:nvPr/>
          </p:nvSpPr>
          <p:spPr bwMode="auto">
            <a:xfrm flipH="1">
              <a:off x="1488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7" name="Line 15"/>
            <p:cNvSpPr>
              <a:spLocks noChangeShapeType="1"/>
            </p:cNvSpPr>
            <p:nvPr/>
          </p:nvSpPr>
          <p:spPr bwMode="auto">
            <a:xfrm>
              <a:off x="1824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28" name="Rectangle 16"/>
            <p:cNvSpPr>
              <a:spLocks noChangeArrowheads="1"/>
            </p:cNvSpPr>
            <p:nvPr/>
          </p:nvSpPr>
          <p:spPr bwMode="auto">
            <a:xfrm>
              <a:off x="1104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30129" name="Rectangle 17"/>
            <p:cNvSpPr>
              <a:spLocks noChangeArrowheads="1"/>
            </p:cNvSpPr>
            <p:nvPr/>
          </p:nvSpPr>
          <p:spPr bwMode="auto">
            <a:xfrm>
              <a:off x="672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30130" name="Rectangle 18"/>
            <p:cNvSpPr>
              <a:spLocks noChangeArrowheads="1"/>
            </p:cNvSpPr>
            <p:nvPr/>
          </p:nvSpPr>
          <p:spPr bwMode="auto">
            <a:xfrm>
              <a:off x="2016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30131" name="Rectangle 19"/>
            <p:cNvSpPr>
              <a:spLocks noChangeArrowheads="1"/>
            </p:cNvSpPr>
            <p:nvPr/>
          </p:nvSpPr>
          <p:spPr bwMode="auto">
            <a:xfrm>
              <a:off x="1344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30132" name="Rectangle 20"/>
            <p:cNvSpPr>
              <a:spLocks noChangeArrowheads="1"/>
            </p:cNvSpPr>
            <p:nvPr/>
          </p:nvSpPr>
          <p:spPr bwMode="auto">
            <a:xfrm>
              <a:off x="1776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30133" name="Text Box 21"/>
            <p:cNvSpPr txBox="1">
              <a:spLocks noChangeArrowheads="1"/>
            </p:cNvSpPr>
            <p:nvPr/>
          </p:nvSpPr>
          <p:spPr bwMode="auto">
            <a:xfrm>
              <a:off x="1152" y="214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34" name="Text Box 22"/>
            <p:cNvSpPr txBox="1">
              <a:spLocks noChangeArrowheads="1"/>
            </p:cNvSpPr>
            <p:nvPr/>
          </p:nvSpPr>
          <p:spPr bwMode="auto">
            <a:xfrm>
              <a:off x="816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35" name="Text Box 23"/>
            <p:cNvSpPr txBox="1">
              <a:spLocks noChangeArrowheads="1"/>
            </p:cNvSpPr>
            <p:nvPr/>
          </p:nvSpPr>
          <p:spPr bwMode="auto">
            <a:xfrm>
              <a:off x="1680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36" name="Text Box 24"/>
            <p:cNvSpPr txBox="1">
              <a:spLocks noChangeArrowheads="1"/>
            </p:cNvSpPr>
            <p:nvPr/>
          </p:nvSpPr>
          <p:spPr bwMode="auto">
            <a:xfrm>
              <a:off x="1440" y="3153"/>
              <a:ext cx="17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37" name="Text Box 25"/>
            <p:cNvSpPr txBox="1">
              <a:spLocks noChangeArrowheads="1"/>
            </p:cNvSpPr>
            <p:nvPr/>
          </p:nvSpPr>
          <p:spPr bwMode="auto">
            <a:xfrm>
              <a:off x="1680" y="214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38" name="Text Box 26"/>
            <p:cNvSpPr txBox="1">
              <a:spLocks noChangeArrowheads="1"/>
            </p:cNvSpPr>
            <p:nvPr/>
          </p:nvSpPr>
          <p:spPr bwMode="auto">
            <a:xfrm>
              <a:off x="2064" y="2625"/>
              <a:ext cx="178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39" name="Text Box 27"/>
            <p:cNvSpPr txBox="1">
              <a:spLocks noChangeArrowheads="1"/>
            </p:cNvSpPr>
            <p:nvPr/>
          </p:nvSpPr>
          <p:spPr bwMode="auto">
            <a:xfrm>
              <a:off x="1104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40" name="Text Box 28"/>
            <p:cNvSpPr txBox="1">
              <a:spLocks noChangeArrowheads="1"/>
            </p:cNvSpPr>
            <p:nvPr/>
          </p:nvSpPr>
          <p:spPr bwMode="auto">
            <a:xfrm>
              <a:off x="1824" y="3153"/>
              <a:ext cx="17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41" name="Text Box 29"/>
            <p:cNvSpPr txBox="1">
              <a:spLocks noChangeArrowheads="1"/>
            </p:cNvSpPr>
            <p:nvPr/>
          </p:nvSpPr>
          <p:spPr bwMode="auto">
            <a:xfrm>
              <a:off x="336" y="1908"/>
              <a:ext cx="22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30142" name="AutoShape 30"/>
            <p:cNvSpPr>
              <a:spLocks noChangeArrowheads="1"/>
            </p:cNvSpPr>
            <p:nvPr/>
          </p:nvSpPr>
          <p:spPr bwMode="auto">
            <a:xfrm>
              <a:off x="576" y="2112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  <p:sp>
          <p:nvSpPr>
            <p:cNvPr id="730143" name="AutoShape 31"/>
            <p:cNvSpPr>
              <a:spLocks noChangeArrowheads="1"/>
            </p:cNvSpPr>
            <p:nvPr/>
          </p:nvSpPr>
          <p:spPr bwMode="auto">
            <a:xfrm>
              <a:off x="1152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/>
            </a:p>
          </p:txBody>
        </p:sp>
      </p:grpSp>
      <p:grpSp>
        <p:nvGrpSpPr>
          <p:cNvPr id="730144" name="Group 32"/>
          <p:cNvGrpSpPr>
            <a:grpSpLocks/>
          </p:cNvGrpSpPr>
          <p:nvPr/>
        </p:nvGrpSpPr>
        <p:grpSpPr bwMode="auto">
          <a:xfrm>
            <a:off x="4648200" y="914400"/>
            <a:ext cx="4114800" cy="4895850"/>
            <a:chOff x="3456" y="1908"/>
            <a:chExt cx="1920" cy="2268"/>
          </a:xfrm>
        </p:grpSpPr>
        <p:sp>
          <p:nvSpPr>
            <p:cNvPr id="730145" name="Oval 33"/>
            <p:cNvSpPr>
              <a:spLocks noChangeArrowheads="1"/>
            </p:cNvSpPr>
            <p:nvPr/>
          </p:nvSpPr>
          <p:spPr bwMode="auto">
            <a:xfrm>
              <a:off x="4416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63</a:t>
              </a:r>
              <a:endParaRPr lang="it-IT" sz="4000"/>
            </a:p>
          </p:txBody>
        </p:sp>
        <p:sp>
          <p:nvSpPr>
            <p:cNvPr id="730146" name="Oval 34"/>
            <p:cNvSpPr>
              <a:spLocks noChangeArrowheads="1"/>
            </p:cNvSpPr>
            <p:nvPr/>
          </p:nvSpPr>
          <p:spPr bwMode="auto">
            <a:xfrm>
              <a:off x="3936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120</a:t>
              </a:r>
              <a:endParaRPr lang="it-IT" sz="4000"/>
            </a:p>
          </p:txBody>
        </p:sp>
        <p:sp>
          <p:nvSpPr>
            <p:cNvPr id="730147" name="Line 35"/>
            <p:cNvSpPr>
              <a:spLocks noChangeShapeType="1"/>
            </p:cNvSpPr>
            <p:nvPr/>
          </p:nvSpPr>
          <p:spPr bwMode="auto">
            <a:xfrm>
              <a:off x="4176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48" name="Rectangle 36"/>
            <p:cNvSpPr>
              <a:spLocks noChangeArrowheads="1"/>
            </p:cNvSpPr>
            <p:nvPr/>
          </p:nvSpPr>
          <p:spPr bwMode="auto">
            <a:xfrm>
              <a:off x="3600" y="254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a</a:t>
              </a:r>
              <a:r>
                <a:rPr lang="it-IT" sz="2800"/>
                <a:t>:57</a:t>
              </a:r>
            </a:p>
          </p:txBody>
        </p:sp>
        <p:sp>
          <p:nvSpPr>
            <p:cNvPr id="730149" name="Line 37"/>
            <p:cNvSpPr>
              <a:spLocks noChangeShapeType="1"/>
            </p:cNvSpPr>
            <p:nvPr/>
          </p:nvSpPr>
          <p:spPr bwMode="auto">
            <a:xfrm flipH="1">
              <a:off x="3744" y="2256"/>
              <a:ext cx="24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0" name="Line 38"/>
            <p:cNvSpPr>
              <a:spLocks noChangeShapeType="1"/>
            </p:cNvSpPr>
            <p:nvPr/>
          </p:nvSpPr>
          <p:spPr bwMode="auto">
            <a:xfrm flipH="1">
              <a:off x="4176" y="2688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1" name="Oval 39"/>
            <p:cNvSpPr>
              <a:spLocks noChangeArrowheads="1"/>
            </p:cNvSpPr>
            <p:nvPr/>
          </p:nvSpPr>
          <p:spPr bwMode="auto">
            <a:xfrm>
              <a:off x="3936" y="2880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25</a:t>
              </a:r>
              <a:endParaRPr lang="it-IT" sz="4000"/>
            </a:p>
          </p:txBody>
        </p:sp>
        <p:sp>
          <p:nvSpPr>
            <p:cNvPr id="730152" name="Oval 40"/>
            <p:cNvSpPr>
              <a:spLocks noChangeArrowheads="1"/>
            </p:cNvSpPr>
            <p:nvPr/>
          </p:nvSpPr>
          <p:spPr bwMode="auto">
            <a:xfrm>
              <a:off x="4848" y="2880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38</a:t>
              </a:r>
              <a:endParaRPr lang="it-IT" sz="4000"/>
            </a:p>
          </p:txBody>
        </p:sp>
        <p:sp>
          <p:nvSpPr>
            <p:cNvPr id="730153" name="Line 41"/>
            <p:cNvSpPr>
              <a:spLocks noChangeShapeType="1"/>
            </p:cNvSpPr>
            <p:nvPr/>
          </p:nvSpPr>
          <p:spPr bwMode="auto">
            <a:xfrm>
              <a:off x="4656" y="2688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4" name="Line 42"/>
            <p:cNvSpPr>
              <a:spLocks noChangeShapeType="1"/>
            </p:cNvSpPr>
            <p:nvPr/>
          </p:nvSpPr>
          <p:spPr bwMode="auto">
            <a:xfrm>
              <a:off x="412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5" name="Line 43"/>
            <p:cNvSpPr>
              <a:spLocks noChangeShapeType="1"/>
            </p:cNvSpPr>
            <p:nvPr/>
          </p:nvSpPr>
          <p:spPr bwMode="auto">
            <a:xfrm>
              <a:off x="508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6" name="Line 44"/>
            <p:cNvSpPr>
              <a:spLocks noChangeShapeType="1"/>
            </p:cNvSpPr>
            <p:nvPr/>
          </p:nvSpPr>
          <p:spPr bwMode="auto">
            <a:xfrm flipH="1">
              <a:off x="388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7" name="Line 45"/>
            <p:cNvSpPr>
              <a:spLocks noChangeShapeType="1"/>
            </p:cNvSpPr>
            <p:nvPr/>
          </p:nvSpPr>
          <p:spPr bwMode="auto">
            <a:xfrm flipH="1">
              <a:off x="4800" y="3168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58" name="Oval 46"/>
            <p:cNvSpPr>
              <a:spLocks noChangeArrowheads="1"/>
            </p:cNvSpPr>
            <p:nvPr/>
          </p:nvSpPr>
          <p:spPr bwMode="auto">
            <a:xfrm>
              <a:off x="4608" y="340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800"/>
                <a:t>14</a:t>
              </a:r>
              <a:endParaRPr lang="it-IT" sz="4000"/>
            </a:p>
          </p:txBody>
        </p:sp>
        <p:sp>
          <p:nvSpPr>
            <p:cNvPr id="730159" name="Line 47"/>
            <p:cNvSpPr>
              <a:spLocks noChangeShapeType="1"/>
            </p:cNvSpPr>
            <p:nvPr/>
          </p:nvSpPr>
          <p:spPr bwMode="auto">
            <a:xfrm flipH="1">
              <a:off x="4512" y="369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60" name="Line 48"/>
            <p:cNvSpPr>
              <a:spLocks noChangeShapeType="1"/>
            </p:cNvSpPr>
            <p:nvPr/>
          </p:nvSpPr>
          <p:spPr bwMode="auto">
            <a:xfrm>
              <a:off x="4848" y="369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  <p:sp>
          <p:nvSpPr>
            <p:cNvPr id="730161" name="Rectangle 49"/>
            <p:cNvSpPr>
              <a:spLocks noChangeArrowheads="1"/>
            </p:cNvSpPr>
            <p:nvPr/>
          </p:nvSpPr>
          <p:spPr bwMode="auto">
            <a:xfrm>
              <a:off x="4128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b</a:t>
              </a:r>
              <a:r>
                <a:rPr lang="it-IT" sz="2800"/>
                <a:t>:13</a:t>
              </a:r>
            </a:p>
          </p:txBody>
        </p:sp>
        <p:sp>
          <p:nvSpPr>
            <p:cNvPr id="730162" name="Rectangle 50"/>
            <p:cNvSpPr>
              <a:spLocks noChangeArrowheads="1"/>
            </p:cNvSpPr>
            <p:nvPr/>
          </p:nvSpPr>
          <p:spPr bwMode="auto">
            <a:xfrm>
              <a:off x="3696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c</a:t>
              </a:r>
              <a:r>
                <a:rPr lang="it-IT" sz="2800"/>
                <a:t>:12</a:t>
              </a:r>
            </a:p>
          </p:txBody>
        </p:sp>
        <p:sp>
          <p:nvSpPr>
            <p:cNvPr id="730163" name="Rectangle 51"/>
            <p:cNvSpPr>
              <a:spLocks noChangeArrowheads="1"/>
            </p:cNvSpPr>
            <p:nvPr/>
          </p:nvSpPr>
          <p:spPr bwMode="auto">
            <a:xfrm>
              <a:off x="5040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d</a:t>
              </a:r>
              <a:r>
                <a:rPr lang="it-IT" sz="2800"/>
                <a:t>:24</a:t>
              </a:r>
            </a:p>
          </p:txBody>
        </p:sp>
        <p:sp>
          <p:nvSpPr>
            <p:cNvPr id="730164" name="Rectangle 52"/>
            <p:cNvSpPr>
              <a:spLocks noChangeArrowheads="1"/>
            </p:cNvSpPr>
            <p:nvPr/>
          </p:nvSpPr>
          <p:spPr bwMode="auto">
            <a:xfrm>
              <a:off x="4368" y="398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f</a:t>
              </a:r>
              <a:r>
                <a:rPr lang="it-IT" sz="2800"/>
                <a:t>:5</a:t>
              </a:r>
            </a:p>
          </p:txBody>
        </p:sp>
        <p:sp>
          <p:nvSpPr>
            <p:cNvPr id="730165" name="Rectangle 53"/>
            <p:cNvSpPr>
              <a:spLocks noChangeArrowheads="1"/>
            </p:cNvSpPr>
            <p:nvPr/>
          </p:nvSpPr>
          <p:spPr bwMode="auto">
            <a:xfrm>
              <a:off x="4800" y="398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400" b="1">
                  <a:latin typeface="Courier New" charset="0"/>
                  <a:sym typeface="Symbol" charset="0"/>
                </a:rPr>
                <a:t>e</a:t>
              </a:r>
              <a:r>
                <a:rPr lang="it-IT" sz="2800"/>
                <a:t>:9</a:t>
              </a:r>
            </a:p>
          </p:txBody>
        </p:sp>
        <p:sp>
          <p:nvSpPr>
            <p:cNvPr id="730166" name="Text Box 54"/>
            <p:cNvSpPr txBox="1">
              <a:spLocks noChangeArrowheads="1"/>
            </p:cNvSpPr>
            <p:nvPr/>
          </p:nvSpPr>
          <p:spPr bwMode="auto">
            <a:xfrm>
              <a:off x="3744" y="214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67" name="Text Box 55"/>
            <p:cNvSpPr txBox="1">
              <a:spLocks noChangeArrowheads="1"/>
            </p:cNvSpPr>
            <p:nvPr/>
          </p:nvSpPr>
          <p:spPr bwMode="auto">
            <a:xfrm>
              <a:off x="4176" y="2577"/>
              <a:ext cx="16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68" name="Text Box 56"/>
            <p:cNvSpPr txBox="1">
              <a:spLocks noChangeArrowheads="1"/>
            </p:cNvSpPr>
            <p:nvPr/>
          </p:nvSpPr>
          <p:spPr bwMode="auto">
            <a:xfrm>
              <a:off x="3840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69" name="Text Box 57"/>
            <p:cNvSpPr txBox="1">
              <a:spLocks noChangeArrowheads="1"/>
            </p:cNvSpPr>
            <p:nvPr/>
          </p:nvSpPr>
          <p:spPr bwMode="auto">
            <a:xfrm>
              <a:off x="4704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70" name="Text Box 58"/>
            <p:cNvSpPr txBox="1">
              <a:spLocks noChangeArrowheads="1"/>
            </p:cNvSpPr>
            <p:nvPr/>
          </p:nvSpPr>
          <p:spPr bwMode="auto">
            <a:xfrm>
              <a:off x="4464" y="358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0</a:t>
              </a:r>
              <a:endParaRPr lang="it-IT" sz="4000"/>
            </a:p>
          </p:txBody>
        </p:sp>
        <p:sp>
          <p:nvSpPr>
            <p:cNvPr id="730171" name="Text Box 59"/>
            <p:cNvSpPr txBox="1">
              <a:spLocks noChangeArrowheads="1"/>
            </p:cNvSpPr>
            <p:nvPr/>
          </p:nvSpPr>
          <p:spPr bwMode="auto">
            <a:xfrm>
              <a:off x="4272" y="214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72" name="Text Box 60"/>
            <p:cNvSpPr txBox="1">
              <a:spLocks noChangeArrowheads="1"/>
            </p:cNvSpPr>
            <p:nvPr/>
          </p:nvSpPr>
          <p:spPr bwMode="auto">
            <a:xfrm>
              <a:off x="4704" y="2577"/>
              <a:ext cx="16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73" name="Text Box 61"/>
            <p:cNvSpPr txBox="1">
              <a:spLocks noChangeArrowheads="1"/>
            </p:cNvSpPr>
            <p:nvPr/>
          </p:nvSpPr>
          <p:spPr bwMode="auto">
            <a:xfrm>
              <a:off x="5088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74" name="Text Box 62"/>
            <p:cNvSpPr txBox="1">
              <a:spLocks noChangeArrowheads="1"/>
            </p:cNvSpPr>
            <p:nvPr/>
          </p:nvSpPr>
          <p:spPr bwMode="auto">
            <a:xfrm>
              <a:off x="4128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75" name="Text Box 63"/>
            <p:cNvSpPr txBox="1">
              <a:spLocks noChangeArrowheads="1"/>
            </p:cNvSpPr>
            <p:nvPr/>
          </p:nvSpPr>
          <p:spPr bwMode="auto">
            <a:xfrm>
              <a:off x="4848" y="358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800"/>
                <a:t>1</a:t>
              </a:r>
              <a:endParaRPr lang="it-IT" sz="4000"/>
            </a:p>
          </p:txBody>
        </p:sp>
        <p:sp>
          <p:nvSpPr>
            <p:cNvPr id="730176" name="Text Box 64"/>
            <p:cNvSpPr txBox="1">
              <a:spLocks noChangeArrowheads="1"/>
            </p:cNvSpPr>
            <p:nvPr/>
          </p:nvSpPr>
          <p:spPr bwMode="auto">
            <a:xfrm>
              <a:off x="3456" y="1908"/>
              <a:ext cx="215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3600" b="1">
                  <a:latin typeface="Courier New" charset="0"/>
                  <a:sym typeface="Symbol" charset="0"/>
                </a:rPr>
                <a:t>Q</a:t>
              </a:r>
              <a:endParaRPr lang="it-IT" sz="4000"/>
            </a:p>
          </p:txBody>
        </p:sp>
        <p:sp>
          <p:nvSpPr>
            <p:cNvPr id="730177" name="AutoShape 65"/>
            <p:cNvSpPr>
              <a:spLocks noChangeArrowheads="1"/>
            </p:cNvSpPr>
            <p:nvPr/>
          </p:nvSpPr>
          <p:spPr bwMode="auto">
            <a:xfrm>
              <a:off x="3696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Text Box 2"/>
          <p:cNvSpPr txBox="1">
            <a:spLocks noChangeArrowheads="1"/>
          </p:cNvSpPr>
          <p:nvPr/>
        </p:nvSpPr>
        <p:spPr bwMode="auto">
          <a:xfrm>
            <a:off x="352425" y="3903663"/>
            <a:ext cx="8369300" cy="173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/>
              <a:t>Assumendo che la coda </a:t>
            </a:r>
            <a:r>
              <a:rPr lang="it-IT" sz="2400" b="1">
                <a:latin typeface="Courier New" charset="0"/>
              </a:rPr>
              <a:t>Q</a:t>
            </a:r>
            <a:r>
              <a:rPr lang="it-IT" sz="2400"/>
              <a:t> venga realizzata con un heap, le operazioni </a:t>
            </a:r>
            <a:r>
              <a:rPr lang="it-IT" sz="2400" b="1" i="1">
                <a:sym typeface="Symbol" charset="0"/>
              </a:rPr>
              <a:t>Insert</a:t>
            </a:r>
            <a:r>
              <a:rPr lang="it-IT" sz="2400" b="1">
                <a:latin typeface="Courier New" charset="0"/>
                <a:sym typeface="Symbol" charset="0"/>
              </a:rPr>
              <a:t> </a:t>
            </a:r>
            <a:r>
              <a:rPr lang="it-IT" sz="2400"/>
              <a:t>ed </a:t>
            </a:r>
            <a:r>
              <a:rPr lang="it-IT" sz="2400" b="1" i="1">
                <a:sym typeface="Symbol" charset="0"/>
              </a:rPr>
              <a:t>ExtractMin</a:t>
            </a:r>
            <a:r>
              <a:rPr lang="it-IT" sz="2400"/>
              <a:t> richiedono tempo </a:t>
            </a:r>
            <a:r>
              <a:rPr lang="it-IT" sz="2400" b="1" i="1"/>
              <a:t>O</a:t>
            </a:r>
            <a:r>
              <a:rPr lang="it-IT" sz="2400" b="1"/>
              <a:t>(log </a:t>
            </a:r>
            <a:r>
              <a:rPr lang="it-IT" sz="2400" b="1" i="1"/>
              <a:t>n</a:t>
            </a:r>
            <a:r>
              <a:rPr lang="it-IT" sz="2400" b="1"/>
              <a:t>)</a:t>
            </a:r>
            <a:r>
              <a:rPr lang="it-IT" sz="2400"/>
              <a:t>.</a:t>
            </a:r>
          </a:p>
          <a:p>
            <a:pPr>
              <a:spcBef>
                <a:spcPct val="50000"/>
              </a:spcBef>
            </a:pPr>
            <a:r>
              <a:rPr lang="it-IT" sz="2400"/>
              <a:t>Pertanto l’intero algoritmo richiede tempo </a:t>
            </a:r>
            <a:r>
              <a:rPr lang="it-IT" sz="2400" b="1" i="1"/>
              <a:t>O</a:t>
            </a:r>
            <a:r>
              <a:rPr lang="it-IT" sz="2400" b="1"/>
              <a:t>(</a:t>
            </a:r>
            <a:r>
              <a:rPr lang="it-IT" sz="2400" b="1" i="1"/>
              <a:t>n</a:t>
            </a:r>
            <a:r>
              <a:rPr lang="it-IT" sz="2400" b="1"/>
              <a:t> log </a:t>
            </a:r>
            <a:r>
              <a:rPr lang="it-IT" sz="2400" b="1" i="1"/>
              <a:t>n</a:t>
            </a:r>
            <a:r>
              <a:rPr lang="it-IT" sz="2400" b="1"/>
              <a:t>)</a:t>
            </a:r>
            <a:r>
              <a:rPr lang="it-IT" sz="2400"/>
              <a:t> (dove </a:t>
            </a:r>
            <a:r>
              <a:rPr lang="it-IT" sz="2400" b="1" i="1"/>
              <a:t>n</a:t>
            </a:r>
            <a:r>
              <a:rPr lang="it-IT" sz="2400"/>
              <a:t> è il numero di caratteri dell’alfabeto). 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2819400" cy="228600"/>
          </a:xfrm>
        </p:spPr>
        <p:txBody>
          <a:bodyPr/>
          <a:lstStyle/>
          <a:p>
            <a:r>
              <a:rPr lang="it-IT" sz="1200">
                <a:solidFill>
                  <a:schemeClr val="bg1"/>
                </a:solidFill>
              </a:rPr>
              <a:t>Complessità algoritmo di Huffman</a:t>
            </a:r>
            <a:endParaRPr lang="it-IT" sz="1200"/>
          </a:p>
        </p:txBody>
      </p:sp>
      <p:sp>
        <p:nvSpPr>
          <p:cNvPr id="731140" name="Text Box 4"/>
          <p:cNvSpPr txBox="1">
            <a:spLocks noChangeArrowheads="1"/>
          </p:cNvSpPr>
          <p:nvPr/>
        </p:nvSpPr>
        <p:spPr bwMode="auto">
          <a:xfrm>
            <a:off x="1617663" y="228600"/>
            <a:ext cx="5618633" cy="341642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400" b="1" i="1" dirty="0" err="1"/>
              <a:t>Huffman</a:t>
            </a:r>
            <a:r>
              <a:rPr lang="it-IT" sz="2400" b="1" dirty="0"/>
              <a:t>(</a:t>
            </a:r>
            <a:r>
              <a:rPr lang="it-IT" sz="2400" b="1" i="1" dirty="0"/>
              <a:t>c</a:t>
            </a:r>
            <a:r>
              <a:rPr lang="it-IT" sz="2400" b="1" dirty="0"/>
              <a:t>, </a:t>
            </a:r>
            <a:r>
              <a:rPr lang="it-IT" sz="2400" b="1" i="1" dirty="0" err="1"/>
              <a:t>f</a:t>
            </a:r>
            <a:r>
              <a:rPr lang="it-IT" sz="2400" b="1" dirty="0"/>
              <a:t>, </a:t>
            </a:r>
            <a:r>
              <a:rPr lang="it-IT" sz="2400" b="1" i="1" dirty="0" err="1"/>
              <a:t>n</a:t>
            </a:r>
            <a:r>
              <a:rPr lang="it-IT" sz="2400" b="1" dirty="0"/>
              <a:t>)</a:t>
            </a:r>
          </a:p>
          <a:p>
            <a:r>
              <a:rPr lang="it-IT" sz="2400" b="1" dirty="0"/>
              <a:t>    </a:t>
            </a:r>
            <a:r>
              <a:rPr lang="it-IT" sz="2400" b="1" i="1" dirty="0" err="1"/>
              <a:t>Q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 		</a:t>
            </a:r>
            <a:r>
              <a:rPr lang="it-IT" sz="24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dirty="0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400" b="1" dirty="0"/>
              <a:t>    </a:t>
            </a:r>
            <a:r>
              <a:rPr lang="it-IT" sz="2400" b="1" dirty="0">
                <a:sym typeface="Symbol" charset="0"/>
              </a:rPr>
              <a:t>for </a:t>
            </a:r>
            <a:r>
              <a:rPr lang="it-IT" sz="2400" b="1" i="1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  1 to </a:t>
            </a:r>
            <a:r>
              <a:rPr lang="it-IT" sz="2400" b="1" i="1" dirty="0" err="1">
                <a:sym typeface="Symbol" charset="0"/>
              </a:rPr>
              <a:t>n</a:t>
            </a:r>
            <a:r>
              <a:rPr lang="it-IT" sz="2400" b="1" dirty="0">
                <a:sym typeface="Symbol" charset="0"/>
              </a:rPr>
              <a:t>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 err="1">
                <a:sym typeface="Symbol" charset="0"/>
              </a:rPr>
              <a:t>Push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>
                <a:sym typeface="Symbol" charset="0"/>
              </a:rPr>
              <a:t>nodo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f</a:t>
            </a:r>
            <a:r>
              <a:rPr lang="it-IT" sz="2400" b="1" i="1" baseline="-25000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>
                <a:sym typeface="Symbol" charset="0"/>
              </a:rPr>
              <a:t>c</a:t>
            </a:r>
            <a:r>
              <a:rPr lang="it-IT" sz="2400" b="1" i="1" baseline="-25000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))</a:t>
            </a:r>
          </a:p>
          <a:p>
            <a:r>
              <a:rPr lang="it-IT" sz="2400" b="1" dirty="0">
                <a:sym typeface="Symbol" charset="0"/>
              </a:rPr>
              <a:t>    for </a:t>
            </a:r>
            <a:r>
              <a:rPr lang="it-IT" sz="2400" b="1" i="1" dirty="0" err="1">
                <a:sym typeface="Symbol" charset="0"/>
              </a:rPr>
              <a:t>j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dirty="0" err="1">
                <a:sym typeface="Symbol" charset="0"/>
              </a:rPr>
              <a:t>downto</a:t>
            </a:r>
            <a:r>
              <a:rPr lang="it-IT" sz="2400" b="1" dirty="0">
                <a:sym typeface="Symbol" charset="0"/>
              </a:rPr>
              <a:t> 2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>
                <a:sym typeface="Symbol" charset="0"/>
              </a:rPr>
              <a:t>x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ExtractMin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), </a:t>
            </a:r>
            <a:r>
              <a:rPr lang="it-IT" sz="2400" b="1" i="1" dirty="0">
                <a:sym typeface="Symbol" charset="0"/>
              </a:rPr>
              <a:t>y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ExtractMin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)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 err="1">
                <a:sym typeface="Symbol" charset="0"/>
              </a:rPr>
              <a:t>Insert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 err="1">
                <a:sym typeface="Symbol" charset="0"/>
              </a:rPr>
              <a:t>,</a:t>
            </a:r>
            <a:r>
              <a:rPr lang="it-IT" sz="2400" b="1" i="1" dirty="0" err="1">
                <a:sym typeface="Symbol" charset="0"/>
              </a:rPr>
              <a:t>nodo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x</a:t>
            </a:r>
            <a:r>
              <a:rPr lang="it-IT" sz="2400" b="1" dirty="0" err="1">
                <a:sym typeface="Symbol" charset="0"/>
              </a:rPr>
              <a:t>,</a:t>
            </a:r>
            <a:r>
              <a:rPr lang="it-IT" sz="2400" b="1" i="1" dirty="0" err="1">
                <a:sym typeface="Symbol" charset="0"/>
              </a:rPr>
              <a:t>y</a:t>
            </a:r>
            <a:r>
              <a:rPr lang="it-IT" sz="2400" b="1" dirty="0">
                <a:sym typeface="Symbol" charset="0"/>
              </a:rPr>
              <a:t>))</a:t>
            </a:r>
          </a:p>
          <a:p>
            <a:r>
              <a:rPr lang="it-IT" sz="2400" b="1" dirty="0"/>
              <a:t>    </a:t>
            </a:r>
            <a:r>
              <a:rPr lang="it-IT" sz="2400" b="1" dirty="0" err="1"/>
              <a:t>return</a:t>
            </a:r>
            <a:r>
              <a:rPr lang="it-IT" sz="2400" b="1" dirty="0"/>
              <a:t> </a:t>
            </a:r>
            <a:r>
              <a:rPr lang="it-IT" sz="2400" b="1" i="1" dirty="0" err="1"/>
              <a:t>ExtractMin</a:t>
            </a:r>
            <a:r>
              <a:rPr lang="it-IT" sz="2400" b="1" dirty="0"/>
              <a:t>(</a:t>
            </a:r>
            <a:r>
              <a:rPr lang="it-IT" sz="2400" b="1" i="1" dirty="0" err="1"/>
              <a:t>Q</a:t>
            </a:r>
            <a:r>
              <a:rPr lang="it-IT" sz="2400" b="1" dirty="0"/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685800" y="457200"/>
            <a:ext cx="7772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/>
              <a:t>L’algoritmo è </a:t>
            </a:r>
            <a:r>
              <a:rPr lang="it-IT" i="1" u="sng"/>
              <a:t>goloso</a:t>
            </a:r>
            <a:r>
              <a:rPr lang="it-IT"/>
              <a:t> perché ad ogni passo costruisce il nodo interno avente frequenza minima possibile. Ricordiamo infatti che</a:t>
            </a: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685800" y="3505200"/>
            <a:ext cx="77724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Siamo sicuri che in questo modo otteniamo sempre un codice ottimo?</a:t>
            </a:r>
          </a:p>
          <a:p>
            <a:pPr>
              <a:spcBef>
                <a:spcPct val="50000"/>
              </a:spcBef>
            </a:pPr>
            <a:r>
              <a:rPr lang="it-IT"/>
              <a:t>Per accertarlo dimostriamo le proprietà della scelta golosa e della sottostruttura ottima. </a:t>
            </a:r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/>
        </p:nvGraphicFramePr>
        <p:xfrm>
          <a:off x="2646363" y="2286000"/>
          <a:ext cx="36972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3" imgW="1143000" imgH="342720" progId="Equation.3">
                  <p:embed/>
                </p:oleObj>
              </mc:Choice>
              <mc:Fallback>
                <p:oleObj name="Equation" r:id="rId3" imgW="1143000" imgH="342720" progId="Equation.3">
                  <p:embed/>
                  <p:pic>
                    <p:nvPicPr>
                      <p:cNvPr id="732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2286000"/>
                        <a:ext cx="36972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6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2449513" cy="381000"/>
          </a:xfrm>
        </p:spPr>
        <p:txBody>
          <a:bodyPr/>
          <a:lstStyle/>
          <a:p>
            <a:r>
              <a:rPr lang="it-IT" sz="800">
                <a:solidFill>
                  <a:schemeClr val="bg1"/>
                </a:solidFill>
              </a:rPr>
              <a:t>Perché goloso?</a:t>
            </a:r>
            <a:endParaRPr lang="en-GB" sz="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Text Box 2"/>
          <p:cNvSpPr txBox="1">
            <a:spLocks noChangeArrowheads="1"/>
          </p:cNvSpPr>
          <p:nvPr/>
        </p:nvSpPr>
        <p:spPr bwMode="auto">
          <a:xfrm>
            <a:off x="633413" y="228600"/>
            <a:ext cx="7807325" cy="3960813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u="sng"/>
              <a:t>Lemma</a:t>
            </a:r>
            <a:r>
              <a:rPr lang="it-IT" sz="2800"/>
              <a:t> (</a:t>
            </a:r>
            <a:r>
              <a:rPr lang="it-IT" sz="2800" i="1"/>
              <a:t>proprietà della scelta golosa</a:t>
            </a:r>
            <a:r>
              <a:rPr lang="it-IT" sz="2800"/>
              <a:t>) </a:t>
            </a:r>
          </a:p>
          <a:p>
            <a:r>
              <a:rPr lang="it-IT" sz="2800"/>
              <a:t>Sia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c</a:t>
            </a:r>
            <a:r>
              <a:rPr lang="it-IT" sz="2800">
                <a:sym typeface="Symbol" charset="0"/>
              </a:rPr>
              <a:t> la frequenza di ciascun carattere </a:t>
            </a:r>
            <a:r>
              <a:rPr lang="it-IT" sz="2800" b="1" i="1"/>
              <a:t>c</a:t>
            </a:r>
            <a:r>
              <a:rPr lang="it-IT" sz="2800">
                <a:sym typeface="Symbol" charset="0"/>
              </a:rPr>
              <a:t> di un alfabeto </a:t>
            </a:r>
            <a:r>
              <a:rPr lang="it-IT" sz="2800" b="1" i="1"/>
              <a:t>C</a:t>
            </a:r>
            <a:r>
              <a:rPr lang="it-IT" sz="2800">
                <a:sym typeface="Symbol" charset="0"/>
              </a:rPr>
              <a:t> e siano </a:t>
            </a:r>
            <a:r>
              <a:rPr lang="it-IT" sz="2800" b="1" i="1">
                <a:sym typeface="Symbol" charset="0"/>
              </a:rPr>
              <a:t>a</a:t>
            </a:r>
            <a:r>
              <a:rPr lang="it-IT" sz="2800">
                <a:sym typeface="Symbol" charset="0"/>
              </a:rPr>
              <a:t> e </a:t>
            </a:r>
            <a:r>
              <a:rPr lang="it-IT" sz="2800" b="1" i="1">
                <a:sym typeface="Symbol" charset="0"/>
              </a:rPr>
              <a:t>b</a:t>
            </a:r>
            <a:r>
              <a:rPr lang="it-IT" sz="2800">
                <a:sym typeface="Symbol" charset="0"/>
              </a:rPr>
              <a:t> due caratteri di </a:t>
            </a:r>
            <a:r>
              <a:rPr lang="it-IT" sz="2800" b="1" i="1">
                <a:sym typeface="Symbol" charset="0"/>
              </a:rPr>
              <a:t>C</a:t>
            </a:r>
            <a:r>
              <a:rPr lang="it-IT" sz="2800">
                <a:sym typeface="Symbol" charset="0"/>
              </a:rPr>
              <a:t> aventi frequenze </a:t>
            </a:r>
            <a:r>
              <a:rPr lang="it-IT" sz="2800"/>
              <a:t>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a</a:t>
            </a:r>
            <a:r>
              <a:rPr lang="it-IT" sz="2800">
                <a:sym typeface="Symbol" charset="0"/>
              </a:rPr>
              <a:t>,</a:t>
            </a:r>
            <a:r>
              <a:rPr lang="it-IT" sz="2800"/>
              <a:t>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b</a:t>
            </a:r>
            <a:r>
              <a:rPr lang="it-IT" sz="2800">
                <a:sym typeface="Symbol" charset="0"/>
              </a:rPr>
              <a:t> minime. </a:t>
            </a:r>
          </a:p>
          <a:p>
            <a:r>
              <a:rPr lang="it-IT" sz="2800" u="sng">
                <a:sym typeface="Symbol" charset="0"/>
              </a:rPr>
              <a:t>Esiste</a:t>
            </a:r>
            <a:r>
              <a:rPr lang="it-IT" sz="2800">
                <a:sym typeface="Symbol" charset="0"/>
              </a:rPr>
              <a:t> un codice prefisso ottimo in cui le parole codice di </a:t>
            </a:r>
            <a:r>
              <a:rPr lang="it-IT" sz="2800" b="1" i="1">
                <a:sym typeface="Symbol" charset="0"/>
              </a:rPr>
              <a:t>a</a:t>
            </a:r>
            <a:r>
              <a:rPr lang="it-IT" sz="2800">
                <a:sym typeface="Symbol" charset="0"/>
              </a:rPr>
              <a:t> e </a:t>
            </a:r>
            <a:r>
              <a:rPr lang="it-IT" sz="2800" b="1" i="1">
                <a:sym typeface="Symbol" charset="0"/>
              </a:rPr>
              <a:t>b</a:t>
            </a:r>
            <a:r>
              <a:rPr lang="it-IT" sz="2800">
                <a:sym typeface="Symbol" charset="0"/>
              </a:rPr>
              <a:t> hanno la stessa lunghezza e differiscono soltanto per l’ultimo bit (e quindi, nell’albero del codice, le foglie associate ad </a:t>
            </a:r>
            <a:r>
              <a:rPr lang="it-IT" sz="2800" b="1" i="1">
                <a:sym typeface="Symbol" charset="0"/>
              </a:rPr>
              <a:t>a</a:t>
            </a:r>
            <a:r>
              <a:rPr lang="it-IT" sz="2800">
                <a:sym typeface="Symbol" charset="0"/>
              </a:rPr>
              <a:t> e </a:t>
            </a:r>
            <a:r>
              <a:rPr lang="it-IT" sz="2800" b="1" i="1">
                <a:sym typeface="Symbol" charset="0"/>
              </a:rPr>
              <a:t>b</a:t>
            </a:r>
            <a:r>
              <a:rPr lang="it-IT" sz="2800">
                <a:sym typeface="Symbol" charset="0"/>
              </a:rPr>
              <a:t> sono </a:t>
            </a:r>
            <a:r>
              <a:rPr lang="it-IT" sz="2800"/>
              <a:t>figlie dello stesso nodo interno, cioè sorelle). 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105400" cy="228600"/>
          </a:xfrm>
        </p:spPr>
        <p:txBody>
          <a:bodyPr/>
          <a:lstStyle/>
          <a:p>
            <a:r>
              <a:rPr lang="it-IT" sz="800">
                <a:solidFill>
                  <a:schemeClr val="bg1"/>
                </a:solidFill>
              </a:rPr>
              <a:t>Lemma scelta golosa</a:t>
            </a:r>
            <a:endParaRPr lang="it-IT" sz="800"/>
          </a:p>
        </p:txBody>
      </p:sp>
      <p:sp>
        <p:nvSpPr>
          <p:cNvPr id="733188" name="Text Box 4"/>
          <p:cNvSpPr txBox="1">
            <a:spLocks noChangeArrowheads="1"/>
          </p:cNvSpPr>
          <p:nvPr/>
        </p:nvSpPr>
        <p:spPr bwMode="auto">
          <a:xfrm>
            <a:off x="633413" y="4816475"/>
            <a:ext cx="7772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b="1"/>
              <a:t>Attenzione</a:t>
            </a:r>
            <a:r>
              <a:rPr lang="it-IT" sz="2400"/>
              <a:t>: Il Lemma </a:t>
            </a:r>
            <a:r>
              <a:rPr lang="it-IT" sz="2400" b="1" u="sng"/>
              <a:t>non</a:t>
            </a:r>
            <a:r>
              <a:rPr lang="it-IT" sz="2400"/>
              <a:t> dice che ciò è vero per ogni </a:t>
            </a:r>
            <a:r>
              <a:rPr lang="it-IT" sz="2400">
                <a:sym typeface="Symbol" charset="0"/>
              </a:rPr>
              <a:t>codice prefisso ottimo e </a:t>
            </a:r>
            <a:r>
              <a:rPr lang="it-IT" sz="2400" b="1" u="sng"/>
              <a:t>tanto meno</a:t>
            </a:r>
            <a:r>
              <a:rPr lang="it-IT" sz="2400"/>
              <a:t> che se ciò è vero il codice è ottimo</a:t>
            </a:r>
            <a:r>
              <a:rPr lang="it-IT" sz="2400">
                <a:sym typeface="Symbol" charset="0"/>
              </a:rPr>
              <a:t>!!!! </a:t>
            </a:r>
          </a:p>
          <a:p>
            <a:r>
              <a:rPr lang="it-IT" sz="2400">
                <a:sym typeface="Symbol" charset="0"/>
              </a:rPr>
              <a:t>Dice </a:t>
            </a:r>
            <a:r>
              <a:rPr lang="it-IT" sz="2400" b="1" u="sng">
                <a:sym typeface="Symbol" charset="0"/>
              </a:rPr>
              <a:t>solo</a:t>
            </a:r>
            <a:r>
              <a:rPr lang="it-IT" sz="2400">
                <a:sym typeface="Symbol" charset="0"/>
              </a:rPr>
              <a:t> che </a:t>
            </a:r>
            <a:r>
              <a:rPr lang="it-IT" sz="2400"/>
              <a:t>ciò </a:t>
            </a:r>
            <a:r>
              <a:rPr lang="it-IT" sz="2400">
                <a:sym typeface="Symbol" charset="0"/>
              </a:rPr>
              <a:t>è vero per </a:t>
            </a:r>
            <a:r>
              <a:rPr lang="it-IT" sz="2400" b="1" u="sng">
                <a:sym typeface="Symbol" charset="0"/>
              </a:rPr>
              <a:t>almeno</a:t>
            </a:r>
            <a:r>
              <a:rPr lang="it-IT" sz="2400">
                <a:sym typeface="Symbol" charset="0"/>
              </a:rPr>
              <a:t> un codice ottimo.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Text Box 2"/>
          <p:cNvSpPr txBox="1">
            <a:spLocks noChangeArrowheads="1"/>
          </p:cNvSpPr>
          <p:nvPr/>
        </p:nvSpPr>
        <p:spPr bwMode="auto">
          <a:xfrm>
            <a:off x="352425" y="457200"/>
            <a:ext cx="83820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/>
              <a:t>Sia </a:t>
            </a:r>
            <a:r>
              <a:rPr lang="it-IT" sz="2800" b="1" i="1"/>
              <a:t>T</a:t>
            </a:r>
            <a:r>
              <a:rPr lang="it-IT" sz="2800"/>
              <a:t> l’albero di un codice prefisso ottimo. </a:t>
            </a:r>
          </a:p>
          <a:p>
            <a:pPr>
              <a:spcBef>
                <a:spcPct val="50000"/>
              </a:spcBef>
            </a:pPr>
            <a:r>
              <a:rPr lang="it-IT" sz="2800"/>
              <a:t>Ogni nodo interno di </a:t>
            </a:r>
            <a:r>
              <a:rPr lang="it-IT" sz="2800" b="1" i="1"/>
              <a:t>T</a:t>
            </a:r>
            <a:r>
              <a:rPr lang="it-IT" sz="2800"/>
              <a:t> ha due figli (altrimenti togliendo il nodo si otterrebbe un codice migliore).</a:t>
            </a:r>
          </a:p>
        </p:txBody>
      </p:sp>
      <p:grpSp>
        <p:nvGrpSpPr>
          <p:cNvPr id="734211" name="Group 3"/>
          <p:cNvGrpSpPr>
            <a:grpSpLocks/>
          </p:cNvGrpSpPr>
          <p:nvPr/>
        </p:nvGrpSpPr>
        <p:grpSpPr bwMode="auto">
          <a:xfrm>
            <a:off x="4852988" y="2286000"/>
            <a:ext cx="3024187" cy="3554413"/>
            <a:chOff x="3431" y="1680"/>
            <a:chExt cx="1975" cy="2239"/>
          </a:xfrm>
        </p:grpSpPr>
        <p:sp>
          <p:nvSpPr>
            <p:cNvPr id="734212" name="Oval 4"/>
            <p:cNvSpPr>
              <a:spLocks noChangeArrowheads="1"/>
            </p:cNvSpPr>
            <p:nvPr/>
          </p:nvSpPr>
          <p:spPr bwMode="auto">
            <a:xfrm>
              <a:off x="3804" y="1680"/>
              <a:ext cx="320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120</a:t>
              </a:r>
              <a:endParaRPr lang="it-IT"/>
            </a:p>
          </p:txBody>
        </p:sp>
        <p:sp>
          <p:nvSpPr>
            <p:cNvPr id="734213" name="Oval 5"/>
            <p:cNvSpPr>
              <a:spLocks noChangeArrowheads="1"/>
            </p:cNvSpPr>
            <p:nvPr/>
          </p:nvSpPr>
          <p:spPr bwMode="auto">
            <a:xfrm>
              <a:off x="4338" y="2128"/>
              <a:ext cx="320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63</a:t>
              </a:r>
              <a:endParaRPr lang="it-IT"/>
            </a:p>
          </p:txBody>
        </p:sp>
        <p:sp>
          <p:nvSpPr>
            <p:cNvPr id="734214" name="Line 6"/>
            <p:cNvSpPr>
              <a:spLocks noChangeShapeType="1"/>
            </p:cNvSpPr>
            <p:nvPr/>
          </p:nvSpPr>
          <p:spPr bwMode="auto">
            <a:xfrm>
              <a:off x="4071" y="1929"/>
              <a:ext cx="320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5" name="Rectangle 7"/>
            <p:cNvSpPr>
              <a:spLocks noChangeArrowheads="1"/>
            </p:cNvSpPr>
            <p:nvPr/>
          </p:nvSpPr>
          <p:spPr bwMode="auto">
            <a:xfrm>
              <a:off x="3431" y="2227"/>
              <a:ext cx="373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34216" name="Line 8"/>
            <p:cNvSpPr>
              <a:spLocks noChangeShapeType="1"/>
            </p:cNvSpPr>
            <p:nvPr/>
          </p:nvSpPr>
          <p:spPr bwMode="auto">
            <a:xfrm flipH="1">
              <a:off x="3591" y="1929"/>
              <a:ext cx="2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7" name="Line 9"/>
            <p:cNvSpPr>
              <a:spLocks noChangeShapeType="1"/>
            </p:cNvSpPr>
            <p:nvPr/>
          </p:nvSpPr>
          <p:spPr bwMode="auto">
            <a:xfrm flipH="1">
              <a:off x="4097" y="2376"/>
              <a:ext cx="294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8" name="Oval 10"/>
            <p:cNvSpPr>
              <a:spLocks noChangeArrowheads="1"/>
            </p:cNvSpPr>
            <p:nvPr/>
          </p:nvSpPr>
          <p:spPr bwMode="auto">
            <a:xfrm>
              <a:off x="3792" y="2592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25</a:t>
              </a:r>
              <a:endParaRPr lang="it-IT"/>
            </a:p>
          </p:txBody>
        </p:sp>
        <p:sp>
          <p:nvSpPr>
            <p:cNvPr id="734219" name="Oval 11"/>
            <p:cNvSpPr>
              <a:spLocks noChangeArrowheads="1"/>
            </p:cNvSpPr>
            <p:nvPr/>
          </p:nvSpPr>
          <p:spPr bwMode="auto">
            <a:xfrm>
              <a:off x="4819" y="2575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38</a:t>
              </a:r>
              <a:endParaRPr lang="it-IT"/>
            </a:p>
          </p:txBody>
        </p:sp>
        <p:sp>
          <p:nvSpPr>
            <p:cNvPr id="734220" name="Line 12"/>
            <p:cNvSpPr>
              <a:spLocks noChangeShapeType="1"/>
            </p:cNvSpPr>
            <p:nvPr/>
          </p:nvSpPr>
          <p:spPr bwMode="auto">
            <a:xfrm>
              <a:off x="4605" y="2376"/>
              <a:ext cx="267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1" name="Line 13"/>
            <p:cNvSpPr>
              <a:spLocks noChangeShapeType="1"/>
            </p:cNvSpPr>
            <p:nvPr/>
          </p:nvSpPr>
          <p:spPr bwMode="auto">
            <a:xfrm>
              <a:off x="4005" y="2891"/>
              <a:ext cx="16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2" name="Line 14"/>
            <p:cNvSpPr>
              <a:spLocks noChangeShapeType="1"/>
            </p:cNvSpPr>
            <p:nvPr/>
          </p:nvSpPr>
          <p:spPr bwMode="auto">
            <a:xfrm>
              <a:off x="5086" y="2874"/>
              <a:ext cx="160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3" name="Line 15"/>
            <p:cNvSpPr>
              <a:spLocks noChangeShapeType="1"/>
            </p:cNvSpPr>
            <p:nvPr/>
          </p:nvSpPr>
          <p:spPr bwMode="auto">
            <a:xfrm flipH="1">
              <a:off x="3738" y="2891"/>
              <a:ext cx="16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4" name="Line 16"/>
            <p:cNvSpPr>
              <a:spLocks noChangeShapeType="1"/>
            </p:cNvSpPr>
            <p:nvPr/>
          </p:nvSpPr>
          <p:spPr bwMode="auto">
            <a:xfrm flipH="1">
              <a:off x="4765" y="2874"/>
              <a:ext cx="161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5" name="Oval 17"/>
            <p:cNvSpPr>
              <a:spLocks noChangeArrowheads="1"/>
            </p:cNvSpPr>
            <p:nvPr/>
          </p:nvSpPr>
          <p:spPr bwMode="auto">
            <a:xfrm>
              <a:off x="4552" y="3123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14</a:t>
              </a:r>
              <a:endParaRPr lang="it-IT"/>
            </a:p>
          </p:txBody>
        </p:sp>
        <p:sp>
          <p:nvSpPr>
            <p:cNvPr id="734226" name="Line 18"/>
            <p:cNvSpPr>
              <a:spLocks noChangeShapeType="1"/>
            </p:cNvSpPr>
            <p:nvPr/>
          </p:nvSpPr>
          <p:spPr bwMode="auto">
            <a:xfrm flipH="1">
              <a:off x="4445" y="3422"/>
              <a:ext cx="160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7" name="Line 19"/>
            <p:cNvSpPr>
              <a:spLocks noChangeShapeType="1"/>
            </p:cNvSpPr>
            <p:nvPr/>
          </p:nvSpPr>
          <p:spPr bwMode="auto">
            <a:xfrm>
              <a:off x="4819" y="3422"/>
              <a:ext cx="159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28" name="Rectangle 20"/>
            <p:cNvSpPr>
              <a:spLocks noChangeArrowheads="1"/>
            </p:cNvSpPr>
            <p:nvPr/>
          </p:nvSpPr>
          <p:spPr bwMode="auto">
            <a:xfrm>
              <a:off x="4005" y="3189"/>
              <a:ext cx="374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34229" name="Rectangle 21"/>
            <p:cNvSpPr>
              <a:spLocks noChangeArrowheads="1"/>
            </p:cNvSpPr>
            <p:nvPr/>
          </p:nvSpPr>
          <p:spPr bwMode="auto">
            <a:xfrm>
              <a:off x="3525" y="3189"/>
              <a:ext cx="374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34230" name="Rectangle 22"/>
            <p:cNvSpPr>
              <a:spLocks noChangeArrowheads="1"/>
            </p:cNvSpPr>
            <p:nvPr/>
          </p:nvSpPr>
          <p:spPr bwMode="auto">
            <a:xfrm>
              <a:off x="5032" y="3173"/>
              <a:ext cx="374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34231" name="Rectangle 23"/>
            <p:cNvSpPr>
              <a:spLocks noChangeArrowheads="1"/>
            </p:cNvSpPr>
            <p:nvPr/>
          </p:nvSpPr>
          <p:spPr bwMode="auto">
            <a:xfrm>
              <a:off x="4285" y="3720"/>
              <a:ext cx="373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34232" name="Rectangle 24"/>
            <p:cNvSpPr>
              <a:spLocks noChangeArrowheads="1"/>
            </p:cNvSpPr>
            <p:nvPr/>
          </p:nvSpPr>
          <p:spPr bwMode="auto">
            <a:xfrm>
              <a:off x="4765" y="3720"/>
              <a:ext cx="374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34233" name="Text Box 25"/>
            <p:cNvSpPr txBox="1">
              <a:spLocks noChangeArrowheads="1"/>
            </p:cNvSpPr>
            <p:nvPr/>
          </p:nvSpPr>
          <p:spPr bwMode="auto">
            <a:xfrm>
              <a:off x="3591" y="1889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34" name="Text Box 26"/>
            <p:cNvSpPr txBox="1">
              <a:spLocks noChangeArrowheads="1"/>
            </p:cNvSpPr>
            <p:nvPr/>
          </p:nvSpPr>
          <p:spPr bwMode="auto">
            <a:xfrm>
              <a:off x="4071" y="2337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35" name="Text Box 27"/>
            <p:cNvSpPr txBox="1">
              <a:spLocks noChangeArrowheads="1"/>
            </p:cNvSpPr>
            <p:nvPr/>
          </p:nvSpPr>
          <p:spPr bwMode="auto">
            <a:xfrm>
              <a:off x="3685" y="2851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36" name="Text Box 28"/>
            <p:cNvSpPr txBox="1">
              <a:spLocks noChangeArrowheads="1"/>
            </p:cNvSpPr>
            <p:nvPr/>
          </p:nvSpPr>
          <p:spPr bwMode="auto">
            <a:xfrm>
              <a:off x="4658" y="2834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37" name="Text Box 29"/>
            <p:cNvSpPr txBox="1">
              <a:spLocks noChangeArrowheads="1"/>
            </p:cNvSpPr>
            <p:nvPr/>
          </p:nvSpPr>
          <p:spPr bwMode="auto">
            <a:xfrm>
              <a:off x="4391" y="3381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38" name="Text Box 30"/>
            <p:cNvSpPr txBox="1">
              <a:spLocks noChangeArrowheads="1"/>
            </p:cNvSpPr>
            <p:nvPr/>
          </p:nvSpPr>
          <p:spPr bwMode="auto">
            <a:xfrm>
              <a:off x="4178" y="1889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39" name="Text Box 31"/>
            <p:cNvSpPr txBox="1">
              <a:spLocks noChangeArrowheads="1"/>
            </p:cNvSpPr>
            <p:nvPr/>
          </p:nvSpPr>
          <p:spPr bwMode="auto">
            <a:xfrm>
              <a:off x="4658" y="2337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40" name="Text Box 32"/>
            <p:cNvSpPr txBox="1">
              <a:spLocks noChangeArrowheads="1"/>
            </p:cNvSpPr>
            <p:nvPr/>
          </p:nvSpPr>
          <p:spPr bwMode="auto">
            <a:xfrm>
              <a:off x="5086" y="2834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41" name="Text Box 33"/>
            <p:cNvSpPr txBox="1">
              <a:spLocks noChangeArrowheads="1"/>
            </p:cNvSpPr>
            <p:nvPr/>
          </p:nvSpPr>
          <p:spPr bwMode="auto">
            <a:xfrm>
              <a:off x="4005" y="2851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42" name="Text Box 34"/>
            <p:cNvSpPr txBox="1">
              <a:spLocks noChangeArrowheads="1"/>
            </p:cNvSpPr>
            <p:nvPr/>
          </p:nvSpPr>
          <p:spPr bwMode="auto">
            <a:xfrm>
              <a:off x="4819" y="3381"/>
              <a:ext cx="1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</p:grpSp>
      <p:grpSp>
        <p:nvGrpSpPr>
          <p:cNvPr id="734243" name="Group 35"/>
          <p:cNvGrpSpPr>
            <a:grpSpLocks/>
          </p:cNvGrpSpPr>
          <p:nvPr/>
        </p:nvGrpSpPr>
        <p:grpSpPr bwMode="auto">
          <a:xfrm>
            <a:off x="585788" y="2286000"/>
            <a:ext cx="3648075" cy="4278313"/>
            <a:chOff x="400" y="1440"/>
            <a:chExt cx="2489" cy="2695"/>
          </a:xfrm>
        </p:grpSpPr>
        <p:sp>
          <p:nvSpPr>
            <p:cNvPr id="734244" name="Oval 36"/>
            <p:cNvSpPr>
              <a:spLocks noChangeArrowheads="1"/>
            </p:cNvSpPr>
            <p:nvPr/>
          </p:nvSpPr>
          <p:spPr bwMode="auto">
            <a:xfrm>
              <a:off x="1774" y="1888"/>
              <a:ext cx="334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63</a:t>
              </a:r>
              <a:endParaRPr lang="it-IT"/>
            </a:p>
          </p:txBody>
        </p:sp>
        <p:sp>
          <p:nvSpPr>
            <p:cNvPr id="734245" name="Oval 37"/>
            <p:cNvSpPr>
              <a:spLocks noChangeArrowheads="1"/>
            </p:cNvSpPr>
            <p:nvPr/>
          </p:nvSpPr>
          <p:spPr bwMode="auto">
            <a:xfrm>
              <a:off x="1215" y="1440"/>
              <a:ext cx="335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120</a:t>
              </a:r>
              <a:endParaRPr lang="it-IT"/>
            </a:p>
          </p:txBody>
        </p:sp>
        <p:sp>
          <p:nvSpPr>
            <p:cNvPr id="734246" name="Line 38"/>
            <p:cNvSpPr>
              <a:spLocks noChangeShapeType="1"/>
            </p:cNvSpPr>
            <p:nvPr/>
          </p:nvSpPr>
          <p:spPr bwMode="auto">
            <a:xfrm>
              <a:off x="1494" y="1689"/>
              <a:ext cx="335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47" name="Rectangle 39"/>
            <p:cNvSpPr>
              <a:spLocks noChangeArrowheads="1"/>
            </p:cNvSpPr>
            <p:nvPr/>
          </p:nvSpPr>
          <p:spPr bwMode="auto">
            <a:xfrm>
              <a:off x="825" y="1987"/>
              <a:ext cx="390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34248" name="Line 40"/>
            <p:cNvSpPr>
              <a:spLocks noChangeShapeType="1"/>
            </p:cNvSpPr>
            <p:nvPr/>
          </p:nvSpPr>
          <p:spPr bwMode="auto">
            <a:xfrm flipH="1">
              <a:off x="992" y="1689"/>
              <a:ext cx="280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49" name="Line 41"/>
            <p:cNvSpPr>
              <a:spLocks noChangeShapeType="1"/>
            </p:cNvSpPr>
            <p:nvPr/>
          </p:nvSpPr>
          <p:spPr bwMode="auto">
            <a:xfrm flipH="1">
              <a:off x="1522" y="2136"/>
              <a:ext cx="307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0" name="Oval 42"/>
            <p:cNvSpPr>
              <a:spLocks noChangeArrowheads="1"/>
            </p:cNvSpPr>
            <p:nvPr/>
          </p:nvSpPr>
          <p:spPr bwMode="auto">
            <a:xfrm>
              <a:off x="679" y="286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25</a:t>
              </a:r>
              <a:endParaRPr lang="it-IT"/>
            </a:p>
          </p:txBody>
        </p:sp>
        <p:sp>
          <p:nvSpPr>
            <p:cNvPr id="734251" name="Oval 43"/>
            <p:cNvSpPr>
              <a:spLocks noChangeArrowheads="1"/>
            </p:cNvSpPr>
            <p:nvPr/>
          </p:nvSpPr>
          <p:spPr bwMode="auto">
            <a:xfrm>
              <a:off x="2276" y="233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38</a:t>
              </a:r>
              <a:endParaRPr lang="it-IT"/>
            </a:p>
          </p:txBody>
        </p:sp>
        <p:sp>
          <p:nvSpPr>
            <p:cNvPr id="734252" name="Line 44"/>
            <p:cNvSpPr>
              <a:spLocks noChangeShapeType="1"/>
            </p:cNvSpPr>
            <p:nvPr/>
          </p:nvSpPr>
          <p:spPr bwMode="auto">
            <a:xfrm>
              <a:off x="2052" y="2136"/>
              <a:ext cx="279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3" name="Line 45"/>
            <p:cNvSpPr>
              <a:spLocks noChangeShapeType="1"/>
            </p:cNvSpPr>
            <p:nvPr/>
          </p:nvSpPr>
          <p:spPr bwMode="auto">
            <a:xfrm>
              <a:off x="902" y="3164"/>
              <a:ext cx="16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4" name="Line 46"/>
            <p:cNvSpPr>
              <a:spLocks noChangeShapeType="1"/>
            </p:cNvSpPr>
            <p:nvPr/>
          </p:nvSpPr>
          <p:spPr bwMode="auto">
            <a:xfrm>
              <a:off x="2555" y="2634"/>
              <a:ext cx="166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5" name="Line 47"/>
            <p:cNvSpPr>
              <a:spLocks noChangeShapeType="1"/>
            </p:cNvSpPr>
            <p:nvPr/>
          </p:nvSpPr>
          <p:spPr bwMode="auto">
            <a:xfrm flipH="1">
              <a:off x="623" y="3164"/>
              <a:ext cx="16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6" name="Line 48"/>
            <p:cNvSpPr>
              <a:spLocks noChangeShapeType="1"/>
            </p:cNvSpPr>
            <p:nvPr/>
          </p:nvSpPr>
          <p:spPr bwMode="auto">
            <a:xfrm flipH="1">
              <a:off x="2219" y="2634"/>
              <a:ext cx="168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7" name="Oval 49"/>
            <p:cNvSpPr>
              <a:spLocks noChangeArrowheads="1"/>
            </p:cNvSpPr>
            <p:nvPr/>
          </p:nvSpPr>
          <p:spPr bwMode="auto">
            <a:xfrm>
              <a:off x="1996" y="2883"/>
              <a:ext cx="335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14</a:t>
              </a:r>
              <a:endParaRPr lang="it-IT"/>
            </a:p>
          </p:txBody>
        </p:sp>
        <p:sp>
          <p:nvSpPr>
            <p:cNvPr id="734258" name="Line 50"/>
            <p:cNvSpPr>
              <a:spLocks noChangeShapeType="1"/>
            </p:cNvSpPr>
            <p:nvPr/>
          </p:nvSpPr>
          <p:spPr bwMode="auto">
            <a:xfrm flipH="1">
              <a:off x="1885" y="3182"/>
              <a:ext cx="1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59" name="Line 51"/>
            <p:cNvSpPr>
              <a:spLocks noChangeShapeType="1"/>
            </p:cNvSpPr>
            <p:nvPr/>
          </p:nvSpPr>
          <p:spPr bwMode="auto">
            <a:xfrm>
              <a:off x="2276" y="3182"/>
              <a:ext cx="166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0" name="Rectangle 52"/>
            <p:cNvSpPr>
              <a:spLocks noChangeArrowheads="1"/>
            </p:cNvSpPr>
            <p:nvPr/>
          </p:nvSpPr>
          <p:spPr bwMode="auto">
            <a:xfrm>
              <a:off x="902" y="3462"/>
              <a:ext cx="391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34261" name="Rectangle 53"/>
            <p:cNvSpPr>
              <a:spLocks noChangeArrowheads="1"/>
            </p:cNvSpPr>
            <p:nvPr/>
          </p:nvSpPr>
          <p:spPr bwMode="auto">
            <a:xfrm>
              <a:off x="400" y="3462"/>
              <a:ext cx="391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34262" name="Rectangle 54"/>
            <p:cNvSpPr>
              <a:spLocks noChangeArrowheads="1"/>
            </p:cNvSpPr>
            <p:nvPr/>
          </p:nvSpPr>
          <p:spPr bwMode="auto">
            <a:xfrm>
              <a:off x="2498" y="2933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34263" name="Rectangle 55"/>
            <p:cNvSpPr>
              <a:spLocks noChangeArrowheads="1"/>
            </p:cNvSpPr>
            <p:nvPr/>
          </p:nvSpPr>
          <p:spPr bwMode="auto">
            <a:xfrm>
              <a:off x="1717" y="3480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34264" name="Rectangle 56"/>
            <p:cNvSpPr>
              <a:spLocks noChangeArrowheads="1"/>
            </p:cNvSpPr>
            <p:nvPr/>
          </p:nvSpPr>
          <p:spPr bwMode="auto">
            <a:xfrm>
              <a:off x="2112" y="3936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34265" name="Text Box 57"/>
            <p:cNvSpPr txBox="1">
              <a:spLocks noChangeArrowheads="1"/>
            </p:cNvSpPr>
            <p:nvPr/>
          </p:nvSpPr>
          <p:spPr bwMode="auto">
            <a:xfrm>
              <a:off x="992" y="164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66" name="Text Box 58"/>
            <p:cNvSpPr txBox="1">
              <a:spLocks noChangeArrowheads="1"/>
            </p:cNvSpPr>
            <p:nvPr/>
          </p:nvSpPr>
          <p:spPr bwMode="auto">
            <a:xfrm>
              <a:off x="1494" y="20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67" name="Text Box 59"/>
            <p:cNvSpPr txBox="1">
              <a:spLocks noChangeArrowheads="1"/>
            </p:cNvSpPr>
            <p:nvPr/>
          </p:nvSpPr>
          <p:spPr bwMode="auto">
            <a:xfrm>
              <a:off x="567" y="312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68" name="Text Box 60"/>
            <p:cNvSpPr txBox="1">
              <a:spLocks noChangeArrowheads="1"/>
            </p:cNvSpPr>
            <p:nvPr/>
          </p:nvSpPr>
          <p:spPr bwMode="auto">
            <a:xfrm>
              <a:off x="2107" y="259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69" name="Text Box 61"/>
            <p:cNvSpPr txBox="1">
              <a:spLocks noChangeArrowheads="1"/>
            </p:cNvSpPr>
            <p:nvPr/>
          </p:nvSpPr>
          <p:spPr bwMode="auto">
            <a:xfrm>
              <a:off x="1829" y="314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70" name="Text Box 62"/>
            <p:cNvSpPr txBox="1">
              <a:spLocks noChangeArrowheads="1"/>
            </p:cNvSpPr>
            <p:nvPr/>
          </p:nvSpPr>
          <p:spPr bwMode="auto">
            <a:xfrm>
              <a:off x="1605" y="164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71" name="Text Box 63"/>
            <p:cNvSpPr txBox="1">
              <a:spLocks noChangeArrowheads="1"/>
            </p:cNvSpPr>
            <p:nvPr/>
          </p:nvSpPr>
          <p:spPr bwMode="auto">
            <a:xfrm>
              <a:off x="2107" y="20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72" name="Text Box 64"/>
            <p:cNvSpPr txBox="1">
              <a:spLocks noChangeArrowheads="1"/>
            </p:cNvSpPr>
            <p:nvPr/>
          </p:nvSpPr>
          <p:spPr bwMode="auto">
            <a:xfrm>
              <a:off x="2555" y="259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73" name="Text Box 65"/>
            <p:cNvSpPr txBox="1">
              <a:spLocks noChangeArrowheads="1"/>
            </p:cNvSpPr>
            <p:nvPr/>
          </p:nvSpPr>
          <p:spPr bwMode="auto">
            <a:xfrm>
              <a:off x="901" y="3124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74" name="Text Box 66"/>
            <p:cNvSpPr txBox="1">
              <a:spLocks noChangeArrowheads="1"/>
            </p:cNvSpPr>
            <p:nvPr/>
          </p:nvSpPr>
          <p:spPr bwMode="auto">
            <a:xfrm>
              <a:off x="2276" y="314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34275" name="Oval 67"/>
            <p:cNvSpPr>
              <a:spLocks noChangeArrowheads="1"/>
            </p:cNvSpPr>
            <p:nvPr/>
          </p:nvSpPr>
          <p:spPr bwMode="auto">
            <a:xfrm>
              <a:off x="1227" y="238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25</a:t>
              </a:r>
              <a:endParaRPr lang="it-IT"/>
            </a:p>
          </p:txBody>
        </p:sp>
        <p:sp>
          <p:nvSpPr>
            <p:cNvPr id="734276" name="Line 68"/>
            <p:cNvSpPr>
              <a:spLocks noChangeShapeType="1"/>
            </p:cNvSpPr>
            <p:nvPr/>
          </p:nvSpPr>
          <p:spPr bwMode="auto">
            <a:xfrm flipH="1">
              <a:off x="974" y="2634"/>
              <a:ext cx="308" cy="2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77" name="Text Box 69"/>
            <p:cNvSpPr txBox="1">
              <a:spLocks noChangeArrowheads="1"/>
            </p:cNvSpPr>
            <p:nvPr/>
          </p:nvSpPr>
          <p:spPr bwMode="auto">
            <a:xfrm>
              <a:off x="948" y="259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34278" name="Line 70"/>
            <p:cNvSpPr>
              <a:spLocks noChangeShapeType="1"/>
            </p:cNvSpPr>
            <p:nvPr/>
          </p:nvSpPr>
          <p:spPr bwMode="auto">
            <a:xfrm flipH="1">
              <a:off x="2304" y="3648"/>
              <a:ext cx="1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79" name="Oval 71"/>
            <p:cNvSpPr>
              <a:spLocks noChangeArrowheads="1"/>
            </p:cNvSpPr>
            <p:nvPr/>
          </p:nvSpPr>
          <p:spPr bwMode="auto">
            <a:xfrm>
              <a:off x="2352" y="3456"/>
              <a:ext cx="335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/>
                <a:t>9</a:t>
              </a:r>
              <a:endParaRPr lang="it-IT"/>
            </a:p>
          </p:txBody>
        </p:sp>
        <p:sp>
          <p:nvSpPr>
            <p:cNvPr id="734280" name="Text Box 72"/>
            <p:cNvSpPr txBox="1">
              <a:spLocks noChangeArrowheads="1"/>
            </p:cNvSpPr>
            <p:nvPr/>
          </p:nvSpPr>
          <p:spPr bwMode="auto">
            <a:xfrm>
              <a:off x="2256" y="364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/>
                <a:t>0</a:t>
              </a:r>
              <a:endParaRPr lang="it-IT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382000" cy="301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 </a:t>
            </a:r>
            <a:r>
              <a:rPr lang="it-IT" b="1" i="1"/>
              <a:t>T</a:t>
            </a:r>
            <a:r>
              <a:rPr lang="it-IT"/>
              <a:t> esistono quindi due foglie di profondità massima che sono sorelle. </a:t>
            </a:r>
          </a:p>
          <a:p>
            <a:pPr>
              <a:spcBef>
                <a:spcPct val="50000"/>
              </a:spcBef>
            </a:pPr>
            <a:r>
              <a:rPr lang="it-IT"/>
              <a:t>Siano </a:t>
            </a:r>
            <a:r>
              <a:rPr lang="it-IT" b="1" i="1"/>
              <a:t>c</a:t>
            </a:r>
            <a:r>
              <a:rPr lang="it-IT"/>
              <a:t> e </a:t>
            </a:r>
            <a:r>
              <a:rPr lang="it-IT" b="1" i="1"/>
              <a:t>d</a:t>
            </a:r>
            <a:r>
              <a:rPr lang="it-IT"/>
              <a:t> i due caratteri di tali foglie.</a:t>
            </a:r>
          </a:p>
          <a:p>
            <a:pPr>
              <a:spcBef>
                <a:spcPct val="50000"/>
              </a:spcBef>
            </a:pPr>
            <a:r>
              <a:rPr lang="it-IT"/>
              <a:t>Mostriamo che scambiando </a:t>
            </a:r>
            <a:r>
              <a:rPr lang="it-IT" b="1" i="1"/>
              <a:t>c</a:t>
            </a:r>
            <a:r>
              <a:rPr lang="it-IT"/>
              <a:t> e </a:t>
            </a:r>
            <a:r>
              <a:rPr lang="it-IT" b="1" i="1"/>
              <a:t>d</a:t>
            </a:r>
            <a:r>
              <a:rPr lang="it-IT"/>
              <a:t> con </a:t>
            </a:r>
            <a:r>
              <a:rPr lang="it-IT" b="1" i="1"/>
              <a:t>a</a:t>
            </a:r>
            <a:r>
              <a:rPr lang="it-IT"/>
              <a:t> e </a:t>
            </a:r>
            <a:r>
              <a:rPr lang="it-IT" b="1" i="1"/>
              <a:t>b</a:t>
            </a:r>
            <a:r>
              <a:rPr lang="it-IT"/>
              <a:t> il codice rimane ottimo.</a:t>
            </a:r>
          </a:p>
        </p:txBody>
      </p:sp>
      <p:sp>
        <p:nvSpPr>
          <p:cNvPr id="735235" name="Text Box 3"/>
          <p:cNvSpPr txBox="1">
            <a:spLocks noChangeArrowheads="1"/>
          </p:cNvSpPr>
          <p:nvPr/>
        </p:nvSpPr>
        <p:spPr bwMode="auto">
          <a:xfrm>
            <a:off x="422275" y="3962400"/>
            <a:ext cx="8018463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Possiamo supporre </a:t>
            </a:r>
            <a:r>
              <a:rPr lang="it-IT" b="1" i="1"/>
              <a:t>f</a:t>
            </a:r>
            <a:r>
              <a:rPr lang="it-IT" b="1" i="1" baseline="-25000"/>
              <a:t>c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d</a:t>
            </a:r>
            <a:r>
              <a:rPr lang="it-IT">
                <a:sym typeface="Symbol" charset="0"/>
              </a:rPr>
              <a:t> ed </a:t>
            </a:r>
            <a:r>
              <a:rPr lang="it-IT" b="1" i="1"/>
              <a:t>f</a:t>
            </a:r>
            <a:r>
              <a:rPr lang="it-IT" b="1" i="1" baseline="-25000"/>
              <a:t>a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b</a:t>
            </a:r>
            <a:r>
              <a:rPr lang="it-IT">
                <a:sym typeface="Symbol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it-IT" b="1" i="1">
                <a:sym typeface="Symbol" charset="0"/>
              </a:rPr>
              <a:t>a</a:t>
            </a:r>
            <a:r>
              <a:rPr lang="it-IT">
                <a:sym typeface="Symbol" charset="0"/>
              </a:rPr>
              <a:t> e </a:t>
            </a:r>
            <a:r>
              <a:rPr lang="it-IT" b="1" i="1">
                <a:sym typeface="Symbol" charset="0"/>
              </a:rPr>
              <a:t>b</a:t>
            </a:r>
            <a:r>
              <a:rPr lang="it-IT">
                <a:sym typeface="Symbol" charset="0"/>
              </a:rPr>
              <a:t> sono due caratteri con frequenza minima in assoluto e quindi </a:t>
            </a:r>
            <a:r>
              <a:rPr lang="it-IT" b="1" i="1"/>
              <a:t>f</a:t>
            </a:r>
            <a:r>
              <a:rPr lang="it-IT" b="1" i="1" baseline="-25000"/>
              <a:t>a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c</a:t>
            </a:r>
            <a:r>
              <a:rPr lang="it-IT"/>
              <a:t> </a:t>
            </a:r>
            <a:r>
              <a:rPr lang="it-IT">
                <a:sym typeface="Symbol" charset="0"/>
              </a:rPr>
              <a:t>ed </a:t>
            </a:r>
            <a:r>
              <a:rPr lang="it-IT" b="1" i="1"/>
              <a:t>f</a:t>
            </a:r>
            <a:r>
              <a:rPr lang="it-IT" b="1" i="1" baseline="-25000"/>
              <a:t>b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d</a:t>
            </a:r>
            <a:r>
              <a:rPr lang="it-IT">
                <a:sym typeface="Symbol" charset="0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Freeform 2"/>
          <p:cNvSpPr>
            <a:spLocks/>
          </p:cNvSpPr>
          <p:nvPr/>
        </p:nvSpPr>
        <p:spPr bwMode="auto">
          <a:xfrm>
            <a:off x="1219200" y="2819400"/>
            <a:ext cx="2819400" cy="2971800"/>
          </a:xfrm>
          <a:custGeom>
            <a:avLst/>
            <a:gdLst>
              <a:gd name="T0" fmla="*/ 864 w 1776"/>
              <a:gd name="T1" fmla="*/ 0 h 1872"/>
              <a:gd name="T2" fmla="*/ 0 w 1776"/>
              <a:gd name="T3" fmla="*/ 1296 h 1872"/>
              <a:gd name="T4" fmla="*/ 480 w 1776"/>
              <a:gd name="T5" fmla="*/ 1296 h 1872"/>
              <a:gd name="T6" fmla="*/ 336 w 1776"/>
              <a:gd name="T7" fmla="*/ 1872 h 1872"/>
              <a:gd name="T8" fmla="*/ 1392 w 1776"/>
              <a:gd name="T9" fmla="*/ 1872 h 1872"/>
              <a:gd name="T10" fmla="*/ 1296 w 1776"/>
              <a:gd name="T11" fmla="*/ 1488 h 1872"/>
              <a:gd name="T12" fmla="*/ 1776 w 1776"/>
              <a:gd name="T13" fmla="*/ 1488 h 1872"/>
              <a:gd name="T14" fmla="*/ 857 w 1776"/>
              <a:gd name="T15" fmla="*/ 5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76" h="1872">
                <a:moveTo>
                  <a:pt x="864" y="0"/>
                </a:moveTo>
                <a:lnTo>
                  <a:pt x="0" y="1296"/>
                </a:lnTo>
                <a:lnTo>
                  <a:pt x="480" y="1296"/>
                </a:lnTo>
                <a:lnTo>
                  <a:pt x="336" y="1872"/>
                </a:lnTo>
                <a:lnTo>
                  <a:pt x="1392" y="1872"/>
                </a:lnTo>
                <a:lnTo>
                  <a:pt x="1296" y="1488"/>
                </a:lnTo>
                <a:lnTo>
                  <a:pt x="1776" y="1488"/>
                </a:lnTo>
                <a:lnTo>
                  <a:pt x="857" y="5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59" name="Rectangle 3"/>
          <p:cNvSpPr>
            <a:spLocks noChangeArrowheads="1"/>
          </p:cNvSpPr>
          <p:nvPr/>
        </p:nvSpPr>
        <p:spPr bwMode="auto">
          <a:xfrm>
            <a:off x="2057400" y="6096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c</a:t>
            </a:r>
            <a:endParaRPr lang="it-IT" b="1" i="1"/>
          </a:p>
        </p:txBody>
      </p:sp>
      <p:sp>
        <p:nvSpPr>
          <p:cNvPr id="736260" name="Rectangle 4"/>
          <p:cNvSpPr>
            <a:spLocks noChangeArrowheads="1"/>
          </p:cNvSpPr>
          <p:nvPr/>
        </p:nvSpPr>
        <p:spPr bwMode="auto">
          <a:xfrm>
            <a:off x="3446463" y="54102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b</a:t>
            </a:r>
          </a:p>
        </p:txBody>
      </p:sp>
      <p:sp>
        <p:nvSpPr>
          <p:cNvPr id="736261" name="Rectangle 5"/>
          <p:cNvSpPr>
            <a:spLocks noChangeArrowheads="1"/>
          </p:cNvSpPr>
          <p:nvPr/>
        </p:nvSpPr>
        <p:spPr bwMode="auto">
          <a:xfrm>
            <a:off x="1143000" y="51054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a</a:t>
            </a:r>
          </a:p>
        </p:txBody>
      </p:sp>
      <p:sp>
        <p:nvSpPr>
          <p:cNvPr id="736262" name="Rectangle 6"/>
          <p:cNvSpPr>
            <a:spLocks noChangeArrowheads="1"/>
          </p:cNvSpPr>
          <p:nvPr/>
        </p:nvSpPr>
        <p:spPr bwMode="auto">
          <a:xfrm>
            <a:off x="2743200" y="6096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d</a:t>
            </a:r>
          </a:p>
        </p:txBody>
      </p:sp>
      <p:sp>
        <p:nvSpPr>
          <p:cNvPr id="736263" name="Oval 7"/>
          <p:cNvSpPr>
            <a:spLocks noChangeArrowheads="1"/>
          </p:cNvSpPr>
          <p:nvPr/>
        </p:nvSpPr>
        <p:spPr bwMode="auto">
          <a:xfrm>
            <a:off x="3124200" y="4800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4" name="Oval 8"/>
          <p:cNvSpPr>
            <a:spLocks noChangeArrowheads="1"/>
          </p:cNvSpPr>
          <p:nvPr/>
        </p:nvSpPr>
        <p:spPr bwMode="auto">
          <a:xfrm>
            <a:off x="16002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5" name="Line 9"/>
          <p:cNvSpPr>
            <a:spLocks noChangeShapeType="1"/>
          </p:cNvSpPr>
          <p:nvPr/>
        </p:nvSpPr>
        <p:spPr bwMode="auto">
          <a:xfrm flipH="1">
            <a:off x="1447800" y="48006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6" name="Line 10"/>
          <p:cNvSpPr>
            <a:spLocks noChangeShapeType="1"/>
          </p:cNvSpPr>
          <p:nvPr/>
        </p:nvSpPr>
        <p:spPr bwMode="auto">
          <a:xfrm flipH="1">
            <a:off x="2362200" y="5791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7" name="Line 11"/>
          <p:cNvSpPr>
            <a:spLocks noChangeShapeType="1"/>
          </p:cNvSpPr>
          <p:nvPr/>
        </p:nvSpPr>
        <p:spPr bwMode="auto">
          <a:xfrm>
            <a:off x="2743200" y="5791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8" name="Line 12"/>
          <p:cNvSpPr>
            <a:spLocks noChangeShapeType="1"/>
          </p:cNvSpPr>
          <p:nvPr/>
        </p:nvSpPr>
        <p:spPr bwMode="auto">
          <a:xfrm>
            <a:off x="3429000" y="5181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69" name="Oval 13"/>
          <p:cNvSpPr>
            <a:spLocks noChangeArrowheads="1"/>
          </p:cNvSpPr>
          <p:nvPr/>
        </p:nvSpPr>
        <p:spPr bwMode="auto">
          <a:xfrm>
            <a:off x="2438400" y="5410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70" name="Text Box 14"/>
          <p:cNvSpPr txBox="1">
            <a:spLocks noChangeArrowheads="1"/>
          </p:cNvSpPr>
          <p:nvPr/>
        </p:nvSpPr>
        <p:spPr bwMode="auto">
          <a:xfrm>
            <a:off x="2390775" y="3505200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T</a:t>
            </a:r>
          </a:p>
        </p:txBody>
      </p:sp>
      <p:sp>
        <p:nvSpPr>
          <p:cNvPr id="736271" name="Freeform 15"/>
          <p:cNvSpPr>
            <a:spLocks/>
          </p:cNvSpPr>
          <p:nvPr/>
        </p:nvSpPr>
        <p:spPr bwMode="auto">
          <a:xfrm>
            <a:off x="5064125" y="2743200"/>
            <a:ext cx="2819400" cy="2971800"/>
          </a:xfrm>
          <a:custGeom>
            <a:avLst/>
            <a:gdLst>
              <a:gd name="T0" fmla="*/ 864 w 1776"/>
              <a:gd name="T1" fmla="*/ 0 h 1872"/>
              <a:gd name="T2" fmla="*/ 0 w 1776"/>
              <a:gd name="T3" fmla="*/ 1296 h 1872"/>
              <a:gd name="T4" fmla="*/ 480 w 1776"/>
              <a:gd name="T5" fmla="*/ 1296 h 1872"/>
              <a:gd name="T6" fmla="*/ 336 w 1776"/>
              <a:gd name="T7" fmla="*/ 1872 h 1872"/>
              <a:gd name="T8" fmla="*/ 1392 w 1776"/>
              <a:gd name="T9" fmla="*/ 1872 h 1872"/>
              <a:gd name="T10" fmla="*/ 1296 w 1776"/>
              <a:gd name="T11" fmla="*/ 1488 h 1872"/>
              <a:gd name="T12" fmla="*/ 1776 w 1776"/>
              <a:gd name="T13" fmla="*/ 1488 h 1872"/>
              <a:gd name="T14" fmla="*/ 857 w 1776"/>
              <a:gd name="T15" fmla="*/ 5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76" h="1872">
                <a:moveTo>
                  <a:pt x="864" y="0"/>
                </a:moveTo>
                <a:lnTo>
                  <a:pt x="0" y="1296"/>
                </a:lnTo>
                <a:lnTo>
                  <a:pt x="480" y="1296"/>
                </a:lnTo>
                <a:lnTo>
                  <a:pt x="336" y="1872"/>
                </a:lnTo>
                <a:lnTo>
                  <a:pt x="1392" y="1872"/>
                </a:lnTo>
                <a:lnTo>
                  <a:pt x="1296" y="1488"/>
                </a:lnTo>
                <a:lnTo>
                  <a:pt x="1776" y="1488"/>
                </a:lnTo>
                <a:lnTo>
                  <a:pt x="857" y="5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72" name="Rectangle 16"/>
          <p:cNvSpPr>
            <a:spLocks noChangeArrowheads="1"/>
          </p:cNvSpPr>
          <p:nvPr/>
        </p:nvSpPr>
        <p:spPr bwMode="auto">
          <a:xfrm>
            <a:off x="5978525" y="60198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a</a:t>
            </a:r>
            <a:endParaRPr lang="it-IT" b="1" i="1"/>
          </a:p>
        </p:txBody>
      </p:sp>
      <p:sp>
        <p:nvSpPr>
          <p:cNvPr id="736273" name="Rectangle 17"/>
          <p:cNvSpPr>
            <a:spLocks noChangeArrowheads="1"/>
          </p:cNvSpPr>
          <p:nvPr/>
        </p:nvSpPr>
        <p:spPr bwMode="auto">
          <a:xfrm>
            <a:off x="7385050" y="5334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b</a:t>
            </a:r>
          </a:p>
        </p:txBody>
      </p:sp>
      <p:sp>
        <p:nvSpPr>
          <p:cNvPr id="736274" name="Rectangle 18"/>
          <p:cNvSpPr>
            <a:spLocks noChangeArrowheads="1"/>
          </p:cNvSpPr>
          <p:nvPr/>
        </p:nvSpPr>
        <p:spPr bwMode="auto">
          <a:xfrm>
            <a:off x="5064125" y="50292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c</a:t>
            </a:r>
          </a:p>
        </p:txBody>
      </p:sp>
      <p:sp>
        <p:nvSpPr>
          <p:cNvPr id="736275" name="Rectangle 19"/>
          <p:cNvSpPr>
            <a:spLocks noChangeArrowheads="1"/>
          </p:cNvSpPr>
          <p:nvPr/>
        </p:nvSpPr>
        <p:spPr bwMode="auto">
          <a:xfrm>
            <a:off x="6681788" y="60198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d</a:t>
            </a:r>
          </a:p>
        </p:txBody>
      </p:sp>
      <p:sp>
        <p:nvSpPr>
          <p:cNvPr id="736276" name="Oval 20"/>
          <p:cNvSpPr>
            <a:spLocks noChangeArrowheads="1"/>
          </p:cNvSpPr>
          <p:nvPr/>
        </p:nvSpPr>
        <p:spPr bwMode="auto">
          <a:xfrm>
            <a:off x="7045325" y="4724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77" name="Oval 21"/>
          <p:cNvSpPr>
            <a:spLocks noChangeArrowheads="1"/>
          </p:cNvSpPr>
          <p:nvPr/>
        </p:nvSpPr>
        <p:spPr bwMode="auto">
          <a:xfrm>
            <a:off x="5521325" y="4419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78" name="Line 22"/>
          <p:cNvSpPr>
            <a:spLocks noChangeShapeType="1"/>
          </p:cNvSpPr>
          <p:nvPr/>
        </p:nvSpPr>
        <p:spPr bwMode="auto">
          <a:xfrm flipH="1">
            <a:off x="5368925" y="4724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79" name="Line 23"/>
          <p:cNvSpPr>
            <a:spLocks noChangeShapeType="1"/>
          </p:cNvSpPr>
          <p:nvPr/>
        </p:nvSpPr>
        <p:spPr bwMode="auto">
          <a:xfrm flipH="1">
            <a:off x="6283325" y="5715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80" name="Line 24"/>
          <p:cNvSpPr>
            <a:spLocks noChangeShapeType="1"/>
          </p:cNvSpPr>
          <p:nvPr/>
        </p:nvSpPr>
        <p:spPr bwMode="auto">
          <a:xfrm>
            <a:off x="6664325" y="5715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81" name="Line 25"/>
          <p:cNvSpPr>
            <a:spLocks noChangeShapeType="1"/>
          </p:cNvSpPr>
          <p:nvPr/>
        </p:nvSpPr>
        <p:spPr bwMode="auto">
          <a:xfrm>
            <a:off x="7350125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82" name="Oval 26"/>
          <p:cNvSpPr>
            <a:spLocks noChangeArrowheads="1"/>
          </p:cNvSpPr>
          <p:nvPr/>
        </p:nvSpPr>
        <p:spPr bwMode="auto">
          <a:xfrm>
            <a:off x="6359525" y="5334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6283" name="Text Box 27"/>
          <p:cNvSpPr txBox="1">
            <a:spLocks noChangeArrowheads="1"/>
          </p:cNvSpPr>
          <p:nvPr/>
        </p:nvSpPr>
        <p:spPr bwMode="auto">
          <a:xfrm>
            <a:off x="6189663" y="3505200"/>
            <a:ext cx="5254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T’</a:t>
            </a:r>
          </a:p>
        </p:txBody>
      </p:sp>
      <p:sp>
        <p:nvSpPr>
          <p:cNvPr id="736284" name="Text Box 28"/>
          <p:cNvSpPr txBox="1">
            <a:spLocks noChangeArrowheads="1"/>
          </p:cNvSpPr>
          <p:nvPr/>
        </p:nvSpPr>
        <p:spPr bwMode="auto">
          <a:xfrm>
            <a:off x="352425" y="381000"/>
            <a:ext cx="838200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>
                <a:sym typeface="Symbol" charset="0"/>
              </a:rPr>
              <a:t>Sia </a:t>
            </a:r>
            <a:r>
              <a:rPr lang="it-IT" b="1" i="1">
                <a:sym typeface="Symbol" charset="0"/>
              </a:rPr>
              <a:t>T</a:t>
            </a:r>
            <a:r>
              <a:rPr lang="it-IT" sz="3600" b="1" i="1">
                <a:sym typeface="Symbol" charset="0"/>
              </a:rPr>
              <a:t>'</a:t>
            </a:r>
            <a:r>
              <a:rPr lang="it-IT" b="1" i="1">
                <a:sym typeface="Symbol" charset="0"/>
              </a:rPr>
              <a:t> </a:t>
            </a:r>
            <a:r>
              <a:rPr lang="it-IT">
                <a:sym typeface="Symbol" charset="0"/>
              </a:rPr>
              <a:t>l’albero che si ottiene da </a:t>
            </a:r>
            <a:r>
              <a:rPr lang="it-IT" b="1" i="1">
                <a:sym typeface="Symbol" charset="0"/>
              </a:rPr>
              <a:t>T</a:t>
            </a:r>
            <a:r>
              <a:rPr lang="it-IT">
                <a:sym typeface="Symbol" charset="0"/>
              </a:rPr>
              <a:t> scambiando le foglia associata al carattere </a:t>
            </a:r>
            <a:r>
              <a:rPr lang="it-IT" b="1" i="1">
                <a:sym typeface="Symbol" charset="0"/>
              </a:rPr>
              <a:t>c</a:t>
            </a:r>
            <a:r>
              <a:rPr lang="it-IT">
                <a:sym typeface="Symbol" charset="0"/>
              </a:rPr>
              <a:t> con quella associata al carattere </a:t>
            </a:r>
            <a:r>
              <a:rPr lang="it-IT" b="1" i="1">
                <a:sym typeface="Symbol" charset="0"/>
              </a:rPr>
              <a:t>a</a:t>
            </a:r>
            <a:r>
              <a:rPr lang="it-IT">
                <a:sym typeface="Symbol" charset="0"/>
              </a:rPr>
              <a:t> (e ricalcolando le frequenze dei nodi interni). </a:t>
            </a:r>
          </a:p>
        </p:txBody>
      </p:sp>
      <p:sp>
        <p:nvSpPr>
          <p:cNvPr id="736285" name="Text Box 29"/>
          <p:cNvSpPr txBox="1">
            <a:spLocks noChangeArrowheads="1"/>
          </p:cNvSpPr>
          <p:nvPr/>
        </p:nvSpPr>
        <p:spPr bwMode="auto">
          <a:xfrm>
            <a:off x="3165475" y="2514600"/>
            <a:ext cx="267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i="1"/>
              <a:t>f</a:t>
            </a:r>
            <a:r>
              <a:rPr lang="it-IT" b="1" i="1" baseline="-25000"/>
              <a:t>a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c</a:t>
            </a:r>
            <a:r>
              <a:rPr lang="it-IT"/>
              <a:t> </a:t>
            </a:r>
            <a:r>
              <a:rPr lang="it-IT">
                <a:sym typeface="Symbol" charset="0"/>
              </a:rPr>
              <a:t>ed </a:t>
            </a:r>
            <a:r>
              <a:rPr lang="it-IT" b="1" i="1"/>
              <a:t>f</a:t>
            </a:r>
            <a:r>
              <a:rPr lang="it-IT" b="1" i="1" baseline="-25000"/>
              <a:t>b</a:t>
            </a:r>
            <a:r>
              <a:rPr lang="it-IT"/>
              <a:t> </a:t>
            </a:r>
            <a:r>
              <a:rPr lang="it-IT">
                <a:sym typeface="Symbol" charset="0"/>
              </a:rPr>
              <a:t> </a:t>
            </a:r>
            <a:r>
              <a:rPr lang="it-IT" b="1" i="1">
                <a:sym typeface="Symbol" charset="0"/>
              </a:rPr>
              <a:t>f</a:t>
            </a:r>
            <a:r>
              <a:rPr lang="it-IT" b="1" i="1" baseline="-25000"/>
              <a:t>d</a:t>
            </a:r>
            <a:r>
              <a:rPr lang="it-IT">
                <a:sym typeface="Symbol" charset="0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Text Box 2"/>
          <p:cNvSpPr txBox="1">
            <a:spLocks noChangeArrowheads="1"/>
          </p:cNvSpPr>
          <p:nvPr/>
        </p:nvSpPr>
        <p:spPr bwMode="auto">
          <a:xfrm>
            <a:off x="304800" y="381000"/>
            <a:ext cx="838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>
                <a:sym typeface="Symbol" charset="0"/>
              </a:rPr>
              <a:t>Allora:</a:t>
            </a:r>
          </a:p>
        </p:txBody>
      </p:sp>
      <p:sp>
        <p:nvSpPr>
          <p:cNvPr id="737283" name="Text Box 3"/>
          <p:cNvSpPr txBox="1">
            <a:spLocks noChangeArrowheads="1"/>
          </p:cNvSpPr>
          <p:nvPr/>
        </p:nvSpPr>
        <p:spPr bwMode="auto">
          <a:xfrm>
            <a:off x="304800" y="3733800"/>
            <a:ext cx="8382000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Siccome </a:t>
            </a:r>
            <a:r>
              <a:rPr lang="it-IT" b="1" i="1"/>
              <a:t>T</a:t>
            </a:r>
            <a:r>
              <a:rPr lang="it-IT"/>
              <a:t> è ottimo </a:t>
            </a:r>
            <a:r>
              <a:rPr lang="it-IT" b="1" i="1"/>
              <a:t>B(T)</a:t>
            </a:r>
            <a:r>
              <a:rPr lang="it-IT"/>
              <a:t> = </a:t>
            </a:r>
            <a:r>
              <a:rPr lang="it-IT" b="1" i="1"/>
              <a:t>B(T</a:t>
            </a:r>
            <a:r>
              <a:rPr lang="it-IT" sz="3600" b="1" i="1">
                <a:sym typeface="Symbol" charset="0"/>
              </a:rPr>
              <a:t>'</a:t>
            </a:r>
            <a:r>
              <a:rPr lang="it-IT" b="1" i="1"/>
              <a:t>)</a:t>
            </a:r>
            <a:r>
              <a:rPr lang="it-IT"/>
              <a:t> e quindi anche </a:t>
            </a:r>
            <a:r>
              <a:rPr lang="it-IT" b="1" i="1"/>
              <a:t>T</a:t>
            </a:r>
            <a:r>
              <a:rPr lang="it-IT" sz="3600" b="1" i="1">
                <a:sym typeface="Symbol" charset="0"/>
              </a:rPr>
              <a:t>'</a:t>
            </a:r>
            <a:r>
              <a:rPr lang="it-IT" b="1" i="1"/>
              <a:t> </a:t>
            </a:r>
            <a:r>
              <a:rPr lang="it-IT"/>
              <a:t>è ottimo. </a:t>
            </a:r>
          </a:p>
          <a:p>
            <a:r>
              <a:rPr lang="it-IT"/>
              <a:t>Allo stesso modo, scambiando </a:t>
            </a:r>
            <a:r>
              <a:rPr lang="it-IT">
                <a:sym typeface="Symbol" charset="0"/>
              </a:rPr>
              <a:t>le foglie dei caratteri </a:t>
            </a:r>
            <a:r>
              <a:rPr lang="it-IT" b="1" i="1">
                <a:sym typeface="Symbol" charset="0"/>
              </a:rPr>
              <a:t>d</a:t>
            </a:r>
            <a:r>
              <a:rPr lang="it-IT">
                <a:sym typeface="Symbol" charset="0"/>
              </a:rPr>
              <a:t> e </a:t>
            </a:r>
            <a:r>
              <a:rPr lang="it-IT" b="1" i="1">
                <a:sym typeface="Symbol" charset="0"/>
              </a:rPr>
              <a:t>b</a:t>
            </a:r>
            <a:r>
              <a:rPr lang="it-IT" i="1">
                <a:sym typeface="Symbol" charset="0"/>
              </a:rPr>
              <a:t>,</a:t>
            </a:r>
            <a:r>
              <a:rPr lang="it-IT"/>
              <a:t> si ottiene un albero ottimo </a:t>
            </a:r>
            <a:r>
              <a:rPr lang="it-IT" b="1" i="1"/>
              <a:t>T</a:t>
            </a:r>
            <a:r>
              <a:rPr lang="it-IT" sz="3600" b="1" i="1">
                <a:sym typeface="Symbol" charset="0"/>
              </a:rPr>
              <a:t>''</a:t>
            </a:r>
            <a:r>
              <a:rPr lang="it-IT" b="1" i="1"/>
              <a:t> </a:t>
            </a:r>
            <a:r>
              <a:rPr lang="it-IT"/>
              <a:t>in cui </a:t>
            </a:r>
            <a:r>
              <a:rPr lang="it-IT" b="1" i="1"/>
              <a:t>a</a:t>
            </a:r>
            <a:r>
              <a:rPr lang="it-IT"/>
              <a:t> e </a:t>
            </a:r>
            <a:r>
              <a:rPr lang="it-IT" b="1" i="1"/>
              <a:t>b</a:t>
            </a:r>
            <a:r>
              <a:rPr lang="it-IT"/>
              <a:t> sono associati a due foglie sorelle. </a:t>
            </a:r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/>
        </p:nvGraphicFramePr>
        <p:xfrm>
          <a:off x="592138" y="990600"/>
          <a:ext cx="7685087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3" imgW="3276360" imgH="1066680" progId="Equation.3">
                  <p:embed/>
                </p:oleObj>
              </mc:Choice>
              <mc:Fallback>
                <p:oleObj name="Equation" r:id="rId3" imgW="3276360" imgH="1066680" progId="Equation.3">
                  <p:embed/>
                  <p:pic>
                    <p:nvPicPr>
                      <p:cNvPr id="737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990600"/>
                        <a:ext cx="7685087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422275" y="685800"/>
            <a:ext cx="8229600" cy="3960813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800" b="1" u="sng"/>
              <a:t>Lemma</a:t>
            </a:r>
            <a:r>
              <a:rPr lang="it-IT" sz="2800"/>
              <a:t> (</a:t>
            </a:r>
            <a:r>
              <a:rPr lang="it-IT" sz="2800" i="1"/>
              <a:t>proprietà della sottostruttura ottima</a:t>
            </a:r>
            <a:r>
              <a:rPr lang="it-IT" sz="2800"/>
              <a:t>)</a:t>
            </a:r>
          </a:p>
          <a:p>
            <a:r>
              <a:rPr lang="it-IT" sz="2800"/>
              <a:t>Sia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c</a:t>
            </a:r>
            <a:r>
              <a:rPr lang="it-IT" sz="2800">
                <a:sym typeface="Symbol" charset="0"/>
              </a:rPr>
              <a:t> la frequenza di ciascun carattere </a:t>
            </a:r>
            <a:r>
              <a:rPr lang="it-IT" sz="2800" b="1" i="1"/>
              <a:t>c</a:t>
            </a:r>
            <a:r>
              <a:rPr lang="it-IT" sz="2800">
                <a:sym typeface="Symbol" charset="0"/>
              </a:rPr>
              <a:t> di un alfabeto </a:t>
            </a:r>
            <a:r>
              <a:rPr lang="it-IT" sz="2800" b="1" i="1"/>
              <a:t>C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>
                <a:sym typeface="Symbol" charset="0"/>
              </a:rPr>
              <a:t>e sia</a:t>
            </a:r>
            <a:r>
              <a:rPr lang="it-IT" sz="2800"/>
              <a:t> </a:t>
            </a:r>
            <a:r>
              <a:rPr lang="it-IT" sz="2800" b="1" i="1"/>
              <a:t>T</a:t>
            </a:r>
            <a:r>
              <a:rPr lang="it-IT" sz="2800"/>
              <a:t> l’albero di un codice prefisso ottimo per </a:t>
            </a:r>
            <a:r>
              <a:rPr lang="it-IT" sz="2800" b="1" i="1"/>
              <a:t>C</a:t>
            </a:r>
            <a:r>
              <a:rPr lang="it-IT" sz="2800"/>
              <a:t>. </a:t>
            </a:r>
          </a:p>
          <a:p>
            <a:r>
              <a:rPr lang="it-IT" sz="2800"/>
              <a:t>Siano </a:t>
            </a:r>
            <a:r>
              <a:rPr lang="it-IT" sz="2800" b="1" i="1"/>
              <a:t>a</a:t>
            </a:r>
            <a:r>
              <a:rPr lang="it-IT" sz="2800"/>
              <a:t> ed </a:t>
            </a:r>
            <a:r>
              <a:rPr lang="it-IT" sz="2800" b="1" i="1"/>
              <a:t>b</a:t>
            </a:r>
            <a:r>
              <a:rPr lang="it-IT" sz="2800"/>
              <a:t> i caratteri associati a due foglie sorelle </a:t>
            </a:r>
            <a:r>
              <a:rPr lang="it-IT" sz="2800" b="1" i="1"/>
              <a:t>x</a:t>
            </a:r>
            <a:r>
              <a:rPr lang="it-IT" sz="2800"/>
              <a:t> ed </a:t>
            </a:r>
            <a:r>
              <a:rPr lang="it-IT" sz="2800" b="1" i="1"/>
              <a:t>y</a:t>
            </a:r>
            <a:r>
              <a:rPr lang="it-IT" sz="2800"/>
              <a:t> di </a:t>
            </a:r>
            <a:r>
              <a:rPr lang="it-IT" sz="2800" b="1" i="1"/>
              <a:t>T</a:t>
            </a:r>
            <a:r>
              <a:rPr lang="it-IT" sz="2800"/>
              <a:t> e sia </a:t>
            </a:r>
            <a:r>
              <a:rPr lang="it-IT" sz="2800" b="1" i="1"/>
              <a:t>z</a:t>
            </a:r>
            <a:r>
              <a:rPr lang="it-IT" sz="2800"/>
              <a:t> il padre. </a:t>
            </a:r>
          </a:p>
          <a:p>
            <a:r>
              <a:rPr lang="it-IT" sz="2800"/>
              <a:t>Se consideriamo </a:t>
            </a:r>
            <a:r>
              <a:rPr lang="it-IT" sz="2800" b="1" i="1"/>
              <a:t>z</a:t>
            </a:r>
            <a:r>
              <a:rPr lang="it-IT" sz="2800"/>
              <a:t> come foglia associata ad un nuovo carattere </a:t>
            </a:r>
            <a:r>
              <a:rPr lang="it-IT" sz="2800" b="1" i="1"/>
              <a:t>c</a:t>
            </a:r>
            <a:r>
              <a:rPr lang="it-IT" sz="2800"/>
              <a:t> con frequenza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c</a:t>
            </a:r>
            <a:r>
              <a:rPr lang="it-IT" sz="2800"/>
              <a:t> = </a:t>
            </a:r>
            <a:r>
              <a:rPr lang="it-IT" sz="2800" b="1" i="1"/>
              <a:t>f</a:t>
            </a:r>
            <a:r>
              <a:rPr lang="it-IT" sz="2800" b="1"/>
              <a:t>[</a:t>
            </a:r>
            <a:r>
              <a:rPr lang="it-IT" sz="2800" b="1" i="1"/>
              <a:t>z</a:t>
            </a:r>
            <a:r>
              <a:rPr lang="it-IT" sz="2800" b="1"/>
              <a:t>] =</a:t>
            </a:r>
            <a:r>
              <a:rPr lang="it-IT" sz="2800"/>
              <a:t>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a</a:t>
            </a:r>
            <a:r>
              <a:rPr lang="it-IT" sz="2800" b="1" i="1"/>
              <a:t>+ </a:t>
            </a:r>
            <a:r>
              <a:rPr lang="it-IT" sz="2800" b="1" i="1">
                <a:sym typeface="Symbol" charset="0"/>
              </a:rPr>
              <a:t>f</a:t>
            </a:r>
            <a:r>
              <a:rPr lang="it-IT" sz="2800" b="1" i="1" baseline="-25000">
                <a:sym typeface="Symbol" charset="0"/>
              </a:rPr>
              <a:t>b</a:t>
            </a:r>
            <a:r>
              <a:rPr lang="it-IT" sz="2800"/>
              <a:t> allora l’albero</a:t>
            </a:r>
            <a:r>
              <a:rPr lang="it-IT" sz="2800">
                <a:sym typeface="Symbol" charset="0"/>
              </a:rPr>
              <a:t> </a:t>
            </a:r>
            <a:r>
              <a:rPr lang="it-IT" sz="2800" b="1" i="1">
                <a:sym typeface="Symbol" charset="0"/>
              </a:rPr>
              <a:t>T'</a:t>
            </a:r>
            <a:r>
              <a:rPr lang="it-IT" sz="2800" i="1">
                <a:sym typeface="Symbol" charset="0"/>
              </a:rPr>
              <a:t>=</a:t>
            </a:r>
            <a:r>
              <a:rPr lang="it-IT" sz="2800" b="1" i="1">
                <a:sym typeface="Symbol" charset="0"/>
              </a:rPr>
              <a:t>T </a:t>
            </a:r>
            <a:r>
              <a:rPr lang="it-IT" sz="2800" b="1">
                <a:sym typeface="Symbol" charset="0"/>
              </a:rPr>
              <a:t>\</a:t>
            </a:r>
            <a:r>
              <a:rPr lang="it-IT" sz="2800">
                <a:sym typeface="Symbol" charset="0"/>
              </a:rPr>
              <a:t>{</a:t>
            </a:r>
            <a:r>
              <a:rPr lang="it-IT" sz="2800" b="1" i="1">
                <a:sym typeface="Symbol" charset="0"/>
              </a:rPr>
              <a:t>x,y</a:t>
            </a:r>
            <a:r>
              <a:rPr lang="it-IT" sz="2800">
                <a:sym typeface="Symbol" charset="0"/>
              </a:rPr>
              <a:t>} rappresenta un codice prefisso ottimo per l’alfabeto </a:t>
            </a:r>
            <a:r>
              <a:rPr lang="it-IT" sz="2800" b="1" i="1">
                <a:sym typeface="Symbol" charset="0"/>
              </a:rPr>
              <a:t>C'</a:t>
            </a:r>
            <a:r>
              <a:rPr lang="it-IT" sz="2800" i="1">
                <a:sym typeface="Symbol" charset="0"/>
              </a:rPr>
              <a:t>=</a:t>
            </a:r>
            <a:r>
              <a:rPr lang="it-IT" sz="2800">
                <a:sym typeface="Symbol" charset="0"/>
              </a:rPr>
              <a:t> </a:t>
            </a:r>
            <a:r>
              <a:rPr lang="it-IT" sz="2800" b="1" i="1">
                <a:sym typeface="Symbol" charset="0"/>
              </a:rPr>
              <a:t>C</a:t>
            </a:r>
            <a:r>
              <a:rPr lang="it-IT" sz="2800">
                <a:sym typeface="Symbol" charset="0"/>
              </a:rPr>
              <a:t> </a:t>
            </a:r>
            <a:r>
              <a:rPr lang="it-IT" sz="2800" b="1">
                <a:sym typeface="Symbol" charset="0"/>
              </a:rPr>
              <a:t>\</a:t>
            </a:r>
            <a:r>
              <a:rPr lang="it-IT" sz="2800">
                <a:sym typeface="Symbol" charset="0"/>
              </a:rPr>
              <a:t>{</a:t>
            </a:r>
            <a:r>
              <a:rPr lang="it-IT" sz="2800" b="1" i="1">
                <a:sym typeface="Symbol" charset="0"/>
              </a:rPr>
              <a:t>a,b</a:t>
            </a:r>
            <a:r>
              <a:rPr lang="it-IT" sz="2800">
                <a:sym typeface="Symbol" charset="0"/>
              </a:rPr>
              <a:t>}{</a:t>
            </a:r>
            <a:r>
              <a:rPr lang="it-IT" sz="2800" b="1" i="1">
                <a:sym typeface="Symbol" charset="0"/>
              </a:rPr>
              <a:t>c</a:t>
            </a:r>
            <a:r>
              <a:rPr lang="it-IT" sz="2800">
                <a:sym typeface="Symbol" charset="0"/>
              </a:rPr>
              <a:t>}. 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4419600" cy="304800"/>
          </a:xfrm>
        </p:spPr>
        <p:txBody>
          <a:bodyPr/>
          <a:lstStyle/>
          <a:p>
            <a:r>
              <a:rPr lang="it-IT" sz="2800">
                <a:solidFill>
                  <a:schemeClr val="bg1"/>
                </a:solidFill>
              </a:rPr>
              <a:t>Lemma struttura ottima</a:t>
            </a:r>
            <a:endParaRPr lang="it-IT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9330" name="Object 2"/>
          <p:cNvGraphicFramePr>
            <a:graphicFrameLocks noChangeAspect="1"/>
          </p:cNvGraphicFramePr>
          <p:nvPr/>
        </p:nvGraphicFramePr>
        <p:xfrm>
          <a:off x="561975" y="685800"/>
          <a:ext cx="75263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3" imgW="3149280" imgH="685800" progId="Equation.3">
                  <p:embed/>
                </p:oleObj>
              </mc:Choice>
              <mc:Fallback>
                <p:oleObj name="Equation" r:id="rId3" imgW="3149280" imgH="685800" progId="Equation.3">
                  <p:embed/>
                  <p:pic>
                    <p:nvPicPr>
                      <p:cNvPr id="7393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685800"/>
                        <a:ext cx="7526338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31" name="Text Box 3"/>
          <p:cNvSpPr txBox="1">
            <a:spLocks noChangeArrowheads="1"/>
          </p:cNvSpPr>
          <p:nvPr/>
        </p:nvSpPr>
        <p:spPr bwMode="auto">
          <a:xfrm>
            <a:off x="304800" y="2667000"/>
            <a:ext cx="8382000" cy="353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Supponiamo, per assurdo, che esista un albero </a:t>
            </a:r>
            <a:r>
              <a:rPr lang="it-IT" b="1" i="1">
                <a:sym typeface="Symbol" charset="0"/>
              </a:rPr>
              <a:t>S</a:t>
            </a:r>
            <a:r>
              <a:rPr lang="it-IT" sz="3600" b="1" i="1">
                <a:sym typeface="Symbol" charset="0"/>
              </a:rPr>
              <a:t>'</a:t>
            </a:r>
            <a:r>
              <a:rPr lang="it-IT"/>
              <a:t> per </a:t>
            </a:r>
            <a:r>
              <a:rPr lang="it-IT" b="1" i="1">
                <a:sym typeface="Symbol" charset="0"/>
              </a:rPr>
              <a:t>C</a:t>
            </a:r>
            <a:r>
              <a:rPr lang="it-IT" sz="3600" b="1" i="1">
                <a:sym typeface="Symbol" charset="0"/>
              </a:rPr>
              <a:t>'</a:t>
            </a:r>
            <a:r>
              <a:rPr lang="it-IT"/>
              <a:t> tale che </a:t>
            </a:r>
            <a:r>
              <a:rPr lang="it-IT" b="1" i="1"/>
              <a:t>B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S</a:t>
            </a:r>
            <a:r>
              <a:rPr lang="it-IT" sz="3600" b="1" i="1">
                <a:sym typeface="Symbol" charset="0"/>
              </a:rPr>
              <a:t>'</a:t>
            </a:r>
            <a:r>
              <a:rPr lang="it-IT" b="1"/>
              <a:t>) &lt; </a:t>
            </a:r>
            <a:r>
              <a:rPr lang="it-IT" b="1" i="1"/>
              <a:t>B</a:t>
            </a:r>
            <a:r>
              <a:rPr lang="it-IT" b="1"/>
              <a:t>(</a:t>
            </a:r>
            <a:r>
              <a:rPr lang="it-IT" b="1" i="1">
                <a:sym typeface="Symbol" charset="0"/>
              </a:rPr>
              <a:t>T</a:t>
            </a:r>
            <a:r>
              <a:rPr lang="it-IT" sz="3600" b="1" i="1">
                <a:sym typeface="Symbol" charset="0"/>
              </a:rPr>
              <a:t>'</a:t>
            </a:r>
            <a:r>
              <a:rPr lang="it-IT" b="1"/>
              <a:t>)</a:t>
            </a:r>
            <a:r>
              <a:rPr lang="it-IT"/>
              <a:t>. </a:t>
            </a:r>
          </a:p>
          <a:p>
            <a:pPr>
              <a:spcBef>
                <a:spcPct val="50000"/>
              </a:spcBef>
            </a:pPr>
            <a:r>
              <a:rPr lang="it-IT"/>
              <a:t>Aggiungendo ad </a:t>
            </a:r>
            <a:r>
              <a:rPr lang="it-IT" b="1" i="1">
                <a:sym typeface="Symbol" charset="0"/>
              </a:rPr>
              <a:t>S</a:t>
            </a:r>
            <a:r>
              <a:rPr lang="it-IT" sz="3600" b="1" i="1">
                <a:sym typeface="Symbol" charset="0"/>
              </a:rPr>
              <a:t>'</a:t>
            </a:r>
            <a:r>
              <a:rPr lang="it-IT"/>
              <a:t> le foglie </a:t>
            </a:r>
            <a:r>
              <a:rPr lang="it-IT" b="1" i="1"/>
              <a:t>x</a:t>
            </a:r>
            <a:r>
              <a:rPr lang="it-IT"/>
              <a:t> ed </a:t>
            </a:r>
            <a:r>
              <a:rPr lang="it-IT" b="1" i="1"/>
              <a:t>y</a:t>
            </a:r>
            <a:r>
              <a:rPr lang="it-IT"/>
              <a:t> come figlie del nodo </a:t>
            </a:r>
            <a:r>
              <a:rPr lang="it-IT" b="1" i="1"/>
              <a:t>z</a:t>
            </a:r>
            <a:r>
              <a:rPr lang="it-IT"/>
              <a:t> (che in </a:t>
            </a:r>
            <a:r>
              <a:rPr lang="it-IT" b="1" i="1">
                <a:sym typeface="Symbol" charset="0"/>
              </a:rPr>
              <a:t>S</a:t>
            </a:r>
            <a:r>
              <a:rPr lang="it-IT" sz="3600" b="1" i="1">
                <a:sym typeface="Symbol" charset="0"/>
              </a:rPr>
              <a:t>'</a:t>
            </a:r>
            <a:r>
              <a:rPr lang="it-IT"/>
              <a:t> è una foglia) otterremmo un albero </a:t>
            </a:r>
            <a:r>
              <a:rPr lang="it-IT" b="1" i="1"/>
              <a:t>S</a:t>
            </a:r>
            <a:r>
              <a:rPr lang="it-IT"/>
              <a:t> per </a:t>
            </a:r>
            <a:r>
              <a:rPr lang="it-IT" b="1" i="1"/>
              <a:t>C</a:t>
            </a:r>
            <a:r>
              <a:rPr lang="it-IT"/>
              <a:t> tale che </a:t>
            </a:r>
            <a:r>
              <a:rPr lang="it-IT" b="1" i="1"/>
              <a:t>B</a:t>
            </a:r>
            <a:r>
              <a:rPr lang="it-IT" b="1"/>
              <a:t>(</a:t>
            </a:r>
            <a:r>
              <a:rPr lang="it-IT" b="1" i="1"/>
              <a:t>S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 b="1"/>
              <a:t>&lt;</a:t>
            </a:r>
            <a:r>
              <a:rPr lang="it-IT" b="1" i="1"/>
              <a:t> B</a:t>
            </a:r>
            <a:r>
              <a:rPr lang="it-IT" b="1"/>
              <a:t>(</a:t>
            </a:r>
            <a:r>
              <a:rPr lang="it-IT" b="1" i="1"/>
              <a:t>T</a:t>
            </a:r>
            <a:r>
              <a:rPr lang="it-IT" b="1"/>
              <a:t>)</a:t>
            </a:r>
            <a:r>
              <a:rPr lang="it-IT" b="1" i="1"/>
              <a:t> </a:t>
            </a:r>
            <a:r>
              <a:rPr lang="it-IT"/>
              <a:t>contro l’ipotesi che </a:t>
            </a:r>
            <a:r>
              <a:rPr lang="it-IT" b="1" i="1"/>
              <a:t>T</a:t>
            </a:r>
            <a:r>
              <a:rPr lang="it-IT"/>
              <a:t> sia ottimo.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Freeform 2"/>
          <p:cNvSpPr>
            <a:spLocks/>
          </p:cNvSpPr>
          <p:nvPr/>
        </p:nvSpPr>
        <p:spPr bwMode="auto">
          <a:xfrm>
            <a:off x="1143000" y="782638"/>
            <a:ext cx="2932113" cy="2405062"/>
          </a:xfrm>
          <a:custGeom>
            <a:avLst/>
            <a:gdLst>
              <a:gd name="T0" fmla="*/ 765 w 1847"/>
              <a:gd name="T1" fmla="*/ 0 h 1515"/>
              <a:gd name="T2" fmla="*/ 0 w 1847"/>
              <a:gd name="T3" fmla="*/ 995 h 1515"/>
              <a:gd name="T4" fmla="*/ 824 w 1847"/>
              <a:gd name="T5" fmla="*/ 992 h 1515"/>
              <a:gd name="T6" fmla="*/ 886 w 1847"/>
              <a:gd name="T7" fmla="*/ 1515 h 1515"/>
              <a:gd name="T8" fmla="*/ 1847 w 1847"/>
              <a:gd name="T9" fmla="*/ 1515 h 1515"/>
              <a:gd name="T10" fmla="*/ 765 w 1847"/>
              <a:gd name="T11" fmla="*/ 0 h 1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7" h="1515">
                <a:moveTo>
                  <a:pt x="765" y="0"/>
                </a:moveTo>
                <a:lnTo>
                  <a:pt x="0" y="995"/>
                </a:lnTo>
                <a:lnTo>
                  <a:pt x="824" y="992"/>
                </a:lnTo>
                <a:lnTo>
                  <a:pt x="886" y="1515"/>
                </a:lnTo>
                <a:lnTo>
                  <a:pt x="1847" y="1515"/>
                </a:lnTo>
                <a:lnTo>
                  <a:pt x="76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55" name="Rectangle 3"/>
          <p:cNvSpPr>
            <a:spLocks noChangeArrowheads="1"/>
          </p:cNvSpPr>
          <p:nvPr/>
        </p:nvSpPr>
        <p:spPr bwMode="auto">
          <a:xfrm>
            <a:off x="1143000" y="2667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a</a:t>
            </a:r>
          </a:p>
        </p:txBody>
      </p:sp>
      <p:sp>
        <p:nvSpPr>
          <p:cNvPr id="740356" name="Rectangle 4"/>
          <p:cNvSpPr>
            <a:spLocks noChangeArrowheads="1"/>
          </p:cNvSpPr>
          <p:nvPr/>
        </p:nvSpPr>
        <p:spPr bwMode="auto">
          <a:xfrm>
            <a:off x="1828800" y="2667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75000"/>
              </a:lnSpc>
            </a:pPr>
            <a:r>
              <a:rPr lang="it-IT" sz="2800" b="1" i="1"/>
              <a:t>b</a:t>
            </a:r>
          </a:p>
        </p:txBody>
      </p:sp>
      <p:sp>
        <p:nvSpPr>
          <p:cNvPr id="740357" name="Oval 5"/>
          <p:cNvSpPr>
            <a:spLocks noChangeArrowheads="1"/>
          </p:cNvSpPr>
          <p:nvPr/>
        </p:nvSpPr>
        <p:spPr bwMode="auto">
          <a:xfrm>
            <a:off x="1600200" y="1981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c</a:t>
            </a:r>
          </a:p>
        </p:txBody>
      </p:sp>
      <p:sp>
        <p:nvSpPr>
          <p:cNvPr id="740358" name="Line 6"/>
          <p:cNvSpPr>
            <a:spLocks noChangeShapeType="1"/>
          </p:cNvSpPr>
          <p:nvPr/>
        </p:nvSpPr>
        <p:spPr bwMode="auto">
          <a:xfrm flipH="1">
            <a:off x="1447800" y="2362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59" name="Line 7"/>
          <p:cNvSpPr>
            <a:spLocks noChangeShapeType="1"/>
          </p:cNvSpPr>
          <p:nvPr/>
        </p:nvSpPr>
        <p:spPr bwMode="auto">
          <a:xfrm>
            <a:off x="1905000" y="2362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60" name="Text Box 8"/>
          <p:cNvSpPr txBox="1">
            <a:spLocks noChangeArrowheads="1"/>
          </p:cNvSpPr>
          <p:nvPr/>
        </p:nvSpPr>
        <p:spPr bwMode="auto">
          <a:xfrm>
            <a:off x="2181225" y="1143000"/>
            <a:ext cx="398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T</a:t>
            </a:r>
            <a:endParaRPr lang="it-IT"/>
          </a:p>
        </p:txBody>
      </p:sp>
      <p:sp>
        <p:nvSpPr>
          <p:cNvPr id="740361" name="Freeform 9"/>
          <p:cNvSpPr>
            <a:spLocks/>
          </p:cNvSpPr>
          <p:nvPr/>
        </p:nvSpPr>
        <p:spPr bwMode="auto">
          <a:xfrm>
            <a:off x="4783138" y="762000"/>
            <a:ext cx="2932112" cy="2405063"/>
          </a:xfrm>
          <a:custGeom>
            <a:avLst/>
            <a:gdLst>
              <a:gd name="T0" fmla="*/ 765 w 1847"/>
              <a:gd name="T1" fmla="*/ 0 h 1515"/>
              <a:gd name="T2" fmla="*/ 0 w 1847"/>
              <a:gd name="T3" fmla="*/ 995 h 1515"/>
              <a:gd name="T4" fmla="*/ 824 w 1847"/>
              <a:gd name="T5" fmla="*/ 992 h 1515"/>
              <a:gd name="T6" fmla="*/ 886 w 1847"/>
              <a:gd name="T7" fmla="*/ 1515 h 1515"/>
              <a:gd name="T8" fmla="*/ 1847 w 1847"/>
              <a:gd name="T9" fmla="*/ 1515 h 1515"/>
              <a:gd name="T10" fmla="*/ 765 w 1847"/>
              <a:gd name="T11" fmla="*/ 0 h 1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7" h="1515">
                <a:moveTo>
                  <a:pt x="765" y="0"/>
                </a:moveTo>
                <a:lnTo>
                  <a:pt x="0" y="995"/>
                </a:lnTo>
                <a:lnTo>
                  <a:pt x="824" y="992"/>
                </a:lnTo>
                <a:lnTo>
                  <a:pt x="886" y="1515"/>
                </a:lnTo>
                <a:lnTo>
                  <a:pt x="1847" y="1515"/>
                </a:lnTo>
                <a:lnTo>
                  <a:pt x="76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62" name="Rectangle 10"/>
          <p:cNvSpPr>
            <a:spLocks noChangeArrowheads="1"/>
          </p:cNvSpPr>
          <p:nvPr/>
        </p:nvSpPr>
        <p:spPr bwMode="auto">
          <a:xfrm>
            <a:off x="5240338" y="22098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c</a:t>
            </a:r>
          </a:p>
        </p:txBody>
      </p:sp>
      <p:sp>
        <p:nvSpPr>
          <p:cNvPr id="740363" name="Text Box 11"/>
          <p:cNvSpPr txBox="1">
            <a:spLocks noChangeArrowheads="1"/>
          </p:cNvSpPr>
          <p:nvPr/>
        </p:nvSpPr>
        <p:spPr bwMode="auto">
          <a:xfrm>
            <a:off x="5767388" y="1295400"/>
            <a:ext cx="5254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T’</a:t>
            </a:r>
            <a:endParaRPr lang="it-IT"/>
          </a:p>
        </p:txBody>
      </p:sp>
      <p:sp>
        <p:nvSpPr>
          <p:cNvPr id="740364" name="Freeform 12"/>
          <p:cNvSpPr>
            <a:spLocks/>
          </p:cNvSpPr>
          <p:nvPr/>
        </p:nvSpPr>
        <p:spPr bwMode="auto">
          <a:xfrm>
            <a:off x="5105400" y="3810000"/>
            <a:ext cx="2222500" cy="2282825"/>
          </a:xfrm>
          <a:custGeom>
            <a:avLst/>
            <a:gdLst>
              <a:gd name="T0" fmla="*/ 845 w 1400"/>
              <a:gd name="T1" fmla="*/ 0 h 1438"/>
              <a:gd name="T2" fmla="*/ 0 w 1400"/>
              <a:gd name="T3" fmla="*/ 1438 h 1438"/>
              <a:gd name="T4" fmla="*/ 716 w 1400"/>
              <a:gd name="T5" fmla="*/ 1423 h 1438"/>
              <a:gd name="T6" fmla="*/ 792 w 1400"/>
              <a:gd name="T7" fmla="*/ 738 h 1438"/>
              <a:gd name="T8" fmla="*/ 1400 w 1400"/>
              <a:gd name="T9" fmla="*/ 738 h 1438"/>
              <a:gd name="T10" fmla="*/ 845 w 1400"/>
              <a:gd name="T11" fmla="*/ 0 h 1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0" h="1438">
                <a:moveTo>
                  <a:pt x="845" y="0"/>
                </a:moveTo>
                <a:lnTo>
                  <a:pt x="0" y="1438"/>
                </a:lnTo>
                <a:lnTo>
                  <a:pt x="716" y="1423"/>
                </a:lnTo>
                <a:lnTo>
                  <a:pt x="792" y="738"/>
                </a:lnTo>
                <a:lnTo>
                  <a:pt x="1400" y="738"/>
                </a:lnTo>
                <a:lnTo>
                  <a:pt x="84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65" name="Rectangle 13"/>
          <p:cNvSpPr>
            <a:spLocks noChangeArrowheads="1"/>
          </p:cNvSpPr>
          <p:nvPr/>
        </p:nvSpPr>
        <p:spPr bwMode="auto">
          <a:xfrm>
            <a:off x="6680200" y="48006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c</a:t>
            </a:r>
          </a:p>
        </p:txBody>
      </p:sp>
      <p:sp>
        <p:nvSpPr>
          <p:cNvPr id="740366" name="Text Box 14"/>
          <p:cNvSpPr txBox="1">
            <a:spLocks noChangeArrowheads="1"/>
          </p:cNvSpPr>
          <p:nvPr/>
        </p:nvSpPr>
        <p:spPr bwMode="auto">
          <a:xfrm>
            <a:off x="6189663" y="4038600"/>
            <a:ext cx="5032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S’</a:t>
            </a:r>
            <a:endParaRPr lang="it-IT"/>
          </a:p>
        </p:txBody>
      </p:sp>
      <p:sp>
        <p:nvSpPr>
          <p:cNvPr id="740367" name="Freeform 15"/>
          <p:cNvSpPr>
            <a:spLocks/>
          </p:cNvSpPr>
          <p:nvPr/>
        </p:nvSpPr>
        <p:spPr bwMode="auto">
          <a:xfrm>
            <a:off x="1447800" y="3810000"/>
            <a:ext cx="2222500" cy="2282825"/>
          </a:xfrm>
          <a:custGeom>
            <a:avLst/>
            <a:gdLst>
              <a:gd name="T0" fmla="*/ 845 w 1400"/>
              <a:gd name="T1" fmla="*/ 0 h 1438"/>
              <a:gd name="T2" fmla="*/ 0 w 1400"/>
              <a:gd name="T3" fmla="*/ 1438 h 1438"/>
              <a:gd name="T4" fmla="*/ 716 w 1400"/>
              <a:gd name="T5" fmla="*/ 1423 h 1438"/>
              <a:gd name="T6" fmla="*/ 792 w 1400"/>
              <a:gd name="T7" fmla="*/ 738 h 1438"/>
              <a:gd name="T8" fmla="*/ 1400 w 1400"/>
              <a:gd name="T9" fmla="*/ 738 h 1438"/>
              <a:gd name="T10" fmla="*/ 845 w 1400"/>
              <a:gd name="T11" fmla="*/ 0 h 1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0" h="1438">
                <a:moveTo>
                  <a:pt x="845" y="0"/>
                </a:moveTo>
                <a:lnTo>
                  <a:pt x="0" y="1438"/>
                </a:lnTo>
                <a:lnTo>
                  <a:pt x="716" y="1423"/>
                </a:lnTo>
                <a:lnTo>
                  <a:pt x="792" y="738"/>
                </a:lnTo>
                <a:lnTo>
                  <a:pt x="1400" y="738"/>
                </a:lnTo>
                <a:lnTo>
                  <a:pt x="84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68" name="Text Box 16"/>
          <p:cNvSpPr txBox="1">
            <a:spLocks noChangeArrowheads="1"/>
          </p:cNvSpPr>
          <p:nvPr/>
        </p:nvSpPr>
        <p:spPr bwMode="auto">
          <a:xfrm>
            <a:off x="2601913" y="4038600"/>
            <a:ext cx="379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b="1" i="1"/>
              <a:t>S</a:t>
            </a:r>
            <a:endParaRPr lang="it-IT"/>
          </a:p>
        </p:txBody>
      </p:sp>
      <p:sp>
        <p:nvSpPr>
          <p:cNvPr id="740369" name="Rectangle 17"/>
          <p:cNvSpPr>
            <a:spLocks noChangeArrowheads="1"/>
          </p:cNvSpPr>
          <p:nvPr/>
        </p:nvSpPr>
        <p:spPr bwMode="auto">
          <a:xfrm>
            <a:off x="2743200" y="5334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a</a:t>
            </a:r>
          </a:p>
        </p:txBody>
      </p:sp>
      <p:sp>
        <p:nvSpPr>
          <p:cNvPr id="740370" name="Rectangle 18"/>
          <p:cNvSpPr>
            <a:spLocks noChangeArrowheads="1"/>
          </p:cNvSpPr>
          <p:nvPr/>
        </p:nvSpPr>
        <p:spPr bwMode="auto">
          <a:xfrm>
            <a:off x="3352800" y="5334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75000"/>
              </a:lnSpc>
            </a:pPr>
            <a:r>
              <a:rPr lang="it-IT" sz="2800" b="1" i="1"/>
              <a:t>b</a:t>
            </a:r>
          </a:p>
        </p:txBody>
      </p:sp>
      <p:sp>
        <p:nvSpPr>
          <p:cNvPr id="740371" name="Line 19"/>
          <p:cNvSpPr>
            <a:spLocks noChangeShapeType="1"/>
          </p:cNvSpPr>
          <p:nvPr/>
        </p:nvSpPr>
        <p:spPr bwMode="auto">
          <a:xfrm flipH="1">
            <a:off x="2971800" y="4953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72" name="Line 20"/>
          <p:cNvSpPr>
            <a:spLocks noChangeShapeType="1"/>
          </p:cNvSpPr>
          <p:nvPr/>
        </p:nvSpPr>
        <p:spPr bwMode="auto">
          <a:xfrm>
            <a:off x="3352800" y="4953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73" name="Oval 21"/>
          <p:cNvSpPr>
            <a:spLocks noChangeArrowheads="1"/>
          </p:cNvSpPr>
          <p:nvPr/>
        </p:nvSpPr>
        <p:spPr bwMode="auto">
          <a:xfrm>
            <a:off x="3048000" y="4572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800" b="1" i="1"/>
              <a:t>c</a:t>
            </a:r>
          </a:p>
        </p:txBody>
      </p:sp>
      <p:sp>
        <p:nvSpPr>
          <p:cNvPr id="740374" name="Rectangle 22"/>
          <p:cNvSpPr>
            <a:spLocks noChangeArrowheads="1"/>
          </p:cNvSpPr>
          <p:nvPr/>
        </p:nvSpPr>
        <p:spPr bwMode="auto">
          <a:xfrm>
            <a:off x="1125538" y="29718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x</a:t>
            </a:r>
          </a:p>
        </p:txBody>
      </p:sp>
      <p:sp>
        <p:nvSpPr>
          <p:cNvPr id="740375" name="Rectangle 23"/>
          <p:cNvSpPr>
            <a:spLocks noChangeArrowheads="1"/>
          </p:cNvSpPr>
          <p:nvPr/>
        </p:nvSpPr>
        <p:spPr bwMode="auto">
          <a:xfrm>
            <a:off x="1828800" y="29718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y</a:t>
            </a:r>
          </a:p>
        </p:txBody>
      </p:sp>
      <p:sp>
        <p:nvSpPr>
          <p:cNvPr id="740376" name="Rectangle 24"/>
          <p:cNvSpPr>
            <a:spLocks noChangeArrowheads="1"/>
          </p:cNvSpPr>
          <p:nvPr/>
        </p:nvSpPr>
        <p:spPr bwMode="auto">
          <a:xfrm>
            <a:off x="1898650" y="1981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z</a:t>
            </a:r>
          </a:p>
        </p:txBody>
      </p:sp>
      <p:sp>
        <p:nvSpPr>
          <p:cNvPr id="740377" name="Rectangle 25"/>
          <p:cNvSpPr>
            <a:spLocks noChangeArrowheads="1"/>
          </p:cNvSpPr>
          <p:nvPr/>
        </p:nvSpPr>
        <p:spPr bwMode="auto">
          <a:xfrm>
            <a:off x="6681788" y="51054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z</a:t>
            </a:r>
          </a:p>
        </p:txBody>
      </p:sp>
      <p:sp>
        <p:nvSpPr>
          <p:cNvPr id="740378" name="Rectangle 26"/>
          <p:cNvSpPr>
            <a:spLocks noChangeArrowheads="1"/>
          </p:cNvSpPr>
          <p:nvPr/>
        </p:nvSpPr>
        <p:spPr bwMode="auto">
          <a:xfrm>
            <a:off x="5275263" y="25146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z</a:t>
            </a:r>
          </a:p>
        </p:txBody>
      </p:sp>
      <p:sp>
        <p:nvSpPr>
          <p:cNvPr id="740379" name="Rectangle 27"/>
          <p:cNvSpPr>
            <a:spLocks noChangeArrowheads="1"/>
          </p:cNvSpPr>
          <p:nvPr/>
        </p:nvSpPr>
        <p:spPr bwMode="auto">
          <a:xfrm>
            <a:off x="3305175" y="44196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z</a:t>
            </a:r>
          </a:p>
        </p:txBody>
      </p:sp>
      <p:sp>
        <p:nvSpPr>
          <p:cNvPr id="740380" name="Rectangle 28"/>
          <p:cNvSpPr>
            <a:spLocks noChangeArrowheads="1"/>
          </p:cNvSpPr>
          <p:nvPr/>
        </p:nvSpPr>
        <p:spPr bwMode="auto">
          <a:xfrm>
            <a:off x="2743200" y="56388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x</a:t>
            </a:r>
          </a:p>
        </p:txBody>
      </p:sp>
      <p:sp>
        <p:nvSpPr>
          <p:cNvPr id="740381" name="Rectangle 29"/>
          <p:cNvSpPr>
            <a:spLocks noChangeArrowheads="1"/>
          </p:cNvSpPr>
          <p:nvPr/>
        </p:nvSpPr>
        <p:spPr bwMode="auto">
          <a:xfrm>
            <a:off x="3376613" y="56388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50000"/>
              </a:lnSpc>
            </a:pPr>
            <a:r>
              <a:rPr lang="it-IT" sz="2800" b="1" i="1"/>
              <a:t>y</a:t>
            </a:r>
          </a:p>
        </p:txBody>
      </p:sp>
      <p:sp>
        <p:nvSpPr>
          <p:cNvPr id="740382" name="AutoShape 30"/>
          <p:cNvSpPr>
            <a:spLocks noChangeArrowheads="1"/>
          </p:cNvSpPr>
          <p:nvPr/>
        </p:nvSpPr>
        <p:spPr bwMode="auto">
          <a:xfrm>
            <a:off x="3798888" y="838200"/>
            <a:ext cx="773112" cy="152400"/>
          </a:xfrm>
          <a:prstGeom prst="rightArrow">
            <a:avLst>
              <a:gd name="adj1" fmla="val 50000"/>
              <a:gd name="adj2" fmla="val 12682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83" name="AutoShape 31"/>
          <p:cNvSpPr>
            <a:spLocks noChangeArrowheads="1"/>
          </p:cNvSpPr>
          <p:nvPr/>
        </p:nvSpPr>
        <p:spPr bwMode="auto">
          <a:xfrm>
            <a:off x="6330950" y="3276600"/>
            <a:ext cx="139700" cy="457200"/>
          </a:xfrm>
          <a:prstGeom prst="downArrow">
            <a:avLst>
              <a:gd name="adj1" fmla="val 50000"/>
              <a:gd name="adj2" fmla="val 8181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0384" name="AutoShape 32"/>
          <p:cNvSpPr>
            <a:spLocks noChangeArrowheads="1"/>
          </p:cNvSpPr>
          <p:nvPr/>
        </p:nvSpPr>
        <p:spPr bwMode="auto">
          <a:xfrm>
            <a:off x="4360863" y="4572000"/>
            <a:ext cx="633412" cy="152400"/>
          </a:xfrm>
          <a:prstGeom prst="leftArrow">
            <a:avLst>
              <a:gd name="adj1" fmla="val 50000"/>
              <a:gd name="adj2" fmla="val 10390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517525" y="260350"/>
            <a:ext cx="7543800" cy="1579563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b="1" u="sng" dirty="0"/>
              <a:t>Teorema</a:t>
            </a:r>
            <a:r>
              <a:rPr lang="it-IT" dirty="0"/>
              <a:t>   </a:t>
            </a:r>
          </a:p>
          <a:p>
            <a:r>
              <a:rPr lang="it-IT" dirty="0"/>
              <a:t>L’algoritmo di </a:t>
            </a:r>
            <a:r>
              <a:rPr lang="it-IT" dirty="0" err="1"/>
              <a:t>Huffman</a:t>
            </a:r>
            <a:r>
              <a:rPr lang="it-IT" dirty="0"/>
              <a:t> produce un codice prefisso ottimo.</a:t>
            </a:r>
            <a:r>
              <a:rPr lang="it-IT" dirty="0">
                <a:sym typeface="Symbol" charset="0"/>
              </a:rPr>
              <a:t> </a:t>
            </a:r>
          </a:p>
        </p:txBody>
      </p:sp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395536" y="5517232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Si dimostra per induzione sul numero di caratteri dell’alfabeto (lunghezza della coda) usando i due lemmi precedenti.</a:t>
            </a:r>
          </a:p>
        </p:txBody>
      </p:sp>
      <p:sp>
        <p:nvSpPr>
          <p:cNvPr id="74138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257800" cy="228600"/>
          </a:xfrm>
        </p:spPr>
        <p:txBody>
          <a:bodyPr/>
          <a:lstStyle/>
          <a:p>
            <a:r>
              <a:rPr lang="it-IT" sz="2800">
                <a:solidFill>
                  <a:schemeClr val="bg1"/>
                </a:solidFill>
              </a:rPr>
              <a:t>Teorema correttezza alg. Huffmen</a:t>
            </a:r>
            <a:endParaRPr lang="it-IT"/>
          </a:p>
        </p:txBody>
      </p:sp>
      <p:sp>
        <p:nvSpPr>
          <p:cNvPr id="741381" name="Text Box 5"/>
          <p:cNvSpPr txBox="1">
            <a:spLocks noChangeArrowheads="1"/>
          </p:cNvSpPr>
          <p:nvPr/>
        </p:nvSpPr>
        <p:spPr bwMode="auto">
          <a:xfrm>
            <a:off x="1381125" y="1989138"/>
            <a:ext cx="5603143" cy="349209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400" b="1" i="1" dirty="0" err="1"/>
              <a:t>Huffman</a:t>
            </a:r>
            <a:r>
              <a:rPr lang="it-IT" sz="2400" b="1" dirty="0"/>
              <a:t>(</a:t>
            </a:r>
            <a:r>
              <a:rPr lang="it-IT" sz="2400" b="1" i="1" dirty="0"/>
              <a:t>c</a:t>
            </a:r>
            <a:r>
              <a:rPr lang="it-IT" sz="2400" b="1" dirty="0"/>
              <a:t>, </a:t>
            </a:r>
            <a:r>
              <a:rPr lang="it-IT" sz="2400" b="1" i="1" dirty="0" err="1"/>
              <a:t>f</a:t>
            </a:r>
            <a:r>
              <a:rPr lang="it-IT" sz="2400" b="1" dirty="0"/>
              <a:t>, </a:t>
            </a:r>
            <a:r>
              <a:rPr lang="it-IT" sz="2400" b="1" i="1" dirty="0" err="1"/>
              <a:t>n</a:t>
            </a:r>
            <a:r>
              <a:rPr lang="it-IT" sz="2400" b="1" dirty="0"/>
              <a:t>)</a:t>
            </a:r>
          </a:p>
          <a:p>
            <a:r>
              <a:rPr lang="it-IT" sz="2400" b="1" dirty="0"/>
              <a:t>    </a:t>
            </a:r>
            <a:r>
              <a:rPr lang="it-IT" sz="2400" b="1" i="1" dirty="0" err="1"/>
              <a:t>Q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           	</a:t>
            </a:r>
            <a:r>
              <a:rPr lang="it-IT" sz="24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dirty="0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400" b="1" dirty="0"/>
              <a:t>    </a:t>
            </a:r>
            <a:r>
              <a:rPr lang="it-IT" sz="2400" b="1" dirty="0">
                <a:sym typeface="Symbol" charset="0"/>
              </a:rPr>
              <a:t>for </a:t>
            </a:r>
            <a:r>
              <a:rPr lang="it-IT" sz="2400" b="1" i="1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  1 to </a:t>
            </a:r>
            <a:r>
              <a:rPr lang="it-IT" sz="2400" b="1" i="1" dirty="0" err="1">
                <a:sym typeface="Symbol" charset="0"/>
              </a:rPr>
              <a:t>n</a:t>
            </a:r>
            <a:r>
              <a:rPr lang="it-IT" sz="2400" b="1" dirty="0">
                <a:sym typeface="Symbol" charset="0"/>
              </a:rPr>
              <a:t>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 err="1">
                <a:sym typeface="Symbol" charset="0"/>
              </a:rPr>
              <a:t>Push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>
                <a:sym typeface="Symbol" charset="0"/>
              </a:rPr>
              <a:t>nodo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>
                <a:sym typeface="Symbol" charset="0"/>
              </a:rPr>
              <a:t>f</a:t>
            </a:r>
            <a:r>
              <a:rPr lang="it-IT" sz="2400" b="1" i="1" baseline="-25000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>
                <a:sym typeface="Symbol" charset="0"/>
              </a:rPr>
              <a:t>c</a:t>
            </a:r>
            <a:r>
              <a:rPr lang="it-IT" sz="2400" b="1" i="1" baseline="-25000" dirty="0">
                <a:sym typeface="Symbol" charset="0"/>
              </a:rPr>
              <a:t>i</a:t>
            </a:r>
            <a:r>
              <a:rPr lang="it-IT" sz="2400" b="1" dirty="0">
                <a:sym typeface="Symbol" charset="0"/>
              </a:rPr>
              <a:t>))</a:t>
            </a:r>
          </a:p>
          <a:p>
            <a:r>
              <a:rPr lang="it-IT" sz="2400" b="1" dirty="0">
                <a:sym typeface="Symbol" charset="0"/>
              </a:rPr>
              <a:t>    for </a:t>
            </a:r>
            <a:r>
              <a:rPr lang="it-IT" sz="2400" b="1" i="1" dirty="0" err="1">
                <a:sym typeface="Symbol" charset="0"/>
              </a:rPr>
              <a:t>j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dirty="0" err="1">
                <a:sym typeface="Symbol" charset="0"/>
              </a:rPr>
              <a:t>downto</a:t>
            </a:r>
            <a:r>
              <a:rPr lang="it-IT" sz="2400" b="1" dirty="0">
                <a:sym typeface="Symbol" charset="0"/>
              </a:rPr>
              <a:t> 2 do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>
                <a:sym typeface="Symbol" charset="0"/>
              </a:rPr>
              <a:t>x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ExtractMin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), </a:t>
            </a:r>
            <a:r>
              <a:rPr lang="it-IT" sz="2400" b="1" i="1" dirty="0">
                <a:sym typeface="Symbol" charset="0"/>
              </a:rPr>
              <a:t>y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ExtractMin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>
                <a:sym typeface="Symbol" charset="0"/>
              </a:rPr>
              <a:t>)</a:t>
            </a:r>
          </a:p>
          <a:p>
            <a:r>
              <a:rPr lang="it-IT" sz="2400" b="1" dirty="0">
                <a:sym typeface="Symbol" charset="0"/>
              </a:rPr>
              <a:t>        </a:t>
            </a:r>
            <a:r>
              <a:rPr lang="it-IT" sz="2400" b="1" i="1" dirty="0" err="1">
                <a:sym typeface="Symbol" charset="0"/>
              </a:rPr>
              <a:t>Insert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Q</a:t>
            </a:r>
            <a:r>
              <a:rPr lang="it-IT" sz="2400" b="1" dirty="0" err="1">
                <a:sym typeface="Symbol" charset="0"/>
              </a:rPr>
              <a:t>,</a:t>
            </a:r>
            <a:r>
              <a:rPr lang="it-IT" sz="2400" b="1" i="1" dirty="0" err="1">
                <a:sym typeface="Symbol" charset="0"/>
              </a:rPr>
              <a:t>nodo</a:t>
            </a:r>
            <a:r>
              <a:rPr lang="it-IT" sz="2400" b="1" dirty="0">
                <a:sym typeface="Symbol" charset="0"/>
              </a:rPr>
              <a:t>(</a:t>
            </a:r>
            <a:r>
              <a:rPr lang="it-IT" sz="2400" b="1" i="1" dirty="0" err="1">
                <a:sym typeface="Symbol" charset="0"/>
              </a:rPr>
              <a:t>x</a:t>
            </a:r>
            <a:r>
              <a:rPr lang="it-IT" sz="2400" b="1" dirty="0" err="1">
                <a:sym typeface="Symbol" charset="0"/>
              </a:rPr>
              <a:t>,</a:t>
            </a:r>
            <a:r>
              <a:rPr lang="it-IT" sz="2400" b="1" i="1" dirty="0" err="1">
                <a:sym typeface="Symbol" charset="0"/>
              </a:rPr>
              <a:t>y</a:t>
            </a:r>
            <a:r>
              <a:rPr lang="it-IT" sz="2400" b="1" dirty="0">
                <a:sym typeface="Symbol" charset="0"/>
              </a:rPr>
              <a:t>))</a:t>
            </a:r>
          </a:p>
          <a:p>
            <a:r>
              <a:rPr lang="it-IT" sz="2400" b="1" dirty="0"/>
              <a:t>    </a:t>
            </a:r>
            <a:r>
              <a:rPr lang="it-IT" sz="2400" b="1" dirty="0" err="1"/>
              <a:t>return</a:t>
            </a:r>
            <a:r>
              <a:rPr lang="it-IT" sz="2400" b="1" dirty="0"/>
              <a:t> </a:t>
            </a:r>
            <a:r>
              <a:rPr lang="it-IT" sz="2400" b="1" i="1" dirty="0" err="1"/>
              <a:t>ExtractMin</a:t>
            </a:r>
            <a:r>
              <a:rPr lang="it-IT" sz="2400" b="1" dirty="0"/>
              <a:t>(</a:t>
            </a:r>
            <a:r>
              <a:rPr lang="it-IT" sz="2400" b="1" i="1" dirty="0" err="1"/>
              <a:t>Q</a:t>
            </a:r>
            <a:r>
              <a:rPr lang="it-IT" sz="2400" b="1" dirty="0"/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Text Box 2"/>
          <p:cNvSpPr txBox="1">
            <a:spLocks noChangeArrowheads="1"/>
          </p:cNvSpPr>
          <p:nvPr/>
        </p:nvSpPr>
        <p:spPr bwMode="auto">
          <a:xfrm>
            <a:off x="533400" y="655638"/>
            <a:ext cx="76962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Data una schedulazione diciamo che le attività che terminano in tempo sono </a:t>
            </a:r>
            <a:r>
              <a:rPr lang="it-IT" i="1" u="sng"/>
              <a:t>in orario</a:t>
            </a:r>
            <a:r>
              <a:rPr lang="it-IT"/>
              <a:t> mentre le altre sono </a:t>
            </a:r>
            <a:r>
              <a:rPr lang="it-IT" i="1" u="sng"/>
              <a:t>in ritardo</a:t>
            </a:r>
            <a:r>
              <a:rPr lang="it-IT"/>
              <a:t>.</a:t>
            </a:r>
          </a:p>
        </p:txBody>
      </p:sp>
      <p:sp>
        <p:nvSpPr>
          <p:cNvPr id="746499" name="Text Box 3"/>
          <p:cNvSpPr txBox="1">
            <a:spLocks noChangeArrowheads="1"/>
          </p:cNvSpPr>
          <p:nvPr/>
        </p:nvSpPr>
        <p:spPr bwMode="auto">
          <a:xfrm>
            <a:off x="492125" y="2513013"/>
            <a:ext cx="7696200" cy="20510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sz="3200"/>
              <a:t>Data una schedulazione qualsiasi ne esiste una equivalente in cui le attività in orario vengono eseguite prima di quelle in ritardo.</a:t>
            </a:r>
          </a:p>
        </p:txBody>
      </p:sp>
      <p:sp>
        <p:nvSpPr>
          <p:cNvPr id="746500" name="Text Box 4"/>
          <p:cNvSpPr txBox="1">
            <a:spLocks noChangeArrowheads="1"/>
          </p:cNvSpPr>
          <p:nvPr/>
        </p:nvSpPr>
        <p:spPr bwMode="auto">
          <a:xfrm>
            <a:off x="561975" y="4694238"/>
            <a:ext cx="7737475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Infatti se </a:t>
            </a:r>
            <a:r>
              <a:rPr lang="it-IT" b="1" i="1"/>
              <a:t>x</a:t>
            </a:r>
            <a:r>
              <a:rPr lang="it-IT"/>
              <a:t> in ritardo precede </a:t>
            </a:r>
            <a:r>
              <a:rPr lang="it-IT" b="1" i="1"/>
              <a:t>y</a:t>
            </a:r>
            <a:r>
              <a:rPr lang="it-IT"/>
              <a:t> in orario, scambiandole di posto </a:t>
            </a:r>
            <a:r>
              <a:rPr lang="it-IT" b="1" i="1"/>
              <a:t>x</a:t>
            </a:r>
            <a:r>
              <a:rPr lang="it-IT"/>
              <a:t> rimane in ritardo ed </a:t>
            </a:r>
            <a:r>
              <a:rPr lang="it-IT" b="1" i="1"/>
              <a:t>y</a:t>
            </a:r>
            <a:r>
              <a:rPr lang="it-IT"/>
              <a:t> rimane in orario.</a:t>
            </a:r>
          </a:p>
        </p:txBody>
      </p:sp>
      <p:sp>
        <p:nvSpPr>
          <p:cNvPr id="746501" name="Text Box 5"/>
          <p:cNvSpPr txBox="1">
            <a:spLocks noChangeArrowheads="1"/>
          </p:cNvSpPr>
          <p:nvPr/>
        </p:nvSpPr>
        <p:spPr bwMode="auto">
          <a:xfrm>
            <a:off x="533400" y="76200"/>
            <a:ext cx="7994650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it-IT">
                <a:solidFill>
                  <a:srgbClr val="FF0000"/>
                </a:solidFill>
              </a:rPr>
              <a:t>Schedulazione di attività</a:t>
            </a:r>
            <a:endParaRPr lang="it-IT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Text Box 2"/>
          <p:cNvSpPr txBox="1">
            <a:spLocks noChangeArrowheads="1"/>
          </p:cNvSpPr>
          <p:nvPr/>
        </p:nvSpPr>
        <p:spPr bwMode="auto">
          <a:xfrm>
            <a:off x="582613" y="404813"/>
            <a:ext cx="7696200" cy="15636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2"/>
            </a:pPr>
            <a:r>
              <a:rPr lang="it-IT" sz="3200"/>
              <a:t>Data una schedulazione qualsiasi ne esiste una equivalente in cui le attività in orario sono ordinate per scadenza.</a:t>
            </a:r>
          </a:p>
        </p:txBody>
      </p:sp>
      <p:sp>
        <p:nvSpPr>
          <p:cNvPr id="747523" name="Text Box 3"/>
          <p:cNvSpPr txBox="1">
            <a:spLocks noChangeArrowheads="1"/>
          </p:cNvSpPr>
          <p:nvPr/>
        </p:nvSpPr>
        <p:spPr bwMode="auto">
          <a:xfrm>
            <a:off x="517525" y="2133600"/>
            <a:ext cx="79248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Infatti, se </a:t>
            </a:r>
            <a:r>
              <a:rPr lang="it-IT" b="1" i="1"/>
              <a:t>x</a:t>
            </a:r>
            <a:r>
              <a:rPr lang="it-IT"/>
              <a:t> in orario precede </a:t>
            </a:r>
            <a:r>
              <a:rPr lang="it-IT" b="1" i="1"/>
              <a:t>y</a:t>
            </a:r>
            <a:r>
              <a:rPr lang="it-IT"/>
              <a:t> in orario e la scadenza di </a:t>
            </a:r>
            <a:r>
              <a:rPr lang="it-IT" b="1" i="1"/>
              <a:t>x</a:t>
            </a:r>
            <a:r>
              <a:rPr lang="it-IT"/>
              <a:t> è successiva alla scadenza di </a:t>
            </a:r>
            <a:r>
              <a:rPr lang="it-IT" b="1" i="1"/>
              <a:t>y</a:t>
            </a:r>
            <a:r>
              <a:rPr lang="it-IT"/>
              <a:t>, scambiandole di posto esse rimangono entrambe in orario.</a:t>
            </a:r>
          </a:p>
        </p:txBody>
      </p:sp>
      <p:sp>
        <p:nvSpPr>
          <p:cNvPr id="747524" name="Text Box 4"/>
          <p:cNvSpPr txBox="1">
            <a:spLocks noChangeArrowheads="1"/>
          </p:cNvSpPr>
          <p:nvPr/>
        </p:nvSpPr>
        <p:spPr bwMode="auto">
          <a:xfrm>
            <a:off x="517525" y="4221163"/>
            <a:ext cx="81534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Non è quindi limitativo considerare solo </a:t>
            </a:r>
            <a:r>
              <a:rPr lang="it-IT" i="1" u="sng"/>
              <a:t>schedulazioni canoniche</a:t>
            </a:r>
            <a:r>
              <a:rPr lang="it-IT"/>
              <a:t> con attività in orario prima delle attività in ritardo e attività in orario ordinate per scadenza.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Text Box 2"/>
          <p:cNvSpPr txBox="1">
            <a:spLocks noChangeArrowheads="1"/>
          </p:cNvSpPr>
          <p:nvPr/>
        </p:nvSpPr>
        <p:spPr bwMode="auto">
          <a:xfrm>
            <a:off x="228600" y="533400"/>
            <a:ext cx="8216900" cy="15636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3"/>
            </a:pPr>
            <a:r>
              <a:rPr lang="it-IT" sz="3200"/>
              <a:t>Una schedulazione canonica ottima è determinata dall’insieme </a:t>
            </a:r>
            <a:r>
              <a:rPr lang="it-IT" sz="3200" b="1" i="1"/>
              <a:t>A</a:t>
            </a:r>
            <a:r>
              <a:rPr lang="it-IT" sz="3200"/>
              <a:t> delle sue attività in orario. </a:t>
            </a:r>
          </a:p>
        </p:txBody>
      </p:sp>
      <p:sp>
        <p:nvSpPr>
          <p:cNvPr id="748547" name="Text Box 3"/>
          <p:cNvSpPr txBox="1">
            <a:spLocks noChangeArrowheads="1"/>
          </p:cNvSpPr>
          <p:nvPr/>
        </p:nvSpPr>
        <p:spPr bwMode="auto">
          <a:xfrm>
            <a:off x="633413" y="441960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Diciamo che un insieme </a:t>
            </a:r>
            <a:r>
              <a:rPr lang="it-IT" b="1" i="1"/>
              <a:t>A</a:t>
            </a:r>
            <a:r>
              <a:rPr lang="it-IT"/>
              <a:t> di attività è </a:t>
            </a:r>
            <a:r>
              <a:rPr lang="it-IT" i="1" u="sng"/>
              <a:t>indipendente</a:t>
            </a:r>
            <a:r>
              <a:rPr lang="it-IT"/>
              <a:t> se esiste una schedulazione in cui le attività in </a:t>
            </a:r>
            <a:r>
              <a:rPr lang="it-IT" b="1" i="1"/>
              <a:t>A</a:t>
            </a:r>
            <a:r>
              <a:rPr lang="it-IT"/>
              <a:t> sono tutte in orario.</a:t>
            </a:r>
          </a:p>
        </p:txBody>
      </p:sp>
      <p:sp>
        <p:nvSpPr>
          <p:cNvPr id="748548" name="Text Box 4"/>
          <p:cNvSpPr txBox="1">
            <a:spLocks noChangeArrowheads="1"/>
          </p:cNvSpPr>
          <p:nvPr/>
        </p:nvSpPr>
        <p:spPr bwMode="auto">
          <a:xfrm>
            <a:off x="633413" y="2286000"/>
            <a:ext cx="76962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Dato </a:t>
            </a:r>
            <a:r>
              <a:rPr lang="it-IT" b="1" i="1"/>
              <a:t>A</a:t>
            </a:r>
            <a:r>
              <a:rPr lang="it-IT"/>
              <a:t> per trovare la schedulazione basta elencare le attività in </a:t>
            </a:r>
            <a:r>
              <a:rPr lang="it-IT" b="1" i="1"/>
              <a:t>A</a:t>
            </a:r>
            <a:r>
              <a:rPr lang="it-IT"/>
              <a:t> in ordine di scadenza e quindi aggiungere le attività in </a:t>
            </a:r>
            <a:r>
              <a:rPr lang="it-IT" b="1" i="1"/>
              <a:t>S </a:t>
            </a:r>
            <a:r>
              <a:rPr lang="it-IT" b="1"/>
              <a:t>\ </a:t>
            </a:r>
            <a:r>
              <a:rPr lang="it-IT" b="1" i="1"/>
              <a:t>A</a:t>
            </a:r>
            <a:r>
              <a:rPr lang="it-IT"/>
              <a:t> in un ordine qualsiasi.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Text Box 2"/>
          <p:cNvSpPr txBox="1">
            <a:spLocks noChangeArrowheads="1"/>
          </p:cNvSpPr>
          <p:nvPr/>
        </p:nvSpPr>
        <p:spPr bwMode="auto">
          <a:xfrm>
            <a:off x="703263" y="533400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Come si verifica l’indipendenza di </a:t>
            </a:r>
            <a:r>
              <a:rPr lang="it-IT" b="1" i="1"/>
              <a:t>A</a:t>
            </a:r>
            <a:r>
              <a:rPr lang="it-IT"/>
              <a:t>?</a:t>
            </a:r>
          </a:p>
        </p:txBody>
      </p:sp>
      <p:grpSp>
        <p:nvGrpSpPr>
          <p:cNvPr id="749571" name="Group 3"/>
          <p:cNvGrpSpPr>
            <a:grpSpLocks/>
          </p:cNvGrpSpPr>
          <p:nvPr/>
        </p:nvGrpSpPr>
        <p:grpSpPr bwMode="auto">
          <a:xfrm>
            <a:off x="609600" y="1447800"/>
            <a:ext cx="8001000" cy="4295775"/>
            <a:chOff x="416" y="912"/>
            <a:chExt cx="5460" cy="2706"/>
          </a:xfrm>
        </p:grpSpPr>
        <p:sp>
          <p:nvSpPr>
            <p:cNvPr id="749572" name="Text Box 4"/>
            <p:cNvSpPr txBox="1">
              <a:spLocks noChangeArrowheads="1"/>
            </p:cNvSpPr>
            <p:nvPr/>
          </p:nvSpPr>
          <p:spPr bwMode="auto">
            <a:xfrm>
              <a:off x="468" y="912"/>
              <a:ext cx="5408" cy="1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Per </a:t>
              </a:r>
              <a:r>
                <a:rPr lang="it-IT" b="1" i="1"/>
                <a:t>t = </a:t>
              </a:r>
              <a:r>
                <a:rPr lang="it-IT" b="1"/>
                <a:t>1, 2, ... , </a:t>
              </a:r>
              <a:r>
                <a:rPr lang="it-IT" b="1" i="1"/>
                <a:t>n</a:t>
              </a:r>
              <a:r>
                <a:rPr lang="it-IT"/>
                <a:t> sia </a:t>
              </a:r>
              <a:r>
                <a:rPr lang="it-IT" b="1" i="1"/>
                <a:t>N</a:t>
              </a:r>
              <a:r>
                <a:rPr lang="it-IT" b="1" i="1" baseline="-25000"/>
                <a:t>t </a:t>
              </a:r>
              <a:r>
                <a:rPr lang="it-IT" b="1"/>
                <a:t>(</a:t>
              </a:r>
              <a:r>
                <a:rPr lang="it-IT" b="1" i="1"/>
                <a:t>A</a:t>
              </a:r>
              <a:r>
                <a:rPr lang="it-IT" b="1"/>
                <a:t>)</a:t>
              </a:r>
              <a:r>
                <a:rPr lang="it-IT"/>
                <a:t> il numero di attività in </a:t>
              </a:r>
              <a:r>
                <a:rPr lang="it-IT" b="1" i="1"/>
                <a:t>A</a:t>
              </a:r>
              <a:r>
                <a:rPr lang="it-IT"/>
                <a:t> con scadenza minore o uguale a </a:t>
              </a:r>
              <a:r>
                <a:rPr lang="it-IT" b="1" i="1"/>
                <a:t>t</a:t>
              </a:r>
              <a:r>
                <a:rPr lang="it-IT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it-IT"/>
                <a:t>Allora le seguenti asserzioni sono equivalenti:</a:t>
              </a:r>
            </a:p>
          </p:txBody>
        </p:sp>
        <p:sp>
          <p:nvSpPr>
            <p:cNvPr id="749573" name="Text Box 5"/>
            <p:cNvSpPr txBox="1">
              <a:spLocks noChangeArrowheads="1"/>
            </p:cNvSpPr>
            <p:nvPr/>
          </p:nvSpPr>
          <p:spPr bwMode="auto">
            <a:xfrm>
              <a:off x="416" y="2208"/>
              <a:ext cx="5408" cy="141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sz="2800"/>
                <a:t> </a:t>
              </a:r>
              <a:r>
                <a:rPr lang="it-IT" sz="2800" b="1" i="1"/>
                <a:t>A</a:t>
              </a:r>
              <a:r>
                <a:rPr lang="it-IT" sz="2800"/>
                <a:t> è indipendente;</a:t>
              </a:r>
            </a:p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sz="2800"/>
                <a:t> </a:t>
              </a:r>
              <a:r>
                <a:rPr lang="it-IT" sz="2800" b="1" i="1"/>
                <a:t>N</a:t>
              </a:r>
              <a:r>
                <a:rPr lang="it-IT" sz="2800" b="1" i="1" baseline="-25000"/>
                <a:t>t </a:t>
              </a:r>
              <a:r>
                <a:rPr lang="it-IT" sz="2800" b="1"/>
                <a:t>(</a:t>
              </a:r>
              <a:r>
                <a:rPr lang="it-IT" sz="2800" b="1" i="1"/>
                <a:t>A</a:t>
              </a:r>
              <a:r>
                <a:rPr lang="it-IT" sz="2800" b="1"/>
                <a:t>) </a:t>
              </a:r>
              <a:r>
                <a:rPr lang="it-IT" sz="2800" b="1">
                  <a:sym typeface="Symbol" charset="0"/>
                </a:rPr>
                <a:t></a:t>
              </a:r>
              <a:r>
                <a:rPr lang="it-IT" sz="2800" b="1" i="1">
                  <a:sym typeface="Symbol" charset="0"/>
                </a:rPr>
                <a:t> t</a:t>
              </a:r>
              <a:r>
                <a:rPr lang="it-IT" sz="2800"/>
                <a:t>  per ogni </a:t>
              </a:r>
              <a:r>
                <a:rPr lang="it-IT" sz="2800" b="1" i="1"/>
                <a:t>t = </a:t>
              </a:r>
              <a:r>
                <a:rPr lang="it-IT" sz="2800" b="1"/>
                <a:t>1, 2, ... , </a:t>
              </a:r>
              <a:r>
                <a:rPr lang="it-IT" sz="2800" b="1" i="1"/>
                <a:t>n</a:t>
              </a:r>
              <a:r>
                <a:rPr lang="it-IT" sz="2800"/>
                <a:t>;</a:t>
              </a:r>
            </a:p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sz="2800"/>
                <a:t>Se le attività in </a:t>
              </a:r>
              <a:r>
                <a:rPr lang="it-IT" sz="2800" b="1" i="1"/>
                <a:t>A</a:t>
              </a:r>
              <a:r>
                <a:rPr lang="it-IT" sz="2800"/>
                <a:t> sono schedulate in ordine di    scadenza nessuna di esse risulta in ritardo.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76962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Se </a:t>
            </a:r>
            <a:r>
              <a:rPr lang="it-IT" b="1" i="1"/>
              <a:t>N</a:t>
            </a:r>
            <a:r>
              <a:rPr lang="it-IT" b="1" i="1" baseline="-25000"/>
              <a:t>t </a:t>
            </a:r>
            <a:r>
              <a:rPr lang="it-IT" b="1"/>
              <a:t>(</a:t>
            </a:r>
            <a:r>
              <a:rPr lang="it-IT" b="1" i="1"/>
              <a:t>A</a:t>
            </a:r>
            <a:r>
              <a:rPr lang="it-IT" b="1"/>
              <a:t>)</a:t>
            </a:r>
            <a:r>
              <a:rPr lang="it-IT" b="1" i="1"/>
              <a:t> &gt; t </a:t>
            </a:r>
            <a:r>
              <a:rPr lang="it-IT"/>
              <a:t>per qualche </a:t>
            </a:r>
            <a:r>
              <a:rPr lang="it-IT" b="1" i="1"/>
              <a:t>t</a:t>
            </a:r>
            <a:r>
              <a:rPr lang="it-IT"/>
              <a:t> allora non vi è modo di ordinare tali </a:t>
            </a:r>
            <a:r>
              <a:rPr lang="it-IT" b="1" i="1"/>
              <a:t>N</a:t>
            </a:r>
            <a:r>
              <a:rPr lang="it-IT" b="1" i="1" baseline="-25000"/>
              <a:t>t </a:t>
            </a:r>
            <a:r>
              <a:rPr lang="it-IT" b="1"/>
              <a:t>(</a:t>
            </a:r>
            <a:r>
              <a:rPr lang="it-IT" b="1" i="1"/>
              <a:t>A</a:t>
            </a:r>
            <a:r>
              <a:rPr lang="it-IT" b="1"/>
              <a:t>)</a:t>
            </a:r>
            <a:r>
              <a:rPr lang="it-IT"/>
              <a:t> attività in modo che nessuna sia in ritardo. Quindi 1 implica 2. </a:t>
            </a:r>
          </a:p>
        </p:txBody>
      </p:sp>
      <p:sp>
        <p:nvSpPr>
          <p:cNvPr id="750595" name="Text Box 3"/>
          <p:cNvSpPr txBox="1">
            <a:spLocks noChangeArrowheads="1"/>
          </p:cNvSpPr>
          <p:nvPr/>
        </p:nvSpPr>
        <p:spPr bwMode="auto">
          <a:xfrm>
            <a:off x="609600" y="2133600"/>
            <a:ext cx="79248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/>
              <a:t>Supponiamo valga la 2 e ordiniamo le attività in </a:t>
            </a:r>
            <a:r>
              <a:rPr lang="it-IT" b="1" i="1"/>
              <a:t>A</a:t>
            </a:r>
            <a:r>
              <a:rPr lang="it-IT"/>
              <a:t> per ordine di scadenza. </a:t>
            </a:r>
          </a:p>
          <a:p>
            <a:r>
              <a:rPr lang="it-IT"/>
              <a:t>Sia </a:t>
            </a:r>
            <a:r>
              <a:rPr lang="it-IT" b="1" i="1"/>
              <a:t>t = d</a:t>
            </a:r>
            <a:r>
              <a:rPr lang="it-IT" b="1" i="1" baseline="-25000"/>
              <a:t>i</a:t>
            </a:r>
            <a:r>
              <a:rPr lang="it-IT"/>
              <a:t> la scadenza della </a:t>
            </a:r>
            <a:r>
              <a:rPr lang="it-IT" b="1" i="1"/>
              <a:t>i</a:t>
            </a:r>
            <a:r>
              <a:rPr lang="it-IT"/>
              <a:t>-esima attività. </a:t>
            </a:r>
          </a:p>
          <a:p>
            <a:r>
              <a:rPr lang="it-IT"/>
              <a:t>Siccome </a:t>
            </a:r>
            <a:r>
              <a:rPr lang="it-IT" b="1" i="1"/>
              <a:t>N</a:t>
            </a:r>
            <a:r>
              <a:rPr lang="it-IT" b="1" i="1" baseline="-25000"/>
              <a:t>t</a:t>
            </a:r>
            <a:r>
              <a:rPr lang="it-IT" b="1" baseline="-25000"/>
              <a:t> </a:t>
            </a:r>
            <a:r>
              <a:rPr lang="it-IT" b="1"/>
              <a:t>(</a:t>
            </a:r>
            <a:r>
              <a:rPr lang="it-IT" b="1" i="1"/>
              <a:t>A</a:t>
            </a:r>
            <a:r>
              <a:rPr lang="it-IT" b="1"/>
              <a:t>) </a:t>
            </a:r>
            <a:r>
              <a:rPr lang="it-IT" b="1">
                <a:sym typeface="Symbol" charset="0"/>
              </a:rPr>
              <a:t></a:t>
            </a:r>
            <a:r>
              <a:rPr lang="it-IT" b="1" i="1">
                <a:sym typeface="Symbol" charset="0"/>
              </a:rPr>
              <a:t> t</a:t>
            </a:r>
            <a:r>
              <a:rPr lang="it-IT"/>
              <a:t> allora </a:t>
            </a:r>
            <a:r>
              <a:rPr lang="it-IT" b="1" i="1"/>
              <a:t>i </a:t>
            </a:r>
            <a:r>
              <a:rPr lang="it-IT" b="1">
                <a:sym typeface="Symbol" charset="0"/>
              </a:rPr>
              <a:t></a:t>
            </a:r>
            <a:r>
              <a:rPr lang="it-IT" b="1" i="1">
                <a:sym typeface="Symbol" charset="0"/>
              </a:rPr>
              <a:t> t</a:t>
            </a:r>
            <a:r>
              <a:rPr lang="it-IT"/>
              <a:t> e la attività </a:t>
            </a:r>
            <a:r>
              <a:rPr lang="it-IT" b="1" i="1"/>
              <a:t>i</a:t>
            </a:r>
            <a:r>
              <a:rPr lang="it-IT"/>
              <a:t>-esima è in orario. Quindi 2 implica 3.</a:t>
            </a:r>
          </a:p>
        </p:txBody>
      </p:sp>
      <p:sp>
        <p:nvSpPr>
          <p:cNvPr id="750596" name="Text Box 4"/>
          <p:cNvSpPr txBox="1">
            <a:spLocks noChangeArrowheads="1"/>
          </p:cNvSpPr>
          <p:nvPr/>
        </p:nvSpPr>
        <p:spPr bwMode="auto">
          <a:xfrm>
            <a:off x="609600" y="4724400"/>
            <a:ext cx="81534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Se vale 3 in ogni schedulazione che inizi con le attività in </a:t>
            </a:r>
            <a:r>
              <a:rPr lang="it-IT" b="1" i="1"/>
              <a:t>A</a:t>
            </a:r>
            <a:r>
              <a:rPr lang="it-IT"/>
              <a:t> ordinate per scadenza nessuna attività in </a:t>
            </a:r>
            <a:r>
              <a:rPr lang="it-IT" b="1" i="1"/>
              <a:t>A</a:t>
            </a:r>
            <a:r>
              <a:rPr lang="it-IT"/>
              <a:t> è in ritardo. Quindi 3 implica 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Text Box 2"/>
          <p:cNvSpPr txBox="1">
            <a:spLocks noChangeArrowheads="1"/>
          </p:cNvSpPr>
          <p:nvPr/>
        </p:nvSpPr>
        <p:spPr bwMode="auto">
          <a:xfrm>
            <a:off x="352425" y="990600"/>
            <a:ext cx="8439150" cy="52768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600" b="1" i="1"/>
              <a:t>IndipTest</a:t>
            </a:r>
            <a:r>
              <a:rPr lang="it-IT" sz="2600" b="1"/>
              <a:t>(</a:t>
            </a:r>
            <a:r>
              <a:rPr lang="it-IT" sz="2600" b="1" i="1"/>
              <a:t>I</a:t>
            </a:r>
            <a:r>
              <a:rPr lang="it-IT" sz="2600" b="1"/>
              <a:t>, </a:t>
            </a:r>
            <a:r>
              <a:rPr lang="it-IT" sz="2600" b="1" i="1"/>
              <a:t>k</a:t>
            </a:r>
            <a:r>
              <a:rPr lang="it-IT" sz="2600" b="1"/>
              <a:t>, </a:t>
            </a:r>
            <a:r>
              <a:rPr lang="it-IT" sz="2600" b="1" i="1"/>
              <a:t>d</a:t>
            </a:r>
            <a:r>
              <a:rPr lang="it-IT" sz="2600" b="1"/>
              <a:t>)	</a:t>
            </a:r>
            <a:r>
              <a:rPr lang="it-IT" sz="26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600" b="1" u="sng">
                <a:solidFill>
                  <a:srgbClr val="0000CC"/>
                </a:solidFill>
              </a:rPr>
              <a:t>PRE</a:t>
            </a:r>
            <a:r>
              <a:rPr lang="it-IT" sz="2600" b="1">
                <a:solidFill>
                  <a:srgbClr val="0000CC"/>
                </a:solidFill>
              </a:rPr>
              <a:t>: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] sono gli indici di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attività</a:t>
            </a:r>
          </a:p>
          <a:p>
            <a:r>
              <a:rPr lang="it-IT" sz="2600" b="1">
                <a:solidFill>
                  <a:srgbClr val="0000CC"/>
                </a:solidFill>
                <a:sym typeface="Symbol" charset="0"/>
              </a:rPr>
              <a:t>		       	</a:t>
            </a:r>
            <a:r>
              <a:rPr lang="it-IT" sz="26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scelte tra le </a:t>
            </a:r>
            <a:r>
              <a:rPr lang="it-IT" sz="2600">
                <a:solidFill>
                  <a:srgbClr val="0000CC"/>
                </a:solidFill>
              </a:rPr>
              <a:t>{</a:t>
            </a:r>
            <a:r>
              <a:rPr lang="it-IT" sz="2600" b="1" i="1">
                <a:solidFill>
                  <a:srgbClr val="0000CC"/>
                </a:solidFill>
              </a:rPr>
              <a:t>a</a:t>
            </a:r>
            <a:r>
              <a:rPr lang="it-IT" sz="2600" b="1" i="1" baseline="-25000">
                <a:solidFill>
                  <a:srgbClr val="0000CC"/>
                </a:solidFill>
              </a:rPr>
              <a:t>1</a:t>
            </a:r>
            <a:r>
              <a:rPr lang="it-IT" sz="2600">
                <a:solidFill>
                  <a:srgbClr val="0000CC"/>
                </a:solidFill>
              </a:rPr>
              <a:t>, </a:t>
            </a:r>
            <a:r>
              <a:rPr lang="it-IT" sz="2600" b="1" i="1">
                <a:solidFill>
                  <a:srgbClr val="0000CC"/>
                </a:solidFill>
              </a:rPr>
              <a:t>a</a:t>
            </a:r>
            <a:r>
              <a:rPr lang="it-IT" sz="2600" b="1" i="1" baseline="-25000">
                <a:solidFill>
                  <a:srgbClr val="0000CC"/>
                </a:solidFill>
              </a:rPr>
              <a:t>2</a:t>
            </a:r>
            <a:r>
              <a:rPr lang="it-IT" sz="2600">
                <a:solidFill>
                  <a:srgbClr val="0000CC"/>
                </a:solidFill>
              </a:rPr>
              <a:t>,..., </a:t>
            </a:r>
            <a:r>
              <a:rPr lang="it-IT" sz="2600" b="1" i="1">
                <a:solidFill>
                  <a:srgbClr val="0000CC"/>
                </a:solidFill>
              </a:rPr>
              <a:t>a</a:t>
            </a:r>
            <a:r>
              <a:rPr lang="it-IT" sz="2600" b="1" i="1" baseline="-25000">
                <a:solidFill>
                  <a:srgbClr val="0000CC"/>
                </a:solidFill>
              </a:rPr>
              <a:t>n</a:t>
            </a:r>
            <a:r>
              <a:rPr lang="it-IT" sz="2600">
                <a:solidFill>
                  <a:srgbClr val="0000CC"/>
                </a:solidFill>
              </a:rPr>
              <a:t>}</a:t>
            </a:r>
            <a:r>
              <a:rPr lang="it-IT" sz="2600"/>
              <a:t> </a:t>
            </a:r>
            <a:endParaRPr lang="it-IT" sz="2600" b="1">
              <a:solidFill>
                <a:srgbClr val="0000CC"/>
              </a:solidFill>
            </a:endParaRPr>
          </a:p>
          <a:p>
            <a:r>
              <a:rPr lang="it-IT" sz="2600" b="1">
                <a:sym typeface="Symbol" charset="0"/>
              </a:rPr>
              <a:t>   for </a:t>
            </a:r>
            <a:r>
              <a:rPr lang="it-IT" sz="2600" b="1" i="1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 0 to </a:t>
            </a:r>
            <a:r>
              <a:rPr lang="it-IT" sz="2600" b="1" i="1">
                <a:sym typeface="Symbol" charset="0"/>
              </a:rPr>
              <a:t>k</a:t>
            </a:r>
            <a:r>
              <a:rPr lang="it-IT" sz="2600" b="1">
                <a:sym typeface="Symbol" charset="0"/>
              </a:rPr>
              <a:t> do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 0</a:t>
            </a:r>
          </a:p>
          <a:p>
            <a:r>
              <a:rPr lang="it-IT" sz="2600" b="1">
                <a:sym typeface="Symbol" charset="0"/>
              </a:rPr>
              <a:t>   for </a:t>
            </a:r>
            <a:r>
              <a:rPr lang="it-IT" sz="2600" b="1" i="1">
                <a:sym typeface="Symbol" charset="0"/>
              </a:rPr>
              <a:t>j</a:t>
            </a:r>
            <a:r>
              <a:rPr lang="it-IT" sz="2600" b="1">
                <a:sym typeface="Symbol" charset="0"/>
              </a:rPr>
              <a:t>  1 to </a:t>
            </a:r>
            <a:r>
              <a:rPr lang="it-IT" sz="2600" b="1" i="1">
                <a:sym typeface="Symbol" charset="0"/>
              </a:rPr>
              <a:t>k</a:t>
            </a:r>
            <a:r>
              <a:rPr lang="it-IT" sz="2600" b="1">
                <a:sym typeface="Symbol" charset="0"/>
              </a:rPr>
              <a:t> do </a:t>
            </a:r>
          </a:p>
          <a:p>
            <a:r>
              <a:rPr lang="it-IT" sz="2600" b="1">
                <a:sym typeface="Symbol" charset="0"/>
              </a:rPr>
              <a:t>      </a:t>
            </a:r>
            <a:r>
              <a:rPr lang="it-IT" sz="2600" b="1" i="1">
                <a:sym typeface="Symbol" charset="0"/>
              </a:rPr>
              <a:t>d</a:t>
            </a:r>
            <a:r>
              <a:rPr lang="it-IT" sz="2600" b="1">
                <a:sym typeface="Symbol" charset="0"/>
              </a:rPr>
              <a:t>  </a:t>
            </a:r>
            <a:r>
              <a:rPr lang="it-IT" sz="2600" b="1" i="1">
                <a:sym typeface="Symbol" charset="0"/>
              </a:rPr>
              <a:t>d</a:t>
            </a:r>
            <a:r>
              <a:rPr lang="it-IT" sz="2600" b="1" i="1" baseline="-25000">
                <a:sym typeface="Symbol" charset="0"/>
              </a:rPr>
              <a:t>I</a:t>
            </a:r>
            <a:r>
              <a:rPr lang="it-IT" sz="2600" b="1" baseline="-25000">
                <a:sym typeface="Symbol" charset="0"/>
              </a:rPr>
              <a:t> [</a:t>
            </a:r>
            <a:r>
              <a:rPr lang="it-IT" sz="2600" b="1" i="1" baseline="-25000">
                <a:sym typeface="Symbol" charset="0"/>
              </a:rPr>
              <a:t>j</a:t>
            </a:r>
            <a:r>
              <a:rPr lang="it-IT" sz="2600" b="1" baseline="-25000">
                <a:sym typeface="Symbol" charset="0"/>
              </a:rPr>
              <a:t>]</a:t>
            </a:r>
            <a:r>
              <a:rPr lang="it-IT" sz="2600" b="1">
                <a:sym typeface="Symbol" charset="0"/>
              </a:rPr>
              <a:t> </a:t>
            </a:r>
          </a:p>
          <a:p>
            <a:r>
              <a:rPr lang="it-IT" sz="2600" b="1">
                <a:sym typeface="Symbol" charset="0"/>
              </a:rPr>
              <a:t>      if </a:t>
            </a:r>
            <a:r>
              <a:rPr lang="it-IT" sz="2600" b="1" i="1">
                <a:sym typeface="Symbol" charset="0"/>
              </a:rPr>
              <a:t>d</a:t>
            </a:r>
            <a:r>
              <a:rPr lang="it-IT" sz="2600" b="1">
                <a:sym typeface="Symbol" charset="0"/>
              </a:rPr>
              <a:t>  </a:t>
            </a:r>
            <a:r>
              <a:rPr lang="it-IT" sz="2600" b="1" i="1">
                <a:sym typeface="Symbol" charset="0"/>
              </a:rPr>
              <a:t>k</a:t>
            </a:r>
            <a:r>
              <a:rPr lang="it-IT" sz="2600" b="1">
                <a:sym typeface="Symbol" charset="0"/>
              </a:rPr>
              <a:t> then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d</a:t>
            </a:r>
            <a:r>
              <a:rPr lang="it-IT" sz="2600" b="1">
                <a:sym typeface="Symbol" charset="0"/>
              </a:rPr>
              <a:t> 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d</a:t>
            </a:r>
            <a:r>
              <a:rPr lang="it-IT" sz="2600" b="1">
                <a:sym typeface="Symbol" charset="0"/>
              </a:rPr>
              <a:t> + 1 </a:t>
            </a:r>
          </a:p>
          <a:p>
            <a:r>
              <a:rPr lang="it-IT" sz="2600" b="1">
                <a:solidFill>
                  <a:srgbClr val="0000CC"/>
                </a:solidFill>
                <a:sym typeface="Symbol" charset="0"/>
              </a:rPr>
              <a:t>   </a:t>
            </a:r>
            <a:r>
              <a:rPr lang="it-IT" sz="26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600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= numero attività in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] con scadenza =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t</a:t>
            </a:r>
          </a:p>
          <a:p>
            <a:r>
              <a:rPr lang="it-IT" sz="2600" b="1">
                <a:sym typeface="Symbol" charset="0"/>
              </a:rPr>
              <a:t>   for </a:t>
            </a:r>
            <a:r>
              <a:rPr lang="it-IT" sz="2600" b="1" i="1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 1 to </a:t>
            </a:r>
            <a:r>
              <a:rPr lang="it-IT" sz="2600" b="1" i="1">
                <a:sym typeface="Symbol" charset="0"/>
              </a:rPr>
              <a:t>k</a:t>
            </a:r>
            <a:r>
              <a:rPr lang="it-IT" sz="2600" b="1">
                <a:sym typeface="Symbol" charset="0"/>
              </a:rPr>
              <a:t> do</a:t>
            </a:r>
          </a:p>
          <a:p>
            <a:r>
              <a:rPr lang="it-IT" sz="2600" b="1">
                <a:sym typeface="Symbol" charset="0"/>
              </a:rPr>
              <a:t>     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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+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t</a:t>
            </a:r>
            <a:r>
              <a:rPr lang="it-IT" sz="2600" b="1" baseline="-25000">
                <a:sym typeface="Symbol" charset="0"/>
              </a:rPr>
              <a:t>-1</a:t>
            </a:r>
            <a:r>
              <a:rPr lang="it-IT" sz="2600" b="1">
                <a:sym typeface="Symbol" charset="0"/>
              </a:rPr>
              <a:t> </a:t>
            </a:r>
          </a:p>
          <a:p>
            <a:r>
              <a:rPr lang="it-IT" sz="2600" b="1">
                <a:solidFill>
                  <a:srgbClr val="0000CC"/>
                </a:solidFill>
                <a:sym typeface="Symbol" charset="0"/>
              </a:rPr>
              <a:t>      </a:t>
            </a:r>
            <a:r>
              <a:rPr lang="it-IT" sz="26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600" b="1" i="1" baseline="-2500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= numero attività in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] con scadenza  </a:t>
            </a:r>
            <a:r>
              <a:rPr lang="it-IT" sz="2600" b="1" i="1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600" b="1">
                <a:solidFill>
                  <a:srgbClr val="0000CC"/>
                </a:solidFill>
                <a:sym typeface="Symbol" charset="0"/>
              </a:rPr>
              <a:t> </a:t>
            </a:r>
          </a:p>
          <a:p>
            <a:r>
              <a:rPr lang="it-IT" sz="2600" b="1">
                <a:sym typeface="Symbol" charset="0"/>
              </a:rPr>
              <a:t>      if </a:t>
            </a:r>
            <a:r>
              <a:rPr lang="it-IT" sz="2600" b="1" i="1">
                <a:sym typeface="Symbol" charset="0"/>
              </a:rPr>
              <a:t>N</a:t>
            </a:r>
            <a:r>
              <a:rPr lang="it-IT" sz="2600" b="1" i="1" baseline="-25000">
                <a:sym typeface="Symbol" charset="0"/>
              </a:rPr>
              <a:t>t</a:t>
            </a:r>
            <a:r>
              <a:rPr lang="it-IT" sz="2600" b="1" baseline="-25000">
                <a:sym typeface="Symbol" charset="0"/>
              </a:rPr>
              <a:t> </a:t>
            </a:r>
            <a:r>
              <a:rPr lang="it-IT" sz="2600" b="1">
                <a:sym typeface="Symbol" charset="0"/>
              </a:rPr>
              <a:t>&gt; </a:t>
            </a:r>
            <a:r>
              <a:rPr lang="it-IT" sz="2600" b="1" i="1">
                <a:sym typeface="Symbol" charset="0"/>
              </a:rPr>
              <a:t>t</a:t>
            </a:r>
            <a:r>
              <a:rPr lang="it-IT" sz="2600" b="1">
                <a:sym typeface="Symbol" charset="0"/>
              </a:rPr>
              <a:t> then  return </a:t>
            </a:r>
            <a:r>
              <a:rPr lang="it-IT" sz="2600" b="1" i="1">
                <a:sym typeface="Symbol" charset="0"/>
              </a:rPr>
              <a:t>false</a:t>
            </a:r>
          </a:p>
          <a:p>
            <a:r>
              <a:rPr lang="it-IT" sz="2600" b="1">
                <a:sym typeface="Symbol" charset="0"/>
              </a:rPr>
              <a:t>   return </a:t>
            </a:r>
            <a:r>
              <a:rPr lang="it-IT" sz="2600" b="1" i="1">
                <a:sym typeface="Symbol" charset="0"/>
              </a:rPr>
              <a:t>true</a:t>
            </a: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352425" y="2286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Test di indipendenza: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769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Algoritmo goloso:</a:t>
            </a:r>
          </a:p>
        </p:txBody>
      </p:sp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280988" y="1219200"/>
            <a:ext cx="8651875" cy="52292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i="1"/>
              <a:t>SelAttivita</a:t>
            </a:r>
            <a:r>
              <a:rPr lang="it-IT" sz="2400" b="1"/>
              <a:t>(</a:t>
            </a:r>
            <a:r>
              <a:rPr lang="it-IT" sz="2400" b="1" i="1"/>
              <a:t>d</a:t>
            </a:r>
            <a:r>
              <a:rPr lang="it-IT" sz="2400" b="1"/>
              <a:t>,</a:t>
            </a:r>
            <a:r>
              <a:rPr lang="it-IT" sz="2400" b="1" i="1"/>
              <a:t>w</a:t>
            </a:r>
            <a:r>
              <a:rPr lang="it-IT" sz="2400" b="1"/>
              <a:t>,</a:t>
            </a:r>
            <a:r>
              <a:rPr lang="it-IT" sz="2400" b="1" i="1"/>
              <a:t>n</a:t>
            </a:r>
            <a:r>
              <a:rPr lang="it-IT" sz="2400" b="1"/>
              <a:t>)  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/>
              <a:t> </a:t>
            </a:r>
            <a:r>
              <a:rPr lang="it-IT" sz="2400" b="1" u="sng">
                <a:solidFill>
                  <a:srgbClr val="0000CC"/>
                </a:solidFill>
              </a:rPr>
              <a:t>PRE</a:t>
            </a:r>
            <a:r>
              <a:rPr lang="it-IT" sz="2400" b="1">
                <a:solidFill>
                  <a:srgbClr val="0000CC"/>
                </a:solidFill>
              </a:rPr>
              <a:t>: </a:t>
            </a:r>
            <a:r>
              <a:rPr lang="it-IT" sz="2400" b="1" i="1">
                <a:solidFill>
                  <a:srgbClr val="0000CC"/>
                </a:solidFill>
              </a:rPr>
              <a:t>w</a:t>
            </a:r>
            <a:r>
              <a:rPr lang="it-IT" sz="2400" b="1" baseline="-25000">
                <a:solidFill>
                  <a:srgbClr val="0000CC"/>
                </a:solidFill>
              </a:rPr>
              <a:t>1</a:t>
            </a:r>
            <a:r>
              <a:rPr lang="it-IT" sz="2400" b="1">
                <a:solidFill>
                  <a:srgbClr val="0000CC"/>
                </a:solidFill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400" b="1" i="1">
                <a:solidFill>
                  <a:srgbClr val="0000CC"/>
                </a:solidFill>
              </a:rPr>
              <a:t>w</a:t>
            </a:r>
            <a:r>
              <a:rPr lang="it-IT" sz="2400" b="1" baseline="-25000">
                <a:solidFill>
                  <a:srgbClr val="0000CC"/>
                </a:solidFill>
              </a:rPr>
              <a:t>2</a:t>
            </a:r>
            <a:r>
              <a:rPr lang="it-IT" sz="2400" b="1">
                <a:solidFill>
                  <a:srgbClr val="0000CC"/>
                </a:solidFill>
              </a:rPr>
              <a:t>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400" b="1">
                <a:solidFill>
                  <a:srgbClr val="0000CC"/>
                </a:solidFill>
              </a:rPr>
              <a:t>... 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400" b="1" i="1">
                <a:solidFill>
                  <a:srgbClr val="0000CC"/>
                </a:solidFill>
              </a:rPr>
              <a:t>w</a:t>
            </a:r>
            <a:r>
              <a:rPr lang="it-IT" sz="2400" b="1" i="1" baseline="-25000">
                <a:solidFill>
                  <a:srgbClr val="0000CC"/>
                </a:solidFill>
              </a:rPr>
              <a:t>n</a:t>
            </a:r>
            <a:endParaRPr lang="it-IT" sz="2400" b="1" i="1">
              <a:sym typeface="Symbol" charset="0"/>
            </a:endParaRPr>
          </a:p>
          <a:p>
            <a:r>
              <a:rPr lang="it-IT" sz="2400" b="1">
                <a:sym typeface="Symbol" charset="0"/>
              </a:rPr>
              <a:t>  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  0, </a:t>
            </a:r>
            <a:r>
              <a:rPr lang="it-IT" sz="2400" b="1" i="1">
                <a:sym typeface="Symbol" charset="0"/>
              </a:rPr>
              <a:t>h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+1</a:t>
            </a:r>
          </a:p>
          <a:p>
            <a:r>
              <a:rPr lang="it-IT" sz="2400" b="1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] indipendenti e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[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h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..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] non indipendenti dalle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]</a:t>
            </a:r>
            <a:r>
              <a:rPr lang="it-IT" sz="2400" b="1">
                <a:sym typeface="Symbol" charset="0"/>
              </a:rPr>
              <a:t> </a:t>
            </a:r>
          </a:p>
          <a:p>
            <a:r>
              <a:rPr lang="it-IT" sz="2400" b="1">
                <a:sym typeface="Symbol" charset="0"/>
              </a:rPr>
              <a:t>   for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  1 to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 do</a:t>
            </a:r>
          </a:p>
          <a:p>
            <a:r>
              <a:rPr lang="it-IT" sz="2400" b="1">
                <a:sym typeface="Symbol" charset="0"/>
              </a:rPr>
              <a:t>     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[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+1] 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 		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provo ad aggiungere i a 						I[1..k] </a:t>
            </a:r>
          </a:p>
          <a:p>
            <a:r>
              <a:rPr lang="it-IT" sz="2400" b="1">
                <a:sym typeface="Symbol" charset="0"/>
              </a:rPr>
              <a:t>      if </a:t>
            </a:r>
            <a:r>
              <a:rPr lang="it-IT" sz="2400" b="1" i="1"/>
              <a:t>IndipTest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+1,</a:t>
            </a:r>
            <a:r>
              <a:rPr lang="it-IT" sz="2400" b="1" i="1">
                <a:sym typeface="Symbol" charset="0"/>
              </a:rPr>
              <a:t>d</a:t>
            </a:r>
            <a:r>
              <a:rPr lang="it-IT" sz="2400" b="1">
                <a:sym typeface="Symbol" charset="0"/>
              </a:rPr>
              <a:t>) then 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se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[1,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+1] è indipendente 					OK</a:t>
            </a:r>
            <a:endParaRPr lang="it-IT" sz="2400" b="1">
              <a:sym typeface="Symbol" charset="0"/>
            </a:endParaRPr>
          </a:p>
          <a:p>
            <a:r>
              <a:rPr lang="it-IT" sz="2400" b="1">
                <a:sym typeface="Symbol" charset="0"/>
              </a:rPr>
              <a:t>         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+1</a:t>
            </a:r>
            <a:endParaRPr lang="it-IT" sz="2400" b="1">
              <a:solidFill>
                <a:srgbClr val="0000CC"/>
              </a:solidFill>
              <a:sym typeface="Symbol" charset="0"/>
            </a:endParaRPr>
          </a:p>
          <a:p>
            <a:r>
              <a:rPr lang="it-IT" sz="2400" b="1">
                <a:sym typeface="Symbol" charset="0"/>
              </a:rPr>
              <a:t>      else</a:t>
            </a:r>
            <a:r>
              <a:rPr lang="it-IT" sz="2400" b="1"/>
              <a:t> 		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altrimenti metto l’attività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in coda</a:t>
            </a:r>
            <a:endParaRPr lang="it-IT" sz="2400" b="1"/>
          </a:p>
          <a:p>
            <a:r>
              <a:rPr lang="it-IT" sz="2400" b="1"/>
              <a:t>         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[</a:t>
            </a:r>
            <a:r>
              <a:rPr lang="it-IT" sz="2400" b="1" i="1">
                <a:sym typeface="Symbol" charset="0"/>
              </a:rPr>
              <a:t>h</a:t>
            </a:r>
            <a:r>
              <a:rPr lang="it-IT" sz="2400" b="1">
                <a:sym typeface="Symbol" charset="0"/>
              </a:rPr>
              <a:t>-1] 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>
                <a:sym typeface="Symbol" charset="0"/>
              </a:rPr>
              <a:t>h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h</a:t>
            </a:r>
            <a:r>
              <a:rPr lang="it-IT" sz="2400" b="1">
                <a:sym typeface="Symbol" charset="0"/>
              </a:rPr>
              <a:t>-1</a:t>
            </a:r>
          </a:p>
          <a:p>
            <a:r>
              <a:rPr lang="it-IT" sz="2400" b="1">
                <a:sym typeface="Symbol" charset="0"/>
              </a:rPr>
              <a:t>   </a:t>
            </a:r>
            <a:r>
              <a:rPr lang="it-IT" sz="2400" b="1" i="1">
                <a:sym typeface="Symbol" charset="0"/>
              </a:rPr>
              <a:t>Sort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d</a:t>
            </a:r>
            <a:r>
              <a:rPr lang="it-IT" sz="2400" b="1">
                <a:sym typeface="Symbol" charset="0"/>
              </a:rPr>
              <a:t>) 	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ordina 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[1,</a:t>
            </a:r>
            <a:r>
              <a:rPr lang="it-IT" sz="2400" b="1" i="1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] in ordine di scadenza</a:t>
            </a:r>
          </a:p>
          <a:p>
            <a:r>
              <a:rPr lang="it-IT" sz="2400" b="1">
                <a:solidFill>
                  <a:srgbClr val="0000CC"/>
                </a:solidFill>
              </a:rPr>
              <a:t>   </a:t>
            </a:r>
            <a:r>
              <a:rPr lang="it-IT" sz="2400" b="1"/>
              <a:t>return </a:t>
            </a:r>
            <a:r>
              <a:rPr lang="it-IT" sz="2400" b="1" i="1"/>
              <a:t>I</a:t>
            </a:r>
            <a:r>
              <a:rPr lang="it-IT" sz="2400" b="1">
                <a:solidFill>
                  <a:srgbClr val="0000CC"/>
                </a:solidFill>
              </a:rPr>
              <a:t> 	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u="sng">
                <a:solidFill>
                  <a:srgbClr val="0000CC"/>
                </a:solidFill>
              </a:rPr>
              <a:t>POST</a:t>
            </a:r>
            <a:r>
              <a:rPr lang="it-IT" sz="2400" b="1">
                <a:solidFill>
                  <a:srgbClr val="0000CC"/>
                </a:solidFill>
              </a:rPr>
              <a:t>: </a:t>
            </a:r>
            <a:r>
              <a:rPr lang="it-IT" sz="2400" b="1" i="1">
                <a:solidFill>
                  <a:srgbClr val="0000CC"/>
                </a:solidFill>
              </a:rPr>
              <a:t>I</a:t>
            </a:r>
            <a:r>
              <a:rPr lang="it-IT" sz="2400" b="1">
                <a:solidFill>
                  <a:srgbClr val="0000CC"/>
                </a:solidFill>
              </a:rPr>
              <a:t>[1..</a:t>
            </a:r>
            <a:r>
              <a:rPr lang="it-IT" sz="2400" b="1" i="1">
                <a:solidFill>
                  <a:srgbClr val="0000CC"/>
                </a:solidFill>
              </a:rPr>
              <a:t>n</a:t>
            </a:r>
            <a:r>
              <a:rPr lang="it-IT" sz="2400" b="1">
                <a:solidFill>
                  <a:srgbClr val="0000CC"/>
                </a:solidFill>
              </a:rPr>
              <a:t>]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è una schedulazione 				ottima.</a:t>
            </a:r>
          </a:p>
        </p:txBody>
      </p:sp>
      <p:sp>
        <p:nvSpPr>
          <p:cNvPr id="755717" name="Rectangle 5"/>
          <p:cNvSpPr>
            <a:spLocks noChangeArrowheads="1"/>
          </p:cNvSpPr>
          <p:nvPr/>
        </p:nvSpPr>
        <p:spPr bwMode="auto">
          <a:xfrm>
            <a:off x="914400" y="152400"/>
            <a:ext cx="7264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/>
          <a:p>
            <a:pPr algn="ctr"/>
            <a:r>
              <a:rPr lang="it-IT" sz="2800"/>
              <a:t>Algoritmo di scheduling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Text Box 2"/>
          <p:cNvSpPr txBox="1">
            <a:spLocks noChangeArrowheads="1"/>
          </p:cNvSpPr>
          <p:nvPr/>
        </p:nvSpPr>
        <p:spPr bwMode="auto">
          <a:xfrm>
            <a:off x="650875" y="2060575"/>
            <a:ext cx="7696200" cy="30924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sz="2800"/>
              <a:t>L’insieme vuoto </a:t>
            </a:r>
            <a:r>
              <a:rPr lang="it-IT" sz="2800" b="1">
                <a:sym typeface="Symbol" charset="0"/>
              </a:rPr>
              <a:t></a:t>
            </a:r>
            <a:r>
              <a:rPr lang="it-IT" sz="2800">
                <a:sym typeface="Symbol" charset="0"/>
              </a:rPr>
              <a:t> è indipendente.</a:t>
            </a:r>
          </a:p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sz="2800"/>
              <a:t>Se </a:t>
            </a:r>
            <a:r>
              <a:rPr lang="it-IT" sz="2800" b="1" i="1"/>
              <a:t>A </a:t>
            </a:r>
            <a:r>
              <a:rPr lang="it-IT" sz="2800" b="1">
                <a:sym typeface="Symbol" charset="0"/>
              </a:rPr>
              <a:t></a:t>
            </a:r>
            <a:r>
              <a:rPr lang="it-IT" sz="2800" b="1" i="1">
                <a:sym typeface="Symbol" charset="0"/>
              </a:rPr>
              <a:t> B</a:t>
            </a:r>
            <a:r>
              <a:rPr lang="it-IT" sz="2800">
                <a:sym typeface="Symbol" charset="0"/>
              </a:rPr>
              <a:t> e </a:t>
            </a:r>
            <a:r>
              <a:rPr lang="it-IT" sz="2800" b="1" i="1"/>
              <a:t>B</a:t>
            </a:r>
            <a:r>
              <a:rPr lang="it-IT" sz="2800"/>
              <a:t> è indipendente allora anche </a:t>
            </a:r>
            <a:r>
              <a:rPr lang="it-IT" sz="2800" b="1" i="1"/>
              <a:t>A</a:t>
            </a:r>
            <a:r>
              <a:rPr lang="it-IT" sz="2800"/>
              <a:t> è indipendente. </a:t>
            </a:r>
          </a:p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sz="2800"/>
              <a:t>Se </a:t>
            </a:r>
            <a:r>
              <a:rPr lang="it-IT" sz="2800" b="1" i="1"/>
              <a:t>A </a:t>
            </a:r>
            <a:r>
              <a:rPr lang="it-IT" sz="2800"/>
              <a:t>e </a:t>
            </a:r>
            <a:r>
              <a:rPr lang="it-IT" sz="2800" b="1" i="1"/>
              <a:t>B</a:t>
            </a:r>
            <a:r>
              <a:rPr lang="it-IT" sz="2800"/>
              <a:t> sono indipendenti e </a:t>
            </a:r>
            <a:r>
              <a:rPr lang="it-IT" sz="2800" b="1" i="1"/>
              <a:t>A</a:t>
            </a:r>
            <a:r>
              <a:rPr lang="it-IT" sz="2800"/>
              <a:t> contiene meno attività di </a:t>
            </a:r>
            <a:r>
              <a:rPr lang="it-IT" sz="2800" b="1" i="1"/>
              <a:t>B</a:t>
            </a:r>
            <a:r>
              <a:rPr lang="it-IT" sz="2800"/>
              <a:t> allora esiste una attività </a:t>
            </a:r>
            <a:r>
              <a:rPr lang="it-IT" sz="2800" b="1" i="1"/>
              <a:t>x </a:t>
            </a:r>
            <a:r>
              <a:rPr lang="it-IT" sz="2800" b="1">
                <a:sym typeface="Symbol" charset="0"/>
              </a:rPr>
              <a:t>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 i="1"/>
              <a:t>B </a:t>
            </a:r>
            <a:r>
              <a:rPr lang="it-IT" sz="2800" b="1"/>
              <a:t>\ </a:t>
            </a:r>
            <a:r>
              <a:rPr lang="it-IT" sz="2800" b="1" i="1"/>
              <a:t>A</a:t>
            </a:r>
            <a:r>
              <a:rPr lang="it-IT" sz="2800"/>
              <a:t> tale che </a:t>
            </a:r>
            <a:r>
              <a:rPr lang="it-IT" sz="2800" b="1" i="1"/>
              <a:t>A' = A</a:t>
            </a:r>
            <a:r>
              <a:rPr lang="it-IT" sz="2800" b="1">
                <a:sym typeface="Symbol" charset="0"/>
              </a:rPr>
              <a:t></a:t>
            </a:r>
            <a:r>
              <a:rPr lang="it-IT" sz="2800" b="1" i="1">
                <a:sym typeface="Symbol" charset="0"/>
              </a:rPr>
              <a:t> </a:t>
            </a:r>
            <a:r>
              <a:rPr lang="it-IT" sz="2800" b="1" i="1"/>
              <a:t>x</a:t>
            </a:r>
            <a:r>
              <a:rPr lang="it-IT" sz="2800"/>
              <a:t> è indipendente. </a:t>
            </a:r>
          </a:p>
        </p:txBody>
      </p:sp>
      <p:sp>
        <p:nvSpPr>
          <p:cNvPr id="752643" name="Text Box 3"/>
          <p:cNvSpPr txBox="1">
            <a:spLocks noChangeArrowheads="1"/>
          </p:cNvSpPr>
          <p:nvPr/>
        </p:nvSpPr>
        <p:spPr bwMode="auto">
          <a:xfrm>
            <a:off x="582613" y="836613"/>
            <a:ext cx="7696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Tre proprietà degli insiemi indipendenti: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Text Box 2"/>
          <p:cNvSpPr txBox="1">
            <a:spLocks noChangeArrowheads="1"/>
          </p:cNvSpPr>
          <p:nvPr/>
        </p:nvSpPr>
        <p:spPr bwMode="auto">
          <a:xfrm>
            <a:off x="533400" y="533400"/>
            <a:ext cx="8118475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Dato un qualsiasi insieme </a:t>
            </a:r>
            <a:r>
              <a:rPr lang="it-IT" b="1" i="1"/>
              <a:t>S</a:t>
            </a:r>
            <a:r>
              <a:rPr lang="it-IT"/>
              <a:t> di </a:t>
            </a:r>
            <a:r>
              <a:rPr lang="it-IT" b="1" i="1"/>
              <a:t>n</a:t>
            </a:r>
            <a:r>
              <a:rPr lang="it-IT"/>
              <a:t> oggetti con pesi </a:t>
            </a:r>
            <a:r>
              <a:rPr lang="it-IT" b="1" i="1"/>
              <a:t>w</a:t>
            </a:r>
            <a:r>
              <a:rPr lang="it-IT" b="1" i="1" baseline="-25000"/>
              <a:t>0</a:t>
            </a:r>
            <a:r>
              <a:rPr lang="it-IT" b="1" i="1"/>
              <a:t>,w</a:t>
            </a:r>
            <a:r>
              <a:rPr lang="it-IT" b="1" i="1" baseline="-25000"/>
              <a:t>1</a:t>
            </a:r>
            <a:r>
              <a:rPr lang="it-IT" b="1" i="1"/>
              <a:t>,...,w</a:t>
            </a:r>
            <a:r>
              <a:rPr lang="it-IT" b="1" i="1" baseline="-25000"/>
              <a:t>n-1</a:t>
            </a:r>
            <a:r>
              <a:rPr lang="it-IT"/>
              <a:t> ed una qualsiasi famiglia </a:t>
            </a:r>
            <a:r>
              <a:rPr lang="it-IT" i="1">
                <a:latin typeface="Lucida Calligraphy" charset="0"/>
              </a:rPr>
              <a:t>M</a:t>
            </a:r>
            <a:r>
              <a:rPr lang="it-IT"/>
              <a:t>  di sottoinsiemi di </a:t>
            </a:r>
            <a:r>
              <a:rPr lang="it-IT" b="1" i="1"/>
              <a:t>S</a:t>
            </a:r>
            <a:r>
              <a:rPr lang="it-IT"/>
              <a:t> (che chiameremo </a:t>
            </a:r>
            <a:r>
              <a:rPr lang="it-IT" i="1" u="sng"/>
              <a:t>indipendenti</a:t>
            </a:r>
            <a:r>
              <a:rPr lang="it-IT"/>
              <a:t>) che soddisfi tali tre proprietà, l’algoritmo generale trova un sottoinsieme </a:t>
            </a:r>
            <a:r>
              <a:rPr lang="it-IT" b="1" i="1"/>
              <a:t>A</a:t>
            </a:r>
            <a:r>
              <a:rPr lang="it-IT"/>
              <a:t> </a:t>
            </a:r>
            <a:r>
              <a:rPr lang="it-IT" b="1">
                <a:sym typeface="Symbol" charset="0"/>
              </a:rPr>
              <a:t></a:t>
            </a:r>
            <a:r>
              <a:rPr lang="it-IT" b="1" i="1">
                <a:sym typeface="Symbol" charset="0"/>
              </a:rPr>
              <a:t> </a:t>
            </a:r>
            <a:r>
              <a:rPr lang="it-IT" i="1">
                <a:latin typeface="Lucida Calligraphy" charset="0"/>
              </a:rPr>
              <a:t>M </a:t>
            </a:r>
            <a:r>
              <a:rPr lang="it-IT"/>
              <a:t>di peso massimo. </a:t>
            </a:r>
          </a:p>
        </p:txBody>
      </p:sp>
      <p:sp>
        <p:nvSpPr>
          <p:cNvPr id="766979" name="Text Box 3"/>
          <p:cNvSpPr txBox="1">
            <a:spLocks noChangeArrowheads="1"/>
          </p:cNvSpPr>
          <p:nvPr/>
        </p:nvSpPr>
        <p:spPr bwMode="auto">
          <a:xfrm>
            <a:off x="533400" y="4267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Una famiglia </a:t>
            </a:r>
            <a:r>
              <a:rPr lang="it-IT" i="1">
                <a:latin typeface="Lucida Calligraphy" charset="0"/>
              </a:rPr>
              <a:t>M</a:t>
            </a:r>
            <a:r>
              <a:rPr lang="it-IT"/>
              <a:t>  di sottoinsiemi che soddisfa tali proprietà è nota con il nome di </a:t>
            </a:r>
            <a:r>
              <a:rPr lang="it-IT" i="1" u="sng"/>
              <a:t>matroide</a:t>
            </a:r>
            <a:r>
              <a:rPr lang="it-IT"/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Text Box 2"/>
          <p:cNvSpPr txBox="1">
            <a:spLocks noChangeArrowheads="1"/>
          </p:cNvSpPr>
          <p:nvPr/>
        </p:nvSpPr>
        <p:spPr bwMode="auto">
          <a:xfrm>
            <a:off x="633413" y="381000"/>
            <a:ext cx="80184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Talvolta i matroidi sono definiti con le proprietà:</a:t>
            </a:r>
          </a:p>
        </p:txBody>
      </p:sp>
      <p:sp>
        <p:nvSpPr>
          <p:cNvPr id="768003" name="Text Box 3"/>
          <p:cNvSpPr txBox="1">
            <a:spLocks noChangeArrowheads="1"/>
          </p:cNvSpPr>
          <p:nvPr/>
        </p:nvSpPr>
        <p:spPr bwMode="auto">
          <a:xfrm>
            <a:off x="650875" y="1698625"/>
            <a:ext cx="7843838" cy="30257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lphaLcPeriod"/>
            </a:pPr>
            <a:r>
              <a:rPr lang="it-IT" sz="3200"/>
              <a:t>Esiste almeno un insieme indipendente;</a:t>
            </a:r>
          </a:p>
          <a:p>
            <a:pPr>
              <a:buFontTx/>
              <a:buAutoNum type="alphaLcPeriod"/>
            </a:pPr>
            <a:r>
              <a:rPr lang="it-IT" sz="3200"/>
              <a:t>Se </a:t>
            </a:r>
            <a:r>
              <a:rPr lang="it-IT" sz="3200" b="1" i="1"/>
              <a:t>B</a:t>
            </a:r>
            <a:r>
              <a:rPr lang="it-IT" sz="3200"/>
              <a:t> è indipendente ed </a:t>
            </a:r>
            <a:r>
              <a:rPr lang="it-IT" sz="3200" b="1" i="1"/>
              <a:t>A </a:t>
            </a:r>
            <a:r>
              <a:rPr lang="it-IT" sz="3200" b="1">
                <a:sym typeface="Symbol" charset="0"/>
              </a:rPr>
              <a:t></a:t>
            </a:r>
            <a:r>
              <a:rPr lang="it-IT" sz="3200" b="1" i="1">
                <a:sym typeface="Symbol" charset="0"/>
              </a:rPr>
              <a:t> </a:t>
            </a:r>
            <a:r>
              <a:rPr lang="it-IT" sz="3200" b="1" i="1"/>
              <a:t>B</a:t>
            </a:r>
            <a:r>
              <a:rPr lang="it-IT" sz="3200"/>
              <a:t> allora anche </a:t>
            </a:r>
            <a:r>
              <a:rPr lang="it-IT" sz="3200" b="1" i="1"/>
              <a:t>A</a:t>
            </a:r>
            <a:r>
              <a:rPr lang="it-IT" sz="3200"/>
              <a:t> è indipendente;</a:t>
            </a:r>
          </a:p>
          <a:p>
            <a:pPr>
              <a:buFontTx/>
              <a:buAutoNum type="alphaLcPeriod"/>
            </a:pPr>
            <a:r>
              <a:rPr lang="it-IT" sz="3200"/>
              <a:t>Per ogni sottoinsieme </a:t>
            </a:r>
            <a:r>
              <a:rPr lang="it-IT" sz="3200" b="1" i="1"/>
              <a:t>R</a:t>
            </a:r>
            <a:r>
              <a:rPr lang="it-IT" sz="3200"/>
              <a:t> di </a:t>
            </a:r>
            <a:r>
              <a:rPr lang="it-IT" sz="3200" b="1" i="1"/>
              <a:t>S</a:t>
            </a:r>
            <a:r>
              <a:rPr lang="it-IT" sz="3200"/>
              <a:t>, se </a:t>
            </a:r>
            <a:r>
              <a:rPr lang="it-IT" sz="3200" b="1" i="1"/>
              <a:t>A</a:t>
            </a:r>
            <a:r>
              <a:rPr lang="it-IT" sz="3200" b="1"/>
              <a:t> </a:t>
            </a:r>
            <a:r>
              <a:rPr lang="it-IT" sz="3200">
                <a:sym typeface="Symbol" charset="0"/>
              </a:rPr>
              <a:t>e</a:t>
            </a:r>
            <a:r>
              <a:rPr lang="it-IT" sz="3200" b="1">
                <a:sym typeface="Symbol" charset="0"/>
              </a:rPr>
              <a:t> </a:t>
            </a:r>
            <a:r>
              <a:rPr lang="it-IT" sz="3200" b="1" i="1"/>
              <a:t>B</a:t>
            </a:r>
            <a:r>
              <a:rPr lang="it-IT" sz="3200"/>
              <a:t> sono due sottoinsiemi di </a:t>
            </a:r>
            <a:r>
              <a:rPr lang="it-IT" sz="3200" b="1" i="1"/>
              <a:t>R</a:t>
            </a:r>
            <a:r>
              <a:rPr lang="it-IT" sz="3200"/>
              <a:t> indipendenti e massimali in </a:t>
            </a:r>
            <a:r>
              <a:rPr lang="it-IT" sz="3200" b="1" i="1"/>
              <a:t>R</a:t>
            </a:r>
            <a:r>
              <a:rPr lang="it-IT" sz="3200"/>
              <a:t> allora </a:t>
            </a:r>
            <a:r>
              <a:rPr lang="it-IT" sz="3200" b="1"/>
              <a:t>|</a:t>
            </a:r>
            <a:r>
              <a:rPr lang="it-IT" sz="3200" b="1" i="1"/>
              <a:t>A</a:t>
            </a:r>
            <a:r>
              <a:rPr lang="it-IT" sz="3200" b="1"/>
              <a:t>| </a:t>
            </a:r>
            <a:r>
              <a:rPr lang="it-IT" sz="3200" b="1">
                <a:sym typeface="Symbol" charset="0"/>
              </a:rPr>
              <a:t>= </a:t>
            </a:r>
            <a:r>
              <a:rPr lang="it-IT" sz="3200" b="1"/>
              <a:t>|</a:t>
            </a:r>
            <a:r>
              <a:rPr lang="it-IT" sz="3200" b="1" i="1"/>
              <a:t>B</a:t>
            </a:r>
            <a:r>
              <a:rPr lang="it-IT" sz="3200" b="1"/>
              <a:t>|</a:t>
            </a:r>
            <a:r>
              <a:rPr lang="it-IT" sz="3200"/>
              <a:t>.</a:t>
            </a:r>
          </a:p>
        </p:txBody>
      </p:sp>
      <p:sp>
        <p:nvSpPr>
          <p:cNvPr id="768004" name="Text Box 4"/>
          <p:cNvSpPr txBox="1">
            <a:spLocks noChangeArrowheads="1"/>
          </p:cNvSpPr>
          <p:nvPr/>
        </p:nvSpPr>
        <p:spPr bwMode="auto">
          <a:xfrm>
            <a:off x="609600" y="4983163"/>
            <a:ext cx="7696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invece che con le 1., 2. e 3.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4679</TotalTime>
  <Words>3898</Words>
  <Application>Microsoft Office PowerPoint</Application>
  <PresentationFormat>Presentazione su schermo (4:3)</PresentationFormat>
  <Paragraphs>655</Paragraphs>
  <Slides>56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56</vt:i4>
      </vt:variant>
    </vt:vector>
  </HeadingPairs>
  <TitlesOfParts>
    <vt:vector size="57" baseType="lpstr">
      <vt:lpstr>Blank Presentation</vt:lpstr>
      <vt:lpstr>Algoritmi golosi</vt:lpstr>
      <vt:lpstr>Scelta attività</vt:lpstr>
      <vt:lpstr>Enunciato del problema</vt:lpstr>
      <vt:lpstr>Algoritmo scelta attività</vt:lpstr>
      <vt:lpstr>Simulazione algoritmo</vt:lpstr>
      <vt:lpstr>Enunciato del problema</vt:lpstr>
      <vt:lpstr>Altre soluzioni</vt:lpstr>
      <vt:lpstr>Correttezza dell’algoritmo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Perché goloso?</vt:lpstr>
      <vt:lpstr>Elementi della strategia golosa</vt:lpstr>
      <vt:lpstr>Presentazione standard di PowerPoint</vt:lpstr>
      <vt:lpstr>Presentazione standard di PowerPoint</vt:lpstr>
      <vt:lpstr>Presentazione standard di PowerPoint</vt:lpstr>
      <vt:lpstr>Codici prefissi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B(T) prima forma</vt:lpstr>
      <vt:lpstr>B(T) seconda forma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Complessità algoritmo di Huffman</vt:lpstr>
      <vt:lpstr>Perché goloso?</vt:lpstr>
      <vt:lpstr>Lemma scelta golosa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Lemma struttura ottima</vt:lpstr>
      <vt:lpstr>Presentazione standard di PowerPoint</vt:lpstr>
      <vt:lpstr>Presentazione standard di PowerPoint</vt:lpstr>
      <vt:lpstr>Teorema correttezza alg. Huffmen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Dip. Matematica P. ed Appl.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e Strutture Dati</dc:title>
  <dc:creator>Gilberto Filé</dc:creator>
  <cp:lastModifiedBy>Giancarlo Mauri</cp:lastModifiedBy>
  <cp:revision>186</cp:revision>
  <cp:lastPrinted>2000-11-14T13:42:16Z</cp:lastPrinted>
  <dcterms:created xsi:type="dcterms:W3CDTF">1999-11-24T09:34:41Z</dcterms:created>
  <dcterms:modified xsi:type="dcterms:W3CDTF">2017-10-19T13:59:57Z</dcterms:modified>
</cp:coreProperties>
</file>