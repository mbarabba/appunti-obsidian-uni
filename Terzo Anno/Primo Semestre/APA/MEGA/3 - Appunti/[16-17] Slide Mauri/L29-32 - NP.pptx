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30"/>
  </p:notesMasterIdLst>
  <p:handoutMasterIdLst>
    <p:handoutMasterId r:id="rId31"/>
  </p:handoutMasterIdLst>
  <p:sldIdLst>
    <p:sldId id="484" r:id="rId2"/>
    <p:sldId id="485" r:id="rId3"/>
    <p:sldId id="486" r:id="rId4"/>
    <p:sldId id="487" r:id="rId5"/>
    <p:sldId id="488" r:id="rId6"/>
    <p:sldId id="489" r:id="rId7"/>
    <p:sldId id="490" r:id="rId8"/>
    <p:sldId id="491" r:id="rId9"/>
    <p:sldId id="492" r:id="rId10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503" r:id="rId21"/>
    <p:sldId id="504" r:id="rId22"/>
    <p:sldId id="505" r:id="rId23"/>
    <p:sldId id="506" r:id="rId24"/>
    <p:sldId id="507" r:id="rId25"/>
    <p:sldId id="508" r:id="rId26"/>
    <p:sldId id="509" r:id="rId27"/>
    <p:sldId id="510" r:id="rId28"/>
    <p:sldId id="511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Tahoma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00508C"/>
    <a:srgbClr val="CCFFFF"/>
    <a:srgbClr val="2B9D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78" autoAdjust="0"/>
    <p:restoredTop sz="88336" autoAdjust="0"/>
  </p:normalViewPr>
  <p:slideViewPr>
    <p:cSldViewPr>
      <p:cViewPr varScale="1">
        <p:scale>
          <a:sx n="102" d="100"/>
          <a:sy n="102" d="100"/>
        </p:scale>
        <p:origin x="-360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-170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67DA60-F619-6740-9F0A-1BD54DCCC1DA}" type="slidenum">
              <a:rPr lang="it-IT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9270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74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6D2BF0-9052-3849-BE47-1C3E31C179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634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B380C6-31E2-DB4C-A6CD-69CFADB777CF}" type="slidenum">
              <a:rPr lang="en-US"/>
              <a:pPr/>
              <a:t>1</a:t>
            </a:fld>
            <a:endParaRPr lang="en-US"/>
          </a:p>
        </p:txBody>
      </p:sp>
      <p:sp>
        <p:nvSpPr>
          <p:cNvPr id="4536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8" name="Group 2"/>
          <p:cNvGrpSpPr>
            <a:grpSpLocks/>
          </p:cNvGrpSpPr>
          <p:nvPr/>
        </p:nvGrpSpPr>
        <p:grpSpPr bwMode="auto">
          <a:xfrm>
            <a:off x="134938" y="990600"/>
            <a:ext cx="9009062" cy="1052513"/>
            <a:chOff x="0" y="1536"/>
            <a:chExt cx="5675" cy="663"/>
          </a:xfrm>
        </p:grpSpPr>
        <p:grpSp>
          <p:nvGrpSpPr>
            <p:cNvPr id="6553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6554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54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</p:grpSp>
        <p:grpSp>
          <p:nvGrpSpPr>
            <p:cNvPr id="6554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6554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54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</p:grpSp>
        <p:sp>
          <p:nvSpPr>
            <p:cNvPr id="6554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6554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6554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66800" y="304800"/>
            <a:ext cx="7772400" cy="1143000"/>
          </a:xfrm>
        </p:spPr>
        <p:txBody>
          <a:bodyPr/>
          <a:lstStyle>
            <a:lvl1pPr>
              <a:defRPr sz="2800">
                <a:solidFill>
                  <a:schemeClr val="folHlink"/>
                </a:solidFill>
              </a:defRPr>
            </a:lvl1pPr>
          </a:lstStyle>
          <a:p>
            <a:r>
              <a:rPr lang="it-IT" smtClean="0"/>
              <a:t>Click to edit Master title style</a:t>
            </a:r>
            <a:endParaRPr lang="en-US" dirty="0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908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it-IT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D1B4A857-EC5E-3642-8A28-A2E01DB801E2}" type="slidenum">
              <a:rPr lang="en-US"/>
              <a:pPr/>
              <a:t>‹#›</a:t>
            </a:fld>
            <a:endParaRPr lang="en-US" sz="1400">
              <a:latin typeface="Tahoma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767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00200"/>
            <a:ext cx="40767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CDB037C-F80F-D746-A6F2-20B49D02281A}" type="slidenum">
              <a:rPr lang="en-US"/>
              <a:pPr/>
              <a:t>‹#›</a:t>
            </a:fld>
            <a:endParaRPr lang="en-US" sz="1400">
              <a:latin typeface="Tahoma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456F25E4-7313-0E4C-B92F-B2A0E1F2BE04}" type="slidenum">
              <a:rPr lang="en-US"/>
              <a:pPr/>
              <a:t>‹#›</a:t>
            </a:fld>
            <a:endParaRPr lang="en-US" sz="1400">
              <a:latin typeface="Tahoma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07AD56FE-F78A-D64C-8ED3-7051612EDBCC}" type="slidenum">
              <a:rPr lang="en-US"/>
              <a:pPr/>
              <a:t>‹#›</a:t>
            </a:fld>
            <a:endParaRPr lang="en-US" sz="1400">
              <a:latin typeface="Tahoma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ltGray">
          <a:xfrm>
            <a:off x="493713" y="4127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kumimoji="1" lang="it-IT" sz="2400"/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ltGray">
          <a:xfrm>
            <a:off x="876300" y="4127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kumimoji="1" lang="it-IT" sz="2400"/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ltGray">
          <a:xfrm>
            <a:off x="617538" y="8350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kumimoji="1" lang="it-IT" sz="2400"/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ltGray">
          <a:xfrm>
            <a:off x="987425" y="8350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kumimoji="1" lang="it-IT" sz="2400"/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ltGray">
          <a:xfrm>
            <a:off x="203200" y="7620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kumimoji="1" lang="it-IT" sz="2400"/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gray">
          <a:xfrm>
            <a:off x="838200" y="3048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kumimoji="1" lang="it-IT" sz="2400"/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gray">
          <a:xfrm>
            <a:off x="533400" y="10668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kumimoji="1" lang="it-IT" sz="2400"/>
          </a:p>
        </p:txBody>
      </p:sp>
      <p:sp>
        <p:nvSpPr>
          <p:cNvPr id="645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381000"/>
            <a:ext cx="7688263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Click to edit Master title style</a:t>
            </a:r>
            <a:endParaRPr lang="en-US" dirty="0"/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305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 dirty="0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fld id="{0850237A-03CC-F943-96D2-5019EAD49AD8}" type="slidenum">
              <a:rPr lang="en-US"/>
              <a:pPr/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1" r:id="rId3"/>
    <p:sldLayoutId id="2147483663" r:id="rId4"/>
    <p:sldLayoutId id="2147483664" r:id="rId5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100000"/>
        </a:spcBef>
        <a:spcAft>
          <a:spcPct val="0"/>
        </a:spcAft>
        <a:buClr>
          <a:schemeClr val="hlink"/>
        </a:buClr>
        <a:buFont typeface="Monotype Sorts" charset="2"/>
        <a:buChar char="4"/>
        <a:defRPr sz="2400">
          <a:solidFill>
            <a:schemeClr val="folHlink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Font typeface="Wingdings" charset="2"/>
        <a:buChar char="Ø"/>
        <a:defRPr sz="20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Wingdings" charset="2"/>
        <a:buChar char="§"/>
        <a:defRPr sz="2000">
          <a:solidFill>
            <a:schemeClr val="hlink"/>
          </a:solidFill>
          <a:latin typeface="+mn-lt"/>
          <a:ea typeface="ＭＳ Ｐゴシック" charset="-128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457200"/>
            <a:ext cx="7315200" cy="1295400"/>
          </a:xfrm>
        </p:spPr>
        <p:txBody>
          <a:bodyPr/>
          <a:lstStyle/>
          <a:p>
            <a:pPr algn="ctr"/>
            <a:r>
              <a:rPr lang="it-IT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UNIVERSITA’ DI MILANO-BICOCCA</a:t>
            </a:r>
            <a:br>
              <a:rPr lang="it-IT" dirty="0">
                <a:effectLst>
                  <a:outerShdw blurRad="38100" dist="38100" dir="2700000" algn="tl">
                    <a:srgbClr val="DDDDDD"/>
                  </a:outerShdw>
                </a:effectLst>
              </a:rPr>
            </a:br>
            <a:r>
              <a:rPr lang="it-IT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LAUREA </a:t>
            </a:r>
            <a:r>
              <a:rPr lang="it-IT" dirty="0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IN INFORMATICA</a:t>
            </a:r>
            <a:endParaRPr lang="it-IT" dirty="0"/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286000"/>
            <a:ext cx="8077200" cy="3962400"/>
          </a:xfrm>
        </p:spPr>
        <p:txBody>
          <a:bodyPr/>
          <a:lstStyle/>
          <a:p>
            <a:r>
              <a:rPr lang="it-IT" dirty="0">
                <a:solidFill>
                  <a:schemeClr val="tx1"/>
                </a:solidFill>
              </a:rPr>
              <a:t>Corso di</a:t>
            </a:r>
            <a:r>
              <a:rPr lang="it-IT" sz="2500" b="1" dirty="0">
                <a:solidFill>
                  <a:schemeClr val="hlink"/>
                </a:solidFill>
                <a:latin typeface="Arial" charset="0"/>
                <a:ea typeface="Times" charset="0"/>
                <a:cs typeface="Times" charset="0"/>
              </a:rPr>
              <a:t> </a:t>
            </a:r>
            <a:endParaRPr lang="it-IT" sz="2500" b="1" dirty="0" smtClean="0">
              <a:solidFill>
                <a:schemeClr val="hlink"/>
              </a:solidFill>
              <a:latin typeface="Arial" charset="0"/>
              <a:ea typeface="Times" charset="0"/>
              <a:cs typeface="Times" charset="0"/>
            </a:endParaRPr>
          </a:p>
          <a:p>
            <a:r>
              <a:rPr lang="it-IT" sz="2800" dirty="0" smtClean="0">
                <a:solidFill>
                  <a:schemeClr val="hlink"/>
                </a:solidFill>
                <a:ea typeface="Times" charset="0"/>
                <a:cs typeface="Times" charset="0"/>
              </a:rPr>
              <a:t>Analisi e Progetto di Algoritmi</a:t>
            </a:r>
            <a:endParaRPr lang="it-IT" b="1" dirty="0" smtClean="0">
              <a:solidFill>
                <a:schemeClr val="hlink"/>
              </a:solidFill>
              <a:latin typeface="Arial" charset="0"/>
              <a:ea typeface="Times" charset="0"/>
              <a:cs typeface="Times" charset="0"/>
            </a:endParaRPr>
          </a:p>
          <a:p>
            <a:pPr>
              <a:spcBef>
                <a:spcPct val="120000"/>
              </a:spcBef>
            </a:pPr>
            <a:r>
              <a:rPr lang="en-US" dirty="0"/>
              <a:t>Prof. Giancarlo </a:t>
            </a:r>
            <a:r>
              <a:rPr lang="en-US" dirty="0" err="1"/>
              <a:t>Mauri</a:t>
            </a:r>
            <a:endParaRPr lang="en-US" dirty="0"/>
          </a:p>
          <a:p>
            <a:pPr>
              <a:spcBef>
                <a:spcPct val="120000"/>
              </a:spcBef>
            </a:pPr>
            <a:r>
              <a:rPr lang="it-IT" dirty="0">
                <a:solidFill>
                  <a:schemeClr val="tx1"/>
                </a:solidFill>
                <a:ea typeface="Times" charset="0"/>
                <a:cs typeface="Times" charset="0"/>
              </a:rPr>
              <a:t>Lezione</a:t>
            </a:r>
            <a:r>
              <a:rPr lang="it-IT" dirty="0" smtClean="0">
                <a:solidFill>
                  <a:schemeClr val="tx1"/>
                </a:solidFill>
                <a:ea typeface="Times" charset="0"/>
                <a:cs typeface="Times" charset="0"/>
              </a:rPr>
              <a:t> 29-32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spcBef>
                <a:spcPct val="120000"/>
              </a:spcBef>
            </a:pPr>
            <a:r>
              <a:rPr lang="it-IT" dirty="0" smtClean="0">
                <a:solidFill>
                  <a:srgbClr val="2B9D3B"/>
                </a:solidFill>
              </a:rPr>
              <a:t>Problemi NP-completi</a:t>
            </a:r>
            <a:endParaRPr lang="en-US" b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</a:t>
            </a:fld>
            <a:endParaRPr lang="en-US" sz="1400">
              <a:latin typeface="Tahoma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28800"/>
            <a:ext cx="8490457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1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3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12776"/>
            <a:ext cx="8563830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4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4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340768"/>
            <a:ext cx="7776864" cy="525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3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Certifiers and certificates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5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0767"/>
            <a:ext cx="7272808" cy="521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4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Certifiers and certificates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6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5"/>
            <a:ext cx="8424936" cy="498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6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Certifiers and certificates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7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3"/>
            <a:ext cx="7560840" cy="524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5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P, NP, EXP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8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96752"/>
            <a:ext cx="8799253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29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main question: P versus NP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9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6791"/>
            <a:ext cx="7848872" cy="509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2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Polynomial transformation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10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12776"/>
            <a:ext cx="7416824" cy="526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1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NP-completeness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11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1484784"/>
            <a:ext cx="8679857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80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Circuit </a:t>
            </a:r>
            <a:r>
              <a:rPr lang="en-US" dirty="0" err="1" smtClean="0"/>
              <a:t>satisfiability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12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0768"/>
            <a:ext cx="7488832" cy="501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99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first NP-complete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13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3"/>
            <a:ext cx="7560840" cy="510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84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14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" y="1412775"/>
            <a:ext cx="7876356" cy="544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98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Establishing NP completeness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15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56791"/>
            <a:ext cx="7920880" cy="484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98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3-SAT is NP complete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16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40768"/>
            <a:ext cx="7704856" cy="525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4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17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7560840" cy="524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52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18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84784"/>
            <a:ext cx="8557924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68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1"/>
            <a:ext cx="7848600" cy="743744"/>
          </a:xfrm>
        </p:spPr>
        <p:txBody>
          <a:bodyPr/>
          <a:lstStyle/>
          <a:p>
            <a:r>
              <a:rPr lang="en-US" dirty="0" smtClean="0"/>
              <a:t>Extent and impact of NP-completeness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19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56791"/>
            <a:ext cx="8064896" cy="499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01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hard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20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0767"/>
            <a:ext cx="6768752" cy="52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60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Asymmetry of NP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21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3" y="1484784"/>
            <a:ext cx="7994659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48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Co-NP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22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8750412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74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 = co-NP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23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84784"/>
            <a:ext cx="865639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31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Good characterizations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24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556792"/>
            <a:ext cx="8398713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40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characterizations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25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12776"/>
            <a:ext cx="7344816" cy="509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00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PRIMES is in NP ∩ co-NP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26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12775"/>
            <a:ext cx="7920880" cy="530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53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is in NP ∩ co-NP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27</a:t>
            </a:fld>
            <a:endParaRPr lang="en-US" sz="1400">
              <a:latin typeface="Tahoma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484784"/>
            <a:ext cx="8605559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32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Primality</a:t>
            </a:r>
            <a:r>
              <a:rPr lang="en-US" dirty="0"/>
              <a:t> Testing and Factoring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4A857-EC5E-3642-8A28-A2E01DB801E2}" type="slidenum">
              <a:rPr lang="en-US" smtClean="0"/>
              <a:pPr/>
              <a:t>28</a:t>
            </a:fld>
            <a:endParaRPr lang="en-US" sz="1400">
              <a:latin typeface="Tahom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556791"/>
            <a:ext cx="7704856" cy="479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2968"/>
      </p:ext>
    </p:extLst>
  </p:cSld>
  <p:clrMapOvr>
    <a:masterClrMapping/>
  </p:clrMapOvr>
</p:sld>
</file>

<file path=ppt/theme/theme1.xml><?xml version="1.0" encoding="utf-8"?>
<a:theme xmlns:a="http://schemas.openxmlformats.org/drawingml/2006/main" name="Pres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Pres1.potx</Template>
  <TotalTime>17400</TotalTime>
  <Words>153</Words>
  <Application>Microsoft Macintosh PowerPoint</Application>
  <PresentationFormat>On-screen Show (4:3)</PresentationFormat>
  <Paragraphs>61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Pres1</vt:lpstr>
      <vt:lpstr>UNIVERSITA’ DI MILANO-BICOCCA LAUREA IN INFORMATICA</vt:lpstr>
      <vt:lpstr>Decision problems</vt:lpstr>
      <vt:lpstr>Definition of P</vt:lpstr>
      <vt:lpstr>NP</vt:lpstr>
      <vt:lpstr>Certifiers and certificates</vt:lpstr>
      <vt:lpstr>Certifiers and certificates</vt:lpstr>
      <vt:lpstr>Certifiers and certificates</vt:lpstr>
      <vt:lpstr>P, NP, EXP</vt:lpstr>
      <vt:lpstr>The main question: P versus NP</vt:lpstr>
      <vt:lpstr>Polynomial transformation</vt:lpstr>
      <vt:lpstr>NP-completeness</vt:lpstr>
      <vt:lpstr>Circuit satisfiability</vt:lpstr>
      <vt:lpstr>The first NP-complete problem</vt:lpstr>
      <vt:lpstr>Example</vt:lpstr>
      <vt:lpstr>Establishing NP completeness</vt:lpstr>
      <vt:lpstr>3-SAT is NP complete</vt:lpstr>
      <vt:lpstr>Some examples</vt:lpstr>
      <vt:lpstr>Some examples</vt:lpstr>
      <vt:lpstr>Extent and impact of NP-completeness</vt:lpstr>
      <vt:lpstr>More hard problems</vt:lpstr>
      <vt:lpstr>Asymmetry of NP</vt:lpstr>
      <vt:lpstr>Co-NP</vt:lpstr>
      <vt:lpstr>NP = co-NP ?</vt:lpstr>
      <vt:lpstr>Good characterizations</vt:lpstr>
      <vt:lpstr>Good characterizations</vt:lpstr>
      <vt:lpstr>PRIMES is in NP ∩ co-NP</vt:lpstr>
      <vt:lpstr>FACTOR is in NP ∩ co-NP</vt:lpstr>
      <vt:lpstr>Primality Testing and Factoring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Lezione 1-2</dc:title>
  <dc:subject>Bioinformatics</dc:subject>
  <dc:creator>G. Mauri</dc:creator>
  <cp:keywords/>
  <dc:description/>
  <cp:lastModifiedBy>Giancarlo Mauri</cp:lastModifiedBy>
  <cp:revision>1208</cp:revision>
  <cp:lastPrinted>2002-02-01T12:39:25Z</cp:lastPrinted>
  <dcterms:created xsi:type="dcterms:W3CDTF">2009-04-04T15:38:02Z</dcterms:created>
  <dcterms:modified xsi:type="dcterms:W3CDTF">2017-01-12T15:58:27Z</dcterms:modified>
  <cp:category/>
</cp:coreProperties>
</file>