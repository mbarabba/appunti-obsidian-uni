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vml" ContentType="application/vnd.openxmlformats-officedocument.vmlDrawi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36"/>
  </p:notesMasterIdLst>
  <p:handoutMasterIdLst>
    <p:handoutMasterId r:id="rId37"/>
  </p:handoutMasterIdLst>
  <p:sldIdLst>
    <p:sldId id="462" r:id="rId2"/>
    <p:sldId id="455" r:id="rId3"/>
    <p:sldId id="456" r:id="rId4"/>
    <p:sldId id="488" r:id="rId5"/>
    <p:sldId id="457" r:id="rId6"/>
    <p:sldId id="458" r:id="rId7"/>
    <p:sldId id="459" r:id="rId8"/>
    <p:sldId id="460" r:id="rId9"/>
    <p:sldId id="461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  <p:sldId id="471" r:id="rId19"/>
    <p:sldId id="472" r:id="rId20"/>
    <p:sldId id="473" r:id="rId21"/>
    <p:sldId id="474" r:id="rId22"/>
    <p:sldId id="475" r:id="rId23"/>
    <p:sldId id="476" r:id="rId24"/>
    <p:sldId id="489" r:id="rId25"/>
    <p:sldId id="478" r:id="rId26"/>
    <p:sldId id="479" r:id="rId27"/>
    <p:sldId id="480" r:id="rId28"/>
    <p:sldId id="481" r:id="rId29"/>
    <p:sldId id="482" r:id="rId30"/>
    <p:sldId id="483" r:id="rId31"/>
    <p:sldId id="484" r:id="rId32"/>
    <p:sldId id="485" r:id="rId33"/>
    <p:sldId id="486" r:id="rId34"/>
    <p:sldId id="487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648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240149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#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1" r:id="rId4"/>
    <p:sldLayoutId id="2147483722" r:id="rId5"/>
    <p:sldLayoutId id="2147483723" r:id="rId6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1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 smtClean="0">
                <a:solidFill>
                  <a:srgbClr val="3D9E50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Inversioni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097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2" name="Rectangle 4"/>
          <p:cNvSpPr>
            <a:spLocks noGrp="1" noChangeArrowheads="1"/>
          </p:cNvSpPr>
          <p:nvPr>
            <p:ph type="title"/>
          </p:nvPr>
        </p:nvSpPr>
        <p:spPr>
          <a:xfrm>
            <a:off x="1455738" y="381000"/>
            <a:ext cx="7237412" cy="554038"/>
          </a:xfrm>
        </p:spPr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Il problema</a:t>
            </a:r>
          </a:p>
        </p:txBody>
      </p:sp>
      <p:sp>
        <p:nvSpPr>
          <p:cNvPr id="44749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11480" cy="471331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it-IT" dirty="0" smtClean="0">
                <a:cs typeface="+mn-cs"/>
              </a:rPr>
              <a:t>Obiettivo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it-IT" dirty="0" smtClean="0"/>
              <a:t>“filtraggio collaborativo” in siti web:</a:t>
            </a:r>
          </a:p>
          <a:p>
            <a:pPr lvl="2" eaLnBrk="1" hangingPunct="1">
              <a:lnSpc>
                <a:spcPct val="150000"/>
              </a:lnSpc>
              <a:defRPr/>
            </a:pPr>
            <a:r>
              <a:rPr lang="it-IT" dirty="0" smtClean="0"/>
              <a:t>Identificare persone con gusti “simili” (libri, film, hobby, …)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it-IT" dirty="0" smtClean="0"/>
              <a:t>“meta-ricerca”</a:t>
            </a:r>
          </a:p>
          <a:p>
            <a:pPr lvl="2" eaLnBrk="1" hangingPunct="1">
              <a:lnSpc>
                <a:spcPct val="150000"/>
              </a:lnSpc>
              <a:defRPr/>
            </a:pPr>
            <a:r>
              <a:rPr lang="it-IT" dirty="0" smtClean="0"/>
              <a:t>Confronto e sintesi di classifiche ritornate da diversi motori di ricerca per la stessa </a:t>
            </a:r>
            <a:r>
              <a:rPr lang="it-IT" dirty="0" err="1" smtClean="0"/>
              <a:t>query</a:t>
            </a:r>
            <a:endParaRPr lang="it-IT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Il problema</a:t>
            </a:r>
          </a:p>
        </p:txBody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136904" cy="5184576"/>
          </a:xfrm>
        </p:spPr>
        <p:txBody>
          <a:bodyPr/>
          <a:lstStyle/>
          <a:p>
            <a:pPr eaLnBrk="1" hangingPunct="1">
              <a:lnSpc>
                <a:spcPct val="140000"/>
              </a:lnSpc>
              <a:defRPr/>
            </a:pPr>
            <a:r>
              <a:rPr lang="it-IT" dirty="0" smtClean="0">
                <a:cs typeface="+mn-cs"/>
              </a:rPr>
              <a:t>Come si misura la somiglianza/differenza di gusti ?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it-IT" dirty="0" smtClean="0"/>
              <a:t>L</a:t>
            </a:r>
            <a:r>
              <a:rPr lang="it-IT" baseline="-25000" dirty="0" smtClean="0"/>
              <a:t>A</a:t>
            </a:r>
            <a:r>
              <a:rPr lang="it-IT" dirty="0" smtClean="0"/>
              <a:t> := </a:t>
            </a:r>
            <a:r>
              <a:rPr lang="it-IT" dirty="0" smtClean="0">
                <a:solidFill>
                  <a:schemeClr val="tx1"/>
                </a:solidFill>
              </a:rPr>
              <a:t>lista di film ordinati (e numerati) secondo le preferenze di A</a:t>
            </a:r>
            <a:endParaRPr lang="it-IT" dirty="0" smtClean="0"/>
          </a:p>
          <a:p>
            <a:pPr lvl="1" eaLnBrk="1" hangingPunct="1">
              <a:lnSpc>
                <a:spcPct val="140000"/>
              </a:lnSpc>
              <a:defRPr/>
            </a:pPr>
            <a:r>
              <a:rPr lang="it-IT" dirty="0" smtClean="0"/>
              <a:t>L</a:t>
            </a:r>
            <a:r>
              <a:rPr lang="it-IT" baseline="-25000" dirty="0" smtClean="0"/>
              <a:t>B</a:t>
            </a:r>
            <a:r>
              <a:rPr lang="it-IT" dirty="0" smtClean="0"/>
              <a:t> := </a:t>
            </a:r>
            <a:r>
              <a:rPr lang="it-IT" dirty="0" smtClean="0">
                <a:solidFill>
                  <a:schemeClr val="tx1"/>
                </a:solidFill>
              </a:rPr>
              <a:t>stessi film (con gli stessi numeri) ordinati secondo le preferenze di B</a:t>
            </a:r>
            <a:endParaRPr lang="it-IT" dirty="0" smtClean="0"/>
          </a:p>
          <a:p>
            <a:pPr lvl="1" eaLnBrk="1" hangingPunct="1">
              <a:lnSpc>
                <a:spcPct val="140000"/>
              </a:lnSpc>
              <a:defRPr/>
            </a:pPr>
            <a:r>
              <a:rPr lang="it-IT" dirty="0" smtClean="0">
                <a:solidFill>
                  <a:schemeClr val="tx1"/>
                </a:solidFill>
              </a:rPr>
              <a:t>La differenza deve essere</a:t>
            </a:r>
            <a:r>
              <a:rPr lang="it-IT" dirty="0" smtClean="0"/>
              <a:t> 0 </a:t>
            </a:r>
            <a:r>
              <a:rPr lang="it-IT" dirty="0" smtClean="0">
                <a:solidFill>
                  <a:schemeClr val="tx1"/>
                </a:solidFill>
              </a:rPr>
              <a:t>se</a:t>
            </a:r>
            <a:r>
              <a:rPr lang="it-IT" dirty="0" smtClean="0"/>
              <a:t> L</a:t>
            </a:r>
            <a:r>
              <a:rPr lang="it-IT" baseline="-25000" dirty="0" smtClean="0"/>
              <a:t>B</a:t>
            </a:r>
            <a:r>
              <a:rPr lang="it-IT" dirty="0" smtClean="0"/>
              <a:t> </a:t>
            </a:r>
            <a:r>
              <a:rPr lang="it-IT" dirty="0" smtClean="0">
                <a:solidFill>
                  <a:schemeClr val="tx1"/>
                </a:solidFill>
              </a:rPr>
              <a:t>è uguale ad</a:t>
            </a:r>
            <a:r>
              <a:rPr lang="it-IT" dirty="0" smtClean="0"/>
              <a:t> L</a:t>
            </a:r>
            <a:r>
              <a:rPr lang="it-IT" baseline="-25000" dirty="0" smtClean="0"/>
              <a:t>A</a:t>
            </a:r>
            <a:r>
              <a:rPr lang="it-IT" dirty="0" smtClean="0"/>
              <a:t>, </a:t>
            </a:r>
            <a:r>
              <a:rPr lang="it-IT" dirty="0" smtClean="0">
                <a:solidFill>
                  <a:schemeClr val="tx1"/>
                </a:solidFill>
              </a:rPr>
              <a:t>e crescere fino ad avere il valore massimo quando</a:t>
            </a:r>
            <a:r>
              <a:rPr lang="it-IT" dirty="0" smtClean="0"/>
              <a:t> L</a:t>
            </a:r>
            <a:r>
              <a:rPr lang="it-IT" baseline="-25000" dirty="0" smtClean="0"/>
              <a:t>B</a:t>
            </a:r>
            <a:r>
              <a:rPr lang="it-IT" dirty="0" smtClean="0"/>
              <a:t> </a:t>
            </a:r>
            <a:r>
              <a:rPr lang="it-IT" dirty="0" smtClean="0">
                <a:solidFill>
                  <a:schemeClr val="tx1"/>
                </a:solidFill>
              </a:rPr>
              <a:t>è completamente “rovesciata” rispetto ad</a:t>
            </a:r>
            <a:r>
              <a:rPr lang="it-IT" dirty="0" smtClean="0"/>
              <a:t> L</a:t>
            </a:r>
            <a:r>
              <a:rPr lang="it-IT" baseline="-25000" dirty="0" smtClean="0"/>
              <a:t>A</a:t>
            </a:r>
            <a:endParaRPr lang="it-IT" dirty="0" smtClean="0"/>
          </a:p>
          <a:p>
            <a:pPr lvl="1" eaLnBrk="1" hangingPunct="1">
              <a:lnSpc>
                <a:spcPct val="140000"/>
              </a:lnSpc>
              <a:defRPr/>
            </a:pPr>
            <a:endParaRPr lang="it-IT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Il modello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0292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it-IT" dirty="0" smtClean="0">
                <a:cs typeface="+mn-cs"/>
              </a:rPr>
              <a:t>Una misura naturale è il numero di inversioni o scambi tra film che devo fare per ricostruire 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L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A</a:t>
            </a:r>
            <a:r>
              <a:rPr lang="it-IT" baseline="-25000" dirty="0" smtClean="0">
                <a:cs typeface="+mn-cs"/>
              </a:rPr>
              <a:t> </a:t>
            </a:r>
            <a:r>
              <a:rPr lang="it-IT" dirty="0" smtClean="0">
                <a:cs typeface="+mn-cs"/>
              </a:rPr>
              <a:t>da 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L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B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it-IT" dirty="0">
                <a:cs typeface="+mn-cs"/>
              </a:rPr>
              <a:t>Esempio </a:t>
            </a:r>
          </a:p>
          <a:p>
            <a:pPr eaLnBrk="1" hangingPunct="1">
              <a:lnSpc>
                <a:spcPct val="100000"/>
              </a:lnSpc>
              <a:buNone/>
              <a:defRPr/>
            </a:pPr>
            <a:r>
              <a:rPr lang="it-IT" dirty="0">
                <a:cs typeface="+mn-cs"/>
              </a:rPr>
              <a:t>	</a:t>
            </a:r>
            <a:r>
              <a:rPr lang="it-IT" dirty="0">
                <a:solidFill>
                  <a:schemeClr val="tx1"/>
                </a:solidFill>
                <a:cs typeface="+mn-cs"/>
              </a:rPr>
              <a:t> L</a:t>
            </a:r>
            <a:r>
              <a:rPr lang="it-IT" baseline="-25000" dirty="0">
                <a:solidFill>
                  <a:schemeClr val="tx1"/>
                </a:solidFill>
                <a:cs typeface="+mn-cs"/>
              </a:rPr>
              <a:t>A</a:t>
            </a:r>
            <a:r>
              <a:rPr lang="it-IT" dirty="0">
                <a:solidFill>
                  <a:schemeClr val="tx1"/>
                </a:solidFill>
                <a:cs typeface="+mn-cs"/>
              </a:rPr>
              <a:t>		  1	  2	  3	  4	  5</a:t>
            </a:r>
          </a:p>
          <a:p>
            <a:pPr eaLnBrk="1" hangingPunct="1">
              <a:lnSpc>
                <a:spcPct val="100000"/>
              </a:lnSpc>
              <a:buNone/>
              <a:defRPr/>
            </a:pPr>
            <a:r>
              <a:rPr lang="it-IT" dirty="0">
                <a:solidFill>
                  <a:schemeClr val="tx1"/>
                </a:solidFill>
                <a:cs typeface="+mn-cs"/>
              </a:rPr>
              <a:t>	 L</a:t>
            </a:r>
            <a:r>
              <a:rPr lang="it-IT" baseline="-25000" dirty="0">
                <a:solidFill>
                  <a:schemeClr val="tx1"/>
                </a:solidFill>
                <a:cs typeface="+mn-cs"/>
              </a:rPr>
              <a:t>B	</a:t>
            </a:r>
            <a:r>
              <a:rPr lang="it-IT" dirty="0">
                <a:solidFill>
                  <a:schemeClr val="tx1"/>
                </a:solidFill>
                <a:cs typeface="+mn-cs"/>
              </a:rPr>
              <a:t>	 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 2</a:t>
            </a:r>
            <a:r>
              <a:rPr lang="it-IT" dirty="0">
                <a:solidFill>
                  <a:schemeClr val="tx1"/>
                </a:solidFill>
                <a:cs typeface="+mn-cs"/>
              </a:rPr>
              <a:t>	 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 4</a:t>
            </a:r>
            <a:r>
              <a:rPr lang="it-IT" dirty="0">
                <a:solidFill>
                  <a:schemeClr val="tx1"/>
                </a:solidFill>
                <a:cs typeface="+mn-cs"/>
              </a:rPr>
              <a:t>	 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 1</a:t>
            </a:r>
            <a:r>
              <a:rPr lang="it-IT" dirty="0">
                <a:solidFill>
                  <a:schemeClr val="tx1"/>
                </a:solidFill>
                <a:cs typeface="+mn-cs"/>
              </a:rPr>
              <a:t>	 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 3</a:t>
            </a:r>
            <a:r>
              <a:rPr lang="it-IT" dirty="0">
                <a:solidFill>
                  <a:schemeClr val="tx1"/>
                </a:solidFill>
                <a:cs typeface="+mn-cs"/>
              </a:rPr>
              <a:t>	 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 5</a:t>
            </a:r>
            <a:endParaRPr lang="it-IT" baseline="-25000" dirty="0" smtClean="0">
              <a:solidFill>
                <a:schemeClr val="tx1"/>
              </a:solidFill>
              <a:cs typeface="+mn-cs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it-IT" dirty="0" smtClean="0">
                <a:cs typeface="+mn-cs"/>
              </a:rPr>
              <a:t>Definizione</a:t>
            </a:r>
          </a:p>
          <a:p>
            <a:pPr marL="819150" lvl="1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it-IT" dirty="0" smtClean="0"/>
              <a:t>Data una sequenza di numeri a</a:t>
            </a:r>
            <a:r>
              <a:rPr lang="it-IT" baseline="-25000" dirty="0" smtClean="0"/>
              <a:t>1</a:t>
            </a:r>
            <a:r>
              <a:rPr lang="it-IT" dirty="0" smtClean="0"/>
              <a:t>, a</a:t>
            </a:r>
            <a:r>
              <a:rPr lang="it-IT" baseline="-25000" dirty="0" smtClean="0"/>
              <a:t>2</a:t>
            </a:r>
            <a:r>
              <a:rPr lang="it-IT" dirty="0" smtClean="0"/>
              <a:t>, … , a</a:t>
            </a:r>
            <a:r>
              <a:rPr lang="it-IT" baseline="-25000" dirty="0" smtClean="0"/>
              <a:t>n</a:t>
            </a:r>
            <a:r>
              <a:rPr lang="it-IT" dirty="0" smtClean="0"/>
              <a:t>, una </a:t>
            </a:r>
            <a:r>
              <a:rPr lang="it-IT" dirty="0" smtClean="0">
                <a:solidFill>
                  <a:schemeClr val="tx1"/>
                </a:solidFill>
              </a:rPr>
              <a:t>inversione </a:t>
            </a:r>
            <a:r>
              <a:rPr lang="it-IT" dirty="0" smtClean="0"/>
              <a:t>è una coppia di indici i &lt; </a:t>
            </a:r>
            <a:r>
              <a:rPr lang="it-IT" dirty="0" err="1" smtClean="0"/>
              <a:t>j</a:t>
            </a:r>
            <a:r>
              <a:rPr lang="it-IT" dirty="0" smtClean="0"/>
              <a:t> tale che a</a:t>
            </a:r>
            <a:r>
              <a:rPr lang="it-IT" baseline="-25000" dirty="0" smtClean="0"/>
              <a:t>i</a:t>
            </a:r>
            <a:r>
              <a:rPr lang="it-IT" dirty="0" smtClean="0"/>
              <a:t> &gt; </a:t>
            </a:r>
            <a:r>
              <a:rPr lang="it-IT" dirty="0" err="1" smtClean="0"/>
              <a:t>a</a:t>
            </a:r>
            <a:r>
              <a:rPr lang="it-IT" baseline="-25000" dirty="0" err="1" smtClean="0"/>
              <a:t>j</a:t>
            </a:r>
            <a:endParaRPr lang="it-IT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663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Il modello</a:t>
            </a:r>
          </a:p>
        </p:txBody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67464" cy="277748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defRPr/>
            </a:pPr>
            <a:r>
              <a:rPr lang="it-IT" dirty="0" smtClean="0">
                <a:cs typeface="+mn-cs"/>
              </a:rPr>
              <a:t>Una misura naturale è il numero di inversioni o scambi tra film che devo fare per passare da</a:t>
            </a:r>
            <a:r>
              <a:rPr lang="it-IT" b="1" dirty="0" smtClean="0">
                <a:latin typeface="Times New Roman" charset="0"/>
                <a:cs typeface="+mn-cs"/>
              </a:rPr>
              <a:t> 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L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A</a:t>
            </a:r>
            <a:r>
              <a:rPr lang="it-IT" baseline="-25000" dirty="0" smtClean="0">
                <a:cs typeface="+mn-cs"/>
              </a:rPr>
              <a:t> </a:t>
            </a:r>
            <a:r>
              <a:rPr lang="it-IT" dirty="0" smtClean="0">
                <a:cs typeface="+mn-cs"/>
              </a:rPr>
              <a:t>ad</a:t>
            </a:r>
            <a:r>
              <a:rPr lang="it-IT" baseline="-25000" dirty="0" smtClean="0">
                <a:cs typeface="+mn-cs"/>
              </a:rPr>
              <a:t> </a:t>
            </a:r>
            <a:r>
              <a:rPr lang="it-IT" dirty="0" smtClean="0">
                <a:solidFill>
                  <a:schemeClr val="hlink"/>
                </a:solidFill>
                <a:cs typeface="+mn-cs"/>
              </a:rPr>
              <a:t>L</a:t>
            </a:r>
            <a:r>
              <a:rPr lang="it-IT" baseline="-25000" dirty="0" smtClean="0">
                <a:solidFill>
                  <a:schemeClr val="hlink"/>
                </a:solidFill>
                <a:cs typeface="+mn-cs"/>
              </a:rPr>
              <a:t>B</a:t>
            </a:r>
            <a:endParaRPr lang="it-IT" baseline="-25000" dirty="0" smtClean="0">
              <a:cs typeface="+mn-cs"/>
            </a:endParaRPr>
          </a:p>
          <a:p>
            <a:pPr eaLnBrk="1" hangingPunct="1">
              <a:lnSpc>
                <a:spcPct val="100000"/>
              </a:lnSpc>
              <a:defRPr/>
            </a:pPr>
            <a:r>
              <a:rPr lang="it-IT" dirty="0" smtClean="0">
                <a:cs typeface="+mn-cs"/>
              </a:rPr>
              <a:t>Esempio 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defRPr/>
            </a:pPr>
            <a:r>
              <a:rPr lang="it-IT" dirty="0" smtClean="0">
                <a:cs typeface="+mn-cs"/>
              </a:rPr>
              <a:t>	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 L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A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		  1	  2	  3	  4	  5</a:t>
            </a:r>
          </a:p>
          <a:p>
            <a:pPr eaLnBrk="1" hangingPunct="1">
              <a:lnSpc>
                <a:spcPct val="100000"/>
              </a:lnSpc>
              <a:buFont typeface="Wingdings" charset="0"/>
              <a:buNone/>
              <a:defRPr/>
            </a:pPr>
            <a:r>
              <a:rPr lang="it-IT" dirty="0" smtClean="0">
                <a:solidFill>
                  <a:srgbClr val="000000"/>
                </a:solidFill>
                <a:cs typeface="+mn-cs"/>
              </a:rPr>
              <a:t>	 L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B	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	a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1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=2	a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2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=4	a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3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=1	a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4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=3	a</a:t>
            </a:r>
            <a:r>
              <a:rPr lang="it-IT" baseline="-25000" dirty="0" smtClean="0">
                <a:solidFill>
                  <a:srgbClr val="000000"/>
                </a:solidFill>
                <a:cs typeface="+mn-cs"/>
              </a:rPr>
              <a:t>5</a:t>
            </a:r>
            <a:r>
              <a:rPr lang="it-IT" dirty="0" smtClean="0">
                <a:solidFill>
                  <a:srgbClr val="000000"/>
                </a:solidFill>
                <a:cs typeface="+mn-cs"/>
              </a:rPr>
              <a:t>=5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555776" y="3212976"/>
            <a:ext cx="3672408" cy="381000"/>
            <a:chOff x="2555776" y="3212976"/>
            <a:chExt cx="3672408" cy="381000"/>
          </a:xfrm>
        </p:grpSpPr>
        <p:sp>
          <p:nvSpPr>
            <p:cNvPr id="448561" name="Line 49"/>
            <p:cNvSpPr>
              <a:spLocks noChangeShapeType="1"/>
            </p:cNvSpPr>
            <p:nvPr/>
          </p:nvSpPr>
          <p:spPr bwMode="auto">
            <a:xfrm flipH="1">
              <a:off x="2627784" y="3212976"/>
              <a:ext cx="838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8562" name="Line 50"/>
            <p:cNvSpPr>
              <a:spLocks noChangeShapeType="1"/>
            </p:cNvSpPr>
            <p:nvPr/>
          </p:nvSpPr>
          <p:spPr bwMode="auto">
            <a:xfrm flipH="1">
              <a:off x="3563888" y="3212976"/>
              <a:ext cx="1752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8563" name="Line 51"/>
            <p:cNvSpPr>
              <a:spLocks noChangeShapeType="1"/>
            </p:cNvSpPr>
            <p:nvPr/>
          </p:nvSpPr>
          <p:spPr bwMode="auto">
            <a:xfrm flipH="1">
              <a:off x="6228184" y="3212976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8564" name="Line 52"/>
            <p:cNvSpPr>
              <a:spLocks noChangeShapeType="1"/>
            </p:cNvSpPr>
            <p:nvPr/>
          </p:nvSpPr>
          <p:spPr bwMode="auto">
            <a:xfrm>
              <a:off x="4427984" y="3212976"/>
              <a:ext cx="990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48565" name="Line 53"/>
            <p:cNvSpPr>
              <a:spLocks noChangeShapeType="1"/>
            </p:cNvSpPr>
            <p:nvPr/>
          </p:nvSpPr>
          <p:spPr bwMode="auto">
            <a:xfrm>
              <a:off x="2555776" y="3212976"/>
              <a:ext cx="1872208" cy="288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95536" y="4077072"/>
            <a:ext cx="842493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buFont typeface="Wingdings" charset="0"/>
              <a:buNone/>
              <a:defRPr/>
            </a:pPr>
            <a:r>
              <a:rPr lang="it-IT" dirty="0" smtClean="0">
                <a:cs typeface="+mn-cs"/>
              </a:rPr>
              <a:t>					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3 inversioni</a:t>
            </a:r>
          </a:p>
          <a:p>
            <a:pPr eaLnBrk="1" hangingPunct="1">
              <a:lnSpc>
                <a:spcPct val="100000"/>
              </a:lnSpc>
              <a:defRPr/>
            </a:pPr>
            <a:r>
              <a:rPr lang="it-IT" dirty="0" smtClean="0">
                <a:cs typeface="+mn-cs"/>
              </a:rPr>
              <a:t>Se 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L</a:t>
            </a:r>
            <a:r>
              <a:rPr lang="it-IT" baseline="-25000" dirty="0" smtClean="0">
                <a:solidFill>
                  <a:srgbClr val="FF0000"/>
                </a:solidFill>
                <a:cs typeface="+mn-cs"/>
              </a:rPr>
              <a:t>B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=&lt;5, 4, 3, 2, 1&gt; </a:t>
            </a:r>
            <a:r>
              <a:rPr lang="it-IT" dirty="0" smtClean="0">
                <a:cs typeface="+mn-cs"/>
              </a:rPr>
              <a:t>la differenza è massima = </a:t>
            </a:r>
            <a:r>
              <a:rPr lang="it-IT" dirty="0" err="1" smtClean="0">
                <a:solidFill>
                  <a:srgbClr val="FF0000"/>
                </a:solidFill>
                <a:cs typeface="+mn-cs"/>
              </a:rPr>
              <a:t>n</a:t>
            </a:r>
            <a:r>
              <a:rPr lang="it-IT" dirty="0" smtClean="0">
                <a:solidFill>
                  <a:srgbClr val="FF0000"/>
                </a:solidFill>
                <a:cs typeface="+mn-cs"/>
              </a:rPr>
              <a:t>(n-1)/2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5" grpId="0" build="p"/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Algoritmo 1, immediato</a:t>
            </a:r>
          </a:p>
        </p:txBody>
      </p:sp>
      <p:sp>
        <p:nvSpPr>
          <p:cNvPr id="450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1080120"/>
          </a:xfrm>
        </p:spPr>
        <p:txBody>
          <a:bodyPr/>
          <a:lstStyle/>
          <a:p>
            <a:r>
              <a:rPr lang="it-IT" dirty="0" smtClean="0"/>
              <a:t>Ricerca esaustiva: Si controllano tutte le possibili coppie di indici diversi, che sono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B7864-E48A-A24E-9D04-923EB4B5302D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02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3033831"/>
              </p:ext>
            </p:extLst>
          </p:nvPr>
        </p:nvGraphicFramePr>
        <p:xfrm>
          <a:off x="2987824" y="2348880"/>
          <a:ext cx="27416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Equation" r:id="rId3" imgW="1371600" imgH="431800" progId="Equation.3">
                  <p:embed/>
                </p:oleObj>
              </mc:Choice>
              <mc:Fallback>
                <p:oleObj name="Equation" r:id="rId3" imgW="13716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2348880"/>
                        <a:ext cx="2741613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0E6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77804"/>
              </p:ext>
            </p:extLst>
          </p:nvPr>
        </p:nvGraphicFramePr>
        <p:xfrm>
          <a:off x="3707904" y="4005064"/>
          <a:ext cx="12938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Equation" r:id="rId5" imgW="647700" imgH="203200" progId="Equation.3">
                  <p:embed/>
                </p:oleObj>
              </mc:Choice>
              <mc:Fallback>
                <p:oleObj name="Equation" r:id="rId5" imgW="647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4005064"/>
                        <a:ext cx="12938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0E6E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23528" y="3212976"/>
            <a:ext cx="8496944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it-IT" dirty="0" smtClean="0"/>
              <a:t>Si può fare meglio ?</a:t>
            </a:r>
          </a:p>
          <a:p>
            <a:endParaRPr lang="it-IT" dirty="0" smtClean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23528" y="4581128"/>
            <a:ext cx="8496944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it-IT" dirty="0" smtClean="0"/>
              <a:t>NB: dato che il numero di inversioni possibili è quadratico, l’algoritmo deve calcolare il numero totale  senza prenderle in considerazione individualmente</a:t>
            </a:r>
            <a:endParaRPr lang="it-IT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8" name="Rectangle 4"/>
          <p:cNvSpPr>
            <a:spLocks noGrp="1" noChangeArrowheads="1"/>
          </p:cNvSpPr>
          <p:nvPr>
            <p:ph type="title"/>
          </p:nvPr>
        </p:nvSpPr>
        <p:spPr>
          <a:xfrm>
            <a:off x="1187624" y="260648"/>
            <a:ext cx="7848872" cy="720080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j-cs"/>
              </a:rPr>
              <a:t>Algoritmo 2 - </a:t>
            </a:r>
            <a:r>
              <a:rPr lang="it-IT" dirty="0" err="1" smtClean="0">
                <a:cs typeface="+mj-cs"/>
              </a:rPr>
              <a:t>Sort</a:t>
            </a:r>
            <a:r>
              <a:rPr lang="it-IT" dirty="0" smtClean="0">
                <a:cs typeface="+mj-cs"/>
              </a:rPr>
              <a:t>-and-</a:t>
            </a:r>
            <a:r>
              <a:rPr lang="it-IT" dirty="0" err="1" smtClean="0">
                <a:cs typeface="+mj-cs"/>
              </a:rPr>
              <a:t>count</a:t>
            </a:r>
            <a:r>
              <a:rPr lang="it-IT" dirty="0" smtClean="0">
                <a:cs typeface="+mj-cs"/>
              </a:rPr>
              <a:t> (ricorsivo)</a:t>
            </a:r>
          </a:p>
        </p:txBody>
      </p:sp>
      <p:sp>
        <p:nvSpPr>
          <p:cNvPr id="4515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smtClean="0">
                <a:cs typeface="+mn-cs"/>
              </a:rPr>
              <a:t>Input: lista L</a:t>
            </a:r>
            <a:r>
              <a:rPr lang="it-IT" baseline="-25000" dirty="0" smtClean="0">
                <a:cs typeface="+mn-cs"/>
              </a:rPr>
              <a:t>B </a:t>
            </a:r>
            <a:r>
              <a:rPr lang="it-IT" dirty="0" smtClean="0">
                <a:cs typeface="+mn-cs"/>
              </a:rPr>
              <a:t>, |L</a:t>
            </a:r>
            <a:r>
              <a:rPr lang="it-IT" baseline="-25000" dirty="0" smtClean="0">
                <a:cs typeface="+mn-cs"/>
              </a:rPr>
              <a:t>B</a:t>
            </a:r>
            <a:r>
              <a:rPr lang="it-IT" dirty="0" smtClean="0">
                <a:cs typeface="+mn-cs"/>
              </a:rPr>
              <a:t>| = </a:t>
            </a:r>
            <a:r>
              <a:rPr lang="it-IT" dirty="0" err="1" smtClean="0">
                <a:cs typeface="+mn-cs"/>
              </a:rPr>
              <a:t>n</a:t>
            </a:r>
            <a:r>
              <a:rPr lang="it-IT" dirty="0" smtClean="0">
                <a:cs typeface="+mn-cs"/>
              </a:rPr>
              <a:t> </a:t>
            </a: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Output: numero di inversioni rispetto a L</a:t>
            </a:r>
            <a:r>
              <a:rPr lang="it-IT" baseline="-25000" dirty="0" smtClean="0">
                <a:cs typeface="+mn-cs"/>
              </a:rPr>
              <a:t>A</a:t>
            </a:r>
            <a:endParaRPr lang="it-IT" dirty="0" smtClean="0">
              <a:cs typeface="+mn-cs"/>
            </a:endParaRPr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Base della </a:t>
            </a:r>
            <a:r>
              <a:rPr lang="it-IT" dirty="0" err="1" smtClean="0">
                <a:cs typeface="+mn-cs"/>
              </a:rPr>
              <a:t>ricorsione</a:t>
            </a:r>
            <a:r>
              <a:rPr lang="it-IT" dirty="0" smtClean="0">
                <a:cs typeface="+mn-cs"/>
              </a:rPr>
              <a:t> (lista con un solo elemento):</a:t>
            </a:r>
          </a:p>
          <a:p>
            <a:pPr lvl="1" eaLnBrk="1" hangingPunct="1">
              <a:defRPr/>
            </a:pPr>
            <a:r>
              <a:rPr lang="it-IT" dirty="0" smtClean="0"/>
              <a:t>|L</a:t>
            </a:r>
            <a:r>
              <a:rPr lang="it-IT" baseline="-25000" dirty="0" smtClean="0"/>
              <a:t>B</a:t>
            </a:r>
            <a:r>
              <a:rPr lang="it-IT" dirty="0" smtClean="0"/>
              <a:t>| = 1 </a:t>
            </a:r>
            <a:r>
              <a:rPr lang="it-IT" dirty="0" smtClean="0">
                <a:sym typeface="Symbol" charset="0"/>
              </a:rPr>
              <a:t> </a:t>
            </a:r>
            <a:r>
              <a:rPr lang="it-IT" dirty="0" err="1" smtClean="0">
                <a:sym typeface="Symbol" charset="0"/>
              </a:rPr>
              <a:t>Inv</a:t>
            </a:r>
            <a:r>
              <a:rPr lang="it-IT" dirty="0" smtClean="0">
                <a:sym typeface="Symbol" charset="0"/>
              </a:rPr>
              <a:t> = 0</a:t>
            </a:r>
            <a:endParaRPr lang="it-IT" baseline="30000" dirty="0" smtClean="0"/>
          </a:p>
          <a:p>
            <a:pPr eaLnBrk="1" hangingPunct="1">
              <a:defRPr/>
            </a:pPr>
            <a:r>
              <a:rPr lang="it-IT" dirty="0" smtClean="0">
                <a:cs typeface="+mn-cs"/>
              </a:rPr>
              <a:t>Passo ricorsivo:</a:t>
            </a:r>
          </a:p>
          <a:p>
            <a:pPr lvl="1" eaLnBrk="1" hangingPunct="1">
              <a:defRPr/>
            </a:pPr>
            <a:r>
              <a:rPr lang="it-IT" dirty="0" smtClean="0"/>
              <a:t>Posto m=</a:t>
            </a:r>
            <a:r>
              <a:rPr lang="it-IT" dirty="0" smtClean="0">
                <a:sym typeface="Symbol" charset="0"/>
              </a:rPr>
              <a:t></a:t>
            </a:r>
            <a:r>
              <a:rPr lang="it-IT" dirty="0" err="1" smtClean="0">
                <a:sym typeface="Symbol" charset="0"/>
              </a:rPr>
              <a:t>n</a:t>
            </a:r>
            <a:r>
              <a:rPr lang="it-IT" dirty="0" smtClean="0">
                <a:sym typeface="Symbol" charset="0"/>
              </a:rPr>
              <a:t>/2, calcola le inversioni nel</a:t>
            </a:r>
            <a:r>
              <a:rPr lang="it-IT" dirty="0" smtClean="0"/>
              <a:t>le</a:t>
            </a:r>
            <a:r>
              <a:rPr lang="it-IT" dirty="0" smtClean="0">
                <a:sym typeface="Symbol" charset="0"/>
              </a:rPr>
              <a:t> </a:t>
            </a:r>
            <a:r>
              <a:rPr lang="it-IT" dirty="0" err="1" smtClean="0">
                <a:sym typeface="Symbol" charset="0"/>
              </a:rPr>
              <a:t>semiliste</a:t>
            </a:r>
            <a:r>
              <a:rPr lang="it-IT" dirty="0" smtClean="0">
                <a:sym typeface="Symbol" charset="0"/>
              </a:rPr>
              <a:t>              L’=(</a:t>
            </a:r>
            <a:r>
              <a:rPr lang="it-IT" dirty="0" smtClean="0"/>
              <a:t>a</a:t>
            </a:r>
            <a:r>
              <a:rPr lang="it-IT" baseline="-25000" dirty="0" smtClean="0"/>
              <a:t>1</a:t>
            </a:r>
            <a:r>
              <a:rPr lang="it-IT" dirty="0" smtClean="0"/>
              <a:t>, a</a:t>
            </a:r>
            <a:r>
              <a:rPr lang="it-IT" baseline="-25000" dirty="0" smtClean="0"/>
              <a:t>2</a:t>
            </a:r>
            <a:r>
              <a:rPr lang="it-IT" dirty="0" smtClean="0"/>
              <a:t>, … , </a:t>
            </a:r>
            <a:r>
              <a:rPr lang="it-IT" dirty="0" err="1" smtClean="0"/>
              <a:t>a</a:t>
            </a:r>
            <a:r>
              <a:rPr lang="it-IT" baseline="-25000" dirty="0" err="1" smtClean="0"/>
              <a:t>m</a:t>
            </a:r>
            <a:r>
              <a:rPr lang="it-IT" dirty="0" smtClean="0"/>
              <a:t>) e L”=(a</a:t>
            </a:r>
            <a:r>
              <a:rPr lang="it-IT" baseline="-25000" dirty="0" smtClean="0"/>
              <a:t>m+1</a:t>
            </a:r>
            <a:r>
              <a:rPr lang="it-IT" dirty="0" smtClean="0"/>
              <a:t>, … , a</a:t>
            </a:r>
            <a:r>
              <a:rPr lang="it-IT" baseline="-25000" dirty="0" smtClean="0"/>
              <a:t>n</a:t>
            </a:r>
            <a:r>
              <a:rPr lang="it-IT" dirty="0" smtClean="0"/>
              <a:t>) e </a:t>
            </a:r>
            <a:r>
              <a:rPr lang="it-IT" dirty="0" smtClean="0">
                <a:sym typeface="Symbol" charset="0"/>
              </a:rPr>
              <a:t>le ordina</a:t>
            </a:r>
            <a:endParaRPr lang="it-IT" dirty="0" smtClean="0"/>
          </a:p>
          <a:p>
            <a:pPr lvl="1" eaLnBrk="1" hangingPunct="1">
              <a:defRPr/>
            </a:pPr>
            <a:r>
              <a:rPr lang="it-IT" dirty="0" smtClean="0"/>
              <a:t>Fondi L’ e L”, calcolando le inversioni “a cavallo” tra le due metà (a</a:t>
            </a:r>
            <a:r>
              <a:rPr lang="it-IT" baseline="-25000" dirty="0" smtClean="0"/>
              <a:t>i</a:t>
            </a:r>
            <a:r>
              <a:rPr lang="it-IT" dirty="0" smtClean="0">
                <a:sym typeface="Symbol" charset="0"/>
              </a:rPr>
              <a:t> L’</a:t>
            </a:r>
            <a:r>
              <a:rPr lang="it-IT" dirty="0" smtClean="0"/>
              <a:t>, </a:t>
            </a:r>
            <a:r>
              <a:rPr lang="it-IT" dirty="0" err="1" smtClean="0"/>
              <a:t>a</a:t>
            </a:r>
            <a:r>
              <a:rPr lang="it-IT" baseline="-25000" dirty="0" err="1" smtClean="0"/>
              <a:t>j</a:t>
            </a:r>
            <a:r>
              <a:rPr lang="it-IT" dirty="0" smtClean="0">
                <a:sym typeface="Symbol" charset="0"/>
              </a:rPr>
              <a:t> L”</a:t>
            </a:r>
            <a:r>
              <a:rPr lang="it-IT" dirty="0" smtClean="0"/>
              <a:t> con  a</a:t>
            </a:r>
            <a:r>
              <a:rPr lang="it-IT" baseline="-25000" dirty="0" smtClean="0"/>
              <a:t>i</a:t>
            </a:r>
            <a:r>
              <a:rPr lang="it-IT" dirty="0" smtClean="0"/>
              <a:t>&gt;</a:t>
            </a:r>
            <a:r>
              <a:rPr lang="it-IT" dirty="0" err="1" smtClean="0"/>
              <a:t>a</a:t>
            </a:r>
            <a:r>
              <a:rPr lang="it-IT" baseline="-25000" dirty="0" err="1" smtClean="0"/>
              <a:t>j</a:t>
            </a:r>
            <a:r>
              <a:rPr lang="it-IT" dirty="0" smtClean="0"/>
              <a:t>)</a:t>
            </a:r>
          </a:p>
          <a:p>
            <a:pPr eaLnBrk="1" hangingPunct="1">
              <a:buFont typeface="Wingdings" charset="0"/>
              <a:buNone/>
              <a:defRPr/>
            </a:pPr>
            <a:r>
              <a:rPr lang="it-IT" dirty="0" smtClean="0">
                <a:solidFill>
                  <a:schemeClr val="tx1"/>
                </a:solidFill>
                <a:cs typeface="+mn-cs"/>
              </a:rPr>
              <a:t>N.B. - Come Merge-</a:t>
            </a:r>
            <a:r>
              <a:rPr lang="it-IT" dirty="0" err="1" smtClean="0">
                <a:solidFill>
                  <a:schemeClr val="tx1"/>
                </a:solidFill>
                <a:cs typeface="+mn-cs"/>
              </a:rPr>
              <a:t>Sort</a:t>
            </a:r>
            <a:r>
              <a:rPr lang="it-IT" dirty="0" smtClean="0">
                <a:solidFill>
                  <a:schemeClr val="tx1"/>
                </a:solidFill>
                <a:cs typeface="+mn-cs"/>
              </a:rPr>
              <a:t>, con  l’aggiunta del conteggio delle inversioni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Algoritmo 2 - Sort-and-count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96752"/>
            <a:ext cx="8712968" cy="518457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MergeSort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		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Sort&amp;Count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    				     ni:=0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if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&lt;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then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	    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if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&lt;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then</a:t>
            </a:r>
            <a:endParaRPr lang="it-IT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q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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p+r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)/2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		</a:t>
            </a:r>
            <a:r>
              <a:rPr lang="it-IT" dirty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   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q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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p+r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)/2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</a:t>
            </a:r>
            <a:endParaRPr lang="it-IT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MergeSort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A,p,q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	</a:t>
            </a:r>
            <a:r>
              <a:rPr lang="it-IT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   ni</a:t>
            </a:r>
            <a:r>
              <a:rPr lang="it-IT" baseline="-25000" dirty="0" smtClean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:=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Sort&amp;Count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A,p,q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MergeSort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(A,q+1,r)</a:t>
            </a:r>
            <a:r>
              <a:rPr lang="it-IT" dirty="0">
                <a:solidFill>
                  <a:schemeClr val="tx1"/>
                </a:solidFill>
                <a:latin typeface="Arial"/>
                <a:cs typeface="Arial"/>
              </a:rPr>
              <a:t>	 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   ni</a:t>
            </a:r>
            <a:r>
              <a:rPr lang="it-IT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:=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Sort&amp;Count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(A,q+1,r)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Merge(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A,p,q,r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		     ni</a:t>
            </a:r>
            <a:r>
              <a:rPr lang="it-IT" baseline="-25000" dirty="0" smtClean="0">
                <a:solidFill>
                  <a:schemeClr val="tx1"/>
                </a:solidFill>
                <a:latin typeface="Arial"/>
                <a:cs typeface="Arial"/>
              </a:rPr>
              <a:t>3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:=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Merge&amp;Count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A,p,q,r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					     </a:t>
            </a:r>
            <a:r>
              <a:rPr lang="it-IT" dirty="0" err="1" smtClean="0">
                <a:solidFill>
                  <a:schemeClr val="tx1"/>
                </a:solidFill>
                <a:latin typeface="Arial"/>
                <a:cs typeface="Arial"/>
              </a:rPr>
              <a:t>return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 ni : = ni</a:t>
            </a:r>
            <a:r>
              <a:rPr lang="it-IT" baseline="-25000" dirty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+ni</a:t>
            </a:r>
            <a:r>
              <a:rPr lang="it-IT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it-IT" dirty="0" smtClean="0">
                <a:solidFill>
                  <a:schemeClr val="tx1"/>
                </a:solidFill>
                <a:latin typeface="Arial"/>
                <a:cs typeface="Arial"/>
              </a:rPr>
              <a:t>+ni</a:t>
            </a:r>
            <a:r>
              <a:rPr lang="it-IT" baseline="-25000" dirty="0" smtClean="0">
                <a:solidFill>
                  <a:schemeClr val="tx1"/>
                </a:solidFill>
                <a:latin typeface="Arial"/>
                <a:cs typeface="Arial"/>
              </a:rPr>
              <a:t>3</a:t>
            </a:r>
            <a:endParaRPr lang="it-IT" dirty="0" smtClean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mtClean="0">
                <a:cs typeface="+mj-cs"/>
              </a:rPr>
              <a:t>Algoritmo 2 - Sort-and-count</a:t>
            </a:r>
          </a:p>
        </p:txBody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305800" cy="4724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Merge (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A,p,q,r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)				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Merge&amp;Count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(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A,p,q,r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)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q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–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+ 1; 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–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q</a:t>
            </a:r>
            <a:endParaRPr lang="it-IT" sz="200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for i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1 to 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do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L[i]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A[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+ i – 1]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for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1 to 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2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do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[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A[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q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+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L[n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1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+ 1]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[n</a:t>
            </a:r>
            <a:r>
              <a:rPr lang="it-IT" sz="2000" baseline="-25000" dirty="0" smtClean="0">
                <a:solidFill>
                  <a:schemeClr val="tx1"/>
                </a:solidFill>
                <a:latin typeface="Arial"/>
                <a:cs typeface="Arial"/>
              </a:rPr>
              <a:t>2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+ 1]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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i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1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for k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to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do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if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L[i]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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[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]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then</a:t>
            </a:r>
            <a:endParaRPr lang="it-IT" sz="2000" dirty="0" smtClean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    A[k]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L[i]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         i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i + 1	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else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	    A[k]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[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]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           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  <a:sym typeface="Symbol" charset="0"/>
              </a:rPr>
              <a:t>:=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chemeClr val="tx1"/>
                </a:solidFill>
                <a:latin typeface="Arial"/>
                <a:cs typeface="Arial"/>
              </a:rPr>
              <a:t>j</a:t>
            </a:r>
            <a:r>
              <a:rPr lang="it-IT" sz="2000" dirty="0" smtClean="0">
                <a:solidFill>
                  <a:schemeClr val="tx1"/>
                </a:solidFill>
                <a:latin typeface="Arial"/>
                <a:cs typeface="Arial"/>
              </a:rPr>
              <a:t> + 1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CB7864-E48A-A24E-9D04-923EB4B5302D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29" name="Rectangle 1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sp>
        <p:nvSpPr>
          <p:cNvPr id="161930" name="Rectangle 138"/>
          <p:cNvSpPr>
            <a:spLocks noGrp="1" noChangeArrowheads="1"/>
          </p:cNvSpPr>
          <p:nvPr>
            <p:ph type="body" idx="1"/>
          </p:nvPr>
        </p:nvSpPr>
        <p:spPr>
          <a:xfrm>
            <a:off x="323528" y="1196752"/>
            <a:ext cx="8496944" cy="2016224"/>
          </a:xfrm>
        </p:spPr>
        <p:txBody>
          <a:bodyPr/>
          <a:lstStyle/>
          <a:p>
            <a:r>
              <a:rPr lang="en-US" dirty="0"/>
              <a:t>Merge and count </a:t>
            </a:r>
            <a:r>
              <a:rPr lang="en-US" dirty="0" smtClean="0"/>
              <a:t>step</a:t>
            </a:r>
            <a:endParaRPr lang="en-US" dirty="0"/>
          </a:p>
          <a:p>
            <a:pPr lvl="1"/>
            <a:r>
              <a:rPr lang="en-US" dirty="0"/>
              <a:t>Given two sorted halves, count number of inversions where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 and </a:t>
            </a:r>
            <a:r>
              <a:rPr lang="en-US" dirty="0" err="1"/>
              <a:t>a</a:t>
            </a:r>
            <a:r>
              <a:rPr lang="en-US" baseline="-25000" dirty="0" err="1"/>
              <a:t>j</a:t>
            </a:r>
            <a:r>
              <a:rPr lang="en-US" dirty="0"/>
              <a:t> are in different halves.</a:t>
            </a:r>
          </a:p>
          <a:p>
            <a:pPr lvl="1"/>
            <a:r>
              <a:rPr lang="en-US" dirty="0"/>
              <a:t>Combine two sorted halves into sorted whole.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899592" y="3212975"/>
            <a:ext cx="7992888" cy="3168352"/>
            <a:chOff x="899592" y="3212975"/>
            <a:chExt cx="7992888" cy="3168352"/>
          </a:xfrm>
        </p:grpSpPr>
        <p:sp>
          <p:nvSpPr>
            <p:cNvPr id="161838" name="Rectangle 46"/>
            <p:cNvSpPr>
              <a:spLocks noChangeAspect="1" noChangeArrowheads="1"/>
            </p:cNvSpPr>
            <p:nvPr/>
          </p:nvSpPr>
          <p:spPr bwMode="auto">
            <a:xfrm>
              <a:off x="1888610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10</a:t>
              </a:r>
            </a:p>
          </p:txBody>
        </p:sp>
        <p:sp>
          <p:nvSpPr>
            <p:cNvPr id="161839" name="Rectangle 47"/>
            <p:cNvSpPr>
              <a:spLocks noChangeAspect="1" noChangeArrowheads="1"/>
            </p:cNvSpPr>
            <p:nvPr/>
          </p:nvSpPr>
          <p:spPr bwMode="auto">
            <a:xfrm>
              <a:off x="2341182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14</a:t>
              </a:r>
            </a:p>
          </p:txBody>
        </p:sp>
        <p:sp>
          <p:nvSpPr>
            <p:cNvPr id="161840" name="Rectangle 48"/>
            <p:cNvSpPr>
              <a:spLocks noChangeAspect="1" noChangeArrowheads="1"/>
            </p:cNvSpPr>
            <p:nvPr/>
          </p:nvSpPr>
          <p:spPr bwMode="auto">
            <a:xfrm>
              <a:off x="2793754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18</a:t>
              </a:r>
            </a:p>
          </p:txBody>
        </p:sp>
        <p:sp>
          <p:nvSpPr>
            <p:cNvPr id="161841" name="Rectangle 49"/>
            <p:cNvSpPr>
              <a:spLocks noChangeAspect="1" noChangeArrowheads="1"/>
            </p:cNvSpPr>
            <p:nvPr/>
          </p:nvSpPr>
          <p:spPr bwMode="auto">
            <a:xfrm>
              <a:off x="3246327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 dirty="0"/>
                <a:t>19</a:t>
              </a:r>
            </a:p>
          </p:txBody>
        </p:sp>
        <p:sp>
          <p:nvSpPr>
            <p:cNvPr id="161842" name="Rectangle 50"/>
            <p:cNvSpPr>
              <a:spLocks noChangeAspect="1" noChangeArrowheads="1"/>
            </p:cNvSpPr>
            <p:nvPr/>
          </p:nvSpPr>
          <p:spPr bwMode="auto">
            <a:xfrm>
              <a:off x="983465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3</a:t>
              </a:r>
            </a:p>
          </p:txBody>
        </p:sp>
        <p:sp>
          <p:nvSpPr>
            <p:cNvPr id="161843" name="Rectangle 51"/>
            <p:cNvSpPr>
              <a:spLocks noChangeAspect="1" noChangeArrowheads="1"/>
            </p:cNvSpPr>
            <p:nvPr/>
          </p:nvSpPr>
          <p:spPr bwMode="auto">
            <a:xfrm>
              <a:off x="1436038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7</a:t>
              </a:r>
            </a:p>
          </p:txBody>
        </p:sp>
        <p:sp>
          <p:nvSpPr>
            <p:cNvPr id="161844" name="Rectangle 52"/>
            <p:cNvSpPr>
              <a:spLocks noChangeAspect="1" noChangeArrowheads="1"/>
            </p:cNvSpPr>
            <p:nvPr/>
          </p:nvSpPr>
          <p:spPr bwMode="auto">
            <a:xfrm>
              <a:off x="5056615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16</a:t>
              </a:r>
            </a:p>
          </p:txBody>
        </p:sp>
        <p:sp>
          <p:nvSpPr>
            <p:cNvPr id="161845" name="Rectangle 53"/>
            <p:cNvSpPr>
              <a:spLocks noChangeAspect="1" noChangeArrowheads="1"/>
            </p:cNvSpPr>
            <p:nvPr/>
          </p:nvSpPr>
          <p:spPr bwMode="auto">
            <a:xfrm>
              <a:off x="5509188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17</a:t>
              </a:r>
            </a:p>
          </p:txBody>
        </p:sp>
        <p:sp>
          <p:nvSpPr>
            <p:cNvPr id="161846" name="Rectangle 54"/>
            <p:cNvSpPr>
              <a:spLocks noChangeAspect="1" noChangeArrowheads="1"/>
            </p:cNvSpPr>
            <p:nvPr/>
          </p:nvSpPr>
          <p:spPr bwMode="auto">
            <a:xfrm>
              <a:off x="5961760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23</a:t>
              </a:r>
            </a:p>
          </p:txBody>
        </p:sp>
        <p:sp>
          <p:nvSpPr>
            <p:cNvPr id="161847" name="Rectangle 55"/>
            <p:cNvSpPr>
              <a:spLocks noChangeAspect="1" noChangeArrowheads="1"/>
            </p:cNvSpPr>
            <p:nvPr/>
          </p:nvSpPr>
          <p:spPr bwMode="auto">
            <a:xfrm>
              <a:off x="6414332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25</a:t>
              </a:r>
            </a:p>
          </p:txBody>
        </p:sp>
        <p:sp>
          <p:nvSpPr>
            <p:cNvPr id="161848" name="Rectangle 56"/>
            <p:cNvSpPr>
              <a:spLocks noChangeAspect="1" noChangeArrowheads="1"/>
            </p:cNvSpPr>
            <p:nvPr/>
          </p:nvSpPr>
          <p:spPr bwMode="auto">
            <a:xfrm>
              <a:off x="4151471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</a:t>
              </a:r>
            </a:p>
          </p:txBody>
        </p:sp>
        <p:sp>
          <p:nvSpPr>
            <p:cNvPr id="161849" name="Rectangle 57"/>
            <p:cNvSpPr>
              <a:spLocks noChangeAspect="1" noChangeArrowheads="1"/>
            </p:cNvSpPr>
            <p:nvPr/>
          </p:nvSpPr>
          <p:spPr bwMode="auto">
            <a:xfrm>
              <a:off x="4604043" y="3939999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11</a:t>
              </a:r>
            </a:p>
          </p:txBody>
        </p:sp>
        <p:sp>
          <p:nvSpPr>
            <p:cNvPr id="161902" name="Text Box 110"/>
            <p:cNvSpPr txBox="1">
              <a:spLocks noChangeArrowheads="1"/>
            </p:cNvSpPr>
            <p:nvPr/>
          </p:nvSpPr>
          <p:spPr bwMode="auto">
            <a:xfrm>
              <a:off x="6951762" y="3973879"/>
              <a:ext cx="1940718" cy="345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two sorted halves</a:t>
              </a:r>
            </a:p>
          </p:txBody>
        </p:sp>
        <p:sp>
          <p:nvSpPr>
            <p:cNvPr id="161903" name="Rectangle 111"/>
            <p:cNvSpPr>
              <a:spLocks noChangeAspect="1" noChangeArrowheads="1"/>
            </p:cNvSpPr>
            <p:nvPr/>
          </p:nvSpPr>
          <p:spPr bwMode="auto">
            <a:xfrm>
              <a:off x="2114896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4" name="Rectangle 112"/>
            <p:cNvSpPr>
              <a:spLocks noChangeAspect="1" noChangeArrowheads="1"/>
            </p:cNvSpPr>
            <p:nvPr/>
          </p:nvSpPr>
          <p:spPr bwMode="auto">
            <a:xfrm>
              <a:off x="2567468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5" name="Rectangle 113"/>
            <p:cNvSpPr>
              <a:spLocks noChangeAspect="1" noChangeArrowheads="1"/>
            </p:cNvSpPr>
            <p:nvPr/>
          </p:nvSpPr>
          <p:spPr bwMode="auto">
            <a:xfrm>
              <a:off x="3020040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6" name="Rectangle 114"/>
            <p:cNvSpPr>
              <a:spLocks noChangeAspect="1" noChangeArrowheads="1"/>
            </p:cNvSpPr>
            <p:nvPr/>
          </p:nvSpPr>
          <p:spPr bwMode="auto">
            <a:xfrm>
              <a:off x="3472613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7" name="Rectangle 115"/>
            <p:cNvSpPr>
              <a:spLocks noChangeAspect="1" noChangeArrowheads="1"/>
            </p:cNvSpPr>
            <p:nvPr/>
          </p:nvSpPr>
          <p:spPr bwMode="auto">
            <a:xfrm>
              <a:off x="1209751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8" name="Rectangle 116"/>
            <p:cNvSpPr>
              <a:spLocks noChangeAspect="1" noChangeArrowheads="1"/>
            </p:cNvSpPr>
            <p:nvPr/>
          </p:nvSpPr>
          <p:spPr bwMode="auto">
            <a:xfrm>
              <a:off x="1662324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09" name="Rectangle 117"/>
            <p:cNvSpPr>
              <a:spLocks noChangeAspect="1" noChangeArrowheads="1"/>
            </p:cNvSpPr>
            <p:nvPr/>
          </p:nvSpPr>
          <p:spPr bwMode="auto">
            <a:xfrm>
              <a:off x="4830329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0" name="Rectangle 118"/>
            <p:cNvSpPr>
              <a:spLocks noChangeAspect="1" noChangeArrowheads="1"/>
            </p:cNvSpPr>
            <p:nvPr/>
          </p:nvSpPr>
          <p:spPr bwMode="auto">
            <a:xfrm>
              <a:off x="5282902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1" name="Rectangle 119"/>
            <p:cNvSpPr>
              <a:spLocks noChangeAspect="1" noChangeArrowheads="1"/>
            </p:cNvSpPr>
            <p:nvPr/>
          </p:nvSpPr>
          <p:spPr bwMode="auto">
            <a:xfrm>
              <a:off x="5735474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2" name="Rectangle 120"/>
            <p:cNvSpPr>
              <a:spLocks noChangeAspect="1" noChangeArrowheads="1"/>
            </p:cNvSpPr>
            <p:nvPr/>
          </p:nvSpPr>
          <p:spPr bwMode="auto">
            <a:xfrm>
              <a:off x="6188046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3" name="Rectangle 121"/>
            <p:cNvSpPr>
              <a:spLocks noChangeAspect="1" noChangeArrowheads="1"/>
            </p:cNvSpPr>
            <p:nvPr/>
          </p:nvSpPr>
          <p:spPr bwMode="auto">
            <a:xfrm>
              <a:off x="3925185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4" name="Rectangle 122"/>
            <p:cNvSpPr>
              <a:spLocks noChangeAspect="1" noChangeArrowheads="1"/>
            </p:cNvSpPr>
            <p:nvPr/>
          </p:nvSpPr>
          <p:spPr bwMode="auto">
            <a:xfrm>
              <a:off x="4377757" y="4946732"/>
              <a:ext cx="452572" cy="42108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161915" name="Text Box 123"/>
            <p:cNvSpPr txBox="1">
              <a:spLocks noChangeArrowheads="1"/>
            </p:cNvSpPr>
            <p:nvPr/>
          </p:nvSpPr>
          <p:spPr bwMode="auto">
            <a:xfrm>
              <a:off x="6942333" y="4995133"/>
              <a:ext cx="1885718" cy="345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 dirty="0"/>
                <a:t>auxiliary array</a:t>
              </a:r>
            </a:p>
          </p:txBody>
        </p:sp>
        <p:sp>
          <p:nvSpPr>
            <p:cNvPr id="161924" name="Text Box 132"/>
            <p:cNvSpPr txBox="1">
              <a:spLocks noChangeArrowheads="1"/>
            </p:cNvSpPr>
            <p:nvPr/>
          </p:nvSpPr>
          <p:spPr bwMode="auto">
            <a:xfrm>
              <a:off x="3717756" y="5880864"/>
              <a:ext cx="3312577" cy="5004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sz="2000"/>
                <a:t>Total:  </a:t>
              </a:r>
            </a:p>
          </p:txBody>
        </p:sp>
        <p:sp>
          <p:nvSpPr>
            <p:cNvPr id="161925" name="Line 133"/>
            <p:cNvSpPr>
              <a:spLocks noChangeShapeType="1"/>
            </p:cNvSpPr>
            <p:nvPr/>
          </p:nvSpPr>
          <p:spPr bwMode="auto">
            <a:xfrm>
              <a:off x="1206609" y="3615714"/>
              <a:ext cx="0" cy="212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 sz="2000"/>
            </a:p>
          </p:txBody>
        </p:sp>
        <p:sp>
          <p:nvSpPr>
            <p:cNvPr id="161927" name="Line 135"/>
            <p:cNvSpPr>
              <a:spLocks noChangeShapeType="1"/>
            </p:cNvSpPr>
            <p:nvPr/>
          </p:nvSpPr>
          <p:spPr bwMode="auto">
            <a:xfrm>
              <a:off x="4369900" y="3615714"/>
              <a:ext cx="0" cy="2129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 sz="2000"/>
            </a:p>
          </p:txBody>
        </p:sp>
        <p:sp>
          <p:nvSpPr>
            <p:cNvPr id="161931" name="Text Box 139"/>
            <p:cNvSpPr txBox="1">
              <a:spLocks noChangeArrowheads="1"/>
            </p:cNvSpPr>
            <p:nvPr/>
          </p:nvSpPr>
          <p:spPr bwMode="auto">
            <a:xfrm>
              <a:off x="899592" y="3212975"/>
              <a:ext cx="5418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 dirty="0" err="1" smtClean="0"/>
                <a:t>i</a:t>
              </a:r>
              <a:endParaRPr kumimoji="0" lang="en-US" sz="2000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4067944" y="3212976"/>
              <a:ext cx="5418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9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9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221222" name="Text Box 38"/>
            <p:cNvSpPr txBox="1">
              <a:spLocks noChangeArrowheads="1"/>
            </p:cNvSpPr>
            <p:nvPr/>
          </p:nvSpPr>
          <p:spPr bwMode="auto">
            <a:xfrm>
              <a:off x="3752850" y="5838825"/>
              <a:ext cx="3346450" cy="492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sz="2000"/>
                <a:t>Total:  6  </a:t>
              </a:r>
            </a:p>
          </p:txBody>
        </p:sp>
        <p:sp>
          <p:nvSpPr>
            <p:cNvPr id="38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899592" y="3212976"/>
              <a:ext cx="8080896" cy="2121024"/>
              <a:chOff x="899592" y="3212976"/>
              <a:chExt cx="8080896" cy="2121024"/>
            </a:xfrm>
          </p:grpSpPr>
          <p:sp>
            <p:nvSpPr>
              <p:cNvPr id="221186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1187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1188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1189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19</a:t>
                </a:r>
              </a:p>
            </p:txBody>
          </p:sp>
          <p:sp>
            <p:nvSpPr>
              <p:cNvPr id="221190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3</a:t>
                </a:r>
              </a:p>
            </p:txBody>
          </p:sp>
          <p:sp>
            <p:nvSpPr>
              <p:cNvPr id="22119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119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1193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17</a:t>
                </a:r>
              </a:p>
            </p:txBody>
          </p:sp>
          <p:sp>
            <p:nvSpPr>
              <p:cNvPr id="221194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119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25</a:t>
                </a:r>
              </a:p>
            </p:txBody>
          </p:sp>
          <p:sp>
            <p:nvSpPr>
              <p:cNvPr id="221196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21197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1200" name="Text Box 16"/>
              <p:cNvSpPr txBox="1">
                <a:spLocks noChangeArrowheads="1"/>
              </p:cNvSpPr>
              <p:nvPr/>
            </p:nvSpPr>
            <p:spPr bwMode="auto">
              <a:xfrm>
                <a:off x="899592" y="3212976"/>
                <a:ext cx="6858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21201" name="Text Box 17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120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120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0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1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1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1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13" name="Rectangle 29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1214" name="Text Box 30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 dirty="0"/>
                  <a:t>auxiliary array</a:t>
                </a:r>
              </a:p>
            </p:txBody>
          </p:sp>
          <p:sp>
            <p:nvSpPr>
              <p:cNvPr id="221217" name="Line 33"/>
              <p:cNvSpPr>
                <a:spLocks noChangeShapeType="1"/>
              </p:cNvSpPr>
              <p:nvPr/>
            </p:nvSpPr>
            <p:spPr bwMode="auto">
              <a:xfrm>
                <a:off x="12160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1219" name="Line 35"/>
              <p:cNvSpPr>
                <a:spLocks noChangeShapeType="1"/>
              </p:cNvSpPr>
              <p:nvPr/>
            </p:nvSpPr>
            <p:spPr bwMode="auto">
              <a:xfrm>
                <a:off x="44116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1223" name="Text Box 39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37" name="Text Box 16"/>
              <p:cNvSpPr txBox="1">
                <a:spLocks noChangeArrowheads="1"/>
              </p:cNvSpPr>
              <p:nvPr/>
            </p:nvSpPr>
            <p:spPr bwMode="auto">
              <a:xfrm>
                <a:off x="4067944" y="3212976"/>
                <a:ext cx="72008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j</a:t>
                </a:r>
                <a:endParaRPr kumimoji="0" lang="en-US" sz="2000" dirty="0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2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222210" name="Rectangle 2"/>
            <p:cNvSpPr>
              <a:spLocks noChangeAspect="1" noChangeArrowheads="1"/>
            </p:cNvSpPr>
            <p:nvPr/>
          </p:nvSpPr>
          <p:spPr bwMode="auto">
            <a:xfrm>
              <a:off x="1905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10</a:t>
              </a:r>
            </a:p>
          </p:txBody>
        </p:sp>
        <p:sp>
          <p:nvSpPr>
            <p:cNvPr id="222211" name="Rectangle 3"/>
            <p:cNvSpPr>
              <a:spLocks noChangeAspect="1" noChangeArrowheads="1"/>
            </p:cNvSpPr>
            <p:nvPr/>
          </p:nvSpPr>
          <p:spPr bwMode="auto">
            <a:xfrm>
              <a:off x="23622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14</a:t>
              </a:r>
            </a:p>
          </p:txBody>
        </p:sp>
        <p:sp>
          <p:nvSpPr>
            <p:cNvPr id="222212" name="Rectangle 4"/>
            <p:cNvSpPr>
              <a:spLocks noChangeAspect="1" noChangeArrowheads="1"/>
            </p:cNvSpPr>
            <p:nvPr/>
          </p:nvSpPr>
          <p:spPr bwMode="auto">
            <a:xfrm>
              <a:off x="28194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18</a:t>
              </a:r>
            </a:p>
          </p:txBody>
        </p:sp>
        <p:sp>
          <p:nvSpPr>
            <p:cNvPr id="222213" name="Rectangle 5"/>
            <p:cNvSpPr>
              <a:spLocks noChangeAspect="1" noChangeArrowheads="1"/>
            </p:cNvSpPr>
            <p:nvPr/>
          </p:nvSpPr>
          <p:spPr bwMode="auto">
            <a:xfrm>
              <a:off x="32766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19</a:t>
              </a:r>
            </a:p>
          </p:txBody>
        </p:sp>
        <p:sp>
          <p:nvSpPr>
            <p:cNvPr id="222214" name="Rectangle 6"/>
            <p:cNvSpPr>
              <a:spLocks noChangeAspect="1" noChangeArrowheads="1"/>
            </p:cNvSpPr>
            <p:nvPr/>
          </p:nvSpPr>
          <p:spPr bwMode="auto">
            <a:xfrm>
              <a:off x="9906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3</a:t>
              </a:r>
            </a:p>
          </p:txBody>
        </p:sp>
        <p:sp>
          <p:nvSpPr>
            <p:cNvPr id="222215" name="Rectangle 7"/>
            <p:cNvSpPr>
              <a:spLocks noChangeAspect="1" noChangeArrowheads="1"/>
            </p:cNvSpPr>
            <p:nvPr/>
          </p:nvSpPr>
          <p:spPr bwMode="auto">
            <a:xfrm>
              <a:off x="14478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7</a:t>
              </a:r>
            </a:p>
          </p:txBody>
        </p:sp>
        <p:sp>
          <p:nvSpPr>
            <p:cNvPr id="222216" name="Rectangle 8"/>
            <p:cNvSpPr>
              <a:spLocks noChangeAspect="1" noChangeArrowheads="1"/>
            </p:cNvSpPr>
            <p:nvPr/>
          </p:nvSpPr>
          <p:spPr bwMode="auto">
            <a:xfrm>
              <a:off x="51054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16</a:t>
              </a:r>
            </a:p>
          </p:txBody>
        </p:sp>
        <p:sp>
          <p:nvSpPr>
            <p:cNvPr id="222217" name="Rectangle 9"/>
            <p:cNvSpPr>
              <a:spLocks noChangeAspect="1" noChangeArrowheads="1"/>
            </p:cNvSpPr>
            <p:nvPr/>
          </p:nvSpPr>
          <p:spPr bwMode="auto">
            <a:xfrm>
              <a:off x="55626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17</a:t>
              </a:r>
            </a:p>
          </p:txBody>
        </p:sp>
        <p:sp>
          <p:nvSpPr>
            <p:cNvPr id="222218" name="Rectangle 10"/>
            <p:cNvSpPr>
              <a:spLocks noChangeAspect="1" noChangeArrowheads="1"/>
            </p:cNvSpPr>
            <p:nvPr/>
          </p:nvSpPr>
          <p:spPr bwMode="auto">
            <a:xfrm>
              <a:off x="60198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23</a:t>
              </a:r>
            </a:p>
          </p:txBody>
        </p:sp>
        <p:sp>
          <p:nvSpPr>
            <p:cNvPr id="222219" name="Rectangle 11"/>
            <p:cNvSpPr>
              <a:spLocks noChangeAspect="1" noChangeArrowheads="1"/>
            </p:cNvSpPr>
            <p:nvPr/>
          </p:nvSpPr>
          <p:spPr bwMode="auto">
            <a:xfrm>
              <a:off x="6477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25</a:t>
              </a:r>
            </a:p>
          </p:txBody>
        </p:sp>
        <p:sp>
          <p:nvSpPr>
            <p:cNvPr id="222220" name="Rectangle 12"/>
            <p:cNvSpPr>
              <a:spLocks noChangeAspect="1" noChangeArrowheads="1"/>
            </p:cNvSpPr>
            <p:nvPr/>
          </p:nvSpPr>
          <p:spPr bwMode="auto">
            <a:xfrm>
              <a:off x="4191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222221" name="Rectangle 13"/>
            <p:cNvSpPr>
              <a:spLocks noChangeAspect="1" noChangeArrowheads="1"/>
            </p:cNvSpPr>
            <p:nvPr/>
          </p:nvSpPr>
          <p:spPr bwMode="auto">
            <a:xfrm>
              <a:off x="46482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11</a:t>
              </a:r>
            </a:p>
          </p:txBody>
        </p:sp>
        <p:sp>
          <p:nvSpPr>
            <p:cNvPr id="222225" name="Text Box 17"/>
            <p:cNvSpPr txBox="1">
              <a:spLocks noChangeArrowheads="1"/>
            </p:cNvSpPr>
            <p:nvPr/>
          </p:nvSpPr>
          <p:spPr bwMode="auto">
            <a:xfrm>
              <a:off x="7019925" y="3962400"/>
              <a:ext cx="1960563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two sorted halves</a:t>
              </a:r>
            </a:p>
          </p:txBody>
        </p:sp>
        <p:sp>
          <p:nvSpPr>
            <p:cNvPr id="222226" name="Rectangle 18"/>
            <p:cNvSpPr>
              <a:spLocks noChangeAspect="1" noChangeArrowheads="1"/>
            </p:cNvSpPr>
            <p:nvPr/>
          </p:nvSpPr>
          <p:spPr bwMode="auto">
            <a:xfrm>
              <a:off x="21336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27" name="Rectangle 19"/>
            <p:cNvSpPr>
              <a:spLocks noChangeAspect="1" noChangeArrowheads="1"/>
            </p:cNvSpPr>
            <p:nvPr/>
          </p:nvSpPr>
          <p:spPr bwMode="auto">
            <a:xfrm>
              <a:off x="25908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28" name="Rectangle 20"/>
            <p:cNvSpPr>
              <a:spLocks noChangeAspect="1" noChangeArrowheads="1"/>
            </p:cNvSpPr>
            <p:nvPr/>
          </p:nvSpPr>
          <p:spPr bwMode="auto">
            <a:xfrm>
              <a:off x="30480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29" name="Rectangle 21"/>
            <p:cNvSpPr>
              <a:spLocks noChangeAspect="1" noChangeArrowheads="1"/>
            </p:cNvSpPr>
            <p:nvPr/>
          </p:nvSpPr>
          <p:spPr bwMode="auto">
            <a:xfrm>
              <a:off x="3505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0" name="Rectangle 22"/>
            <p:cNvSpPr>
              <a:spLocks noChangeAspect="1" noChangeArrowheads="1"/>
            </p:cNvSpPr>
            <p:nvPr/>
          </p:nvSpPr>
          <p:spPr bwMode="auto">
            <a:xfrm>
              <a:off x="1219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</a:t>
              </a:r>
            </a:p>
          </p:txBody>
        </p:sp>
        <p:sp>
          <p:nvSpPr>
            <p:cNvPr id="222231" name="Rectangle 23"/>
            <p:cNvSpPr>
              <a:spLocks noChangeAspect="1" noChangeArrowheads="1"/>
            </p:cNvSpPr>
            <p:nvPr/>
          </p:nvSpPr>
          <p:spPr bwMode="auto">
            <a:xfrm>
              <a:off x="1676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2" name="Rectangle 24"/>
            <p:cNvSpPr>
              <a:spLocks noChangeAspect="1" noChangeArrowheads="1"/>
            </p:cNvSpPr>
            <p:nvPr/>
          </p:nvSpPr>
          <p:spPr bwMode="auto">
            <a:xfrm>
              <a:off x="48768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3" name="Rectangle 25"/>
            <p:cNvSpPr>
              <a:spLocks noChangeAspect="1" noChangeArrowheads="1"/>
            </p:cNvSpPr>
            <p:nvPr/>
          </p:nvSpPr>
          <p:spPr bwMode="auto">
            <a:xfrm>
              <a:off x="53340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4" name="Rectangle 26"/>
            <p:cNvSpPr>
              <a:spLocks noChangeAspect="1" noChangeArrowheads="1"/>
            </p:cNvSpPr>
            <p:nvPr/>
          </p:nvSpPr>
          <p:spPr bwMode="auto">
            <a:xfrm>
              <a:off x="5791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5" name="Rectangle 27"/>
            <p:cNvSpPr>
              <a:spLocks noChangeAspect="1" noChangeArrowheads="1"/>
            </p:cNvSpPr>
            <p:nvPr/>
          </p:nvSpPr>
          <p:spPr bwMode="auto">
            <a:xfrm>
              <a:off x="6248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6" name="Rectangle 28"/>
            <p:cNvSpPr>
              <a:spLocks noChangeAspect="1" noChangeArrowheads="1"/>
            </p:cNvSpPr>
            <p:nvPr/>
          </p:nvSpPr>
          <p:spPr bwMode="auto">
            <a:xfrm>
              <a:off x="3962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7" name="Rectangle 29"/>
            <p:cNvSpPr>
              <a:spLocks noChangeAspect="1" noChangeArrowheads="1"/>
            </p:cNvSpPr>
            <p:nvPr/>
          </p:nvSpPr>
          <p:spPr bwMode="auto">
            <a:xfrm>
              <a:off x="44196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222238" name="Text Box 30"/>
            <p:cNvSpPr txBox="1">
              <a:spLocks noChangeArrowheads="1"/>
            </p:cNvSpPr>
            <p:nvPr/>
          </p:nvSpPr>
          <p:spPr bwMode="auto">
            <a:xfrm>
              <a:off x="7010400" y="4967288"/>
              <a:ext cx="19050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auxiliary array</a:t>
              </a:r>
            </a:p>
          </p:txBody>
        </p:sp>
        <p:sp>
          <p:nvSpPr>
            <p:cNvPr id="222239" name="Line 31"/>
            <p:cNvSpPr>
              <a:spLocks noChangeShapeType="1"/>
            </p:cNvSpPr>
            <p:nvPr/>
          </p:nvSpPr>
          <p:spPr bwMode="auto">
            <a:xfrm>
              <a:off x="1216025" y="3609975"/>
              <a:ext cx="0" cy="209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 sz="2000"/>
            </a:p>
          </p:txBody>
        </p:sp>
        <p:sp>
          <p:nvSpPr>
            <p:cNvPr id="222241" name="Line 33"/>
            <p:cNvSpPr>
              <a:spLocks noChangeShapeType="1"/>
            </p:cNvSpPr>
            <p:nvPr/>
          </p:nvSpPr>
          <p:spPr bwMode="auto">
            <a:xfrm>
              <a:off x="4868863" y="3609975"/>
              <a:ext cx="0" cy="209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 sz="2000"/>
            </a:p>
          </p:txBody>
        </p:sp>
        <p:sp>
          <p:nvSpPr>
            <p:cNvPr id="222243" name="Text Box 35"/>
            <p:cNvSpPr txBox="1">
              <a:spLocks noChangeArrowheads="1"/>
            </p:cNvSpPr>
            <p:nvPr/>
          </p:nvSpPr>
          <p:spPr bwMode="auto">
            <a:xfrm>
              <a:off x="827584" y="3284984"/>
              <a:ext cx="7920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 dirty="0" err="1" smtClean="0"/>
                <a:t>i</a:t>
              </a:r>
              <a:endParaRPr kumimoji="0" lang="en-US" sz="2000" dirty="0"/>
            </a:p>
          </p:txBody>
        </p:sp>
        <p:sp>
          <p:nvSpPr>
            <p:cNvPr id="222245" name="Text Box 37"/>
            <p:cNvSpPr txBox="1">
              <a:spLocks noChangeArrowheads="1"/>
            </p:cNvSpPr>
            <p:nvPr/>
          </p:nvSpPr>
          <p:spPr bwMode="auto">
            <a:xfrm>
              <a:off x="3752850" y="5838825"/>
              <a:ext cx="3346450" cy="492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sz="2000"/>
                <a:t>Total:  6  </a:t>
              </a:r>
            </a:p>
          </p:txBody>
        </p:sp>
        <p:sp>
          <p:nvSpPr>
            <p:cNvPr id="222246" name="Text Box 38"/>
            <p:cNvSpPr txBox="1">
              <a:spLocks noChangeArrowheads="1"/>
            </p:cNvSpPr>
            <p:nvPr/>
          </p:nvSpPr>
          <p:spPr bwMode="auto">
            <a:xfrm>
              <a:off x="4283075" y="4311650"/>
              <a:ext cx="2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/>
                <a:t>6</a:t>
              </a:r>
            </a:p>
          </p:txBody>
        </p:sp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4499992" y="3284984"/>
              <a:ext cx="72008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4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85750" y="1196752"/>
            <a:ext cx="8694738" cy="5134516"/>
            <a:chOff x="285750" y="1196752"/>
            <a:chExt cx="8694738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285750" y="3257550"/>
              <a:ext cx="8694738" cy="3073718"/>
              <a:chOff x="285750" y="3257550"/>
              <a:chExt cx="8694738" cy="3073718"/>
            </a:xfrm>
          </p:grpSpPr>
          <p:sp>
            <p:nvSpPr>
              <p:cNvPr id="223234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3235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3236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3237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3238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23239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3240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324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3242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3243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3244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3245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3248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3249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0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1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2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3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3254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3255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6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7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59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6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3261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 dirty="0"/>
                  <a:t>auxiliary array</a:t>
                </a:r>
              </a:p>
            </p:txBody>
          </p:sp>
          <p:sp>
            <p:nvSpPr>
              <p:cNvPr id="223262" name="Line 30"/>
              <p:cNvSpPr>
                <a:spLocks noChangeShapeType="1"/>
              </p:cNvSpPr>
              <p:nvPr/>
            </p:nvSpPr>
            <p:spPr bwMode="auto">
              <a:xfrm>
                <a:off x="12160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3263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3264" name="Text Box 32"/>
              <p:cNvSpPr txBox="1">
                <a:spLocks noChangeArrowheads="1"/>
              </p:cNvSpPr>
              <p:nvPr/>
            </p:nvSpPr>
            <p:spPr bwMode="auto">
              <a:xfrm>
                <a:off x="2857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23266" name="Text Box 34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  </a:t>
                </a:r>
              </a:p>
            </p:txBody>
          </p:sp>
          <p:sp>
            <p:nvSpPr>
              <p:cNvPr id="223267" name="Text Box 35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</p:grpSp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392392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7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752475" y="3257550"/>
              <a:ext cx="8228013" cy="3073718"/>
              <a:chOff x="752475" y="3257550"/>
              <a:chExt cx="8228013" cy="3073718"/>
            </a:xfrm>
          </p:grpSpPr>
          <p:sp>
            <p:nvSpPr>
              <p:cNvPr id="224258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10</a:t>
                </a:r>
              </a:p>
            </p:txBody>
          </p:sp>
          <p:sp>
            <p:nvSpPr>
              <p:cNvPr id="224259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4260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4261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4262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4263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7</a:t>
                </a:r>
              </a:p>
            </p:txBody>
          </p:sp>
          <p:sp>
            <p:nvSpPr>
              <p:cNvPr id="224264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4265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4266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4267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4268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4269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4272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4273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74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75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76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77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4278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4279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0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1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3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4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4285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24286" name="Line 30"/>
              <p:cNvSpPr>
                <a:spLocks noChangeShapeType="1"/>
              </p:cNvSpPr>
              <p:nvPr/>
            </p:nvSpPr>
            <p:spPr bwMode="auto">
              <a:xfrm>
                <a:off x="168275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4287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4288" name="Text Box 32"/>
              <p:cNvSpPr txBox="1">
                <a:spLocks noChangeArrowheads="1"/>
              </p:cNvSpPr>
              <p:nvPr/>
            </p:nvSpPr>
            <p:spPr bwMode="auto">
              <a:xfrm>
                <a:off x="75247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24289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 </a:t>
                </a:r>
              </a:p>
            </p:txBody>
          </p:sp>
          <p:sp>
            <p:nvSpPr>
              <p:cNvPr id="224290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36" name="Text Box 32"/>
              <p:cNvSpPr txBox="1">
                <a:spLocks noChangeArrowheads="1"/>
              </p:cNvSpPr>
              <p:nvPr/>
            </p:nvSpPr>
            <p:spPr bwMode="auto">
              <a:xfrm>
                <a:off x="3851920" y="3284984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j</a:t>
                </a:r>
                <a:endParaRPr kumimoji="0" lang="en-US" sz="2000" dirty="0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752475" y="3257550"/>
              <a:ext cx="8228013" cy="3073718"/>
              <a:chOff x="752475" y="3257550"/>
              <a:chExt cx="8228013" cy="3073718"/>
            </a:xfrm>
          </p:grpSpPr>
          <p:sp>
            <p:nvSpPr>
              <p:cNvPr id="225282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5283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5284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5285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5286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528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225288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528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5290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5291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5292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5293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5296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5297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5298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299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0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1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5302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5303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4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5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7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8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5309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25310" name="Line 30"/>
              <p:cNvSpPr>
                <a:spLocks noChangeShapeType="1"/>
              </p:cNvSpPr>
              <p:nvPr/>
            </p:nvSpPr>
            <p:spPr bwMode="auto">
              <a:xfrm>
                <a:off x="168275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5311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5312" name="Text Box 32"/>
              <p:cNvSpPr txBox="1">
                <a:spLocks noChangeArrowheads="1"/>
              </p:cNvSpPr>
              <p:nvPr/>
            </p:nvSpPr>
            <p:spPr bwMode="auto">
              <a:xfrm>
                <a:off x="75247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25313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 </a:t>
                </a:r>
              </a:p>
            </p:txBody>
          </p:sp>
          <p:sp>
            <p:nvSpPr>
              <p:cNvPr id="225314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</p:grpSp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392392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1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26306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6307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6308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6309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6310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631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631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6313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6314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631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6316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6317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6320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6321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632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2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2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2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632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632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2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2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3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3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3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6333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26334" name="Line 30"/>
              <p:cNvSpPr>
                <a:spLocks noChangeShapeType="1"/>
              </p:cNvSpPr>
              <p:nvPr/>
            </p:nvSpPr>
            <p:spPr bwMode="auto">
              <a:xfrm>
                <a:off x="21209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6335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6336" name="Text Box 32"/>
              <p:cNvSpPr txBox="1">
                <a:spLocks noChangeArrowheads="1"/>
              </p:cNvSpPr>
              <p:nvPr/>
            </p:nvSpPr>
            <p:spPr bwMode="auto">
              <a:xfrm>
                <a:off x="11906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26337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 </a:t>
                </a:r>
              </a:p>
            </p:txBody>
          </p:sp>
          <p:sp>
            <p:nvSpPr>
              <p:cNvPr id="226338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</p:grpSp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392392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4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990600" y="3212976"/>
              <a:ext cx="7989888" cy="3118292"/>
              <a:chOff x="990600" y="3212976"/>
              <a:chExt cx="7989888" cy="3118292"/>
            </a:xfrm>
          </p:grpSpPr>
          <p:sp>
            <p:nvSpPr>
              <p:cNvPr id="227330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10</a:t>
                </a:r>
              </a:p>
            </p:txBody>
          </p:sp>
          <p:sp>
            <p:nvSpPr>
              <p:cNvPr id="227331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7332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7333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7334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7335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7336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7337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7338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733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7340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734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7344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734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734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7347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48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4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735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7351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2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3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5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6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7357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27358" name="Line 30"/>
              <p:cNvSpPr>
                <a:spLocks noChangeShapeType="1"/>
              </p:cNvSpPr>
              <p:nvPr/>
            </p:nvSpPr>
            <p:spPr bwMode="auto">
              <a:xfrm>
                <a:off x="21209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7359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7360" name="Text Box 32"/>
              <p:cNvSpPr txBox="1">
                <a:spLocks noChangeArrowheads="1"/>
              </p:cNvSpPr>
              <p:nvPr/>
            </p:nvSpPr>
            <p:spPr bwMode="auto">
              <a:xfrm>
                <a:off x="11906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27361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</a:t>
                </a:r>
              </a:p>
            </p:txBody>
          </p:sp>
          <p:sp>
            <p:nvSpPr>
              <p:cNvPr id="227362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36" name="Text Box 139"/>
              <p:cNvSpPr txBox="1">
                <a:spLocks noChangeArrowheads="1"/>
              </p:cNvSpPr>
              <p:nvPr/>
            </p:nvSpPr>
            <p:spPr bwMode="auto">
              <a:xfrm>
                <a:off x="3923928" y="3212976"/>
                <a:ext cx="1885718" cy="4066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j</a:t>
                </a:r>
                <a:endParaRPr kumimoji="0" lang="en-US" sz="2000" dirty="0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6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28354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8355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28356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28357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28358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8359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8360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2836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28362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28363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28364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28365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28368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28369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28370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28371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2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3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28374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28375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6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7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79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8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28381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28382" name="Line 30"/>
              <p:cNvSpPr>
                <a:spLocks noChangeShapeType="1"/>
              </p:cNvSpPr>
              <p:nvPr/>
            </p:nvSpPr>
            <p:spPr bwMode="auto">
              <a:xfrm>
                <a:off x="25876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8383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28384" name="Text Box 32"/>
              <p:cNvSpPr txBox="1">
                <a:spLocks noChangeArrowheads="1"/>
              </p:cNvSpPr>
              <p:nvPr/>
            </p:nvSpPr>
            <p:spPr bwMode="auto">
              <a:xfrm>
                <a:off x="16573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28385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</a:t>
                </a:r>
              </a:p>
            </p:txBody>
          </p:sp>
          <p:sp>
            <p:nvSpPr>
              <p:cNvPr id="228386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</p:grpSp>
        <p:sp>
          <p:nvSpPr>
            <p:cNvPr id="37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6" name="Text Box 139"/>
            <p:cNvSpPr txBox="1">
              <a:spLocks noChangeArrowheads="1"/>
            </p:cNvSpPr>
            <p:nvPr/>
          </p:nvSpPr>
          <p:spPr bwMode="auto">
            <a:xfrm>
              <a:off x="392392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1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0402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0403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0404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0405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0406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040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0408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040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0410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0411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0412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0413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11</a:t>
                </a:r>
              </a:p>
            </p:txBody>
          </p:sp>
          <p:sp>
            <p:nvSpPr>
              <p:cNvPr id="230416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0417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0418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0419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0420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1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0422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0423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4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5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7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8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0429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0430" name="Line 30"/>
              <p:cNvSpPr>
                <a:spLocks noChangeShapeType="1"/>
              </p:cNvSpPr>
              <p:nvPr/>
            </p:nvSpPr>
            <p:spPr bwMode="auto">
              <a:xfrm>
                <a:off x="25876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0431" name="Line 31"/>
              <p:cNvSpPr>
                <a:spLocks noChangeShapeType="1"/>
              </p:cNvSpPr>
              <p:nvPr/>
            </p:nvSpPr>
            <p:spPr bwMode="auto">
              <a:xfrm>
                <a:off x="48688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0432" name="Text Box 32"/>
              <p:cNvSpPr txBox="1">
                <a:spLocks noChangeArrowheads="1"/>
              </p:cNvSpPr>
              <p:nvPr/>
            </p:nvSpPr>
            <p:spPr bwMode="auto">
              <a:xfrm>
                <a:off x="16573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30433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</a:t>
                </a:r>
              </a:p>
            </p:txBody>
          </p:sp>
          <p:sp>
            <p:nvSpPr>
              <p:cNvPr id="230434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0435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</p:grpSp>
        <p:sp>
          <p:nvSpPr>
            <p:cNvPr id="38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7" name="Text Box 139"/>
            <p:cNvSpPr txBox="1">
              <a:spLocks noChangeArrowheads="1"/>
            </p:cNvSpPr>
            <p:nvPr/>
          </p:nvSpPr>
          <p:spPr bwMode="auto">
            <a:xfrm>
              <a:off x="392392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3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1426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1427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1428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1429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1430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143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143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1433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17</a:t>
                </a:r>
              </a:p>
            </p:txBody>
          </p:sp>
          <p:sp>
            <p:nvSpPr>
              <p:cNvPr id="231434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143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1436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1437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1440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1441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144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144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144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4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144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144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4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4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5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5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5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1453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1454" name="Line 30"/>
              <p:cNvSpPr>
                <a:spLocks noChangeShapeType="1"/>
              </p:cNvSpPr>
              <p:nvPr/>
            </p:nvSpPr>
            <p:spPr bwMode="auto">
              <a:xfrm>
                <a:off x="25876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1455" name="Line 31"/>
              <p:cNvSpPr>
                <a:spLocks noChangeShapeType="1"/>
              </p:cNvSpPr>
              <p:nvPr/>
            </p:nvSpPr>
            <p:spPr bwMode="auto">
              <a:xfrm>
                <a:off x="53260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1456" name="Text Box 32"/>
              <p:cNvSpPr txBox="1">
                <a:spLocks noChangeArrowheads="1"/>
              </p:cNvSpPr>
              <p:nvPr/>
            </p:nvSpPr>
            <p:spPr bwMode="auto">
              <a:xfrm>
                <a:off x="16573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31458" name="Text Box 34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</a:t>
                </a:r>
              </a:p>
            </p:txBody>
          </p:sp>
          <p:sp>
            <p:nvSpPr>
              <p:cNvPr id="231459" name="Text Box 35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1460" name="Text Box 36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</p:grpSp>
        <p:sp>
          <p:nvSpPr>
            <p:cNvPr id="38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7" name="Text Box 139"/>
            <p:cNvSpPr txBox="1">
              <a:spLocks noChangeArrowheads="1"/>
            </p:cNvSpPr>
            <p:nvPr/>
          </p:nvSpPr>
          <p:spPr bwMode="auto">
            <a:xfrm>
              <a:off x="4427984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6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2450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2451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>
                    <a:solidFill>
                      <a:schemeClr val="bg1"/>
                    </a:solidFill>
                  </a:rPr>
                  <a:t>14</a:t>
                </a:r>
              </a:p>
            </p:txBody>
          </p:sp>
          <p:sp>
            <p:nvSpPr>
              <p:cNvPr id="232452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2453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2454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2455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2456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2457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2458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245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2460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246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2464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246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246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2467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2468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246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247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2471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2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3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5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6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2477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2478" name="Line 30"/>
              <p:cNvSpPr>
                <a:spLocks noChangeShapeType="1"/>
              </p:cNvSpPr>
              <p:nvPr/>
            </p:nvSpPr>
            <p:spPr bwMode="auto">
              <a:xfrm>
                <a:off x="25876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2479" name="Line 31"/>
              <p:cNvSpPr>
                <a:spLocks noChangeShapeType="1"/>
              </p:cNvSpPr>
              <p:nvPr/>
            </p:nvSpPr>
            <p:spPr bwMode="auto">
              <a:xfrm>
                <a:off x="53260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2480" name="Text Box 32"/>
              <p:cNvSpPr txBox="1">
                <a:spLocks noChangeArrowheads="1"/>
              </p:cNvSpPr>
              <p:nvPr/>
            </p:nvSpPr>
            <p:spPr bwMode="auto">
              <a:xfrm>
                <a:off x="16573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32481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</a:t>
                </a:r>
              </a:p>
            </p:txBody>
          </p:sp>
          <p:sp>
            <p:nvSpPr>
              <p:cNvPr id="232482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2483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</p:grpSp>
        <p:sp>
          <p:nvSpPr>
            <p:cNvPr id="38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7" name="Text Box 139"/>
            <p:cNvSpPr txBox="1">
              <a:spLocks noChangeArrowheads="1"/>
            </p:cNvSpPr>
            <p:nvPr/>
          </p:nvSpPr>
          <p:spPr bwMode="auto">
            <a:xfrm>
              <a:off x="4427984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8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3474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75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76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3477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3478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79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80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348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3482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3483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3484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85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3488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3489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3490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3491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3492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3493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3494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3495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496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497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49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499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50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3501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3502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3503" name="Line 31"/>
              <p:cNvSpPr>
                <a:spLocks noChangeShapeType="1"/>
              </p:cNvSpPr>
              <p:nvPr/>
            </p:nvSpPr>
            <p:spPr bwMode="auto">
              <a:xfrm>
                <a:off x="53260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3504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33505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</a:t>
                </a:r>
              </a:p>
            </p:txBody>
          </p:sp>
          <p:sp>
            <p:nvSpPr>
              <p:cNvPr id="233506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3507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</p:grpSp>
        <p:sp>
          <p:nvSpPr>
            <p:cNvPr id="38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7" name="Text Box 139"/>
            <p:cNvSpPr txBox="1">
              <a:spLocks noChangeArrowheads="1"/>
            </p:cNvSpPr>
            <p:nvPr/>
          </p:nvSpPr>
          <p:spPr bwMode="auto">
            <a:xfrm>
              <a:off x="4427984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1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sp>
        <p:nvSpPr>
          <p:cNvPr id="234512" name="Text Box 16"/>
          <p:cNvSpPr txBox="1">
            <a:spLocks noChangeArrowheads="1"/>
          </p:cNvSpPr>
          <p:nvPr/>
        </p:nvSpPr>
        <p:spPr bwMode="auto">
          <a:xfrm>
            <a:off x="7019925" y="3962400"/>
            <a:ext cx="19605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400"/>
              <a:t>two sorted halves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591872" cy="5134516"/>
            <a:chOff x="323528" y="1196752"/>
            <a:chExt cx="8591872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24800" cy="3073718"/>
              <a:chOff x="990600" y="3257550"/>
              <a:chExt cx="7924800" cy="3073718"/>
            </a:xfrm>
          </p:grpSpPr>
          <p:sp>
            <p:nvSpPr>
              <p:cNvPr id="234498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499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0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4501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4502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3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4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16</a:t>
                </a:r>
              </a:p>
            </p:txBody>
          </p:sp>
          <p:sp>
            <p:nvSpPr>
              <p:cNvPr id="234505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4506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4507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4508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9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13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4514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4515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4516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4517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4518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4519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0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1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3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4524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5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4526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4527" name="Line 31"/>
              <p:cNvSpPr>
                <a:spLocks noChangeShapeType="1"/>
              </p:cNvSpPr>
              <p:nvPr/>
            </p:nvSpPr>
            <p:spPr bwMode="auto">
              <a:xfrm>
                <a:off x="53260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4528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34529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</a:t>
                </a:r>
              </a:p>
            </p:txBody>
          </p:sp>
          <p:sp>
            <p:nvSpPr>
              <p:cNvPr id="234530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4531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34532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</p:grpSp>
        <p:sp>
          <p:nvSpPr>
            <p:cNvPr id="39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8" name="Text Box 139"/>
            <p:cNvSpPr txBox="1">
              <a:spLocks noChangeArrowheads="1"/>
            </p:cNvSpPr>
            <p:nvPr/>
          </p:nvSpPr>
          <p:spPr bwMode="auto">
            <a:xfrm>
              <a:off x="4427984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51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5" name="Group 4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4512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4498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499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0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4501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4502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3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5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4506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4507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4508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09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4513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4514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10</a:t>
                </a:r>
              </a:p>
            </p:txBody>
          </p:sp>
          <p:sp>
            <p:nvSpPr>
              <p:cNvPr id="234515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4516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4517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4518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4519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0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1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2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3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4524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4525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4526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4527" name="Line 31"/>
              <p:cNvSpPr>
                <a:spLocks noChangeShapeType="1"/>
              </p:cNvSpPr>
              <p:nvPr/>
            </p:nvSpPr>
            <p:spPr bwMode="auto">
              <a:xfrm>
                <a:off x="5724128" y="3645024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4528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 dirty="0" err="1" smtClean="0"/>
                  <a:t>i</a:t>
                </a:r>
                <a:endParaRPr kumimoji="0" lang="en-US" sz="2000" dirty="0"/>
              </a:p>
            </p:txBody>
          </p:sp>
          <p:sp>
            <p:nvSpPr>
              <p:cNvPr id="234529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</a:t>
                </a:r>
              </a:p>
            </p:txBody>
          </p:sp>
          <p:sp>
            <p:nvSpPr>
              <p:cNvPr id="234530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4531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34532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38" name="Text Box 139"/>
              <p:cNvSpPr txBox="1">
                <a:spLocks noChangeArrowheads="1"/>
              </p:cNvSpPr>
              <p:nvPr/>
            </p:nvSpPr>
            <p:spPr bwMode="auto">
              <a:xfrm>
                <a:off x="5292080" y="3284984"/>
                <a:ext cx="79208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j</a:t>
                </a:r>
                <a:endParaRPr kumimoji="0" lang="en-US" sz="2000" dirty="0"/>
              </a:p>
            </p:txBody>
          </p:sp>
          <p:sp>
            <p:nvSpPr>
              <p:cNvPr id="4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5076056" y="3933056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</p:grpSp>
        <p:sp>
          <p:nvSpPr>
            <p:cNvPr id="44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311355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5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36546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47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48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6549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6550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5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5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53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>
                    <a:solidFill>
                      <a:schemeClr val="bg1"/>
                    </a:solidFill>
                  </a:rPr>
                  <a:t>17</a:t>
                </a:r>
              </a:p>
            </p:txBody>
          </p:sp>
          <p:sp>
            <p:nvSpPr>
              <p:cNvPr id="236554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655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6556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57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6560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6561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656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656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656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656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656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656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656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656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657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657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657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6573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6574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6575" name="Line 31"/>
              <p:cNvSpPr>
                <a:spLocks noChangeShapeType="1"/>
              </p:cNvSpPr>
              <p:nvPr/>
            </p:nvSpPr>
            <p:spPr bwMode="auto">
              <a:xfrm>
                <a:off x="57832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6576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36577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236578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6579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36580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36581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</p:grpSp>
        <p:sp>
          <p:nvSpPr>
            <p:cNvPr id="40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9" name="Text Box 139"/>
            <p:cNvSpPr txBox="1">
              <a:spLocks noChangeArrowheads="1"/>
            </p:cNvSpPr>
            <p:nvPr/>
          </p:nvSpPr>
          <p:spPr bwMode="auto">
            <a:xfrm>
              <a:off x="4860032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8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237584" name="Text Box 16"/>
            <p:cNvSpPr txBox="1">
              <a:spLocks noChangeArrowheads="1"/>
            </p:cNvSpPr>
            <p:nvPr/>
          </p:nvSpPr>
          <p:spPr bwMode="auto">
            <a:xfrm>
              <a:off x="7019925" y="3962400"/>
              <a:ext cx="1960563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two sorted halves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24800" cy="3073718"/>
              <a:chOff x="990600" y="3257550"/>
              <a:chExt cx="7924800" cy="3073718"/>
            </a:xfrm>
          </p:grpSpPr>
          <p:sp>
            <p:nvSpPr>
              <p:cNvPr id="237570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7571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7572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37573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37574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7575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7576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7577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37578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3757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37580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758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758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3758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37587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37588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3758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3759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37591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7592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7593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759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37595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37596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chemeClr val="tx2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37597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7598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7599" name="Line 31"/>
              <p:cNvSpPr>
                <a:spLocks noChangeShapeType="1"/>
              </p:cNvSpPr>
              <p:nvPr/>
            </p:nvSpPr>
            <p:spPr bwMode="auto">
              <a:xfrm>
                <a:off x="62404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7600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37601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237602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7603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37604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37605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</p:grpSp>
        <p:sp>
          <p:nvSpPr>
            <p:cNvPr id="40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41" name="Rectangle 2"/>
            <p:cNvSpPr>
              <a:spLocks noChangeAspect="1" noChangeArrowheads="1"/>
            </p:cNvSpPr>
            <p:nvPr/>
          </p:nvSpPr>
          <p:spPr bwMode="auto">
            <a:xfrm>
              <a:off x="1905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42" name="Rectangle 3"/>
            <p:cNvSpPr>
              <a:spLocks noChangeAspect="1" noChangeArrowheads="1"/>
            </p:cNvSpPr>
            <p:nvPr/>
          </p:nvSpPr>
          <p:spPr bwMode="auto">
            <a:xfrm>
              <a:off x="23622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43" name="Rectangle 4"/>
            <p:cNvSpPr>
              <a:spLocks noChangeAspect="1" noChangeArrowheads="1"/>
            </p:cNvSpPr>
            <p:nvPr/>
          </p:nvSpPr>
          <p:spPr bwMode="auto">
            <a:xfrm>
              <a:off x="28194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18</a:t>
              </a:r>
            </a:p>
          </p:txBody>
        </p:sp>
        <p:sp>
          <p:nvSpPr>
            <p:cNvPr id="44" name="Rectangle 5"/>
            <p:cNvSpPr>
              <a:spLocks noChangeAspect="1" noChangeArrowheads="1"/>
            </p:cNvSpPr>
            <p:nvPr/>
          </p:nvSpPr>
          <p:spPr bwMode="auto">
            <a:xfrm>
              <a:off x="32766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19</a:t>
              </a:r>
            </a:p>
          </p:txBody>
        </p:sp>
        <p:sp>
          <p:nvSpPr>
            <p:cNvPr id="45" name="Rectangle 6"/>
            <p:cNvSpPr>
              <a:spLocks noChangeAspect="1" noChangeArrowheads="1"/>
            </p:cNvSpPr>
            <p:nvPr/>
          </p:nvSpPr>
          <p:spPr bwMode="auto">
            <a:xfrm>
              <a:off x="9906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46" name="Rectangle 7"/>
            <p:cNvSpPr>
              <a:spLocks noChangeAspect="1" noChangeArrowheads="1"/>
            </p:cNvSpPr>
            <p:nvPr/>
          </p:nvSpPr>
          <p:spPr bwMode="auto">
            <a:xfrm>
              <a:off x="14478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47" name="Rectangle 8"/>
            <p:cNvSpPr>
              <a:spLocks noChangeAspect="1" noChangeArrowheads="1"/>
            </p:cNvSpPr>
            <p:nvPr/>
          </p:nvSpPr>
          <p:spPr bwMode="auto">
            <a:xfrm>
              <a:off x="51054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49" name="Rectangle 10"/>
            <p:cNvSpPr>
              <a:spLocks noChangeAspect="1" noChangeArrowheads="1"/>
            </p:cNvSpPr>
            <p:nvPr/>
          </p:nvSpPr>
          <p:spPr bwMode="auto">
            <a:xfrm>
              <a:off x="60198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 dirty="0"/>
                <a:t>23</a:t>
              </a:r>
            </a:p>
          </p:txBody>
        </p:sp>
        <p:sp>
          <p:nvSpPr>
            <p:cNvPr id="50" name="Rectangle 11"/>
            <p:cNvSpPr>
              <a:spLocks noChangeAspect="1" noChangeArrowheads="1"/>
            </p:cNvSpPr>
            <p:nvPr/>
          </p:nvSpPr>
          <p:spPr bwMode="auto">
            <a:xfrm>
              <a:off x="6477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25</a:t>
              </a:r>
            </a:p>
          </p:txBody>
        </p:sp>
        <p:sp>
          <p:nvSpPr>
            <p:cNvPr id="51" name="Rectangle 12"/>
            <p:cNvSpPr>
              <a:spLocks noChangeAspect="1" noChangeArrowheads="1"/>
            </p:cNvSpPr>
            <p:nvPr/>
          </p:nvSpPr>
          <p:spPr bwMode="auto">
            <a:xfrm>
              <a:off x="41910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52" name="Rectangle 13"/>
            <p:cNvSpPr>
              <a:spLocks noChangeAspect="1" noChangeArrowheads="1"/>
            </p:cNvSpPr>
            <p:nvPr/>
          </p:nvSpPr>
          <p:spPr bwMode="auto">
            <a:xfrm>
              <a:off x="4648200" y="39290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 dirty="0"/>
            </a:p>
          </p:txBody>
        </p:sp>
        <p:sp>
          <p:nvSpPr>
            <p:cNvPr id="53" name="Text Box 16"/>
            <p:cNvSpPr txBox="1">
              <a:spLocks noChangeArrowheads="1"/>
            </p:cNvSpPr>
            <p:nvPr/>
          </p:nvSpPr>
          <p:spPr bwMode="auto">
            <a:xfrm>
              <a:off x="7019925" y="3962400"/>
              <a:ext cx="1960563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two sorted halves</a:t>
              </a:r>
            </a:p>
          </p:txBody>
        </p:sp>
        <p:sp>
          <p:nvSpPr>
            <p:cNvPr id="54" name="Rectangle 17"/>
            <p:cNvSpPr>
              <a:spLocks noChangeAspect="1" noChangeArrowheads="1"/>
            </p:cNvSpPr>
            <p:nvPr/>
          </p:nvSpPr>
          <p:spPr bwMode="auto">
            <a:xfrm>
              <a:off x="21336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7</a:t>
              </a:r>
            </a:p>
          </p:txBody>
        </p:sp>
        <p:sp>
          <p:nvSpPr>
            <p:cNvPr id="55" name="Rectangle 18"/>
            <p:cNvSpPr>
              <a:spLocks noChangeAspect="1" noChangeArrowheads="1"/>
            </p:cNvSpPr>
            <p:nvPr/>
          </p:nvSpPr>
          <p:spPr bwMode="auto">
            <a:xfrm>
              <a:off x="25908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10</a:t>
              </a:r>
            </a:p>
          </p:txBody>
        </p:sp>
        <p:sp>
          <p:nvSpPr>
            <p:cNvPr id="56" name="Rectangle 19"/>
            <p:cNvSpPr>
              <a:spLocks noChangeAspect="1" noChangeArrowheads="1"/>
            </p:cNvSpPr>
            <p:nvPr/>
          </p:nvSpPr>
          <p:spPr bwMode="auto">
            <a:xfrm>
              <a:off x="30480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11</a:t>
              </a:r>
            </a:p>
          </p:txBody>
        </p:sp>
        <p:sp>
          <p:nvSpPr>
            <p:cNvPr id="57" name="Rectangle 20"/>
            <p:cNvSpPr>
              <a:spLocks noChangeAspect="1" noChangeArrowheads="1"/>
            </p:cNvSpPr>
            <p:nvPr/>
          </p:nvSpPr>
          <p:spPr bwMode="auto">
            <a:xfrm>
              <a:off x="3505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14</a:t>
              </a:r>
            </a:p>
          </p:txBody>
        </p:sp>
        <p:sp>
          <p:nvSpPr>
            <p:cNvPr id="58" name="Rectangle 21"/>
            <p:cNvSpPr>
              <a:spLocks noChangeAspect="1" noChangeArrowheads="1"/>
            </p:cNvSpPr>
            <p:nvPr/>
          </p:nvSpPr>
          <p:spPr bwMode="auto">
            <a:xfrm>
              <a:off x="1219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2</a:t>
              </a:r>
            </a:p>
          </p:txBody>
        </p:sp>
        <p:sp>
          <p:nvSpPr>
            <p:cNvPr id="59" name="Rectangle 22"/>
            <p:cNvSpPr>
              <a:spLocks noChangeAspect="1" noChangeArrowheads="1"/>
            </p:cNvSpPr>
            <p:nvPr/>
          </p:nvSpPr>
          <p:spPr bwMode="auto">
            <a:xfrm>
              <a:off x="1676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3</a:t>
              </a:r>
            </a:p>
          </p:txBody>
        </p:sp>
        <p:sp>
          <p:nvSpPr>
            <p:cNvPr id="60" name="Rectangle 23"/>
            <p:cNvSpPr>
              <a:spLocks noChangeAspect="1" noChangeArrowheads="1"/>
            </p:cNvSpPr>
            <p:nvPr/>
          </p:nvSpPr>
          <p:spPr bwMode="auto">
            <a:xfrm>
              <a:off x="48768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61" name="Rectangle 24"/>
            <p:cNvSpPr>
              <a:spLocks noChangeAspect="1" noChangeArrowheads="1"/>
            </p:cNvSpPr>
            <p:nvPr/>
          </p:nvSpPr>
          <p:spPr bwMode="auto">
            <a:xfrm>
              <a:off x="53340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62" name="Rectangle 25"/>
            <p:cNvSpPr>
              <a:spLocks noChangeAspect="1" noChangeArrowheads="1"/>
            </p:cNvSpPr>
            <p:nvPr/>
          </p:nvSpPr>
          <p:spPr bwMode="auto">
            <a:xfrm>
              <a:off x="57912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63" name="Rectangle 26"/>
            <p:cNvSpPr>
              <a:spLocks noChangeAspect="1" noChangeArrowheads="1"/>
            </p:cNvSpPr>
            <p:nvPr/>
          </p:nvSpPr>
          <p:spPr bwMode="auto">
            <a:xfrm>
              <a:off x="6248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kumimoji="0" lang="en-US" sz="2000"/>
            </a:p>
          </p:txBody>
        </p:sp>
        <p:sp>
          <p:nvSpPr>
            <p:cNvPr id="64" name="Rectangle 27"/>
            <p:cNvSpPr>
              <a:spLocks noChangeAspect="1" noChangeArrowheads="1"/>
            </p:cNvSpPr>
            <p:nvPr/>
          </p:nvSpPr>
          <p:spPr bwMode="auto">
            <a:xfrm>
              <a:off x="39624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16</a:t>
              </a:r>
            </a:p>
          </p:txBody>
        </p:sp>
        <p:sp>
          <p:nvSpPr>
            <p:cNvPr id="65" name="Rectangle 28"/>
            <p:cNvSpPr>
              <a:spLocks noChangeAspect="1" noChangeArrowheads="1"/>
            </p:cNvSpPr>
            <p:nvPr/>
          </p:nvSpPr>
          <p:spPr bwMode="auto">
            <a:xfrm>
              <a:off x="4419600" y="4919663"/>
              <a:ext cx="457200" cy="4143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kumimoji="0" lang="en-US" sz="2000"/>
                <a:t>17</a:t>
              </a:r>
            </a:p>
          </p:txBody>
        </p:sp>
        <p:sp>
          <p:nvSpPr>
            <p:cNvPr id="66" name="Text Box 29"/>
            <p:cNvSpPr txBox="1">
              <a:spLocks noChangeArrowheads="1"/>
            </p:cNvSpPr>
            <p:nvPr/>
          </p:nvSpPr>
          <p:spPr bwMode="auto">
            <a:xfrm>
              <a:off x="7010400" y="4967288"/>
              <a:ext cx="1905000" cy="339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1400"/>
                <a:t>auxiliary array</a:t>
              </a:r>
            </a:p>
          </p:txBody>
        </p:sp>
        <p:sp>
          <p:nvSpPr>
            <p:cNvPr id="67" name="Line 30"/>
            <p:cNvSpPr>
              <a:spLocks noChangeShapeType="1"/>
            </p:cNvSpPr>
            <p:nvPr/>
          </p:nvSpPr>
          <p:spPr bwMode="auto">
            <a:xfrm>
              <a:off x="3035300" y="3609975"/>
              <a:ext cx="0" cy="2095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 sz="2000"/>
            </a:p>
          </p:txBody>
        </p:sp>
        <p:sp>
          <p:nvSpPr>
            <p:cNvPr id="70" name="Text Box 33"/>
            <p:cNvSpPr txBox="1">
              <a:spLocks noChangeArrowheads="1"/>
            </p:cNvSpPr>
            <p:nvPr/>
          </p:nvSpPr>
          <p:spPr bwMode="auto">
            <a:xfrm>
              <a:off x="3752850" y="5838825"/>
              <a:ext cx="3346450" cy="49244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91440" bIns="9144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sz="2000"/>
                <a:t>Total:  6 + 3 + 2 + 2</a:t>
              </a:r>
            </a:p>
          </p:txBody>
        </p:sp>
        <p:sp>
          <p:nvSpPr>
            <p:cNvPr id="71" name="Text Box 34"/>
            <p:cNvSpPr txBox="1">
              <a:spLocks noChangeArrowheads="1"/>
            </p:cNvSpPr>
            <p:nvPr/>
          </p:nvSpPr>
          <p:spPr bwMode="auto">
            <a:xfrm>
              <a:off x="4283075" y="4311650"/>
              <a:ext cx="2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/>
                <a:t>6</a:t>
              </a:r>
            </a:p>
          </p:txBody>
        </p:sp>
        <p:sp>
          <p:nvSpPr>
            <p:cNvPr id="72" name="Text Box 35"/>
            <p:cNvSpPr txBox="1">
              <a:spLocks noChangeArrowheads="1"/>
            </p:cNvSpPr>
            <p:nvPr/>
          </p:nvSpPr>
          <p:spPr bwMode="auto">
            <a:xfrm>
              <a:off x="4730750" y="4311650"/>
              <a:ext cx="2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/>
                <a:t>3</a:t>
              </a:r>
            </a:p>
          </p:txBody>
        </p:sp>
        <p:sp>
          <p:nvSpPr>
            <p:cNvPr id="73" name="Text Box 36"/>
            <p:cNvSpPr txBox="1">
              <a:spLocks noChangeArrowheads="1"/>
            </p:cNvSpPr>
            <p:nvPr/>
          </p:nvSpPr>
          <p:spPr bwMode="auto">
            <a:xfrm>
              <a:off x="5187950" y="4311650"/>
              <a:ext cx="2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/>
                <a:t>2</a:t>
              </a:r>
            </a:p>
          </p:txBody>
        </p:sp>
        <p:sp>
          <p:nvSpPr>
            <p:cNvPr id="74" name="Text Box 37"/>
            <p:cNvSpPr txBox="1">
              <a:spLocks noChangeArrowheads="1"/>
            </p:cNvSpPr>
            <p:nvPr/>
          </p:nvSpPr>
          <p:spPr bwMode="auto">
            <a:xfrm>
              <a:off x="5673725" y="4311650"/>
              <a:ext cx="271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0" lang="en-US" sz="2000"/>
                <a:t>2</a:t>
              </a:r>
            </a:p>
          </p:txBody>
        </p:sp>
        <p:sp>
          <p:nvSpPr>
            <p:cNvPr id="75" name="Text Box 139"/>
            <p:cNvSpPr txBox="1">
              <a:spLocks noChangeArrowheads="1"/>
            </p:cNvSpPr>
            <p:nvPr/>
          </p:nvSpPr>
          <p:spPr bwMode="auto">
            <a:xfrm>
              <a:off x="536408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0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40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108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09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10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>
                    <a:solidFill>
                      <a:srgbClr val="FFFFFF"/>
                    </a:solidFill>
                  </a:rPr>
                  <a:t>18</a:t>
                </a:r>
              </a:p>
            </p:txBody>
          </p:sp>
          <p:sp>
            <p:nvSpPr>
              <p:cNvPr id="111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112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13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14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15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117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118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19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120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121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12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12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12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12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12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12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 smtClean="0"/>
                  <a:t>18</a:t>
                </a:r>
                <a:endParaRPr kumimoji="0" lang="en-US" sz="2000" dirty="0"/>
              </a:p>
            </p:txBody>
          </p:sp>
          <p:sp>
            <p:nvSpPr>
              <p:cNvPr id="12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12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13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13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13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133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134" name="Line 30"/>
              <p:cNvSpPr>
                <a:spLocks noChangeShapeType="1"/>
              </p:cNvSpPr>
              <p:nvPr/>
            </p:nvSpPr>
            <p:spPr bwMode="auto">
              <a:xfrm>
                <a:off x="3035300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135" name="Line 31"/>
              <p:cNvSpPr>
                <a:spLocks noChangeShapeType="1"/>
              </p:cNvSpPr>
              <p:nvPr/>
            </p:nvSpPr>
            <p:spPr bwMode="auto">
              <a:xfrm>
                <a:off x="6300192" y="3645024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136" name="Text Box 32"/>
              <p:cNvSpPr txBox="1">
                <a:spLocks noChangeArrowheads="1"/>
              </p:cNvSpPr>
              <p:nvPr/>
            </p:nvSpPr>
            <p:spPr bwMode="auto">
              <a:xfrm>
                <a:off x="2105025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137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138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139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140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141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39" name="Text Box 32"/>
              <p:cNvSpPr txBox="1">
                <a:spLocks noChangeArrowheads="1"/>
              </p:cNvSpPr>
              <p:nvPr/>
            </p:nvSpPr>
            <p:spPr bwMode="auto">
              <a:xfrm>
                <a:off x="5292080" y="3284984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/>
                  <a:t>j</a:t>
                </a:r>
                <a:endParaRPr kumimoji="0" lang="en-US" sz="2000" dirty="0"/>
              </a:p>
            </p:txBody>
          </p: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3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sp>
        <p:nvSpPr>
          <p:cNvPr id="239648" name="Text Box 32"/>
          <p:cNvSpPr txBox="1">
            <a:spLocks noChangeArrowheads="1"/>
          </p:cNvSpPr>
          <p:nvPr/>
        </p:nvSpPr>
        <p:spPr bwMode="auto">
          <a:xfrm>
            <a:off x="2571750" y="3257550"/>
            <a:ext cx="1905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err="1"/>
              <a:t>i</a:t>
            </a:r>
            <a:endParaRPr kumimoji="0" lang="en-US" sz="2000" dirty="0"/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40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90600" y="3609975"/>
              <a:ext cx="7989888" cy="2721293"/>
              <a:chOff x="990600" y="3609975"/>
              <a:chExt cx="7989888" cy="2721293"/>
            </a:xfrm>
          </p:grpSpPr>
          <p:sp>
            <p:nvSpPr>
              <p:cNvPr id="239632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39645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39646" name="Line 30"/>
              <p:cNvSpPr>
                <a:spLocks noChangeShapeType="1"/>
              </p:cNvSpPr>
              <p:nvPr/>
            </p:nvSpPr>
            <p:spPr bwMode="auto">
              <a:xfrm>
                <a:off x="35020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9647" name="Line 31"/>
              <p:cNvSpPr>
                <a:spLocks noChangeShapeType="1"/>
              </p:cNvSpPr>
              <p:nvPr/>
            </p:nvSpPr>
            <p:spPr bwMode="auto">
              <a:xfrm>
                <a:off x="62404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39649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239650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39651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39652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39653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39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1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2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3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44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5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6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7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4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50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2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53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54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55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56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57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58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 smtClean="0"/>
                  <a:t>18</a:t>
                </a:r>
                <a:endParaRPr kumimoji="0" lang="en-US" sz="2000" dirty="0"/>
              </a:p>
            </p:txBody>
          </p:sp>
          <p:sp>
            <p:nvSpPr>
              <p:cNvPr id="59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60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61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62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63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</p:grpSp>
        <p:sp>
          <p:nvSpPr>
            <p:cNvPr id="64" name="Text Box 139"/>
            <p:cNvSpPr txBox="1">
              <a:spLocks noChangeArrowheads="1"/>
            </p:cNvSpPr>
            <p:nvPr/>
          </p:nvSpPr>
          <p:spPr bwMode="auto">
            <a:xfrm>
              <a:off x="536408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5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40642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3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4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5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>
                    <a:solidFill>
                      <a:schemeClr val="bg1"/>
                    </a:solidFill>
                  </a:rPr>
                  <a:t>19</a:t>
                </a:r>
              </a:p>
            </p:txBody>
          </p:sp>
          <p:sp>
            <p:nvSpPr>
              <p:cNvPr id="240646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8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4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50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40651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40652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53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0656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40657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40658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40659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40660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40661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40662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40663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40664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40665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066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0667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40668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40669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40670" name="Line 30"/>
              <p:cNvSpPr>
                <a:spLocks noChangeShapeType="1"/>
              </p:cNvSpPr>
              <p:nvPr/>
            </p:nvSpPr>
            <p:spPr bwMode="auto">
              <a:xfrm>
                <a:off x="35020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0671" name="Line 31"/>
              <p:cNvSpPr>
                <a:spLocks noChangeShapeType="1"/>
              </p:cNvSpPr>
              <p:nvPr/>
            </p:nvSpPr>
            <p:spPr bwMode="auto">
              <a:xfrm>
                <a:off x="62404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0672" name="Text Box 32"/>
              <p:cNvSpPr txBox="1">
                <a:spLocks noChangeArrowheads="1"/>
              </p:cNvSpPr>
              <p:nvPr/>
            </p:nvSpPr>
            <p:spPr bwMode="auto">
              <a:xfrm>
                <a:off x="25717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i = 1</a:t>
                </a:r>
              </a:p>
            </p:txBody>
          </p:sp>
          <p:sp>
            <p:nvSpPr>
              <p:cNvPr id="240673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240674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40675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40676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0677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</p:grpSp>
        <p:sp>
          <p:nvSpPr>
            <p:cNvPr id="40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39" name="Text Box 32"/>
            <p:cNvSpPr txBox="1">
              <a:spLocks noChangeArrowheads="1"/>
            </p:cNvSpPr>
            <p:nvPr/>
          </p:nvSpPr>
          <p:spPr bwMode="auto">
            <a:xfrm>
              <a:off x="5292080" y="3140968"/>
              <a:ext cx="1905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78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4375"/>
              <a:ext cx="7989888" cy="3076893"/>
              <a:chOff x="990600" y="3254375"/>
              <a:chExt cx="7989888" cy="3076893"/>
            </a:xfrm>
          </p:grpSpPr>
          <p:sp>
            <p:nvSpPr>
              <p:cNvPr id="241666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67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68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69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0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3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4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4167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41676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77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1680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41681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41682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41683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41684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41685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41686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41687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41688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4168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169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169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4169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41693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41694" name="Line 30"/>
              <p:cNvSpPr>
                <a:spLocks noChangeShapeType="1"/>
              </p:cNvSpPr>
              <p:nvPr/>
            </p:nvSpPr>
            <p:spPr bwMode="auto">
              <a:xfrm>
                <a:off x="38449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1695" name="Line 31"/>
              <p:cNvSpPr>
                <a:spLocks noChangeShapeType="1"/>
              </p:cNvSpPr>
              <p:nvPr/>
            </p:nvSpPr>
            <p:spPr bwMode="auto">
              <a:xfrm>
                <a:off x="62404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1696" name="Text Box 32"/>
              <p:cNvSpPr txBox="1">
                <a:spLocks noChangeArrowheads="1"/>
              </p:cNvSpPr>
              <p:nvPr/>
            </p:nvSpPr>
            <p:spPr bwMode="auto">
              <a:xfrm>
                <a:off x="29146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00" dirty="0" err="1"/>
                  <a:t>i</a:t>
                </a:r>
                <a:endParaRPr kumimoji="0" lang="en-US" sz="2000" dirty="0"/>
              </a:p>
            </p:txBody>
          </p:sp>
          <p:sp>
            <p:nvSpPr>
              <p:cNvPr id="241697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</a:t>
                </a:r>
              </a:p>
            </p:txBody>
          </p:sp>
          <p:sp>
            <p:nvSpPr>
              <p:cNvPr id="241698" name="Text Box 34"/>
              <p:cNvSpPr txBox="1">
                <a:spLocks noChangeArrowheads="1"/>
              </p:cNvSpPr>
              <p:nvPr/>
            </p:nvSpPr>
            <p:spPr bwMode="auto">
              <a:xfrm>
                <a:off x="1082675" y="3254375"/>
                <a:ext cx="23495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>
                    <a:solidFill>
                      <a:srgbClr val="003399"/>
                    </a:solidFill>
                  </a:rPr>
                  <a:t>first half exhausted</a:t>
                </a:r>
              </a:p>
            </p:txBody>
          </p:sp>
          <p:sp>
            <p:nvSpPr>
              <p:cNvPr id="241699" name="Text Box 35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41700" name="Text Box 36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41701" name="Text Box 37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1702" name="Text Box 38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</p:grpSp>
        <p:sp>
          <p:nvSpPr>
            <p:cNvPr id="41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40" name="Text Box 139"/>
            <p:cNvSpPr txBox="1">
              <a:spLocks noChangeArrowheads="1"/>
            </p:cNvSpPr>
            <p:nvPr/>
          </p:nvSpPr>
          <p:spPr bwMode="auto">
            <a:xfrm>
              <a:off x="536408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02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sp>
        <p:nvSpPr>
          <p:cNvPr id="242704" name="Text Box 16"/>
          <p:cNvSpPr txBox="1">
            <a:spLocks noChangeArrowheads="1"/>
          </p:cNvSpPr>
          <p:nvPr/>
        </p:nvSpPr>
        <p:spPr bwMode="auto">
          <a:xfrm>
            <a:off x="7019925" y="3962400"/>
            <a:ext cx="19605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sz="1400"/>
              <a:t>two sorted halves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591872" cy="5134516"/>
            <a:chOff x="323528" y="1196752"/>
            <a:chExt cx="8591872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24800" cy="3073718"/>
              <a:chOff x="990600" y="3257550"/>
              <a:chExt cx="7924800" cy="3073718"/>
            </a:xfrm>
          </p:grpSpPr>
          <p:sp>
            <p:nvSpPr>
              <p:cNvPr id="242690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1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2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3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4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5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6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7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698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>
                    <a:solidFill>
                      <a:schemeClr val="bg1"/>
                    </a:solidFill>
                  </a:rPr>
                  <a:t>23</a:t>
                </a:r>
              </a:p>
            </p:txBody>
          </p:sp>
          <p:sp>
            <p:nvSpPr>
              <p:cNvPr id="242699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42700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701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2705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42706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42707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42708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42709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42710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42711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42712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42713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42714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2715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42716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42717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42718" name="Line 30"/>
              <p:cNvSpPr>
                <a:spLocks noChangeShapeType="1"/>
              </p:cNvSpPr>
              <p:nvPr/>
            </p:nvSpPr>
            <p:spPr bwMode="auto">
              <a:xfrm>
                <a:off x="38449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2719" name="Line 31"/>
              <p:cNvSpPr>
                <a:spLocks noChangeShapeType="1"/>
              </p:cNvSpPr>
              <p:nvPr/>
            </p:nvSpPr>
            <p:spPr bwMode="auto">
              <a:xfrm>
                <a:off x="6240463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2720" name="Text Box 32"/>
              <p:cNvSpPr txBox="1">
                <a:spLocks noChangeArrowheads="1"/>
              </p:cNvSpPr>
              <p:nvPr/>
            </p:nvSpPr>
            <p:spPr bwMode="auto">
              <a:xfrm>
                <a:off x="29146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i = 0</a:t>
                </a:r>
              </a:p>
            </p:txBody>
          </p:sp>
          <p:sp>
            <p:nvSpPr>
              <p:cNvPr id="242721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 + 0</a:t>
                </a:r>
              </a:p>
            </p:txBody>
          </p:sp>
          <p:sp>
            <p:nvSpPr>
              <p:cNvPr id="242722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42723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42724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2725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2726" name="Text Box 38"/>
              <p:cNvSpPr txBox="1">
                <a:spLocks noChangeArrowheads="1"/>
              </p:cNvSpPr>
              <p:nvPr/>
            </p:nvSpPr>
            <p:spPr bwMode="auto">
              <a:xfrm>
                <a:off x="6103938" y="4313238"/>
                <a:ext cx="2714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</p:grpSp>
        <p:sp>
          <p:nvSpPr>
            <p:cNvPr id="41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40" name="Text Box 139"/>
            <p:cNvSpPr txBox="1">
              <a:spLocks noChangeArrowheads="1"/>
            </p:cNvSpPr>
            <p:nvPr/>
          </p:nvSpPr>
          <p:spPr bwMode="auto">
            <a:xfrm>
              <a:off x="5364088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4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45762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3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4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5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6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7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8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69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70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71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25</a:t>
                </a:r>
              </a:p>
            </p:txBody>
          </p:sp>
          <p:sp>
            <p:nvSpPr>
              <p:cNvPr id="245772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73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5776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45777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45778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45779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45780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45781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45782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45783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45784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45785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23</a:t>
                </a:r>
              </a:p>
            </p:txBody>
          </p:sp>
          <p:sp>
            <p:nvSpPr>
              <p:cNvPr id="245786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/>
              </a:p>
            </p:txBody>
          </p:sp>
          <p:sp>
            <p:nvSpPr>
              <p:cNvPr id="245787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45788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45789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45790" name="Line 30"/>
              <p:cNvSpPr>
                <a:spLocks noChangeShapeType="1"/>
              </p:cNvSpPr>
              <p:nvPr/>
            </p:nvSpPr>
            <p:spPr bwMode="auto">
              <a:xfrm>
                <a:off x="38449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5792" name="Text Box 32"/>
              <p:cNvSpPr txBox="1">
                <a:spLocks noChangeArrowheads="1"/>
              </p:cNvSpPr>
              <p:nvPr/>
            </p:nvSpPr>
            <p:spPr bwMode="auto">
              <a:xfrm>
                <a:off x="29146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i = 0</a:t>
                </a:r>
              </a:p>
            </p:txBody>
          </p:sp>
          <p:sp>
            <p:nvSpPr>
              <p:cNvPr id="245793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/>
                  <a:t>Total:  6 + 3 + 2 + 2 + 0</a:t>
                </a:r>
              </a:p>
            </p:txBody>
          </p:sp>
          <p:sp>
            <p:nvSpPr>
              <p:cNvPr id="245794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45795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45796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5797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5798" name="Text Box 38"/>
              <p:cNvSpPr txBox="1">
                <a:spLocks noChangeArrowheads="1"/>
              </p:cNvSpPr>
              <p:nvPr/>
            </p:nvSpPr>
            <p:spPr bwMode="auto">
              <a:xfrm>
                <a:off x="6103938" y="4313238"/>
                <a:ext cx="2714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  <p:sp>
            <p:nvSpPr>
              <p:cNvPr id="245799" name="Line 39"/>
              <p:cNvSpPr>
                <a:spLocks noChangeShapeType="1"/>
              </p:cNvSpPr>
              <p:nvPr/>
            </p:nvSpPr>
            <p:spPr bwMode="auto">
              <a:xfrm>
                <a:off x="6688138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</p:grpSp>
        <p:sp>
          <p:nvSpPr>
            <p:cNvPr id="41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40" name="Text Box 139"/>
            <p:cNvSpPr txBox="1">
              <a:spLocks noChangeArrowheads="1"/>
            </p:cNvSpPr>
            <p:nvPr/>
          </p:nvSpPr>
          <p:spPr bwMode="auto">
            <a:xfrm>
              <a:off x="5796136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26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grpSp>
          <p:nvGrpSpPr>
            <p:cNvPr id="3" name="Group 2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243714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15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16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17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18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19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0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2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3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80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>
                    <a:solidFill>
                      <a:schemeClr val="bg1"/>
                    </a:solidFill>
                  </a:rPr>
                  <a:t>25</a:t>
                </a:r>
              </a:p>
            </p:txBody>
          </p:sp>
          <p:sp>
            <p:nvSpPr>
              <p:cNvPr id="243724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5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243728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243729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243730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243731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243732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243733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243734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243735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243736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243737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23</a:t>
                </a:r>
              </a:p>
            </p:txBody>
          </p:sp>
          <p:sp>
            <p:nvSpPr>
              <p:cNvPr id="24373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25</a:t>
                </a:r>
              </a:p>
            </p:txBody>
          </p:sp>
          <p:sp>
            <p:nvSpPr>
              <p:cNvPr id="243739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243740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243741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243742" name="Line 30"/>
              <p:cNvSpPr>
                <a:spLocks noChangeShapeType="1"/>
              </p:cNvSpPr>
              <p:nvPr/>
            </p:nvSpPr>
            <p:spPr bwMode="auto">
              <a:xfrm>
                <a:off x="38449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3743" name="Line 31"/>
              <p:cNvSpPr>
                <a:spLocks noChangeShapeType="1"/>
              </p:cNvSpPr>
              <p:nvPr/>
            </p:nvSpPr>
            <p:spPr bwMode="auto">
              <a:xfrm>
                <a:off x="6688138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243744" name="Text Box 32"/>
              <p:cNvSpPr txBox="1">
                <a:spLocks noChangeArrowheads="1"/>
              </p:cNvSpPr>
              <p:nvPr/>
            </p:nvSpPr>
            <p:spPr bwMode="auto">
              <a:xfrm>
                <a:off x="29146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i = 0</a:t>
                </a:r>
              </a:p>
            </p:txBody>
          </p:sp>
          <p:sp>
            <p:nvSpPr>
              <p:cNvPr id="243745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3346450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 dirty="0"/>
                  <a:t>Total:  6 + 3 + 2 + 2 + 0 + 0</a:t>
                </a:r>
              </a:p>
            </p:txBody>
          </p:sp>
          <p:sp>
            <p:nvSpPr>
              <p:cNvPr id="243746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243747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243748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3749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243750" name="Text Box 38"/>
              <p:cNvSpPr txBox="1">
                <a:spLocks noChangeArrowheads="1"/>
              </p:cNvSpPr>
              <p:nvPr/>
            </p:nvSpPr>
            <p:spPr bwMode="auto">
              <a:xfrm>
                <a:off x="6103938" y="4313238"/>
                <a:ext cx="2714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  <p:sp>
            <p:nvSpPr>
              <p:cNvPr id="243751" name="Text Box 39"/>
              <p:cNvSpPr txBox="1">
                <a:spLocks noChangeArrowheads="1"/>
              </p:cNvSpPr>
              <p:nvPr/>
            </p:nvSpPr>
            <p:spPr bwMode="auto">
              <a:xfrm>
                <a:off x="6550025" y="4314825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</p:grpSp>
        <p:sp>
          <p:nvSpPr>
            <p:cNvPr id="42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smtClean="0"/>
                <a:t>Merge and count step</a:t>
              </a:r>
            </a:p>
            <a:p>
              <a:pPr lvl="1"/>
              <a:r>
                <a:rPr lang="en-US" smtClean="0"/>
                <a:t>Given two sorted halves, count number of inversions where a</a:t>
              </a:r>
              <a:r>
                <a:rPr lang="en-US" baseline="-25000" smtClean="0"/>
                <a:t>i</a:t>
              </a:r>
              <a:r>
                <a:rPr lang="en-US" smtClean="0"/>
                <a:t> and a</a:t>
              </a:r>
              <a:r>
                <a:rPr lang="en-US" baseline="-25000" smtClean="0"/>
                <a:t>j</a:t>
              </a:r>
              <a:r>
                <a:rPr lang="en-US" smtClean="0"/>
                <a:t> are in different halves.</a:t>
              </a:r>
            </a:p>
            <a:p>
              <a:pPr lvl="1"/>
              <a:r>
                <a:rPr lang="en-US" smtClean="0"/>
                <a:t>Combine two sorted halves into sorted whole.</a:t>
              </a:r>
              <a:endParaRPr lang="en-US" dirty="0"/>
            </a:p>
          </p:txBody>
        </p:sp>
        <p:sp>
          <p:nvSpPr>
            <p:cNvPr id="43" name="Text Box 32"/>
            <p:cNvSpPr txBox="1">
              <a:spLocks noChangeArrowheads="1"/>
            </p:cNvSpPr>
            <p:nvPr/>
          </p:nvSpPr>
          <p:spPr bwMode="auto">
            <a:xfrm>
              <a:off x="5652120" y="3212976"/>
              <a:ext cx="19050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5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Merge and Count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3528" y="1196752"/>
            <a:ext cx="8656960" cy="5134516"/>
            <a:chOff x="323528" y="1196752"/>
            <a:chExt cx="8656960" cy="5134516"/>
          </a:xfrm>
        </p:grpSpPr>
        <p:sp>
          <p:nvSpPr>
            <p:cNvPr id="42" name="Rectangle 138"/>
            <p:cNvSpPr txBox="1">
              <a:spLocks noChangeArrowheads="1"/>
            </p:cNvSpPr>
            <p:nvPr/>
          </p:nvSpPr>
          <p:spPr bwMode="auto">
            <a:xfrm>
              <a:off x="323528" y="1196752"/>
              <a:ext cx="8496944" cy="201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11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hlink"/>
                </a:buClr>
                <a:buFont typeface="Wingdings" charset="0"/>
                <a:buChar char="Ø"/>
                <a:defRPr sz="2400">
                  <a:solidFill>
                    <a:srgbClr val="201FF0"/>
                  </a:solidFill>
                  <a:latin typeface="+mn-lt"/>
                  <a:ea typeface="ＭＳ Ｐゴシック" charset="-128"/>
                  <a:cs typeface="ＭＳ Ｐゴシック" charset="-128"/>
                </a:defRPr>
              </a:lvl1pPr>
              <a:lvl2pPr marL="742950" indent="-285750" algn="l" rtl="0" eaLnBrk="0" fontAlgn="base" hangingPunct="0">
                <a:spcBef>
                  <a:spcPct val="40000"/>
                </a:spcBef>
                <a:spcAft>
                  <a:spcPct val="0"/>
                </a:spcAft>
                <a:buClr>
                  <a:schemeClr val="folHlink"/>
                </a:buClr>
                <a:buSzPct val="95000"/>
                <a:buFont typeface="Wingdings" charset="0"/>
                <a:buChar char="ü"/>
                <a:defRPr sz="2000">
                  <a:solidFill>
                    <a:schemeClr val="hlink"/>
                  </a:solidFill>
                  <a:latin typeface="+mn-lt"/>
                  <a:ea typeface="ＭＳ Ｐゴシック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charset="0"/>
                <a:buChar char="n"/>
                <a:defRPr sz="2000"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3pPr>
              <a:lvl4pPr marL="15621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4pPr>
              <a:lvl5pPr marL="1981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0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5pPr>
              <a:lvl6pPr marL="24384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6pPr>
              <a:lvl7pPr marL="28956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7pPr>
              <a:lvl8pPr marL="33528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8pPr>
              <a:lvl9pPr marL="3810000" indent="-228600" algn="l" rtl="0" fontAlgn="base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>
                  <a:solidFill>
                    <a:schemeClr val="tx1"/>
                  </a:solidFill>
                  <a:latin typeface="+mn-lt"/>
                  <a:ea typeface="ＭＳ Ｐゴシック" charset="-128"/>
                </a:defRPr>
              </a:lvl9pPr>
            </a:lstStyle>
            <a:p>
              <a:r>
                <a:rPr lang="en-US" dirty="0" smtClean="0"/>
                <a:t>Merge and count step</a:t>
              </a:r>
            </a:p>
            <a:p>
              <a:pPr lvl="1"/>
              <a:r>
                <a:rPr lang="en-US" dirty="0" smtClean="0"/>
                <a:t>Given two sorted halves, count number of inversions where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i</a:t>
              </a:r>
              <a:r>
                <a:rPr lang="en-US" dirty="0" smtClean="0"/>
                <a:t> and </a:t>
              </a:r>
              <a:r>
                <a:rPr lang="en-US" dirty="0" err="1" smtClean="0"/>
                <a:t>a</a:t>
              </a:r>
              <a:r>
                <a:rPr lang="en-US" baseline="-25000" dirty="0" err="1" smtClean="0"/>
                <a:t>j</a:t>
              </a:r>
              <a:r>
                <a:rPr lang="en-US" dirty="0" smtClean="0"/>
                <a:t> are in different halves.</a:t>
              </a:r>
            </a:p>
            <a:p>
              <a:pPr lvl="1"/>
              <a:r>
                <a:rPr lang="en-US" dirty="0" smtClean="0"/>
                <a:t>Combine two sorted halves into sorted whole.</a:t>
              </a:r>
              <a:endParaRPr lang="en-US" dirty="0"/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990600" y="3257550"/>
              <a:ext cx="7989888" cy="3073718"/>
              <a:chOff x="990600" y="3257550"/>
              <a:chExt cx="7989888" cy="3073718"/>
            </a:xfrm>
          </p:grpSpPr>
          <p:sp>
            <p:nvSpPr>
              <p:cNvPr id="43" name="Rectangle 2"/>
              <p:cNvSpPr>
                <a:spLocks noChangeAspect="1" noChangeArrowheads="1"/>
              </p:cNvSpPr>
              <p:nvPr/>
            </p:nvSpPr>
            <p:spPr bwMode="auto">
              <a:xfrm>
                <a:off x="1905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4" name="Rectangle 3"/>
              <p:cNvSpPr>
                <a:spLocks noChangeAspect="1" noChangeArrowheads="1"/>
              </p:cNvSpPr>
              <p:nvPr/>
            </p:nvSpPr>
            <p:spPr bwMode="auto">
              <a:xfrm>
                <a:off x="2362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5" name="Rectangle 4"/>
              <p:cNvSpPr>
                <a:spLocks noChangeAspect="1" noChangeArrowheads="1"/>
              </p:cNvSpPr>
              <p:nvPr/>
            </p:nvSpPr>
            <p:spPr bwMode="auto">
              <a:xfrm>
                <a:off x="2819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6" name="Rectangle 5"/>
              <p:cNvSpPr>
                <a:spLocks noChangeAspect="1" noChangeArrowheads="1"/>
              </p:cNvSpPr>
              <p:nvPr/>
            </p:nvSpPr>
            <p:spPr bwMode="auto">
              <a:xfrm>
                <a:off x="3276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7" name="Rectangle 6"/>
              <p:cNvSpPr>
                <a:spLocks noChangeAspect="1" noChangeArrowheads="1"/>
              </p:cNvSpPr>
              <p:nvPr/>
            </p:nvSpPr>
            <p:spPr bwMode="auto">
              <a:xfrm>
                <a:off x="990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8" name="Rectangle 7"/>
              <p:cNvSpPr>
                <a:spLocks noChangeAspect="1" noChangeArrowheads="1"/>
              </p:cNvSpPr>
              <p:nvPr/>
            </p:nvSpPr>
            <p:spPr bwMode="auto">
              <a:xfrm>
                <a:off x="1447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49" name="Rectangle 8"/>
              <p:cNvSpPr>
                <a:spLocks noChangeAspect="1" noChangeArrowheads="1"/>
              </p:cNvSpPr>
              <p:nvPr/>
            </p:nvSpPr>
            <p:spPr bwMode="auto">
              <a:xfrm>
                <a:off x="51054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0" name="Rectangle 9"/>
              <p:cNvSpPr>
                <a:spLocks noChangeAspect="1" noChangeArrowheads="1"/>
              </p:cNvSpPr>
              <p:nvPr/>
            </p:nvSpPr>
            <p:spPr bwMode="auto">
              <a:xfrm>
                <a:off x="55626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1" name="Rectangle 10"/>
              <p:cNvSpPr>
                <a:spLocks noChangeAspect="1" noChangeArrowheads="1"/>
              </p:cNvSpPr>
              <p:nvPr/>
            </p:nvSpPr>
            <p:spPr bwMode="auto">
              <a:xfrm>
                <a:off x="60198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2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6477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Rectangle 12"/>
              <p:cNvSpPr>
                <a:spLocks noChangeAspect="1" noChangeArrowheads="1"/>
              </p:cNvSpPr>
              <p:nvPr/>
            </p:nvSpPr>
            <p:spPr bwMode="auto">
              <a:xfrm>
                <a:off x="41910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4" name="Rectangle 13"/>
              <p:cNvSpPr>
                <a:spLocks noChangeAspect="1" noChangeArrowheads="1"/>
              </p:cNvSpPr>
              <p:nvPr/>
            </p:nvSpPr>
            <p:spPr bwMode="auto">
              <a:xfrm>
                <a:off x="4648200" y="39290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endParaRPr kumimoji="0" lang="en-US" sz="2000" dirty="0"/>
              </a:p>
            </p:txBody>
          </p:sp>
          <p:sp>
            <p:nvSpPr>
              <p:cNvPr id="55" name="Text Box 16"/>
              <p:cNvSpPr txBox="1">
                <a:spLocks noChangeArrowheads="1"/>
              </p:cNvSpPr>
              <p:nvPr/>
            </p:nvSpPr>
            <p:spPr bwMode="auto">
              <a:xfrm>
                <a:off x="7019925" y="3962400"/>
                <a:ext cx="1960563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two sorted halves</a:t>
                </a:r>
              </a:p>
            </p:txBody>
          </p:sp>
          <p:sp>
            <p:nvSpPr>
              <p:cNvPr id="56" name="Rectangle 17"/>
              <p:cNvSpPr>
                <a:spLocks noChangeAspect="1" noChangeArrowheads="1"/>
              </p:cNvSpPr>
              <p:nvPr/>
            </p:nvSpPr>
            <p:spPr bwMode="auto">
              <a:xfrm>
                <a:off x="2133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7</a:t>
                </a:r>
              </a:p>
            </p:txBody>
          </p:sp>
          <p:sp>
            <p:nvSpPr>
              <p:cNvPr id="57" name="Rectangle 18"/>
              <p:cNvSpPr>
                <a:spLocks noChangeAspect="1" noChangeArrowheads="1"/>
              </p:cNvSpPr>
              <p:nvPr/>
            </p:nvSpPr>
            <p:spPr bwMode="auto">
              <a:xfrm>
                <a:off x="2590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10</a:t>
                </a:r>
              </a:p>
            </p:txBody>
          </p:sp>
          <p:sp>
            <p:nvSpPr>
              <p:cNvPr id="58" name="Rectangle 19"/>
              <p:cNvSpPr>
                <a:spLocks noChangeAspect="1" noChangeArrowheads="1"/>
              </p:cNvSpPr>
              <p:nvPr/>
            </p:nvSpPr>
            <p:spPr bwMode="auto">
              <a:xfrm>
                <a:off x="3048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11</a:t>
                </a:r>
              </a:p>
            </p:txBody>
          </p:sp>
          <p:sp>
            <p:nvSpPr>
              <p:cNvPr id="59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3505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14</a:t>
                </a:r>
              </a:p>
            </p:txBody>
          </p:sp>
          <p:sp>
            <p:nvSpPr>
              <p:cNvPr id="60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1219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2</a:t>
                </a:r>
              </a:p>
            </p:txBody>
          </p:sp>
          <p:sp>
            <p:nvSpPr>
              <p:cNvPr id="61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1676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3</a:t>
                </a:r>
              </a:p>
            </p:txBody>
          </p:sp>
          <p:sp>
            <p:nvSpPr>
              <p:cNvPr id="62" name="Rectangle 23"/>
              <p:cNvSpPr>
                <a:spLocks noChangeAspect="1" noChangeArrowheads="1"/>
              </p:cNvSpPr>
              <p:nvPr/>
            </p:nvSpPr>
            <p:spPr bwMode="auto">
              <a:xfrm>
                <a:off x="48768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18</a:t>
                </a:r>
              </a:p>
            </p:txBody>
          </p:sp>
          <p:sp>
            <p:nvSpPr>
              <p:cNvPr id="63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53340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19</a:t>
                </a:r>
              </a:p>
            </p:txBody>
          </p:sp>
          <p:sp>
            <p:nvSpPr>
              <p:cNvPr id="64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57912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23</a:t>
                </a:r>
              </a:p>
            </p:txBody>
          </p:sp>
          <p:sp>
            <p:nvSpPr>
              <p:cNvPr id="65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6248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 dirty="0"/>
                  <a:t>25</a:t>
                </a:r>
              </a:p>
            </p:txBody>
          </p:sp>
          <p:sp>
            <p:nvSpPr>
              <p:cNvPr id="66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39624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16</a:t>
                </a:r>
              </a:p>
            </p:txBody>
          </p:sp>
          <p:sp>
            <p:nvSpPr>
              <p:cNvPr id="67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19600" y="4919663"/>
                <a:ext cx="457200" cy="414337"/>
              </a:xfrm>
              <a:prstGeom prst="rect">
                <a:avLst/>
              </a:prstGeom>
              <a:solidFill>
                <a:srgbClr val="0000FF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 anchor="ctr"/>
              <a:lstStyle/>
              <a:p>
                <a:pPr algn="ctr"/>
                <a:r>
                  <a:rPr kumimoji="0" lang="en-US" sz="2000"/>
                  <a:t>17</a:t>
                </a:r>
              </a:p>
            </p:txBody>
          </p:sp>
          <p:sp>
            <p:nvSpPr>
              <p:cNvPr id="68" name="Text Box 29"/>
              <p:cNvSpPr txBox="1">
                <a:spLocks noChangeArrowheads="1"/>
              </p:cNvSpPr>
              <p:nvPr/>
            </p:nvSpPr>
            <p:spPr bwMode="auto">
              <a:xfrm>
                <a:off x="7010400" y="4967288"/>
                <a:ext cx="19050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1400"/>
                  <a:t>auxiliary array</a:t>
                </a:r>
              </a:p>
            </p:txBody>
          </p:sp>
          <p:sp>
            <p:nvSpPr>
              <p:cNvPr id="69" name="Line 30"/>
              <p:cNvSpPr>
                <a:spLocks noChangeShapeType="1"/>
              </p:cNvSpPr>
              <p:nvPr/>
            </p:nvSpPr>
            <p:spPr bwMode="auto">
              <a:xfrm>
                <a:off x="3844925" y="3609975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70" name="Line 31"/>
              <p:cNvSpPr>
                <a:spLocks noChangeShapeType="1"/>
              </p:cNvSpPr>
              <p:nvPr/>
            </p:nvSpPr>
            <p:spPr bwMode="auto">
              <a:xfrm>
                <a:off x="6948264" y="3645024"/>
                <a:ext cx="0" cy="2095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/>
              <a:lstStyle/>
              <a:p>
                <a:endParaRPr lang="en-US" sz="2000"/>
              </a:p>
            </p:txBody>
          </p:sp>
          <p:sp>
            <p:nvSpPr>
              <p:cNvPr id="71" name="Text Box 32"/>
              <p:cNvSpPr txBox="1">
                <a:spLocks noChangeArrowheads="1"/>
              </p:cNvSpPr>
              <p:nvPr/>
            </p:nvSpPr>
            <p:spPr bwMode="auto">
              <a:xfrm>
                <a:off x="2914650" y="3257550"/>
                <a:ext cx="190500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i = 0</a:t>
                </a:r>
              </a:p>
            </p:txBody>
          </p:sp>
          <p:sp>
            <p:nvSpPr>
              <p:cNvPr id="72" name="Text Box 33"/>
              <p:cNvSpPr txBox="1">
                <a:spLocks noChangeArrowheads="1"/>
              </p:cNvSpPr>
              <p:nvPr/>
            </p:nvSpPr>
            <p:spPr bwMode="auto">
              <a:xfrm>
                <a:off x="3752850" y="5838825"/>
                <a:ext cx="4131518" cy="49244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tIns="91440" bIns="9144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sz="2000" dirty="0"/>
                  <a:t>Total:  6 + 3 + 2 + 2 + 0 + </a:t>
                </a:r>
                <a:r>
                  <a:rPr kumimoji="0" lang="en-US" sz="2000" dirty="0" smtClean="0"/>
                  <a:t>0 = 13</a:t>
                </a:r>
                <a:endParaRPr kumimoji="0" lang="en-US" sz="2000" dirty="0"/>
              </a:p>
            </p:txBody>
          </p:sp>
          <p:sp>
            <p:nvSpPr>
              <p:cNvPr id="73" name="Text Box 34"/>
              <p:cNvSpPr txBox="1">
                <a:spLocks noChangeArrowheads="1"/>
              </p:cNvSpPr>
              <p:nvPr/>
            </p:nvSpPr>
            <p:spPr bwMode="auto">
              <a:xfrm>
                <a:off x="428307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6</a:t>
                </a:r>
              </a:p>
            </p:txBody>
          </p:sp>
          <p:sp>
            <p:nvSpPr>
              <p:cNvPr id="74" name="Text Box 35"/>
              <p:cNvSpPr txBox="1">
                <a:spLocks noChangeArrowheads="1"/>
              </p:cNvSpPr>
              <p:nvPr/>
            </p:nvSpPr>
            <p:spPr bwMode="auto">
              <a:xfrm>
                <a:off x="47307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3</a:t>
                </a:r>
              </a:p>
            </p:txBody>
          </p:sp>
          <p:sp>
            <p:nvSpPr>
              <p:cNvPr id="75" name="Text Box 36"/>
              <p:cNvSpPr txBox="1">
                <a:spLocks noChangeArrowheads="1"/>
              </p:cNvSpPr>
              <p:nvPr/>
            </p:nvSpPr>
            <p:spPr bwMode="auto">
              <a:xfrm>
                <a:off x="5187950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76" name="Text Box 37"/>
              <p:cNvSpPr txBox="1">
                <a:spLocks noChangeArrowheads="1"/>
              </p:cNvSpPr>
              <p:nvPr/>
            </p:nvSpPr>
            <p:spPr bwMode="auto">
              <a:xfrm>
                <a:off x="5673725" y="4311650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2</a:t>
                </a:r>
              </a:p>
            </p:txBody>
          </p:sp>
          <p:sp>
            <p:nvSpPr>
              <p:cNvPr id="77" name="Text Box 38"/>
              <p:cNvSpPr txBox="1">
                <a:spLocks noChangeArrowheads="1"/>
              </p:cNvSpPr>
              <p:nvPr/>
            </p:nvSpPr>
            <p:spPr bwMode="auto">
              <a:xfrm>
                <a:off x="6103938" y="4313238"/>
                <a:ext cx="27146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  <p:sp>
            <p:nvSpPr>
              <p:cNvPr id="78" name="Text Box 39"/>
              <p:cNvSpPr txBox="1">
                <a:spLocks noChangeArrowheads="1"/>
              </p:cNvSpPr>
              <p:nvPr/>
            </p:nvSpPr>
            <p:spPr bwMode="auto">
              <a:xfrm>
                <a:off x="6550025" y="4314825"/>
                <a:ext cx="27146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0" lang="en-US" sz="2000"/>
                  <a:t>0</a:t>
                </a:r>
              </a:p>
            </p:txBody>
          </p:sp>
        </p:grpSp>
        <p:sp>
          <p:nvSpPr>
            <p:cNvPr id="79" name="Text Box 139"/>
            <p:cNvSpPr txBox="1">
              <a:spLocks noChangeArrowheads="1"/>
            </p:cNvSpPr>
            <p:nvPr/>
          </p:nvSpPr>
          <p:spPr bwMode="auto">
            <a:xfrm>
              <a:off x="6012160" y="3212976"/>
              <a:ext cx="1885718" cy="406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 err="1"/>
                <a:t>j</a:t>
              </a:r>
              <a:endParaRPr kumimoji="0" lang="en-US" sz="2000" dirty="0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1424</TotalTime>
  <Words>2014</Words>
  <Application>Microsoft Macintosh PowerPoint</Application>
  <PresentationFormat>On-screen Show (4:3)</PresentationFormat>
  <Paragraphs>710</Paragraphs>
  <Slides>34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Presentazione</vt:lpstr>
      <vt:lpstr>Equation</vt:lpstr>
      <vt:lpstr>UNIVERSITA’ DI MILANO-BICOCCA CdL IN INFORMATICA</vt:lpstr>
      <vt:lpstr>Il problema</vt:lpstr>
      <vt:lpstr>Il problema</vt:lpstr>
      <vt:lpstr>Il modello</vt:lpstr>
      <vt:lpstr>Il modello</vt:lpstr>
      <vt:lpstr>Algoritmo 1, immediato</vt:lpstr>
      <vt:lpstr>Algoritmo 2 - Sort-and-count (ricorsivo)</vt:lpstr>
      <vt:lpstr>Algoritmo 2 - Sort-and-count</vt:lpstr>
      <vt:lpstr>Algoritmo 2 - Sort-and-count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  <vt:lpstr>Merge and Count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67</cp:revision>
  <cp:lastPrinted>2002-02-01T12:39:25Z</cp:lastPrinted>
  <dcterms:created xsi:type="dcterms:W3CDTF">2010-03-03T07:29:28Z</dcterms:created>
  <dcterms:modified xsi:type="dcterms:W3CDTF">2016-09-30T12:02:28Z</dcterms:modified>
</cp:coreProperties>
</file>